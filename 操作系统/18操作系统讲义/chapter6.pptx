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309" r:id="rId20"/>
    <p:sldId id="278" r:id="rId21"/>
    <p:sldId id="279" r:id="rId22"/>
    <p:sldId id="280" r:id="rId23"/>
    <p:sldId id="31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7" r:id="rId50"/>
    <p:sldId id="308" r:id="rId51"/>
    <p:sldId id="333" r:id="rId52"/>
    <p:sldId id="311" r:id="rId53"/>
    <p:sldId id="312" r:id="rId54"/>
    <p:sldId id="313" r:id="rId55"/>
    <p:sldId id="314" r:id="rId56"/>
    <p:sldId id="315" r:id="rId57"/>
    <p:sldId id="334" r:id="rId58"/>
    <p:sldId id="323" r:id="rId59"/>
    <p:sldId id="325" r:id="rId60"/>
    <p:sldId id="327" r:id="rId61"/>
    <p:sldId id="328" r:id="rId62"/>
    <p:sldId id="331" r:id="rId63"/>
    <p:sldId id="335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82BA1-E2D1-46E6-8340-747B43510923}" type="datetimeFigureOut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F40E8-B080-4069-9916-BB6BA31401C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5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98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99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49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3B240D-3937-45B6-8A49-6000979E6F5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7592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32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32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996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C7314-979A-44D2-8BAA-92BE50D56E89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935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7965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A6AB2-C53B-45FB-8CA7-0191C959D24D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416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02359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CF3C36-B629-4054-907B-C12B141B7850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2437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0700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FA3E51-82E4-4A03-B022-6DE2C971703A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2478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8293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C2FBBB-D91E-4EE8-8104-2A4163ABEC31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955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16177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69739-D473-4AEE-B1D4-2221777FD447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175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09EDDC-9A53-47F5-AB52-AA164CDEA2C6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2283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88507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EBB944-159C-48EA-B319-459639E5DB8B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2304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0594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F6FF99-8519-48E7-B740-C2BC1A2A7FDE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2344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94574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82A0F3-47E6-44BF-85FE-9B005D7EAF97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2365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6726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8EBA3-A8AC-4468-B937-4821D962EA92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385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96433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AAA4A30-F643-404A-80F4-58BF81F7EE2C}" type="slidenum">
              <a:rPr lang="zh-CN" altLang="en-US">
                <a:cs typeface="华文仿宋" panose="02010600040101010101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US" altLang="zh-CN">
              <a:cs typeface="华文仿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01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0ED95-1A19-4CB8-97B9-CE2B44C867B1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4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81F5-8410-4AA8-AEBD-1CA12FF5E8F3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0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B77FB-2E45-4E13-A986-891A7C2CC89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0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D682-91A7-4343-B822-595F863102F4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08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CC90C-6BB4-4EA7-B05E-7E8CB0E458A9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91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F904-FC37-448B-A114-D9D02CDA360B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C0F8-E421-4D78-87FB-D83CD105A49A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1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58232-873A-417E-8DA5-2065693BE5BF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9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7CA78-17ED-45E9-86DB-82D387B43510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7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41799-8B35-4224-8988-8C41585C4131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C35E-727B-4B86-AE3B-14633A825CE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85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337" y="140676"/>
            <a:ext cx="7886700" cy="69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7600"/>
            <a:ext cx="7886700" cy="491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1F173519-009C-4E89-8D83-B45EC8D8F6A6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r>
              <a:rPr lang="en-US" altLang="zh-CN">
                <a:ea typeface="Segoe UI Symbol" panose="020B0502040204020203" pitchFamily="34" charset="0"/>
              </a:rPr>
              <a:t>CH06 CPU Scheduling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9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2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3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4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024697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6</a:t>
            </a:r>
            <a:r>
              <a:rPr lang="zh-CN" altLang="en-US" sz="4800" dirty="0"/>
              <a:t>章  处理机调度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15398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朱宗卫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中国科学技术大学   软件学院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05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  <a:endParaRPr lang="en-US" altLang="zh-CN" dirty="0"/>
          </a:p>
          <a:p>
            <a:r>
              <a:rPr lang="zh-CN" altLang="en-US" dirty="0"/>
              <a:t>作业调度</a:t>
            </a:r>
            <a:endParaRPr lang="en-US" altLang="zh-CN" dirty="0"/>
          </a:p>
          <a:p>
            <a:r>
              <a:rPr lang="zh-CN" altLang="en-US" dirty="0"/>
              <a:t>进程调度</a:t>
            </a:r>
            <a:endParaRPr lang="en-US" altLang="zh-CN" dirty="0"/>
          </a:p>
          <a:p>
            <a:r>
              <a:rPr lang="zh-CN" altLang="en-US" dirty="0" smtClean="0">
                <a:solidFill>
                  <a:srgbClr val="FF0000"/>
                </a:solidFill>
              </a:rPr>
              <a:t>调度</a:t>
            </a:r>
            <a:r>
              <a:rPr lang="zh-CN" altLang="en-US" dirty="0" smtClean="0">
                <a:solidFill>
                  <a:srgbClr val="FF0000"/>
                </a:solidFill>
              </a:rPr>
              <a:t>算法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实时调度</a:t>
            </a:r>
            <a:endParaRPr lang="en-US" altLang="zh-CN" dirty="0" smtClean="0"/>
          </a:p>
          <a:p>
            <a:r>
              <a:rPr lang="zh-CN" altLang="en-US" dirty="0" smtClean="0"/>
              <a:t>多处理机调度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1C2B1-C19E-4D8C-9E75-51B7453F9D3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77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分级调度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作业调度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进程调度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调度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算法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实时调度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多处理机调度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7AE-60F8-46EB-A57C-3A9B28FE38F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70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处理机调度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处理机管理的工作是对</a:t>
            </a:r>
            <a:r>
              <a:rPr lang="en-US" altLang="zh-CN" dirty="0"/>
              <a:t>CPU</a:t>
            </a:r>
            <a:r>
              <a:rPr lang="zh-CN" altLang="en-US" dirty="0"/>
              <a:t>资源进行合理的分配使用，以</a:t>
            </a:r>
            <a:r>
              <a:rPr lang="zh-CN" altLang="en-US" dirty="0">
                <a:solidFill>
                  <a:srgbClr val="0000FF"/>
                </a:solidFill>
              </a:rPr>
              <a:t>提高处理机利用率</a:t>
            </a:r>
            <a:r>
              <a:rPr lang="zh-CN" altLang="en-US" dirty="0"/>
              <a:t>，并使各用户</a:t>
            </a:r>
            <a:r>
              <a:rPr lang="zh-CN" altLang="en-US" dirty="0">
                <a:solidFill>
                  <a:srgbClr val="0000FF"/>
                </a:solidFill>
              </a:rPr>
              <a:t>公平</a:t>
            </a:r>
            <a:r>
              <a:rPr lang="zh-CN" altLang="en-US" dirty="0"/>
              <a:t>地得到处理机资源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调度的目标与系统的用途紧密相连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要解决的主要问题</a:t>
            </a:r>
            <a:endParaRPr lang="en-US" altLang="zh-CN" dirty="0"/>
          </a:p>
          <a:p>
            <a:pPr lvl="1"/>
            <a:r>
              <a:rPr lang="en-US" altLang="zh-CN" dirty="0"/>
              <a:t>WHAT</a:t>
            </a:r>
            <a:r>
              <a:rPr lang="zh-CN" altLang="en-US" dirty="0"/>
              <a:t>：按什么原则分配</a:t>
            </a:r>
            <a:r>
              <a:rPr lang="en-US" altLang="zh-CN" dirty="0"/>
              <a:t>CPU</a:t>
            </a:r>
          </a:p>
          <a:p>
            <a:pPr lvl="2"/>
            <a:r>
              <a:rPr lang="zh-CN" altLang="en-US" dirty="0"/>
              <a:t>进程调度算法</a:t>
            </a:r>
            <a:endParaRPr lang="en-US" altLang="zh-CN" dirty="0"/>
          </a:p>
          <a:p>
            <a:pPr lvl="1"/>
            <a:r>
              <a:rPr lang="en-US" altLang="zh-CN" dirty="0"/>
              <a:t>WHEN</a:t>
            </a:r>
            <a:r>
              <a:rPr lang="zh-CN" altLang="en-US" dirty="0"/>
              <a:t>：何时分配</a:t>
            </a:r>
            <a:r>
              <a:rPr lang="en-US" altLang="zh-CN" dirty="0"/>
              <a:t>CPU</a:t>
            </a:r>
          </a:p>
          <a:p>
            <a:pPr lvl="2"/>
            <a:r>
              <a:rPr lang="zh-CN" altLang="en-US" dirty="0"/>
              <a:t>进程调度的时机</a:t>
            </a:r>
            <a:endParaRPr lang="en-US" altLang="zh-CN" dirty="0"/>
          </a:p>
          <a:p>
            <a:pPr lvl="1"/>
            <a:r>
              <a:rPr lang="en-US" altLang="zh-CN" dirty="0"/>
              <a:t>HOW</a:t>
            </a:r>
            <a:r>
              <a:rPr lang="zh-CN" altLang="en-US" dirty="0"/>
              <a:t>：如何分配</a:t>
            </a:r>
            <a:r>
              <a:rPr lang="en-US" altLang="zh-CN" dirty="0"/>
              <a:t>CPU</a:t>
            </a:r>
          </a:p>
          <a:p>
            <a:pPr lvl="2"/>
            <a:r>
              <a:rPr lang="en-US" altLang="zh-CN" dirty="0"/>
              <a:t>CPU</a:t>
            </a:r>
            <a:r>
              <a:rPr lang="zh-CN" altLang="en-US" dirty="0"/>
              <a:t>调度过程（进程的上下文切换）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8207-0DDC-44B6-AF91-6FE4F149753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94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调度的层次</a:t>
            </a:r>
            <a:r>
              <a:rPr lang="en-US" altLang="zh-CN" dirty="0"/>
              <a:t>(0)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1600-0F7D-481D-A8B1-3F9435330E6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25848" y="2252563"/>
            <a:ext cx="5386387" cy="3152775"/>
            <a:chOff x="576" y="1614"/>
            <a:chExt cx="3393" cy="198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064" y="2472"/>
              <a:ext cx="1248" cy="11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4" y="1632"/>
              <a:ext cx="1248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576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 dirty="0"/>
                <a:t>提交</a:t>
              </a:r>
            </a:p>
            <a:p>
              <a:pPr algn="ctr" eaLnBrk="1" hangingPunct="1"/>
              <a:r>
                <a:rPr lang="zh-CN" altLang="en-US" sz="1800" b="1" dirty="0"/>
                <a:t>状态</a:t>
              </a: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1248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收容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537" y="2526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完成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08" y="24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1467" y="20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467" y="2040"/>
              <a:ext cx="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9" y="2241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012" y="2232"/>
              <a:ext cx="0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55" y="1614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外存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55" y="327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内存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216" y="27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3140448" y="2581176"/>
            <a:ext cx="1676400" cy="685800"/>
            <a:chOff x="2160" y="1821"/>
            <a:chExt cx="1056" cy="432"/>
          </a:xfrm>
        </p:grpSpPr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160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784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159498" y="3695601"/>
            <a:ext cx="1676400" cy="1595437"/>
            <a:chOff x="2172" y="2523"/>
            <a:chExt cx="1056" cy="1005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20" y="2952"/>
              <a:ext cx="224" cy="240"/>
            </a:xfrm>
            <a:custGeom>
              <a:avLst/>
              <a:gdLst>
                <a:gd name="T0" fmla="*/ 32 w 224"/>
                <a:gd name="T1" fmla="*/ 0 h 240"/>
                <a:gd name="T2" fmla="*/ 32 w 224"/>
                <a:gd name="T3" fmla="*/ 192 h 240"/>
                <a:gd name="T4" fmla="*/ 224 w 224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240">
                  <a:moveTo>
                    <a:pt x="32" y="0"/>
                  </a:moveTo>
                  <a:cubicBezTo>
                    <a:pt x="16" y="76"/>
                    <a:pt x="0" y="152"/>
                    <a:pt x="32" y="192"/>
                  </a:cubicBezTo>
                  <a:cubicBezTo>
                    <a:pt x="64" y="232"/>
                    <a:pt x="192" y="232"/>
                    <a:pt x="22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532" y="2904"/>
              <a:ext cx="168" cy="240"/>
            </a:xfrm>
            <a:custGeom>
              <a:avLst/>
              <a:gdLst>
                <a:gd name="T0" fmla="*/ 0 w 168"/>
                <a:gd name="T1" fmla="*/ 0 h 240"/>
                <a:gd name="T2" fmla="*/ 144 w 168"/>
                <a:gd name="T3" fmla="*/ 48 h 240"/>
                <a:gd name="T4" fmla="*/ 144 w 168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cubicBezTo>
                    <a:pt x="60" y="4"/>
                    <a:pt x="120" y="8"/>
                    <a:pt x="144" y="48"/>
                  </a:cubicBezTo>
                  <a:cubicBezTo>
                    <a:pt x="168" y="88"/>
                    <a:pt x="144" y="208"/>
                    <a:pt x="14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2871" y="2931"/>
              <a:ext cx="192" cy="288"/>
            </a:xfrm>
            <a:custGeom>
              <a:avLst/>
              <a:gdLst>
                <a:gd name="T0" fmla="*/ 0 w 168"/>
                <a:gd name="T1" fmla="*/ 432 h 192"/>
                <a:gd name="T2" fmla="*/ 189 w 168"/>
                <a:gd name="T3" fmla="*/ 324 h 192"/>
                <a:gd name="T4" fmla="*/ 189 w 16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92">
                  <a:moveTo>
                    <a:pt x="0" y="192"/>
                  </a:moveTo>
                  <a:cubicBezTo>
                    <a:pt x="60" y="184"/>
                    <a:pt x="120" y="176"/>
                    <a:pt x="144" y="144"/>
                  </a:cubicBezTo>
                  <a:cubicBezTo>
                    <a:pt x="168" y="112"/>
                    <a:pt x="144" y="24"/>
                    <a:pt x="14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571" y="2568"/>
              <a:ext cx="240" cy="96"/>
            </a:xfrm>
            <a:custGeom>
              <a:avLst/>
              <a:gdLst>
                <a:gd name="T0" fmla="*/ 240 w 240"/>
                <a:gd name="T1" fmla="*/ 96 h 96"/>
                <a:gd name="T2" fmla="*/ 144 w 240"/>
                <a:gd name="T3" fmla="*/ 0 h 96"/>
                <a:gd name="T4" fmla="*/ 0 w 240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96">
                  <a:moveTo>
                    <a:pt x="240" y="96"/>
                  </a:moveTo>
                  <a:cubicBezTo>
                    <a:pt x="212" y="48"/>
                    <a:pt x="184" y="0"/>
                    <a:pt x="144" y="0"/>
                  </a:cubicBezTo>
                  <a:cubicBezTo>
                    <a:pt x="104" y="0"/>
                    <a:pt x="24" y="80"/>
                    <a:pt x="0" y="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2172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96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496" y="3096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执行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611560" y="3576538"/>
            <a:ext cx="1781175" cy="854075"/>
            <a:chOff x="567" y="2448"/>
            <a:chExt cx="1122" cy="538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67" y="2736"/>
              <a:ext cx="11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输入管理系统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1104" y="2448"/>
              <a:ext cx="0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521448" y="2905026"/>
            <a:ext cx="3048000" cy="595312"/>
            <a:chOff x="2400" y="2025"/>
            <a:chExt cx="1920" cy="375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3531" y="2025"/>
              <a:ext cx="7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</a:rPr>
                <a:t>交换调度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400" y="2160"/>
              <a:ext cx="1152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3024" y="2208"/>
              <a:ext cx="57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6"/>
          <p:cNvGrpSpPr>
            <a:grpSpLocks/>
          </p:cNvGrpSpPr>
          <p:nvPr/>
        </p:nvGrpSpPr>
        <p:grpSpPr bwMode="auto">
          <a:xfrm>
            <a:off x="4359648" y="4795738"/>
            <a:ext cx="2362200" cy="396875"/>
            <a:chOff x="2928" y="3216"/>
            <a:chExt cx="1488" cy="250"/>
          </a:xfrm>
        </p:grpSpPr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648" y="321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线程调度</a:t>
              </a: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2928" y="336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778373" y="4643338"/>
            <a:ext cx="1619250" cy="719138"/>
            <a:chOff x="1302" y="3120"/>
            <a:chExt cx="1020" cy="453"/>
          </a:xfrm>
        </p:grpSpPr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1302" y="3323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进程调度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746" y="3120"/>
              <a:ext cx="576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468935" y="2919313"/>
            <a:ext cx="2652713" cy="3101975"/>
            <a:chOff x="1737" y="2034"/>
            <a:chExt cx="1671" cy="1954"/>
          </a:xfrm>
        </p:grpSpPr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592" y="373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作业调度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V="1">
              <a:off x="3168" y="2736"/>
              <a:ext cx="240" cy="10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 flipV="1">
              <a:off x="1737" y="2034"/>
              <a:ext cx="999" cy="171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4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调度的层次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8F1C-F40C-41CD-BCCA-8AC45CE5B44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25848" y="2252563"/>
            <a:ext cx="5386387" cy="3152775"/>
            <a:chOff x="576" y="1614"/>
            <a:chExt cx="3393" cy="198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064" y="2472"/>
              <a:ext cx="1248" cy="11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4" y="1632"/>
              <a:ext cx="1248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576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 dirty="0"/>
                <a:t>提交</a:t>
              </a:r>
            </a:p>
            <a:p>
              <a:pPr algn="ctr" eaLnBrk="1" hangingPunct="1"/>
              <a:r>
                <a:rPr lang="zh-CN" altLang="en-US" sz="1800" b="1" dirty="0"/>
                <a:t>状态</a:t>
              </a: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1248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收容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537" y="2526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完成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08" y="24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1467" y="20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467" y="2040"/>
              <a:ext cx="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9" y="2241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012" y="2232"/>
              <a:ext cx="0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55" y="1614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外存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55" y="327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内存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216" y="27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3140448" y="2581176"/>
            <a:ext cx="1676400" cy="685800"/>
            <a:chOff x="2160" y="1821"/>
            <a:chExt cx="1056" cy="432"/>
          </a:xfrm>
        </p:grpSpPr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160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784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159498" y="3695601"/>
            <a:ext cx="1676400" cy="1595437"/>
            <a:chOff x="2172" y="2523"/>
            <a:chExt cx="1056" cy="1005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20" y="2952"/>
              <a:ext cx="224" cy="240"/>
            </a:xfrm>
            <a:custGeom>
              <a:avLst/>
              <a:gdLst>
                <a:gd name="T0" fmla="*/ 32 w 224"/>
                <a:gd name="T1" fmla="*/ 0 h 240"/>
                <a:gd name="T2" fmla="*/ 32 w 224"/>
                <a:gd name="T3" fmla="*/ 192 h 240"/>
                <a:gd name="T4" fmla="*/ 224 w 224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240">
                  <a:moveTo>
                    <a:pt x="32" y="0"/>
                  </a:moveTo>
                  <a:cubicBezTo>
                    <a:pt x="16" y="76"/>
                    <a:pt x="0" y="152"/>
                    <a:pt x="32" y="192"/>
                  </a:cubicBezTo>
                  <a:cubicBezTo>
                    <a:pt x="64" y="232"/>
                    <a:pt x="192" y="232"/>
                    <a:pt x="22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532" y="2904"/>
              <a:ext cx="168" cy="240"/>
            </a:xfrm>
            <a:custGeom>
              <a:avLst/>
              <a:gdLst>
                <a:gd name="T0" fmla="*/ 0 w 168"/>
                <a:gd name="T1" fmla="*/ 0 h 240"/>
                <a:gd name="T2" fmla="*/ 144 w 168"/>
                <a:gd name="T3" fmla="*/ 48 h 240"/>
                <a:gd name="T4" fmla="*/ 144 w 168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cubicBezTo>
                    <a:pt x="60" y="4"/>
                    <a:pt x="120" y="8"/>
                    <a:pt x="144" y="48"/>
                  </a:cubicBezTo>
                  <a:cubicBezTo>
                    <a:pt x="168" y="88"/>
                    <a:pt x="144" y="208"/>
                    <a:pt x="14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2871" y="2931"/>
              <a:ext cx="192" cy="288"/>
            </a:xfrm>
            <a:custGeom>
              <a:avLst/>
              <a:gdLst>
                <a:gd name="T0" fmla="*/ 0 w 168"/>
                <a:gd name="T1" fmla="*/ 432 h 192"/>
                <a:gd name="T2" fmla="*/ 189 w 168"/>
                <a:gd name="T3" fmla="*/ 324 h 192"/>
                <a:gd name="T4" fmla="*/ 189 w 16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92">
                  <a:moveTo>
                    <a:pt x="0" y="192"/>
                  </a:moveTo>
                  <a:cubicBezTo>
                    <a:pt x="60" y="184"/>
                    <a:pt x="120" y="176"/>
                    <a:pt x="144" y="144"/>
                  </a:cubicBezTo>
                  <a:cubicBezTo>
                    <a:pt x="168" y="112"/>
                    <a:pt x="144" y="24"/>
                    <a:pt x="14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571" y="2568"/>
              <a:ext cx="240" cy="96"/>
            </a:xfrm>
            <a:custGeom>
              <a:avLst/>
              <a:gdLst>
                <a:gd name="T0" fmla="*/ 240 w 240"/>
                <a:gd name="T1" fmla="*/ 96 h 96"/>
                <a:gd name="T2" fmla="*/ 144 w 240"/>
                <a:gd name="T3" fmla="*/ 0 h 96"/>
                <a:gd name="T4" fmla="*/ 0 w 240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96">
                  <a:moveTo>
                    <a:pt x="240" y="96"/>
                  </a:moveTo>
                  <a:cubicBezTo>
                    <a:pt x="212" y="48"/>
                    <a:pt x="184" y="0"/>
                    <a:pt x="144" y="0"/>
                  </a:cubicBezTo>
                  <a:cubicBezTo>
                    <a:pt x="104" y="0"/>
                    <a:pt x="24" y="80"/>
                    <a:pt x="0" y="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2172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96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496" y="3096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执行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611560" y="3576538"/>
            <a:ext cx="1781175" cy="854075"/>
            <a:chOff x="567" y="2448"/>
            <a:chExt cx="1122" cy="538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67" y="2736"/>
              <a:ext cx="11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输入管理系统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1104" y="2448"/>
              <a:ext cx="0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521448" y="2905026"/>
            <a:ext cx="3048000" cy="595312"/>
            <a:chOff x="2400" y="2025"/>
            <a:chExt cx="1920" cy="375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3531" y="2025"/>
              <a:ext cx="7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</a:rPr>
                <a:t>交换调度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400" y="2160"/>
              <a:ext cx="1152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3024" y="2208"/>
              <a:ext cx="57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6"/>
          <p:cNvGrpSpPr>
            <a:grpSpLocks/>
          </p:cNvGrpSpPr>
          <p:nvPr/>
        </p:nvGrpSpPr>
        <p:grpSpPr bwMode="auto">
          <a:xfrm>
            <a:off x="4359648" y="4795738"/>
            <a:ext cx="2362200" cy="396875"/>
            <a:chOff x="2928" y="3216"/>
            <a:chExt cx="1488" cy="250"/>
          </a:xfrm>
        </p:grpSpPr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648" y="321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线程调度</a:t>
              </a: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2928" y="336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778373" y="4643338"/>
            <a:ext cx="1619250" cy="719138"/>
            <a:chOff x="1302" y="3120"/>
            <a:chExt cx="1020" cy="453"/>
          </a:xfrm>
        </p:grpSpPr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1302" y="3323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进程调度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746" y="3120"/>
              <a:ext cx="576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468935" y="2919313"/>
            <a:ext cx="2652713" cy="3101975"/>
            <a:chOff x="1737" y="2034"/>
            <a:chExt cx="1671" cy="1954"/>
          </a:xfrm>
        </p:grpSpPr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592" y="373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作业调度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V="1">
              <a:off x="3168" y="2736"/>
              <a:ext cx="240" cy="10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 flipV="1">
              <a:off x="1737" y="2034"/>
              <a:ext cx="999" cy="171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96"/>
          <p:cNvGrpSpPr>
            <a:grpSpLocks/>
          </p:cNvGrpSpPr>
          <p:nvPr/>
        </p:nvGrpSpPr>
        <p:grpSpPr bwMode="auto">
          <a:xfrm>
            <a:off x="4572000" y="2565400"/>
            <a:ext cx="4233891" cy="3994150"/>
            <a:chOff x="2880" y="1652"/>
            <a:chExt cx="2645" cy="2516"/>
          </a:xfrm>
        </p:grpSpPr>
        <p:sp>
          <p:nvSpPr>
            <p:cNvPr id="50" name="Text Box 93" descr="蓝色砂纸"/>
            <p:cNvSpPr txBox="1">
              <a:spLocks noChangeArrowheads="1"/>
            </p:cNvSpPr>
            <p:nvPr/>
          </p:nvSpPr>
          <p:spPr bwMode="auto">
            <a:xfrm>
              <a:off x="4011" y="1652"/>
              <a:ext cx="1514" cy="16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4762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</a:t>
              </a: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级：作业调度、</a:t>
              </a:r>
              <a:r>
                <a:rPr lang="zh-CN" altLang="en-US" sz="18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宏观调度、高级调度</a:t>
              </a:r>
            </a:p>
            <a:p>
              <a:pPr marL="190500" lvl="1" indent="0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对外存输入井上的大量作业进行选择，对选择的作业分配资源，建立相应进程。作业执行完毕时，回收资源。</a:t>
              </a:r>
            </a:p>
          </p:txBody>
        </p:sp>
        <p:sp>
          <p:nvSpPr>
            <p:cNvPr id="51" name="Freeform 94"/>
            <p:cNvSpPr>
              <a:spLocks/>
            </p:cNvSpPr>
            <p:nvPr/>
          </p:nvSpPr>
          <p:spPr bwMode="auto">
            <a:xfrm>
              <a:off x="2880" y="2976"/>
              <a:ext cx="1152" cy="1192"/>
            </a:xfrm>
            <a:custGeom>
              <a:avLst/>
              <a:gdLst>
                <a:gd name="T0" fmla="*/ 0 w 1152"/>
                <a:gd name="T1" fmla="*/ 1056 h 1048"/>
                <a:gd name="T2" fmla="*/ 528 w 1152"/>
                <a:gd name="T3" fmla="*/ 1179 h 1048"/>
                <a:gd name="T4" fmla="*/ 1152 w 1152"/>
                <a:gd name="T5" fmla="*/ 0 h 10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2" h="1048">
                  <a:moveTo>
                    <a:pt x="0" y="816"/>
                  </a:moveTo>
                  <a:cubicBezTo>
                    <a:pt x="168" y="932"/>
                    <a:pt x="336" y="1048"/>
                    <a:pt x="528" y="912"/>
                  </a:cubicBezTo>
                  <a:cubicBezTo>
                    <a:pt x="720" y="776"/>
                    <a:pt x="1048" y="152"/>
                    <a:pt x="1152" y="0"/>
                  </a:cubicBezTo>
                </a:path>
              </a:pathLst>
            </a:custGeom>
            <a:noFill/>
            <a:ln w="28575" cmpd="sng">
              <a:solidFill>
                <a:srgbClr val="0099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18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调度的层次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C4C9-AC94-454F-BD1B-9B912BFC898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25848" y="2252563"/>
            <a:ext cx="5386387" cy="3152775"/>
            <a:chOff x="576" y="1614"/>
            <a:chExt cx="3393" cy="198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064" y="2472"/>
              <a:ext cx="1248" cy="11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4" y="1632"/>
              <a:ext cx="1248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576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 dirty="0"/>
                <a:t>提交</a:t>
              </a:r>
            </a:p>
            <a:p>
              <a:pPr algn="ctr" eaLnBrk="1" hangingPunct="1"/>
              <a:r>
                <a:rPr lang="zh-CN" altLang="en-US" sz="1800" b="1" dirty="0"/>
                <a:t>状态</a:t>
              </a: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1248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收容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537" y="2526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完成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08" y="24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1467" y="20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467" y="2040"/>
              <a:ext cx="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9" y="2241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012" y="2232"/>
              <a:ext cx="0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55" y="1614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外存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55" y="327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内存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216" y="27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3140448" y="2581176"/>
            <a:ext cx="1676400" cy="685800"/>
            <a:chOff x="2160" y="1821"/>
            <a:chExt cx="1056" cy="432"/>
          </a:xfrm>
        </p:grpSpPr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160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784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159498" y="3695601"/>
            <a:ext cx="1676400" cy="1595437"/>
            <a:chOff x="2172" y="2523"/>
            <a:chExt cx="1056" cy="1005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20" y="2952"/>
              <a:ext cx="224" cy="240"/>
            </a:xfrm>
            <a:custGeom>
              <a:avLst/>
              <a:gdLst>
                <a:gd name="T0" fmla="*/ 32 w 224"/>
                <a:gd name="T1" fmla="*/ 0 h 240"/>
                <a:gd name="T2" fmla="*/ 32 w 224"/>
                <a:gd name="T3" fmla="*/ 192 h 240"/>
                <a:gd name="T4" fmla="*/ 224 w 224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240">
                  <a:moveTo>
                    <a:pt x="32" y="0"/>
                  </a:moveTo>
                  <a:cubicBezTo>
                    <a:pt x="16" y="76"/>
                    <a:pt x="0" y="152"/>
                    <a:pt x="32" y="192"/>
                  </a:cubicBezTo>
                  <a:cubicBezTo>
                    <a:pt x="64" y="232"/>
                    <a:pt x="192" y="232"/>
                    <a:pt x="22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532" y="2904"/>
              <a:ext cx="168" cy="240"/>
            </a:xfrm>
            <a:custGeom>
              <a:avLst/>
              <a:gdLst>
                <a:gd name="T0" fmla="*/ 0 w 168"/>
                <a:gd name="T1" fmla="*/ 0 h 240"/>
                <a:gd name="T2" fmla="*/ 144 w 168"/>
                <a:gd name="T3" fmla="*/ 48 h 240"/>
                <a:gd name="T4" fmla="*/ 144 w 168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cubicBezTo>
                    <a:pt x="60" y="4"/>
                    <a:pt x="120" y="8"/>
                    <a:pt x="144" y="48"/>
                  </a:cubicBezTo>
                  <a:cubicBezTo>
                    <a:pt x="168" y="88"/>
                    <a:pt x="144" y="208"/>
                    <a:pt x="14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2871" y="2931"/>
              <a:ext cx="192" cy="288"/>
            </a:xfrm>
            <a:custGeom>
              <a:avLst/>
              <a:gdLst>
                <a:gd name="T0" fmla="*/ 0 w 168"/>
                <a:gd name="T1" fmla="*/ 432 h 192"/>
                <a:gd name="T2" fmla="*/ 189 w 168"/>
                <a:gd name="T3" fmla="*/ 324 h 192"/>
                <a:gd name="T4" fmla="*/ 189 w 16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92">
                  <a:moveTo>
                    <a:pt x="0" y="192"/>
                  </a:moveTo>
                  <a:cubicBezTo>
                    <a:pt x="60" y="184"/>
                    <a:pt x="120" y="176"/>
                    <a:pt x="144" y="144"/>
                  </a:cubicBezTo>
                  <a:cubicBezTo>
                    <a:pt x="168" y="112"/>
                    <a:pt x="144" y="24"/>
                    <a:pt x="14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571" y="2568"/>
              <a:ext cx="240" cy="96"/>
            </a:xfrm>
            <a:custGeom>
              <a:avLst/>
              <a:gdLst>
                <a:gd name="T0" fmla="*/ 240 w 240"/>
                <a:gd name="T1" fmla="*/ 96 h 96"/>
                <a:gd name="T2" fmla="*/ 144 w 240"/>
                <a:gd name="T3" fmla="*/ 0 h 96"/>
                <a:gd name="T4" fmla="*/ 0 w 240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96">
                  <a:moveTo>
                    <a:pt x="240" y="96"/>
                  </a:moveTo>
                  <a:cubicBezTo>
                    <a:pt x="212" y="48"/>
                    <a:pt x="184" y="0"/>
                    <a:pt x="144" y="0"/>
                  </a:cubicBezTo>
                  <a:cubicBezTo>
                    <a:pt x="104" y="0"/>
                    <a:pt x="24" y="80"/>
                    <a:pt x="0" y="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2172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96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496" y="3096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执行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611560" y="3576538"/>
            <a:ext cx="1781175" cy="854075"/>
            <a:chOff x="567" y="2448"/>
            <a:chExt cx="1122" cy="538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67" y="2736"/>
              <a:ext cx="11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输入管理系统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1104" y="2448"/>
              <a:ext cx="0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521448" y="2905026"/>
            <a:ext cx="3048000" cy="595312"/>
            <a:chOff x="2400" y="2025"/>
            <a:chExt cx="1920" cy="375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3531" y="2025"/>
              <a:ext cx="7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</a:rPr>
                <a:t>交换调度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400" y="2160"/>
              <a:ext cx="1152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3024" y="2208"/>
              <a:ext cx="57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6"/>
          <p:cNvGrpSpPr>
            <a:grpSpLocks/>
          </p:cNvGrpSpPr>
          <p:nvPr/>
        </p:nvGrpSpPr>
        <p:grpSpPr bwMode="auto">
          <a:xfrm>
            <a:off x="4359648" y="4795738"/>
            <a:ext cx="2362200" cy="396875"/>
            <a:chOff x="2928" y="3216"/>
            <a:chExt cx="1488" cy="250"/>
          </a:xfrm>
        </p:grpSpPr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648" y="321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线程调度</a:t>
              </a: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2928" y="336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778373" y="4643338"/>
            <a:ext cx="1619250" cy="719138"/>
            <a:chOff x="1302" y="3120"/>
            <a:chExt cx="1020" cy="453"/>
          </a:xfrm>
        </p:grpSpPr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1302" y="3323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进程调度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746" y="3120"/>
              <a:ext cx="576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468935" y="2919313"/>
            <a:ext cx="2652713" cy="3101975"/>
            <a:chOff x="1737" y="2034"/>
            <a:chExt cx="1671" cy="1954"/>
          </a:xfrm>
        </p:grpSpPr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592" y="373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作业调度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V="1">
              <a:off x="3168" y="2736"/>
              <a:ext cx="240" cy="10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 flipV="1">
              <a:off x="1737" y="2034"/>
              <a:ext cx="999" cy="171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5776337" y="2132856"/>
            <a:ext cx="3001599" cy="2924175"/>
            <a:chOff x="3635" y="1652"/>
            <a:chExt cx="1849" cy="1842"/>
          </a:xfrm>
        </p:grpSpPr>
        <p:sp>
          <p:nvSpPr>
            <p:cNvPr id="50" name="Text Box 48" descr="蓝色砂纸"/>
            <p:cNvSpPr txBox="1">
              <a:spLocks noChangeArrowheads="1"/>
            </p:cNvSpPr>
            <p:nvPr/>
          </p:nvSpPr>
          <p:spPr bwMode="auto">
            <a:xfrm>
              <a:off x="4011" y="1652"/>
              <a:ext cx="1473" cy="184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4762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</a:t>
              </a: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级：交换调度、</a:t>
              </a:r>
              <a:r>
                <a:rPr lang="zh-CN" altLang="en-US" sz="18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中级调度</a:t>
              </a:r>
            </a:p>
            <a:p>
              <a:pPr marL="190500" lvl="1" indent="0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将处于外存交换区中的就绪状态或等待状态的进程调入内存，或把处于内存就绪状态或内存等待状态的进程</a:t>
              </a:r>
              <a:r>
                <a:rPr lang="zh-CN" altLang="en-US" sz="1800" b="1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交换到外存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交换区。</a:t>
              </a:r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3635" y="1912"/>
              <a:ext cx="367" cy="226"/>
            </a:xfrm>
            <a:custGeom>
              <a:avLst/>
              <a:gdLst>
                <a:gd name="T0" fmla="*/ 0 w 528"/>
                <a:gd name="T1" fmla="*/ 200 h 200"/>
                <a:gd name="T2" fmla="*/ 144 w 528"/>
                <a:gd name="T3" fmla="*/ 8 h 200"/>
                <a:gd name="T4" fmla="*/ 528 w 528"/>
                <a:gd name="T5" fmla="*/ 152 h 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" h="200">
                  <a:moveTo>
                    <a:pt x="0" y="200"/>
                  </a:moveTo>
                  <a:cubicBezTo>
                    <a:pt x="28" y="108"/>
                    <a:pt x="56" y="16"/>
                    <a:pt x="144" y="8"/>
                  </a:cubicBezTo>
                  <a:cubicBezTo>
                    <a:pt x="232" y="0"/>
                    <a:pt x="464" y="128"/>
                    <a:pt x="528" y="152"/>
                  </a:cubicBezTo>
                </a:path>
              </a:pathLst>
            </a:custGeom>
            <a:noFill/>
            <a:ln w="28575" cmpd="sng">
              <a:solidFill>
                <a:srgbClr val="0099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179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调度的层次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EC98B-8828-4632-BB44-7EE7305510E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25848" y="2252563"/>
            <a:ext cx="5386387" cy="3152775"/>
            <a:chOff x="576" y="1614"/>
            <a:chExt cx="3393" cy="198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064" y="2472"/>
              <a:ext cx="1248" cy="11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4" y="1632"/>
              <a:ext cx="1248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576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 dirty="0"/>
                <a:t>提交</a:t>
              </a:r>
            </a:p>
            <a:p>
              <a:pPr algn="ctr" eaLnBrk="1" hangingPunct="1"/>
              <a:r>
                <a:rPr lang="zh-CN" altLang="en-US" sz="1800" b="1" dirty="0"/>
                <a:t>状态</a:t>
              </a: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1248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收容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537" y="2526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完成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08" y="24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1467" y="20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467" y="2040"/>
              <a:ext cx="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9" y="2241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012" y="2232"/>
              <a:ext cx="0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55" y="1614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外存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55" y="327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内存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216" y="27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3140448" y="2581176"/>
            <a:ext cx="1676400" cy="685800"/>
            <a:chOff x="2160" y="1821"/>
            <a:chExt cx="1056" cy="432"/>
          </a:xfrm>
        </p:grpSpPr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160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784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159498" y="3695601"/>
            <a:ext cx="1676400" cy="1595437"/>
            <a:chOff x="2172" y="2523"/>
            <a:chExt cx="1056" cy="1005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20" y="2952"/>
              <a:ext cx="224" cy="240"/>
            </a:xfrm>
            <a:custGeom>
              <a:avLst/>
              <a:gdLst>
                <a:gd name="T0" fmla="*/ 32 w 224"/>
                <a:gd name="T1" fmla="*/ 0 h 240"/>
                <a:gd name="T2" fmla="*/ 32 w 224"/>
                <a:gd name="T3" fmla="*/ 192 h 240"/>
                <a:gd name="T4" fmla="*/ 224 w 224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240">
                  <a:moveTo>
                    <a:pt x="32" y="0"/>
                  </a:moveTo>
                  <a:cubicBezTo>
                    <a:pt x="16" y="76"/>
                    <a:pt x="0" y="152"/>
                    <a:pt x="32" y="192"/>
                  </a:cubicBezTo>
                  <a:cubicBezTo>
                    <a:pt x="64" y="232"/>
                    <a:pt x="192" y="232"/>
                    <a:pt x="22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532" y="2904"/>
              <a:ext cx="168" cy="240"/>
            </a:xfrm>
            <a:custGeom>
              <a:avLst/>
              <a:gdLst>
                <a:gd name="T0" fmla="*/ 0 w 168"/>
                <a:gd name="T1" fmla="*/ 0 h 240"/>
                <a:gd name="T2" fmla="*/ 144 w 168"/>
                <a:gd name="T3" fmla="*/ 48 h 240"/>
                <a:gd name="T4" fmla="*/ 144 w 168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cubicBezTo>
                    <a:pt x="60" y="4"/>
                    <a:pt x="120" y="8"/>
                    <a:pt x="144" y="48"/>
                  </a:cubicBezTo>
                  <a:cubicBezTo>
                    <a:pt x="168" y="88"/>
                    <a:pt x="144" y="208"/>
                    <a:pt x="14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2871" y="2931"/>
              <a:ext cx="192" cy="288"/>
            </a:xfrm>
            <a:custGeom>
              <a:avLst/>
              <a:gdLst>
                <a:gd name="T0" fmla="*/ 0 w 168"/>
                <a:gd name="T1" fmla="*/ 432 h 192"/>
                <a:gd name="T2" fmla="*/ 189 w 168"/>
                <a:gd name="T3" fmla="*/ 324 h 192"/>
                <a:gd name="T4" fmla="*/ 189 w 16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92">
                  <a:moveTo>
                    <a:pt x="0" y="192"/>
                  </a:moveTo>
                  <a:cubicBezTo>
                    <a:pt x="60" y="184"/>
                    <a:pt x="120" y="176"/>
                    <a:pt x="144" y="144"/>
                  </a:cubicBezTo>
                  <a:cubicBezTo>
                    <a:pt x="168" y="112"/>
                    <a:pt x="144" y="24"/>
                    <a:pt x="14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571" y="2568"/>
              <a:ext cx="240" cy="96"/>
            </a:xfrm>
            <a:custGeom>
              <a:avLst/>
              <a:gdLst>
                <a:gd name="T0" fmla="*/ 240 w 240"/>
                <a:gd name="T1" fmla="*/ 96 h 96"/>
                <a:gd name="T2" fmla="*/ 144 w 240"/>
                <a:gd name="T3" fmla="*/ 0 h 96"/>
                <a:gd name="T4" fmla="*/ 0 w 240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96">
                  <a:moveTo>
                    <a:pt x="240" y="96"/>
                  </a:moveTo>
                  <a:cubicBezTo>
                    <a:pt x="212" y="48"/>
                    <a:pt x="184" y="0"/>
                    <a:pt x="144" y="0"/>
                  </a:cubicBezTo>
                  <a:cubicBezTo>
                    <a:pt x="104" y="0"/>
                    <a:pt x="24" y="80"/>
                    <a:pt x="0" y="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2172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96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496" y="3096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执行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611560" y="3576538"/>
            <a:ext cx="1781175" cy="854075"/>
            <a:chOff x="567" y="2448"/>
            <a:chExt cx="1122" cy="538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67" y="2736"/>
              <a:ext cx="11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输入管理系统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1104" y="2448"/>
              <a:ext cx="0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521448" y="2905026"/>
            <a:ext cx="3048000" cy="595312"/>
            <a:chOff x="2400" y="2025"/>
            <a:chExt cx="1920" cy="375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3531" y="2025"/>
              <a:ext cx="7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</a:rPr>
                <a:t>交换调度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400" y="2160"/>
              <a:ext cx="1152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3024" y="2208"/>
              <a:ext cx="57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6"/>
          <p:cNvGrpSpPr>
            <a:grpSpLocks/>
          </p:cNvGrpSpPr>
          <p:nvPr/>
        </p:nvGrpSpPr>
        <p:grpSpPr bwMode="auto">
          <a:xfrm>
            <a:off x="4359648" y="4795738"/>
            <a:ext cx="2362200" cy="396875"/>
            <a:chOff x="2928" y="3216"/>
            <a:chExt cx="1488" cy="250"/>
          </a:xfrm>
        </p:grpSpPr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648" y="321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线程调度</a:t>
              </a: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2928" y="336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778373" y="4643338"/>
            <a:ext cx="1619250" cy="719138"/>
            <a:chOff x="1302" y="3120"/>
            <a:chExt cx="1020" cy="453"/>
          </a:xfrm>
        </p:grpSpPr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1302" y="3323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进程调度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746" y="3120"/>
              <a:ext cx="576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468935" y="2919313"/>
            <a:ext cx="2652713" cy="3101975"/>
            <a:chOff x="1737" y="2034"/>
            <a:chExt cx="1671" cy="1954"/>
          </a:xfrm>
        </p:grpSpPr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592" y="373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作业调度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V="1">
              <a:off x="3168" y="2736"/>
              <a:ext cx="240" cy="10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 flipV="1">
              <a:off x="1737" y="2034"/>
              <a:ext cx="999" cy="171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2195513" y="2565400"/>
            <a:ext cx="6408200" cy="3534906"/>
            <a:chOff x="1371" y="1652"/>
            <a:chExt cx="4002" cy="2233"/>
          </a:xfrm>
        </p:grpSpPr>
        <p:sp>
          <p:nvSpPr>
            <p:cNvPr id="50" name="Text Box 48" descr="蓝色砂纸"/>
            <p:cNvSpPr txBox="1">
              <a:spLocks noChangeArrowheads="1"/>
            </p:cNvSpPr>
            <p:nvPr/>
          </p:nvSpPr>
          <p:spPr bwMode="auto">
            <a:xfrm>
              <a:off x="4011" y="1652"/>
              <a:ext cx="1362" cy="18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4762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</a:t>
              </a: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级：进程调度、</a:t>
              </a:r>
              <a:r>
                <a:rPr lang="zh-CN" altLang="en-US" sz="18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微观调度、低级调度</a:t>
              </a:r>
            </a:p>
            <a:p>
              <a:pPr marL="190500" lvl="1" indent="0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选取一个处于就绪状态的进程占用处理机，之后，进行上下文切换以便建立与占用处理机进程相适应的执行环境。</a:t>
              </a:r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371" y="2754"/>
              <a:ext cx="2640" cy="1131"/>
            </a:xfrm>
            <a:custGeom>
              <a:avLst/>
              <a:gdLst>
                <a:gd name="T0" fmla="*/ 0 w 2640"/>
                <a:gd name="T1" fmla="*/ 816 h 1384"/>
                <a:gd name="T2" fmla="*/ 576 w 2640"/>
                <a:gd name="T3" fmla="*/ 1248 h 1384"/>
                <a:gd name="T4" fmla="*/ 2640 w 2640"/>
                <a:gd name="T5" fmla="*/ 0 h 1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40" h="1384">
                  <a:moveTo>
                    <a:pt x="0" y="816"/>
                  </a:moveTo>
                  <a:cubicBezTo>
                    <a:pt x="68" y="1100"/>
                    <a:pt x="136" y="1384"/>
                    <a:pt x="576" y="1248"/>
                  </a:cubicBezTo>
                  <a:cubicBezTo>
                    <a:pt x="1016" y="1112"/>
                    <a:pt x="2296" y="208"/>
                    <a:pt x="2640" y="0"/>
                  </a:cubicBezTo>
                </a:path>
              </a:pathLst>
            </a:custGeom>
            <a:noFill/>
            <a:ln w="28575" cmpd="sng">
              <a:solidFill>
                <a:srgbClr val="0099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229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调度的层次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1C5B-2266-443A-9684-AA327387D8A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25848" y="2252563"/>
            <a:ext cx="5386387" cy="3152775"/>
            <a:chOff x="576" y="1614"/>
            <a:chExt cx="3393" cy="198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064" y="2472"/>
              <a:ext cx="1248" cy="11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4" y="1632"/>
              <a:ext cx="1248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576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 dirty="0"/>
                <a:t>提交</a:t>
              </a:r>
            </a:p>
            <a:p>
              <a:pPr algn="ctr" eaLnBrk="1" hangingPunct="1"/>
              <a:r>
                <a:rPr lang="zh-CN" altLang="en-US" sz="1800" b="1" dirty="0"/>
                <a:t>状态</a:t>
              </a: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1248" y="2229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收容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537" y="2526"/>
              <a:ext cx="432" cy="43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完成</a:t>
              </a:r>
            </a:p>
            <a:p>
              <a:pPr algn="ctr" eaLnBrk="1" hangingPunct="1"/>
              <a:r>
                <a:rPr lang="zh-CN" altLang="en-US" sz="1800" b="1"/>
                <a:t>状态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08" y="24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1467" y="20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467" y="2040"/>
              <a:ext cx="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379" y="2241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012" y="2232"/>
              <a:ext cx="0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55" y="1614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外存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55" y="327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内存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216" y="27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3140448" y="2581176"/>
            <a:ext cx="1676400" cy="685800"/>
            <a:chOff x="2160" y="1821"/>
            <a:chExt cx="1056" cy="432"/>
          </a:xfrm>
        </p:grpSpPr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160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784" y="1821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159498" y="3695601"/>
            <a:ext cx="1676400" cy="1595437"/>
            <a:chOff x="2172" y="2523"/>
            <a:chExt cx="1056" cy="1005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20" y="2952"/>
              <a:ext cx="224" cy="240"/>
            </a:xfrm>
            <a:custGeom>
              <a:avLst/>
              <a:gdLst>
                <a:gd name="T0" fmla="*/ 32 w 224"/>
                <a:gd name="T1" fmla="*/ 0 h 240"/>
                <a:gd name="T2" fmla="*/ 32 w 224"/>
                <a:gd name="T3" fmla="*/ 192 h 240"/>
                <a:gd name="T4" fmla="*/ 224 w 224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240">
                  <a:moveTo>
                    <a:pt x="32" y="0"/>
                  </a:moveTo>
                  <a:cubicBezTo>
                    <a:pt x="16" y="76"/>
                    <a:pt x="0" y="152"/>
                    <a:pt x="32" y="192"/>
                  </a:cubicBezTo>
                  <a:cubicBezTo>
                    <a:pt x="64" y="232"/>
                    <a:pt x="192" y="232"/>
                    <a:pt x="22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532" y="2904"/>
              <a:ext cx="168" cy="240"/>
            </a:xfrm>
            <a:custGeom>
              <a:avLst/>
              <a:gdLst>
                <a:gd name="T0" fmla="*/ 0 w 168"/>
                <a:gd name="T1" fmla="*/ 0 h 240"/>
                <a:gd name="T2" fmla="*/ 144 w 168"/>
                <a:gd name="T3" fmla="*/ 48 h 240"/>
                <a:gd name="T4" fmla="*/ 144 w 168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cubicBezTo>
                    <a:pt x="60" y="4"/>
                    <a:pt x="120" y="8"/>
                    <a:pt x="144" y="48"/>
                  </a:cubicBezTo>
                  <a:cubicBezTo>
                    <a:pt x="168" y="88"/>
                    <a:pt x="144" y="208"/>
                    <a:pt x="144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2871" y="2931"/>
              <a:ext cx="192" cy="288"/>
            </a:xfrm>
            <a:custGeom>
              <a:avLst/>
              <a:gdLst>
                <a:gd name="T0" fmla="*/ 0 w 168"/>
                <a:gd name="T1" fmla="*/ 432 h 192"/>
                <a:gd name="T2" fmla="*/ 189 w 168"/>
                <a:gd name="T3" fmla="*/ 324 h 192"/>
                <a:gd name="T4" fmla="*/ 189 w 16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92">
                  <a:moveTo>
                    <a:pt x="0" y="192"/>
                  </a:moveTo>
                  <a:cubicBezTo>
                    <a:pt x="60" y="184"/>
                    <a:pt x="120" y="176"/>
                    <a:pt x="144" y="144"/>
                  </a:cubicBezTo>
                  <a:cubicBezTo>
                    <a:pt x="168" y="112"/>
                    <a:pt x="144" y="24"/>
                    <a:pt x="14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571" y="2568"/>
              <a:ext cx="240" cy="96"/>
            </a:xfrm>
            <a:custGeom>
              <a:avLst/>
              <a:gdLst>
                <a:gd name="T0" fmla="*/ 240 w 240"/>
                <a:gd name="T1" fmla="*/ 96 h 96"/>
                <a:gd name="T2" fmla="*/ 144 w 240"/>
                <a:gd name="T3" fmla="*/ 0 h 96"/>
                <a:gd name="T4" fmla="*/ 0 w 240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96">
                  <a:moveTo>
                    <a:pt x="240" y="96"/>
                  </a:moveTo>
                  <a:cubicBezTo>
                    <a:pt x="212" y="48"/>
                    <a:pt x="184" y="0"/>
                    <a:pt x="144" y="0"/>
                  </a:cubicBezTo>
                  <a:cubicBezTo>
                    <a:pt x="104" y="0"/>
                    <a:pt x="24" y="80"/>
                    <a:pt x="0" y="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2172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就绪</a:t>
              </a: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96" y="2523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等待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496" y="3096"/>
              <a:ext cx="432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b="1"/>
                <a:t>执行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611560" y="3576538"/>
            <a:ext cx="1781175" cy="854075"/>
            <a:chOff x="567" y="2448"/>
            <a:chExt cx="1122" cy="538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67" y="2736"/>
              <a:ext cx="11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输入管理系统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1104" y="2448"/>
              <a:ext cx="0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521448" y="2905026"/>
            <a:ext cx="3048000" cy="595312"/>
            <a:chOff x="2400" y="2025"/>
            <a:chExt cx="1920" cy="375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3531" y="2025"/>
              <a:ext cx="7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</a:rPr>
                <a:t>交换调度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400" y="2160"/>
              <a:ext cx="1152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3024" y="2208"/>
              <a:ext cx="57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6"/>
          <p:cNvGrpSpPr>
            <a:grpSpLocks/>
          </p:cNvGrpSpPr>
          <p:nvPr/>
        </p:nvGrpSpPr>
        <p:grpSpPr bwMode="auto">
          <a:xfrm>
            <a:off x="4359648" y="4795738"/>
            <a:ext cx="2362200" cy="396875"/>
            <a:chOff x="2928" y="3216"/>
            <a:chExt cx="1488" cy="250"/>
          </a:xfrm>
        </p:grpSpPr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648" y="321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线程调度</a:t>
              </a: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2928" y="3360"/>
              <a:ext cx="76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778373" y="4643338"/>
            <a:ext cx="1619250" cy="719138"/>
            <a:chOff x="1302" y="3120"/>
            <a:chExt cx="1020" cy="453"/>
          </a:xfrm>
        </p:grpSpPr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1302" y="3323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进程调度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746" y="3120"/>
              <a:ext cx="576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468935" y="2919313"/>
            <a:ext cx="2652713" cy="3101975"/>
            <a:chOff x="1737" y="2034"/>
            <a:chExt cx="1671" cy="1954"/>
          </a:xfrm>
        </p:grpSpPr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592" y="373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3300"/>
                  </a:solidFill>
                </a:rPr>
                <a:t>作业调度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V="1">
              <a:off x="3168" y="2736"/>
              <a:ext cx="240" cy="10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 flipV="1">
              <a:off x="1737" y="2034"/>
              <a:ext cx="999" cy="171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5929312" y="2651125"/>
            <a:ext cx="2603500" cy="2235200"/>
            <a:chOff x="3735" y="1670"/>
            <a:chExt cx="1640" cy="1408"/>
          </a:xfrm>
        </p:grpSpPr>
        <p:sp>
          <p:nvSpPr>
            <p:cNvPr id="50" name="Text Box 48" descr="蓝色砂纸"/>
            <p:cNvSpPr txBox="1">
              <a:spLocks noChangeArrowheads="1"/>
            </p:cNvSpPr>
            <p:nvPr/>
          </p:nvSpPr>
          <p:spPr bwMode="auto">
            <a:xfrm>
              <a:off x="4011" y="1670"/>
              <a:ext cx="1364" cy="88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4762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</a:t>
              </a: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4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级：线程调度</a:t>
              </a:r>
              <a:endParaRPr lang="zh-CN" altLang="en-US" sz="1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190500" lvl="1" indent="0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选取一个处于就绪状态的线程进入执行状态。</a:t>
              </a:r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3735" y="2640"/>
              <a:ext cx="969" cy="438"/>
            </a:xfrm>
            <a:custGeom>
              <a:avLst/>
              <a:gdLst>
                <a:gd name="T0" fmla="*/ 0 w 1104"/>
                <a:gd name="T1" fmla="*/ 720 h 720"/>
                <a:gd name="T2" fmla="*/ 768 w 1104"/>
                <a:gd name="T3" fmla="*/ 384 h 720"/>
                <a:gd name="T4" fmla="*/ 1104 w 1104"/>
                <a:gd name="T5" fmla="*/ 0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4" h="720">
                  <a:moveTo>
                    <a:pt x="0" y="720"/>
                  </a:moveTo>
                  <a:cubicBezTo>
                    <a:pt x="292" y="612"/>
                    <a:pt x="584" y="504"/>
                    <a:pt x="768" y="384"/>
                  </a:cubicBezTo>
                  <a:cubicBezTo>
                    <a:pt x="952" y="264"/>
                    <a:pt x="1048" y="64"/>
                    <a:pt x="1104" y="0"/>
                  </a:cubicBezTo>
                </a:path>
              </a:pathLst>
            </a:custGeom>
            <a:noFill/>
            <a:ln w="28575" cmpd="sng">
              <a:solidFill>
                <a:srgbClr val="0099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781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分级调度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作业与进程的关系</a:t>
            </a:r>
            <a:endParaRPr lang="en-US" altLang="zh-CN" dirty="0"/>
          </a:p>
          <a:p>
            <a:pPr lvl="1"/>
            <a:endParaRPr lang="en-US" altLang="zh-CN" b="1" dirty="0"/>
          </a:p>
          <a:p>
            <a:pPr lvl="1"/>
            <a:r>
              <a:rPr lang="zh-CN" altLang="en-US" dirty="0"/>
              <a:t>作业是用户向计算机</a:t>
            </a:r>
            <a:r>
              <a:rPr lang="zh-CN" altLang="en-US" dirty="0">
                <a:solidFill>
                  <a:srgbClr val="FF0000"/>
                </a:solidFill>
              </a:rPr>
              <a:t>提交任务的任务实体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进程是计算机为完成用户任务而设置的</a:t>
            </a:r>
            <a:r>
              <a:rPr lang="zh-CN" altLang="en-US" dirty="0">
                <a:solidFill>
                  <a:srgbClr val="FF0000"/>
                </a:solidFill>
              </a:rPr>
              <a:t>执行实体</a:t>
            </a:r>
            <a:r>
              <a:rPr lang="zh-CN" altLang="en-US" dirty="0"/>
              <a:t>，是系统分配资源的基本单位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一个作业通常由多个进程组成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3B19-385E-429A-A7F6-1F077AA35ED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698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分级调度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作业调度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进程调度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调度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算法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实时调度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多处理机调度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D738-8A9E-48F6-A55A-79BCE937B55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08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作业调度的功能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720A3-A74C-4447-8A40-5D486F41561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755923" y="2456527"/>
            <a:ext cx="5635352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>
                <a:latin typeface="+mn-lt"/>
                <a:ea typeface="楷体" panose="02010609060101010101" pitchFamily="49" charset="-122"/>
              </a:rPr>
              <a:t>记录系统中各作业的状况</a:t>
            </a:r>
            <a:endParaRPr lang="en-US" altLang="zh-CN" sz="2200" b="1" dirty="0">
              <a:latin typeface="+mn-lt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200" b="1" dirty="0">
                <a:latin typeface="+mn-lt"/>
                <a:ea typeface="楷体" panose="02010609060101010101" pitchFamily="49" charset="-122"/>
              </a:rPr>
              <a:t>系统为每个作业建立一个</a:t>
            </a:r>
            <a:r>
              <a:rPr lang="en-US" altLang="zh-CN" sz="2200" b="1" dirty="0" smtClean="0">
                <a:latin typeface="+mn-lt"/>
                <a:ea typeface="楷体" panose="02010609060101010101" pitchFamily="49" charset="-122"/>
              </a:rPr>
              <a:t>JCB</a:t>
            </a:r>
            <a:r>
              <a:rPr lang="zh-CN" altLang="en-US" sz="2200" b="1" dirty="0" smtClean="0">
                <a:latin typeface="+mn-lt"/>
                <a:ea typeface="楷体" panose="02010609060101010101" pitchFamily="49" charset="-122"/>
              </a:rPr>
              <a:t>（</a:t>
            </a:r>
            <a:r>
              <a:rPr lang="en-US" altLang="zh-CN" sz="2200" b="1" dirty="0" smtClean="0">
                <a:latin typeface="+mn-lt"/>
                <a:ea typeface="楷体" panose="02010609060101010101" pitchFamily="49" charset="-122"/>
              </a:rPr>
              <a:t>Job Control Block</a:t>
            </a:r>
            <a:r>
              <a:rPr lang="zh-CN" altLang="en-US" sz="2200" b="1" dirty="0" smtClean="0">
                <a:latin typeface="+mn-lt"/>
                <a:ea typeface="楷体" panose="02010609060101010101" pitchFamily="49" charset="-122"/>
              </a:rPr>
              <a:t>）记录</a:t>
            </a:r>
            <a:r>
              <a:rPr lang="zh-CN" altLang="en-US" sz="2200" b="1" dirty="0">
                <a:latin typeface="+mn-lt"/>
                <a:ea typeface="楷体" panose="02010609060101010101" pitchFamily="49" charset="-122"/>
              </a:rPr>
              <a:t>作业信息，系统通过</a:t>
            </a:r>
            <a:r>
              <a:rPr lang="en-US" altLang="zh-CN" sz="2200" b="1" dirty="0">
                <a:latin typeface="+mn-lt"/>
                <a:ea typeface="楷体" panose="02010609060101010101" pitchFamily="49" charset="-122"/>
              </a:rPr>
              <a:t>JCB</a:t>
            </a:r>
            <a:r>
              <a:rPr lang="zh-CN" altLang="en-US" sz="2200" b="1" dirty="0">
                <a:latin typeface="+mn-lt"/>
                <a:ea typeface="楷体" panose="02010609060101010101" pitchFamily="49" charset="-122"/>
              </a:rPr>
              <a:t>感知作业的存在。</a:t>
            </a:r>
          </a:p>
        </p:txBody>
      </p: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5940152" y="2132856"/>
            <a:ext cx="2438400" cy="2590800"/>
            <a:chOff x="4080" y="2016"/>
            <a:chExt cx="1536" cy="1632"/>
          </a:xfrm>
        </p:grpSpPr>
        <p:grpSp>
          <p:nvGrpSpPr>
            <p:cNvPr id="9" name="Group 31"/>
            <p:cNvGrpSpPr>
              <a:grpSpLocks/>
            </p:cNvGrpSpPr>
            <p:nvPr/>
          </p:nvGrpSpPr>
          <p:grpSpPr bwMode="auto">
            <a:xfrm>
              <a:off x="4560" y="2016"/>
              <a:ext cx="1056" cy="1632"/>
              <a:chOff x="4416" y="2016"/>
              <a:chExt cx="1056" cy="1632"/>
            </a:xfrm>
          </p:grpSpPr>
          <p:sp>
            <p:nvSpPr>
              <p:cNvPr id="11" name="Rectangle 24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1056" cy="163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作业名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作业类型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资源要求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资源使用情况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优先级（数）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当前状态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000" b="1" dirty="0"/>
                  <a:t>其它</a:t>
                </a:r>
              </a:p>
            </p:txBody>
          </p:sp>
          <p:sp>
            <p:nvSpPr>
              <p:cNvPr id="12" name="Line 25"/>
              <p:cNvSpPr>
                <a:spLocks noChangeShapeType="1"/>
              </p:cNvSpPr>
              <p:nvPr/>
            </p:nvSpPr>
            <p:spPr bwMode="auto">
              <a:xfrm>
                <a:off x="4416" y="2256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26"/>
              <p:cNvSpPr>
                <a:spLocks noChangeShapeType="1"/>
              </p:cNvSpPr>
              <p:nvPr/>
            </p:nvSpPr>
            <p:spPr bwMode="auto">
              <a:xfrm>
                <a:off x="4416" y="2496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27"/>
              <p:cNvSpPr>
                <a:spLocks noChangeShapeType="1"/>
              </p:cNvSpPr>
              <p:nvPr/>
            </p:nvSpPr>
            <p:spPr bwMode="auto">
              <a:xfrm>
                <a:off x="4416" y="2736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28"/>
              <p:cNvSpPr>
                <a:spLocks noChangeShapeType="1"/>
              </p:cNvSpPr>
              <p:nvPr/>
            </p:nvSpPr>
            <p:spPr bwMode="auto">
              <a:xfrm>
                <a:off x="4416" y="2967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4416" y="3186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4416" y="3417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Freeform 32"/>
            <p:cNvSpPr>
              <a:spLocks/>
            </p:cNvSpPr>
            <p:nvPr/>
          </p:nvSpPr>
          <p:spPr bwMode="auto">
            <a:xfrm>
              <a:off x="4080" y="2688"/>
              <a:ext cx="480" cy="280"/>
            </a:xfrm>
            <a:custGeom>
              <a:avLst/>
              <a:gdLst>
                <a:gd name="T0" fmla="*/ 0 w 480"/>
                <a:gd name="T1" fmla="*/ 240 h 280"/>
                <a:gd name="T2" fmla="*/ 240 w 480"/>
                <a:gd name="T3" fmla="*/ 240 h 280"/>
                <a:gd name="T4" fmla="*/ 480 w 480"/>
                <a:gd name="T5" fmla="*/ 0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280">
                  <a:moveTo>
                    <a:pt x="0" y="240"/>
                  </a:moveTo>
                  <a:cubicBezTo>
                    <a:pt x="80" y="260"/>
                    <a:pt x="160" y="280"/>
                    <a:pt x="240" y="240"/>
                  </a:cubicBezTo>
                  <a:cubicBezTo>
                    <a:pt x="320" y="200"/>
                    <a:pt x="440" y="40"/>
                    <a:pt x="480" y="0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36"/>
          <p:cNvGrpSpPr>
            <a:grpSpLocks/>
          </p:cNvGrpSpPr>
          <p:nvPr/>
        </p:nvGrpSpPr>
        <p:grpSpPr bwMode="auto">
          <a:xfrm>
            <a:off x="755576" y="4149080"/>
            <a:ext cx="5867400" cy="1139825"/>
            <a:chOff x="864" y="3216"/>
            <a:chExt cx="3696" cy="718"/>
          </a:xfrm>
        </p:grpSpPr>
        <p:sp>
          <p:nvSpPr>
            <p:cNvPr id="19" name="Freeform 33"/>
            <p:cNvSpPr>
              <a:spLocks/>
            </p:cNvSpPr>
            <p:nvPr/>
          </p:nvSpPr>
          <p:spPr bwMode="auto">
            <a:xfrm>
              <a:off x="3984" y="3216"/>
              <a:ext cx="576" cy="432"/>
            </a:xfrm>
            <a:custGeom>
              <a:avLst/>
              <a:gdLst>
                <a:gd name="T0" fmla="*/ 691 w 480"/>
                <a:gd name="T1" fmla="*/ 0 h 264"/>
                <a:gd name="T2" fmla="*/ 415 w 480"/>
                <a:gd name="T3" fmla="*/ 643 h 264"/>
                <a:gd name="T4" fmla="*/ 0 w 480"/>
                <a:gd name="T5" fmla="*/ 386 h 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264">
                  <a:moveTo>
                    <a:pt x="480" y="0"/>
                  </a:moveTo>
                  <a:cubicBezTo>
                    <a:pt x="424" y="108"/>
                    <a:pt x="368" y="216"/>
                    <a:pt x="288" y="240"/>
                  </a:cubicBezTo>
                  <a:cubicBezTo>
                    <a:pt x="208" y="264"/>
                    <a:pt x="48" y="160"/>
                    <a:pt x="0" y="144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864" y="3236"/>
              <a:ext cx="3168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200" b="1" dirty="0">
                  <a:latin typeface="+mn-lt"/>
                  <a:ea typeface="楷体" panose="02010609060101010101" pitchFamily="49" charset="-122"/>
                </a:rPr>
                <a:t>作业进入后备状态时，系统为其建立</a:t>
              </a:r>
              <a:r>
                <a:rPr lang="en-US" altLang="zh-CN" sz="2200" b="1" dirty="0">
                  <a:latin typeface="+mn-lt"/>
                  <a:ea typeface="楷体" panose="02010609060101010101" pitchFamily="49" charset="-122"/>
                </a:rPr>
                <a:t>JCB</a:t>
              </a:r>
              <a:r>
                <a:rPr lang="zh-CN" altLang="en-US" sz="2200" b="1" dirty="0">
                  <a:latin typeface="+mn-lt"/>
                  <a:ea typeface="楷体" panose="02010609060101010101" pitchFamily="49" charset="-122"/>
                </a:rPr>
                <a:t>；作业进入完成状态后，系统撤销其</a:t>
              </a:r>
              <a:r>
                <a:rPr lang="en-US" altLang="zh-CN" sz="2200" b="1" dirty="0">
                  <a:latin typeface="+mn-lt"/>
                  <a:ea typeface="楷体" panose="02010609060101010101" pitchFamily="49" charset="-122"/>
                </a:rPr>
                <a:t>JCB</a:t>
              </a:r>
              <a:r>
                <a:rPr lang="zh-CN" altLang="en-US" sz="2200" b="1" dirty="0">
                  <a:latin typeface="+mn-lt"/>
                  <a:ea typeface="楷体" panose="02010609060101010101" pitchFamily="49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876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作业调度的功能</a:t>
            </a:r>
            <a:endParaRPr lang="en-US" altLang="zh-CN" dirty="0"/>
          </a:p>
          <a:p>
            <a:pPr lvl="1"/>
            <a:r>
              <a:rPr lang="zh-CN" altLang="en-US" dirty="0"/>
              <a:t>记录系统中各作业的状态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D826-C1E0-409A-B7C2-95BB25AD617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7" name="灯片编号占位符 5"/>
          <p:cNvSpPr txBox="1">
            <a:spLocks/>
          </p:cNvSpPr>
          <p:nvPr/>
        </p:nvSpPr>
        <p:spPr>
          <a:xfrm>
            <a:off x="6622976" y="5773688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00C07AF6-A0E4-485C-AEA3-850F63E357A1}" type="slidenum">
              <a:rPr lang="en-US" altLang="zh-CN" sz="1400" smtClean="0"/>
              <a:pPr eaLnBrk="1" hangingPunct="1"/>
              <a:t>13</a:t>
            </a:fld>
            <a:r>
              <a:rPr lang="en-US" altLang="zh-CN" sz="1400"/>
              <a:t>/</a:t>
            </a:r>
            <a:r>
              <a:rPr lang="en-US" altLang="zh-CN" sz="1400">
                <a:solidFill>
                  <a:srgbClr val="FF3300"/>
                </a:solidFill>
              </a:rPr>
              <a:t>85</a:t>
            </a: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755576" y="3335288"/>
            <a:ext cx="1676400" cy="2590800"/>
            <a:chOff x="4416" y="2016"/>
            <a:chExt cx="1056" cy="1632"/>
          </a:xfrm>
        </p:grpSpPr>
        <p:sp>
          <p:nvSpPr>
            <p:cNvPr id="9" name="Rectangle 28"/>
            <p:cNvSpPr>
              <a:spLocks noChangeArrowheads="1"/>
            </p:cNvSpPr>
            <p:nvPr/>
          </p:nvSpPr>
          <p:spPr bwMode="auto">
            <a:xfrm>
              <a:off x="4416" y="2016"/>
              <a:ext cx="1056" cy="16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作业名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作业类型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资源要求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资源使用情况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优先级（数）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当前状态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/>
                <a:t>其它</a:t>
              </a:r>
            </a:p>
          </p:txBody>
        </p:sp>
        <p:sp>
          <p:nvSpPr>
            <p:cNvPr id="10" name="Line 29"/>
            <p:cNvSpPr>
              <a:spLocks noChangeShapeType="1"/>
            </p:cNvSpPr>
            <p:nvPr/>
          </p:nvSpPr>
          <p:spPr bwMode="auto">
            <a:xfrm>
              <a:off x="4416" y="225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30"/>
            <p:cNvSpPr>
              <a:spLocks noChangeShapeType="1"/>
            </p:cNvSpPr>
            <p:nvPr/>
          </p:nvSpPr>
          <p:spPr bwMode="auto">
            <a:xfrm>
              <a:off x="4416" y="249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31"/>
            <p:cNvSpPr>
              <a:spLocks noChangeShapeType="1"/>
            </p:cNvSpPr>
            <p:nvPr/>
          </p:nvSpPr>
          <p:spPr bwMode="auto">
            <a:xfrm>
              <a:off x="4416" y="273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32"/>
            <p:cNvSpPr>
              <a:spLocks noChangeShapeType="1"/>
            </p:cNvSpPr>
            <p:nvPr/>
          </p:nvSpPr>
          <p:spPr bwMode="auto">
            <a:xfrm>
              <a:off x="4416" y="2967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3"/>
            <p:cNvSpPr>
              <a:spLocks noChangeShapeType="1"/>
            </p:cNvSpPr>
            <p:nvPr/>
          </p:nvSpPr>
          <p:spPr bwMode="auto">
            <a:xfrm>
              <a:off x="4416" y="318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34"/>
            <p:cNvSpPr>
              <a:spLocks noChangeShapeType="1"/>
            </p:cNvSpPr>
            <p:nvPr/>
          </p:nvSpPr>
          <p:spPr bwMode="auto">
            <a:xfrm>
              <a:off x="4416" y="3417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AutoShape 36"/>
          <p:cNvSpPr>
            <a:spLocks noChangeArrowheads="1"/>
          </p:cNvSpPr>
          <p:nvPr/>
        </p:nvSpPr>
        <p:spPr bwMode="auto">
          <a:xfrm>
            <a:off x="2660576" y="2420888"/>
            <a:ext cx="3657600" cy="685800"/>
          </a:xfrm>
          <a:prstGeom prst="wedgeRectCallout">
            <a:avLst>
              <a:gd name="adj1" fmla="val -68273"/>
              <a:gd name="adj2" fmla="val 107870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用户提供，系统将其转换为系统可识别的作业标识符</a:t>
            </a:r>
          </a:p>
        </p:txBody>
      </p:sp>
      <p:sp>
        <p:nvSpPr>
          <p:cNvPr id="17" name="AutoShape 37"/>
          <p:cNvSpPr>
            <a:spLocks noChangeArrowheads="1"/>
          </p:cNvSpPr>
          <p:nvPr/>
        </p:nvSpPr>
        <p:spPr bwMode="auto">
          <a:xfrm>
            <a:off x="3193976" y="3211463"/>
            <a:ext cx="4724400" cy="685800"/>
          </a:xfrm>
          <a:prstGeom prst="wedgeRectCallout">
            <a:avLst>
              <a:gd name="adj1" fmla="val -74093"/>
              <a:gd name="adj2" fmla="val 541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计算型（</a:t>
            </a:r>
            <a:r>
              <a:rPr lang="en-US" altLang="zh-CN" sz="2000" b="1">
                <a:solidFill>
                  <a:srgbClr val="FFFF00"/>
                </a:solidFill>
              </a:rPr>
              <a:t>CPU</a:t>
            </a:r>
            <a:r>
              <a:rPr lang="zh-CN" altLang="en-US" sz="2000" b="1">
                <a:solidFill>
                  <a:srgbClr val="FFFF00"/>
                </a:solidFill>
              </a:rPr>
              <a:t>时间多）、管理型（</a:t>
            </a:r>
            <a:r>
              <a:rPr lang="en-US" altLang="zh-CN" sz="2000" b="1">
                <a:solidFill>
                  <a:srgbClr val="FFFF00"/>
                </a:solidFill>
              </a:rPr>
              <a:t>I/O</a:t>
            </a:r>
            <a:r>
              <a:rPr lang="zh-CN" altLang="en-US" sz="2000" b="1">
                <a:solidFill>
                  <a:srgbClr val="FFFF00"/>
                </a:solidFill>
              </a:rPr>
              <a:t>量大）、图形设计型（高速图形显示）</a:t>
            </a:r>
          </a:p>
        </p:txBody>
      </p:sp>
      <p:sp>
        <p:nvSpPr>
          <p:cNvPr id="18" name="AutoShape 38"/>
          <p:cNvSpPr>
            <a:spLocks noChangeArrowheads="1"/>
          </p:cNvSpPr>
          <p:nvPr/>
        </p:nvSpPr>
        <p:spPr bwMode="auto">
          <a:xfrm>
            <a:off x="3498776" y="3987751"/>
            <a:ext cx="4953000" cy="457200"/>
          </a:xfrm>
          <a:prstGeom prst="wedgeRectCallout">
            <a:avLst>
              <a:gd name="adj1" fmla="val -75704"/>
              <a:gd name="adj2" fmla="val 1979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执行时间、内外存量、外设、软件工具等</a:t>
            </a:r>
          </a:p>
        </p:txBody>
      </p:sp>
      <p:sp>
        <p:nvSpPr>
          <p:cNvPr id="19" name="AutoShape 39"/>
          <p:cNvSpPr>
            <a:spLocks noChangeArrowheads="1"/>
          </p:cNvSpPr>
          <p:nvPr/>
        </p:nvSpPr>
        <p:spPr bwMode="auto">
          <a:xfrm>
            <a:off x="2812976" y="4521151"/>
            <a:ext cx="5943600" cy="457200"/>
          </a:xfrm>
          <a:prstGeom prst="wedgeRectCallout">
            <a:avLst>
              <a:gd name="adj1" fmla="val -58093"/>
              <a:gd name="adj2" fmla="val -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进入系统</a:t>
            </a:r>
            <a:r>
              <a:rPr lang="en-US" altLang="zh-CN" sz="2000" b="1">
                <a:solidFill>
                  <a:srgbClr val="FFFF00"/>
                </a:solidFill>
              </a:rPr>
              <a:t>/</a:t>
            </a:r>
            <a:r>
              <a:rPr lang="zh-CN" altLang="en-US" sz="2000" b="1">
                <a:solidFill>
                  <a:srgbClr val="FFFF00"/>
                </a:solidFill>
              </a:rPr>
              <a:t>开始执行</a:t>
            </a:r>
            <a:r>
              <a:rPr lang="en-US" altLang="zh-CN" sz="2000" b="1">
                <a:solidFill>
                  <a:srgbClr val="FFFF00"/>
                </a:solidFill>
              </a:rPr>
              <a:t>/</a:t>
            </a:r>
            <a:r>
              <a:rPr lang="zh-CN" altLang="en-US" sz="2000" b="1">
                <a:solidFill>
                  <a:srgbClr val="FFFF00"/>
                </a:solidFill>
              </a:rPr>
              <a:t>已执行时间、内存地址、外设数</a:t>
            </a:r>
          </a:p>
        </p:txBody>
      </p:sp>
      <p:sp>
        <p:nvSpPr>
          <p:cNvPr id="20" name="AutoShape 40"/>
          <p:cNvSpPr>
            <a:spLocks noChangeArrowheads="1"/>
          </p:cNvSpPr>
          <p:nvPr/>
        </p:nvSpPr>
        <p:spPr bwMode="auto">
          <a:xfrm>
            <a:off x="2812976" y="5102176"/>
            <a:ext cx="5181600" cy="457200"/>
          </a:xfrm>
          <a:prstGeom prst="wedgeRectCallout">
            <a:avLst>
              <a:gd name="adj1" fmla="val -60079"/>
              <a:gd name="adj2" fmla="val -791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决定作业调度顺序，用户给定</a:t>
            </a:r>
            <a:r>
              <a:rPr lang="en-US" altLang="zh-CN" sz="2000" b="1">
                <a:solidFill>
                  <a:srgbClr val="FFFF00"/>
                </a:solidFill>
              </a:rPr>
              <a:t>/</a:t>
            </a:r>
            <a:r>
              <a:rPr lang="zh-CN" altLang="en-US" sz="2000" b="1">
                <a:solidFill>
                  <a:srgbClr val="FFFF00"/>
                </a:solidFill>
              </a:rPr>
              <a:t>系统动态产生</a:t>
            </a:r>
          </a:p>
        </p:txBody>
      </p:sp>
      <p:sp>
        <p:nvSpPr>
          <p:cNvPr id="21" name="AutoShape 41"/>
          <p:cNvSpPr>
            <a:spLocks noChangeArrowheads="1"/>
          </p:cNvSpPr>
          <p:nvPr/>
        </p:nvSpPr>
        <p:spPr bwMode="auto">
          <a:xfrm>
            <a:off x="2812976" y="5726063"/>
            <a:ext cx="2133600" cy="457200"/>
          </a:xfrm>
          <a:prstGeom prst="wedgeRectCallout">
            <a:avLst>
              <a:gd name="adj1" fmla="val -80880"/>
              <a:gd name="adj2" fmla="val -132292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</a:rPr>
              <a:t>作业的当前状态</a:t>
            </a:r>
          </a:p>
        </p:txBody>
      </p:sp>
      <p:sp>
        <p:nvSpPr>
          <p:cNvPr id="22" name="AutoShape 45"/>
          <p:cNvSpPr>
            <a:spLocks noChangeArrowheads="1"/>
          </p:cNvSpPr>
          <p:nvPr/>
        </p:nvSpPr>
        <p:spPr bwMode="auto">
          <a:xfrm>
            <a:off x="5251376" y="5711776"/>
            <a:ext cx="3352800" cy="381000"/>
          </a:xfrm>
          <a:prstGeom prst="wedgeRoundRectCallout">
            <a:avLst>
              <a:gd name="adj1" fmla="val -62593"/>
              <a:gd name="adj2" fmla="val 15000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/>
              <a:t>处于后备状态时，可被调度</a:t>
            </a:r>
          </a:p>
        </p:txBody>
      </p:sp>
    </p:spTree>
    <p:extLst>
      <p:ext uri="{BB962C8B-B14F-4D97-AF65-F5344CB8AC3E}">
        <p14:creationId xmlns:p14="http://schemas.microsoft.com/office/powerpoint/2010/main" val="62979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 autoUpdateAnimBg="0"/>
      <p:bldP spid="21" grpId="0" animBg="1" autoUpdateAnimBg="0"/>
      <p:bldP spid="22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作业调度的步骤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记录系统中各作业的状况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从后备队列中选择一部分作业投入运行</a:t>
            </a:r>
            <a:r>
              <a:rPr lang="zh-CN" altLang="en-US" dirty="0">
                <a:solidFill>
                  <a:srgbClr val="FF3300"/>
                </a:solidFill>
              </a:rPr>
              <a:t>（涉及调度算法）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为被选中的作业做好执行前的准备</a:t>
            </a:r>
            <a:r>
              <a:rPr lang="zh-CN" altLang="en-US" dirty="0">
                <a:solidFill>
                  <a:srgbClr val="FF3300"/>
                </a:solidFill>
              </a:rPr>
              <a:t>（建立进程、为进程们分配系统资源）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作业执行结束时的后处理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E7DA-46ED-4239-B40F-02A2346F3AB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01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作业调度中的状态转换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85E38-411A-4687-8FB6-D9C71A6CD24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324223" y="2060848"/>
            <a:ext cx="381000" cy="427037"/>
            <a:chOff x="858" y="1680"/>
            <a:chExt cx="240" cy="269"/>
          </a:xfrm>
        </p:grpSpPr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V="1">
              <a:off x="912" y="16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858" y="1737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是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395536" y="2427560"/>
            <a:ext cx="8305800" cy="919163"/>
            <a:chOff x="273" y="1911"/>
            <a:chExt cx="5232" cy="579"/>
          </a:xfrm>
        </p:grpSpPr>
        <p:sp>
          <p:nvSpPr>
            <p:cNvPr id="11" name="Line 4"/>
            <p:cNvSpPr>
              <a:spLocks noChangeShapeType="1"/>
            </p:cNvSpPr>
            <p:nvPr/>
          </p:nvSpPr>
          <p:spPr bwMode="auto">
            <a:xfrm>
              <a:off x="273" y="219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>
              <a:off x="513" y="1914"/>
              <a:ext cx="816" cy="576"/>
            </a:xfrm>
            <a:prstGeom prst="flowChartDecisi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后备作业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队列空？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476" y="2016"/>
              <a:ext cx="528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从中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选一作业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175" y="2007"/>
              <a:ext cx="528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审核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资源要求</a:t>
              </a:r>
            </a:p>
          </p:txBody>
        </p:sp>
        <p:sp>
          <p:nvSpPr>
            <p:cNvPr id="15" name="AutoShape 8"/>
            <p:cNvSpPr>
              <a:spLocks noChangeArrowheads="1"/>
            </p:cNvSpPr>
            <p:nvPr/>
          </p:nvSpPr>
          <p:spPr bwMode="auto">
            <a:xfrm>
              <a:off x="2859" y="1911"/>
              <a:ext cx="816" cy="576"/>
            </a:xfrm>
            <a:prstGeom prst="flowChartDecisi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资源要求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能满足？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819" y="2007"/>
              <a:ext cx="384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分配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资源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356" y="1998"/>
              <a:ext cx="384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建立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进程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884" y="1995"/>
              <a:ext cx="384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进程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调度</a:t>
              </a: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1329" y="219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2010" y="219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703" y="219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669" y="2193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4200" y="219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4737" y="219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5265" y="218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1248" y="1996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否</a:t>
              </a:r>
            </a:p>
          </p:txBody>
        </p:sp>
        <p:sp>
          <p:nvSpPr>
            <p:cNvPr id="27" name="Text Box 23"/>
            <p:cNvSpPr txBox="1">
              <a:spLocks noChangeArrowheads="1"/>
            </p:cNvSpPr>
            <p:nvPr/>
          </p:nvSpPr>
          <p:spPr bwMode="auto">
            <a:xfrm>
              <a:off x="3588" y="1986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是</a:t>
              </a:r>
            </a:p>
          </p:txBody>
        </p:sp>
      </p:grpSp>
      <p:grpSp>
        <p:nvGrpSpPr>
          <p:cNvPr id="28" name="Group 31"/>
          <p:cNvGrpSpPr>
            <a:grpSpLocks/>
          </p:cNvGrpSpPr>
          <p:nvPr/>
        </p:nvGrpSpPr>
        <p:grpSpPr bwMode="auto">
          <a:xfrm>
            <a:off x="4838948" y="3218135"/>
            <a:ext cx="685800" cy="1052513"/>
            <a:chOff x="3072" y="2409"/>
            <a:chExt cx="432" cy="663"/>
          </a:xfrm>
        </p:grpSpPr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3072" y="2592"/>
              <a:ext cx="432" cy="38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放弃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该作业</a:t>
              </a: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3264" y="24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>
              <a:off x="3258" y="2409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否</a:t>
              </a:r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3264" y="29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33" name="Line 27"/>
          <p:cNvSpPr>
            <a:spLocks noChangeShapeType="1"/>
          </p:cNvSpPr>
          <p:nvPr/>
        </p:nvSpPr>
        <p:spPr bwMode="auto">
          <a:xfrm flipH="1">
            <a:off x="571748" y="4270648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Line 28"/>
          <p:cNvSpPr>
            <a:spLocks noChangeShapeType="1"/>
          </p:cNvSpPr>
          <p:nvPr/>
        </p:nvSpPr>
        <p:spPr bwMode="auto">
          <a:xfrm flipV="1">
            <a:off x="571748" y="2899048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5981948" y="3661048"/>
            <a:ext cx="281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从后备状态到执行状态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6058148" y="5489848"/>
            <a:ext cx="281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从执行状态到完成状态</a:t>
            </a:r>
          </a:p>
        </p:txBody>
      </p:sp>
      <p:grpSp>
        <p:nvGrpSpPr>
          <p:cNvPr id="37" name="Group 43"/>
          <p:cNvGrpSpPr>
            <a:grpSpLocks/>
          </p:cNvGrpSpPr>
          <p:nvPr/>
        </p:nvGrpSpPr>
        <p:grpSpPr bwMode="auto">
          <a:xfrm>
            <a:off x="476498" y="4632598"/>
            <a:ext cx="6400800" cy="762000"/>
            <a:chOff x="288" y="3408"/>
            <a:chExt cx="4032" cy="480"/>
          </a:xfrm>
        </p:grpSpPr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576" y="3408"/>
              <a:ext cx="720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回收该作业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占用的资源</a:t>
              </a: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1488" y="3408"/>
              <a:ext cx="720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计算该作业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的执行费用</a:t>
              </a: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2403" y="3408"/>
              <a:ext cx="720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撤销该作业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进程及</a:t>
              </a:r>
              <a:r>
                <a:rPr lang="en-US" altLang="zh-CN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JCB</a:t>
              </a: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3312" y="3408"/>
              <a:ext cx="720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调度</a:t>
              </a:r>
            </a:p>
            <a:p>
              <a:pPr algn="ctr" eaLnBrk="1" hangingPunct="1"/>
              <a:r>
                <a:rPr lang="zh-CN" altLang="en-US" sz="1600" b="1">
                  <a:latin typeface="楷体" panose="02010609060101010101" pitchFamily="49" charset="-122"/>
                  <a:ea typeface="楷体" panose="02010609060101010101" pitchFamily="49" charset="-122"/>
                </a:rPr>
                <a:t>下一个作业</a:t>
              </a:r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288" y="364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1296" y="363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2208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>
              <a:off x="3120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4032" y="364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88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utoUpdateAnimBg="0"/>
      <p:bldP spid="3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调度的目标与性能衡量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4387-6769-4CA6-80BB-49456614AD2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aphicFrame>
        <p:nvGraphicFramePr>
          <p:cNvPr id="7" name="表格 2"/>
          <p:cNvGraphicFramePr>
            <a:graphicFrameLocks noGrp="1"/>
          </p:cNvGraphicFramePr>
          <p:nvPr>
            <p:extLst/>
          </p:nvPr>
        </p:nvGraphicFramePr>
        <p:xfrm>
          <a:off x="899592" y="2205038"/>
          <a:ext cx="7200900" cy="367188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927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04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031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6299"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1" marR="9144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面向用户</a:t>
                      </a:r>
                    </a:p>
                  </a:txBody>
                  <a:tcPr marL="91441" marR="9144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面向系统</a:t>
                      </a:r>
                    </a:p>
                  </a:txBody>
                  <a:tcPr marL="91441" marR="91441" marT="45714" marB="45714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264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性能相关</a:t>
                      </a:r>
                    </a:p>
                  </a:txBody>
                  <a:tcPr marL="91441" marR="91441"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周转时间</a:t>
                      </a:r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响应时间</a:t>
                      </a:r>
                    </a:p>
                  </a:txBody>
                  <a:tcPr marL="91441" marR="91441"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吞吐率</a:t>
                      </a:r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处理机使用率</a:t>
                      </a:r>
                    </a:p>
                  </a:txBody>
                  <a:tcPr marL="91441" marR="91441" marT="45714" marB="45714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291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非性能相关</a:t>
                      </a:r>
                    </a:p>
                  </a:txBody>
                  <a:tcPr marL="91441" marR="91441"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如：一个作业的执行时间和开销不受系统负载</a:t>
                      </a:r>
                      <a:r>
                        <a:rPr lang="zh-CN" altLang="en-US" sz="2000" b="1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的影响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1" marR="91441" marT="45714" marB="457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公平性</a:t>
                      </a:r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优先级</a:t>
                      </a:r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endParaRPr lang="en-US" altLang="zh-CN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资源的平衡使用</a:t>
                      </a:r>
                    </a:p>
                  </a:txBody>
                  <a:tcPr marL="91441" marR="91441" marT="45714" marB="45714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7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调度的目标与性能衡量</a:t>
            </a:r>
            <a:endParaRPr lang="en-US" altLang="zh-CN" dirty="0"/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>
                <a:solidFill>
                  <a:srgbClr val="0000FF"/>
                </a:solidFill>
              </a:rPr>
              <a:t>面向用户的调度性能准则</a:t>
            </a: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周转时间：</a:t>
            </a:r>
            <a:r>
              <a:rPr lang="zh-CN" altLang="en-US" dirty="0"/>
              <a:t>作业从提交到完成（得到结果）所经历的时间。包括：在收容队列中等待，</a:t>
            </a:r>
            <a:r>
              <a:rPr lang="en-US" altLang="zh-CN" dirty="0"/>
              <a:t>CPU</a:t>
            </a:r>
            <a:r>
              <a:rPr lang="zh-CN" altLang="en-US" dirty="0"/>
              <a:t>上执行，就绪队列和阻塞队列中等待，结果输出等待</a:t>
            </a:r>
            <a:r>
              <a:rPr lang="en-US" altLang="zh-CN" dirty="0"/>
              <a:t>——</a:t>
            </a:r>
            <a:r>
              <a:rPr lang="zh-CN" altLang="en-US" dirty="0"/>
              <a:t>批处理系统</a:t>
            </a:r>
          </a:p>
          <a:p>
            <a:pPr marL="1238250" lvl="3" indent="0">
              <a:lnSpc>
                <a:spcPct val="115000"/>
              </a:lnSpc>
              <a:buNone/>
            </a:pPr>
            <a:endParaRPr lang="en-US" altLang="zh-CN" dirty="0"/>
          </a:p>
          <a:p>
            <a:pPr marL="1238250" lvl="3" indent="0">
              <a:lnSpc>
                <a:spcPct val="115000"/>
              </a:lnSpc>
              <a:buNone/>
            </a:pPr>
            <a:r>
              <a:rPr lang="zh-CN" altLang="en-US" dirty="0"/>
              <a:t>周转时间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i="1" baseline="-25000" dirty="0"/>
              <a:t> </a:t>
            </a:r>
            <a:r>
              <a:rPr lang="en-US" altLang="zh-CN" dirty="0"/>
              <a:t>= </a:t>
            </a:r>
            <a:r>
              <a:rPr lang="zh-CN" altLang="en-US" dirty="0"/>
              <a:t>作业完成时间</a:t>
            </a:r>
            <a:r>
              <a:rPr lang="en-US" altLang="zh-CN" dirty="0"/>
              <a:t>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ei</a:t>
            </a:r>
            <a:r>
              <a:rPr lang="en-US" altLang="zh-CN" dirty="0"/>
              <a:t>) - </a:t>
            </a:r>
            <a:r>
              <a:rPr lang="zh-CN" altLang="en-US" dirty="0"/>
              <a:t>作业提交时间</a:t>
            </a:r>
            <a:r>
              <a:rPr lang="en-US" altLang="zh-CN" dirty="0"/>
              <a:t>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si</a:t>
            </a:r>
            <a:r>
              <a:rPr lang="en-US" altLang="zh-CN" dirty="0"/>
              <a:t>)</a:t>
            </a:r>
          </a:p>
          <a:p>
            <a:pPr marL="1524000" lvl="3" indent="-285750">
              <a:lnSpc>
                <a:spcPct val="115000"/>
              </a:lnSpc>
              <a:buFontTx/>
              <a:buNone/>
            </a:pPr>
            <a:r>
              <a:rPr lang="en-US" altLang="zh-CN" dirty="0"/>
              <a:t>                       = </a:t>
            </a:r>
            <a:r>
              <a:rPr lang="zh-CN" altLang="en-US" dirty="0"/>
              <a:t>作业等待时间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wi</a:t>
            </a:r>
            <a:r>
              <a:rPr lang="en-US" altLang="zh-CN" dirty="0"/>
              <a:t>) + </a:t>
            </a:r>
            <a:r>
              <a:rPr lang="zh-CN" altLang="en-US" dirty="0"/>
              <a:t>作业执行时间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ri</a:t>
            </a:r>
            <a:r>
              <a:rPr lang="en-US" altLang="zh-CN" dirty="0"/>
              <a:t>)</a:t>
            </a:r>
          </a:p>
          <a:p>
            <a:pPr marL="1524000" lvl="3" indent="-285750">
              <a:lnSpc>
                <a:spcPct val="115000"/>
              </a:lnSpc>
              <a:buNone/>
            </a:pPr>
            <a:endParaRPr lang="en-US" altLang="zh-CN" dirty="0"/>
          </a:p>
          <a:p>
            <a:pPr marL="1524000" lvl="3" indent="-285750">
              <a:lnSpc>
                <a:spcPct val="115000"/>
              </a:lnSpc>
              <a:buNone/>
            </a:pPr>
            <a:r>
              <a:rPr lang="zh-CN" altLang="en-US" dirty="0"/>
              <a:t>平均周转时间</a:t>
            </a:r>
          </a:p>
          <a:p>
            <a:pPr marL="1524000" lvl="3" indent="-285750">
              <a:lnSpc>
                <a:spcPct val="115000"/>
              </a:lnSpc>
              <a:buFontTx/>
              <a:buNone/>
            </a:pPr>
            <a:endParaRPr lang="en-US" altLang="zh-CN" b="1" dirty="0"/>
          </a:p>
          <a:p>
            <a:pPr lvl="2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AEB84-73ED-4933-BB75-332196068C8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3721116" y="5373216"/>
          <a:ext cx="1498956" cy="86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3" imgW="748975" imgH="431613" progId="">
                  <p:embed/>
                </p:oleObj>
              </mc:Choice>
              <mc:Fallback>
                <p:oleObj name="Equation" r:id="rId3" imgW="748975" imgH="431613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16" y="5373216"/>
                        <a:ext cx="1498956" cy="864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641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作业调度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317600"/>
            <a:ext cx="8084527" cy="4917600"/>
          </a:xfrm>
        </p:spPr>
        <p:txBody>
          <a:bodyPr>
            <a:normAutofit/>
          </a:bodyPr>
          <a:lstStyle/>
          <a:p>
            <a:r>
              <a:rPr lang="zh-CN" altLang="en-US" dirty="0"/>
              <a:t>调度的目标与性能衡量</a:t>
            </a:r>
            <a:endParaRPr lang="en-US" altLang="zh-CN" dirty="0"/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>
                <a:solidFill>
                  <a:srgbClr val="0000FF"/>
                </a:solidFill>
              </a:rPr>
              <a:t>面向用户的调度性能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准则</a:t>
            </a:r>
            <a:endParaRPr lang="en-US" altLang="zh-CN" sz="2400" dirty="0">
              <a:solidFill>
                <a:srgbClr val="FF3300"/>
              </a:solidFill>
            </a:endParaRP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带权</a:t>
            </a:r>
            <a:r>
              <a:rPr lang="zh-CN" altLang="en-US" dirty="0" smtClean="0">
                <a:solidFill>
                  <a:srgbClr val="FF3300"/>
                </a:solidFill>
              </a:rPr>
              <a:t>周转时间</a:t>
            </a:r>
            <a:endParaRPr lang="en-US" altLang="zh-CN" dirty="0" smtClean="0">
              <a:solidFill>
                <a:srgbClr val="FF3300"/>
              </a:solidFill>
            </a:endParaRPr>
          </a:p>
          <a:p>
            <a:pPr lvl="2"/>
            <a:r>
              <a:rPr lang="zh-CN" altLang="en-US" dirty="0" smtClean="0">
                <a:solidFill>
                  <a:srgbClr val="FF3300"/>
                </a:solidFill>
              </a:rPr>
              <a:t>为了更清晰地描述各进程在其周转时间中，等待和执行时间的具体分配状况，即作业的周转时间</a:t>
            </a:r>
            <a:r>
              <a:rPr lang="en-US" altLang="zh-CN" dirty="0" smtClean="0">
                <a:solidFill>
                  <a:srgbClr val="FF3300"/>
                </a:solidFill>
              </a:rPr>
              <a:t>T</a:t>
            </a:r>
            <a:r>
              <a:rPr lang="zh-CN" altLang="en-US" dirty="0" smtClean="0">
                <a:solidFill>
                  <a:srgbClr val="FF3300"/>
                </a:solidFill>
              </a:rPr>
              <a:t>与系统为它提供服务的时间</a:t>
            </a:r>
            <a:r>
              <a:rPr lang="en-US" altLang="zh-CN" dirty="0" smtClean="0">
                <a:solidFill>
                  <a:srgbClr val="FF3300"/>
                </a:solidFill>
              </a:rPr>
              <a:t>T</a:t>
            </a:r>
            <a:r>
              <a:rPr lang="en-US" altLang="zh-CN" sz="1000" dirty="0" smtClean="0">
                <a:solidFill>
                  <a:srgbClr val="FF3300"/>
                </a:solidFill>
              </a:rPr>
              <a:t>ri</a:t>
            </a:r>
            <a:r>
              <a:rPr lang="zh-CN" altLang="en-US" dirty="0" smtClean="0">
                <a:solidFill>
                  <a:srgbClr val="FF3300"/>
                </a:solidFill>
              </a:rPr>
              <a:t>之比</a:t>
            </a:r>
            <a:endParaRPr lang="en-US" altLang="zh-CN" dirty="0">
              <a:solidFill>
                <a:srgbClr val="FF3300"/>
              </a:solidFill>
            </a:endParaRPr>
          </a:p>
          <a:p>
            <a:pPr lvl="3"/>
            <a:r>
              <a:rPr lang="zh-CN" altLang="en-US" dirty="0"/>
              <a:t>带权周转时间</a:t>
            </a:r>
            <a:r>
              <a:rPr lang="en-US" altLang="zh-CN" i="1" dirty="0"/>
              <a:t>W</a:t>
            </a:r>
            <a:r>
              <a:rPr lang="en-US" altLang="zh-CN" i="1" baseline="-25000" dirty="0"/>
              <a:t>i</a:t>
            </a:r>
            <a:r>
              <a:rPr lang="en-US" altLang="zh-CN" dirty="0"/>
              <a:t>=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 </a:t>
            </a:r>
            <a:r>
              <a:rPr lang="en-US" altLang="zh-CN" dirty="0"/>
              <a:t>/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ri</a:t>
            </a:r>
            <a:endParaRPr lang="en-US" altLang="zh-CN" dirty="0"/>
          </a:p>
          <a:p>
            <a:pPr lvl="3"/>
            <a:r>
              <a:rPr lang="zh-CN" altLang="en-US" dirty="0"/>
              <a:t>平均带权周转时间</a:t>
            </a:r>
          </a:p>
          <a:p>
            <a:pPr lvl="1"/>
            <a:endParaRPr lang="en-US" altLang="zh-CN" sz="2400" dirty="0">
              <a:solidFill>
                <a:srgbClr val="FF3300"/>
              </a:solidFill>
            </a:endParaRP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响应时间</a:t>
            </a:r>
            <a:endParaRPr lang="en-US" altLang="zh-CN" dirty="0">
              <a:solidFill>
                <a:srgbClr val="FF3300"/>
              </a:solidFill>
            </a:endParaRPr>
          </a:p>
          <a:p>
            <a:pPr lvl="2"/>
            <a:r>
              <a:rPr lang="zh-CN" altLang="en-US" dirty="0"/>
              <a:t>用户输入一个请求（如击键）到系统给出首次响应（如屏幕显示）的时间</a:t>
            </a:r>
            <a:r>
              <a:rPr lang="en-US" altLang="zh-CN" dirty="0"/>
              <a:t>——</a:t>
            </a:r>
            <a:r>
              <a:rPr lang="zh-CN" altLang="en-US" dirty="0"/>
              <a:t>分时系统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829C-3517-4615-972D-2CC1C04F77B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4406411" y="4214814"/>
          <a:ext cx="12192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9" name="Equation" r:id="rId3" imgW="838080" imgH="431640" progId="Equation.3">
                  <p:embed/>
                </p:oleObj>
              </mc:Choice>
              <mc:Fallback>
                <p:oleObj name="Equation" r:id="rId3" imgW="83808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411" y="4214814"/>
                        <a:ext cx="121920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891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7BB9B-B189-426E-BFFD-83EE93265EA7}" type="slidenum">
              <a:rPr lang="en-US" altLang="zh-CN"/>
              <a:pPr/>
              <a:t>19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作业调度</a:t>
            </a:r>
            <a:endParaRPr lang="zh-CN" alt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5800" cy="52578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2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</a:rPr>
              <a:t>面向</a:t>
            </a:r>
            <a:r>
              <a:rPr lang="zh-CN" altLang="en-US" sz="2400" b="1" dirty="0">
                <a:solidFill>
                  <a:srgbClr val="0000FF"/>
                </a:solidFill>
              </a:rPr>
              <a:t>系统的调度性能准则</a:t>
            </a:r>
          </a:p>
          <a:p>
            <a:pPr lvl="1"/>
            <a:r>
              <a:rPr lang="zh-CN" altLang="en-US" dirty="0" smtClean="0">
                <a:solidFill>
                  <a:srgbClr val="FF3300"/>
                </a:solidFill>
              </a:rPr>
              <a:t>吞吐量</a:t>
            </a:r>
            <a:endParaRPr lang="en-US" altLang="zh-CN" dirty="0" smtClean="0">
              <a:solidFill>
                <a:srgbClr val="FF3300"/>
              </a:solidFill>
            </a:endParaRPr>
          </a:p>
          <a:p>
            <a:pPr lvl="2"/>
            <a:r>
              <a:rPr lang="zh-CN" altLang="en-US" dirty="0" smtClean="0"/>
              <a:t>单位</a:t>
            </a:r>
            <a:r>
              <a:rPr lang="zh-CN" altLang="en-US" dirty="0"/>
              <a:t>时间内所完成的作业数，与作业本身特性和调度算法都</a:t>
            </a:r>
            <a:r>
              <a:rPr lang="zh-CN" altLang="en-US" dirty="0" smtClean="0"/>
              <a:t>有关系，批处理</a:t>
            </a:r>
            <a:r>
              <a:rPr lang="zh-CN" altLang="en-US" dirty="0"/>
              <a:t>系统</a:t>
            </a:r>
          </a:p>
          <a:p>
            <a:pPr lvl="1"/>
            <a:r>
              <a:rPr lang="zh-CN" altLang="en-US" dirty="0" smtClean="0">
                <a:solidFill>
                  <a:srgbClr val="FF3300"/>
                </a:solidFill>
              </a:rPr>
              <a:t>处理机利用率</a:t>
            </a:r>
            <a:endParaRPr lang="en-US" altLang="zh-CN" dirty="0" smtClean="0">
              <a:solidFill>
                <a:srgbClr val="FF3300"/>
              </a:solidFill>
            </a:endParaRPr>
          </a:p>
          <a:p>
            <a:pPr lvl="2"/>
            <a:r>
              <a:rPr lang="zh-CN" altLang="en-US" dirty="0" smtClean="0"/>
              <a:t>大中型主机</a:t>
            </a: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各种设备的均衡</a:t>
            </a:r>
            <a:r>
              <a:rPr lang="zh-CN" altLang="en-US" dirty="0" smtClean="0">
                <a:solidFill>
                  <a:srgbClr val="FF3300"/>
                </a:solidFill>
              </a:rPr>
              <a:t>利用</a:t>
            </a:r>
            <a:endParaRPr lang="en-US" altLang="zh-CN" dirty="0" smtClean="0">
              <a:solidFill>
                <a:srgbClr val="FF3300"/>
              </a:solidFill>
            </a:endParaRPr>
          </a:p>
          <a:p>
            <a:pPr lvl="2"/>
            <a:r>
              <a:rPr lang="zh-CN" altLang="en-US" dirty="0" smtClean="0"/>
              <a:t>如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繁忙的作业和</a:t>
            </a:r>
            <a:r>
              <a:rPr lang="en-US" altLang="zh-CN" dirty="0" smtClean="0"/>
              <a:t>I/O</a:t>
            </a:r>
            <a:r>
              <a:rPr lang="zh-CN" altLang="en-US" dirty="0" smtClean="0"/>
              <a:t>繁忙（指次数多，每次时间短）的作业搭配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大中型主机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分级调度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作业调度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进程调度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调度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算法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实时调度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多处理机调度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C289-6046-4AAA-8BA3-1288F0A07C0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356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进程调度的功能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>
                <a:solidFill>
                  <a:srgbClr val="FF3300"/>
                </a:solidFill>
              </a:rPr>
              <a:t>记录</a:t>
            </a:r>
            <a:r>
              <a:rPr lang="zh-CN" altLang="en-US" sz="2400" b="1" dirty="0"/>
              <a:t>所有进程的运行状况（静态和动态）</a:t>
            </a:r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endParaRPr lang="en-US" altLang="zh-CN" sz="2400" b="1" dirty="0"/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当进程出让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或调度程序剥夺执行状态进程占用的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时，</a:t>
            </a:r>
            <a:r>
              <a:rPr lang="zh-CN" altLang="en-US" sz="2400" b="1" dirty="0">
                <a:solidFill>
                  <a:srgbClr val="FF3300"/>
                </a:solidFill>
              </a:rPr>
              <a:t>选择</a:t>
            </a:r>
            <a:r>
              <a:rPr lang="zh-CN" altLang="en-US" sz="2400" b="1" dirty="0"/>
              <a:t>适当的进程分派</a:t>
            </a:r>
            <a:r>
              <a:rPr lang="en-US" altLang="zh-CN" sz="2400" b="1" dirty="0"/>
              <a:t>CPU</a:t>
            </a:r>
          </a:p>
          <a:p>
            <a:endParaRPr lang="en-US" altLang="zh-CN" dirty="0"/>
          </a:p>
          <a:p>
            <a:r>
              <a:rPr lang="zh-CN" altLang="en-US" dirty="0"/>
              <a:t>完成</a:t>
            </a:r>
            <a:r>
              <a:rPr lang="zh-CN" altLang="en-US" dirty="0">
                <a:solidFill>
                  <a:srgbClr val="FF3300"/>
                </a:solidFill>
              </a:rPr>
              <a:t>上下文切换：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r>
              <a:rPr lang="zh-CN" altLang="en-US" dirty="0"/>
              <a:t>保存进程</a:t>
            </a:r>
            <a:r>
              <a:rPr lang="en-US" altLang="zh-CN" dirty="0"/>
              <a:t>A</a:t>
            </a:r>
            <a:r>
              <a:rPr lang="zh-CN" altLang="en-US" dirty="0"/>
              <a:t>的上下文，恢复进程</a:t>
            </a:r>
            <a:r>
              <a:rPr lang="en-US" altLang="zh-CN" dirty="0"/>
              <a:t>B</a:t>
            </a:r>
            <a:r>
              <a:rPr lang="zh-CN" altLang="en-US" dirty="0"/>
              <a:t>的上下文（</a:t>
            </a:r>
            <a:r>
              <a:rPr lang="en-US" altLang="zh-CN" dirty="0"/>
              <a:t>CPU</a:t>
            </a:r>
            <a:r>
              <a:rPr lang="zh-CN" altLang="en-US" dirty="0"/>
              <a:t>寄存器和一些表格的当前指针</a:t>
            </a:r>
          </a:p>
          <a:p>
            <a:pPr lvl="1"/>
            <a:r>
              <a:rPr lang="zh-CN" altLang="en-US" dirty="0"/>
              <a:t>用户态执行进程</a:t>
            </a:r>
            <a:r>
              <a:rPr lang="en-US" altLang="zh-CN" dirty="0"/>
              <a:t>B</a:t>
            </a:r>
            <a:r>
              <a:rPr lang="zh-CN" altLang="en-US" dirty="0"/>
              <a:t>代码</a:t>
            </a:r>
          </a:p>
          <a:p>
            <a:pPr lvl="1"/>
            <a:r>
              <a:rPr lang="zh-CN" altLang="en-US" dirty="0"/>
              <a:t>注：上下文切换之后，指令和数据快速缓存</a:t>
            </a:r>
            <a:r>
              <a:rPr lang="en-US" altLang="zh-CN" dirty="0"/>
              <a:t>cache</a:t>
            </a:r>
            <a:r>
              <a:rPr lang="zh-CN" altLang="en-US" dirty="0"/>
              <a:t>通常需要更新，执行速度降低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5755-E429-4DE9-B447-2655D9CCD5F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05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触发调度的事件与原因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200"/>
              </a:spcBef>
            </a:pPr>
            <a:r>
              <a:rPr lang="zh-CN" altLang="en-US" sz="2400" dirty="0" smtClean="0"/>
              <a:t> 进程调度的时机</a:t>
            </a:r>
            <a:endParaRPr lang="en-US" altLang="zh-CN" sz="2400" dirty="0" smtClean="0"/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 smtClean="0"/>
              <a:t>正在</a:t>
            </a:r>
            <a:r>
              <a:rPr lang="zh-CN" altLang="en-US" sz="2200" dirty="0"/>
              <a:t>执行的进程执行完毕</a:t>
            </a:r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/>
              <a:t>中断发生</a:t>
            </a:r>
            <a:endParaRPr lang="en-US" altLang="zh-CN" sz="2200" dirty="0"/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/>
              <a:t>进程的阻塞与唤醒</a:t>
            </a:r>
            <a:endParaRPr lang="en-US" altLang="zh-CN" sz="2200" dirty="0"/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/>
              <a:t>分时系统中时间片用完</a:t>
            </a:r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/>
              <a:t>系统调用执行完毕，从系统程序返回到用户程序时，进行进程调度</a:t>
            </a:r>
          </a:p>
          <a:p>
            <a:pPr marL="800100" lvl="2" indent="-342900">
              <a:spcBef>
                <a:spcPts val="1200"/>
              </a:spcBef>
            </a:pPr>
            <a:r>
              <a:rPr lang="zh-CN" altLang="en-US" sz="2200" dirty="0"/>
              <a:t>可抢占方式下，就绪队列中某进程优先级高于执行进程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FA2B-3B0D-489A-AB92-4A327329618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711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分级调度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作业调度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进程调度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调度</a:t>
            </a:r>
            <a:r>
              <a:rPr lang="zh-CN" altLang="en-US" b="1" dirty="0" smtClean="0">
                <a:solidFill>
                  <a:srgbClr val="FF0000"/>
                </a:solidFill>
              </a:rPr>
              <a:t>算法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实时调度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多处理机调度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C289-6046-4AAA-8BA3-1288F0A07C0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356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先来先服务</a:t>
            </a:r>
            <a:endParaRPr lang="en-US" altLang="zh-CN" dirty="0"/>
          </a:p>
          <a:p>
            <a:r>
              <a:rPr lang="zh-CN" altLang="en-US" dirty="0"/>
              <a:t>时间片轮转</a:t>
            </a:r>
            <a:endParaRPr lang="en-US" altLang="zh-CN" dirty="0"/>
          </a:p>
          <a:p>
            <a:r>
              <a:rPr lang="zh-CN" altLang="en-US" dirty="0"/>
              <a:t>短作业优先</a:t>
            </a:r>
            <a:endParaRPr lang="en-US" altLang="zh-CN" dirty="0"/>
          </a:p>
          <a:p>
            <a:r>
              <a:rPr lang="zh-CN" altLang="en-US" dirty="0"/>
              <a:t>最高响应比优先</a:t>
            </a:r>
            <a:endParaRPr lang="en-US" altLang="zh-CN" dirty="0"/>
          </a:p>
          <a:p>
            <a:r>
              <a:rPr lang="zh-CN" altLang="en-US" dirty="0"/>
              <a:t>调度算法应用举例</a:t>
            </a:r>
            <a:endParaRPr lang="en-US" altLang="zh-CN" dirty="0"/>
          </a:p>
          <a:p>
            <a:r>
              <a:rPr lang="zh-CN" altLang="en-US" dirty="0"/>
              <a:t>多级队列算法</a:t>
            </a:r>
            <a:endParaRPr lang="en-US" altLang="zh-CN" dirty="0"/>
          </a:p>
          <a:p>
            <a:r>
              <a:rPr lang="zh-CN" altLang="en-US" dirty="0"/>
              <a:t>优先级算法</a:t>
            </a:r>
            <a:endParaRPr lang="en-US" altLang="zh-CN" dirty="0"/>
          </a:p>
          <a:p>
            <a:pPr lvl="1"/>
            <a:r>
              <a:rPr lang="zh-CN" altLang="en-US" dirty="0"/>
              <a:t>线性优先级调度</a:t>
            </a:r>
            <a:endParaRPr lang="en-US" altLang="zh-CN" dirty="0"/>
          </a:p>
          <a:p>
            <a:pPr lvl="1"/>
            <a:r>
              <a:rPr lang="zh-CN" altLang="en-US" dirty="0"/>
              <a:t>多级反馈队列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B4B6-7338-42D7-9D4C-FA222F650AC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04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先来先服务调度算法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工作原理</a:t>
            </a:r>
            <a:endParaRPr lang="en-US" altLang="zh-CN" dirty="0"/>
          </a:p>
          <a:p>
            <a:pPr lvl="1"/>
            <a:endParaRPr lang="en-US" altLang="zh-CN" b="1" dirty="0"/>
          </a:p>
          <a:p>
            <a:pPr lvl="1"/>
            <a:r>
              <a:rPr lang="zh-CN" altLang="en-US" dirty="0"/>
              <a:t>按照作业提交或</a:t>
            </a:r>
            <a:r>
              <a:rPr lang="zh-CN" altLang="en-US" dirty="0">
                <a:solidFill>
                  <a:srgbClr val="FF0000"/>
                </a:solidFill>
              </a:rPr>
              <a:t>进程变为就绪状态的</a:t>
            </a:r>
            <a:r>
              <a:rPr lang="zh-CN" altLang="en-US" dirty="0">
                <a:solidFill>
                  <a:srgbClr val="FF3300"/>
                </a:solidFill>
              </a:rPr>
              <a:t>先后次序</a:t>
            </a:r>
            <a:r>
              <a:rPr lang="zh-CN" altLang="en-US" dirty="0"/>
              <a:t>分派</a:t>
            </a:r>
            <a:r>
              <a:rPr lang="en-US" altLang="zh-CN" dirty="0"/>
              <a:t>CPU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当前作业或进程占用</a:t>
            </a:r>
            <a:r>
              <a:rPr lang="en-US" altLang="zh-CN" dirty="0"/>
              <a:t>CPU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3300"/>
                </a:solidFill>
              </a:rPr>
              <a:t>直到执行完或阻塞</a:t>
            </a:r>
            <a:r>
              <a:rPr lang="zh-CN" altLang="en-US" dirty="0"/>
              <a:t>，才出让</a:t>
            </a:r>
            <a:r>
              <a:rPr lang="en-US" altLang="zh-CN" dirty="0"/>
              <a:t>CPU</a:t>
            </a:r>
            <a:r>
              <a:rPr lang="zh-CN" altLang="en-US" dirty="0"/>
              <a:t>（非抢占方式）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在作业或进程</a:t>
            </a:r>
            <a:r>
              <a:rPr lang="zh-CN" altLang="en-US" dirty="0">
                <a:solidFill>
                  <a:srgbClr val="FF3300"/>
                </a:solidFill>
              </a:rPr>
              <a:t>唤醒后</a:t>
            </a:r>
            <a:r>
              <a:rPr lang="zh-CN" altLang="en-US" dirty="0"/>
              <a:t>（如</a:t>
            </a:r>
            <a:r>
              <a:rPr lang="en-US" altLang="zh-CN" dirty="0"/>
              <a:t>I/O</a:t>
            </a:r>
            <a:r>
              <a:rPr lang="zh-CN" altLang="en-US" dirty="0"/>
              <a:t>完成），并不立即恢复执行，通常等到当前作业或进程让出</a:t>
            </a:r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840-39B9-4BDD-BCE4-7F4A7988321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15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先来先服务调度算法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算法的特点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有利于长作业，不利于短作业</a:t>
            </a:r>
            <a:endParaRPr lang="en-US" altLang="zh-CN" dirty="0"/>
          </a:p>
          <a:p>
            <a:pPr lvl="1"/>
            <a:r>
              <a:rPr lang="zh-CN" altLang="en-US" dirty="0"/>
              <a:t>有利于处理机繁忙的进程，不利于</a:t>
            </a:r>
            <a:r>
              <a:rPr lang="en-US" altLang="zh-CN" dirty="0"/>
              <a:t>I/O</a:t>
            </a:r>
            <a:r>
              <a:rPr lang="zh-CN" altLang="en-US" dirty="0"/>
              <a:t>繁忙的进程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F2FA-BDAB-4EA7-B68A-557B9BB32AC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16763"/>
            <a:ext cx="72009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圆角矩形 1"/>
          <p:cNvSpPr>
            <a:spLocks noChangeArrowheads="1"/>
          </p:cNvSpPr>
          <p:nvPr/>
        </p:nvSpPr>
        <p:spPr bwMode="auto">
          <a:xfrm>
            <a:off x="1116013" y="3197850"/>
            <a:ext cx="6911975" cy="215900"/>
          </a:xfrm>
          <a:prstGeom prst="roundRect">
            <a:avLst>
              <a:gd name="adj" fmla="val 16667"/>
            </a:avLst>
          </a:prstGeom>
          <a:solidFill>
            <a:srgbClr val="FF0000">
              <a:alpha val="39999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圆角矩形 6"/>
          <p:cNvSpPr>
            <a:spLocks noChangeArrowheads="1"/>
          </p:cNvSpPr>
          <p:nvPr/>
        </p:nvSpPr>
        <p:spPr bwMode="auto">
          <a:xfrm>
            <a:off x="1116013" y="3485188"/>
            <a:ext cx="6911975" cy="215900"/>
          </a:xfrm>
          <a:prstGeom prst="roundRect">
            <a:avLst>
              <a:gd name="adj" fmla="val 16667"/>
            </a:avLst>
          </a:prstGeom>
          <a:solidFill>
            <a:srgbClr val="00B050">
              <a:alpha val="39999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73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时间片轮转算法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FF3300"/>
                </a:solidFill>
              </a:rPr>
              <a:t>时间片轮转</a:t>
            </a:r>
            <a:r>
              <a:rPr lang="zh-CN" altLang="en-US" dirty="0"/>
              <a:t>，提高进程</a:t>
            </a:r>
            <a:r>
              <a:rPr lang="zh-CN" altLang="en-US" dirty="0">
                <a:solidFill>
                  <a:srgbClr val="FF3300"/>
                </a:solidFill>
              </a:rPr>
              <a:t>并发性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3300"/>
                </a:solidFill>
              </a:rPr>
              <a:t>响应时间</a:t>
            </a:r>
            <a:r>
              <a:rPr lang="zh-CN" altLang="en-US" dirty="0"/>
              <a:t>特性，从而提高</a:t>
            </a:r>
            <a:r>
              <a:rPr lang="zh-CN" altLang="en-US" dirty="0">
                <a:solidFill>
                  <a:srgbClr val="FF3300"/>
                </a:solidFill>
              </a:rPr>
              <a:t>资源利用率</a:t>
            </a:r>
            <a:endParaRPr lang="en-US" altLang="zh-CN" dirty="0">
              <a:solidFill>
                <a:srgbClr val="FF3300"/>
              </a:solidFill>
            </a:endParaRPr>
          </a:p>
          <a:p>
            <a:r>
              <a:rPr lang="zh-CN" altLang="en-US" dirty="0">
                <a:solidFill>
                  <a:srgbClr val="FF3300"/>
                </a:solidFill>
              </a:rPr>
              <a:t>基本流程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r>
              <a:rPr lang="zh-CN" altLang="en-US" dirty="0"/>
              <a:t>将系统中所有的就绪进程按照</a:t>
            </a:r>
            <a:r>
              <a:rPr lang="en-US" altLang="zh-CN" dirty="0"/>
              <a:t>FCFS</a:t>
            </a:r>
            <a:r>
              <a:rPr lang="zh-CN" altLang="en-US" dirty="0"/>
              <a:t>原则，排成一个</a:t>
            </a:r>
            <a:r>
              <a:rPr lang="zh-CN" altLang="en-US" dirty="0">
                <a:solidFill>
                  <a:srgbClr val="FF3300"/>
                </a:solidFill>
              </a:rPr>
              <a:t>队列</a:t>
            </a:r>
          </a:p>
          <a:p>
            <a:pPr lvl="1"/>
            <a:r>
              <a:rPr lang="zh-CN" altLang="en-US" dirty="0"/>
              <a:t>每次调度时将</a:t>
            </a:r>
            <a:r>
              <a:rPr lang="en-US" altLang="zh-CN" dirty="0"/>
              <a:t>CPU</a:t>
            </a:r>
            <a:r>
              <a:rPr lang="zh-CN" altLang="en-US" dirty="0"/>
              <a:t>分派给</a:t>
            </a:r>
            <a:r>
              <a:rPr lang="zh-CN" altLang="en-US" dirty="0">
                <a:solidFill>
                  <a:srgbClr val="FF3300"/>
                </a:solidFill>
              </a:rPr>
              <a:t>队首进程</a:t>
            </a:r>
            <a:r>
              <a:rPr lang="zh-CN" altLang="en-US" dirty="0"/>
              <a:t>，让其</a:t>
            </a:r>
            <a:r>
              <a:rPr lang="zh-CN" altLang="en-US" dirty="0">
                <a:solidFill>
                  <a:srgbClr val="FF3300"/>
                </a:solidFill>
              </a:rPr>
              <a:t>执行一个时间片</a:t>
            </a:r>
            <a:r>
              <a:rPr lang="zh-CN" altLang="en-US" dirty="0"/>
              <a:t>（时间片的长度从几个</a:t>
            </a:r>
            <a:r>
              <a:rPr lang="en-US" altLang="zh-CN" dirty="0" err="1"/>
              <a:t>ms</a:t>
            </a:r>
            <a:r>
              <a:rPr lang="zh-CN" altLang="en-US" dirty="0"/>
              <a:t>到几百</a:t>
            </a:r>
            <a:r>
              <a:rPr lang="en-US" altLang="zh-CN" dirty="0" err="1"/>
              <a:t>ms</a:t>
            </a:r>
            <a:r>
              <a:rPr lang="zh-CN" altLang="en-US" dirty="0"/>
              <a:t>）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r>
              <a:rPr lang="zh-CN" altLang="en-US" dirty="0"/>
              <a:t>时钟中断触发时间片切换</a:t>
            </a:r>
            <a:endParaRPr lang="zh-CN" altLang="en-US" dirty="0">
              <a:solidFill>
                <a:srgbClr val="FF3300"/>
              </a:solidFill>
            </a:endParaRPr>
          </a:p>
          <a:p>
            <a:pPr lvl="1"/>
            <a:r>
              <a:rPr lang="zh-CN" altLang="en-US" dirty="0"/>
              <a:t>调度程序据此</a:t>
            </a:r>
            <a:r>
              <a:rPr lang="zh-CN" altLang="en-US" dirty="0">
                <a:solidFill>
                  <a:srgbClr val="FF3300"/>
                </a:solidFill>
              </a:rPr>
              <a:t>暂停当前进程的执行</a:t>
            </a:r>
            <a:r>
              <a:rPr lang="zh-CN" altLang="en-US" dirty="0"/>
              <a:t>，将其送到</a:t>
            </a:r>
            <a:r>
              <a:rPr lang="zh-CN" altLang="en-US" dirty="0">
                <a:solidFill>
                  <a:srgbClr val="FF3300"/>
                </a:solidFill>
              </a:rPr>
              <a:t>就绪队列的末尾</a:t>
            </a:r>
            <a:r>
              <a:rPr lang="zh-CN" altLang="en-US" dirty="0"/>
              <a:t>，并通过上下文切换</a:t>
            </a:r>
            <a:r>
              <a:rPr lang="zh-CN" altLang="en-US" dirty="0">
                <a:solidFill>
                  <a:srgbClr val="FF3300"/>
                </a:solidFill>
              </a:rPr>
              <a:t>执行当前的队首进程</a:t>
            </a:r>
          </a:p>
          <a:p>
            <a:pPr lvl="1"/>
            <a:r>
              <a:rPr lang="zh-CN" altLang="en-US" dirty="0"/>
              <a:t>进程可以</a:t>
            </a:r>
            <a:r>
              <a:rPr lang="zh-CN" altLang="en-US" dirty="0">
                <a:solidFill>
                  <a:srgbClr val="FF3300"/>
                </a:solidFill>
              </a:rPr>
              <a:t>未使用完一个时间片</a:t>
            </a:r>
            <a:r>
              <a:rPr lang="zh-CN" altLang="en-US" dirty="0"/>
              <a:t>，就</a:t>
            </a:r>
            <a:r>
              <a:rPr lang="zh-CN" altLang="en-US" dirty="0">
                <a:solidFill>
                  <a:srgbClr val="FF3300"/>
                </a:solidFill>
              </a:rPr>
              <a:t>出让</a:t>
            </a:r>
            <a:r>
              <a:rPr lang="en-US" altLang="zh-CN" dirty="0"/>
              <a:t>CPU</a:t>
            </a:r>
            <a:r>
              <a:rPr lang="zh-CN" altLang="en-US" dirty="0"/>
              <a:t>（如阻塞）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23D7-9932-4A1D-9FB1-F986B2619BE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549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时间片轮转算法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时间片长度的确定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过长</a:t>
            </a:r>
            <a:r>
              <a:rPr lang="zh-CN" altLang="en-US" dirty="0"/>
              <a:t>：退化为</a:t>
            </a:r>
            <a:r>
              <a:rPr lang="en-US" altLang="zh-CN" dirty="0"/>
              <a:t>FCFS</a:t>
            </a:r>
            <a:r>
              <a:rPr lang="zh-CN" altLang="en-US" dirty="0"/>
              <a:t>算法，进程在一个时间片内都执行完，响应时间长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过短</a:t>
            </a:r>
            <a:r>
              <a:rPr lang="zh-CN" altLang="en-US" dirty="0"/>
              <a:t>：上下文切换次数增加，切换开销太大</a:t>
            </a:r>
            <a:endParaRPr lang="en-US" altLang="zh-CN" dirty="0"/>
          </a:p>
          <a:p>
            <a:pPr lvl="1"/>
            <a:r>
              <a:rPr lang="zh-CN" altLang="en-US" dirty="0"/>
              <a:t>对响应时间的要求</a:t>
            </a:r>
            <a:endParaRPr lang="en-US" altLang="zh-CN" dirty="0"/>
          </a:p>
          <a:p>
            <a:pPr lvl="2"/>
            <a:r>
              <a:rPr lang="en-US" altLang="zh-CN" dirty="0"/>
              <a:t>T(</a:t>
            </a:r>
            <a:r>
              <a:rPr lang="zh-CN" altLang="en-US" dirty="0"/>
              <a:t>响应时间</a:t>
            </a:r>
            <a:r>
              <a:rPr lang="en-US" altLang="zh-CN" dirty="0"/>
              <a:t>) = N(</a:t>
            </a:r>
            <a:r>
              <a:rPr lang="zh-CN" altLang="en-US" dirty="0"/>
              <a:t>进程数目</a:t>
            </a:r>
            <a:r>
              <a:rPr lang="en-US" altLang="zh-CN" dirty="0"/>
              <a:t>) * q(</a:t>
            </a:r>
            <a:r>
              <a:rPr lang="zh-CN" altLang="en-US" dirty="0"/>
              <a:t>时间片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算法的特点</a:t>
            </a:r>
            <a:endParaRPr lang="en-US" altLang="zh-CN" dirty="0"/>
          </a:p>
          <a:p>
            <a:pPr lvl="1"/>
            <a:r>
              <a:rPr lang="zh-CN" altLang="en-US" dirty="0"/>
              <a:t>对任务的响应性变好，尤其是短任务</a:t>
            </a:r>
            <a:endParaRPr lang="en-US" altLang="zh-CN" dirty="0"/>
          </a:p>
          <a:p>
            <a:pPr lvl="1"/>
            <a:r>
              <a:rPr lang="zh-CN" altLang="en-US" dirty="0"/>
              <a:t>偏向</a:t>
            </a:r>
            <a:r>
              <a:rPr lang="en-US" altLang="zh-CN" dirty="0"/>
              <a:t>CPU</a:t>
            </a:r>
            <a:r>
              <a:rPr lang="zh-CN" altLang="en-US" dirty="0"/>
              <a:t>繁忙的进程，对</a:t>
            </a:r>
            <a:r>
              <a:rPr lang="en-US" altLang="zh-CN" dirty="0"/>
              <a:t>I/O</a:t>
            </a:r>
            <a:r>
              <a:rPr lang="zh-CN" altLang="en-US" dirty="0"/>
              <a:t>繁忙的进程不公平</a:t>
            </a:r>
            <a:endParaRPr lang="en-US" altLang="zh-CN" dirty="0"/>
          </a:p>
          <a:p>
            <a:pPr lvl="2"/>
            <a:r>
              <a:rPr lang="zh-CN" altLang="en-US" dirty="0"/>
              <a:t>由于</a:t>
            </a:r>
            <a:r>
              <a:rPr lang="en-US" altLang="zh-CN" dirty="0"/>
              <a:t>I/O</a:t>
            </a:r>
            <a:r>
              <a:rPr lang="zh-CN" altLang="en-US" dirty="0"/>
              <a:t>繁忙的进程经常在</a:t>
            </a:r>
            <a:r>
              <a:rPr lang="en-US" altLang="zh-CN" dirty="0"/>
              <a:t>I/O</a:t>
            </a:r>
            <a:r>
              <a:rPr lang="zh-CN" altLang="en-US" dirty="0"/>
              <a:t>设备上阻塞，享受到时间片的机会相对较少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E8C1-C38A-4825-BFD9-CA9A762FD46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6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短作业优先调度算法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Short Job First, SJF</a:t>
            </a:r>
          </a:p>
          <a:p>
            <a:endParaRPr lang="en-US" altLang="zh-CN" dirty="0"/>
          </a:p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是对</a:t>
            </a:r>
            <a:r>
              <a:rPr lang="en-US" altLang="zh-CN" dirty="0"/>
              <a:t>FCFS</a:t>
            </a:r>
            <a:r>
              <a:rPr lang="zh-CN" altLang="en-US" dirty="0"/>
              <a:t>算法的改进，其目标是降低对短作业的不公平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基本做法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预计执行时间短</a:t>
            </a:r>
            <a:r>
              <a:rPr lang="zh-CN" altLang="en-US" dirty="0"/>
              <a:t>的作业（进程）优先分派处理机。通常后来的短作业</a:t>
            </a:r>
            <a:r>
              <a:rPr lang="zh-CN" altLang="en-US" dirty="0">
                <a:solidFill>
                  <a:srgbClr val="FF0000"/>
                </a:solidFill>
              </a:rPr>
              <a:t>不抢先</a:t>
            </a:r>
            <a:r>
              <a:rPr lang="zh-CN" altLang="en-US" dirty="0"/>
              <a:t>正在执行的作业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9732-7371-4935-9761-5104E77E087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2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短作业优先调度算法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比</a:t>
            </a:r>
            <a:r>
              <a:rPr lang="en-US" altLang="zh-CN" dirty="0"/>
              <a:t>FCFS</a:t>
            </a:r>
            <a:r>
              <a:rPr lang="zh-CN" altLang="en-US" dirty="0">
                <a:solidFill>
                  <a:srgbClr val="0000FF"/>
                </a:solidFill>
              </a:rPr>
              <a:t>改善平均周转时间和平均带权周转时间</a:t>
            </a:r>
            <a:r>
              <a:rPr lang="zh-CN" altLang="en-US" dirty="0"/>
              <a:t>，缩短作业的等待时间</a:t>
            </a:r>
            <a:endParaRPr lang="en-US" altLang="zh-CN" dirty="0"/>
          </a:p>
          <a:p>
            <a:pPr lvl="1"/>
            <a:r>
              <a:rPr lang="zh-CN" altLang="en-US" dirty="0"/>
              <a:t>提高了系统的吞吐量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对长作业非常不利</a:t>
            </a:r>
            <a:r>
              <a:rPr lang="zh-CN" altLang="en-US" dirty="0"/>
              <a:t>，可能长时间得不到执行</a:t>
            </a: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响应时间变化大，难以预测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难以准确估计作业（进程）的执行时间</a:t>
            </a:r>
            <a:r>
              <a:rPr lang="zh-CN" altLang="en-US" dirty="0"/>
              <a:t>，从而影响调度性能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614C-E3F7-4DD4-BA77-EA9F7E4C250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741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SJF</a:t>
            </a:r>
            <a:r>
              <a:rPr lang="zh-CN" altLang="en-US" dirty="0"/>
              <a:t>算法的变形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最短剩余时间优先</a:t>
            </a:r>
            <a:r>
              <a:rPr lang="en-US" altLang="zh-CN" dirty="0"/>
              <a:t>SRT(Shortest Remaining Time)</a:t>
            </a:r>
          </a:p>
          <a:p>
            <a:pPr lvl="1"/>
            <a:r>
              <a:rPr lang="zh-CN" altLang="en-US" dirty="0"/>
              <a:t>允许比当前进程剩余时间更短的进程来</a:t>
            </a:r>
            <a:r>
              <a:rPr lang="zh-CN" altLang="en-US" dirty="0">
                <a:solidFill>
                  <a:srgbClr val="FF3300"/>
                </a:solidFill>
              </a:rPr>
              <a:t>抢占，短作业的响应性进一步提高</a:t>
            </a:r>
            <a:endParaRPr lang="en-US" altLang="zh-CN" dirty="0">
              <a:solidFill>
                <a:srgbClr val="FF3300"/>
              </a:solidFill>
            </a:endParaRPr>
          </a:p>
          <a:p>
            <a:endParaRPr lang="en-US" altLang="zh-CN" dirty="0">
              <a:solidFill>
                <a:srgbClr val="FF3300"/>
              </a:solidFill>
            </a:endParaRPr>
          </a:p>
          <a:p>
            <a:r>
              <a:rPr lang="zh-CN" altLang="en-US" dirty="0"/>
              <a:t>最高响应比优先</a:t>
            </a:r>
            <a:r>
              <a:rPr lang="en-US" altLang="zh-CN" dirty="0"/>
              <a:t>HRRN(Highest Response Ratio Next)</a:t>
            </a:r>
          </a:p>
          <a:p>
            <a:pPr lvl="1"/>
            <a:r>
              <a:rPr lang="zh-CN" altLang="en-US" dirty="0"/>
              <a:t>是</a:t>
            </a:r>
            <a:r>
              <a:rPr lang="en-US" altLang="zh-CN" dirty="0"/>
              <a:t>FCFS</a:t>
            </a:r>
            <a:r>
              <a:rPr lang="zh-CN" altLang="en-US" dirty="0"/>
              <a:t>和</a:t>
            </a:r>
            <a:r>
              <a:rPr lang="en-US" altLang="zh-CN" dirty="0"/>
              <a:t>SJF</a:t>
            </a:r>
            <a:r>
              <a:rPr lang="zh-CN" altLang="en-US" dirty="0"/>
              <a:t>的折衷</a:t>
            </a:r>
            <a:endParaRPr lang="en-US" altLang="zh-CN" dirty="0"/>
          </a:p>
          <a:p>
            <a:pPr lvl="1"/>
            <a:r>
              <a:rPr lang="zh-CN" altLang="en-US" dirty="0"/>
              <a:t>响应比</a:t>
            </a:r>
            <a:r>
              <a:rPr lang="en-US" altLang="zh-CN" dirty="0"/>
              <a:t>R = (</a:t>
            </a:r>
            <a:r>
              <a:rPr lang="zh-CN" altLang="en-US" dirty="0"/>
              <a:t>等待时间 </a:t>
            </a:r>
            <a:r>
              <a:rPr lang="en-US" altLang="zh-CN" dirty="0"/>
              <a:t>+ </a:t>
            </a:r>
            <a:r>
              <a:rPr lang="zh-CN" altLang="en-US" dirty="0"/>
              <a:t>要求执行时间</a:t>
            </a:r>
            <a:r>
              <a:rPr lang="en-US" altLang="zh-CN" dirty="0"/>
              <a:t>) / </a:t>
            </a:r>
            <a:r>
              <a:rPr lang="zh-CN" altLang="en-US" dirty="0"/>
              <a:t>要求执行时间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73325-B510-453E-ACA5-2E73266F296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90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最高响应比优先算法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dirty="0"/>
              <a:t>响应比最高的作业优先启动</a:t>
            </a:r>
          </a:p>
          <a:p>
            <a:pPr marL="342900" lvl="1" indent="-342900">
              <a:spcBef>
                <a:spcPts val="1200"/>
              </a:spcBef>
              <a:buNone/>
            </a:pPr>
            <a:r>
              <a:rPr lang="zh-CN" altLang="en-US" sz="1900" dirty="0" smtClean="0"/>
              <a:t>      响应</a:t>
            </a:r>
            <a:r>
              <a:rPr lang="zh-CN" altLang="en-US" sz="1900" dirty="0"/>
              <a:t>比</a:t>
            </a:r>
            <a:r>
              <a:rPr lang="en-US" altLang="zh-CN" sz="1900" i="1" dirty="0">
                <a:solidFill>
                  <a:srgbClr val="FF0000"/>
                </a:solidFill>
              </a:rPr>
              <a:t>R </a:t>
            </a:r>
            <a:r>
              <a:rPr lang="en-US" altLang="zh-CN" sz="1900" dirty="0"/>
              <a:t>= </a:t>
            </a:r>
            <a:r>
              <a:rPr lang="zh-CN" altLang="en-US" sz="1900" dirty="0"/>
              <a:t>作业周转时间</a:t>
            </a:r>
            <a:r>
              <a:rPr lang="en-US" altLang="zh-CN" sz="1900" i="1" dirty="0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>
                <a:solidFill>
                  <a:srgbClr val="FF0000"/>
                </a:solidFill>
              </a:rPr>
              <a:t>i  </a:t>
            </a:r>
            <a:r>
              <a:rPr lang="en-US" altLang="zh-CN" sz="1900" i="1" dirty="0">
                <a:solidFill>
                  <a:srgbClr val="FF0000"/>
                </a:solidFill>
              </a:rPr>
              <a:t> </a:t>
            </a:r>
            <a:r>
              <a:rPr lang="en-US" altLang="zh-CN" sz="1900" dirty="0"/>
              <a:t>/  </a:t>
            </a:r>
            <a:r>
              <a:rPr lang="zh-CN" altLang="en-US" sz="1900" dirty="0"/>
              <a:t>作业处理时间</a:t>
            </a:r>
            <a:r>
              <a:rPr lang="en-US" altLang="zh-CN" sz="1900" i="1" dirty="0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>
                <a:solidFill>
                  <a:srgbClr val="FF0000"/>
                </a:solidFill>
              </a:rPr>
              <a:t>ri</a:t>
            </a:r>
          </a:p>
          <a:p>
            <a:pPr marL="342900" lvl="1" indent="-342900">
              <a:spcBef>
                <a:spcPts val="1200"/>
              </a:spcBef>
              <a:buNone/>
            </a:pPr>
            <a:r>
              <a:rPr lang="en-US" altLang="zh-CN" sz="1900" dirty="0" smtClean="0"/>
              <a:t>      =(</a:t>
            </a:r>
            <a:r>
              <a:rPr lang="zh-CN" altLang="en-US" sz="1900" dirty="0"/>
              <a:t>作业处理时间</a:t>
            </a:r>
            <a:r>
              <a:rPr lang="en-US" altLang="zh-CN" sz="1900" i="1" dirty="0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>
                <a:solidFill>
                  <a:srgbClr val="FF0000"/>
                </a:solidFill>
              </a:rPr>
              <a:t>ri  </a:t>
            </a:r>
            <a:r>
              <a:rPr lang="en-US" altLang="zh-CN" sz="1900" dirty="0"/>
              <a:t>+ </a:t>
            </a:r>
            <a:r>
              <a:rPr lang="zh-CN" altLang="en-US" sz="1900" dirty="0"/>
              <a:t>作业等待时间</a:t>
            </a:r>
            <a:r>
              <a:rPr lang="en-US" altLang="zh-CN" sz="1900" i="1" dirty="0" err="1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 err="1">
                <a:solidFill>
                  <a:srgbClr val="FF0000"/>
                </a:solidFill>
              </a:rPr>
              <a:t>wi</a:t>
            </a:r>
            <a:r>
              <a:rPr lang="en-US" altLang="zh-CN" sz="1900" i="1" dirty="0">
                <a:solidFill>
                  <a:srgbClr val="FF0000"/>
                </a:solidFill>
              </a:rPr>
              <a:t> </a:t>
            </a:r>
            <a:r>
              <a:rPr lang="en-US" altLang="zh-CN" sz="1900" dirty="0"/>
              <a:t>) /</a:t>
            </a:r>
            <a:r>
              <a:rPr lang="zh-CN" altLang="en-US" sz="1900" dirty="0"/>
              <a:t>作业处理时间</a:t>
            </a:r>
            <a:r>
              <a:rPr lang="en-US" altLang="zh-CN" sz="1900" i="1" dirty="0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>
                <a:solidFill>
                  <a:srgbClr val="FF0000"/>
                </a:solidFill>
              </a:rPr>
              <a:t>ri</a:t>
            </a:r>
          </a:p>
          <a:p>
            <a:pPr marL="342900" lvl="1" indent="-342900">
              <a:spcBef>
                <a:spcPts val="1200"/>
              </a:spcBef>
              <a:buNone/>
            </a:pPr>
            <a:r>
              <a:rPr lang="en-US" altLang="zh-CN" sz="1900" dirty="0" smtClean="0"/>
              <a:t>      = </a:t>
            </a:r>
            <a:r>
              <a:rPr lang="en-US" altLang="zh-CN" sz="1900" dirty="0"/>
              <a:t>1 +(</a:t>
            </a:r>
            <a:r>
              <a:rPr lang="zh-CN" altLang="en-US" sz="1900" dirty="0"/>
              <a:t>作业等待时间</a:t>
            </a:r>
            <a:r>
              <a:rPr lang="en-US" altLang="zh-CN" sz="1900" i="1" dirty="0" err="1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 err="1">
                <a:solidFill>
                  <a:srgbClr val="FF0000"/>
                </a:solidFill>
              </a:rPr>
              <a:t>wi</a:t>
            </a:r>
            <a:r>
              <a:rPr lang="en-US" altLang="zh-CN" sz="1900" i="1" dirty="0">
                <a:solidFill>
                  <a:srgbClr val="FF0000"/>
                </a:solidFill>
              </a:rPr>
              <a:t> </a:t>
            </a:r>
            <a:r>
              <a:rPr lang="en-US" altLang="zh-CN" sz="1900" dirty="0"/>
              <a:t>/ </a:t>
            </a:r>
            <a:r>
              <a:rPr lang="zh-CN" altLang="en-US" sz="1900" dirty="0"/>
              <a:t>作业处理时间</a:t>
            </a:r>
            <a:r>
              <a:rPr lang="en-US" altLang="zh-CN" sz="1900" i="1" dirty="0">
                <a:solidFill>
                  <a:srgbClr val="FF0000"/>
                </a:solidFill>
              </a:rPr>
              <a:t>T</a:t>
            </a:r>
            <a:r>
              <a:rPr lang="en-US" altLang="zh-CN" sz="1900" i="1" baseline="-25000" dirty="0">
                <a:solidFill>
                  <a:srgbClr val="FF0000"/>
                </a:solidFill>
              </a:rPr>
              <a:t>ri</a:t>
            </a:r>
            <a:r>
              <a:rPr lang="en-US" altLang="zh-CN" sz="1900" dirty="0">
                <a:solidFill>
                  <a:srgbClr val="FF0000"/>
                </a:solidFill>
              </a:rPr>
              <a:t> </a:t>
            </a:r>
            <a:r>
              <a:rPr lang="en-US" altLang="zh-CN" sz="1900" dirty="0"/>
              <a:t>)</a:t>
            </a:r>
          </a:p>
          <a:p>
            <a:r>
              <a:rPr lang="zh-CN" altLang="en-US" dirty="0"/>
              <a:t>是</a:t>
            </a:r>
            <a:r>
              <a:rPr lang="en-US" altLang="zh-CN" dirty="0"/>
              <a:t>FCFS</a:t>
            </a:r>
            <a:r>
              <a:rPr lang="zh-CN" altLang="en-US" dirty="0"/>
              <a:t>和</a:t>
            </a:r>
            <a:r>
              <a:rPr lang="en-US" altLang="zh-CN" dirty="0"/>
              <a:t>SJF</a:t>
            </a:r>
            <a:r>
              <a:rPr lang="zh-CN" altLang="en-US" dirty="0"/>
              <a:t>的结合，克服了两种算法的缺点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优点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公平，吞吐率大，随着等待时间提高，响应比增大，长作业最终能够获得执行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缺点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增加了计算，增加了调度开销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4BCC-B238-4A7D-9738-AE721797D89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69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假设在单道批处理环境下有四个作业，已知它们进入系统的时间、估计运行时间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应用（</a:t>
            </a:r>
            <a:r>
              <a:rPr lang="en-US" altLang="zh-CN" dirty="0"/>
              <a:t>1</a:t>
            </a:r>
            <a:r>
              <a:rPr lang="zh-CN" altLang="en-US" dirty="0"/>
              <a:t>）先来先服务、（</a:t>
            </a:r>
            <a:r>
              <a:rPr lang="en-US" altLang="zh-CN" dirty="0"/>
              <a:t>2</a:t>
            </a:r>
            <a:r>
              <a:rPr lang="zh-CN" altLang="en-US" dirty="0"/>
              <a:t>）最短作业优先、（</a:t>
            </a:r>
            <a:r>
              <a:rPr lang="en-US" altLang="zh-CN" dirty="0"/>
              <a:t>3</a:t>
            </a:r>
            <a:r>
              <a:rPr lang="zh-CN" altLang="en-US" dirty="0"/>
              <a:t>）最高响应比优先作业调度算法，分别计算出作业的</a:t>
            </a:r>
            <a:r>
              <a:rPr lang="zh-CN" altLang="en-US" dirty="0">
                <a:solidFill>
                  <a:srgbClr val="FF0000"/>
                </a:solidFill>
              </a:rPr>
              <a:t>平均周转时间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带权的平均周转时间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E16E-0CA4-4C77-BC94-ACEB8D279B9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graphicFrame>
        <p:nvGraphicFramePr>
          <p:cNvPr id="7" name="Group 34"/>
          <p:cNvGraphicFramePr>
            <a:graphicFrameLocks noGrp="1"/>
          </p:cNvGraphicFramePr>
          <p:nvPr>
            <p:extLst/>
          </p:nvPr>
        </p:nvGraphicFramePr>
        <p:xfrm>
          <a:off x="1343025" y="2592562"/>
          <a:ext cx="6505575" cy="2060574"/>
        </p:xfrm>
        <a:graphic>
          <a:graphicData uri="http://schemas.openxmlformats.org/drawingml/2006/table">
            <a:tbl>
              <a:tblPr/>
              <a:tblGrid>
                <a:gridCol w="14081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46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511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5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作业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进入时间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估计运行时间（分钟）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2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JOB1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8:00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2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JOB2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8:50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2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JOB3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9:00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JOB4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9:50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 rot="2219920">
            <a:off x="970666" y="3065040"/>
            <a:ext cx="74237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大家十分钟思考一下！</a:t>
            </a:r>
            <a:endParaRPr lang="zh-CN" altLang="en-US" sz="4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687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先来先服务的调度结果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2DF6-1E55-4460-84FB-ED7FEA99DF7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514736" y="1988840"/>
            <a:ext cx="8161720" cy="1096322"/>
            <a:chOff x="144" y="813"/>
            <a:chExt cx="5376" cy="873"/>
          </a:xfrm>
        </p:grpSpPr>
        <p:sp>
          <p:nvSpPr>
            <p:cNvPr id="8" name="Line 47"/>
            <p:cNvSpPr>
              <a:spLocks noChangeShapeType="1"/>
            </p:cNvSpPr>
            <p:nvPr/>
          </p:nvSpPr>
          <p:spPr bwMode="auto">
            <a:xfrm>
              <a:off x="288" y="1152"/>
              <a:ext cx="51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48"/>
            <p:cNvSpPr>
              <a:spLocks noChangeShapeType="1"/>
            </p:cNvSpPr>
            <p:nvPr/>
          </p:nvSpPr>
          <p:spPr bwMode="auto">
            <a:xfrm>
              <a:off x="288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Line 49"/>
            <p:cNvSpPr>
              <a:spLocks noChangeShapeType="1"/>
            </p:cNvSpPr>
            <p:nvPr/>
          </p:nvSpPr>
          <p:spPr bwMode="auto">
            <a:xfrm>
              <a:off x="2304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50"/>
            <p:cNvSpPr>
              <a:spLocks noChangeShapeType="1"/>
            </p:cNvSpPr>
            <p:nvPr/>
          </p:nvSpPr>
          <p:spPr bwMode="auto">
            <a:xfrm>
              <a:off x="3312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51"/>
            <p:cNvSpPr>
              <a:spLocks noChangeShapeType="1"/>
            </p:cNvSpPr>
            <p:nvPr/>
          </p:nvSpPr>
          <p:spPr bwMode="auto">
            <a:xfrm>
              <a:off x="36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52"/>
            <p:cNvSpPr>
              <a:spLocks noChangeShapeType="1"/>
            </p:cNvSpPr>
            <p:nvPr/>
          </p:nvSpPr>
          <p:spPr bwMode="auto">
            <a:xfrm>
              <a:off x="4320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53"/>
            <p:cNvSpPr txBox="1">
              <a:spLocks noChangeArrowheads="1"/>
            </p:cNvSpPr>
            <p:nvPr/>
          </p:nvSpPr>
          <p:spPr bwMode="auto">
            <a:xfrm>
              <a:off x="4754" y="813"/>
              <a:ext cx="5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时间</a:t>
              </a: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auto">
            <a:xfrm>
              <a:off x="144" y="1392"/>
              <a:ext cx="53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8:00                                            10:00                10:50  11:00        11:20</a:t>
              </a: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auto">
            <a:xfrm>
              <a:off x="1148" y="864"/>
              <a:ext cx="625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J1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120</a:t>
              </a:r>
            </a:p>
          </p:txBody>
        </p:sp>
        <p:sp>
          <p:nvSpPr>
            <p:cNvPr id="17" name="Text Box 56"/>
            <p:cNvSpPr txBox="1">
              <a:spLocks noChangeArrowheads="1"/>
            </p:cNvSpPr>
            <p:nvPr/>
          </p:nvSpPr>
          <p:spPr bwMode="auto">
            <a:xfrm>
              <a:off x="2717" y="864"/>
              <a:ext cx="384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J2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8" name="Text Box 57"/>
            <p:cNvSpPr txBox="1">
              <a:spLocks noChangeArrowheads="1"/>
            </p:cNvSpPr>
            <p:nvPr/>
          </p:nvSpPr>
          <p:spPr bwMode="auto">
            <a:xfrm>
              <a:off x="3381" y="864"/>
              <a:ext cx="384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J3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9" name="Text Box 58"/>
            <p:cNvSpPr txBox="1">
              <a:spLocks noChangeArrowheads="1"/>
            </p:cNvSpPr>
            <p:nvPr/>
          </p:nvSpPr>
          <p:spPr bwMode="auto">
            <a:xfrm>
              <a:off x="3903" y="864"/>
              <a:ext cx="384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J4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20</a:t>
              </a:r>
            </a:p>
          </p:txBody>
        </p:sp>
      </p:grpSp>
      <p:graphicFrame>
        <p:nvGraphicFramePr>
          <p:cNvPr id="20" name="Object 45"/>
          <p:cNvGraphicFramePr>
            <a:graphicFrameLocks noChangeAspect="1"/>
          </p:cNvGraphicFramePr>
          <p:nvPr>
            <p:extLst/>
          </p:nvPr>
        </p:nvGraphicFramePr>
        <p:xfrm>
          <a:off x="323528" y="3429000"/>
          <a:ext cx="8490036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文档" r:id="rId3" imgW="5352341" imgH="1998289" progId="Word.Document.8">
                  <p:embed/>
                </p:oleObj>
              </mc:Choice>
              <mc:Fallback>
                <p:oleObj name="文档" r:id="rId3" imgW="5352341" imgH="1998289" progId="Word.Document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429000"/>
                        <a:ext cx="8490036" cy="295232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207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最短作业优先调度结果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D675A-A517-40F0-80B9-0DFA8346B09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395536" y="3395808"/>
          <a:ext cx="8344265" cy="2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文档" r:id="rId3" imgW="5568608" imgH="1998289" progId="Word.Document.8">
                  <p:embed/>
                </p:oleObj>
              </mc:Choice>
              <mc:Fallback>
                <p:oleObj name="文档" r:id="rId3" imgW="5568608" imgH="1998289" progId="Word.Document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395808"/>
                        <a:ext cx="8344265" cy="29855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457200" y="1827535"/>
            <a:ext cx="8210550" cy="1241425"/>
            <a:chOff x="144" y="864"/>
            <a:chExt cx="5424" cy="988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88" y="1248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88" y="10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2304" y="10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688" y="10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312" y="10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320" y="10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4992" y="864"/>
              <a:ext cx="576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/>
                <a:t>时间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144" y="1536"/>
              <a:ext cx="5376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8:00                                      10:00 10:10     10:30              11:20</a:t>
              </a: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768" y="960"/>
              <a:ext cx="62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J1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120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456" y="960"/>
              <a:ext cx="38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50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352" y="960"/>
              <a:ext cx="38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10</a:t>
              </a: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784" y="960"/>
              <a:ext cx="38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135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最高响应比优先调度结果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CF331-6A47-4A63-BB36-35152A96614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7" name="灯片编号占位符 6"/>
          <p:cNvSpPr txBox="1">
            <a:spLocks/>
          </p:cNvSpPr>
          <p:nvPr/>
        </p:nvSpPr>
        <p:spPr>
          <a:xfrm>
            <a:off x="6553200" y="6137870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EF907926-BF64-4422-980D-AF5E3E76D6A7}" type="slidenum">
              <a:rPr lang="en-US" altLang="zh-CN" sz="1400" smtClean="0"/>
              <a:pPr eaLnBrk="1" hangingPunct="1"/>
              <a:t>36</a:t>
            </a:fld>
            <a:r>
              <a:rPr lang="en-US" altLang="zh-CN" sz="1400"/>
              <a:t>/</a:t>
            </a:r>
            <a:r>
              <a:rPr lang="en-US" altLang="zh-CN" sz="1400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755650" y="2913658"/>
            <a:ext cx="815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755650" y="2688233"/>
            <a:ext cx="0" cy="450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3871913" y="2688233"/>
            <a:ext cx="0" cy="450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8024813" y="2462808"/>
            <a:ext cx="890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/>
              <a:t>时间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1497013" y="2575520"/>
            <a:ext cx="965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J1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120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984750" y="2575520"/>
            <a:ext cx="59213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</a:rPr>
              <a:t>J2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6170613" y="2575520"/>
            <a:ext cx="5937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</a:rPr>
              <a:t>J4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</a:rPr>
              <a:t>20</a:t>
            </a:r>
          </a:p>
        </p:txBody>
      </p:sp>
      <p:grpSp>
        <p:nvGrpSpPr>
          <p:cNvPr id="15" name="Group 18"/>
          <p:cNvGrpSpPr>
            <a:grpSpLocks/>
          </p:cNvGrpSpPr>
          <p:nvPr/>
        </p:nvGrpSpPr>
        <p:grpSpPr bwMode="auto">
          <a:xfrm>
            <a:off x="2622550" y="1776287"/>
            <a:ext cx="2743200" cy="838200"/>
            <a:chOff x="240" y="672"/>
            <a:chExt cx="1872" cy="672"/>
          </a:xfrm>
        </p:grpSpPr>
        <p:sp>
          <p:nvSpPr>
            <p:cNvPr id="16" name="AutoShape 19"/>
            <p:cNvSpPr>
              <a:spLocks noChangeArrowheads="1"/>
            </p:cNvSpPr>
            <p:nvPr/>
          </p:nvSpPr>
          <p:spPr bwMode="auto">
            <a:xfrm>
              <a:off x="240" y="672"/>
              <a:ext cx="1776" cy="672"/>
            </a:xfrm>
            <a:prstGeom prst="wedgeRoundRectCallout">
              <a:avLst>
                <a:gd name="adj1" fmla="val -3042"/>
                <a:gd name="adj2" fmla="val 80806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000"/>
            </a:p>
          </p:txBody>
        </p:sp>
        <p:grpSp>
          <p:nvGrpSpPr>
            <p:cNvPr id="17" name="Group 20"/>
            <p:cNvGrpSpPr>
              <a:grpSpLocks/>
            </p:cNvGrpSpPr>
            <p:nvPr/>
          </p:nvGrpSpPr>
          <p:grpSpPr bwMode="auto">
            <a:xfrm>
              <a:off x="240" y="720"/>
              <a:ext cx="1872" cy="563"/>
              <a:chOff x="720" y="816"/>
              <a:chExt cx="1872" cy="563"/>
            </a:xfrm>
          </p:grpSpPr>
          <p:sp>
            <p:nvSpPr>
              <p:cNvPr id="18" name="Text Box 21"/>
              <p:cNvSpPr txBox="1">
                <a:spLocks noChangeArrowheads="1"/>
              </p:cNvSpPr>
              <p:nvPr/>
            </p:nvSpPr>
            <p:spPr bwMode="auto">
              <a:xfrm>
                <a:off x="720" y="816"/>
                <a:ext cx="1872" cy="5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/>
                  <a:t> 70+50 ,  60+10 , 10 +20 </a:t>
                </a:r>
              </a:p>
              <a:p>
                <a:pPr eaLnBrk="1" hangingPunct="1"/>
                <a:r>
                  <a:rPr lang="en-US" altLang="zh-CN" sz="2000" b="1" dirty="0"/>
                  <a:t>    50          10          20</a:t>
                </a:r>
              </a:p>
            </p:txBody>
          </p:sp>
          <p:sp>
            <p:nvSpPr>
              <p:cNvPr id="19" name="Line 22"/>
              <p:cNvSpPr>
                <a:spLocks noChangeShapeType="1"/>
              </p:cNvSpPr>
              <p:nvPr/>
            </p:nvSpPr>
            <p:spPr bwMode="auto">
              <a:xfrm>
                <a:off x="864" y="110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3"/>
              <p:cNvSpPr>
                <a:spLocks noChangeShapeType="1"/>
              </p:cNvSpPr>
              <p:nvPr/>
            </p:nvSpPr>
            <p:spPr bwMode="auto">
              <a:xfrm>
                <a:off x="1440" y="110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4"/>
              <p:cNvSpPr>
                <a:spLocks noChangeShapeType="1"/>
              </p:cNvSpPr>
              <p:nvPr/>
            </p:nvSpPr>
            <p:spPr bwMode="auto">
              <a:xfrm>
                <a:off x="2016" y="110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Group 27"/>
          <p:cNvGrpSpPr>
            <a:grpSpLocks/>
          </p:cNvGrpSpPr>
          <p:nvPr/>
        </p:nvGrpSpPr>
        <p:grpSpPr bwMode="auto">
          <a:xfrm>
            <a:off x="5269890" y="1747206"/>
            <a:ext cx="2133600" cy="801688"/>
            <a:chOff x="2016" y="672"/>
            <a:chExt cx="1440" cy="762"/>
          </a:xfrm>
        </p:grpSpPr>
        <p:sp>
          <p:nvSpPr>
            <p:cNvPr id="23" name="AutoShape 28"/>
            <p:cNvSpPr>
              <a:spLocks noChangeArrowheads="1"/>
            </p:cNvSpPr>
            <p:nvPr/>
          </p:nvSpPr>
          <p:spPr bwMode="auto">
            <a:xfrm>
              <a:off x="2064" y="672"/>
              <a:ext cx="1392" cy="672"/>
            </a:xfrm>
            <a:prstGeom prst="wedgeRoundRectCallout">
              <a:avLst>
                <a:gd name="adj1" fmla="val -91469"/>
                <a:gd name="adj2" fmla="val 109337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000"/>
            </a:p>
          </p:txBody>
        </p:sp>
        <p:grpSp>
          <p:nvGrpSpPr>
            <p:cNvPr id="24" name="Group 29"/>
            <p:cNvGrpSpPr>
              <a:grpSpLocks/>
            </p:cNvGrpSpPr>
            <p:nvPr/>
          </p:nvGrpSpPr>
          <p:grpSpPr bwMode="auto">
            <a:xfrm>
              <a:off x="2016" y="767"/>
              <a:ext cx="1440" cy="667"/>
              <a:chOff x="2832" y="767"/>
              <a:chExt cx="1440" cy="667"/>
            </a:xfrm>
          </p:grpSpPr>
          <p:sp>
            <p:nvSpPr>
              <p:cNvPr id="25" name="Text Box 30"/>
              <p:cNvSpPr txBox="1">
                <a:spLocks noChangeArrowheads="1"/>
              </p:cNvSpPr>
              <p:nvPr/>
            </p:nvSpPr>
            <p:spPr bwMode="auto">
              <a:xfrm>
                <a:off x="2832" y="767"/>
                <a:ext cx="1440" cy="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/>
                  <a:t>    80+50 ,   20+20 </a:t>
                </a:r>
              </a:p>
              <a:p>
                <a:pPr eaLnBrk="1" hangingPunct="1"/>
                <a:r>
                  <a:rPr lang="en-US" altLang="zh-CN" sz="2000" b="1"/>
                  <a:t>        50          20</a:t>
                </a:r>
              </a:p>
            </p:txBody>
          </p:sp>
          <p:sp>
            <p:nvSpPr>
              <p:cNvPr id="26" name="Line 31"/>
              <p:cNvSpPr>
                <a:spLocks noChangeShapeType="1"/>
              </p:cNvSpPr>
              <p:nvPr/>
            </p:nvSpPr>
            <p:spPr bwMode="auto">
              <a:xfrm>
                <a:off x="3072" y="110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2"/>
              <p:cNvSpPr>
                <a:spLocks noChangeShapeType="1"/>
              </p:cNvSpPr>
              <p:nvPr/>
            </p:nvSpPr>
            <p:spPr bwMode="auto">
              <a:xfrm>
                <a:off x="3744" y="110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2" name="Object 44"/>
          <p:cNvGraphicFramePr>
            <a:graphicFrameLocks noChangeAspect="1"/>
          </p:cNvGraphicFramePr>
          <p:nvPr>
            <p:extLst/>
          </p:nvPr>
        </p:nvGraphicFramePr>
        <p:xfrm>
          <a:off x="595313" y="3698750"/>
          <a:ext cx="8064500" cy="2891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文档" r:id="rId3" imgW="5568608" imgH="1998289" progId="Word.Document.8">
                  <p:embed/>
                </p:oleObj>
              </mc:Choice>
              <mc:Fallback>
                <p:oleObj name="文档" r:id="rId3" imgW="5568608" imgH="1998289" progId="Word.Document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3698750"/>
                        <a:ext cx="8064500" cy="289193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60"/>
          <p:cNvSpPr txBox="1">
            <a:spLocks noChangeArrowheads="1"/>
          </p:cNvSpPr>
          <p:nvPr/>
        </p:nvSpPr>
        <p:spPr bwMode="auto">
          <a:xfrm>
            <a:off x="468313" y="3175595"/>
            <a:ext cx="79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8:00</a:t>
            </a:r>
          </a:p>
        </p:txBody>
      </p:sp>
      <p:sp>
        <p:nvSpPr>
          <p:cNvPr id="34" name="Text Box 61"/>
          <p:cNvSpPr txBox="1">
            <a:spLocks noChangeArrowheads="1"/>
          </p:cNvSpPr>
          <p:nvPr/>
        </p:nvSpPr>
        <p:spPr bwMode="auto">
          <a:xfrm>
            <a:off x="3444875" y="3137495"/>
            <a:ext cx="79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10:00</a:t>
            </a:r>
          </a:p>
        </p:txBody>
      </p:sp>
      <p:grpSp>
        <p:nvGrpSpPr>
          <p:cNvPr id="35" name="Group 66"/>
          <p:cNvGrpSpPr>
            <a:grpSpLocks/>
          </p:cNvGrpSpPr>
          <p:nvPr/>
        </p:nvGrpSpPr>
        <p:grpSpPr bwMode="auto">
          <a:xfrm>
            <a:off x="3944938" y="2575520"/>
            <a:ext cx="977900" cy="963613"/>
            <a:chOff x="2485" y="1622"/>
            <a:chExt cx="616" cy="607"/>
          </a:xfrm>
        </p:grpSpPr>
        <p:sp>
          <p:nvSpPr>
            <p:cNvPr id="36" name="Line 9"/>
            <p:cNvSpPr>
              <a:spLocks noChangeShapeType="1"/>
            </p:cNvSpPr>
            <p:nvPr/>
          </p:nvSpPr>
          <p:spPr bwMode="auto">
            <a:xfrm>
              <a:off x="2812" y="1693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Group 65"/>
            <p:cNvGrpSpPr>
              <a:grpSpLocks/>
            </p:cNvGrpSpPr>
            <p:nvPr/>
          </p:nvGrpSpPr>
          <p:grpSpPr bwMode="auto">
            <a:xfrm>
              <a:off x="2485" y="1622"/>
              <a:ext cx="616" cy="607"/>
              <a:chOff x="2485" y="1622"/>
              <a:chExt cx="616" cy="607"/>
            </a:xfrm>
          </p:grpSpPr>
          <p:sp>
            <p:nvSpPr>
              <p:cNvPr id="38" name="Text Box 40"/>
              <p:cNvSpPr txBox="1">
                <a:spLocks noChangeArrowheads="1"/>
              </p:cNvSpPr>
              <p:nvPr/>
            </p:nvSpPr>
            <p:spPr bwMode="auto">
              <a:xfrm>
                <a:off x="2485" y="1622"/>
                <a:ext cx="374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/>
                  <a:t>J3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/>
                  <a:t>10</a:t>
                </a:r>
              </a:p>
            </p:txBody>
          </p:sp>
          <p:sp>
            <p:nvSpPr>
              <p:cNvPr id="39" name="Text Box 62"/>
              <p:cNvSpPr txBox="1">
                <a:spLocks noChangeArrowheads="1"/>
              </p:cNvSpPr>
              <p:nvPr/>
            </p:nvSpPr>
            <p:spPr bwMode="auto">
              <a:xfrm>
                <a:off x="2603" y="1979"/>
                <a:ext cx="4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3300"/>
                    </a:solidFill>
                  </a:rPr>
                  <a:t>10:10</a:t>
                </a:r>
              </a:p>
            </p:txBody>
          </p:sp>
        </p:grpSp>
      </p:grpSp>
      <p:grpSp>
        <p:nvGrpSpPr>
          <p:cNvPr id="40" name="Group 67"/>
          <p:cNvGrpSpPr>
            <a:grpSpLocks/>
          </p:cNvGrpSpPr>
          <p:nvPr/>
        </p:nvGrpSpPr>
        <p:grpSpPr bwMode="auto">
          <a:xfrm>
            <a:off x="4995863" y="2540595"/>
            <a:ext cx="1446212" cy="973138"/>
            <a:chOff x="3147" y="1600"/>
            <a:chExt cx="911" cy="613"/>
          </a:xfrm>
        </p:grpSpPr>
        <p:sp>
          <p:nvSpPr>
            <p:cNvPr id="41" name="Line 10"/>
            <p:cNvSpPr>
              <a:spLocks noChangeShapeType="1"/>
            </p:cNvSpPr>
            <p:nvPr/>
          </p:nvSpPr>
          <p:spPr bwMode="auto">
            <a:xfrm>
              <a:off x="3794" y="1693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3147" y="1600"/>
              <a:ext cx="373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50</a:t>
              </a:r>
            </a:p>
          </p:txBody>
        </p:sp>
        <p:sp>
          <p:nvSpPr>
            <p:cNvPr id="43" name="Text Box 63"/>
            <p:cNvSpPr txBox="1">
              <a:spLocks noChangeArrowheads="1"/>
            </p:cNvSpPr>
            <p:nvPr/>
          </p:nvSpPr>
          <p:spPr bwMode="auto">
            <a:xfrm>
              <a:off x="3560" y="1963"/>
              <a:ext cx="4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</a:rPr>
                <a:t>11:00</a:t>
              </a:r>
            </a:p>
          </p:txBody>
        </p:sp>
      </p:grpSp>
      <p:grpSp>
        <p:nvGrpSpPr>
          <p:cNvPr id="44" name="Group 68"/>
          <p:cNvGrpSpPr>
            <a:grpSpLocks/>
          </p:cNvGrpSpPr>
          <p:nvPr/>
        </p:nvGrpSpPr>
        <p:grpSpPr bwMode="auto">
          <a:xfrm>
            <a:off x="6275388" y="2540595"/>
            <a:ext cx="1184275" cy="955675"/>
            <a:chOff x="3953" y="1600"/>
            <a:chExt cx="746" cy="602"/>
          </a:xfrm>
        </p:grpSpPr>
        <p:sp>
          <p:nvSpPr>
            <p:cNvPr id="45" name="Line 11"/>
            <p:cNvSpPr>
              <a:spLocks noChangeShapeType="1"/>
            </p:cNvSpPr>
            <p:nvPr/>
          </p:nvSpPr>
          <p:spPr bwMode="auto">
            <a:xfrm>
              <a:off x="4401" y="1693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3953" y="1600"/>
              <a:ext cx="37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J4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20</a:t>
              </a:r>
            </a:p>
          </p:txBody>
        </p:sp>
        <p:sp>
          <p:nvSpPr>
            <p:cNvPr id="47" name="Text Box 64"/>
            <p:cNvSpPr txBox="1">
              <a:spLocks noChangeArrowheads="1"/>
            </p:cNvSpPr>
            <p:nvPr/>
          </p:nvSpPr>
          <p:spPr bwMode="auto">
            <a:xfrm>
              <a:off x="4201" y="1952"/>
              <a:ext cx="4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</a:rPr>
                <a:t>11:20</a:t>
              </a:r>
            </a:p>
          </p:txBody>
        </p:sp>
      </p:grpSp>
      <p:sp>
        <p:nvSpPr>
          <p:cNvPr id="48" name="Oval 69"/>
          <p:cNvSpPr>
            <a:spLocks noChangeArrowheads="1"/>
          </p:cNvSpPr>
          <p:nvPr/>
        </p:nvSpPr>
        <p:spPr bwMode="auto">
          <a:xfrm>
            <a:off x="3606495" y="1790429"/>
            <a:ext cx="792163" cy="72072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" name="Oval 70"/>
          <p:cNvSpPr>
            <a:spLocks noChangeArrowheads="1"/>
          </p:cNvSpPr>
          <p:nvPr/>
        </p:nvSpPr>
        <p:spPr bwMode="auto">
          <a:xfrm>
            <a:off x="5554358" y="1792017"/>
            <a:ext cx="847725" cy="719137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281331" y="3681287"/>
            <a:ext cx="2489608" cy="2891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84187" y="5760720"/>
            <a:ext cx="8175626" cy="82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73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FF0000"/>
                </a:solidFill>
              </a:rPr>
              <a:t>两道环境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最多允许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个作业进入内存</a:t>
            </a:r>
            <a:r>
              <a:rPr lang="zh-CN" altLang="en-US" dirty="0"/>
              <a:t>）下有</a:t>
            </a:r>
            <a:r>
              <a:rPr lang="en-US" altLang="zh-CN" dirty="0"/>
              <a:t>4</a:t>
            </a:r>
            <a:r>
              <a:rPr lang="zh-CN" altLang="en-US" dirty="0"/>
              <a:t>个作业</a:t>
            </a:r>
            <a:r>
              <a:rPr lang="en-US" altLang="zh-CN" dirty="0"/>
              <a:t>, </a:t>
            </a:r>
            <a:r>
              <a:rPr lang="zh-CN" altLang="en-US" dirty="0"/>
              <a:t>已知它们进入系统的时间、估计运行时间，系统采用</a:t>
            </a:r>
            <a:r>
              <a:rPr lang="zh-CN" altLang="en-US" dirty="0">
                <a:solidFill>
                  <a:srgbClr val="FF0000"/>
                </a:solidFill>
              </a:rPr>
              <a:t>短作业优先</a:t>
            </a:r>
            <a:r>
              <a:rPr lang="zh-CN" altLang="en-US" dirty="0"/>
              <a:t>调度算法，作业被调度运行后不再退出（</a:t>
            </a:r>
            <a:r>
              <a:rPr lang="zh-CN" altLang="en-US" dirty="0">
                <a:solidFill>
                  <a:srgbClr val="FF0000"/>
                </a:solidFill>
              </a:rPr>
              <a:t>驻留内存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  <a:r>
              <a:rPr lang="zh-CN" altLang="en-US" dirty="0"/>
              <a:t>当一新作业投入运行后，可按照作业运行时间长短调整作业执行的次序</a:t>
            </a:r>
          </a:p>
          <a:p>
            <a:endParaRPr lang="en-US" altLang="zh-CN" dirty="0"/>
          </a:p>
          <a:p>
            <a:r>
              <a:rPr lang="zh-CN" altLang="en-US" dirty="0"/>
              <a:t>请给出这四个作业的执行时间序列，并计算出平均周转时间及带权平均周转时间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FB2-6030-48D0-86BA-35C36041F4E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4365104"/>
            <a:ext cx="3338686" cy="205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8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分析过程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10</a:t>
            </a:r>
            <a:r>
              <a:rPr lang="zh-CN" altLang="en-US" sz="1700" dirty="0"/>
              <a:t>：</a:t>
            </a:r>
            <a:r>
              <a:rPr lang="en-US" altLang="zh-CN" sz="1700" dirty="0"/>
              <a:t>00</a:t>
            </a:r>
            <a:r>
              <a:rPr lang="zh-CN" altLang="en-US" sz="1700" dirty="0"/>
              <a:t>，</a:t>
            </a:r>
            <a:r>
              <a:rPr lang="en-US" altLang="zh-CN" sz="1700" dirty="0"/>
              <a:t>JOB1</a:t>
            </a:r>
            <a:r>
              <a:rPr lang="zh-CN" altLang="en-US" sz="1700" dirty="0"/>
              <a:t>被调入执行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10</a:t>
            </a:r>
            <a:r>
              <a:rPr lang="zh-CN" altLang="en-US" sz="1700" dirty="0"/>
              <a:t>：</a:t>
            </a:r>
            <a:r>
              <a:rPr lang="en-US" altLang="zh-CN" sz="1700" dirty="0"/>
              <a:t>05</a:t>
            </a:r>
            <a:r>
              <a:rPr lang="zh-CN" altLang="en-US" sz="1700" dirty="0"/>
              <a:t>，</a:t>
            </a:r>
            <a:r>
              <a:rPr lang="en-US" altLang="zh-CN" sz="1700" dirty="0"/>
              <a:t>JOB2</a:t>
            </a:r>
            <a:r>
              <a:rPr lang="zh-CN" altLang="en-US" sz="1700" dirty="0"/>
              <a:t>到达，最多允许两作业同时进入，</a:t>
            </a:r>
            <a:r>
              <a:rPr lang="en-US" altLang="zh-CN" sz="1700" dirty="0"/>
              <a:t>JOB2</a:t>
            </a:r>
            <a:r>
              <a:rPr lang="zh-CN" altLang="en-US" sz="1700" dirty="0"/>
              <a:t>也被调入</a:t>
            </a:r>
          </a:p>
          <a:p>
            <a:pPr lvl="1">
              <a:lnSpc>
                <a:spcPct val="120000"/>
              </a:lnSpc>
            </a:pPr>
            <a:r>
              <a:rPr lang="zh-CN" altLang="en-US" sz="1700" dirty="0"/>
              <a:t>内存中有两作业，哪一个执行？题目规定当一新作业运行后，可按作业运行时间长短调整执行次序</a:t>
            </a:r>
          </a:p>
          <a:p>
            <a:pPr lvl="1">
              <a:lnSpc>
                <a:spcPct val="120000"/>
              </a:lnSpc>
            </a:pPr>
            <a:r>
              <a:rPr lang="zh-CN" altLang="en-US" sz="1700" dirty="0"/>
              <a:t>根据短作业优先策略，由于</a:t>
            </a:r>
            <a:r>
              <a:rPr lang="en-US" altLang="zh-CN" sz="1700" dirty="0"/>
              <a:t>JOB2</a:t>
            </a:r>
            <a:r>
              <a:rPr lang="zh-CN" altLang="en-US" sz="1700" dirty="0"/>
              <a:t>运行时间（</a:t>
            </a:r>
            <a:r>
              <a:rPr lang="en-US" altLang="zh-CN" sz="1700" dirty="0"/>
              <a:t>20</a:t>
            </a:r>
            <a:r>
              <a:rPr lang="zh-CN" altLang="en-US" sz="1700" dirty="0"/>
              <a:t>分）比</a:t>
            </a:r>
            <a:r>
              <a:rPr lang="en-US" altLang="zh-CN" sz="1700" dirty="0"/>
              <a:t>JOB1</a:t>
            </a:r>
            <a:r>
              <a:rPr lang="zh-CN" altLang="en-US" sz="1700" dirty="0"/>
              <a:t>少，所以</a:t>
            </a:r>
            <a:r>
              <a:rPr lang="en-US" altLang="zh-CN" sz="1700" dirty="0"/>
              <a:t>JOB2</a:t>
            </a:r>
            <a:r>
              <a:rPr lang="zh-CN" altLang="en-US" sz="1700" dirty="0"/>
              <a:t>运行，而</a:t>
            </a:r>
            <a:r>
              <a:rPr lang="en-US" altLang="zh-CN" sz="1700" dirty="0"/>
              <a:t>JOB1</a:t>
            </a:r>
            <a:r>
              <a:rPr lang="zh-CN" altLang="en-US" sz="1700" dirty="0"/>
              <a:t>等待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10</a:t>
            </a:r>
            <a:r>
              <a:rPr lang="zh-CN" altLang="en-US" sz="1700" dirty="0"/>
              <a:t>：</a:t>
            </a:r>
            <a:r>
              <a:rPr lang="en-US" altLang="zh-CN" sz="1700" dirty="0"/>
              <a:t>10</a:t>
            </a:r>
            <a:r>
              <a:rPr lang="zh-CN" altLang="en-US" sz="1700" dirty="0"/>
              <a:t>，</a:t>
            </a:r>
            <a:r>
              <a:rPr lang="en-US" altLang="zh-CN" sz="1700" dirty="0"/>
              <a:t>JOB3</a:t>
            </a:r>
            <a:r>
              <a:rPr lang="zh-CN" altLang="en-US" sz="1700" dirty="0"/>
              <a:t>到达输入井，内存已有两作业， </a:t>
            </a:r>
            <a:r>
              <a:rPr lang="en-US" altLang="zh-CN" sz="1700" dirty="0"/>
              <a:t>JOB3</a:t>
            </a:r>
            <a:r>
              <a:rPr lang="zh-CN" altLang="en-US" sz="1700" dirty="0"/>
              <a:t>不能马上进入内存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10</a:t>
            </a:r>
            <a:r>
              <a:rPr lang="zh-CN" altLang="en-US" sz="1700" dirty="0"/>
              <a:t>：</a:t>
            </a:r>
            <a:r>
              <a:rPr lang="en-US" altLang="zh-CN" sz="1700" dirty="0"/>
              <a:t>20</a:t>
            </a:r>
            <a:r>
              <a:rPr lang="zh-CN" altLang="en-US" sz="1700" dirty="0"/>
              <a:t>，</a:t>
            </a:r>
            <a:r>
              <a:rPr lang="en-US" altLang="zh-CN" sz="1700" dirty="0"/>
              <a:t>JOB4</a:t>
            </a:r>
            <a:r>
              <a:rPr lang="zh-CN" altLang="en-US" sz="1700" dirty="0"/>
              <a:t>也不能进入内存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10</a:t>
            </a:r>
            <a:r>
              <a:rPr lang="zh-CN" altLang="en-US" sz="1700" dirty="0"/>
              <a:t>：</a:t>
            </a:r>
            <a:r>
              <a:rPr lang="en-US" altLang="zh-CN" sz="1700" dirty="0"/>
              <a:t>25</a:t>
            </a:r>
            <a:r>
              <a:rPr lang="zh-CN" altLang="en-US" sz="1700" dirty="0"/>
              <a:t>，</a:t>
            </a:r>
            <a:r>
              <a:rPr lang="en-US" altLang="zh-CN" sz="1700" dirty="0"/>
              <a:t>JOB2</a:t>
            </a:r>
            <a:r>
              <a:rPr lang="zh-CN" altLang="en-US" sz="1700" dirty="0"/>
              <a:t>运行结束，退出。内存中剩下</a:t>
            </a:r>
            <a:r>
              <a:rPr lang="en-US" altLang="zh-CN" sz="1700" dirty="0"/>
              <a:t>JOB1</a:t>
            </a:r>
            <a:r>
              <a:rPr lang="zh-CN" altLang="en-US" sz="1700" dirty="0"/>
              <a:t>，输入井中有两作业</a:t>
            </a:r>
            <a:r>
              <a:rPr lang="en-US" altLang="zh-CN" sz="1700" dirty="0"/>
              <a:t>JOB3</a:t>
            </a:r>
            <a:r>
              <a:rPr lang="zh-CN" altLang="en-US" sz="1700" dirty="0"/>
              <a:t>和</a:t>
            </a:r>
            <a:r>
              <a:rPr lang="en-US" altLang="zh-CN" sz="1700" dirty="0"/>
              <a:t>JOB4</a:t>
            </a:r>
            <a:r>
              <a:rPr lang="zh-CN" altLang="en-US" sz="1700" dirty="0"/>
              <a:t>，如何调度？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zh-CN" altLang="en-US" sz="1700" dirty="0"/>
              <a:t>根据最短作业优先，因此</a:t>
            </a:r>
            <a:r>
              <a:rPr lang="en-US" altLang="zh-CN" sz="1700" dirty="0"/>
              <a:t>JOB3</a:t>
            </a:r>
            <a:r>
              <a:rPr lang="zh-CN" altLang="en-US" sz="1700" dirty="0"/>
              <a:t>进入内存，比较</a:t>
            </a:r>
            <a:r>
              <a:rPr lang="en-US" altLang="zh-CN" sz="1700" dirty="0"/>
              <a:t>JOB1</a:t>
            </a:r>
            <a:r>
              <a:rPr lang="zh-CN" altLang="en-US" sz="1700" dirty="0"/>
              <a:t>和</a:t>
            </a:r>
            <a:r>
              <a:rPr lang="en-US" altLang="zh-CN" sz="1700" dirty="0"/>
              <a:t>JOB3</a:t>
            </a:r>
            <a:r>
              <a:rPr lang="zh-CN" altLang="en-US" sz="1700" dirty="0"/>
              <a:t>运行时间， </a:t>
            </a:r>
            <a:r>
              <a:rPr lang="en-US" altLang="zh-CN" sz="1700" dirty="0"/>
              <a:t>JOB3</a:t>
            </a:r>
            <a:r>
              <a:rPr lang="zh-CN" altLang="en-US" sz="1700" dirty="0"/>
              <a:t>运行时间短，故</a:t>
            </a:r>
            <a:r>
              <a:rPr lang="en-US" altLang="zh-CN" sz="1700" dirty="0"/>
              <a:t>JOB3</a:t>
            </a:r>
            <a:r>
              <a:rPr lang="zh-CN" altLang="en-US" sz="1700" dirty="0"/>
              <a:t>运行</a:t>
            </a:r>
            <a:endParaRPr lang="en-US" altLang="zh-CN" sz="1700" dirty="0"/>
          </a:p>
          <a:p>
            <a:pPr lvl="1">
              <a:lnSpc>
                <a:spcPct val="120000"/>
              </a:lnSpc>
            </a:pPr>
            <a:r>
              <a:rPr lang="en-US" altLang="zh-CN" sz="1700" dirty="0"/>
              <a:t>JOB3</a:t>
            </a:r>
            <a:r>
              <a:rPr lang="zh-CN" altLang="en-US" sz="1700" dirty="0"/>
              <a:t>退出后，下一个是</a:t>
            </a:r>
            <a:r>
              <a:rPr lang="en-US" altLang="zh-CN" sz="1700" dirty="0"/>
              <a:t>JOB4</a:t>
            </a:r>
            <a:r>
              <a:rPr lang="zh-CN" altLang="en-US" sz="1700" dirty="0"/>
              <a:t>， </a:t>
            </a:r>
            <a:r>
              <a:rPr lang="en-US" altLang="zh-CN" sz="1700" dirty="0"/>
              <a:t>JOB4</a:t>
            </a:r>
            <a:r>
              <a:rPr lang="zh-CN" altLang="en-US" sz="1700" dirty="0"/>
              <a:t>结束后，</a:t>
            </a:r>
            <a:r>
              <a:rPr lang="en-US" altLang="zh-CN" sz="1700" dirty="0"/>
              <a:t>JOB1</a:t>
            </a:r>
            <a:r>
              <a:rPr lang="zh-CN" altLang="en-US" sz="1700" dirty="0"/>
              <a:t>才能继续运行</a:t>
            </a:r>
            <a:endParaRPr lang="en-US" altLang="zh-CN" sz="1700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5D3E-D5DD-4648-852F-A03FC00F2D4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314" y="0"/>
            <a:ext cx="3338686" cy="205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调度算法应用举例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调度结果</a:t>
            </a:r>
            <a:endParaRPr lang="en-US" altLang="zh-CN" dirty="0"/>
          </a:p>
          <a:p>
            <a:pPr lvl="1"/>
            <a:r>
              <a:rPr lang="en-US" altLang="zh-CN" sz="1800" dirty="0"/>
              <a:t>JOB1</a:t>
            </a:r>
            <a:r>
              <a:rPr lang="zh-CN" altLang="en-US" sz="1800" dirty="0"/>
              <a:t>：</a:t>
            </a:r>
            <a:r>
              <a:rPr lang="en-US" altLang="zh-CN" sz="1800" dirty="0"/>
              <a:t>10</a:t>
            </a:r>
            <a:r>
              <a:rPr lang="zh-CN" altLang="en-US" sz="1800" dirty="0"/>
              <a:t>：</a:t>
            </a:r>
            <a:r>
              <a:rPr lang="en-US" altLang="zh-CN" sz="1800" dirty="0"/>
              <a:t>00—10</a:t>
            </a:r>
            <a:r>
              <a:rPr lang="zh-CN" altLang="en-US" sz="1800" dirty="0"/>
              <a:t>：</a:t>
            </a:r>
            <a:r>
              <a:rPr lang="en-US" altLang="zh-CN" sz="1800" dirty="0"/>
              <a:t>05</a:t>
            </a:r>
            <a:r>
              <a:rPr lang="zh-CN" altLang="en-US" sz="1800" dirty="0"/>
              <a:t>，</a:t>
            </a:r>
            <a:r>
              <a:rPr lang="en-US" altLang="zh-CN" sz="1800" dirty="0"/>
              <a:t>10</a:t>
            </a:r>
            <a:r>
              <a:rPr lang="zh-CN" altLang="en-US" sz="1800" dirty="0"/>
              <a:t>：</a:t>
            </a:r>
            <a:r>
              <a:rPr lang="en-US" altLang="zh-CN" sz="1800" dirty="0"/>
              <a:t>40—11</a:t>
            </a:r>
            <a:r>
              <a:rPr lang="zh-CN" altLang="en-US" sz="1800" dirty="0"/>
              <a:t>：</a:t>
            </a:r>
            <a:r>
              <a:rPr lang="en-US" altLang="zh-CN" sz="1800" dirty="0"/>
              <a:t>05</a:t>
            </a:r>
          </a:p>
          <a:p>
            <a:pPr lvl="1"/>
            <a:r>
              <a:rPr lang="en-US" altLang="zh-CN" sz="1800" dirty="0"/>
              <a:t>JOB2</a:t>
            </a:r>
            <a:r>
              <a:rPr lang="zh-CN" altLang="en-US" sz="1800" dirty="0"/>
              <a:t>：</a:t>
            </a:r>
            <a:r>
              <a:rPr lang="en-US" altLang="zh-CN" sz="1800" dirty="0"/>
              <a:t>10</a:t>
            </a:r>
            <a:r>
              <a:rPr lang="zh-CN" altLang="en-US" sz="1800" dirty="0"/>
              <a:t>：</a:t>
            </a:r>
            <a:r>
              <a:rPr lang="en-US" altLang="zh-CN" sz="1800" dirty="0"/>
              <a:t>05—10</a:t>
            </a:r>
            <a:r>
              <a:rPr lang="zh-CN" altLang="en-US" sz="1800" dirty="0"/>
              <a:t>：</a:t>
            </a:r>
            <a:r>
              <a:rPr lang="en-US" altLang="zh-CN" sz="1800" dirty="0"/>
              <a:t>25</a:t>
            </a:r>
          </a:p>
          <a:p>
            <a:pPr lvl="1"/>
            <a:r>
              <a:rPr lang="en-US" altLang="zh-CN" sz="1800" dirty="0"/>
              <a:t>JOB3</a:t>
            </a:r>
            <a:r>
              <a:rPr lang="zh-CN" altLang="en-US" sz="1800" dirty="0"/>
              <a:t>：</a:t>
            </a:r>
            <a:r>
              <a:rPr lang="en-US" altLang="zh-CN" sz="1800" dirty="0"/>
              <a:t>10</a:t>
            </a:r>
            <a:r>
              <a:rPr lang="zh-CN" altLang="en-US" sz="1800" dirty="0"/>
              <a:t>：</a:t>
            </a:r>
            <a:r>
              <a:rPr lang="en-US" altLang="zh-CN" sz="1800" dirty="0"/>
              <a:t>25—10</a:t>
            </a:r>
            <a:r>
              <a:rPr lang="zh-CN" altLang="en-US" sz="1800" dirty="0"/>
              <a:t>：</a:t>
            </a:r>
            <a:r>
              <a:rPr lang="en-US" altLang="zh-CN" sz="1800" dirty="0"/>
              <a:t>30</a:t>
            </a:r>
          </a:p>
          <a:p>
            <a:pPr lvl="1"/>
            <a:r>
              <a:rPr lang="en-US" altLang="zh-CN" sz="1800" dirty="0"/>
              <a:t>JOB4</a:t>
            </a:r>
            <a:r>
              <a:rPr lang="zh-CN" altLang="en-US" sz="1800" dirty="0"/>
              <a:t>：</a:t>
            </a:r>
            <a:r>
              <a:rPr lang="en-US" altLang="zh-CN" sz="1800" dirty="0"/>
              <a:t>10</a:t>
            </a:r>
            <a:r>
              <a:rPr lang="zh-CN" altLang="en-US" sz="1800" dirty="0"/>
              <a:t>：</a:t>
            </a:r>
            <a:r>
              <a:rPr lang="en-US" altLang="zh-CN" sz="1800" dirty="0"/>
              <a:t>30—10</a:t>
            </a:r>
            <a:r>
              <a:rPr lang="zh-CN" altLang="en-US" sz="1800" dirty="0"/>
              <a:t>：</a:t>
            </a:r>
            <a:r>
              <a:rPr lang="en-US" altLang="zh-CN" sz="1800" dirty="0"/>
              <a:t>40</a:t>
            </a:r>
          </a:p>
          <a:p>
            <a:r>
              <a:rPr lang="zh-CN" altLang="en-US" dirty="0"/>
              <a:t>运算结果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A574-374F-407A-8DCA-6B58DDDEB2E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488986"/>
              </p:ext>
            </p:extLst>
          </p:nvPr>
        </p:nvGraphicFramePr>
        <p:xfrm>
          <a:off x="1060704" y="4030913"/>
          <a:ext cx="7308227" cy="240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文档" r:id="rId3" imgW="8841825" imgH="2923065" progId="Word.Document.8">
                  <p:embed/>
                </p:oleObj>
              </mc:Choice>
              <mc:Fallback>
                <p:oleObj name="文档" r:id="rId3" imgW="8841825" imgH="2923065" progId="Word.Document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704" y="4030913"/>
                        <a:ext cx="7308227" cy="240741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75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多级队列算法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引入多个就绪队列，通过各队列的区别对待，达到综合调度的</a:t>
            </a:r>
            <a:r>
              <a:rPr lang="zh-CN" altLang="en-US" dirty="0" smtClean="0"/>
              <a:t>目标</a:t>
            </a:r>
            <a:endParaRPr lang="en-US" altLang="zh-CN" dirty="0"/>
          </a:p>
          <a:p>
            <a:r>
              <a:rPr lang="zh-CN" altLang="en-US" dirty="0"/>
              <a:t>多级队列算法</a:t>
            </a:r>
            <a:endParaRPr lang="en-US" altLang="zh-CN" dirty="0"/>
          </a:p>
          <a:p>
            <a:pPr lvl="1"/>
            <a:r>
              <a:rPr lang="zh-CN" altLang="en-US" dirty="0"/>
              <a:t>根据作业或进程的性质或类型的不同，将就绪队列再分为若干个</a:t>
            </a:r>
            <a:r>
              <a:rPr lang="zh-CN" altLang="en-US" dirty="0">
                <a:solidFill>
                  <a:srgbClr val="FF3300"/>
                </a:solidFill>
              </a:rPr>
              <a:t>子队列</a:t>
            </a:r>
            <a:endParaRPr lang="en-US" altLang="zh-CN" dirty="0">
              <a:solidFill>
                <a:srgbClr val="FF3300"/>
              </a:solidFill>
            </a:endParaRPr>
          </a:p>
          <a:p>
            <a:pPr lvl="1"/>
            <a:r>
              <a:rPr lang="zh-CN" altLang="en-US" dirty="0">
                <a:solidFill>
                  <a:srgbClr val="FF3300"/>
                </a:solidFill>
              </a:rPr>
              <a:t>每个作业</a:t>
            </a:r>
            <a:r>
              <a:rPr lang="zh-CN" altLang="en-US" dirty="0"/>
              <a:t>固定归入一个队列</a:t>
            </a:r>
            <a:endParaRPr lang="en-US" altLang="zh-CN" dirty="0"/>
          </a:p>
          <a:p>
            <a:pPr lvl="1"/>
            <a:r>
              <a:rPr lang="zh-CN" altLang="en-US" dirty="0"/>
              <a:t>各队列的</a:t>
            </a:r>
            <a:r>
              <a:rPr lang="zh-CN" altLang="en-US" dirty="0">
                <a:solidFill>
                  <a:srgbClr val="FF3300"/>
                </a:solidFill>
              </a:rPr>
              <a:t>不同处理</a:t>
            </a:r>
            <a:r>
              <a:rPr lang="zh-CN" altLang="en-US" dirty="0"/>
              <a:t>：不同队列可有不同的优先级、时间片长度、调度策略等。如：系统进程、用户交互进程、批处理进程等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4F9B0-82D3-4168-BB21-F40CBEEA80E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86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多级队列算法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7BB5-A9A5-4A45-943B-EB52A5B8342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" t="8675" r="571" b="9201"/>
          <a:stretch>
            <a:fillRect/>
          </a:stretch>
        </p:blipFill>
        <p:spPr bwMode="auto">
          <a:xfrm>
            <a:off x="1918807" y="1930933"/>
            <a:ext cx="5327650" cy="393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738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优先级调度算法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是多级队列算法的改进，平衡各进程对响应时间的要求。适用于作业调度和进程调度，可分成</a:t>
            </a:r>
            <a:r>
              <a:rPr lang="zh-CN" altLang="en-US" dirty="0">
                <a:solidFill>
                  <a:srgbClr val="FF0000"/>
                </a:solidFill>
              </a:rPr>
              <a:t>抢先式和非抢先式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静态优先级</a:t>
            </a:r>
            <a:endParaRPr lang="en-US" altLang="zh-CN" dirty="0"/>
          </a:p>
          <a:p>
            <a:pPr lvl="1"/>
            <a:r>
              <a:rPr lang="zh-CN" altLang="en-US" dirty="0"/>
              <a:t>定义：创建进程时就确定，直到进程终止前都不改变。通常是一个整数</a:t>
            </a:r>
            <a:endParaRPr lang="en-US" altLang="zh-CN" dirty="0"/>
          </a:p>
          <a:p>
            <a:pPr lvl="1"/>
            <a:r>
              <a:rPr lang="zh-CN" altLang="en-US" dirty="0"/>
              <a:t>依据</a:t>
            </a:r>
            <a:endParaRPr lang="en-US" altLang="zh-CN" dirty="0"/>
          </a:p>
          <a:p>
            <a:pPr lvl="2"/>
            <a:r>
              <a:rPr lang="zh-CN" altLang="en-US" dirty="0"/>
              <a:t>进程类型（系统进程优先级较高）</a:t>
            </a:r>
            <a:endParaRPr lang="en-US" altLang="zh-CN" dirty="0"/>
          </a:p>
          <a:p>
            <a:pPr lvl="2"/>
            <a:r>
              <a:rPr lang="zh-CN" altLang="en-US" dirty="0"/>
              <a:t>对资源的需求（对</a:t>
            </a:r>
            <a:r>
              <a:rPr lang="en-US" altLang="zh-CN" dirty="0"/>
              <a:t>CPU</a:t>
            </a:r>
            <a:r>
              <a:rPr lang="zh-CN" altLang="en-US" dirty="0"/>
              <a:t>和内存需求较少的进程，优先级较高）</a:t>
            </a:r>
            <a:endParaRPr lang="en-US" altLang="zh-CN" dirty="0"/>
          </a:p>
          <a:p>
            <a:pPr lvl="2"/>
            <a:r>
              <a:rPr lang="zh-CN" altLang="en-US" dirty="0"/>
              <a:t>用户要求（紧迫程度和付费多少）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E3D5A-2D2E-468E-B9C5-9ECCC3EB542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23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优先级调度算法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动态优先级</a:t>
            </a:r>
            <a:endParaRPr lang="en-US" altLang="zh-CN" dirty="0"/>
          </a:p>
          <a:p>
            <a:pPr lvl="1"/>
            <a:r>
              <a:rPr lang="zh-CN" altLang="en-US" dirty="0"/>
              <a:t>在创建进程时赋予的优先级，在进程运行过程中可以自动改变，以便获得更好的调度性能。如：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在就绪队列中，等待时间延长则优先级提高，从而使优先级较低的进程在等待足够的时间后，其优先级提高到可被调度执行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进程每执行一个时间片，就降低其优先级，从而一个进程持续执行时，其优先级降低到出让</a:t>
            </a:r>
            <a:r>
              <a:rPr lang="en-US" altLang="zh-CN" dirty="0"/>
              <a:t>CPU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本质上，前面讲过的几乎所有算法都是优先级算法，区别只是怎么设定优先级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215FF-8365-4C33-9694-DB18D4431B8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1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线性优先级调度</a:t>
            </a:r>
            <a:r>
              <a:rPr lang="en-US" altLang="zh-CN" dirty="0"/>
              <a:t>(SRR)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是优先级算法的一个实例，它通过进程优先级的递增来改进长执行时间进程的周转时间特征</a:t>
            </a:r>
            <a:endParaRPr lang="en-US" altLang="zh-CN" dirty="0"/>
          </a:p>
          <a:p>
            <a:r>
              <a:rPr lang="zh-CN" altLang="en-US" dirty="0"/>
              <a:t>算法原理</a:t>
            </a:r>
            <a:endParaRPr lang="en-US" altLang="zh-CN" dirty="0"/>
          </a:p>
          <a:p>
            <a:pPr lvl="1"/>
            <a:r>
              <a:rPr lang="zh-CN" altLang="en-US" dirty="0"/>
              <a:t>就绪进程队列分成两个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3300"/>
                </a:solidFill>
              </a:rPr>
              <a:t>新创建进程队列</a:t>
            </a:r>
            <a:r>
              <a:rPr lang="zh-CN" altLang="en-US" dirty="0"/>
              <a:t>：按</a:t>
            </a:r>
            <a:r>
              <a:rPr lang="en-US" altLang="zh-CN" dirty="0"/>
              <a:t>FCFS</a:t>
            </a:r>
            <a:r>
              <a:rPr lang="zh-CN" altLang="en-US" dirty="0"/>
              <a:t>方式排列；进程优先级按速率</a:t>
            </a:r>
            <a:r>
              <a:rPr lang="en-US" altLang="zh-CN" dirty="0">
                <a:solidFill>
                  <a:srgbClr val="FF3300"/>
                </a:solidFill>
              </a:rPr>
              <a:t>a</a:t>
            </a:r>
            <a:r>
              <a:rPr lang="zh-CN" altLang="en-US" dirty="0"/>
              <a:t>增加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3300"/>
                </a:solidFill>
              </a:rPr>
              <a:t>享受服务队列</a:t>
            </a:r>
            <a:r>
              <a:rPr lang="zh-CN" altLang="en-US" dirty="0"/>
              <a:t>：已得到过时间片服务的进程按</a:t>
            </a:r>
            <a:r>
              <a:rPr lang="en-US" altLang="zh-CN" dirty="0"/>
              <a:t>FCFS</a:t>
            </a:r>
            <a:r>
              <a:rPr lang="zh-CN" altLang="en-US" dirty="0"/>
              <a:t>方式排列；进程优先级按速率</a:t>
            </a:r>
            <a:r>
              <a:rPr lang="en-US" altLang="zh-CN" dirty="0">
                <a:solidFill>
                  <a:srgbClr val="FF3300"/>
                </a:solidFill>
              </a:rPr>
              <a:t>b</a:t>
            </a:r>
            <a:r>
              <a:rPr lang="zh-CN" altLang="en-US" dirty="0"/>
              <a:t>增加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新创建进程等待时间的确定：当新创建进程优先级与享受服务队列中最后一个进程优先级相同时，转入享受服务队列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C3982-1C45-437C-8FD3-FADDAF1751B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25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线性优先级调度</a:t>
            </a:r>
            <a:r>
              <a:rPr lang="en-US" altLang="zh-CN" dirty="0"/>
              <a:t>(SRR)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699C-B253-43B9-AEC1-203098A0649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2217365" y="1556792"/>
            <a:ext cx="5395913" cy="1042987"/>
            <a:chOff x="1164" y="1737"/>
            <a:chExt cx="3399" cy="657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V="1">
              <a:off x="3963" y="1737"/>
              <a:ext cx="0" cy="20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1173" y="1737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164" y="2013"/>
              <a:ext cx="16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344" y="1872"/>
              <a:ext cx="1536" cy="288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392" y="1920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F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632" y="1923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…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1881" y="1923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D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139" y="1917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C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379" y="1920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B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628" y="1920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2880" y="2016"/>
              <a:ext cx="28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168" y="1908"/>
              <a:ext cx="480" cy="240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3300"/>
                  </a:solidFill>
                </a:rPr>
                <a:t>CPU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648" y="2016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3648" y="2091"/>
              <a:ext cx="3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3972" y="2094"/>
              <a:ext cx="0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3639" y="1941"/>
              <a:ext cx="3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600" y="2079"/>
              <a:ext cx="48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阻塞</a:t>
              </a: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4083" y="1899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完成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1440" y="2163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享受服务进程队列</a:t>
              </a:r>
            </a:p>
          </p:txBody>
        </p:sp>
      </p:grpSp>
      <p:grpSp>
        <p:nvGrpSpPr>
          <p:cNvPr id="27" name="Group 50"/>
          <p:cNvGrpSpPr>
            <a:grpSpLocks/>
          </p:cNvGrpSpPr>
          <p:nvPr/>
        </p:nvGrpSpPr>
        <p:grpSpPr bwMode="auto">
          <a:xfrm>
            <a:off x="617165" y="2693119"/>
            <a:ext cx="1828800" cy="809625"/>
            <a:chOff x="156" y="2226"/>
            <a:chExt cx="1152" cy="510"/>
          </a:xfrm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204" y="2226"/>
              <a:ext cx="10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195" y="2505"/>
              <a:ext cx="10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1251" y="2226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1002" y="2265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I</a:t>
              </a: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750" y="2265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J</a:t>
              </a:r>
            </a:p>
          </p:txBody>
        </p: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498" y="2265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K</a:t>
              </a:r>
            </a:p>
          </p:txBody>
        </p:sp>
        <p:sp>
          <p:nvSpPr>
            <p:cNvPr id="34" name="Rectangle 31"/>
            <p:cNvSpPr>
              <a:spLocks noChangeArrowheads="1"/>
            </p:cNvSpPr>
            <p:nvPr/>
          </p:nvSpPr>
          <p:spPr bwMode="auto">
            <a:xfrm>
              <a:off x="252" y="2268"/>
              <a:ext cx="19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FF00"/>
                  </a:solidFill>
                </a:rPr>
                <a:t>…</a:t>
              </a:r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156" y="2505"/>
              <a:ext cx="11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/>
                <a:t>新创建进程队列</a:t>
              </a:r>
            </a:p>
          </p:txBody>
        </p:sp>
      </p:grp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834211" y="3993902"/>
            <a:ext cx="3246586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0500" indent="-1905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 b="1" dirty="0"/>
              <a:t>当</a:t>
            </a:r>
            <a:r>
              <a:rPr lang="en-US" altLang="zh-CN" sz="2000" b="1" dirty="0"/>
              <a:t>b&gt;a&gt;0</a:t>
            </a:r>
            <a:r>
              <a:rPr lang="zh-CN" altLang="en-US" sz="2000" b="1" dirty="0"/>
              <a:t>时，享受服务队列中永远只有一个进程；</a:t>
            </a:r>
            <a:r>
              <a:rPr lang="en-US" altLang="zh-CN" sz="2000" b="1" dirty="0"/>
              <a:t>SRR</a:t>
            </a:r>
            <a:r>
              <a:rPr lang="zh-CN" altLang="en-US" sz="2000" b="1" dirty="0"/>
              <a:t>算法退化成</a:t>
            </a:r>
            <a:r>
              <a:rPr lang="en-US" altLang="zh-CN" sz="2000" b="1" dirty="0"/>
              <a:t>FCFS</a:t>
            </a:r>
            <a:r>
              <a:rPr lang="zh-CN" altLang="en-US" sz="2000" b="1" dirty="0"/>
              <a:t>算法</a:t>
            </a:r>
          </a:p>
          <a:p>
            <a:pPr marL="0" indent="0" eaLnBrk="1" hangingPunct="1">
              <a:lnSpc>
                <a:spcPct val="105000"/>
              </a:lnSpc>
              <a:spcBef>
                <a:spcPct val="20000"/>
              </a:spcBef>
            </a:pPr>
            <a:endParaRPr lang="en-US" altLang="zh-CN" sz="2000" b="1" dirty="0"/>
          </a:p>
          <a:p>
            <a:pPr marL="0" indent="0"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 b="1" dirty="0"/>
              <a:t>当</a:t>
            </a:r>
            <a:r>
              <a:rPr lang="en-US" altLang="zh-CN" sz="2000" b="1" dirty="0"/>
              <a:t>a&gt;b=0</a:t>
            </a:r>
            <a:r>
              <a:rPr lang="zh-CN" altLang="en-US" sz="2000" b="1" dirty="0"/>
              <a:t>时，</a:t>
            </a:r>
            <a:r>
              <a:rPr lang="en-US" altLang="zh-CN" sz="2000" b="1" dirty="0"/>
              <a:t>SRR</a:t>
            </a:r>
            <a:r>
              <a:rPr lang="zh-CN" altLang="en-US" sz="2000" b="1" dirty="0"/>
              <a:t>算法就是时间片轮转算法</a:t>
            </a:r>
          </a:p>
        </p:txBody>
      </p:sp>
      <p:grpSp>
        <p:nvGrpSpPr>
          <p:cNvPr id="37" name="Group 48"/>
          <p:cNvGrpSpPr>
            <a:grpSpLocks/>
          </p:cNvGrpSpPr>
          <p:nvPr/>
        </p:nvGrpSpPr>
        <p:grpSpPr bwMode="auto">
          <a:xfrm>
            <a:off x="4932040" y="3602508"/>
            <a:ext cx="3505200" cy="2490788"/>
            <a:chOff x="2317" y="2415"/>
            <a:chExt cx="2483" cy="1849"/>
          </a:xfrm>
        </p:grpSpPr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2317" y="2415"/>
              <a:ext cx="68" cy="63"/>
            </a:xfrm>
            <a:custGeom>
              <a:avLst/>
              <a:gdLst>
                <a:gd name="T0" fmla="*/ 0 w 74"/>
                <a:gd name="T1" fmla="*/ 56 h 71"/>
                <a:gd name="T2" fmla="*/ 62 w 74"/>
                <a:gd name="T3" fmla="*/ 56 h 71"/>
                <a:gd name="T4" fmla="*/ 31 w 74"/>
                <a:gd name="T5" fmla="*/ 0 h 71"/>
                <a:gd name="T6" fmla="*/ 0 w 74"/>
                <a:gd name="T7" fmla="*/ 56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71">
                  <a:moveTo>
                    <a:pt x="0" y="71"/>
                  </a:moveTo>
                  <a:lnTo>
                    <a:pt x="74" y="71"/>
                  </a:lnTo>
                  <a:lnTo>
                    <a:pt x="37" y="0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2317" y="2415"/>
              <a:ext cx="68" cy="63"/>
            </a:xfrm>
            <a:custGeom>
              <a:avLst/>
              <a:gdLst>
                <a:gd name="T0" fmla="*/ 0 w 74"/>
                <a:gd name="T1" fmla="*/ 56 h 71"/>
                <a:gd name="T2" fmla="*/ 62 w 74"/>
                <a:gd name="T3" fmla="*/ 56 h 71"/>
                <a:gd name="T4" fmla="*/ 31 w 74"/>
                <a:gd name="T5" fmla="*/ 0 h 71"/>
                <a:gd name="T6" fmla="*/ 0 w 74"/>
                <a:gd name="T7" fmla="*/ 56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71">
                  <a:moveTo>
                    <a:pt x="0" y="71"/>
                  </a:moveTo>
                  <a:lnTo>
                    <a:pt x="74" y="71"/>
                  </a:lnTo>
                  <a:lnTo>
                    <a:pt x="37" y="0"/>
                  </a:lnTo>
                  <a:lnTo>
                    <a:pt x="0" y="7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2351" y="2478"/>
              <a:ext cx="1" cy="141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4731" y="3859"/>
              <a:ext cx="69" cy="63"/>
            </a:xfrm>
            <a:custGeom>
              <a:avLst/>
              <a:gdLst>
                <a:gd name="T0" fmla="*/ 0 w 75"/>
                <a:gd name="T1" fmla="*/ 0 h 71"/>
                <a:gd name="T2" fmla="*/ 0 w 75"/>
                <a:gd name="T3" fmla="*/ 56 h 71"/>
                <a:gd name="T4" fmla="*/ 63 w 75"/>
                <a:gd name="T5" fmla="*/ 28 h 71"/>
                <a:gd name="T6" fmla="*/ 0 w 75"/>
                <a:gd name="T7" fmla="*/ 0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71">
                  <a:moveTo>
                    <a:pt x="0" y="0"/>
                  </a:moveTo>
                  <a:lnTo>
                    <a:pt x="0" y="71"/>
                  </a:lnTo>
                  <a:lnTo>
                    <a:pt x="75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731" y="3859"/>
              <a:ext cx="69" cy="63"/>
            </a:xfrm>
            <a:custGeom>
              <a:avLst/>
              <a:gdLst>
                <a:gd name="T0" fmla="*/ 0 w 75"/>
                <a:gd name="T1" fmla="*/ 0 h 71"/>
                <a:gd name="T2" fmla="*/ 0 w 75"/>
                <a:gd name="T3" fmla="*/ 56 h 71"/>
                <a:gd name="T4" fmla="*/ 63 w 75"/>
                <a:gd name="T5" fmla="*/ 28 h 71"/>
                <a:gd name="T6" fmla="*/ 0 w 75"/>
                <a:gd name="T7" fmla="*/ 0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71">
                  <a:moveTo>
                    <a:pt x="0" y="0"/>
                  </a:moveTo>
                  <a:lnTo>
                    <a:pt x="0" y="71"/>
                  </a:lnTo>
                  <a:lnTo>
                    <a:pt x="75" y="36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2351" y="3891"/>
              <a:ext cx="238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2351" y="2786"/>
              <a:ext cx="2177" cy="1105"/>
            </a:xfrm>
            <a:custGeom>
              <a:avLst/>
              <a:gdLst>
                <a:gd name="T0" fmla="*/ 0 w 2360"/>
                <a:gd name="T1" fmla="*/ 977 h 1250"/>
                <a:gd name="T2" fmla="*/ 752 w 2360"/>
                <a:gd name="T3" fmla="*/ 325 h 1250"/>
                <a:gd name="T4" fmla="*/ 2008 w 2360"/>
                <a:gd name="T5" fmla="*/ 0 h 12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60" h="1250">
                  <a:moveTo>
                    <a:pt x="0" y="1250"/>
                  </a:moveTo>
                  <a:lnTo>
                    <a:pt x="884" y="416"/>
                  </a:lnTo>
                  <a:lnTo>
                    <a:pt x="236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713" y="3293"/>
              <a:ext cx="81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000000"/>
                  </a:solidFill>
                </a:rPr>
                <a:t>a</a:t>
              </a:r>
              <a:endParaRPr lang="en-US" altLang="zh-CN" sz="1800" b="1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3801" y="2802"/>
              <a:ext cx="9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000000"/>
                  </a:solidFill>
                </a:rPr>
                <a:t>b</a:t>
              </a:r>
              <a:endParaRPr lang="en-US" altLang="zh-CN" sz="1800" b="1"/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4366" y="3662"/>
              <a:ext cx="36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000000"/>
                  </a:solidFill>
                </a:rPr>
                <a:t>Time</a:t>
              </a:r>
              <a:endParaRPr lang="en-US" altLang="zh-CN" sz="1800" b="1"/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2465" y="2461"/>
              <a:ext cx="54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000000"/>
                  </a:solidFill>
                </a:rPr>
                <a:t>Priority</a:t>
              </a:r>
              <a:endParaRPr lang="en-US" altLang="zh-CN" sz="1800" b="1"/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2635" y="3969"/>
              <a:ext cx="1940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3300"/>
                  </a:solidFill>
                </a:rPr>
                <a:t>SRR</a:t>
              </a:r>
              <a:r>
                <a:rPr lang="zh-CN" altLang="en-US" sz="2000" b="1">
                  <a:solidFill>
                    <a:srgbClr val="FF3300"/>
                  </a:solidFill>
                </a:rPr>
                <a:t>算法的优先级变化</a:t>
              </a:r>
            </a:p>
          </p:txBody>
        </p:sp>
      </p:grpSp>
      <p:cxnSp>
        <p:nvCxnSpPr>
          <p:cNvPr id="50" name="Straight Arrow Connector 49"/>
          <p:cNvCxnSpPr>
            <a:stCxn id="30" idx="1"/>
          </p:cNvCxnSpPr>
          <p:nvPr/>
        </p:nvCxnSpPr>
        <p:spPr>
          <a:xfrm>
            <a:off x="2355479" y="3150319"/>
            <a:ext cx="3043236" cy="1716149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4932040" y="2228304"/>
            <a:ext cx="1990675" cy="1873978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50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多级反馈队列算法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 indent="-342900">
              <a:spcBef>
                <a:spcPts val="1200"/>
              </a:spcBef>
            </a:pPr>
            <a:r>
              <a:rPr lang="zh-CN" altLang="en-US" dirty="0"/>
              <a:t>设置多个就绪队列，分别赋予不同的优先级，如逐级降低，队列</a:t>
            </a:r>
            <a:r>
              <a:rPr lang="en-US" altLang="zh-CN" dirty="0"/>
              <a:t>1</a:t>
            </a:r>
            <a:r>
              <a:rPr lang="zh-CN" altLang="en-US" dirty="0"/>
              <a:t>的优先级最高。每个队列执行时间片的长度也不同，规定</a:t>
            </a:r>
            <a:r>
              <a:rPr lang="zh-CN" altLang="en-US" dirty="0">
                <a:solidFill>
                  <a:srgbClr val="0000FF"/>
                </a:solidFill>
              </a:rPr>
              <a:t>优先级越低则时间片越长</a:t>
            </a:r>
            <a:r>
              <a:rPr lang="zh-CN" altLang="en-US" dirty="0"/>
              <a:t>，如逐级加倍；</a:t>
            </a:r>
            <a:endParaRPr lang="en-US" altLang="zh-CN" dirty="0"/>
          </a:p>
          <a:p>
            <a:pPr marL="342900" lvl="2" indent="-342900">
              <a:spcBef>
                <a:spcPts val="1200"/>
              </a:spcBef>
            </a:pPr>
            <a:endParaRPr lang="zh-CN" altLang="en-US" dirty="0"/>
          </a:p>
          <a:p>
            <a:pPr marL="342900" lvl="2" indent="-342900">
              <a:spcBef>
                <a:spcPts val="1200"/>
              </a:spcBef>
            </a:pPr>
            <a:r>
              <a:rPr lang="zh-CN" altLang="en-US" dirty="0"/>
              <a:t>新进程进入内存后，先投入队列</a:t>
            </a:r>
            <a:r>
              <a:rPr lang="en-US" altLang="zh-CN" dirty="0"/>
              <a:t>1</a:t>
            </a:r>
            <a:r>
              <a:rPr lang="zh-CN" altLang="en-US" dirty="0"/>
              <a:t>的末尾，按</a:t>
            </a:r>
            <a:r>
              <a:rPr lang="en-US" altLang="zh-CN" dirty="0"/>
              <a:t>FCFS</a:t>
            </a:r>
            <a:r>
              <a:rPr lang="zh-CN" altLang="en-US" dirty="0"/>
              <a:t>算法调度；若按队列</a:t>
            </a:r>
            <a:r>
              <a:rPr lang="en-US" altLang="zh-CN" dirty="0"/>
              <a:t>1</a:t>
            </a:r>
            <a:r>
              <a:rPr lang="zh-CN" altLang="en-US" dirty="0"/>
              <a:t>一个时间片未能执行完，则</a:t>
            </a:r>
            <a:r>
              <a:rPr lang="zh-CN" altLang="en-US" dirty="0">
                <a:solidFill>
                  <a:srgbClr val="FF0000"/>
                </a:solidFill>
              </a:rPr>
              <a:t>降低投入到队列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的末尾</a:t>
            </a:r>
            <a:r>
              <a:rPr lang="zh-CN" altLang="en-US" dirty="0"/>
              <a:t>，同样按</a:t>
            </a:r>
            <a:r>
              <a:rPr lang="en-US" altLang="zh-CN" dirty="0"/>
              <a:t>FCFS</a:t>
            </a:r>
            <a:r>
              <a:rPr lang="zh-CN" altLang="en-US" dirty="0"/>
              <a:t>算法调度；如此下去，降低到最后的队列，则按“时间片轮转”算法调度直到完成；</a:t>
            </a:r>
            <a:endParaRPr lang="en-US" altLang="zh-CN" dirty="0"/>
          </a:p>
          <a:p>
            <a:pPr marL="342900" lvl="2" indent="-342900">
              <a:spcBef>
                <a:spcPts val="1200"/>
              </a:spcBef>
            </a:pPr>
            <a:endParaRPr lang="zh-CN" altLang="en-US" dirty="0"/>
          </a:p>
          <a:p>
            <a:pPr marL="342900" lvl="2" indent="-342900">
              <a:spcBef>
                <a:spcPts val="1200"/>
              </a:spcBef>
            </a:pPr>
            <a:r>
              <a:rPr lang="zh-CN" altLang="en-US" dirty="0"/>
              <a:t>仅当较高优先级的队列为空，才调度较低优先级的队列中的进程执行。如果进程执行时有新进程进入较高优先级的队列，则抢先执行新进程，并把被抢先的进程投入原队列的末尾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BC996-2441-4D30-AB9B-1BE61AA9E49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847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多级反馈队列算法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E2DB8-2873-4223-8EB4-4593D9E717F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" t="12209" r="537" b="12032"/>
          <a:stretch>
            <a:fillRect/>
          </a:stretch>
        </p:blipFill>
        <p:spPr bwMode="auto">
          <a:xfrm>
            <a:off x="1691680" y="2250513"/>
            <a:ext cx="5426075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72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多级反馈队列算法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A6887-AA2F-4CEA-A561-4E443B64FB0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6660878" y="2204864"/>
            <a:ext cx="1223962" cy="1152525"/>
          </a:xfrm>
          <a:prstGeom prst="smileyFace">
            <a:avLst>
              <a:gd name="adj" fmla="val 4653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90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rgbClr val="FF3300"/>
                </a:solidFill>
              </a:rPr>
              <a:t>CPU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123803" y="2525539"/>
            <a:ext cx="3673475" cy="576262"/>
            <a:chOff x="1519" y="2115"/>
            <a:chExt cx="2314" cy="363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519" y="2115"/>
              <a:ext cx="2314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683" y="211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1882" y="211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269" y="211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069" y="211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456" y="211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797278" y="2668414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2123803" y="3566939"/>
            <a:ext cx="3673475" cy="576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3971653" y="3566939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060428" y="3566939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860653" y="3566939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331640" y="2804939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5797278" y="2876376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6229078" y="2876376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907903" y="3317701"/>
            <a:ext cx="432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907903" y="3317701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907903" y="3820939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123803" y="4613101"/>
            <a:ext cx="3673475" cy="57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347765" y="46131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4571728" y="46131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5784578" y="393523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6216378" y="3935239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1895203" y="4376564"/>
            <a:ext cx="432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1895203" y="437656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1895203" y="4879801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Oval 31"/>
          <p:cNvSpPr>
            <a:spLocks noChangeArrowheads="1"/>
          </p:cNvSpPr>
          <p:nvPr/>
        </p:nvSpPr>
        <p:spPr bwMode="auto">
          <a:xfrm>
            <a:off x="5338490" y="2643014"/>
            <a:ext cx="358775" cy="3587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Oval 32"/>
          <p:cNvSpPr>
            <a:spLocks noChangeArrowheads="1"/>
          </p:cNvSpPr>
          <p:nvPr/>
        </p:nvSpPr>
        <p:spPr bwMode="auto">
          <a:xfrm>
            <a:off x="4716190" y="2655714"/>
            <a:ext cx="358775" cy="358775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Oval 33"/>
          <p:cNvSpPr>
            <a:spLocks noChangeArrowheads="1"/>
          </p:cNvSpPr>
          <p:nvPr/>
        </p:nvSpPr>
        <p:spPr bwMode="auto">
          <a:xfrm>
            <a:off x="4139928" y="2668414"/>
            <a:ext cx="358775" cy="3587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" name="Oval 34"/>
          <p:cNvSpPr>
            <a:spLocks noChangeArrowheads="1"/>
          </p:cNvSpPr>
          <p:nvPr/>
        </p:nvSpPr>
        <p:spPr bwMode="auto">
          <a:xfrm>
            <a:off x="3492228" y="2668414"/>
            <a:ext cx="358775" cy="3587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8" name="Group 35"/>
          <p:cNvGrpSpPr>
            <a:grpSpLocks/>
          </p:cNvGrpSpPr>
          <p:nvPr/>
        </p:nvGrpSpPr>
        <p:grpSpPr bwMode="auto">
          <a:xfrm>
            <a:off x="1980928" y="4902026"/>
            <a:ext cx="4175125" cy="576263"/>
            <a:chOff x="1429" y="3612"/>
            <a:chExt cx="2630" cy="363"/>
          </a:xfrm>
        </p:grpSpPr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3833" y="3612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4059" y="3612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1429" y="3974"/>
              <a:ext cx="26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>
              <a:off x="1429" y="370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1429" y="3702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Line 41"/>
          <p:cNvSpPr>
            <a:spLocks noChangeShapeType="1"/>
          </p:cNvSpPr>
          <p:nvPr/>
        </p:nvSpPr>
        <p:spPr bwMode="auto">
          <a:xfrm flipV="1">
            <a:off x="5797278" y="3244676"/>
            <a:ext cx="10795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 flipV="1">
            <a:off x="5797278" y="3317701"/>
            <a:ext cx="129540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Oval 43"/>
          <p:cNvSpPr>
            <a:spLocks noChangeArrowheads="1"/>
          </p:cNvSpPr>
          <p:nvPr/>
        </p:nvSpPr>
        <p:spPr bwMode="auto">
          <a:xfrm>
            <a:off x="5363890" y="2628726"/>
            <a:ext cx="358775" cy="3587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5797278" y="2668414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87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07407E-6 L 0.19688 -4.07407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07083 4.0740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22222E-6 L 0.07083 2.22222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22222E-6 L 0.07865 2.22222E-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8 -4.07407E-6 L 0.07882 0.0632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0.0632 L -0.39375 0.0632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375 0.0632 L -0.39375 0.13658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375 0.14561 L -0.02378 0.14561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4.07407E-6 L 0.25989 4.07407E-6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2.22222E-6 L 0.13385 2.22222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41 2.22222E-6 L 0.13924 2.22222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85 -0.00185 L 0.32291 -0.00185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06 0.00185 L 0.20608 0.00185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795 -0.00371 L 0.2177 0.06991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21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989 0.05949 L -0.27049 0.05949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268 0.05949 L -0.26268 0.13287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268 0.1419 L 0.01302 0.1419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08 2.22222E-6 L 0.40295 2.22222E-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018 -0.00185 L 0.28212 0.0717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12 0.06134 L -0.19826 0.06134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45 0.06134 L -0.19045 0.14537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45 0.14375 L -0.00937 0.14375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8 0.14561 L 0.18889 -0.00138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02 0.1419 L 0.11545 0.1419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0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37 0.14375 L 0.08525 0.14375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8 -4.07407E-6 L 0.07865 0.23102 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0" y="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5 0.23102 L -0.39392 0.23102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0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392 0.23102 L -0.39392 0.30463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0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392 0.30463 L -0.03958 0.30463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0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729 0.1419 L 0.32777 -0.00509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24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0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25 0.14375 L 0.17969 0.14375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2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0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813 0.1419 L 0.39861 -0.00509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24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879 -0.00371 L 0.28073 0.2169 " pathEditMode="relative" rAng="0" ptsTypes="AA">
                                      <p:cBhvr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0" presetClass="path" presetSubtype="0" accel="50000" decel="5000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056 0.22731 L -0.18403 0.22731 " pathEditMode="relative" rAng="0" ptsTypes="AA">
                                      <p:cBhvr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0" presetClass="path" presetSubtype="0" accel="50000" decel="5000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201 0.22731 L -0.19201 0.31134 " pathEditMode="relative" rAng="0" ptsTypes="AA">
                                      <p:cBhvr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0" presetClass="path" presetSubtype="0" accel="50000" decel="50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201 0.30092 L 0.03646 0.30092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44" grpId="0" animBg="1"/>
      <p:bldP spid="44" grpId="1" animBg="1"/>
      <p:bldP spid="45" grpId="0" animBg="1"/>
      <p:bldP spid="45" grpId="1" animBg="1"/>
      <p:bldP spid="46" grpId="0" animBg="1"/>
      <p:bldP spid="4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多级反馈队列算法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评价</a:t>
            </a:r>
            <a:endParaRPr lang="en-US" altLang="zh-CN" dirty="0"/>
          </a:p>
          <a:p>
            <a:pPr lvl="1"/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时间片轮转算法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优先级算法</a:t>
            </a:r>
            <a:r>
              <a:rPr lang="zh-CN" altLang="en-US" dirty="0"/>
              <a:t>的综合和发展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为提高系统吞吐量和缩短平均周转时间而</a:t>
            </a:r>
            <a:r>
              <a:rPr lang="zh-CN" altLang="en-US" dirty="0">
                <a:solidFill>
                  <a:srgbClr val="0000FF"/>
                </a:solidFill>
              </a:rPr>
              <a:t>照顾短进程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为获得较好的</a:t>
            </a:r>
            <a:r>
              <a:rPr lang="en-US" altLang="zh-CN" dirty="0"/>
              <a:t>I/O</a:t>
            </a:r>
            <a:r>
              <a:rPr lang="zh-CN" altLang="en-US" dirty="0"/>
              <a:t>设备利用率和缩短响应时间而</a:t>
            </a:r>
            <a:r>
              <a:rPr lang="zh-CN" altLang="en-US" dirty="0">
                <a:solidFill>
                  <a:srgbClr val="0000FF"/>
                </a:solidFill>
              </a:rPr>
              <a:t>照顾</a:t>
            </a:r>
            <a:r>
              <a:rPr lang="en-US" altLang="zh-CN" dirty="0">
                <a:solidFill>
                  <a:srgbClr val="0000FF"/>
                </a:solidFill>
              </a:rPr>
              <a:t>I/O</a:t>
            </a:r>
            <a:r>
              <a:rPr lang="zh-CN" altLang="en-US" dirty="0">
                <a:solidFill>
                  <a:srgbClr val="0000FF"/>
                </a:solidFill>
              </a:rPr>
              <a:t>型进程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不必估计进程的执行时间，动态调节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6ED-B1ED-451A-BA2F-35700574799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65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调度算法的性能指标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zh-CN" sz="2400" b="1" dirty="0"/>
              <a:t>FCFS,  Round Robin,  SRR</a:t>
            </a:r>
            <a:r>
              <a:rPr lang="zh-CN" altLang="en-US" sz="2400" b="1" dirty="0"/>
              <a:t>周转时间比较</a:t>
            </a:r>
            <a:endParaRPr lang="en-US" altLang="zh-CN" sz="2400" b="1" dirty="0"/>
          </a:p>
          <a:p>
            <a:pPr marL="742950" lvl="2" indent="-342900">
              <a:spcBef>
                <a:spcPts val="1200"/>
              </a:spcBef>
            </a:pPr>
            <a:endParaRPr lang="en-US" altLang="zh-CN" b="1" dirty="0"/>
          </a:p>
          <a:p>
            <a:pPr marL="742950" lvl="2" indent="-342900">
              <a:spcBef>
                <a:spcPts val="1200"/>
              </a:spcBef>
            </a:pPr>
            <a:r>
              <a:rPr lang="zh-CN" altLang="en-US" sz="2200" dirty="0"/>
              <a:t>长作业：</a:t>
            </a:r>
            <a:r>
              <a:rPr lang="en-US" altLang="zh-CN" sz="2200" dirty="0"/>
              <a:t>T(FCFS) &lt; T(SRR) &lt; T(RR)</a:t>
            </a:r>
            <a:r>
              <a:rPr lang="zh-CN" altLang="en-US" sz="2200" dirty="0"/>
              <a:t>（运行时间是主要因素）</a:t>
            </a:r>
            <a:endParaRPr lang="en-US" altLang="zh-CN" sz="2200" dirty="0"/>
          </a:p>
          <a:p>
            <a:pPr marL="742950" lvl="2" indent="-342900">
              <a:spcBef>
                <a:spcPts val="1200"/>
              </a:spcBef>
            </a:pPr>
            <a:endParaRPr lang="en-US" altLang="zh-CN" sz="2200" dirty="0"/>
          </a:p>
          <a:p>
            <a:pPr marL="742950" lvl="2" indent="-342900">
              <a:spcBef>
                <a:spcPts val="1200"/>
              </a:spcBef>
            </a:pPr>
            <a:r>
              <a:rPr lang="zh-CN" altLang="en-US" sz="2200" dirty="0"/>
              <a:t>短作业：</a:t>
            </a:r>
            <a:r>
              <a:rPr lang="en-US" altLang="zh-CN" sz="2200" dirty="0"/>
              <a:t>T(RR) &lt; T(SRR) &lt; T(FCFS)</a:t>
            </a:r>
            <a:r>
              <a:rPr lang="zh-CN" altLang="en-US" sz="2200" dirty="0"/>
              <a:t>（等待时间是主要因素）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F661-02EE-428C-8ACF-7090744CDA5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43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分级调度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作业调度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进程调度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调度算法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实时</a:t>
            </a:r>
            <a:r>
              <a:rPr lang="zh-CN" altLang="en-US" dirty="0" smtClean="0">
                <a:solidFill>
                  <a:srgbClr val="FFC000"/>
                </a:solidFill>
              </a:rPr>
              <a:t>调度</a:t>
            </a:r>
            <a:r>
              <a:rPr lang="zh-CN" altLang="en-US" dirty="0">
                <a:solidFill>
                  <a:srgbClr val="FFC000"/>
                </a:solidFill>
              </a:rPr>
              <a:t>（非重点</a:t>
            </a:r>
            <a:r>
              <a:rPr lang="zh-CN" altLang="en-US" dirty="0" smtClean="0">
                <a:solidFill>
                  <a:srgbClr val="FFC000"/>
                </a:solidFill>
              </a:rPr>
              <a:t>）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多处理机调度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C289-6046-4AAA-8BA3-1288F0A07C0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50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08F7-8AEB-4D25-A542-CEF8B82CDF61}" type="slidenum">
              <a:rPr lang="en-US" altLang="zh-CN"/>
              <a:pPr/>
              <a:t>52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实时调度</a:t>
            </a:r>
            <a:endParaRPr lang="zh-CN" altLang="en-US" dirty="0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5181600"/>
          </a:xfrm>
        </p:spPr>
        <p:txBody>
          <a:bodyPr/>
          <a:lstStyle/>
          <a:p>
            <a:pPr marL="285750" indent="-285750" algn="ctr">
              <a:lnSpc>
                <a:spcPct val="120000"/>
              </a:lnSpc>
              <a:buFontTx/>
              <a:buNone/>
              <a:tabLst>
                <a:tab pos="4667250" algn="l"/>
              </a:tabLst>
            </a:pPr>
            <a:r>
              <a:rPr lang="zh-CN" altLang="en-US" sz="3600" dirty="0" smtClean="0"/>
              <a:t>实时</a:t>
            </a:r>
            <a:r>
              <a:rPr lang="zh-CN" altLang="en-US" sz="3600" dirty="0"/>
              <a:t>调度</a:t>
            </a:r>
            <a:r>
              <a:rPr lang="zh-CN" altLang="en-US" sz="2400" dirty="0"/>
              <a:t>（</a:t>
            </a:r>
            <a:r>
              <a:rPr lang="en-US" altLang="zh-CN" sz="2400" dirty="0"/>
              <a:t>Real-Time Scheduling</a:t>
            </a:r>
            <a:r>
              <a:rPr lang="zh-CN" altLang="en-US" sz="2400" dirty="0"/>
              <a:t>）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dirty="0" smtClean="0">
                <a:solidFill>
                  <a:srgbClr val="006600"/>
                </a:solidFill>
              </a:rPr>
              <a:t>实时</a:t>
            </a:r>
            <a:r>
              <a:rPr lang="zh-CN" altLang="en-US" dirty="0">
                <a:solidFill>
                  <a:srgbClr val="006600"/>
                </a:solidFill>
              </a:rPr>
              <a:t>调度的特点</a:t>
            </a:r>
            <a:endParaRPr lang="zh-CN" altLang="en-US" dirty="0">
              <a:solidFill>
                <a:srgbClr val="FF3300"/>
              </a:solidFill>
            </a:endParaRPr>
          </a:p>
          <a:p>
            <a:pPr marL="819150" lvl="1" indent="-342900">
              <a:lnSpc>
                <a:spcPct val="120000"/>
              </a:lnSpc>
              <a:tabLst>
                <a:tab pos="4667250" algn="l"/>
              </a:tabLst>
            </a:pPr>
            <a:r>
              <a:rPr lang="zh-CN" altLang="en-US" dirty="0"/>
              <a:t>提供必要</a:t>
            </a:r>
            <a:r>
              <a:rPr lang="zh-CN" altLang="en-US" dirty="0">
                <a:solidFill>
                  <a:schemeClr val="accent2"/>
                </a:solidFill>
              </a:rPr>
              <a:t>的调度信息</a:t>
            </a:r>
            <a:endParaRPr lang="zh-CN" altLang="en-US" dirty="0"/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就绪时间：该任务称为就绪状态的起始时间；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开始或完成截止时间：对于典型的实时应用，只需知道其一；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处理时间：任务从开始执行直至完成所需时间；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资源要求：任务执行时所需的一组资源；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绝对或相对优先级（硬实时任务或软实时任务）</a:t>
            </a:r>
          </a:p>
        </p:txBody>
      </p:sp>
    </p:spTree>
    <p:extLst>
      <p:ext uri="{BB962C8B-B14F-4D97-AF65-F5344CB8AC3E}">
        <p14:creationId xmlns:p14="http://schemas.microsoft.com/office/powerpoint/2010/main" val="57366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6C140-98F8-40F1-9067-4FC654F228EB}" type="slidenum">
              <a:rPr lang="en-US" altLang="zh-CN"/>
              <a:pPr/>
              <a:t>53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实时调度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48006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dirty="0" smtClean="0">
                <a:solidFill>
                  <a:srgbClr val="006600"/>
                </a:solidFill>
              </a:rPr>
              <a:t>实时</a:t>
            </a:r>
            <a:r>
              <a:rPr lang="zh-CN" altLang="en-US" dirty="0">
                <a:solidFill>
                  <a:srgbClr val="006600"/>
                </a:solidFill>
              </a:rPr>
              <a:t>调度的特点</a:t>
            </a:r>
            <a:endParaRPr lang="zh-CN" altLang="en-US" dirty="0">
              <a:solidFill>
                <a:srgbClr val="FF3300"/>
              </a:solidFill>
            </a:endParaRPr>
          </a:p>
          <a:p>
            <a:pPr marL="819150" lvl="1" indent="-342900">
              <a:lnSpc>
                <a:spcPct val="120000"/>
              </a:lnSpc>
              <a:tabLst>
                <a:tab pos="4667250" algn="l"/>
              </a:tabLst>
            </a:pPr>
            <a:r>
              <a:rPr lang="zh-CN" altLang="en-US" dirty="0"/>
              <a:t>系统处理能力强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设系统中有</a:t>
            </a:r>
            <a:r>
              <a:rPr lang="en-US" altLang="zh-CN" i="1" dirty="0"/>
              <a:t>m</a:t>
            </a:r>
            <a:r>
              <a:rPr lang="zh-CN" altLang="en-US" dirty="0"/>
              <a:t>个周期性的硬实时任务，它们的处理时间为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i</a:t>
            </a:r>
            <a:r>
              <a:rPr lang="zh-CN" altLang="en-US" dirty="0"/>
              <a:t>，周期时间为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i</a:t>
            </a:r>
            <a:r>
              <a:rPr lang="zh-CN" altLang="en-US" dirty="0"/>
              <a:t>，单处理机时的限制条件</a:t>
            </a:r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endParaRPr lang="zh-CN" altLang="en-US" dirty="0"/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endParaRPr lang="zh-CN" altLang="en-US" dirty="0"/>
          </a:p>
          <a:p>
            <a:pPr lvl="2" indent="-28575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多（</a:t>
            </a:r>
            <a:r>
              <a:rPr lang="en-US" altLang="zh-CN" i="1" dirty="0"/>
              <a:t>N</a:t>
            </a:r>
            <a:r>
              <a:rPr lang="zh-CN" altLang="en-US" dirty="0"/>
              <a:t>）处理机时的限制条件</a:t>
            </a:r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853946"/>
              </p:ext>
            </p:extLst>
          </p:nvPr>
        </p:nvGraphicFramePr>
        <p:xfrm>
          <a:off x="3733800" y="2874264"/>
          <a:ext cx="12192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0" name="Equation" r:id="rId4" imgW="622080" imgH="444240" progId="Equation.3">
                  <p:embed/>
                </p:oleObj>
              </mc:Choice>
              <mc:Fallback>
                <p:oleObj name="Equation" r:id="rId4" imgW="622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874264"/>
                        <a:ext cx="12192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346998"/>
              </p:ext>
            </p:extLst>
          </p:nvPr>
        </p:nvGraphicFramePr>
        <p:xfrm>
          <a:off x="3733800" y="4233672"/>
          <a:ext cx="14478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1" name="Equation" r:id="rId6" imgW="711000" imgH="444240" progId="Equation.3">
                  <p:embed/>
                </p:oleObj>
              </mc:Choice>
              <mc:Fallback>
                <p:oleObj name="Equation" r:id="rId6" imgW="7110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233672"/>
                        <a:ext cx="14478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280160" y="5239512"/>
            <a:ext cx="61722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处理能力够强，才能满足实时需求！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072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2F8A-A303-4498-A253-19E1AFD1397E}" type="slidenum">
              <a:rPr lang="en-US" altLang="zh-CN"/>
              <a:pPr/>
              <a:t>54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实时调度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134350" cy="1447800"/>
          </a:xfrm>
        </p:spPr>
        <p:txBody>
          <a:bodyPr>
            <a:norm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sz="2800" dirty="0" smtClean="0">
                <a:solidFill>
                  <a:srgbClr val="006600"/>
                </a:solidFill>
              </a:rPr>
              <a:t>实时</a:t>
            </a:r>
            <a:r>
              <a:rPr lang="zh-CN" altLang="en-US" sz="2800" dirty="0">
                <a:solidFill>
                  <a:srgbClr val="006600"/>
                </a:solidFill>
              </a:rPr>
              <a:t>调度的特点</a:t>
            </a:r>
            <a:endParaRPr lang="zh-CN" altLang="en-US" sz="2800" dirty="0">
              <a:solidFill>
                <a:srgbClr val="FF3300"/>
              </a:solidFill>
            </a:endParaRPr>
          </a:p>
          <a:p>
            <a:pPr marL="819150" lvl="1" indent="-342900">
              <a:spcBef>
                <a:spcPct val="10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sz="2400" dirty="0"/>
              <a:t>采用</a:t>
            </a:r>
            <a:r>
              <a:rPr lang="zh-CN" altLang="en-US" sz="2400" dirty="0">
                <a:solidFill>
                  <a:schemeClr val="accent2"/>
                </a:solidFill>
              </a:rPr>
              <a:t>抢先式调度</a:t>
            </a:r>
            <a:endParaRPr lang="zh-CN" altLang="en-US" sz="2400" dirty="0"/>
          </a:p>
        </p:txBody>
      </p:sp>
      <p:grpSp>
        <p:nvGrpSpPr>
          <p:cNvPr id="242736" name="Group 48"/>
          <p:cNvGrpSpPr>
            <a:grpSpLocks/>
          </p:cNvGrpSpPr>
          <p:nvPr/>
        </p:nvGrpSpPr>
        <p:grpSpPr bwMode="auto">
          <a:xfrm>
            <a:off x="457200" y="2714625"/>
            <a:ext cx="4238625" cy="1814513"/>
            <a:chOff x="288" y="1710"/>
            <a:chExt cx="2670" cy="1143"/>
          </a:xfrm>
        </p:grpSpPr>
        <p:sp>
          <p:nvSpPr>
            <p:cNvPr id="242692" name="Rectangle 4"/>
            <p:cNvSpPr>
              <a:spLocks noChangeArrowheads="1"/>
            </p:cNvSpPr>
            <p:nvPr/>
          </p:nvSpPr>
          <p:spPr bwMode="auto">
            <a:xfrm>
              <a:off x="528" y="2109"/>
              <a:ext cx="105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进程</a:t>
              </a:r>
              <a:r>
                <a:rPr lang="en-US" altLang="zh-CN" sz="1800" b="1"/>
                <a:t>1   </a:t>
              </a:r>
              <a:r>
                <a:rPr lang="zh-CN" altLang="en-US" sz="1800" b="1"/>
                <a:t>进程</a:t>
              </a:r>
              <a:r>
                <a:rPr lang="en-US" altLang="zh-CN" sz="1800" b="1"/>
                <a:t>2</a:t>
              </a:r>
            </a:p>
          </p:txBody>
        </p:sp>
        <p:sp>
          <p:nvSpPr>
            <p:cNvPr id="242693" name="Line 5"/>
            <p:cNvSpPr>
              <a:spLocks noChangeShapeType="1"/>
            </p:cNvSpPr>
            <p:nvPr/>
          </p:nvSpPr>
          <p:spPr bwMode="auto">
            <a:xfrm>
              <a:off x="1056" y="2109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694" name="Rectangle 6"/>
            <p:cNvSpPr>
              <a:spLocks noChangeArrowheads="1"/>
            </p:cNvSpPr>
            <p:nvPr/>
          </p:nvSpPr>
          <p:spPr bwMode="auto">
            <a:xfrm>
              <a:off x="1728" y="2109"/>
              <a:ext cx="105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进程</a:t>
              </a:r>
              <a:r>
                <a:rPr lang="en-US" altLang="zh-CN" sz="1800" b="1"/>
                <a:t>n  </a:t>
              </a:r>
              <a:r>
                <a:rPr lang="zh-CN" altLang="en-US" sz="1800" b="1"/>
                <a:t>实时进程</a:t>
              </a:r>
            </a:p>
          </p:txBody>
        </p:sp>
        <p:sp>
          <p:nvSpPr>
            <p:cNvPr id="242695" name="Line 7"/>
            <p:cNvSpPr>
              <a:spLocks noChangeShapeType="1"/>
            </p:cNvSpPr>
            <p:nvPr/>
          </p:nvSpPr>
          <p:spPr bwMode="auto">
            <a:xfrm>
              <a:off x="2784" y="2109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696" name="Line 8"/>
            <p:cNvSpPr>
              <a:spLocks noChangeShapeType="1"/>
            </p:cNvSpPr>
            <p:nvPr/>
          </p:nvSpPr>
          <p:spPr bwMode="auto">
            <a:xfrm>
              <a:off x="2160" y="2109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697" name="Line 9"/>
            <p:cNvSpPr>
              <a:spLocks noChangeShapeType="1"/>
            </p:cNvSpPr>
            <p:nvPr/>
          </p:nvSpPr>
          <p:spPr bwMode="auto">
            <a:xfrm>
              <a:off x="528" y="2109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698" name="Text Box 10"/>
            <p:cNvSpPr txBox="1">
              <a:spLocks noChangeArrowheads="1"/>
            </p:cNvSpPr>
            <p:nvPr/>
          </p:nvSpPr>
          <p:spPr bwMode="auto">
            <a:xfrm>
              <a:off x="1008" y="2391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调度时间</a:t>
              </a:r>
            </a:p>
          </p:txBody>
        </p:sp>
        <p:sp>
          <p:nvSpPr>
            <p:cNvPr id="242699" name="Line 11"/>
            <p:cNvSpPr>
              <a:spLocks noChangeShapeType="1"/>
            </p:cNvSpPr>
            <p:nvPr/>
          </p:nvSpPr>
          <p:spPr bwMode="auto">
            <a:xfrm>
              <a:off x="1728" y="249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0" name="Line 12"/>
            <p:cNvSpPr>
              <a:spLocks noChangeShapeType="1"/>
            </p:cNvSpPr>
            <p:nvPr/>
          </p:nvSpPr>
          <p:spPr bwMode="auto">
            <a:xfrm>
              <a:off x="528" y="249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1" name="Line 13"/>
            <p:cNvSpPr>
              <a:spLocks noChangeShapeType="1"/>
            </p:cNvSpPr>
            <p:nvPr/>
          </p:nvSpPr>
          <p:spPr bwMode="auto">
            <a:xfrm>
              <a:off x="816" y="191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2" name="Text Box 14"/>
            <p:cNvSpPr txBox="1">
              <a:spLocks noChangeArrowheads="1"/>
            </p:cNvSpPr>
            <p:nvPr/>
          </p:nvSpPr>
          <p:spPr bwMode="auto">
            <a:xfrm>
              <a:off x="288" y="171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实时进程要求调度</a:t>
              </a:r>
            </a:p>
          </p:txBody>
        </p:sp>
        <p:sp>
          <p:nvSpPr>
            <p:cNvPr id="242703" name="Line 15"/>
            <p:cNvSpPr>
              <a:spLocks noChangeShapeType="1"/>
            </p:cNvSpPr>
            <p:nvPr/>
          </p:nvSpPr>
          <p:spPr bwMode="auto">
            <a:xfrm>
              <a:off x="2160" y="19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4" name="Text Box 16"/>
            <p:cNvSpPr txBox="1">
              <a:spLocks noChangeArrowheads="1"/>
            </p:cNvSpPr>
            <p:nvPr/>
          </p:nvSpPr>
          <p:spPr bwMode="auto">
            <a:xfrm>
              <a:off x="1662" y="171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调度实时进程运行</a:t>
              </a:r>
            </a:p>
          </p:txBody>
        </p:sp>
        <p:sp>
          <p:nvSpPr>
            <p:cNvPr id="242705" name="Text Box 17"/>
            <p:cNvSpPr txBox="1">
              <a:spLocks noChangeArrowheads="1"/>
            </p:cNvSpPr>
            <p:nvPr/>
          </p:nvSpPr>
          <p:spPr bwMode="auto">
            <a:xfrm>
              <a:off x="816" y="2622"/>
              <a:ext cx="12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</a:rPr>
                <a:t>非抢占轮转调度</a:t>
              </a:r>
            </a:p>
          </p:txBody>
        </p:sp>
      </p:grpSp>
      <p:grpSp>
        <p:nvGrpSpPr>
          <p:cNvPr id="242742" name="Group 54"/>
          <p:cNvGrpSpPr>
            <a:grpSpLocks/>
          </p:cNvGrpSpPr>
          <p:nvPr/>
        </p:nvGrpSpPr>
        <p:grpSpPr bwMode="auto">
          <a:xfrm>
            <a:off x="4572000" y="2457450"/>
            <a:ext cx="3810000" cy="2071688"/>
            <a:chOff x="2880" y="1548"/>
            <a:chExt cx="2400" cy="1305"/>
          </a:xfrm>
        </p:grpSpPr>
        <p:sp>
          <p:nvSpPr>
            <p:cNvPr id="242706" name="Rectangle 18"/>
            <p:cNvSpPr>
              <a:spLocks noChangeArrowheads="1"/>
            </p:cNvSpPr>
            <p:nvPr/>
          </p:nvSpPr>
          <p:spPr bwMode="auto">
            <a:xfrm>
              <a:off x="3264" y="2094"/>
              <a:ext cx="1872" cy="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当前进程             实时进程</a:t>
              </a:r>
            </a:p>
          </p:txBody>
        </p:sp>
        <p:sp>
          <p:nvSpPr>
            <p:cNvPr id="242707" name="Line 19"/>
            <p:cNvSpPr>
              <a:spLocks noChangeShapeType="1"/>
            </p:cNvSpPr>
            <p:nvPr/>
          </p:nvSpPr>
          <p:spPr bwMode="auto">
            <a:xfrm>
              <a:off x="5136" y="2097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8" name="Line 20"/>
            <p:cNvSpPr>
              <a:spLocks noChangeShapeType="1"/>
            </p:cNvSpPr>
            <p:nvPr/>
          </p:nvSpPr>
          <p:spPr bwMode="auto">
            <a:xfrm>
              <a:off x="4404" y="2094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09" name="Line 21"/>
            <p:cNvSpPr>
              <a:spLocks noChangeShapeType="1"/>
            </p:cNvSpPr>
            <p:nvPr/>
          </p:nvSpPr>
          <p:spPr bwMode="auto">
            <a:xfrm>
              <a:off x="3648" y="1743"/>
              <a:ext cx="0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10" name="Text Box 22"/>
            <p:cNvSpPr txBox="1">
              <a:spLocks noChangeArrowheads="1"/>
            </p:cNvSpPr>
            <p:nvPr/>
          </p:nvSpPr>
          <p:spPr bwMode="auto">
            <a:xfrm>
              <a:off x="2880" y="1548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实时进程要求调度</a:t>
              </a:r>
            </a:p>
          </p:txBody>
        </p:sp>
        <p:sp>
          <p:nvSpPr>
            <p:cNvPr id="242711" name="Line 23"/>
            <p:cNvSpPr>
              <a:spLocks noChangeShapeType="1"/>
            </p:cNvSpPr>
            <p:nvPr/>
          </p:nvSpPr>
          <p:spPr bwMode="auto">
            <a:xfrm>
              <a:off x="4398" y="19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12" name="Text Box 24"/>
            <p:cNvSpPr txBox="1">
              <a:spLocks noChangeArrowheads="1"/>
            </p:cNvSpPr>
            <p:nvPr/>
          </p:nvSpPr>
          <p:spPr bwMode="auto">
            <a:xfrm>
              <a:off x="3984" y="171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当前进程运行完成</a:t>
              </a:r>
            </a:p>
          </p:txBody>
        </p:sp>
        <p:sp>
          <p:nvSpPr>
            <p:cNvPr id="242713" name="Line 25"/>
            <p:cNvSpPr>
              <a:spLocks noChangeShapeType="1"/>
            </p:cNvSpPr>
            <p:nvPr/>
          </p:nvSpPr>
          <p:spPr bwMode="auto">
            <a:xfrm>
              <a:off x="3648" y="2343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14" name="Text Box 26"/>
            <p:cNvSpPr txBox="1">
              <a:spLocks noChangeArrowheads="1"/>
            </p:cNvSpPr>
            <p:nvPr/>
          </p:nvSpPr>
          <p:spPr bwMode="auto">
            <a:xfrm>
              <a:off x="3732" y="2373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调度时间</a:t>
              </a:r>
            </a:p>
          </p:txBody>
        </p:sp>
        <p:sp>
          <p:nvSpPr>
            <p:cNvPr id="242715" name="Text Box 27"/>
            <p:cNvSpPr txBox="1">
              <a:spLocks noChangeArrowheads="1"/>
            </p:cNvSpPr>
            <p:nvPr/>
          </p:nvSpPr>
          <p:spPr bwMode="auto">
            <a:xfrm>
              <a:off x="3504" y="2622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</a:rPr>
                <a:t>非抢占优先权调度</a:t>
              </a:r>
            </a:p>
          </p:txBody>
        </p:sp>
      </p:grpSp>
      <p:grpSp>
        <p:nvGrpSpPr>
          <p:cNvPr id="242741" name="Group 53"/>
          <p:cNvGrpSpPr>
            <a:grpSpLocks/>
          </p:cNvGrpSpPr>
          <p:nvPr/>
        </p:nvGrpSpPr>
        <p:grpSpPr bwMode="auto">
          <a:xfrm>
            <a:off x="533400" y="4638675"/>
            <a:ext cx="3962400" cy="1995488"/>
            <a:chOff x="336" y="2922"/>
            <a:chExt cx="2496" cy="1257"/>
          </a:xfrm>
        </p:grpSpPr>
        <p:sp>
          <p:nvSpPr>
            <p:cNvPr id="242716" name="Rectangle 28"/>
            <p:cNvSpPr>
              <a:spLocks noChangeArrowheads="1"/>
            </p:cNvSpPr>
            <p:nvPr/>
          </p:nvSpPr>
          <p:spPr bwMode="auto">
            <a:xfrm>
              <a:off x="720" y="3468"/>
              <a:ext cx="1872" cy="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当前进程             实时进程</a:t>
              </a:r>
            </a:p>
          </p:txBody>
        </p:sp>
        <p:sp>
          <p:nvSpPr>
            <p:cNvPr id="242717" name="Line 29"/>
            <p:cNvSpPr>
              <a:spLocks noChangeShapeType="1"/>
            </p:cNvSpPr>
            <p:nvPr/>
          </p:nvSpPr>
          <p:spPr bwMode="auto">
            <a:xfrm>
              <a:off x="2592" y="3471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18" name="Line 30"/>
            <p:cNvSpPr>
              <a:spLocks noChangeShapeType="1"/>
            </p:cNvSpPr>
            <p:nvPr/>
          </p:nvSpPr>
          <p:spPr bwMode="auto">
            <a:xfrm>
              <a:off x="1860" y="3468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19" name="Line 31"/>
            <p:cNvSpPr>
              <a:spLocks noChangeShapeType="1"/>
            </p:cNvSpPr>
            <p:nvPr/>
          </p:nvSpPr>
          <p:spPr bwMode="auto">
            <a:xfrm>
              <a:off x="1104" y="3117"/>
              <a:ext cx="0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20" name="Text Box 32"/>
            <p:cNvSpPr txBox="1">
              <a:spLocks noChangeArrowheads="1"/>
            </p:cNvSpPr>
            <p:nvPr/>
          </p:nvSpPr>
          <p:spPr bwMode="auto">
            <a:xfrm>
              <a:off x="336" y="2922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实时进程要求调度</a:t>
              </a:r>
            </a:p>
          </p:txBody>
        </p:sp>
        <p:sp>
          <p:nvSpPr>
            <p:cNvPr id="242721" name="Line 33"/>
            <p:cNvSpPr>
              <a:spLocks noChangeShapeType="1"/>
            </p:cNvSpPr>
            <p:nvPr/>
          </p:nvSpPr>
          <p:spPr bwMode="auto">
            <a:xfrm>
              <a:off x="1854" y="328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22" name="Text Box 34"/>
            <p:cNvSpPr txBox="1">
              <a:spLocks noChangeArrowheads="1"/>
            </p:cNvSpPr>
            <p:nvPr/>
          </p:nvSpPr>
          <p:spPr bwMode="auto">
            <a:xfrm>
              <a:off x="1440" y="3084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时钟中断到来时</a:t>
              </a:r>
            </a:p>
          </p:txBody>
        </p:sp>
        <p:sp>
          <p:nvSpPr>
            <p:cNvPr id="242723" name="Line 35"/>
            <p:cNvSpPr>
              <a:spLocks noChangeShapeType="1"/>
            </p:cNvSpPr>
            <p:nvPr/>
          </p:nvSpPr>
          <p:spPr bwMode="auto">
            <a:xfrm>
              <a:off x="1104" y="371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24" name="Text Box 36"/>
            <p:cNvSpPr txBox="1">
              <a:spLocks noChangeArrowheads="1"/>
            </p:cNvSpPr>
            <p:nvPr/>
          </p:nvSpPr>
          <p:spPr bwMode="auto">
            <a:xfrm>
              <a:off x="1188" y="3747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调度时间</a:t>
              </a:r>
            </a:p>
          </p:txBody>
        </p:sp>
        <p:sp>
          <p:nvSpPr>
            <p:cNvPr id="242725" name="Text Box 37"/>
            <p:cNvSpPr txBox="1">
              <a:spLocks noChangeArrowheads="1"/>
            </p:cNvSpPr>
            <p:nvPr/>
          </p:nvSpPr>
          <p:spPr bwMode="auto">
            <a:xfrm>
              <a:off x="405" y="3948"/>
              <a:ext cx="24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</a:rPr>
                <a:t>基于时钟中断抢占的优先权抢占调度</a:t>
              </a:r>
            </a:p>
          </p:txBody>
        </p:sp>
      </p:grpSp>
      <p:grpSp>
        <p:nvGrpSpPr>
          <p:cNvPr id="242740" name="Group 52"/>
          <p:cNvGrpSpPr>
            <a:grpSpLocks/>
          </p:cNvGrpSpPr>
          <p:nvPr/>
        </p:nvGrpSpPr>
        <p:grpSpPr bwMode="auto">
          <a:xfrm>
            <a:off x="4724400" y="4619625"/>
            <a:ext cx="4114800" cy="1995488"/>
            <a:chOff x="2976" y="2910"/>
            <a:chExt cx="2592" cy="1257"/>
          </a:xfrm>
        </p:grpSpPr>
        <p:sp>
          <p:nvSpPr>
            <p:cNvPr id="242726" name="Rectangle 38"/>
            <p:cNvSpPr>
              <a:spLocks noChangeArrowheads="1"/>
            </p:cNvSpPr>
            <p:nvPr/>
          </p:nvSpPr>
          <p:spPr bwMode="auto">
            <a:xfrm>
              <a:off x="3360" y="3456"/>
              <a:ext cx="1872" cy="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当前进程             实时进程</a:t>
              </a:r>
            </a:p>
          </p:txBody>
        </p:sp>
        <p:sp>
          <p:nvSpPr>
            <p:cNvPr id="242727" name="Line 39"/>
            <p:cNvSpPr>
              <a:spLocks noChangeShapeType="1"/>
            </p:cNvSpPr>
            <p:nvPr/>
          </p:nvSpPr>
          <p:spPr bwMode="auto">
            <a:xfrm>
              <a:off x="5232" y="3459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28" name="Line 40"/>
            <p:cNvSpPr>
              <a:spLocks noChangeShapeType="1"/>
            </p:cNvSpPr>
            <p:nvPr/>
          </p:nvSpPr>
          <p:spPr bwMode="auto">
            <a:xfrm>
              <a:off x="4500" y="3456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29" name="Line 41"/>
            <p:cNvSpPr>
              <a:spLocks noChangeShapeType="1"/>
            </p:cNvSpPr>
            <p:nvPr/>
          </p:nvSpPr>
          <p:spPr bwMode="auto">
            <a:xfrm>
              <a:off x="3840" y="3105"/>
              <a:ext cx="0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30" name="Text Box 42"/>
            <p:cNvSpPr txBox="1">
              <a:spLocks noChangeArrowheads="1"/>
            </p:cNvSpPr>
            <p:nvPr/>
          </p:nvSpPr>
          <p:spPr bwMode="auto">
            <a:xfrm>
              <a:off x="2976" y="291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实时进程要求调度</a:t>
              </a:r>
            </a:p>
          </p:txBody>
        </p:sp>
        <p:sp>
          <p:nvSpPr>
            <p:cNvPr id="242731" name="Line 43"/>
            <p:cNvSpPr>
              <a:spLocks noChangeShapeType="1"/>
            </p:cNvSpPr>
            <p:nvPr/>
          </p:nvSpPr>
          <p:spPr bwMode="auto">
            <a:xfrm>
              <a:off x="4494" y="327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32" name="Text Box 44"/>
            <p:cNvSpPr txBox="1">
              <a:spLocks noChangeArrowheads="1"/>
            </p:cNvSpPr>
            <p:nvPr/>
          </p:nvSpPr>
          <p:spPr bwMode="auto">
            <a:xfrm>
              <a:off x="4272" y="2928"/>
              <a:ext cx="1296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/>
                <a:t>实时进程抢占当前进程，并立即执行</a:t>
              </a:r>
            </a:p>
          </p:txBody>
        </p:sp>
        <p:sp>
          <p:nvSpPr>
            <p:cNvPr id="242733" name="Line 45"/>
            <p:cNvSpPr>
              <a:spLocks noChangeShapeType="1"/>
            </p:cNvSpPr>
            <p:nvPr/>
          </p:nvSpPr>
          <p:spPr bwMode="auto">
            <a:xfrm>
              <a:off x="3840" y="3705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734" name="Text Box 46"/>
            <p:cNvSpPr txBox="1">
              <a:spLocks noChangeArrowheads="1"/>
            </p:cNvSpPr>
            <p:nvPr/>
          </p:nvSpPr>
          <p:spPr bwMode="auto">
            <a:xfrm>
              <a:off x="3828" y="373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调度时间</a:t>
              </a:r>
            </a:p>
          </p:txBody>
        </p:sp>
        <p:sp>
          <p:nvSpPr>
            <p:cNvPr id="242735" name="Text Box 47"/>
            <p:cNvSpPr txBox="1">
              <a:spLocks noChangeArrowheads="1"/>
            </p:cNvSpPr>
            <p:nvPr/>
          </p:nvSpPr>
          <p:spPr bwMode="auto">
            <a:xfrm>
              <a:off x="3456" y="3936"/>
              <a:ext cx="16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</a:rPr>
                <a:t>立即抢占的优先权调度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4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4148-163C-470F-AFEE-1019574224A6}" type="slidenum">
              <a:rPr lang="en-US" altLang="zh-CN"/>
              <a:pPr/>
              <a:t>55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实时调度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34350" cy="3886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dirty="0" smtClean="0">
                <a:solidFill>
                  <a:srgbClr val="006600"/>
                </a:solidFill>
              </a:rPr>
              <a:t>实时</a:t>
            </a:r>
            <a:r>
              <a:rPr lang="zh-CN" altLang="en-US" dirty="0">
                <a:solidFill>
                  <a:srgbClr val="006600"/>
                </a:solidFill>
              </a:rPr>
              <a:t>调度的特点</a:t>
            </a:r>
            <a:endParaRPr lang="zh-CN" altLang="en-US" dirty="0">
              <a:solidFill>
                <a:srgbClr val="FF3300"/>
              </a:solidFill>
            </a:endParaRPr>
          </a:p>
          <a:p>
            <a:pPr marL="819150" lvl="1" indent="-342900">
              <a:lnSpc>
                <a:spcPct val="120000"/>
              </a:lnSpc>
              <a:tabLst>
                <a:tab pos="4667250" algn="l"/>
              </a:tabLst>
            </a:pPr>
            <a:r>
              <a:rPr lang="zh-CN" altLang="en-US" dirty="0">
                <a:solidFill>
                  <a:schemeClr val="accent2"/>
                </a:solidFill>
              </a:rPr>
              <a:t>快速中断响应</a:t>
            </a:r>
            <a:r>
              <a:rPr lang="zh-CN" altLang="en-US" dirty="0"/>
              <a:t>，在中断处理时（硬件）关中断的时间尽量短</a:t>
            </a:r>
            <a:r>
              <a:rPr lang="zh-CN" altLang="en-US" dirty="0">
                <a:solidFill>
                  <a:schemeClr val="accent2"/>
                </a:solidFill>
              </a:rPr>
              <a:t>；</a:t>
            </a:r>
          </a:p>
          <a:p>
            <a:pPr marL="819150" lvl="1" indent="-342900">
              <a:lnSpc>
                <a:spcPct val="120000"/>
              </a:lnSpc>
              <a:tabLst>
                <a:tab pos="4667250" algn="l"/>
              </a:tabLst>
            </a:pPr>
            <a:r>
              <a:rPr lang="zh-CN" altLang="en-US" dirty="0">
                <a:solidFill>
                  <a:schemeClr val="accent2"/>
                </a:solidFill>
              </a:rPr>
              <a:t>快速上下文切换</a:t>
            </a:r>
            <a:r>
              <a:rPr lang="zh-CN" altLang="en-US" dirty="0"/>
              <a:t>：相应地采用较小的调度单位（如线程）。</a:t>
            </a:r>
          </a:p>
        </p:txBody>
      </p:sp>
    </p:spTree>
    <p:extLst>
      <p:ext uri="{BB962C8B-B14F-4D97-AF65-F5344CB8AC3E}">
        <p14:creationId xmlns:p14="http://schemas.microsoft.com/office/powerpoint/2010/main" val="269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04D7E-20E3-4F97-A778-A4388171F4B4}" type="slidenum">
              <a:rPr lang="en-US" altLang="zh-CN"/>
              <a:pPr/>
              <a:t>56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实时调度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51816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4667250" algn="l"/>
              </a:tabLst>
            </a:pPr>
            <a:r>
              <a:rPr lang="zh-CN" altLang="en-US" sz="2800" dirty="0" smtClean="0">
                <a:solidFill>
                  <a:srgbClr val="006600"/>
                </a:solidFill>
              </a:rPr>
              <a:t>实时</a:t>
            </a:r>
            <a:r>
              <a:rPr lang="zh-CN" altLang="en-US" sz="2800" dirty="0">
                <a:solidFill>
                  <a:srgbClr val="006600"/>
                </a:solidFill>
              </a:rPr>
              <a:t>调度</a:t>
            </a:r>
            <a:r>
              <a:rPr lang="zh-CN" altLang="en-US" sz="2800" dirty="0" smtClean="0">
                <a:solidFill>
                  <a:srgbClr val="006600"/>
                </a:solidFill>
              </a:rPr>
              <a:t>算法</a:t>
            </a:r>
            <a:endParaRPr lang="zh-CN" altLang="en-US" sz="2800" dirty="0" smtClean="0">
              <a:solidFill>
                <a:srgbClr val="FF3300"/>
              </a:solidFill>
            </a:endParaRPr>
          </a:p>
          <a:p>
            <a:pPr marL="819150" lvl="1" indent="-34290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400" dirty="0" smtClean="0">
                <a:solidFill>
                  <a:schemeClr val="accent2"/>
                </a:solidFill>
              </a:rPr>
              <a:t>静态表驱动调度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Static table-driven scheduling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）</a:t>
            </a:r>
            <a:r>
              <a:rPr lang="zh-CN" altLang="en-US" sz="2400" dirty="0" smtClean="0"/>
              <a:t>；</a:t>
            </a:r>
          </a:p>
          <a:p>
            <a:pPr marL="819150" lvl="1" indent="-34290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400" dirty="0" smtClean="0">
                <a:solidFill>
                  <a:schemeClr val="accent2"/>
                </a:solidFill>
              </a:rPr>
              <a:t>静态</a:t>
            </a:r>
            <a:r>
              <a:rPr lang="zh-CN" altLang="en-US" sz="2400" dirty="0">
                <a:solidFill>
                  <a:schemeClr val="accent2"/>
                </a:solidFill>
              </a:rPr>
              <a:t>优先级驱动的剥夺调度</a:t>
            </a:r>
            <a:r>
              <a:rPr lang="zh-CN" altLang="en-US" sz="2400" dirty="0"/>
              <a:t>（</a:t>
            </a:r>
            <a:r>
              <a:rPr lang="en-US" altLang="zh-CN" sz="2400" dirty="0"/>
              <a:t>Static priority-driven preemptive scheduling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zh-CN" altLang="en-US" sz="2400" dirty="0">
                <a:solidFill>
                  <a:schemeClr val="accent2"/>
                </a:solidFill>
              </a:rPr>
              <a:t>）</a:t>
            </a:r>
            <a:r>
              <a:rPr lang="zh-CN" altLang="en-US" sz="2400" dirty="0"/>
              <a:t>；</a:t>
            </a:r>
          </a:p>
          <a:p>
            <a:pPr marL="819150" lvl="1" indent="-34290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动态分析调度算法</a:t>
            </a:r>
            <a:r>
              <a:rPr lang="zh-CN" altLang="en-US" sz="2400" dirty="0"/>
              <a:t>（</a:t>
            </a:r>
            <a:r>
              <a:rPr lang="en-US" altLang="zh-CN" sz="2400" dirty="0"/>
              <a:t>Dynamic planning-based scheduling 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chemeClr val="accent2"/>
                </a:solidFill>
              </a:rPr>
              <a:t>；</a:t>
            </a:r>
          </a:p>
          <a:p>
            <a:pPr marL="819150" lvl="1" indent="-342900">
              <a:lnSpc>
                <a:spcPct val="12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无保障动态调度算法</a:t>
            </a:r>
            <a:r>
              <a:rPr lang="zh-CN" altLang="en-US" sz="2400" dirty="0"/>
              <a:t>（动态最大努力调度</a:t>
            </a:r>
            <a:r>
              <a:rPr lang="en-US" altLang="zh-CN" sz="2400" dirty="0"/>
              <a:t>Dynamic best effort scheduling </a:t>
            </a:r>
            <a:r>
              <a:rPr lang="zh-CN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63903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分级调度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作业调度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进程调度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调度算法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实时调度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多处理机</a:t>
            </a:r>
            <a:r>
              <a:rPr lang="zh-CN" altLang="en-US" dirty="0" smtClean="0">
                <a:solidFill>
                  <a:srgbClr val="FFC000"/>
                </a:solidFill>
              </a:rPr>
              <a:t>调度（非重点）</a:t>
            </a:r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C289-6046-4AAA-8BA3-1288F0A07C0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CH06 CPU Scheduling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24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5AA54-6579-4734-8391-B3C2E1D2D9F9}" type="slidenum">
              <a:rPr lang="en-US" altLang="zh-CN"/>
              <a:pPr/>
              <a:t>58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多处理机调度</a:t>
            </a:r>
            <a:endParaRPr lang="zh-CN" altLang="en-US" dirty="0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955" y="1281113"/>
            <a:ext cx="8134350" cy="5257800"/>
          </a:xfrm>
        </p:spPr>
        <p:txBody>
          <a:bodyPr>
            <a:normAutofit fontScale="92500" lnSpcReduction="10000"/>
          </a:bodyPr>
          <a:lstStyle/>
          <a:p>
            <a:pPr marL="285750" indent="-285750" algn="ctr">
              <a:lnSpc>
                <a:spcPct val="110000"/>
              </a:lnSpc>
              <a:spcBef>
                <a:spcPct val="25000"/>
              </a:spcBef>
              <a:buNone/>
              <a:tabLst>
                <a:tab pos="4667250" algn="l"/>
              </a:tabLst>
            </a:pPr>
            <a:r>
              <a:rPr lang="zh-CN" altLang="en-US" sz="3000" dirty="0" smtClean="0">
                <a:solidFill>
                  <a:srgbClr val="FF3300"/>
                </a:solidFill>
              </a:rPr>
              <a:t>多处理机调度（</a:t>
            </a:r>
            <a:r>
              <a:rPr lang="en-US" altLang="zh-CN" sz="3000" dirty="0" err="1">
                <a:solidFill>
                  <a:srgbClr val="FF3300"/>
                </a:solidFill>
              </a:rPr>
              <a:t>MultiProcessor</a:t>
            </a:r>
            <a:r>
              <a:rPr lang="en-US" altLang="zh-CN" sz="3000" dirty="0">
                <a:solidFill>
                  <a:srgbClr val="FF3300"/>
                </a:solidFill>
              </a:rPr>
              <a:t> Scheduling</a:t>
            </a:r>
            <a:r>
              <a:rPr lang="zh-CN" altLang="en-US" sz="3000" dirty="0">
                <a:solidFill>
                  <a:srgbClr val="FF3300"/>
                </a:solidFill>
              </a:rPr>
              <a:t>）</a:t>
            </a:r>
          </a:p>
          <a:p>
            <a:pPr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sz="2600" dirty="0"/>
              <a:t>与</a:t>
            </a:r>
            <a:r>
              <a:rPr lang="zh-CN" altLang="en-US" sz="2600" dirty="0"/>
              <a:t>单处理机调度的区别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注重整体运行效率（而不是个别处理机的利用率；</a:t>
            </a:r>
            <a:endParaRPr lang="zh-CN" altLang="en-US" sz="3000" dirty="0"/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更多样的调度算法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多处理机访问</a:t>
            </a:r>
            <a:r>
              <a:rPr lang="en-US" altLang="zh-CN" dirty="0"/>
              <a:t>OS</a:t>
            </a:r>
            <a:r>
              <a:rPr lang="zh-CN" altLang="en-US" dirty="0"/>
              <a:t>数据结构时的互斥（对于共享内存系统）；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 smtClean="0"/>
              <a:t>调度单位广泛采用线程。</a:t>
            </a:r>
            <a:endParaRPr lang="en-US" altLang="zh-CN" dirty="0" smtClean="0"/>
          </a:p>
          <a:p>
            <a:pPr marL="285750" indent="-285750">
              <a:lnSpc>
                <a:spcPct val="110000"/>
              </a:lnSpc>
              <a:spcBef>
                <a:spcPct val="25000"/>
              </a:spcBef>
              <a:buFontTx/>
              <a:buNone/>
              <a:tabLst>
                <a:tab pos="4667250" algn="l"/>
              </a:tabLst>
            </a:pPr>
            <a:endParaRPr lang="zh-CN" altLang="en-US" dirty="0">
              <a:solidFill>
                <a:srgbClr val="FF3300"/>
              </a:solidFill>
            </a:endParaRPr>
          </a:p>
          <a:p>
            <a:pPr marL="228600" lvl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sz="2600" dirty="0"/>
              <a:t>根据各处理器是否相同，</a:t>
            </a:r>
            <a:r>
              <a:rPr lang="en-US" altLang="zh-CN" sz="2600" dirty="0"/>
              <a:t>MPS</a:t>
            </a:r>
            <a:r>
              <a:rPr lang="zh-CN" altLang="en-US" sz="2600" dirty="0"/>
              <a:t>可分为：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100" dirty="0"/>
              <a:t>对称多处理器系统</a:t>
            </a:r>
            <a:r>
              <a:rPr lang="en-US" altLang="zh-CN" sz="2100" dirty="0"/>
              <a:t>SMPS</a:t>
            </a:r>
            <a:r>
              <a:rPr lang="zh-CN" altLang="en-US" sz="2100" dirty="0"/>
              <a:t>（</a:t>
            </a:r>
            <a:r>
              <a:rPr lang="en-US" altLang="zh-CN" sz="2100" dirty="0"/>
              <a:t>Symmetric </a:t>
            </a:r>
            <a:r>
              <a:rPr lang="en-US" altLang="zh-CN" sz="2100" dirty="0" err="1"/>
              <a:t>MultiProcessor</a:t>
            </a:r>
            <a:r>
              <a:rPr lang="en-US" altLang="zh-CN" sz="2100" dirty="0"/>
              <a:t> System</a:t>
            </a:r>
            <a:r>
              <a:rPr lang="zh-CN" altLang="en-US" sz="2100" dirty="0"/>
              <a:t>）：系统所包含的各处理器单元，在功能和结构上都是相同的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100" dirty="0"/>
              <a:t>非对称多处理器系统</a:t>
            </a:r>
            <a:r>
              <a:rPr lang="en-US" altLang="zh-CN" sz="2100" dirty="0"/>
              <a:t>ASMP</a:t>
            </a:r>
            <a:r>
              <a:rPr lang="zh-CN" altLang="en-US" sz="2100" dirty="0"/>
              <a:t>（ </a:t>
            </a:r>
            <a:r>
              <a:rPr lang="en-US" altLang="zh-CN" sz="2100" dirty="0"/>
              <a:t>Asymmetric </a:t>
            </a:r>
            <a:r>
              <a:rPr lang="en-US" altLang="zh-CN" sz="2100" dirty="0" err="1"/>
              <a:t>MultiProcessor</a:t>
            </a:r>
            <a:r>
              <a:rPr lang="en-US" altLang="zh-CN" sz="2100" dirty="0"/>
              <a:t> </a:t>
            </a:r>
            <a:r>
              <a:rPr lang="zh-CN" altLang="en-US" sz="2100" dirty="0"/>
              <a:t>） ：系统中各处理器功能和结构不相同，其中包含一个主处理器，多个从处理器。</a:t>
            </a:r>
          </a:p>
          <a:p>
            <a:pPr marL="476250" lvl="1" indent="0">
              <a:lnSpc>
                <a:spcPct val="110000"/>
              </a:lnSpc>
              <a:spcBef>
                <a:spcPct val="25000"/>
              </a:spcBef>
              <a:buNone/>
              <a:tabLst>
                <a:tab pos="4667250" algn="l"/>
              </a:tabLs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263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C1E8-6B7F-48D6-9B26-4550112581C9}" type="slidenum">
              <a:rPr lang="en-US" altLang="zh-CN"/>
              <a:pPr/>
              <a:t>59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多处理机调度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530590" cy="5257800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4667250" algn="l"/>
              </a:tabLst>
            </a:pPr>
            <a:r>
              <a:rPr lang="zh-CN" altLang="en-US" sz="2000" dirty="0"/>
              <a:t>对称式多处理系统 </a:t>
            </a:r>
            <a:r>
              <a:rPr lang="en-US" altLang="zh-CN" sz="2000" dirty="0"/>
              <a:t>(SMP)</a:t>
            </a:r>
            <a:r>
              <a:rPr lang="zh-CN" altLang="en-US" sz="2000" dirty="0"/>
              <a:t>：</a:t>
            </a:r>
            <a:r>
              <a:rPr lang="zh-CN" altLang="en-US" sz="2000" dirty="0" smtClean="0"/>
              <a:t>按</a:t>
            </a:r>
            <a:r>
              <a:rPr lang="zh-CN" altLang="en-US" sz="2000" dirty="0"/>
              <a:t>控制方式，</a:t>
            </a:r>
            <a:r>
              <a:rPr lang="en-US" altLang="zh-CN" sz="2000" dirty="0"/>
              <a:t>SMP</a:t>
            </a:r>
            <a:r>
              <a:rPr lang="zh-CN" altLang="en-US" sz="2000" dirty="0"/>
              <a:t>调度算法可分为</a:t>
            </a:r>
            <a:r>
              <a:rPr lang="zh-CN" altLang="en-US" sz="2000" dirty="0">
                <a:solidFill>
                  <a:schemeClr val="accent2"/>
                </a:solidFill>
              </a:rPr>
              <a:t>集中控制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chemeClr val="accent2"/>
                </a:solidFill>
              </a:rPr>
              <a:t>分散控制</a:t>
            </a:r>
            <a:r>
              <a:rPr lang="zh-CN" altLang="en-US" sz="2000" dirty="0"/>
              <a:t>。静态和动态调度都是集中控制，而自调度是分散控制。</a:t>
            </a:r>
            <a:endParaRPr lang="zh-CN" altLang="en-US" sz="2000" dirty="0">
              <a:solidFill>
                <a:srgbClr val="FF3300"/>
              </a:solidFill>
            </a:endParaRPr>
          </a:p>
          <a:p>
            <a:pPr marL="857250" lvl="1" indent="-38100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dirty="0"/>
              <a:t>集中控制</a:t>
            </a:r>
          </a:p>
          <a:p>
            <a:pPr marL="1390650" lvl="2" indent="-34290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000" dirty="0">
                <a:solidFill>
                  <a:schemeClr val="accent2"/>
                </a:solidFill>
              </a:rPr>
              <a:t>静态分配</a:t>
            </a:r>
            <a:r>
              <a:rPr lang="en-US" altLang="zh-CN" sz="2000" dirty="0"/>
              <a:t>(static assignment)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chemeClr val="accent2"/>
                </a:solidFill>
              </a:rPr>
              <a:t>每个</a:t>
            </a:r>
            <a:r>
              <a:rPr lang="en-US" altLang="zh-CN" sz="2000" dirty="0">
                <a:solidFill>
                  <a:schemeClr val="accent2"/>
                </a:solidFill>
              </a:rPr>
              <a:t>CPU</a:t>
            </a:r>
            <a:r>
              <a:rPr lang="zh-CN" altLang="en-US" sz="2000" dirty="0">
                <a:solidFill>
                  <a:schemeClr val="accent2"/>
                </a:solidFill>
              </a:rPr>
              <a:t>设立一个就绪队列</a:t>
            </a:r>
            <a:r>
              <a:rPr lang="zh-CN" altLang="en-US" sz="2000" dirty="0"/>
              <a:t>，进程从开始执行到完成，</a:t>
            </a:r>
            <a:r>
              <a:rPr lang="zh-CN" altLang="en-US" sz="2000" dirty="0">
                <a:solidFill>
                  <a:schemeClr val="accent2"/>
                </a:solidFill>
              </a:rPr>
              <a:t>都在同一个</a:t>
            </a:r>
            <a:r>
              <a:rPr lang="en-US" altLang="zh-CN" sz="2000" dirty="0">
                <a:solidFill>
                  <a:schemeClr val="accent2"/>
                </a:solidFill>
              </a:rPr>
              <a:t>CPU</a:t>
            </a:r>
            <a:r>
              <a:rPr lang="zh-CN" altLang="en-US" sz="2000" dirty="0">
                <a:solidFill>
                  <a:schemeClr val="accent2"/>
                </a:solidFill>
              </a:rPr>
              <a:t>上</a:t>
            </a:r>
          </a:p>
          <a:p>
            <a:pPr marL="1809750" lvl="3" indent="-28575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1600" dirty="0"/>
              <a:t>优点：调度算法开销小</a:t>
            </a:r>
          </a:p>
          <a:p>
            <a:pPr marL="1809750" lvl="3" indent="-28575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1600" dirty="0"/>
              <a:t>缺点：容易出现忙闲不均</a:t>
            </a:r>
          </a:p>
          <a:p>
            <a:pPr marL="1390650" lvl="2" indent="-34290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sz="2000" dirty="0">
                <a:solidFill>
                  <a:schemeClr val="accent2"/>
                </a:solidFill>
              </a:rPr>
              <a:t>动态分配</a:t>
            </a:r>
            <a:r>
              <a:rPr lang="en-US" altLang="zh-CN" sz="2000" dirty="0"/>
              <a:t>(dynamic assignment)</a:t>
            </a:r>
            <a:r>
              <a:rPr lang="zh-CN" altLang="en-US" sz="2000" dirty="0"/>
              <a:t>：各个</a:t>
            </a:r>
            <a:r>
              <a:rPr lang="en-US" altLang="zh-CN" sz="2000" dirty="0"/>
              <a:t>CPU</a:t>
            </a:r>
            <a:r>
              <a:rPr lang="zh-CN" altLang="en-US" sz="2000" dirty="0"/>
              <a:t>采用一个</a:t>
            </a:r>
            <a:r>
              <a:rPr lang="zh-CN" altLang="en-US" sz="2000" dirty="0">
                <a:solidFill>
                  <a:schemeClr val="accent2"/>
                </a:solidFill>
              </a:rPr>
              <a:t>公共就绪队列</a:t>
            </a:r>
            <a:r>
              <a:rPr lang="zh-CN" altLang="en-US" sz="2000" dirty="0"/>
              <a:t>，队首进程每次分派到当前空闲的</a:t>
            </a:r>
            <a:r>
              <a:rPr lang="en-US" altLang="zh-CN" sz="2000" dirty="0"/>
              <a:t>CPU</a:t>
            </a:r>
            <a:r>
              <a:rPr lang="zh-CN" altLang="en-US" sz="2000" dirty="0"/>
              <a:t>上</a:t>
            </a:r>
            <a:r>
              <a:rPr lang="zh-CN" altLang="en-US" sz="2000" dirty="0" smtClean="0"/>
              <a:t>执行</a:t>
            </a:r>
            <a:endParaRPr lang="en-US" altLang="zh-CN" sz="2000" dirty="0" smtClean="0"/>
          </a:p>
          <a:p>
            <a:pPr marL="857250" lvl="1" indent="-38100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l"/>
              <a:tabLst>
                <a:tab pos="4667250" algn="l"/>
              </a:tabLst>
            </a:pPr>
            <a:r>
              <a:rPr lang="zh-CN" altLang="en-US" sz="2100" dirty="0"/>
              <a:t>分散控制</a:t>
            </a:r>
          </a:p>
          <a:p>
            <a:pPr marL="1333500" lvl="2" indent="-285750">
              <a:lnSpc>
                <a:spcPct val="11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>
                <a:solidFill>
                  <a:schemeClr val="accent2"/>
                </a:solidFill>
              </a:rPr>
              <a:t>自调度</a:t>
            </a:r>
            <a:r>
              <a:rPr lang="en-US" altLang="zh-CN" dirty="0"/>
              <a:t>(self-scheduling)</a:t>
            </a:r>
            <a:r>
              <a:rPr lang="zh-CN" altLang="en-US" dirty="0"/>
              <a:t>：各个</a:t>
            </a:r>
            <a:r>
              <a:rPr lang="en-US" altLang="zh-CN" dirty="0"/>
              <a:t>CPU</a:t>
            </a:r>
            <a:r>
              <a:rPr lang="zh-CN" altLang="en-US" dirty="0"/>
              <a:t>采用一个</a:t>
            </a:r>
            <a:r>
              <a:rPr lang="zh-CN" altLang="en-US" dirty="0">
                <a:solidFill>
                  <a:schemeClr val="accent2"/>
                </a:solidFill>
              </a:rPr>
              <a:t>公共</a:t>
            </a:r>
            <a:r>
              <a:rPr lang="zh-CN" altLang="en-US" dirty="0"/>
              <a:t>就绪队列，每个处理机都可以从队列中选择适当进程来执行。需要对就绪队列的数据结构进行</a:t>
            </a:r>
            <a:r>
              <a:rPr lang="zh-CN" altLang="en-US" dirty="0">
                <a:solidFill>
                  <a:schemeClr val="accent2"/>
                </a:solidFill>
              </a:rPr>
              <a:t>互斥访问控制</a:t>
            </a:r>
            <a:r>
              <a:rPr lang="zh-CN" altLang="en-US" dirty="0"/>
              <a:t>。它是最常用的算法，实现时易于移植采用单处理机的调度技术</a:t>
            </a:r>
            <a:endParaRPr lang="zh-CN" altLang="en-US" sz="2200" dirty="0">
              <a:solidFill>
                <a:schemeClr val="accent2"/>
              </a:solidFill>
            </a:endParaRPr>
          </a:p>
          <a:p>
            <a:pPr marL="1809750" lvl="3" indent="-285750">
              <a:lnSpc>
                <a:spcPct val="11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变型：</a:t>
            </a:r>
            <a:r>
              <a:rPr lang="en-US" altLang="zh-CN" dirty="0"/>
              <a:t>Mach OS</a:t>
            </a:r>
            <a:r>
              <a:rPr lang="zh-CN" altLang="en-US" dirty="0"/>
              <a:t>中局部和全局就绪队列相结合，其中局部就绪队列中的线程优先调度</a:t>
            </a:r>
          </a:p>
          <a:p>
            <a:pPr marL="1390650" lvl="2" indent="-342900"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58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2CF8-F01F-4D24-887D-51530B16D467}" type="slidenum">
              <a:rPr lang="en-US" altLang="zh-CN"/>
              <a:pPr/>
              <a:t>60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多处理机调度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3657600"/>
          </a:xfrm>
        </p:spPr>
        <p:txBody>
          <a:bodyPr/>
          <a:lstStyle/>
          <a:p>
            <a:pPr marL="285750" indent="-285750">
              <a:lnSpc>
                <a:spcPct val="110000"/>
              </a:lnSpc>
              <a:buFontTx/>
              <a:buNone/>
              <a:tabLst>
                <a:tab pos="4667250" algn="l"/>
              </a:tabLst>
            </a:pPr>
            <a:r>
              <a:rPr lang="zh-CN" altLang="en-US" dirty="0" smtClean="0">
                <a:solidFill>
                  <a:srgbClr val="006600"/>
                </a:solidFill>
              </a:rPr>
              <a:t>非对称</a:t>
            </a:r>
            <a:r>
              <a:rPr lang="zh-CN" altLang="en-US" dirty="0">
                <a:solidFill>
                  <a:srgbClr val="006600"/>
                </a:solidFill>
              </a:rPr>
              <a:t>式多处理系统</a:t>
            </a:r>
            <a:r>
              <a:rPr lang="en-US" altLang="zh-CN" sz="2000" dirty="0">
                <a:solidFill>
                  <a:srgbClr val="FF3300"/>
                </a:solidFill>
              </a:rPr>
              <a:t>(ASMP)</a:t>
            </a:r>
            <a:r>
              <a:rPr lang="zh-CN" altLang="en-US" dirty="0">
                <a:solidFill>
                  <a:srgbClr val="006600"/>
                </a:solidFill>
              </a:rPr>
              <a:t>的处理机调度</a:t>
            </a:r>
            <a:endParaRPr lang="zh-CN" altLang="en-US" sz="2400" dirty="0">
              <a:solidFill>
                <a:srgbClr val="006600"/>
              </a:solidFill>
            </a:endParaRPr>
          </a:p>
          <a:p>
            <a:pPr marL="857250" lvl="1" indent="-381000">
              <a:lnSpc>
                <a:spcPct val="11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主－从处理机系统，由</a:t>
            </a:r>
            <a:r>
              <a:rPr lang="zh-CN" altLang="en-US" dirty="0">
                <a:solidFill>
                  <a:schemeClr val="accent2"/>
                </a:solidFill>
              </a:rPr>
              <a:t>主处理机</a:t>
            </a:r>
            <a:r>
              <a:rPr lang="zh-CN" altLang="en-US" dirty="0"/>
              <a:t>管理一个公共就绪队列，并分派进程给</a:t>
            </a:r>
            <a:r>
              <a:rPr lang="zh-CN" altLang="en-US" dirty="0">
                <a:solidFill>
                  <a:schemeClr val="accent2"/>
                </a:solidFill>
              </a:rPr>
              <a:t>从处理机</a:t>
            </a:r>
            <a:r>
              <a:rPr lang="zh-CN" altLang="en-US" dirty="0"/>
              <a:t>执行</a:t>
            </a:r>
          </a:p>
          <a:p>
            <a:pPr marL="857250" lvl="1" indent="-381000">
              <a:lnSpc>
                <a:spcPct val="110000"/>
              </a:lnSpc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各个处理机有固定分工，如执行</a:t>
            </a:r>
            <a:r>
              <a:rPr lang="en-US" altLang="zh-CN" dirty="0"/>
              <a:t>OS</a:t>
            </a:r>
            <a:r>
              <a:rPr lang="zh-CN" altLang="en-US" dirty="0"/>
              <a:t>的系统功能，</a:t>
            </a:r>
            <a:r>
              <a:rPr lang="en-US" altLang="zh-CN" dirty="0"/>
              <a:t>I/O</a:t>
            </a:r>
            <a:r>
              <a:rPr lang="zh-CN" altLang="en-US" dirty="0"/>
              <a:t>处理，应用程序</a:t>
            </a:r>
          </a:p>
        </p:txBody>
      </p:sp>
      <p:grpSp>
        <p:nvGrpSpPr>
          <p:cNvPr id="233480" name="Group 8"/>
          <p:cNvGrpSpPr>
            <a:grpSpLocks/>
          </p:cNvGrpSpPr>
          <p:nvPr/>
        </p:nvGrpSpPr>
        <p:grpSpPr bwMode="auto">
          <a:xfrm>
            <a:off x="720349" y="3828288"/>
            <a:ext cx="7686675" cy="1531938"/>
            <a:chOff x="123" y="2976"/>
            <a:chExt cx="4983" cy="1187"/>
          </a:xfrm>
        </p:grpSpPr>
        <p:pic>
          <p:nvPicPr>
            <p:cNvPr id="233479" name="Picture 7" descr="wvne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" y="2976"/>
              <a:ext cx="1680" cy="1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3478" name="Picture 6" descr="wvne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976"/>
              <a:ext cx="1680" cy="1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3477" name="Picture 5" descr="wvne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6" y="2982"/>
              <a:ext cx="1680" cy="1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8035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FB90D-38CC-4A52-9D39-98D4C1E6099D}" type="slidenum">
              <a:rPr lang="en-US" altLang="zh-CN"/>
              <a:pPr/>
              <a:t>61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多处理机调度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5181600"/>
          </a:xfrm>
        </p:spPr>
        <p:txBody>
          <a:bodyPr/>
          <a:lstStyle/>
          <a:p>
            <a:pPr marL="285750" indent="-285750">
              <a:lnSpc>
                <a:spcPct val="110000"/>
              </a:lnSpc>
              <a:spcBef>
                <a:spcPct val="25000"/>
              </a:spcBef>
              <a:buFontTx/>
              <a:buNone/>
              <a:tabLst>
                <a:tab pos="4667250" algn="l"/>
              </a:tabLst>
            </a:pPr>
            <a:r>
              <a:rPr lang="zh-CN" altLang="en-US" sz="2800" dirty="0" smtClean="0">
                <a:solidFill>
                  <a:srgbClr val="006600"/>
                </a:solidFill>
              </a:rPr>
              <a:t>成组</a:t>
            </a:r>
            <a:r>
              <a:rPr lang="zh-CN" altLang="en-US" sz="2800" dirty="0">
                <a:solidFill>
                  <a:srgbClr val="006600"/>
                </a:solidFill>
              </a:rPr>
              <a:t>调度</a:t>
            </a:r>
            <a:r>
              <a:rPr lang="zh-CN" altLang="en-US" sz="2800" dirty="0"/>
              <a:t> </a:t>
            </a:r>
            <a:r>
              <a:rPr lang="en-US" altLang="zh-CN" sz="2400" dirty="0">
                <a:solidFill>
                  <a:srgbClr val="FF3300"/>
                </a:solidFill>
              </a:rPr>
              <a:t>(gang scheduling)</a:t>
            </a:r>
          </a:p>
          <a:p>
            <a:pPr marL="933450" lvl="1" indent="-4572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将一个进程中的一组线程，每次分派时同时分到一组处理机上执行，在剥夺处理机时也同时对这一组线程进行</a:t>
            </a:r>
          </a:p>
          <a:p>
            <a:pPr marL="933450" lvl="1" indent="-4572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优点</a:t>
            </a:r>
          </a:p>
          <a:p>
            <a:pPr marL="1390650" lvl="2" indent="-3429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通常这样的一组线程在应用逻辑上相互合作，成组调度</a:t>
            </a:r>
            <a:r>
              <a:rPr lang="zh-CN" altLang="en-US" dirty="0">
                <a:solidFill>
                  <a:schemeClr val="accent2"/>
                </a:solidFill>
              </a:rPr>
              <a:t>提高了这些线程的执行并行度</a:t>
            </a:r>
            <a:r>
              <a:rPr lang="zh-CN" altLang="en-US" dirty="0"/>
              <a:t>，有利于减少阻塞和加快推进速度，最终提高系统吞吐量</a:t>
            </a:r>
          </a:p>
          <a:p>
            <a:pPr marL="1390650" lvl="2" indent="-3429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p"/>
              <a:tabLst>
                <a:tab pos="4667250" algn="l"/>
              </a:tabLst>
            </a:pPr>
            <a:r>
              <a:rPr lang="zh-CN" altLang="en-US" dirty="0"/>
              <a:t>每次调度可以完成多个线程的分派，在系统内线程总数相同时能够</a:t>
            </a:r>
            <a:r>
              <a:rPr lang="zh-CN" altLang="en-US" dirty="0">
                <a:solidFill>
                  <a:schemeClr val="accent2"/>
                </a:solidFill>
              </a:rPr>
              <a:t>减少调度次数</a:t>
            </a:r>
            <a:r>
              <a:rPr lang="zh-CN" altLang="en-US" dirty="0"/>
              <a:t>，减少调度算法的开销</a:t>
            </a:r>
          </a:p>
        </p:txBody>
      </p:sp>
      <p:sp>
        <p:nvSpPr>
          <p:cNvPr id="235524" name="AutoShape 4"/>
          <p:cNvSpPr>
            <a:spLocks noChangeArrowheads="1"/>
          </p:cNvSpPr>
          <p:nvPr/>
        </p:nvSpPr>
        <p:spPr bwMode="auto">
          <a:xfrm>
            <a:off x="3886200" y="3886200"/>
            <a:ext cx="3998913" cy="1371600"/>
          </a:xfrm>
          <a:prstGeom prst="cloudCallout">
            <a:avLst>
              <a:gd name="adj1" fmla="val -59926"/>
              <a:gd name="adj2" fmla="val -91551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solidFill>
                  <a:srgbClr val="FFFF00"/>
                </a:solidFill>
              </a:rPr>
              <a:t>如何为应用程序分配处理器时间？</a:t>
            </a:r>
          </a:p>
        </p:txBody>
      </p:sp>
    </p:spTree>
    <p:extLst>
      <p:ext uri="{BB962C8B-B14F-4D97-AF65-F5344CB8AC3E}">
        <p14:creationId xmlns:p14="http://schemas.microsoft.com/office/powerpoint/2010/main" val="335996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6F000-49B1-4E3E-A3AE-E6BE53820FC4}" type="slidenum">
              <a:rPr lang="en-US" altLang="zh-CN"/>
              <a:pPr/>
              <a:t>62</a:t>
            </a:fld>
            <a:r>
              <a:rPr lang="en-US" altLang="zh-CN"/>
              <a:t>/</a:t>
            </a:r>
            <a:r>
              <a:rPr lang="en-US" altLang="zh-CN">
                <a:solidFill>
                  <a:srgbClr val="FF3300"/>
                </a:solidFill>
              </a:rPr>
              <a:t>85</a:t>
            </a: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多处理机调度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219200"/>
            <a:ext cx="8134350" cy="5181600"/>
          </a:xfrm>
        </p:spPr>
        <p:txBody>
          <a:bodyPr/>
          <a:lstStyle/>
          <a:p>
            <a:pPr marL="285750" indent="-285750">
              <a:lnSpc>
                <a:spcPct val="110000"/>
              </a:lnSpc>
              <a:spcBef>
                <a:spcPct val="25000"/>
              </a:spcBef>
              <a:buFontTx/>
              <a:buNone/>
              <a:tabLst>
                <a:tab pos="4667250" algn="l"/>
              </a:tabLst>
            </a:pPr>
            <a:r>
              <a:rPr lang="zh-CN" altLang="en-US" dirty="0" smtClean="0"/>
              <a:t>专用</a:t>
            </a:r>
            <a:r>
              <a:rPr lang="zh-CN" altLang="en-US" dirty="0"/>
              <a:t>处理机调度</a:t>
            </a:r>
            <a:r>
              <a:rPr lang="zh-CN" altLang="en-US" sz="2800" dirty="0"/>
              <a:t> </a:t>
            </a:r>
            <a:r>
              <a:rPr lang="en-US" altLang="zh-CN" sz="2000" dirty="0">
                <a:solidFill>
                  <a:srgbClr val="FF3300"/>
                </a:solidFill>
              </a:rPr>
              <a:t>(dedicated processor assignment)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为进程中的每个线程都固定分配一个</a:t>
            </a:r>
            <a:r>
              <a:rPr lang="en-US" altLang="zh-CN" dirty="0"/>
              <a:t>CPU</a:t>
            </a:r>
            <a:r>
              <a:rPr lang="zh-CN" altLang="en-US" dirty="0"/>
              <a:t>，直到该线程执行完成；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缺点：线程阻塞时，造成</a:t>
            </a:r>
            <a:r>
              <a:rPr lang="en-US" altLang="zh-CN" dirty="0"/>
              <a:t>CPU</a:t>
            </a:r>
            <a:r>
              <a:rPr lang="zh-CN" altLang="en-US" dirty="0"/>
              <a:t>的闲置；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优点：线程执行时不需切换，相应的开销可以大大减小，推进速度更快；</a:t>
            </a:r>
          </a:p>
          <a:p>
            <a:pPr marL="857250" lvl="1" indent="-381000">
              <a:lnSpc>
                <a:spcPct val="110000"/>
              </a:lnSpc>
              <a:spcBef>
                <a:spcPct val="25000"/>
              </a:spcBef>
              <a:tabLst>
                <a:tab pos="4667250" algn="l"/>
              </a:tabLst>
            </a:pPr>
            <a:r>
              <a:rPr lang="zh-CN" altLang="en-US" dirty="0"/>
              <a:t>适用场合：</a:t>
            </a:r>
            <a:r>
              <a:rPr lang="en-US" altLang="zh-CN" dirty="0"/>
              <a:t>CPU</a:t>
            </a:r>
            <a:r>
              <a:rPr lang="zh-CN" altLang="en-US" dirty="0"/>
              <a:t>数量众多的高度并行系统，单个</a:t>
            </a:r>
            <a:r>
              <a:rPr lang="en-US" altLang="zh-CN" dirty="0"/>
              <a:t>CPU</a:t>
            </a:r>
            <a:r>
              <a:rPr lang="zh-CN" altLang="en-US" dirty="0"/>
              <a:t>利用率已不太重要。</a:t>
            </a:r>
          </a:p>
        </p:txBody>
      </p:sp>
    </p:spTree>
    <p:extLst>
      <p:ext uri="{BB962C8B-B14F-4D97-AF65-F5344CB8AC3E}">
        <p14:creationId xmlns:p14="http://schemas.microsoft.com/office/powerpoint/2010/main" val="285129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1D89CC5-1E91-4B07-A49D-F0591162D17E}" type="slidenum">
              <a:rPr lang="zh-CN" altLang="en-US" smtClean="0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293890" name="Text Box 15"/>
          <p:cNvSpPr txBox="1">
            <a:spLocks noChangeArrowheads="1"/>
          </p:cNvSpPr>
          <p:nvPr/>
        </p:nvSpPr>
        <p:spPr bwMode="auto">
          <a:xfrm>
            <a:off x="304800" y="2781300"/>
            <a:ext cx="88392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6000">
                <a:solidFill>
                  <a:srgbClr val="3737C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谢谢！</a:t>
            </a:r>
            <a:endParaRPr lang="en-US" altLang="zh-CN" sz="6000">
              <a:solidFill>
                <a:srgbClr val="3737C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72450" y="-26988"/>
            <a:ext cx="958850" cy="895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93892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25" y="188913"/>
            <a:ext cx="26225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6593543"/>
      </p:ext>
    </p:extLst>
  </p:cSld>
  <p:clrMapOvr>
    <a:masterClrMapping/>
  </p:clrMapOvr>
  <p:transition advTm="3985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2670</TotalTime>
  <Words>4218</Words>
  <Application>Microsoft Office PowerPoint</Application>
  <PresentationFormat>全屏显示(4:3)</PresentationFormat>
  <Paragraphs>852</Paragraphs>
  <Slides>63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63</vt:i4>
      </vt:variant>
    </vt:vector>
  </HeadingPairs>
  <TitlesOfParts>
    <vt:vector size="77" baseType="lpstr">
      <vt:lpstr>华文仿宋</vt:lpstr>
      <vt:lpstr>华文新魏</vt:lpstr>
      <vt:lpstr>楷体</vt:lpstr>
      <vt:lpstr>宋体</vt:lpstr>
      <vt:lpstr>微软雅黑</vt:lpstr>
      <vt:lpstr>Arial</vt:lpstr>
      <vt:lpstr>Calibri</vt:lpstr>
      <vt:lpstr>Segoe UI Symbol</vt:lpstr>
      <vt:lpstr>Times New Roman</vt:lpstr>
      <vt:lpstr>Wingdings</vt:lpstr>
      <vt:lpstr>Office Theme</vt:lpstr>
      <vt:lpstr>Equation</vt:lpstr>
      <vt:lpstr>文档</vt:lpstr>
      <vt:lpstr>Microsoft 公式 3.0</vt:lpstr>
      <vt:lpstr>第6章  处理机调度</vt:lpstr>
      <vt:lpstr>本章主要内容</vt:lpstr>
      <vt:lpstr>本章主要内容</vt:lpstr>
      <vt:lpstr>处理机调度</vt:lpstr>
      <vt:lpstr>分级调度</vt:lpstr>
      <vt:lpstr>分级调度</vt:lpstr>
      <vt:lpstr>分级调度</vt:lpstr>
      <vt:lpstr>分级调度</vt:lpstr>
      <vt:lpstr>分级调度</vt:lpstr>
      <vt:lpstr>分级调度</vt:lpstr>
      <vt:lpstr>本章主要内容</vt:lpstr>
      <vt:lpstr>作业调度</vt:lpstr>
      <vt:lpstr>作业调度</vt:lpstr>
      <vt:lpstr>作业调度</vt:lpstr>
      <vt:lpstr>作业调度</vt:lpstr>
      <vt:lpstr>作业调度</vt:lpstr>
      <vt:lpstr>作业调度</vt:lpstr>
      <vt:lpstr>作业调度</vt:lpstr>
      <vt:lpstr>作业调度</vt:lpstr>
      <vt:lpstr>本章主要内容</vt:lpstr>
      <vt:lpstr>进程调度的功能</vt:lpstr>
      <vt:lpstr>触发调度的事件与原因</vt:lpstr>
      <vt:lpstr>本章主要内容</vt:lpstr>
      <vt:lpstr>调度算法</vt:lpstr>
      <vt:lpstr>先来先服务调度算法</vt:lpstr>
      <vt:lpstr>先来先服务调度算法</vt:lpstr>
      <vt:lpstr>时间片轮转算法</vt:lpstr>
      <vt:lpstr>时间片轮转算法</vt:lpstr>
      <vt:lpstr>短作业优先调度算法</vt:lpstr>
      <vt:lpstr>短作业优先调度算法</vt:lpstr>
      <vt:lpstr>SJF算法的变形</vt:lpstr>
      <vt:lpstr>最高响应比优先算法</vt:lpstr>
      <vt:lpstr>调度算法应用举例</vt:lpstr>
      <vt:lpstr>调度算法应用举例</vt:lpstr>
      <vt:lpstr>调度算法应用举例</vt:lpstr>
      <vt:lpstr>调度算法应用举例</vt:lpstr>
      <vt:lpstr>调度算法应用举例</vt:lpstr>
      <vt:lpstr>调度算法应用举例</vt:lpstr>
      <vt:lpstr>调度算法应用举例</vt:lpstr>
      <vt:lpstr>多级队列算法</vt:lpstr>
      <vt:lpstr>多级队列算法</vt:lpstr>
      <vt:lpstr>优先级调度算法</vt:lpstr>
      <vt:lpstr>优先级调度算法</vt:lpstr>
      <vt:lpstr>线性优先级调度(SRR)</vt:lpstr>
      <vt:lpstr>线性优先级调度(SRR)</vt:lpstr>
      <vt:lpstr>多级反馈队列算法</vt:lpstr>
      <vt:lpstr>多级反馈队列算法</vt:lpstr>
      <vt:lpstr>多级反馈队列算法</vt:lpstr>
      <vt:lpstr>多级反馈队列算法</vt:lpstr>
      <vt:lpstr>调度算法的性能指标</vt:lpstr>
      <vt:lpstr>本章主要内容</vt:lpstr>
      <vt:lpstr>实时调度</vt:lpstr>
      <vt:lpstr>实时调度</vt:lpstr>
      <vt:lpstr>实时调度</vt:lpstr>
      <vt:lpstr>实时调度</vt:lpstr>
      <vt:lpstr>实时调度</vt:lpstr>
      <vt:lpstr>本章主要内容</vt:lpstr>
      <vt:lpstr>多处理机调度</vt:lpstr>
      <vt:lpstr>多处理机调度</vt:lpstr>
      <vt:lpstr>多处理机调度</vt:lpstr>
      <vt:lpstr>多处理机调度</vt:lpstr>
      <vt:lpstr>多处理机调度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  课程简介</dc:title>
  <dc:creator>Mingsong Lu</dc:creator>
  <cp:lastModifiedBy>zhuzongwei1988@outlook.com</cp:lastModifiedBy>
  <cp:revision>383</cp:revision>
  <dcterms:created xsi:type="dcterms:W3CDTF">2015-03-10T09:46:44Z</dcterms:created>
  <dcterms:modified xsi:type="dcterms:W3CDTF">2018-08-03T04:41:43Z</dcterms:modified>
</cp:coreProperties>
</file>