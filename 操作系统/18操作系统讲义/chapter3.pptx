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0"/>
  </p:notesMasterIdLst>
  <p:sldIdLst>
    <p:sldId id="256" r:id="rId2"/>
    <p:sldId id="286" r:id="rId3"/>
    <p:sldId id="288" r:id="rId4"/>
    <p:sldId id="289" r:id="rId5"/>
    <p:sldId id="290" r:id="rId6"/>
    <p:sldId id="291" r:id="rId7"/>
    <p:sldId id="292"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417" r:id="rId40"/>
    <p:sldId id="415" r:id="rId41"/>
    <p:sldId id="416" r:id="rId42"/>
    <p:sldId id="327" r:id="rId43"/>
    <p:sldId id="328" r:id="rId44"/>
    <p:sldId id="418" r:id="rId45"/>
    <p:sldId id="329" r:id="rId46"/>
    <p:sldId id="330" r:id="rId47"/>
    <p:sldId id="331" r:id="rId48"/>
    <p:sldId id="332" r:id="rId49"/>
    <p:sldId id="334" r:id="rId50"/>
    <p:sldId id="335" r:id="rId51"/>
    <p:sldId id="336" r:id="rId52"/>
    <p:sldId id="337" r:id="rId53"/>
    <p:sldId id="338" r:id="rId54"/>
    <p:sldId id="339" r:id="rId55"/>
    <p:sldId id="340" r:id="rId56"/>
    <p:sldId id="341" r:id="rId57"/>
    <p:sldId id="342" r:id="rId58"/>
    <p:sldId id="343" r:id="rId59"/>
    <p:sldId id="344" r:id="rId60"/>
    <p:sldId id="345" r:id="rId61"/>
    <p:sldId id="346" r:id="rId62"/>
    <p:sldId id="347" r:id="rId63"/>
    <p:sldId id="348" r:id="rId64"/>
    <p:sldId id="349" r:id="rId65"/>
    <p:sldId id="350" r:id="rId66"/>
    <p:sldId id="351" r:id="rId67"/>
    <p:sldId id="352" r:id="rId68"/>
    <p:sldId id="353" r:id="rId69"/>
    <p:sldId id="354" r:id="rId70"/>
    <p:sldId id="355" r:id="rId71"/>
    <p:sldId id="356" r:id="rId72"/>
    <p:sldId id="357" r:id="rId73"/>
    <p:sldId id="419" r:id="rId74"/>
    <p:sldId id="358" r:id="rId75"/>
    <p:sldId id="359" r:id="rId76"/>
    <p:sldId id="360" r:id="rId77"/>
    <p:sldId id="420" r:id="rId78"/>
    <p:sldId id="362" r:id="rId79"/>
    <p:sldId id="366" r:id="rId80"/>
    <p:sldId id="367" r:id="rId81"/>
    <p:sldId id="368" r:id="rId82"/>
    <p:sldId id="369" r:id="rId83"/>
    <p:sldId id="371" r:id="rId84"/>
    <p:sldId id="372" r:id="rId85"/>
    <p:sldId id="373" r:id="rId86"/>
    <p:sldId id="421" r:id="rId87"/>
    <p:sldId id="374" r:id="rId88"/>
    <p:sldId id="376" r:id="rId89"/>
    <p:sldId id="375" r:id="rId90"/>
    <p:sldId id="377" r:id="rId91"/>
    <p:sldId id="378" r:id="rId92"/>
    <p:sldId id="379" r:id="rId93"/>
    <p:sldId id="380" r:id="rId94"/>
    <p:sldId id="381" r:id="rId95"/>
    <p:sldId id="382" r:id="rId96"/>
    <p:sldId id="383" r:id="rId97"/>
    <p:sldId id="384" r:id="rId98"/>
    <p:sldId id="385" r:id="rId99"/>
    <p:sldId id="386" r:id="rId100"/>
    <p:sldId id="388" r:id="rId101"/>
    <p:sldId id="389" r:id="rId102"/>
    <p:sldId id="390" r:id="rId103"/>
    <p:sldId id="391" r:id="rId104"/>
    <p:sldId id="422" r:id="rId105"/>
    <p:sldId id="392" r:id="rId106"/>
    <p:sldId id="424" r:id="rId107"/>
    <p:sldId id="425" r:id="rId108"/>
    <p:sldId id="394" r:id="rId109"/>
    <p:sldId id="395" r:id="rId110"/>
    <p:sldId id="396" r:id="rId111"/>
    <p:sldId id="397" r:id="rId112"/>
    <p:sldId id="398" r:id="rId113"/>
    <p:sldId id="399" r:id="rId114"/>
    <p:sldId id="400" r:id="rId115"/>
    <p:sldId id="401" r:id="rId116"/>
    <p:sldId id="402" r:id="rId117"/>
    <p:sldId id="403" r:id="rId118"/>
    <p:sldId id="404" r:id="rId119"/>
    <p:sldId id="405" r:id="rId120"/>
    <p:sldId id="406" r:id="rId121"/>
    <p:sldId id="407" r:id="rId122"/>
    <p:sldId id="408" r:id="rId123"/>
    <p:sldId id="409" r:id="rId124"/>
    <p:sldId id="410" r:id="rId125"/>
    <p:sldId id="411" r:id="rId126"/>
    <p:sldId id="412" r:id="rId127"/>
    <p:sldId id="413" r:id="rId128"/>
    <p:sldId id="426" r:id="rId129"/>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5" autoAdjust="0"/>
    <p:restoredTop sz="84606" autoAdjust="0"/>
  </p:normalViewPr>
  <p:slideViewPr>
    <p:cSldViewPr snapToGrid="0">
      <p:cViewPr varScale="1">
        <p:scale>
          <a:sx n="75" d="100"/>
          <a:sy n="75" d="100"/>
        </p:scale>
        <p:origin x="167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2EE82BA1-E2D1-46E6-8340-747B43510923}" type="datetimeFigureOut">
              <a:rPr lang="zh-CN" altLang="en-US" smtClean="0"/>
              <a:pPr/>
              <a:t>2018/8/3</a:t>
            </a:fld>
            <a:endParaRPr lang="zh-CN" altLang="en-US"/>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zh-CN" altLang="en-US"/>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053F40E8-B080-4069-9916-BB6BA31401C1}" type="slidenum">
              <a:rPr lang="zh-CN" altLang="en-US" smtClean="0"/>
              <a:pPr/>
              <a:t>‹#›</a:t>
            </a:fld>
            <a:endParaRPr lang="zh-CN" altLang="en-US"/>
          </a:p>
        </p:txBody>
      </p:sp>
    </p:spTree>
    <p:extLst>
      <p:ext uri="{BB962C8B-B14F-4D97-AF65-F5344CB8AC3E}">
        <p14:creationId xmlns:p14="http://schemas.microsoft.com/office/powerpoint/2010/main" val="236525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108.xml"/><Relationship Id="rId1" Type="http://schemas.openxmlformats.org/officeDocument/2006/relationships/notesMaster" Target="../notesMasters/notesMaster1.xml"/><Relationship Id="rId4" Type="http://schemas.openxmlformats.org/officeDocument/2006/relationships/image" Target="../media/image11.png"/></Relationships>
</file>

<file path=ppt/notesSlides/_rels/note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109.xml"/><Relationship Id="rId1" Type="http://schemas.openxmlformats.org/officeDocument/2006/relationships/notesMaster" Target="../notesMasters/notesMaster1.xml"/><Relationship Id="rId4" Type="http://schemas.openxmlformats.org/officeDocument/2006/relationships/image" Target="../media/image12.png"/></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053F40E8-B080-4069-9916-BB6BA31401C1}" type="slidenum">
              <a:rPr lang="zh-CN" altLang="en-US" smtClean="0"/>
              <a:pPr/>
              <a:t>1</a:t>
            </a:fld>
            <a:endParaRPr lang="zh-CN" altLang="en-US"/>
          </a:p>
        </p:txBody>
      </p:sp>
    </p:spTree>
    <p:extLst>
      <p:ext uri="{BB962C8B-B14F-4D97-AF65-F5344CB8AC3E}">
        <p14:creationId xmlns:p14="http://schemas.microsoft.com/office/powerpoint/2010/main" val="1957598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2</a:t>
            </a:fld>
            <a:endParaRPr lang="zh-CN" altLang="en-US"/>
          </a:p>
        </p:txBody>
      </p:sp>
    </p:spTree>
    <p:extLst>
      <p:ext uri="{BB962C8B-B14F-4D97-AF65-F5344CB8AC3E}">
        <p14:creationId xmlns:p14="http://schemas.microsoft.com/office/powerpoint/2010/main" val="1309759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3</a:t>
            </a:fld>
            <a:endParaRPr lang="zh-CN" altLang="en-US"/>
          </a:p>
        </p:txBody>
      </p:sp>
    </p:spTree>
    <p:extLst>
      <p:ext uri="{BB962C8B-B14F-4D97-AF65-F5344CB8AC3E}">
        <p14:creationId xmlns:p14="http://schemas.microsoft.com/office/powerpoint/2010/main" val="337812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11</a:t>
            </a:fld>
            <a:endParaRPr lang="zh-CN" altLang="en-US"/>
          </a:p>
        </p:txBody>
      </p:sp>
    </p:spTree>
    <p:extLst>
      <p:ext uri="{BB962C8B-B14F-4D97-AF65-F5344CB8AC3E}">
        <p14:creationId xmlns:p14="http://schemas.microsoft.com/office/powerpoint/2010/main" val="1114628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1" i="0" kern="1200" dirty="0" smtClean="0">
                <a:solidFill>
                  <a:schemeClr val="tx1"/>
                </a:solidFill>
                <a:latin typeface="+mn-lt"/>
                <a:ea typeface="+mn-ea"/>
                <a:cs typeface="+mn-cs"/>
              </a:rPr>
              <a:t>忙则等待</a:t>
            </a:r>
            <a:r>
              <a:rPr lang="zh-CN" altLang="en-US" sz="1200" b="0" i="0" kern="1200" dirty="0" smtClean="0">
                <a:solidFill>
                  <a:schemeClr val="tx1"/>
                </a:solidFill>
                <a:latin typeface="+mn-lt"/>
                <a:ea typeface="+mn-ea"/>
                <a:cs typeface="+mn-cs"/>
              </a:rPr>
              <a:t>是保证互斥的必要条件，当已经有进程访问临界区时，其他试图访问该临界区的进程必须等待，以保证对临界区资源的互斥访问。 忙则等待是指进入临界区的条件；</a:t>
            </a:r>
            <a:endParaRPr lang="en-US" altLang="zh-CN" sz="1200" b="0" i="0" kern="1200" dirty="0" smtClean="0">
              <a:solidFill>
                <a:schemeClr val="tx1"/>
              </a:solidFill>
              <a:latin typeface="+mn-lt"/>
              <a:ea typeface="+mn-ea"/>
              <a:cs typeface="+mn-cs"/>
            </a:endParaRPr>
          </a:p>
          <a:p>
            <a:r>
              <a:rPr lang="zh-CN" altLang="en-US" sz="1200" b="0" i="0" kern="1200" dirty="0" smtClean="0">
                <a:solidFill>
                  <a:schemeClr val="tx1"/>
                </a:solidFill>
                <a:latin typeface="+mn-lt"/>
                <a:ea typeface="+mn-ea"/>
                <a:cs typeface="+mn-cs"/>
              </a:rPr>
              <a:t>而 让权等待 是指在符合“忙则等待”这个条件后，进程处于等待状态，在这个状态对进程的约束；</a:t>
            </a:r>
            <a:r>
              <a:rPr lang="en-US" altLang="zh-CN" sz="1200" b="0" i="0" kern="1200" dirty="0" smtClean="0">
                <a:solidFill>
                  <a:schemeClr val="tx1"/>
                </a:solidFill>
                <a:latin typeface="+mn-lt"/>
                <a:ea typeface="+mn-ea"/>
                <a:cs typeface="+mn-cs"/>
              </a:rPr>
              <a:t>1</a:t>
            </a:r>
            <a:r>
              <a:rPr lang="zh-CN" altLang="en-US" sz="1200" b="0" i="0" kern="1200" dirty="0" smtClean="0">
                <a:solidFill>
                  <a:schemeClr val="tx1"/>
                </a:solidFill>
                <a:latin typeface="+mn-lt"/>
                <a:ea typeface="+mn-ea"/>
                <a:cs typeface="+mn-cs"/>
              </a:rPr>
              <a:t>：你不能无条件的一直等待下去，这样会陷入死等，不满足第</a:t>
            </a:r>
            <a:r>
              <a:rPr lang="en-US" altLang="zh-CN" sz="1200" b="0" i="0" kern="1200" dirty="0" smtClean="0">
                <a:solidFill>
                  <a:schemeClr val="tx1"/>
                </a:solidFill>
                <a:latin typeface="+mn-lt"/>
                <a:ea typeface="+mn-ea"/>
                <a:cs typeface="+mn-cs"/>
              </a:rPr>
              <a:t>3</a:t>
            </a:r>
            <a:r>
              <a:rPr lang="zh-CN" altLang="en-US" sz="1200" b="0" i="0" kern="1200" dirty="0" smtClean="0">
                <a:solidFill>
                  <a:schemeClr val="tx1"/>
                </a:solidFill>
                <a:latin typeface="+mn-lt"/>
                <a:ea typeface="+mn-ea"/>
                <a:cs typeface="+mn-cs"/>
              </a:rPr>
              <a:t>条有限等待；</a:t>
            </a:r>
            <a:r>
              <a:rPr lang="en-US" altLang="zh-CN" sz="1200" b="0" i="0" kern="1200" dirty="0" smtClean="0">
                <a:solidFill>
                  <a:schemeClr val="tx1"/>
                </a:solidFill>
                <a:latin typeface="+mn-lt"/>
                <a:ea typeface="+mn-ea"/>
                <a:cs typeface="+mn-cs"/>
              </a:rPr>
              <a:t>2</a:t>
            </a:r>
            <a:r>
              <a:rPr lang="zh-CN" altLang="en-US" sz="1200" b="0" i="0" kern="1200" dirty="0" smtClean="0">
                <a:solidFill>
                  <a:schemeClr val="tx1"/>
                </a:solidFill>
                <a:latin typeface="+mn-lt"/>
                <a:ea typeface="+mn-ea"/>
                <a:cs typeface="+mn-cs"/>
              </a:rPr>
              <a:t>：在等待状态时，你应当释放处理机，否则就会出现忙等；</a:t>
            </a:r>
            <a:endParaRPr lang="en-US" altLang="zh-CN" sz="1200" b="0" i="0" kern="1200" dirty="0" smtClean="0">
              <a:solidFill>
                <a:schemeClr val="tx1"/>
              </a:solidFill>
              <a:latin typeface="+mn-lt"/>
              <a:ea typeface="+mn-ea"/>
              <a:cs typeface="+mn-cs"/>
            </a:endParaRPr>
          </a:p>
          <a:p>
            <a:endParaRPr lang="en-US" altLang="zh-CN" sz="1200" b="0" i="0" kern="1200" dirty="0" smtClean="0">
              <a:solidFill>
                <a:schemeClr val="tx1"/>
              </a:solidFill>
              <a:latin typeface="+mn-lt"/>
              <a:ea typeface="+mn-ea"/>
              <a:cs typeface="+mn-cs"/>
            </a:endParaRPr>
          </a:p>
          <a:p>
            <a:r>
              <a:rPr lang="zh-CN" altLang="en-US" sz="1200" b="0" i="0" kern="1200" dirty="0" smtClean="0">
                <a:solidFill>
                  <a:schemeClr val="tx1"/>
                </a:solidFill>
                <a:latin typeface="+mn-lt"/>
                <a:ea typeface="+mn-ea"/>
                <a:cs typeface="+mn-cs"/>
              </a:rPr>
              <a:t>进入临界区的条件：空闲则进，忙则等待；</a:t>
            </a:r>
            <a:r>
              <a:rPr lang="zh-CN" altLang="en-US" dirty="0" smtClean="0"/>
              <a:t/>
            </a:r>
            <a:br>
              <a:rPr lang="zh-CN" altLang="en-US" dirty="0" smtClean="0"/>
            </a:br>
            <a:r>
              <a:rPr lang="zh-CN" altLang="en-US" sz="1200" b="0" i="0" kern="1200" dirty="0" smtClean="0">
                <a:solidFill>
                  <a:schemeClr val="tx1"/>
                </a:solidFill>
                <a:latin typeface="+mn-lt"/>
                <a:ea typeface="+mn-ea"/>
                <a:cs typeface="+mn-cs"/>
              </a:rPr>
              <a:t>等待临界区资源时的约束：有限等待，让权等待；</a:t>
            </a:r>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14</a:t>
            </a:fld>
            <a:endParaRPr lang="zh-CN" altLang="en-US"/>
          </a:p>
        </p:txBody>
      </p:sp>
    </p:spTree>
    <p:extLst>
      <p:ext uri="{BB962C8B-B14F-4D97-AF65-F5344CB8AC3E}">
        <p14:creationId xmlns:p14="http://schemas.microsoft.com/office/powerpoint/2010/main" val="3714908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27</a:t>
            </a:fld>
            <a:endParaRPr lang="zh-CN" altLang="en-US"/>
          </a:p>
        </p:txBody>
      </p:sp>
    </p:spTree>
    <p:extLst>
      <p:ext uri="{BB962C8B-B14F-4D97-AF65-F5344CB8AC3E}">
        <p14:creationId xmlns:p14="http://schemas.microsoft.com/office/powerpoint/2010/main" val="2388229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如果</a:t>
            </a:r>
            <a:r>
              <a:rPr lang="en-US" altLang="zh-CN" dirty="0" smtClean="0"/>
              <a:t>lock</a:t>
            </a:r>
            <a:r>
              <a:rPr lang="zh-CN" altLang="en-US" dirty="0" smtClean="0"/>
              <a:t>是</a:t>
            </a:r>
            <a:r>
              <a:rPr lang="en-US" altLang="zh-CN" dirty="0" smtClean="0"/>
              <a:t>false</a:t>
            </a:r>
            <a:r>
              <a:rPr lang="zh-CN" altLang="en-US" dirty="0" smtClean="0"/>
              <a:t>，则进入</a:t>
            </a:r>
            <a:r>
              <a:rPr lang="en-US" altLang="zh-CN" dirty="0" smtClean="0"/>
              <a:t>TS</a:t>
            </a:r>
            <a:r>
              <a:rPr lang="zh-CN" altLang="en-US" dirty="0" smtClean="0"/>
              <a:t>，返回</a:t>
            </a:r>
            <a:r>
              <a:rPr lang="en-US" altLang="zh-CN" dirty="0" smtClean="0"/>
              <a:t>false</a:t>
            </a:r>
            <a:r>
              <a:rPr lang="zh-CN" altLang="en-US" dirty="0" smtClean="0"/>
              <a:t>，并将</a:t>
            </a:r>
            <a:r>
              <a:rPr lang="en-US" altLang="zh-CN" dirty="0" smtClean="0"/>
              <a:t>lock</a:t>
            </a:r>
            <a:r>
              <a:rPr lang="zh-CN" altLang="en-US" dirty="0" smtClean="0"/>
              <a:t>置为</a:t>
            </a:r>
            <a:r>
              <a:rPr lang="en-US" altLang="zh-CN" dirty="0" smtClean="0"/>
              <a:t>true</a:t>
            </a:r>
            <a:r>
              <a:rPr lang="zh-CN" altLang="en-US" dirty="0" smtClean="0"/>
              <a:t>。</a:t>
            </a:r>
            <a:endParaRPr lang="en-US" altLang="zh-CN" dirty="0" smtClean="0"/>
          </a:p>
          <a:p>
            <a:r>
              <a:rPr lang="zh-CN" altLang="en-US" dirty="0" smtClean="0"/>
              <a:t>如果</a:t>
            </a:r>
            <a:r>
              <a:rPr lang="en-US" altLang="zh-CN" dirty="0" smtClean="0"/>
              <a:t>lock</a:t>
            </a:r>
            <a:r>
              <a:rPr lang="zh-CN" altLang="en-US" dirty="0" smtClean="0"/>
              <a:t>是</a:t>
            </a:r>
            <a:r>
              <a:rPr lang="en-US" altLang="zh-CN" dirty="0" smtClean="0"/>
              <a:t>true</a:t>
            </a:r>
            <a:r>
              <a:rPr lang="zh-CN" altLang="en-US" dirty="0" smtClean="0"/>
              <a:t>，则进入</a:t>
            </a:r>
            <a:r>
              <a:rPr lang="en-US" altLang="zh-CN" dirty="0" smtClean="0"/>
              <a:t>TS</a:t>
            </a:r>
            <a:r>
              <a:rPr lang="zh-CN" altLang="en-US" dirty="0" smtClean="0"/>
              <a:t>，一直为</a:t>
            </a:r>
            <a:r>
              <a:rPr lang="en-US" altLang="zh-CN" dirty="0" smtClean="0"/>
              <a:t>true</a:t>
            </a:r>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30</a:t>
            </a:fld>
            <a:endParaRPr lang="zh-CN" altLang="en-US"/>
          </a:p>
        </p:txBody>
      </p:sp>
    </p:spTree>
    <p:extLst>
      <p:ext uri="{BB962C8B-B14F-4D97-AF65-F5344CB8AC3E}">
        <p14:creationId xmlns:p14="http://schemas.microsoft.com/office/powerpoint/2010/main" val="711833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36</a:t>
            </a:fld>
            <a:endParaRPr lang="zh-CN" altLang="en-US"/>
          </a:p>
        </p:txBody>
      </p:sp>
    </p:spTree>
    <p:extLst>
      <p:ext uri="{BB962C8B-B14F-4D97-AF65-F5344CB8AC3E}">
        <p14:creationId xmlns:p14="http://schemas.microsoft.com/office/powerpoint/2010/main" val="510277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40</a:t>
            </a:fld>
            <a:endParaRPr lang="zh-CN" altLang="en-US"/>
          </a:p>
        </p:txBody>
      </p:sp>
    </p:spTree>
    <p:extLst>
      <p:ext uri="{BB962C8B-B14F-4D97-AF65-F5344CB8AC3E}">
        <p14:creationId xmlns:p14="http://schemas.microsoft.com/office/powerpoint/2010/main" val="395737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当一个进程位于其临界区内时，任何其他试图进入其临界区的进程都必须在其进入代码中不断循环。为了克服忙等，可以修改信号量操作</a:t>
            </a:r>
            <a:r>
              <a:rPr lang="en-US" altLang="zh-CN" dirty="0" smtClean="0"/>
              <a:t>wait</a:t>
            </a:r>
            <a:r>
              <a:rPr lang="zh-CN" altLang="en-US" dirty="0" smtClean="0"/>
              <a:t>和</a:t>
            </a:r>
            <a:r>
              <a:rPr lang="en-US" altLang="zh-CN" dirty="0" smtClean="0"/>
              <a:t>signal</a:t>
            </a:r>
            <a:r>
              <a:rPr lang="zh-CN" altLang="en-US" dirty="0" smtClean="0"/>
              <a:t>的定义，当一个进程执行</a:t>
            </a:r>
            <a:r>
              <a:rPr lang="en-US" altLang="zh-CN" dirty="0" smtClean="0"/>
              <a:t>wait</a:t>
            </a:r>
            <a:r>
              <a:rPr lang="zh-CN" altLang="en-US" dirty="0" smtClean="0"/>
              <a:t>操作时，阻塞自己，并放入等待队列。</a:t>
            </a:r>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46</a:t>
            </a:fld>
            <a:endParaRPr lang="zh-CN" altLang="en-US"/>
          </a:p>
        </p:txBody>
      </p:sp>
    </p:spTree>
    <p:extLst>
      <p:ext uri="{BB962C8B-B14F-4D97-AF65-F5344CB8AC3E}">
        <p14:creationId xmlns:p14="http://schemas.microsoft.com/office/powerpoint/2010/main" val="1352809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7974230-0EB0-4FFE-815A-2A78D52D0139}" type="slidenum">
              <a:rPr lang="en-US" altLang="zh-CN" sz="1200"/>
              <a:pPr eaLnBrk="1" hangingPunct="1"/>
              <a:t>50</a:t>
            </a:fld>
            <a:endParaRPr lang="en-US" altLang="zh-CN" sz="1200"/>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509565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C5BB715-85FB-4122-85AA-39EDB5FA6F2A}" type="slidenum">
              <a:rPr lang="en-US" altLang="zh-CN" sz="1200"/>
              <a:pPr eaLnBrk="1" hangingPunct="1"/>
              <a:t>51</a:t>
            </a:fld>
            <a:endParaRPr lang="en-US" altLang="zh-CN" sz="1200"/>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541006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C92D287-941E-4BD1-8B99-AD88ED044A09}" type="slidenum">
              <a:rPr lang="en-US" altLang="zh-CN" sz="1200"/>
              <a:pPr eaLnBrk="1" hangingPunct="1"/>
              <a:t>52</a:t>
            </a:fld>
            <a:endParaRPr lang="en-US" altLang="zh-CN" sz="1200"/>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111089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14374E8-B48B-489A-A84B-7AAC47DD022F}" type="slidenum">
              <a:rPr lang="en-US" altLang="zh-CN" sz="1200"/>
              <a:pPr eaLnBrk="1" hangingPunct="1"/>
              <a:t>53</a:t>
            </a:fld>
            <a:endParaRPr lang="en-US" altLang="zh-CN" sz="1200"/>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22446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65CAF7B-2D58-435E-A151-13A6F57DE8D0}" type="slidenum">
              <a:rPr lang="en-US" altLang="zh-CN" sz="1200"/>
              <a:pPr eaLnBrk="1" hangingPunct="1"/>
              <a:t>54</a:t>
            </a:fld>
            <a:endParaRPr lang="en-US" altLang="zh-CN" sz="1200"/>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85506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6EEC164-069A-4A13-8E0A-BD66C16EDA3A}" type="slidenum">
              <a:rPr lang="en-US" altLang="zh-CN" sz="1200"/>
              <a:pPr eaLnBrk="1" hangingPunct="1"/>
              <a:t>55</a:t>
            </a:fld>
            <a:endParaRPr lang="en-US" altLang="zh-CN" sz="1200"/>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052351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547B4FEC-8605-4B5C-B5CF-5C383EF22158}" type="slidenum">
              <a:rPr lang="en-US" altLang="zh-CN" sz="1200"/>
              <a:pPr eaLnBrk="1" hangingPunct="1"/>
              <a:t>56</a:t>
            </a:fld>
            <a:endParaRPr lang="en-US" altLang="zh-CN" sz="1200"/>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140906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0120706-CDB9-4120-B3EE-6475A960E68A}" type="slidenum">
              <a:rPr lang="en-US" altLang="zh-CN" sz="1200"/>
              <a:pPr eaLnBrk="1" hangingPunct="1"/>
              <a:t>57</a:t>
            </a:fld>
            <a:endParaRPr lang="en-US" altLang="zh-CN" sz="1200"/>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825848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71FB2AB-4FE9-4995-BCFE-A1CD2E0D964C}" type="slidenum">
              <a:rPr lang="en-US" altLang="zh-CN" sz="1200"/>
              <a:pPr eaLnBrk="1" hangingPunct="1"/>
              <a:t>58</a:t>
            </a:fld>
            <a:endParaRPr lang="en-US" altLang="zh-CN" sz="1200"/>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294668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F957805-E0ED-4AAF-B13A-558208AB48AE}" type="slidenum">
              <a:rPr lang="en-US" altLang="zh-CN" sz="1200"/>
              <a:pPr eaLnBrk="1" hangingPunct="1"/>
              <a:t>59</a:t>
            </a:fld>
            <a:endParaRPr lang="en-US" altLang="zh-CN" sz="1200"/>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629889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E38CF4F3-C083-47F2-ADE2-D226BAD41960}" type="slidenum">
              <a:rPr lang="en-US" altLang="zh-CN" sz="1200"/>
              <a:pPr eaLnBrk="1" hangingPunct="1"/>
              <a:t>60</a:t>
            </a:fld>
            <a:endParaRPr lang="en-US" altLang="zh-CN" sz="1200"/>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67012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9613433-AF9B-4A8F-9561-15760E38627C}" type="slidenum">
              <a:rPr lang="en-US" altLang="zh-CN" sz="1200"/>
              <a:pPr eaLnBrk="1" hangingPunct="1"/>
              <a:t>61</a:t>
            </a:fld>
            <a:endParaRPr lang="en-US" altLang="zh-CN" sz="1200"/>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203864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62451BA-7DAF-4C9B-B18D-239B4C89C91D}" type="slidenum">
              <a:rPr lang="en-US" altLang="zh-CN" sz="1200"/>
              <a:pPr eaLnBrk="1" hangingPunct="1"/>
              <a:t>62</a:t>
            </a:fld>
            <a:endParaRPr lang="en-US" altLang="zh-CN" sz="1200"/>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583226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17B7BCA7-E2BA-4314-8995-8DAE6BEBFEA1}" type="slidenum">
              <a:rPr lang="en-US" altLang="zh-CN" sz="1200"/>
              <a:pPr eaLnBrk="1" hangingPunct="1"/>
              <a:t>63</a:t>
            </a:fld>
            <a:endParaRPr lang="en-US" altLang="zh-CN" sz="1200"/>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198245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0C19F6E-77E3-4D75-9EF2-F378D441BD85}" type="slidenum">
              <a:rPr lang="en-US" altLang="zh-CN" sz="1200"/>
              <a:pPr eaLnBrk="1" hangingPunct="1"/>
              <a:t>64</a:t>
            </a:fld>
            <a:endParaRPr lang="en-US" altLang="zh-CN" sz="1200"/>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3907662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164778A-5633-4192-888E-B783B91A3CF4}" type="slidenum">
              <a:rPr lang="en-US" altLang="zh-CN" sz="1200"/>
              <a:pPr eaLnBrk="1" hangingPunct="1"/>
              <a:t>65</a:t>
            </a:fld>
            <a:endParaRPr lang="en-US" altLang="zh-CN" sz="1200"/>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798706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2D986DB4-A31F-4DD4-B11E-2634E7FBCE5A}" type="slidenum">
              <a:rPr lang="en-US" altLang="zh-CN" sz="1200"/>
              <a:pPr eaLnBrk="1" hangingPunct="1"/>
              <a:t>66</a:t>
            </a:fld>
            <a:endParaRPr lang="en-US" altLang="zh-CN" sz="1200"/>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753090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7FA886F-F174-4A0A-9647-E54B6E78D2E7}" type="slidenum">
              <a:rPr lang="en-US" altLang="zh-CN" sz="1200"/>
              <a:pPr eaLnBrk="1" hangingPunct="1"/>
              <a:t>67</a:t>
            </a:fld>
            <a:endParaRPr lang="en-US" altLang="zh-CN" sz="1200"/>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5247280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69</a:t>
            </a:fld>
            <a:endParaRPr lang="zh-CN" altLang="en-US"/>
          </a:p>
        </p:txBody>
      </p:sp>
    </p:spTree>
    <p:extLst>
      <p:ext uri="{BB962C8B-B14F-4D97-AF65-F5344CB8AC3E}">
        <p14:creationId xmlns:p14="http://schemas.microsoft.com/office/powerpoint/2010/main" val="21839554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a:ln>
            <a:miter lim="800000"/>
            <a:headEnd/>
            <a:tailEnd/>
          </a:ln>
        </p:spPr>
        <p:txBody>
          <a:bodyPr/>
          <a:lstStyle/>
          <a:p>
            <a:fld id="{B86F1D7B-89EE-408B-9F99-E4A16395434F}" type="slidenum">
              <a:rPr lang="en-US" altLang="zh-CN" smtClean="0"/>
              <a:pPr/>
              <a:t>73</a:t>
            </a:fld>
            <a:endParaRPr lang="en-US" altLang="zh-CN" smtClean="0"/>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7232264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74</a:t>
            </a:fld>
            <a:endParaRPr lang="zh-CN" altLang="en-US"/>
          </a:p>
        </p:txBody>
      </p:sp>
    </p:spTree>
    <p:extLst>
      <p:ext uri="{BB962C8B-B14F-4D97-AF65-F5344CB8AC3E}">
        <p14:creationId xmlns:p14="http://schemas.microsoft.com/office/powerpoint/2010/main" val="1274521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a:noFill/>
          <a:ln>
            <a:miter lim="800000"/>
            <a:headEnd/>
            <a:tailEnd/>
          </a:ln>
        </p:spPr>
        <p:txBody>
          <a:bodyPr/>
          <a:lstStyle/>
          <a:p>
            <a:fld id="{F9C5B7ED-C034-4ECE-9D72-618A608D75DD}" type="slidenum">
              <a:rPr lang="en-US" altLang="zh-CN" smtClean="0"/>
              <a:pPr/>
              <a:t>77</a:t>
            </a:fld>
            <a:endParaRPr lang="en-US" altLang="zh-CN" smtClean="0"/>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839232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pPr latinLnBrk="1"/>
            <a:r>
              <a:rPr lang="en-US" sz="1200" b="0" i="0" kern="1200" dirty="0" err="1" smtClean="0">
                <a:solidFill>
                  <a:schemeClr val="tx1"/>
                </a:solidFill>
                <a:latin typeface="+mn-lt"/>
                <a:ea typeface="+mn-ea"/>
                <a:cs typeface="+mn-cs"/>
              </a:rPr>
              <a:t>int</a:t>
            </a:r>
            <a:r>
              <a:rPr lang="en-US" sz="1200" b="0" i="0" kern="1200" dirty="0" smtClean="0">
                <a:solidFill>
                  <a:schemeClr val="tx1"/>
                </a:solidFill>
                <a:latin typeface="+mn-lt"/>
                <a:ea typeface="+mn-ea"/>
                <a:cs typeface="+mn-cs"/>
              </a:rPr>
              <a:t> </a:t>
            </a:r>
            <a:r>
              <a:rPr lang="en-US" sz="1200" b="0" i="0" kern="1200" dirty="0" err="1" smtClean="0">
                <a:solidFill>
                  <a:schemeClr val="tx1"/>
                </a:solidFill>
                <a:latin typeface="+mn-lt"/>
                <a:ea typeface="+mn-ea"/>
                <a:cs typeface="+mn-cs"/>
              </a:rPr>
              <a:t>readcount</a:t>
            </a:r>
            <a:r>
              <a:rPr lang="en-US" sz="1200" b="0" i="0" kern="1200" dirty="0" smtClean="0">
                <a:solidFill>
                  <a:schemeClr val="tx1"/>
                </a:solidFill>
                <a:latin typeface="+mn-lt"/>
                <a:ea typeface="+mn-ea"/>
                <a:cs typeface="+mn-cs"/>
              </a:rPr>
              <a:t> = 0;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整型变量，表示读者数</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void reader(){</a:t>
            </a:r>
          </a:p>
          <a:p>
            <a:pPr latinLnBrk="1"/>
            <a:r>
              <a:rPr lang="en-US" sz="1200" b="0" i="0" kern="1200" dirty="0" smtClean="0">
                <a:solidFill>
                  <a:schemeClr val="tx1"/>
                </a:solidFill>
                <a:latin typeface="+mn-lt"/>
                <a:ea typeface="+mn-ea"/>
                <a:cs typeface="+mn-cs"/>
              </a:rPr>
              <a:t>do{</a:t>
            </a:r>
          </a:p>
          <a:p>
            <a:pPr latinLnBrk="1"/>
            <a:r>
              <a:rPr lang="en-US" sz="1200" b="0" i="0" kern="1200" dirty="0" smtClean="0">
                <a:solidFill>
                  <a:schemeClr val="tx1"/>
                </a:solidFill>
                <a:latin typeface="+mn-lt"/>
                <a:ea typeface="+mn-ea"/>
                <a:cs typeface="+mn-cs"/>
              </a:rPr>
              <a:t>P(</a:t>
            </a:r>
            <a:r>
              <a:rPr lang="en-US" sz="1200" b="0" i="0" kern="1200" dirty="0" err="1" smtClean="0">
                <a:solidFill>
                  <a:schemeClr val="tx1"/>
                </a:solidFill>
                <a:latin typeface="+mn-lt"/>
                <a:ea typeface="+mn-ea"/>
                <a:cs typeface="+mn-cs"/>
              </a:rPr>
              <a:t>rmutex</a:t>
            </a:r>
            <a:r>
              <a:rPr lang="en-US" sz="1200" b="0" i="0" kern="1200" dirty="0" smtClean="0">
                <a:solidFill>
                  <a:schemeClr val="tx1"/>
                </a:solidFill>
                <a:latin typeface="+mn-lt"/>
                <a:ea typeface="+mn-ea"/>
                <a:cs typeface="+mn-cs"/>
              </a:rPr>
              <a:t>);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开始对</a:t>
            </a:r>
            <a:r>
              <a:rPr lang="en-US" sz="1200" b="0" i="1" kern="1200" dirty="0" err="1" smtClean="0">
                <a:solidFill>
                  <a:schemeClr val="tx1"/>
                </a:solidFill>
                <a:latin typeface="+mn-lt"/>
                <a:ea typeface="+mn-ea"/>
                <a:cs typeface="+mn-cs"/>
              </a:rPr>
              <a:t>rc</a:t>
            </a:r>
            <a:r>
              <a:rPr lang="zh-CN" altLang="en-US" sz="1200" b="0" i="1" kern="1200" dirty="0" smtClean="0">
                <a:solidFill>
                  <a:schemeClr val="tx1"/>
                </a:solidFill>
                <a:latin typeface="+mn-lt"/>
                <a:ea typeface="+mn-ea"/>
                <a:cs typeface="+mn-cs"/>
              </a:rPr>
              <a:t>共享变量进行互斥访问</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if(</a:t>
            </a:r>
            <a:r>
              <a:rPr lang="en-US" sz="1200" b="0" i="0" kern="1200" dirty="0" err="1" smtClean="0">
                <a:solidFill>
                  <a:schemeClr val="tx1"/>
                </a:solidFill>
                <a:latin typeface="+mn-lt"/>
                <a:ea typeface="+mn-ea"/>
                <a:cs typeface="+mn-cs"/>
              </a:rPr>
              <a:t>readercount</a:t>
            </a:r>
            <a:r>
              <a:rPr lang="en-US" sz="1200" b="0" i="0" kern="1200" dirty="0" smtClean="0">
                <a:solidFill>
                  <a:schemeClr val="tx1"/>
                </a:solidFill>
                <a:latin typeface="+mn-lt"/>
                <a:ea typeface="+mn-ea"/>
                <a:cs typeface="+mn-cs"/>
              </a:rPr>
              <a:t> == 0)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如是第一个读者进行读进程，判断是否有写进程在临界区，若有，读进程等待</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P(</a:t>
            </a:r>
            <a:r>
              <a:rPr lang="en-US" sz="1200" b="0" i="0" kern="1200" dirty="0" err="1" smtClean="0">
                <a:solidFill>
                  <a:schemeClr val="tx1"/>
                </a:solidFill>
                <a:latin typeface="+mn-lt"/>
                <a:ea typeface="+mn-ea"/>
                <a:cs typeface="+mn-cs"/>
              </a:rPr>
              <a:t>wmutex</a:t>
            </a:r>
            <a:r>
              <a:rPr lang="en-US" sz="1200" b="0" i="0" kern="1200" dirty="0" smtClean="0">
                <a:solidFill>
                  <a:schemeClr val="tx1"/>
                </a:solidFill>
                <a:latin typeface="+mn-lt"/>
                <a:ea typeface="+mn-ea"/>
                <a:cs typeface="+mn-cs"/>
              </a:rPr>
              <a:t>);</a:t>
            </a:r>
          </a:p>
          <a:p>
            <a:pPr latinLnBrk="1"/>
            <a:r>
              <a:rPr lang="en-US" sz="1200" b="0" i="0" kern="1200" dirty="0" err="1" smtClean="0">
                <a:solidFill>
                  <a:schemeClr val="tx1"/>
                </a:solidFill>
                <a:latin typeface="+mn-lt"/>
                <a:ea typeface="+mn-ea"/>
                <a:cs typeface="+mn-cs"/>
              </a:rPr>
              <a:t>readercount</a:t>
            </a:r>
            <a:r>
              <a:rPr lang="en-US" sz="1200" b="0" i="0" kern="1200" dirty="0" smtClean="0">
                <a:solidFill>
                  <a:schemeClr val="tx1"/>
                </a:solidFill>
                <a:latin typeface="+mn-lt"/>
                <a:ea typeface="+mn-ea"/>
                <a:cs typeface="+mn-cs"/>
              </a:rPr>
              <a:t>++;</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来了一个读进程，读进程数加</a:t>
            </a:r>
            <a:r>
              <a:rPr lang="en-US" altLang="zh-CN" sz="1200" b="0" i="1" kern="1200" dirty="0" smtClean="0">
                <a:solidFill>
                  <a:schemeClr val="tx1"/>
                </a:solidFill>
                <a:latin typeface="+mn-lt"/>
                <a:ea typeface="+mn-ea"/>
                <a:cs typeface="+mn-cs"/>
              </a:rPr>
              <a:t>1</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V(</a:t>
            </a:r>
            <a:r>
              <a:rPr lang="en-US" sz="1200" b="0" i="0" kern="1200" dirty="0" err="1" smtClean="0">
                <a:solidFill>
                  <a:schemeClr val="tx1"/>
                </a:solidFill>
                <a:latin typeface="+mn-lt"/>
                <a:ea typeface="+mn-ea"/>
                <a:cs typeface="+mn-cs"/>
              </a:rPr>
              <a:t>rmutex</a:t>
            </a:r>
            <a:r>
              <a:rPr lang="en-US" sz="1200" b="0" i="0" kern="1200" dirty="0" smtClean="0">
                <a:solidFill>
                  <a:schemeClr val="tx1"/>
                </a:solidFill>
                <a:latin typeface="+mn-lt"/>
                <a:ea typeface="+mn-ea"/>
                <a:cs typeface="+mn-cs"/>
              </a:rPr>
              <a:t>);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结束对</a:t>
            </a:r>
            <a:r>
              <a:rPr lang="en-US" sz="1200" b="0" i="1" kern="1200" dirty="0" err="1" smtClean="0">
                <a:solidFill>
                  <a:schemeClr val="tx1"/>
                </a:solidFill>
                <a:latin typeface="+mn-lt"/>
                <a:ea typeface="+mn-ea"/>
                <a:cs typeface="+mn-cs"/>
              </a:rPr>
              <a:t>readcount</a:t>
            </a:r>
            <a:r>
              <a:rPr lang="zh-CN" altLang="en-US" sz="1200" b="0" i="1" kern="1200" dirty="0" smtClean="0">
                <a:solidFill>
                  <a:schemeClr val="tx1"/>
                </a:solidFill>
                <a:latin typeface="+mn-lt"/>
                <a:ea typeface="+mn-ea"/>
                <a:cs typeface="+mn-cs"/>
              </a:rPr>
              <a:t>共享变量的互斥访问</a:t>
            </a:r>
            <a:endParaRPr lang="zh-CN" altLang="en-US" sz="1200" b="0" i="0" kern="1200" dirty="0" smtClean="0">
              <a:solidFill>
                <a:schemeClr val="tx1"/>
              </a:solidFill>
              <a:latin typeface="+mn-lt"/>
              <a:ea typeface="+mn-ea"/>
              <a:cs typeface="+mn-cs"/>
            </a:endParaRPr>
          </a:p>
          <a:p>
            <a:pPr latinLnBrk="1"/>
            <a:r>
              <a:rPr lang="en-US" altLang="zh-CN" sz="1200" b="0" i="0" kern="1200" dirty="0" smtClean="0">
                <a:solidFill>
                  <a:schemeClr val="tx1"/>
                </a:solidFill>
                <a:latin typeface="+mn-lt"/>
                <a:ea typeface="+mn-ea"/>
                <a:cs typeface="+mn-cs"/>
              </a:rPr>
              <a:t>……</a:t>
            </a:r>
          </a:p>
          <a:p>
            <a:pPr latinLnBrk="1"/>
            <a:r>
              <a:rPr lang="en-US" sz="1200" b="0" i="0" kern="1200" dirty="0" smtClean="0">
                <a:solidFill>
                  <a:schemeClr val="tx1"/>
                </a:solidFill>
                <a:latin typeface="+mn-lt"/>
                <a:ea typeface="+mn-ea"/>
                <a:cs typeface="+mn-cs"/>
              </a:rPr>
              <a:t>perform read operation;</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读操作</a:t>
            </a:r>
            <a:endParaRPr lang="zh-CN" altLang="en-US" sz="1200" b="0" i="0" kern="1200" dirty="0" smtClean="0">
              <a:solidFill>
                <a:schemeClr val="tx1"/>
              </a:solidFill>
              <a:latin typeface="+mn-lt"/>
              <a:ea typeface="+mn-ea"/>
              <a:cs typeface="+mn-cs"/>
            </a:endParaRPr>
          </a:p>
          <a:p>
            <a:pPr latinLnBrk="1"/>
            <a:r>
              <a:rPr lang="en-US" altLang="zh-CN" sz="1200" b="0" i="0" kern="1200" dirty="0" smtClean="0">
                <a:solidFill>
                  <a:schemeClr val="tx1"/>
                </a:solidFill>
                <a:latin typeface="+mn-lt"/>
                <a:ea typeface="+mn-ea"/>
                <a:cs typeface="+mn-cs"/>
              </a:rPr>
              <a:t>……</a:t>
            </a:r>
          </a:p>
          <a:p>
            <a:pPr latinLnBrk="1"/>
            <a:r>
              <a:rPr lang="en-US" sz="1200" b="0" i="0" kern="1200" dirty="0" smtClean="0">
                <a:solidFill>
                  <a:schemeClr val="tx1"/>
                </a:solidFill>
                <a:latin typeface="+mn-lt"/>
                <a:ea typeface="+mn-ea"/>
                <a:cs typeface="+mn-cs"/>
              </a:rPr>
              <a:t>P(</a:t>
            </a:r>
            <a:r>
              <a:rPr lang="en-US" sz="1200" b="0" i="0" kern="1200" dirty="0" err="1" smtClean="0">
                <a:solidFill>
                  <a:schemeClr val="tx1"/>
                </a:solidFill>
                <a:latin typeface="+mn-lt"/>
                <a:ea typeface="+mn-ea"/>
                <a:cs typeface="+mn-cs"/>
              </a:rPr>
              <a:t>rmutex</a:t>
            </a:r>
            <a:r>
              <a:rPr lang="en-US" sz="1200" b="0" i="0" kern="1200" dirty="0" smtClean="0">
                <a:solidFill>
                  <a:schemeClr val="tx1"/>
                </a:solidFill>
                <a:latin typeface="+mn-lt"/>
                <a:ea typeface="+mn-ea"/>
                <a:cs typeface="+mn-cs"/>
              </a:rPr>
              <a:t>);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开始对</a:t>
            </a:r>
            <a:r>
              <a:rPr lang="en-US" sz="1200" b="0" i="1" kern="1200" dirty="0" err="1" smtClean="0">
                <a:solidFill>
                  <a:schemeClr val="tx1"/>
                </a:solidFill>
                <a:latin typeface="+mn-lt"/>
                <a:ea typeface="+mn-ea"/>
                <a:cs typeface="+mn-cs"/>
              </a:rPr>
              <a:t>rc</a:t>
            </a:r>
            <a:r>
              <a:rPr lang="zh-CN" altLang="en-US" sz="1200" b="0" i="1" kern="1200" dirty="0" smtClean="0">
                <a:solidFill>
                  <a:schemeClr val="tx1"/>
                </a:solidFill>
                <a:latin typeface="+mn-lt"/>
                <a:ea typeface="+mn-ea"/>
                <a:cs typeface="+mn-cs"/>
              </a:rPr>
              <a:t>共享变量的互斥访问</a:t>
            </a:r>
            <a:endParaRPr lang="zh-CN" altLang="en-US" sz="1200" b="0" i="0" kern="1200" dirty="0" smtClean="0">
              <a:solidFill>
                <a:schemeClr val="tx1"/>
              </a:solidFill>
              <a:latin typeface="+mn-lt"/>
              <a:ea typeface="+mn-ea"/>
              <a:cs typeface="+mn-cs"/>
            </a:endParaRPr>
          </a:p>
          <a:p>
            <a:pPr latinLnBrk="1"/>
            <a:r>
              <a:rPr lang="en-US" sz="1200" b="0" i="0" kern="1200" dirty="0" err="1" smtClean="0">
                <a:solidFill>
                  <a:schemeClr val="tx1"/>
                </a:solidFill>
                <a:latin typeface="+mn-lt"/>
                <a:ea typeface="+mn-ea"/>
                <a:cs typeface="+mn-cs"/>
              </a:rPr>
              <a:t>readcount</a:t>
            </a:r>
            <a:r>
              <a:rPr lang="en-US" sz="1200" b="0" i="0" kern="1200" dirty="0" smtClean="0">
                <a:solidFill>
                  <a:schemeClr val="tx1"/>
                </a:solidFill>
                <a:latin typeface="+mn-lt"/>
                <a:ea typeface="+mn-ea"/>
                <a:cs typeface="+mn-cs"/>
              </a:rPr>
              <a:t>--;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一个读进程读完，读进程数减</a:t>
            </a:r>
            <a:r>
              <a:rPr lang="en-US" altLang="zh-CN" sz="1200" b="0" i="1" kern="1200" dirty="0" smtClean="0">
                <a:solidFill>
                  <a:schemeClr val="tx1"/>
                </a:solidFill>
                <a:latin typeface="+mn-lt"/>
                <a:ea typeface="+mn-ea"/>
                <a:cs typeface="+mn-cs"/>
              </a:rPr>
              <a:t>1</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if(</a:t>
            </a:r>
            <a:r>
              <a:rPr lang="en-US" sz="1200" b="0" i="0" kern="1200" dirty="0" err="1" smtClean="0">
                <a:solidFill>
                  <a:schemeClr val="tx1"/>
                </a:solidFill>
                <a:latin typeface="+mn-lt"/>
                <a:ea typeface="+mn-ea"/>
                <a:cs typeface="+mn-cs"/>
              </a:rPr>
              <a:t>readcount</a:t>
            </a:r>
            <a:r>
              <a:rPr lang="en-US" sz="1200" b="0" i="0" kern="1200" dirty="0" smtClean="0">
                <a:solidFill>
                  <a:schemeClr val="tx1"/>
                </a:solidFill>
                <a:latin typeface="+mn-lt"/>
                <a:ea typeface="+mn-ea"/>
                <a:cs typeface="+mn-cs"/>
              </a:rPr>
              <a:t>==0)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最后一个离开临界区的读进程需要判断是否有写进程需要进入临界区，若有，唤醒一个写进程进临界区</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V(</a:t>
            </a:r>
            <a:r>
              <a:rPr lang="en-US" sz="1200" b="0" i="0" kern="1200" dirty="0" err="1" smtClean="0">
                <a:solidFill>
                  <a:schemeClr val="tx1"/>
                </a:solidFill>
                <a:latin typeface="+mn-lt"/>
                <a:ea typeface="+mn-ea"/>
                <a:cs typeface="+mn-cs"/>
              </a:rPr>
              <a:t>wmutex</a:t>
            </a:r>
            <a:r>
              <a:rPr lang="en-US" sz="1200" b="0" i="0" kern="1200" dirty="0" smtClean="0">
                <a:solidFill>
                  <a:schemeClr val="tx1"/>
                </a:solidFill>
                <a:latin typeface="+mn-lt"/>
                <a:ea typeface="+mn-ea"/>
                <a:cs typeface="+mn-cs"/>
              </a:rPr>
              <a:t>);</a:t>
            </a:r>
          </a:p>
          <a:p>
            <a:pPr latinLnBrk="1"/>
            <a:r>
              <a:rPr lang="en-US" sz="1200" b="0" i="0" kern="1200" dirty="0" smtClean="0">
                <a:solidFill>
                  <a:schemeClr val="tx1"/>
                </a:solidFill>
                <a:latin typeface="+mn-lt"/>
                <a:ea typeface="+mn-ea"/>
                <a:cs typeface="+mn-cs"/>
              </a:rPr>
              <a:t>V(</a:t>
            </a:r>
            <a:r>
              <a:rPr lang="en-US" sz="1200" b="0" i="0" kern="1200" dirty="0" err="1" smtClean="0">
                <a:solidFill>
                  <a:schemeClr val="tx1"/>
                </a:solidFill>
                <a:latin typeface="+mn-lt"/>
                <a:ea typeface="+mn-ea"/>
                <a:cs typeface="+mn-cs"/>
              </a:rPr>
              <a:t>rmutex</a:t>
            </a:r>
            <a:r>
              <a:rPr lang="en-US" sz="1200" b="0" i="0" kern="1200" dirty="0" smtClean="0">
                <a:solidFill>
                  <a:schemeClr val="tx1"/>
                </a:solidFill>
                <a:latin typeface="+mn-lt"/>
                <a:ea typeface="+mn-ea"/>
                <a:cs typeface="+mn-cs"/>
              </a:rPr>
              <a:t>);</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结束对</a:t>
            </a:r>
            <a:r>
              <a:rPr lang="en-US" sz="1200" b="0" i="1" kern="1200" dirty="0" err="1" smtClean="0">
                <a:solidFill>
                  <a:schemeClr val="tx1"/>
                </a:solidFill>
                <a:latin typeface="+mn-lt"/>
                <a:ea typeface="+mn-ea"/>
                <a:cs typeface="+mn-cs"/>
              </a:rPr>
              <a:t>rc</a:t>
            </a:r>
            <a:r>
              <a:rPr lang="zh-CN" altLang="en-US" sz="1200" b="0" i="1" kern="1200" dirty="0" smtClean="0">
                <a:solidFill>
                  <a:schemeClr val="tx1"/>
                </a:solidFill>
                <a:latin typeface="+mn-lt"/>
                <a:ea typeface="+mn-ea"/>
                <a:cs typeface="+mn-cs"/>
              </a:rPr>
              <a:t>共享变量的互斥访问</a:t>
            </a:r>
            <a:endParaRPr lang="zh-CN" altLang="en-US" sz="1200" b="0" i="0" kern="1200" dirty="0" smtClean="0">
              <a:solidFill>
                <a:schemeClr val="tx1"/>
              </a:solidFill>
              <a:latin typeface="+mn-lt"/>
              <a:ea typeface="+mn-ea"/>
              <a:cs typeface="+mn-cs"/>
            </a:endParaRPr>
          </a:p>
          <a:p>
            <a:pPr latinLnBrk="1"/>
            <a:r>
              <a:rPr lang="en-US" altLang="zh-CN" sz="1200" b="0" i="0" kern="1200" dirty="0" smtClean="0">
                <a:solidFill>
                  <a:schemeClr val="tx1"/>
                </a:solidFill>
                <a:latin typeface="+mn-lt"/>
                <a:ea typeface="+mn-ea"/>
                <a:cs typeface="+mn-cs"/>
              </a:rPr>
              <a:t>}</a:t>
            </a:r>
            <a:r>
              <a:rPr lang="en-US" sz="1200" b="0" i="0" kern="1200" dirty="0" smtClean="0">
                <a:solidFill>
                  <a:schemeClr val="tx1"/>
                </a:solidFill>
                <a:latin typeface="+mn-lt"/>
                <a:ea typeface="+mn-ea"/>
                <a:cs typeface="+mn-cs"/>
              </a:rPr>
              <a:t>while(TRUE);</a:t>
            </a:r>
          </a:p>
          <a:p>
            <a:pPr latinLnBrk="1"/>
            <a:r>
              <a:rPr lang="en-US" sz="1200" b="0" i="0" kern="1200" dirty="0" smtClean="0">
                <a:solidFill>
                  <a:schemeClr val="tx1"/>
                </a:solidFill>
                <a:latin typeface="+mn-lt"/>
                <a:ea typeface="+mn-ea"/>
                <a:cs typeface="+mn-cs"/>
              </a:rPr>
              <a:t>}</a:t>
            </a:r>
          </a:p>
          <a:p>
            <a:pPr latinLnBrk="1"/>
            <a:r>
              <a:rPr lang="en-US" sz="1200" b="0" i="0" kern="1200" dirty="0" smtClean="0">
                <a:solidFill>
                  <a:schemeClr val="tx1"/>
                </a:solidFill>
                <a:latin typeface="+mn-lt"/>
                <a:ea typeface="+mn-ea"/>
                <a:cs typeface="+mn-cs"/>
              </a:rPr>
              <a:t>void writer(){</a:t>
            </a:r>
          </a:p>
          <a:p>
            <a:pPr latinLnBrk="1"/>
            <a:r>
              <a:rPr lang="en-US" sz="1200" b="0" i="0" kern="1200" dirty="0" smtClean="0">
                <a:solidFill>
                  <a:schemeClr val="tx1"/>
                </a:solidFill>
                <a:latin typeface="+mn-lt"/>
                <a:ea typeface="+mn-ea"/>
                <a:cs typeface="+mn-cs"/>
              </a:rPr>
              <a:t>do{</a:t>
            </a:r>
          </a:p>
          <a:p>
            <a:pPr latinLnBrk="1"/>
            <a:r>
              <a:rPr lang="en-US" sz="1200" b="0" i="0" kern="1200" dirty="0" smtClean="0">
                <a:solidFill>
                  <a:schemeClr val="tx1"/>
                </a:solidFill>
                <a:latin typeface="+mn-lt"/>
                <a:ea typeface="+mn-ea"/>
                <a:cs typeface="+mn-cs"/>
              </a:rPr>
              <a:t>P(</a:t>
            </a:r>
            <a:r>
              <a:rPr lang="en-US" sz="1200" b="0" i="0" kern="1200" dirty="0" err="1" smtClean="0">
                <a:solidFill>
                  <a:schemeClr val="tx1"/>
                </a:solidFill>
                <a:latin typeface="+mn-lt"/>
                <a:ea typeface="+mn-ea"/>
                <a:cs typeface="+mn-cs"/>
              </a:rPr>
              <a:t>wmutex</a:t>
            </a:r>
            <a:r>
              <a:rPr lang="en-US" sz="1200" b="0" i="0" kern="1200" dirty="0" smtClean="0">
                <a:solidFill>
                  <a:schemeClr val="tx1"/>
                </a:solidFill>
                <a:latin typeface="+mn-lt"/>
                <a:ea typeface="+mn-ea"/>
                <a:cs typeface="+mn-cs"/>
              </a:rPr>
              <a:t>);</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无读进程，进入写进程；若有读进程，写进程等待</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perform write operation;</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写操作</a:t>
            </a:r>
            <a:endParaRPr lang="zh-CN" altLang="en-US" sz="1200" b="0" i="0" kern="1200" dirty="0" smtClean="0">
              <a:solidFill>
                <a:schemeClr val="tx1"/>
              </a:solidFill>
              <a:latin typeface="+mn-lt"/>
              <a:ea typeface="+mn-ea"/>
              <a:cs typeface="+mn-cs"/>
            </a:endParaRPr>
          </a:p>
          <a:p>
            <a:pPr latinLnBrk="1"/>
            <a:r>
              <a:rPr lang="en-US" sz="1200" b="0" i="0" kern="1200" dirty="0" smtClean="0">
                <a:solidFill>
                  <a:schemeClr val="tx1"/>
                </a:solidFill>
                <a:latin typeface="+mn-lt"/>
                <a:ea typeface="+mn-ea"/>
                <a:cs typeface="+mn-cs"/>
              </a:rPr>
              <a:t>V(</a:t>
            </a:r>
            <a:r>
              <a:rPr lang="en-US" sz="1200" b="0" i="0" kern="1200" dirty="0" err="1" smtClean="0">
                <a:solidFill>
                  <a:schemeClr val="tx1"/>
                </a:solidFill>
                <a:latin typeface="+mn-lt"/>
                <a:ea typeface="+mn-ea"/>
                <a:cs typeface="+mn-cs"/>
              </a:rPr>
              <a:t>wmutex</a:t>
            </a:r>
            <a:r>
              <a:rPr lang="en-US" sz="1200" b="0" i="0" kern="1200" dirty="0" smtClean="0">
                <a:solidFill>
                  <a:schemeClr val="tx1"/>
                </a:solidFill>
                <a:latin typeface="+mn-lt"/>
                <a:ea typeface="+mn-ea"/>
                <a:cs typeface="+mn-cs"/>
              </a:rPr>
              <a:t>); </a:t>
            </a:r>
            <a:r>
              <a:rPr lang="en-US" sz="1200" b="0" i="1" kern="1200" dirty="0" smtClean="0">
                <a:solidFill>
                  <a:schemeClr val="tx1"/>
                </a:solidFill>
                <a:latin typeface="+mn-lt"/>
                <a:ea typeface="+mn-ea"/>
                <a:cs typeface="+mn-cs"/>
              </a:rPr>
              <a:t>//</a:t>
            </a:r>
            <a:r>
              <a:rPr lang="zh-CN" altLang="en-US" sz="1200" b="0" i="1" kern="1200" dirty="0" smtClean="0">
                <a:solidFill>
                  <a:schemeClr val="tx1"/>
                </a:solidFill>
                <a:latin typeface="+mn-lt"/>
                <a:ea typeface="+mn-ea"/>
                <a:cs typeface="+mn-cs"/>
              </a:rPr>
              <a:t>写进程完成；判断是否有读进程需要进入临界区，若有，唤醒一个读进程进临界区</a:t>
            </a:r>
            <a:endParaRPr lang="zh-CN" altLang="en-US" sz="1200" b="0" i="0" kern="1200" dirty="0" smtClean="0">
              <a:solidFill>
                <a:schemeClr val="tx1"/>
              </a:solidFill>
              <a:latin typeface="+mn-lt"/>
              <a:ea typeface="+mn-ea"/>
              <a:cs typeface="+mn-cs"/>
            </a:endParaRPr>
          </a:p>
          <a:p>
            <a:pPr latinLnBrk="1"/>
            <a:r>
              <a:rPr lang="en-US" altLang="zh-CN" sz="1200" b="0" i="0" kern="1200" dirty="0" smtClean="0">
                <a:solidFill>
                  <a:schemeClr val="tx1"/>
                </a:solidFill>
                <a:latin typeface="+mn-lt"/>
                <a:ea typeface="+mn-ea"/>
                <a:cs typeface="+mn-cs"/>
              </a:rPr>
              <a:t>}</a:t>
            </a:r>
            <a:r>
              <a:rPr lang="en-US" sz="1200" b="0" i="0" kern="1200" dirty="0" smtClean="0">
                <a:solidFill>
                  <a:schemeClr val="tx1"/>
                </a:solidFill>
                <a:latin typeface="+mn-lt"/>
                <a:ea typeface="+mn-ea"/>
                <a:cs typeface="+mn-cs"/>
              </a:rPr>
              <a:t>while(TRUE);</a:t>
            </a:r>
          </a:p>
          <a:p>
            <a:pPr latinLnBrk="1"/>
            <a:r>
              <a:rPr lang="en-US" sz="1200" b="0" i="0" kern="1200" dirty="0" smtClean="0">
                <a:solidFill>
                  <a:schemeClr val="tx1"/>
                </a:solidFill>
                <a:latin typeface="+mn-lt"/>
                <a:ea typeface="+mn-ea"/>
                <a:cs typeface="+mn-cs"/>
              </a:rPr>
              <a:t>}</a:t>
            </a:r>
          </a:p>
          <a:p>
            <a:r>
              <a:rPr lang="en-US" sz="1200" b="0" i="0" kern="1200" dirty="0" smtClean="0">
                <a:solidFill>
                  <a:schemeClr val="tx1"/>
                </a:solidFill>
                <a:latin typeface="+mn-lt"/>
                <a:ea typeface="+mn-ea"/>
                <a:cs typeface="+mn-cs"/>
              </a:rPr>
              <a:t/>
            </a:r>
            <a:br>
              <a:rPr lang="en-US" sz="1200" b="0" i="0" kern="1200" dirty="0" smtClean="0">
                <a:solidFill>
                  <a:schemeClr val="tx1"/>
                </a:solidFill>
                <a:latin typeface="+mn-lt"/>
                <a:ea typeface="+mn-ea"/>
                <a:cs typeface="+mn-cs"/>
              </a:rPr>
            </a:br>
            <a:endParaRPr lang="en-US" altLang="zh-CN" b="1" dirty="0" smtClean="0"/>
          </a:p>
          <a:p>
            <a:r>
              <a:rPr lang="zh-CN" altLang="en-US" dirty="0" smtClean="0"/>
              <a:t>如果不对</a:t>
            </a:r>
            <a:r>
              <a:rPr lang="en-US" altLang="zh-CN" dirty="0" err="1" smtClean="0"/>
              <a:t>Rcount</a:t>
            </a:r>
            <a:r>
              <a:rPr lang="zh-CN" altLang="en-US" dirty="0" smtClean="0"/>
              <a:t>进行互斥保护，会存在一个读者</a:t>
            </a:r>
            <a:r>
              <a:rPr lang="en-US" altLang="zh-CN" dirty="0" smtClean="0"/>
              <a:t>A</a:t>
            </a:r>
            <a:r>
              <a:rPr lang="zh-CN" altLang="en-US" dirty="0" smtClean="0"/>
              <a:t>对</a:t>
            </a:r>
            <a:r>
              <a:rPr lang="en-US" altLang="zh-CN" dirty="0" err="1" smtClean="0"/>
              <a:t>Rcout</a:t>
            </a:r>
            <a:r>
              <a:rPr lang="zh-CN" altLang="en-US" dirty="0" smtClean="0"/>
              <a:t>执行</a:t>
            </a:r>
            <a:r>
              <a:rPr lang="en-US" altLang="zh-CN" dirty="0" smtClean="0"/>
              <a:t>++</a:t>
            </a:r>
            <a:r>
              <a:rPr lang="zh-CN" altLang="en-US" dirty="0" smtClean="0"/>
              <a:t>操作后，进入</a:t>
            </a:r>
            <a:r>
              <a:rPr lang="en-US" altLang="zh-CN" dirty="0" smtClean="0"/>
              <a:t>if</a:t>
            </a:r>
            <a:r>
              <a:rPr lang="zh-CN" altLang="en-US" dirty="0" smtClean="0"/>
              <a:t>判断语句；而另外一个进程</a:t>
            </a:r>
            <a:r>
              <a:rPr lang="en-US" altLang="zh-CN" dirty="0" smtClean="0"/>
              <a:t>B</a:t>
            </a:r>
            <a:r>
              <a:rPr lang="zh-CN" altLang="en-US" dirty="0" smtClean="0"/>
              <a:t>执行减减操作，导致进程</a:t>
            </a:r>
            <a:r>
              <a:rPr lang="en-US" altLang="zh-CN" dirty="0" smtClean="0"/>
              <a:t>A</a:t>
            </a:r>
            <a:r>
              <a:rPr lang="zh-CN" altLang="en-US" dirty="0" smtClean="0"/>
              <a:t>的</a:t>
            </a:r>
            <a:r>
              <a:rPr lang="en-US" altLang="zh-CN" dirty="0" smtClean="0"/>
              <a:t>if</a:t>
            </a:r>
            <a:r>
              <a:rPr lang="zh-CN" altLang="en-US" dirty="0" smtClean="0"/>
              <a:t>判定出错。</a:t>
            </a:r>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78</a:t>
            </a:fld>
            <a:endParaRPr lang="zh-CN" altLang="en-US"/>
          </a:p>
        </p:txBody>
      </p:sp>
    </p:spTree>
    <p:extLst>
      <p:ext uri="{BB962C8B-B14F-4D97-AF65-F5344CB8AC3E}">
        <p14:creationId xmlns:p14="http://schemas.microsoft.com/office/powerpoint/2010/main" val="1831964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a:ln>
            <a:miter lim="800000"/>
            <a:headEnd/>
            <a:tailEnd/>
          </a:ln>
        </p:spPr>
        <p:txBody>
          <a:bodyPr/>
          <a:lstStyle/>
          <a:p>
            <a:fld id="{138617B7-D98C-49FF-882F-426AA9324F9F}" type="slidenum">
              <a:rPr lang="en-US" altLang="zh-CN" smtClean="0"/>
              <a:pPr/>
              <a:t>86</a:t>
            </a:fld>
            <a:endParaRPr lang="en-US" altLang="zh-CN" smtClean="0"/>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5444919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90</a:t>
            </a:fld>
            <a:endParaRPr lang="zh-CN" altLang="en-US"/>
          </a:p>
        </p:txBody>
      </p:sp>
    </p:spTree>
    <p:extLst>
      <p:ext uri="{BB962C8B-B14F-4D97-AF65-F5344CB8AC3E}">
        <p14:creationId xmlns:p14="http://schemas.microsoft.com/office/powerpoint/2010/main" val="12791621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100</a:t>
            </a:fld>
            <a:endParaRPr lang="zh-CN" altLang="en-US"/>
          </a:p>
        </p:txBody>
      </p:sp>
    </p:spTree>
    <p:extLst>
      <p:ext uri="{BB962C8B-B14F-4D97-AF65-F5344CB8AC3E}">
        <p14:creationId xmlns:p14="http://schemas.microsoft.com/office/powerpoint/2010/main" val="1912720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a:ln>
            <a:miter lim="800000"/>
            <a:headEnd/>
            <a:tailEnd/>
          </a:ln>
        </p:spPr>
        <p:txBody>
          <a:bodyPr/>
          <a:lstStyle/>
          <a:p>
            <a:fld id="{608D0BF4-2DED-459E-A7FC-5EC828D7AA4E}" type="slidenum">
              <a:rPr lang="en-US" altLang="zh-CN" smtClean="0"/>
              <a:pPr/>
              <a:t>104</a:t>
            </a:fld>
            <a:endParaRPr lang="en-US" altLang="zh-CN" smtClean="0"/>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11269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a:ln>
            <a:miter lim="800000"/>
            <a:headEnd/>
            <a:tailEnd/>
          </a:ln>
        </p:spPr>
        <p:txBody>
          <a:bodyPr/>
          <a:lstStyle/>
          <a:p>
            <a:fld id="{388320A0-2FC5-4719-927D-FACBA77502CD}" type="slidenum">
              <a:rPr lang="en-US" altLang="zh-CN" smtClean="0"/>
              <a:pPr/>
              <a:t>106</a:t>
            </a:fld>
            <a:endParaRPr lang="en-US" altLang="zh-CN" smtClean="0"/>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770877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a:ln>
            <a:miter lim="800000"/>
            <a:headEnd/>
            <a:tailEnd/>
          </a:ln>
        </p:spPr>
        <p:txBody>
          <a:bodyPr/>
          <a:lstStyle/>
          <a:p>
            <a:fld id="{AC868AAB-BA8D-4357-A261-A9EF77951CD2}" type="slidenum">
              <a:rPr lang="en-US" altLang="zh-CN" smtClean="0"/>
              <a:pPr/>
              <a:t>107</a:t>
            </a:fld>
            <a:endParaRPr lang="en-US" altLang="zh-CN" smtClean="0"/>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3569364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nSpc>
                <a:spcPct val="90000"/>
              </a:lnSpc>
              <a:buBlip>
                <a:blip r:embed="rId3"/>
              </a:buBlip>
            </a:pPr>
            <a:r>
              <a:rPr lang="en-US" altLang="zh-CN" sz="2800" b="1" dirty="0" smtClean="0"/>
              <a:t>wait(x)</a:t>
            </a:r>
            <a:r>
              <a:rPr lang="zh-CN" altLang="en-US" sz="2800" b="1" dirty="0" smtClean="0"/>
              <a:t>将自己阻塞在</a:t>
            </a:r>
            <a:r>
              <a:rPr lang="en-US" altLang="zh-CN" sz="2800" b="1" dirty="0" smtClean="0"/>
              <a:t>x</a:t>
            </a:r>
            <a:r>
              <a:rPr lang="zh-CN" altLang="en-US" sz="2800" b="1" dirty="0" smtClean="0"/>
              <a:t>队列中</a:t>
            </a:r>
          </a:p>
          <a:p>
            <a:pPr lvl="1">
              <a:lnSpc>
                <a:spcPct val="90000"/>
              </a:lnSpc>
              <a:buFontTx/>
              <a:buBlip>
                <a:blip r:embed="rId3"/>
              </a:buBlip>
            </a:pPr>
            <a:r>
              <a:rPr lang="zh-CN" altLang="en-US" dirty="0" smtClean="0"/>
              <a:t>如果</a:t>
            </a:r>
            <a:r>
              <a:rPr lang="zh-CN" altLang="en-US" dirty="0" smtClean="0">
                <a:solidFill>
                  <a:schemeClr val="accent2"/>
                </a:solidFill>
              </a:rPr>
              <a:t>紧急等待队列</a:t>
            </a:r>
            <a:r>
              <a:rPr lang="zh-CN" altLang="en-US" dirty="0" smtClean="0"/>
              <a:t>非空，则唤醒第一个等待者；</a:t>
            </a:r>
          </a:p>
          <a:p>
            <a:pPr lvl="1">
              <a:lnSpc>
                <a:spcPct val="90000"/>
              </a:lnSpc>
              <a:buFontTx/>
              <a:buBlip>
                <a:blip r:embed="rId3"/>
              </a:buBlip>
            </a:pPr>
            <a:r>
              <a:rPr lang="zh-CN" altLang="en-US" dirty="0" smtClean="0"/>
              <a:t>否则释放</a:t>
            </a:r>
            <a:r>
              <a:rPr lang="zh-CN" altLang="en-US" dirty="0" smtClean="0">
                <a:solidFill>
                  <a:schemeClr val="accent2"/>
                </a:solidFill>
              </a:rPr>
              <a:t>管程的互斥权</a:t>
            </a:r>
            <a:r>
              <a:rPr lang="zh-CN" altLang="en-US" dirty="0" smtClean="0"/>
              <a:t>，执行此操作的进程</a:t>
            </a:r>
            <a:r>
              <a:rPr lang="zh-CN" altLang="en-US" dirty="0" smtClean="0">
                <a:solidFill>
                  <a:schemeClr val="accent2"/>
                </a:solidFill>
              </a:rPr>
              <a:t>排入</a:t>
            </a:r>
            <a:r>
              <a:rPr lang="en-US" altLang="zh-CN" dirty="0" smtClean="0">
                <a:solidFill>
                  <a:schemeClr val="accent2"/>
                </a:solidFill>
              </a:rPr>
              <a:t>x</a:t>
            </a:r>
            <a:r>
              <a:rPr lang="zh-CN" altLang="en-US" dirty="0" smtClean="0">
                <a:solidFill>
                  <a:schemeClr val="accent2"/>
                </a:solidFill>
              </a:rPr>
              <a:t>队列尾部</a:t>
            </a:r>
          </a:p>
          <a:p>
            <a:pPr lvl="1">
              <a:lnSpc>
                <a:spcPct val="90000"/>
              </a:lnSpc>
              <a:buFontTx/>
              <a:buBlip>
                <a:blip r:embed="rId3"/>
              </a:buBlip>
            </a:pPr>
            <a:r>
              <a:rPr lang="zh-CN" altLang="en-US" dirty="0" smtClean="0">
                <a:solidFill>
                  <a:schemeClr val="accent2"/>
                </a:solidFill>
              </a:rPr>
              <a:t>紧急等待队列与</a:t>
            </a:r>
            <a:r>
              <a:rPr lang="en-US" altLang="zh-CN" dirty="0" smtClean="0">
                <a:solidFill>
                  <a:schemeClr val="accent2"/>
                </a:solidFill>
              </a:rPr>
              <a:t>x</a:t>
            </a:r>
            <a:r>
              <a:rPr lang="zh-CN" altLang="en-US" dirty="0" smtClean="0">
                <a:solidFill>
                  <a:schemeClr val="accent2"/>
                </a:solidFill>
              </a:rPr>
              <a:t>队列的关系</a:t>
            </a:r>
          </a:p>
          <a:p>
            <a:pPr lvl="2">
              <a:lnSpc>
                <a:spcPct val="90000"/>
              </a:lnSpc>
              <a:buFontTx/>
              <a:buBlip>
                <a:blip r:embed="rId4"/>
              </a:buBlip>
            </a:pPr>
            <a:r>
              <a:rPr lang="zh-CN" altLang="en-US" sz="2400" dirty="0" smtClean="0">
                <a:solidFill>
                  <a:srgbClr val="009900"/>
                </a:solidFill>
              </a:rPr>
              <a:t>紧急等待队列是由于管程的互斥进入而等待的队列</a:t>
            </a:r>
          </a:p>
          <a:p>
            <a:pPr lvl="2">
              <a:lnSpc>
                <a:spcPct val="90000"/>
              </a:lnSpc>
              <a:buFontTx/>
              <a:buBlip>
                <a:blip r:embed="rId4"/>
              </a:buBlip>
            </a:pPr>
            <a:r>
              <a:rPr lang="en-US" altLang="zh-CN" sz="2400" dirty="0" smtClean="0">
                <a:solidFill>
                  <a:srgbClr val="009900"/>
                </a:solidFill>
              </a:rPr>
              <a:t>x</a:t>
            </a:r>
            <a:r>
              <a:rPr lang="zh-CN" altLang="en-US" sz="2400" dirty="0" smtClean="0">
                <a:solidFill>
                  <a:srgbClr val="009900"/>
                </a:solidFill>
              </a:rPr>
              <a:t>队列是因资源被占用而等待的队列</a:t>
            </a:r>
          </a:p>
          <a:p>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108</a:t>
            </a:fld>
            <a:endParaRPr lang="zh-CN" altLang="en-US"/>
          </a:p>
        </p:txBody>
      </p:sp>
    </p:spTree>
    <p:extLst>
      <p:ext uri="{BB962C8B-B14F-4D97-AF65-F5344CB8AC3E}">
        <p14:creationId xmlns:p14="http://schemas.microsoft.com/office/powerpoint/2010/main" val="578063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Blip>
                <a:blip r:embed="rId3"/>
              </a:buBlip>
            </a:pPr>
            <a:r>
              <a:rPr lang="en-US" altLang="zh-CN" b="1" dirty="0" smtClean="0"/>
              <a:t>signal(x)</a:t>
            </a:r>
            <a:r>
              <a:rPr lang="zh-CN" altLang="en-US" b="1" dirty="0" smtClean="0"/>
              <a:t>将</a:t>
            </a:r>
            <a:r>
              <a:rPr lang="en-US" altLang="zh-CN" b="1" dirty="0" smtClean="0"/>
              <a:t>x</a:t>
            </a:r>
            <a:r>
              <a:rPr lang="zh-CN" altLang="en-US" b="1" dirty="0" smtClean="0"/>
              <a:t>队列中的一个进程唤醒</a:t>
            </a:r>
            <a:endParaRPr lang="en-US" altLang="zh-CN" sz="2400" dirty="0" smtClean="0">
              <a:solidFill>
                <a:schemeClr val="accent2"/>
              </a:solidFill>
            </a:endParaRPr>
          </a:p>
          <a:p>
            <a:pPr lvl="1">
              <a:buFontTx/>
              <a:buBlip>
                <a:blip r:embed="rId3"/>
              </a:buBlip>
            </a:pPr>
            <a:r>
              <a:rPr lang="zh-CN" altLang="en-US" sz="2000" dirty="0" smtClean="0">
                <a:solidFill>
                  <a:schemeClr val="accent2"/>
                </a:solidFill>
              </a:rPr>
              <a:t>如果</a:t>
            </a:r>
            <a:r>
              <a:rPr lang="en-US" altLang="zh-CN" sz="2000" dirty="0" smtClean="0">
                <a:solidFill>
                  <a:schemeClr val="accent2"/>
                </a:solidFill>
              </a:rPr>
              <a:t>x</a:t>
            </a:r>
            <a:r>
              <a:rPr lang="zh-CN" altLang="en-US" sz="2000" dirty="0" smtClean="0">
                <a:solidFill>
                  <a:schemeClr val="accent2"/>
                </a:solidFill>
              </a:rPr>
              <a:t>队列为空，则相当于空操作，执行此操作的进程继续；</a:t>
            </a:r>
          </a:p>
          <a:p>
            <a:pPr lvl="1">
              <a:buFontTx/>
              <a:buBlip>
                <a:blip r:embed="rId3"/>
              </a:buBlip>
            </a:pPr>
            <a:r>
              <a:rPr lang="zh-CN" altLang="en-US" sz="2000" dirty="0" smtClean="0">
                <a:solidFill>
                  <a:schemeClr val="accent2"/>
                </a:solidFill>
              </a:rPr>
              <a:t>否则唤醒第一个等待者，执行此操作的进程排入紧急等待队列的尾部</a:t>
            </a:r>
          </a:p>
          <a:p>
            <a:pPr lvl="1">
              <a:buFontTx/>
              <a:buBlip>
                <a:blip r:embed="rId3"/>
              </a:buBlip>
            </a:pPr>
            <a:r>
              <a:rPr lang="zh-CN" altLang="en-US" sz="2000" dirty="0" smtClean="0">
                <a:solidFill>
                  <a:schemeClr val="accent2"/>
                </a:solidFill>
              </a:rPr>
              <a:t>若进程</a:t>
            </a:r>
            <a:r>
              <a:rPr lang="en-US" altLang="zh-CN" sz="2000" dirty="0" smtClean="0">
                <a:solidFill>
                  <a:schemeClr val="accent2"/>
                </a:solidFill>
              </a:rPr>
              <a:t>P</a:t>
            </a:r>
            <a:r>
              <a:rPr lang="zh-CN" altLang="en-US" sz="2000" dirty="0" smtClean="0">
                <a:solidFill>
                  <a:schemeClr val="accent2"/>
                </a:solidFill>
              </a:rPr>
              <a:t>唤醒进程</a:t>
            </a:r>
            <a:r>
              <a:rPr lang="en-US" altLang="zh-CN" sz="2000" dirty="0" smtClean="0">
                <a:solidFill>
                  <a:schemeClr val="accent2"/>
                </a:solidFill>
              </a:rPr>
              <a:t>Q</a:t>
            </a:r>
            <a:r>
              <a:rPr lang="zh-CN" altLang="en-US" sz="2000" dirty="0" smtClean="0">
                <a:solidFill>
                  <a:schemeClr val="accent2"/>
                </a:solidFill>
              </a:rPr>
              <a:t>，则随后可有两种执行方式（进程</a:t>
            </a:r>
            <a:r>
              <a:rPr lang="en-US" altLang="zh-CN" sz="2000" dirty="0" smtClean="0">
                <a:solidFill>
                  <a:schemeClr val="accent2"/>
                </a:solidFill>
              </a:rPr>
              <a:t>P</a:t>
            </a:r>
            <a:r>
              <a:rPr lang="zh-CN" altLang="en-US" sz="2000" dirty="0" smtClean="0">
                <a:solidFill>
                  <a:schemeClr val="accent2"/>
                </a:solidFill>
              </a:rPr>
              <a:t>、</a:t>
            </a:r>
            <a:r>
              <a:rPr lang="en-US" altLang="zh-CN" sz="2000" dirty="0" smtClean="0">
                <a:solidFill>
                  <a:schemeClr val="accent2"/>
                </a:solidFill>
              </a:rPr>
              <a:t>Q</a:t>
            </a:r>
            <a:r>
              <a:rPr lang="zh-CN" altLang="en-US" sz="2000" dirty="0" smtClean="0">
                <a:solidFill>
                  <a:schemeClr val="accent2"/>
                </a:solidFill>
              </a:rPr>
              <a:t>都是管程中的进程）</a:t>
            </a:r>
          </a:p>
          <a:p>
            <a:pPr lvl="2">
              <a:buFontTx/>
              <a:buBlip>
                <a:blip r:embed="rId4"/>
              </a:buBlip>
            </a:pPr>
            <a:r>
              <a:rPr lang="en-US" altLang="zh-CN" dirty="0" smtClean="0">
                <a:solidFill>
                  <a:srgbClr val="009900"/>
                </a:solidFill>
              </a:rPr>
              <a:t>P</a:t>
            </a:r>
            <a:r>
              <a:rPr lang="zh-CN" altLang="en-US" dirty="0" smtClean="0">
                <a:solidFill>
                  <a:srgbClr val="009900"/>
                </a:solidFill>
              </a:rPr>
              <a:t>等待，直到执行</a:t>
            </a:r>
            <a:r>
              <a:rPr lang="en-US" altLang="zh-CN" dirty="0" smtClean="0">
                <a:solidFill>
                  <a:srgbClr val="009900"/>
                </a:solidFill>
              </a:rPr>
              <a:t>Q</a:t>
            </a:r>
            <a:r>
              <a:rPr lang="zh-CN" altLang="en-US" dirty="0" smtClean="0">
                <a:solidFill>
                  <a:srgbClr val="009900"/>
                </a:solidFill>
              </a:rPr>
              <a:t>离开管程或下一次等待。</a:t>
            </a:r>
            <a:r>
              <a:rPr lang="en-US" altLang="zh-CN" dirty="0" smtClean="0">
                <a:solidFill>
                  <a:srgbClr val="009900"/>
                </a:solidFill>
              </a:rPr>
              <a:t>Hoare</a:t>
            </a:r>
            <a:r>
              <a:rPr lang="zh-CN" altLang="en-US" dirty="0" smtClean="0">
                <a:solidFill>
                  <a:srgbClr val="009900"/>
                </a:solidFill>
              </a:rPr>
              <a:t>采用。</a:t>
            </a:r>
          </a:p>
          <a:p>
            <a:pPr lvl="2">
              <a:buFontTx/>
              <a:buBlip>
                <a:blip r:embed="rId4"/>
              </a:buBlip>
            </a:pPr>
            <a:r>
              <a:rPr lang="en-US" altLang="zh-CN" dirty="0" smtClean="0">
                <a:solidFill>
                  <a:srgbClr val="009900"/>
                </a:solidFill>
              </a:rPr>
              <a:t>Q</a:t>
            </a:r>
            <a:r>
              <a:rPr lang="zh-CN" altLang="en-US" dirty="0" smtClean="0">
                <a:solidFill>
                  <a:srgbClr val="009900"/>
                </a:solidFill>
              </a:rPr>
              <a:t>送入</a:t>
            </a:r>
            <a:r>
              <a:rPr lang="en-US" altLang="zh-CN" dirty="0" smtClean="0">
                <a:solidFill>
                  <a:srgbClr val="009900"/>
                </a:solidFill>
              </a:rPr>
              <a:t>Ready</a:t>
            </a:r>
            <a:r>
              <a:rPr lang="zh-CN" altLang="en-US" dirty="0" smtClean="0">
                <a:solidFill>
                  <a:srgbClr val="009900"/>
                </a:solidFill>
              </a:rPr>
              <a:t>队列，直到执行</a:t>
            </a:r>
            <a:r>
              <a:rPr lang="en-US" altLang="zh-CN" dirty="0" smtClean="0">
                <a:solidFill>
                  <a:srgbClr val="009900"/>
                </a:solidFill>
              </a:rPr>
              <a:t>P</a:t>
            </a:r>
            <a:r>
              <a:rPr lang="zh-CN" altLang="en-US" dirty="0" smtClean="0">
                <a:solidFill>
                  <a:srgbClr val="009900"/>
                </a:solidFill>
              </a:rPr>
              <a:t>离开管程或下一次等待。</a:t>
            </a:r>
            <a:r>
              <a:rPr lang="en-US" altLang="zh-CN" dirty="0" smtClean="0">
                <a:solidFill>
                  <a:srgbClr val="009900"/>
                </a:solidFill>
              </a:rPr>
              <a:t>1980</a:t>
            </a:r>
            <a:r>
              <a:rPr lang="zh-CN" altLang="en-US" dirty="0" smtClean="0">
                <a:solidFill>
                  <a:srgbClr val="009900"/>
                </a:solidFill>
              </a:rPr>
              <a:t>年，</a:t>
            </a:r>
            <a:r>
              <a:rPr lang="en-US" altLang="zh-CN" dirty="0" smtClean="0">
                <a:solidFill>
                  <a:srgbClr val="009900"/>
                </a:solidFill>
              </a:rPr>
              <a:t>Lampson</a:t>
            </a:r>
            <a:r>
              <a:rPr lang="zh-CN" altLang="en-US" dirty="0" smtClean="0">
                <a:solidFill>
                  <a:srgbClr val="009900"/>
                </a:solidFill>
              </a:rPr>
              <a:t>和</a:t>
            </a:r>
            <a:r>
              <a:rPr lang="en-US" altLang="zh-CN" dirty="0" err="1" smtClean="0">
                <a:solidFill>
                  <a:srgbClr val="009900"/>
                </a:solidFill>
              </a:rPr>
              <a:t>Redell</a:t>
            </a:r>
            <a:r>
              <a:rPr lang="zh-CN" altLang="en-US" dirty="0" smtClean="0">
                <a:solidFill>
                  <a:srgbClr val="009900"/>
                </a:solidFill>
              </a:rPr>
              <a:t>采用。原语由</a:t>
            </a:r>
            <a:r>
              <a:rPr lang="en-US" altLang="zh-CN" dirty="0" err="1" smtClean="0">
                <a:solidFill>
                  <a:srgbClr val="009900"/>
                </a:solidFill>
              </a:rPr>
              <a:t>csignal</a:t>
            </a:r>
            <a:r>
              <a:rPr lang="en-US" altLang="zh-CN" dirty="0" smtClean="0">
                <a:solidFill>
                  <a:srgbClr val="009900"/>
                </a:solidFill>
              </a:rPr>
              <a:t>(x)</a:t>
            </a:r>
            <a:r>
              <a:rPr lang="zh-CN" altLang="en-US" dirty="0" smtClean="0">
                <a:solidFill>
                  <a:srgbClr val="009900"/>
                </a:solidFill>
              </a:rPr>
              <a:t>改为</a:t>
            </a:r>
            <a:r>
              <a:rPr lang="en-US" altLang="zh-CN" dirty="0" err="1" smtClean="0">
                <a:solidFill>
                  <a:srgbClr val="009900"/>
                </a:solidFill>
              </a:rPr>
              <a:t>cnotify</a:t>
            </a:r>
            <a:r>
              <a:rPr lang="en-US" altLang="zh-CN" dirty="0" smtClean="0">
                <a:solidFill>
                  <a:srgbClr val="009900"/>
                </a:solidFill>
              </a:rPr>
              <a:t>(x)</a:t>
            </a:r>
            <a:r>
              <a:rPr lang="zh-CN" altLang="en-US" dirty="0" smtClean="0">
                <a:solidFill>
                  <a:srgbClr val="009900"/>
                </a:solidFill>
              </a:rPr>
              <a:t>。</a:t>
            </a:r>
          </a:p>
          <a:p>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109</a:t>
            </a:fld>
            <a:endParaRPr lang="zh-CN" altLang="en-US"/>
          </a:p>
        </p:txBody>
      </p:sp>
    </p:spTree>
    <p:extLst>
      <p:ext uri="{BB962C8B-B14F-4D97-AF65-F5344CB8AC3E}">
        <p14:creationId xmlns:p14="http://schemas.microsoft.com/office/powerpoint/2010/main" val="50757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solidFill>
                  <a:srgbClr val="FF0000"/>
                </a:solidFill>
              </a:rPr>
              <a:t>紧急等待队列：</a:t>
            </a:r>
            <a:r>
              <a:rPr lang="zh-CN" altLang="en-US" sz="1200" dirty="0" smtClean="0"/>
              <a:t>如果进程</a:t>
            </a:r>
            <a:r>
              <a:rPr lang="en-US" altLang="zh-CN" sz="1200" dirty="0" smtClean="0"/>
              <a:t>P</a:t>
            </a:r>
            <a:r>
              <a:rPr lang="zh-CN" altLang="en-US" sz="1200" dirty="0" smtClean="0"/>
              <a:t>唤醒进程</a:t>
            </a:r>
            <a:r>
              <a:rPr lang="en-US" altLang="zh-CN" sz="1200" dirty="0" smtClean="0"/>
              <a:t>Q</a:t>
            </a:r>
            <a:r>
              <a:rPr lang="zh-CN" altLang="en-US" sz="1200" dirty="0" smtClean="0"/>
              <a:t>，则</a:t>
            </a:r>
            <a:r>
              <a:rPr lang="en-US" altLang="zh-CN" sz="1200" dirty="0" smtClean="0"/>
              <a:t>P</a:t>
            </a:r>
            <a:r>
              <a:rPr lang="zh-CN" altLang="en-US" sz="1200" dirty="0" smtClean="0"/>
              <a:t>等待</a:t>
            </a:r>
            <a:r>
              <a:rPr lang="en-US" altLang="zh-CN" sz="1200" dirty="0" smtClean="0"/>
              <a:t>Q</a:t>
            </a:r>
            <a:r>
              <a:rPr lang="zh-CN" altLang="en-US" sz="1200" dirty="0" smtClean="0"/>
              <a:t>继续，如果进程</a:t>
            </a:r>
            <a:r>
              <a:rPr lang="en-US" altLang="zh-CN" sz="1200" dirty="0" smtClean="0"/>
              <a:t>Q</a:t>
            </a:r>
            <a:r>
              <a:rPr lang="zh-CN" altLang="en-US" sz="1200" dirty="0" smtClean="0"/>
              <a:t>在执行又唤醒进程</a:t>
            </a:r>
            <a:r>
              <a:rPr lang="en-US" altLang="zh-CN" sz="1200" dirty="0" smtClean="0"/>
              <a:t>R</a:t>
            </a:r>
            <a:r>
              <a:rPr lang="zh-CN" altLang="en-US" sz="1200" dirty="0" smtClean="0"/>
              <a:t>，则</a:t>
            </a:r>
            <a:r>
              <a:rPr lang="en-US" altLang="zh-CN" sz="1200" dirty="0" smtClean="0"/>
              <a:t>Q</a:t>
            </a:r>
            <a:r>
              <a:rPr lang="zh-CN" altLang="en-US" sz="1200" dirty="0" smtClean="0"/>
              <a:t>等待</a:t>
            </a:r>
            <a:r>
              <a:rPr lang="en-US" altLang="zh-CN" sz="1200" dirty="0" smtClean="0"/>
              <a:t>R</a:t>
            </a:r>
            <a:r>
              <a:rPr lang="zh-CN" altLang="en-US" sz="1200" dirty="0" smtClean="0"/>
              <a:t>继续，</a:t>
            </a:r>
            <a:r>
              <a:rPr lang="en-US" altLang="zh-CN" sz="1200" dirty="0" smtClean="0"/>
              <a:t>...</a:t>
            </a:r>
            <a:r>
              <a:rPr lang="zh-CN" altLang="en-US" sz="1200" dirty="0" smtClean="0"/>
              <a:t>，如此，在管程内部，由于执行唤醒操作，可能会出现多个等待进程（</a:t>
            </a:r>
            <a:r>
              <a:rPr lang="zh-CN" altLang="en-US" sz="1200" dirty="0" smtClean="0">
                <a:solidFill>
                  <a:schemeClr val="accent2"/>
                </a:solidFill>
              </a:rPr>
              <a:t>已被唤醒，但由于管程的互斥进入而等待</a:t>
            </a:r>
            <a:r>
              <a:rPr lang="zh-CN" altLang="en-US" sz="1200" dirty="0" smtClean="0"/>
              <a:t>），因而还需要有一个进程等待队列，这个等待队列被称为紧急等待队列。</a:t>
            </a:r>
            <a:r>
              <a:rPr lang="zh-CN" altLang="en-US" sz="1200" dirty="0" smtClean="0">
                <a:solidFill>
                  <a:schemeClr val="accent2"/>
                </a:solidFill>
              </a:rPr>
              <a:t>它的优先级应当高于入口等待队列的优先级</a:t>
            </a:r>
            <a:r>
              <a:rPr lang="zh-CN" altLang="en-US" sz="1200" dirty="0" smtClean="0"/>
              <a:t>。</a:t>
            </a:r>
          </a:p>
          <a:p>
            <a:endParaRPr lang="zh-CN" altLang="en-US" dirty="0"/>
          </a:p>
        </p:txBody>
      </p:sp>
      <p:sp>
        <p:nvSpPr>
          <p:cNvPr id="4" name="灯片编号占位符 3"/>
          <p:cNvSpPr>
            <a:spLocks noGrp="1"/>
          </p:cNvSpPr>
          <p:nvPr>
            <p:ph type="sldNum" sz="quarter" idx="10"/>
          </p:nvPr>
        </p:nvSpPr>
        <p:spPr/>
        <p:txBody>
          <a:bodyPr/>
          <a:lstStyle/>
          <a:p>
            <a:fld id="{053F40E8-B080-4069-9916-BB6BA31401C1}" type="slidenum">
              <a:rPr lang="zh-CN" altLang="en-US" smtClean="0"/>
              <a:pPr/>
              <a:t>110</a:t>
            </a:fld>
            <a:endParaRPr lang="zh-CN" altLang="en-US"/>
          </a:p>
        </p:txBody>
      </p:sp>
    </p:spTree>
    <p:extLst>
      <p:ext uri="{BB962C8B-B14F-4D97-AF65-F5344CB8AC3E}">
        <p14:creationId xmlns:p14="http://schemas.microsoft.com/office/powerpoint/2010/main" val="24909956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幻灯片图像占位符 1"/>
          <p:cNvSpPr>
            <a:spLocks noGrp="1" noRot="1" noChangeAspect="1"/>
          </p:cNvSpPr>
          <p:nvPr>
            <p:ph type="sldImg"/>
          </p:nvPr>
        </p:nvSpPr>
        <p:spPr bwMode="auto">
          <a:noFill/>
          <a:ln>
            <a:solidFill>
              <a:srgbClr val="000000"/>
            </a:solidFill>
            <a:miter lim="800000"/>
          </a:ln>
        </p:spPr>
      </p:sp>
      <p:sp>
        <p:nvSpPr>
          <p:cNvPr id="2949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949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AA4A30-F643-404A-80F4-58BF81F7EE2C}" type="slidenum">
              <a:rPr lang="zh-CN" altLang="en-US">
                <a:cs typeface="华文仿宋" panose="02010600040101010101" charset="-122"/>
              </a:rPr>
              <a:pPr fontAlgn="base">
                <a:spcBef>
                  <a:spcPct val="0"/>
                </a:spcBef>
                <a:spcAft>
                  <a:spcPct val="0"/>
                </a:spcAft>
              </a:pPr>
              <a:t>128</a:t>
            </a:fld>
            <a:endParaRPr lang="en-US" altLang="zh-CN">
              <a:cs typeface="华文仿宋" panose="02010600040101010101" charset="-122"/>
            </a:endParaRPr>
          </a:p>
        </p:txBody>
      </p:sp>
    </p:spTree>
    <p:extLst>
      <p:ext uri="{BB962C8B-B14F-4D97-AF65-F5344CB8AC3E}">
        <p14:creationId xmlns:p14="http://schemas.microsoft.com/office/powerpoint/2010/main" val="495514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微软雅黑" pitchFamily="34" charset="-122"/>
                <a:ea typeface="微软雅黑"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smtClean="0"/>
              <a:t>Click to edit Master subtitle style</a:t>
            </a:r>
            <a:endParaRPr lang="en-US" dirty="0"/>
          </a:p>
        </p:txBody>
      </p:sp>
      <p:sp>
        <p:nvSpPr>
          <p:cNvPr id="4" name="Date Placeholder 3"/>
          <p:cNvSpPr>
            <a:spLocks noGrp="1"/>
          </p:cNvSpPr>
          <p:nvPr>
            <p:ph type="dt" sz="half" idx="10"/>
          </p:nvPr>
        </p:nvSpPr>
        <p:spPr/>
        <p:txBody>
          <a:bodyPr/>
          <a:lstStyle/>
          <a:p>
            <a:fld id="{A6740F6D-DB78-4890-80E5-450BB9E21404}"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0280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40676"/>
            <a:ext cx="7886700" cy="693274"/>
          </a:xfrm>
        </p:spPr>
        <p:txBody>
          <a:bodyPr/>
          <a:lstStyle>
            <a:lvl1pPr>
              <a:defRPr>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Content Placeholder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en-US" altLang="zh-CN" dirty="0" smtClean="0"/>
              <a:t>Click to edit Master text styles</a:t>
            </a:r>
          </a:p>
          <a:p>
            <a:pPr lvl="1"/>
            <a:r>
              <a:rPr lang="en-US" altLang="zh-CN" dirty="0" smtClean="0"/>
              <a:t>Second level</a:t>
            </a:r>
          </a:p>
          <a:p>
            <a:pPr lvl="2"/>
            <a:r>
              <a:rPr lang="en-US" altLang="zh-CN" dirty="0" smtClean="0"/>
              <a:t>Third level</a:t>
            </a:r>
          </a:p>
          <a:p>
            <a:pPr lvl="3"/>
            <a:r>
              <a:rPr lang="en-US" altLang="zh-CN" dirty="0" smtClean="0"/>
              <a:t>Fourth level</a:t>
            </a:r>
          </a:p>
          <a:p>
            <a:pPr lvl="4"/>
            <a:r>
              <a:rPr lang="en-US" altLang="zh-CN" dirty="0" smtClean="0"/>
              <a:t>Fifth level</a:t>
            </a:r>
            <a:endParaRPr lang="en-US" dirty="0"/>
          </a:p>
        </p:txBody>
      </p:sp>
      <p:sp>
        <p:nvSpPr>
          <p:cNvPr id="4" name="Date Placeholder 3"/>
          <p:cNvSpPr>
            <a:spLocks noGrp="1"/>
          </p:cNvSpPr>
          <p:nvPr>
            <p:ph type="dt" sz="half" idx="10"/>
          </p:nvPr>
        </p:nvSpPr>
        <p:spPr/>
        <p:txBody>
          <a:bodyPr/>
          <a:lstStyle/>
          <a:p>
            <a:fld id="{AE1CD17D-5A12-4243-927A-081D6A33441E}"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51520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ltLang="zh-CN"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smtClean="0"/>
              <a:t>Click to edit Master text styles</a:t>
            </a:r>
          </a:p>
        </p:txBody>
      </p:sp>
      <p:sp>
        <p:nvSpPr>
          <p:cNvPr id="4" name="Date Placeholder 3"/>
          <p:cNvSpPr>
            <a:spLocks noGrp="1"/>
          </p:cNvSpPr>
          <p:nvPr>
            <p:ph type="dt" sz="half" idx="10"/>
          </p:nvPr>
        </p:nvSpPr>
        <p:spPr/>
        <p:txBody>
          <a:bodyPr/>
          <a:lstStyle/>
          <a:p>
            <a:fld id="{D958000C-CB4D-4731-B054-439743724A38}"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2390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48996"/>
            <a:ext cx="7886700" cy="693274"/>
          </a:xfrm>
        </p:spPr>
        <p:txBody>
          <a:bodyPr/>
          <a:lstStyle>
            <a:lvl1pPr>
              <a:defRPr>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5" name="Date Placeholder 4"/>
          <p:cNvSpPr>
            <a:spLocks noGrp="1"/>
          </p:cNvSpPr>
          <p:nvPr>
            <p:ph type="dt" sz="half" idx="10"/>
          </p:nvPr>
        </p:nvSpPr>
        <p:spPr/>
        <p:txBody>
          <a:bodyPr/>
          <a:lstStyle/>
          <a:p>
            <a:fld id="{956E2989-9CA4-4DFE-9114-2794880532B7}"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smtClean="0"/>
              <a:t>CH03 - Synchronization &amp; Mutual Exclusion</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828087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16131"/>
            <a:ext cx="7886700" cy="556954"/>
          </a:xfrm>
        </p:spPr>
        <p:txBody>
          <a:bodyPr/>
          <a:lstStyle>
            <a:lvl1pPr>
              <a:defRPr>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7" name="Date Placeholder 6"/>
          <p:cNvSpPr>
            <a:spLocks noGrp="1"/>
          </p:cNvSpPr>
          <p:nvPr>
            <p:ph type="dt" sz="half" idx="10"/>
          </p:nvPr>
        </p:nvSpPr>
        <p:spPr/>
        <p:txBody>
          <a:bodyPr/>
          <a:lstStyle/>
          <a:p>
            <a:fld id="{779D9E0B-E6A1-4013-9D7B-702DF80E787C}" type="datetime1">
              <a:rPr lang="zh-CN" altLang="en-US" smtClean="0"/>
              <a:pPr/>
              <a:t>2018/8/3</a:t>
            </a:fld>
            <a:endParaRPr lang="zh-CN" altLang="en-US"/>
          </a:p>
        </p:txBody>
      </p:sp>
      <p:sp>
        <p:nvSpPr>
          <p:cNvPr id="8" name="Footer Placeholder 7"/>
          <p:cNvSpPr>
            <a:spLocks noGrp="1"/>
          </p:cNvSpPr>
          <p:nvPr>
            <p:ph type="ftr" sz="quarter" idx="11"/>
          </p:nvPr>
        </p:nvSpPr>
        <p:spPr/>
        <p:txBody>
          <a:bodyPr/>
          <a:lstStyle/>
          <a:p>
            <a:r>
              <a:rPr lang="en-US" altLang="zh-CN" smtClean="0"/>
              <a:t>CH03 - Synchronization &amp; Mutual Exclusion</a:t>
            </a:r>
            <a:endParaRPr lang="zh-CN" altLang="en-US"/>
          </a:p>
        </p:txBody>
      </p:sp>
      <p:sp>
        <p:nvSpPr>
          <p:cNvPr id="9" name="Slide Number Placeholder 8"/>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1959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95399" y="140683"/>
            <a:ext cx="7886700" cy="693274"/>
          </a:xfrm>
        </p:spPr>
        <p:txBody>
          <a:bodyPr/>
          <a:lstStyle>
            <a:lvl1pPr>
              <a:defRPr>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Date Placeholder 2"/>
          <p:cNvSpPr>
            <a:spLocks noGrp="1"/>
          </p:cNvSpPr>
          <p:nvPr>
            <p:ph type="dt" sz="half" idx="10"/>
          </p:nvPr>
        </p:nvSpPr>
        <p:spPr/>
        <p:txBody>
          <a:bodyPr/>
          <a:lstStyle/>
          <a:p>
            <a:fld id="{10ECDF0C-C62D-4EAA-9155-69E11C5CA171}" type="datetime1">
              <a:rPr lang="zh-CN" altLang="en-US" smtClean="0"/>
              <a:pPr/>
              <a:t>2018/8/3</a:t>
            </a:fld>
            <a:endParaRPr lang="zh-CN" altLang="en-US"/>
          </a:p>
        </p:txBody>
      </p:sp>
      <p:sp>
        <p:nvSpPr>
          <p:cNvPr id="4" name="Footer Placeholder 3"/>
          <p:cNvSpPr>
            <a:spLocks noGrp="1"/>
          </p:cNvSpPr>
          <p:nvPr>
            <p:ph type="ftr" sz="quarter" idx="11"/>
          </p:nvPr>
        </p:nvSpPr>
        <p:spPr/>
        <p:txBody>
          <a:bodyPr/>
          <a:lstStyle/>
          <a:p>
            <a:r>
              <a:rPr lang="en-US" altLang="zh-CN" smtClean="0"/>
              <a:t>CH03 - Synchronization &amp; Mutual Exclusion</a:t>
            </a:r>
            <a:endParaRPr lang="zh-CN" altLang="en-US"/>
          </a:p>
        </p:txBody>
      </p:sp>
      <p:sp>
        <p:nvSpPr>
          <p:cNvPr id="5" name="Slide Number Placeholder 4"/>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28543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ED2F3-7547-41DC-981B-516372A5E3A0}" type="datetime1">
              <a:rPr lang="zh-CN" altLang="en-US" smtClean="0"/>
              <a:pPr/>
              <a:t>2018/8/3</a:t>
            </a:fld>
            <a:endParaRPr lang="zh-CN" altLang="en-US"/>
          </a:p>
        </p:txBody>
      </p:sp>
      <p:sp>
        <p:nvSpPr>
          <p:cNvPr id="3" name="Footer Placeholder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Slide Number Placeholder 3"/>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84681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1CB8A6A5-DEDC-4167-9156-96DB94A49715}"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smtClean="0"/>
              <a:t>CH03 - Synchronization &amp; Mutual Exclusion</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04489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smtClean="0"/>
              <a:t>Click to edit Master text styles</a:t>
            </a:r>
          </a:p>
        </p:txBody>
      </p:sp>
      <p:sp>
        <p:nvSpPr>
          <p:cNvPr id="5" name="Date Placeholder 4"/>
          <p:cNvSpPr>
            <a:spLocks noGrp="1"/>
          </p:cNvSpPr>
          <p:nvPr>
            <p:ph type="dt" sz="half" idx="10"/>
          </p:nvPr>
        </p:nvSpPr>
        <p:spPr/>
        <p:txBody>
          <a:bodyPr/>
          <a:lstStyle/>
          <a:p>
            <a:fld id="{A2EC2B32-930C-408B-B3E3-B035E959775E}"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smtClean="0"/>
              <a:t>CH03 - Synchronization &amp; Mutual Exclusion</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1487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198872"/>
            <a:ext cx="7886700" cy="693274"/>
          </a:xfrm>
        </p:spPr>
        <p:txBody>
          <a:bodyPr/>
          <a:lstStyle>
            <a:lvl1pPr>
              <a:defRPr>
                <a:latin typeface="微软雅黑" pitchFamily="34" charset="-122"/>
                <a:ea typeface="微软雅黑" pitchFamily="34" charset="-122"/>
              </a:defRPr>
            </a:lvl1pPr>
          </a:lstStyle>
          <a:p>
            <a:r>
              <a:rPr lang="en-US" altLang="zh-CN"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Date Placeholder 3"/>
          <p:cNvSpPr>
            <a:spLocks noGrp="1"/>
          </p:cNvSpPr>
          <p:nvPr>
            <p:ph type="dt" sz="half" idx="10"/>
          </p:nvPr>
        </p:nvSpPr>
        <p:spPr/>
        <p:txBody>
          <a:bodyPr/>
          <a:lstStyle/>
          <a:p>
            <a:fld id="{FA6E448C-628F-4C87-8111-E388B26E076D}"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78677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dirty="0"/>
          </a:p>
        </p:txBody>
      </p:sp>
      <p:sp>
        <p:nvSpPr>
          <p:cNvPr id="4" name="Date Placeholder 3"/>
          <p:cNvSpPr>
            <a:spLocks noGrp="1"/>
          </p:cNvSpPr>
          <p:nvPr>
            <p:ph type="dt" sz="half" idx="10"/>
          </p:nvPr>
        </p:nvSpPr>
        <p:spPr/>
        <p:txBody>
          <a:bodyPr/>
          <a:lstStyle/>
          <a:p>
            <a:fld id="{AB916D85-55DF-4C50-9CA7-61EB046A10F0}"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1985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693274"/>
          </a:xfrm>
          <a:prstGeom prst="rect">
            <a:avLst/>
          </a:prstGeom>
        </p:spPr>
        <p:txBody>
          <a:bodyPr vert="horz" lIns="91440" tIns="45720" rIns="91440" bIns="45720" rtlCol="0" anchor="ctr">
            <a:normAutofit/>
          </a:bodyPr>
          <a:lstStyle/>
          <a:p>
            <a:r>
              <a:rPr lang="en-US" altLang="zh-CN" dirty="0" smtClean="0"/>
              <a:t>Click to edit Master title style</a:t>
            </a:r>
            <a:endParaRPr lang="en-US" dirty="0"/>
          </a:p>
        </p:txBody>
      </p:sp>
      <p:sp>
        <p:nvSpPr>
          <p:cNvPr id="3" name="Text Placeholder 2"/>
          <p:cNvSpPr>
            <a:spLocks noGrp="1"/>
          </p:cNvSpPr>
          <p:nvPr>
            <p:ph type="body" idx="1"/>
          </p:nvPr>
        </p:nvSpPr>
        <p:spPr>
          <a:xfrm>
            <a:off x="628650" y="1317600"/>
            <a:ext cx="7886700" cy="4917600"/>
          </a:xfrm>
          <a:prstGeom prst="rect">
            <a:avLst/>
          </a:prstGeom>
        </p:spPr>
        <p:txBody>
          <a:bodyPr vert="horz" lIns="91440" tIns="45720" rIns="91440" bIns="45720" rtlCol="0">
            <a:normAutofit/>
          </a:bodyPr>
          <a:lstStyle/>
          <a:p>
            <a:pPr lvl="0"/>
            <a:r>
              <a:rPr lang="en-US" altLang="zh-CN" dirty="0" smtClean="0"/>
              <a:t>Click to edit Master text styles</a:t>
            </a:r>
          </a:p>
          <a:p>
            <a:pPr lvl="1"/>
            <a:r>
              <a:rPr lang="en-US" altLang="zh-CN" dirty="0" smtClean="0"/>
              <a:t>Second level</a:t>
            </a:r>
          </a:p>
          <a:p>
            <a:pPr lvl="2"/>
            <a:r>
              <a:rPr lang="en-US" altLang="zh-CN" dirty="0" smtClean="0"/>
              <a:t>Third level</a:t>
            </a:r>
          </a:p>
          <a:p>
            <a:pPr lvl="3"/>
            <a:r>
              <a:rPr lang="en-US" altLang="zh-CN" dirty="0" smtClean="0"/>
              <a:t>Fourth level</a:t>
            </a:r>
          </a:p>
          <a:p>
            <a:pPr lvl="4"/>
            <a:r>
              <a:rPr lang="en-US" altLang="zh-CN" dirty="0"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100">
                <a:solidFill>
                  <a:schemeClr val="tx1">
                    <a:tint val="75000"/>
                  </a:schemeClr>
                </a:solidFill>
                <a:latin typeface="Segoe UI Symbol" panose="020B0502040204020203" pitchFamily="34" charset="0"/>
              </a:defRPr>
            </a:lvl1pPr>
          </a:lstStyle>
          <a:p>
            <a:fld id="{BF3A4DA6-FFA5-4BD4-B9C4-CBE3CF336C6A}" type="datetime1">
              <a:rPr lang="zh-CN" altLang="en-US" smtClean="0"/>
              <a:pPr/>
              <a:t>2018/8/3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100">
                <a:solidFill>
                  <a:schemeClr val="tx1">
                    <a:tint val="75000"/>
                  </a:schemeClr>
                </a:solidFill>
                <a:latin typeface="Segoe UI Symbol" panose="020B0502040204020203" pitchFamily="34" charset="0"/>
              </a:defRPr>
            </a:lvl1pPr>
          </a:lstStyle>
          <a:p>
            <a:r>
              <a:rPr lang="en-US" altLang="zh-CN" smtClean="0">
                <a:ea typeface="Segoe UI Symbol" panose="020B0502040204020203" pitchFamily="34" charset="0"/>
              </a:rPr>
              <a:t>CH03 - Synchronization &amp; Mutual Exclusion</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100">
                <a:solidFill>
                  <a:schemeClr val="tx1">
                    <a:tint val="75000"/>
                  </a:schemeClr>
                </a:solidFill>
                <a:latin typeface="Segoe UI Symbol" panose="020B0502040204020203" pitchFamily="34" charset="0"/>
              </a:defRPr>
            </a:lvl1p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561290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lnSpc>
          <a:spcPct val="90000"/>
        </a:lnSpc>
        <a:spcBef>
          <a:spcPct val="0"/>
        </a:spcBef>
        <a:buNone/>
        <a:defRPr sz="36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4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1pPr>
      <a:lvl2pPr marL="685800" indent="-228600" algn="l" defTabSz="914400" rtl="0" eaLnBrk="1" latinLnBrk="0" hangingPunct="1">
        <a:lnSpc>
          <a:spcPct val="125000"/>
        </a:lnSpc>
        <a:spcBef>
          <a:spcPts val="500"/>
        </a:spcBef>
        <a:buFont typeface="Arial" panose="020B0604020202020204" pitchFamily="34" charset="0"/>
        <a:buChar char="•"/>
        <a:defRPr sz="20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2pPr>
      <a:lvl3pPr marL="11430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Segoe UI Symbol" panose="020B0502040204020203" pitchFamily="34" charset="0"/>
          <a:ea typeface="华文黑体" panose="02010600040101010101" pitchFamily="2" charset="-122"/>
          <a:cs typeface="华文黑体" panose="0201060004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024697"/>
          </a:xfrm>
        </p:spPr>
        <p:txBody>
          <a:bodyPr>
            <a:normAutofit/>
          </a:bodyPr>
          <a:lstStyle/>
          <a:p>
            <a:r>
              <a:rPr lang="zh-CN" altLang="en-US" sz="4000" dirty="0" smtClean="0"/>
              <a:t>第</a:t>
            </a:r>
            <a:r>
              <a:rPr lang="en-US" altLang="zh-CN" sz="4000" dirty="0" smtClean="0"/>
              <a:t>3</a:t>
            </a:r>
            <a:r>
              <a:rPr lang="zh-CN" altLang="en-US" sz="4000" dirty="0" smtClean="0"/>
              <a:t>章  </a:t>
            </a:r>
            <a:r>
              <a:rPr lang="zh-CN" altLang="en-US" sz="4000" dirty="0"/>
              <a:t>进程</a:t>
            </a:r>
            <a:r>
              <a:rPr lang="zh-CN" altLang="en-US" sz="4000" dirty="0" smtClean="0"/>
              <a:t>间互斥与同步</a:t>
            </a:r>
            <a:endParaRPr lang="zh-CN" altLang="en-US" sz="4000" dirty="0"/>
          </a:p>
        </p:txBody>
      </p:sp>
      <p:sp>
        <p:nvSpPr>
          <p:cNvPr id="3" name="Subtitle 2"/>
          <p:cNvSpPr>
            <a:spLocks noGrp="1"/>
          </p:cNvSpPr>
          <p:nvPr>
            <p:ph type="subTitle" idx="1"/>
          </p:nvPr>
        </p:nvSpPr>
        <p:spPr>
          <a:xfrm>
            <a:off x="1143000" y="3815398"/>
            <a:ext cx="6858000" cy="1655762"/>
          </a:xfrm>
        </p:spPr>
        <p:txBody>
          <a:bodyPr>
            <a:normAutofit/>
          </a:bodyPr>
          <a:lstStyle/>
          <a:p>
            <a:r>
              <a:rPr lang="zh-CN" altLang="en-US" b="1" dirty="0" smtClean="0">
                <a:latin typeface="楷体" panose="02010609060101010101" pitchFamily="49" charset="-122"/>
                <a:ea typeface="楷体" panose="02010609060101010101" pitchFamily="49" charset="-122"/>
              </a:rPr>
              <a:t>朱宗卫</a:t>
            </a:r>
            <a:endParaRPr lang="en-US" altLang="zh-CN" b="1" dirty="0" smtClean="0">
              <a:latin typeface="楷体" panose="02010609060101010101" pitchFamily="49" charset="-122"/>
              <a:ea typeface="楷体" panose="02010609060101010101" pitchFamily="49" charset="-122"/>
            </a:endParaRPr>
          </a:p>
          <a:p>
            <a:r>
              <a:rPr lang="zh-CN" altLang="en-US" b="1" dirty="0" smtClean="0">
                <a:latin typeface="楷体" panose="02010609060101010101" pitchFamily="49" charset="-122"/>
                <a:ea typeface="楷体" panose="02010609060101010101" pitchFamily="49" charset="-122"/>
              </a:rPr>
              <a:t>中国科学技术大学 软件学院</a:t>
            </a:r>
            <a:endParaRPr lang="en-US" altLang="zh-CN" b="1" dirty="0" smtClean="0">
              <a:latin typeface="楷体" panose="02010609060101010101" pitchFamily="49" charset="-122"/>
              <a:ea typeface="楷体" panose="02010609060101010101" pitchFamily="49" charset="-122"/>
            </a:endParaRPr>
          </a:p>
          <a:p>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020533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本章主要内容</a:t>
            </a:r>
            <a:endParaRPr lang="zh-CN" altLang="en-US" dirty="0"/>
          </a:p>
        </p:txBody>
      </p:sp>
      <p:sp>
        <p:nvSpPr>
          <p:cNvPr id="3" name="内容占位符 2"/>
          <p:cNvSpPr>
            <a:spLocks noGrp="1"/>
          </p:cNvSpPr>
          <p:nvPr>
            <p:ph idx="1"/>
          </p:nvPr>
        </p:nvSpPr>
        <p:spPr/>
        <p:txBody>
          <a:bodyPr/>
          <a:lstStyle/>
          <a:p>
            <a:r>
              <a:rPr lang="zh-CN" altLang="en-US" dirty="0"/>
              <a:t>进程间关系概述</a:t>
            </a:r>
            <a:endParaRPr lang="en-US" altLang="zh-CN" dirty="0"/>
          </a:p>
          <a:p>
            <a:r>
              <a:rPr lang="zh-CN" altLang="en-US" dirty="0" smtClean="0"/>
              <a:t>同步问题</a:t>
            </a:r>
            <a:r>
              <a:rPr lang="zh-CN" altLang="en-US" dirty="0"/>
              <a:t>及其解决办法</a:t>
            </a:r>
            <a:endParaRPr lang="en-US" altLang="zh-CN" dirty="0"/>
          </a:p>
          <a:p>
            <a:r>
              <a:rPr lang="zh-CN" altLang="en-US" dirty="0"/>
              <a:t>信号量</a:t>
            </a:r>
            <a:endParaRPr lang="en-US" altLang="zh-CN" dirty="0"/>
          </a:p>
          <a:p>
            <a:r>
              <a:rPr lang="zh-CN" altLang="en-US" dirty="0"/>
              <a:t>管程</a:t>
            </a:r>
            <a:r>
              <a:rPr lang="en-US" altLang="zh-CN" dirty="0"/>
              <a:t>——</a:t>
            </a:r>
            <a:r>
              <a:rPr lang="zh-CN" altLang="en-US" dirty="0"/>
              <a:t>解决互斥与同步问题的新方法</a:t>
            </a:r>
            <a:endParaRPr lang="en-US" altLang="zh-CN" dirty="0"/>
          </a:p>
        </p:txBody>
      </p:sp>
      <p:sp>
        <p:nvSpPr>
          <p:cNvPr id="4" name="日期占位符 3"/>
          <p:cNvSpPr>
            <a:spLocks noGrp="1"/>
          </p:cNvSpPr>
          <p:nvPr>
            <p:ph type="dt" sz="half" idx="10"/>
          </p:nvPr>
        </p:nvSpPr>
        <p:spPr/>
        <p:txBody>
          <a:bodyPr/>
          <a:lstStyle/>
          <a:p>
            <a:fld id="{B8E9E9FB-DC1B-4569-8DD3-5151E468E8AA}" type="datetime1">
              <a:rPr lang="zh-CN" altLang="en-US" smtClean="0"/>
              <a:pPr/>
              <a:t>2018/8/3</a:t>
            </a:fld>
            <a:endParaRPr lang="zh-CN" altLang="en-US"/>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a:p>
        </p:txBody>
      </p:sp>
      <p:sp>
        <p:nvSpPr>
          <p:cNvPr id="6" name="灯片编号占位符 5"/>
          <p:cNvSpPr>
            <a:spLocks noGrp="1"/>
          </p:cNvSpPr>
          <p:nvPr>
            <p:ph type="sldNum" sz="quarter" idx="12"/>
          </p:nvPr>
        </p:nvSpPr>
        <p:spPr/>
        <p:txBody>
          <a:bodyPr/>
          <a:lstStyle/>
          <a:p>
            <a:fld id="{56BAEEBF-3716-487D-AE7C-1F66A971DC3D}" type="slidenum">
              <a:rPr lang="zh-CN" altLang="en-US" smtClean="0"/>
              <a:pPr/>
              <a:t>2</a:t>
            </a:fld>
            <a:endParaRPr lang="zh-CN" altLang="en-US"/>
          </a:p>
        </p:txBody>
      </p:sp>
    </p:spTree>
    <p:extLst>
      <p:ext uri="{BB962C8B-B14F-4D97-AF65-F5344CB8AC3E}">
        <p14:creationId xmlns:p14="http://schemas.microsoft.com/office/powerpoint/2010/main" val="2960085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a:bodyPr>
          <a:lstStyle/>
          <a:p>
            <a:r>
              <a:rPr lang="zh-CN" altLang="en-US" dirty="0" smtClean="0">
                <a:solidFill>
                  <a:srgbClr val="FF3300"/>
                </a:solidFill>
              </a:rPr>
              <a:t>进程间关系概述</a:t>
            </a:r>
            <a:endParaRPr lang="en-US" altLang="zh-CN" dirty="0" smtClean="0">
              <a:solidFill>
                <a:srgbClr val="FF3300"/>
              </a:solidFill>
            </a:endParaRPr>
          </a:p>
          <a:p>
            <a:r>
              <a:rPr lang="zh-CN" altLang="en-US" dirty="0" smtClean="0">
                <a:solidFill>
                  <a:schemeClr val="bg1">
                    <a:lumMod val="75000"/>
                  </a:schemeClr>
                </a:solidFill>
              </a:rPr>
              <a:t>同步问题及其解决办法</a:t>
            </a:r>
            <a:endParaRPr lang="en-US" altLang="zh-CN" dirty="0" smtClean="0">
              <a:solidFill>
                <a:schemeClr val="bg1">
                  <a:lumMod val="75000"/>
                </a:schemeClr>
              </a:solidFill>
            </a:endParaRPr>
          </a:p>
          <a:p>
            <a:r>
              <a:rPr lang="zh-CN" altLang="en-US" dirty="0" smtClean="0">
                <a:solidFill>
                  <a:schemeClr val="bg1">
                    <a:lumMod val="75000"/>
                  </a:schemeClr>
                </a:solidFill>
              </a:rPr>
              <a:t>信号量</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D36DC98A-E4C6-4250-A575-8694FB441DEB}"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a:t>
            </a:fld>
            <a:endParaRPr lang="zh-CN" altLang="en-US" dirty="0"/>
          </a:p>
        </p:txBody>
      </p:sp>
    </p:spTree>
    <p:extLst>
      <p:ext uri="{BB962C8B-B14F-4D97-AF65-F5344CB8AC3E}">
        <p14:creationId xmlns:p14="http://schemas.microsoft.com/office/powerpoint/2010/main" val="14748681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回顾操作系统</a:t>
            </a:r>
            <a:r>
              <a:rPr lang="zh-CN" altLang="en-US" dirty="0"/>
              <a:t>的</a:t>
            </a:r>
            <a:r>
              <a:rPr lang="zh-CN" altLang="en-US" dirty="0" smtClean="0"/>
              <a:t>主要特性</a:t>
            </a:r>
            <a:endParaRPr lang="zh-CN" altLang="en-US" dirty="0"/>
          </a:p>
        </p:txBody>
      </p:sp>
      <p:sp>
        <p:nvSpPr>
          <p:cNvPr id="3" name="Content Placeholder 2"/>
          <p:cNvSpPr>
            <a:spLocks noGrp="1"/>
          </p:cNvSpPr>
          <p:nvPr>
            <p:ph idx="1"/>
          </p:nvPr>
        </p:nvSpPr>
        <p:spPr/>
        <p:txBody>
          <a:bodyPr/>
          <a:lstStyle/>
          <a:p>
            <a:r>
              <a:rPr lang="zh-CN" altLang="en-US" dirty="0" smtClean="0"/>
              <a:t>进程的并发执行</a:t>
            </a:r>
            <a:endParaRPr lang="en-US" altLang="zh-CN" dirty="0" smtClean="0"/>
          </a:p>
          <a:p>
            <a:pPr lvl="1"/>
            <a:endParaRPr lang="en-US" altLang="zh-CN" sz="1000" dirty="0" smtClean="0">
              <a:solidFill>
                <a:srgbClr val="0000FF"/>
              </a:solidFill>
            </a:endParaRPr>
          </a:p>
          <a:p>
            <a:pPr lvl="1"/>
            <a:r>
              <a:rPr lang="zh-CN" altLang="en-US" dirty="0" smtClean="0">
                <a:solidFill>
                  <a:srgbClr val="0000FF"/>
                </a:solidFill>
              </a:rPr>
              <a:t>单处理机上的</a:t>
            </a:r>
            <a:r>
              <a:rPr lang="zh-CN" altLang="en-US" dirty="0">
                <a:solidFill>
                  <a:srgbClr val="0000FF"/>
                </a:solidFill>
              </a:rPr>
              <a:t>“</a:t>
            </a:r>
            <a:r>
              <a:rPr lang="zh-CN" altLang="en-US" dirty="0" smtClean="0">
                <a:solidFill>
                  <a:srgbClr val="0000FF"/>
                </a:solidFill>
              </a:rPr>
              <a:t>并发”执行</a:t>
            </a:r>
            <a:endParaRPr lang="en-US" altLang="zh-CN" dirty="0" smtClean="0">
              <a:solidFill>
                <a:srgbClr val="0000FF"/>
              </a:solidFill>
            </a:endParaRPr>
          </a:p>
          <a:p>
            <a:pPr lvl="1"/>
            <a:endParaRPr lang="en-US" altLang="zh-CN" dirty="0"/>
          </a:p>
          <a:p>
            <a:pPr lvl="1"/>
            <a:endParaRPr lang="en-US" altLang="zh-CN" dirty="0" smtClean="0"/>
          </a:p>
          <a:p>
            <a:pPr lvl="1"/>
            <a:endParaRPr lang="en-US" altLang="zh-CN" dirty="0"/>
          </a:p>
          <a:p>
            <a:pPr lvl="1"/>
            <a:endParaRPr lang="en-US" altLang="zh-CN" dirty="0"/>
          </a:p>
          <a:p>
            <a:pPr lvl="1"/>
            <a:endParaRPr lang="en-US" altLang="zh-CN" dirty="0" smtClean="0"/>
          </a:p>
          <a:p>
            <a:pPr lvl="1"/>
            <a:r>
              <a:rPr lang="zh-CN" altLang="en-US" dirty="0" smtClean="0">
                <a:solidFill>
                  <a:srgbClr val="0000FF"/>
                </a:solidFill>
              </a:rPr>
              <a:t>多</a:t>
            </a:r>
            <a:r>
              <a:rPr lang="zh-CN" altLang="en-US" dirty="0">
                <a:solidFill>
                  <a:srgbClr val="0000FF"/>
                </a:solidFill>
              </a:rPr>
              <a:t>处理</a:t>
            </a:r>
            <a:r>
              <a:rPr lang="zh-CN" altLang="en-US" dirty="0" smtClean="0">
                <a:solidFill>
                  <a:srgbClr val="0000FF"/>
                </a:solidFill>
              </a:rPr>
              <a:t>机上的“并行”执行</a:t>
            </a:r>
            <a:endParaRPr lang="zh-CN" altLang="en-US" dirty="0">
              <a:solidFill>
                <a:srgbClr val="0000FF"/>
              </a:solidFill>
            </a:endParaRPr>
          </a:p>
        </p:txBody>
      </p:sp>
      <p:sp>
        <p:nvSpPr>
          <p:cNvPr id="4" name="Date Placeholder 3"/>
          <p:cNvSpPr>
            <a:spLocks noGrp="1"/>
          </p:cNvSpPr>
          <p:nvPr>
            <p:ph type="dt" sz="half" idx="10"/>
          </p:nvPr>
        </p:nvSpPr>
        <p:spPr/>
        <p:txBody>
          <a:bodyPr/>
          <a:lstStyle/>
          <a:p>
            <a:fld id="{66FD2B12-306A-4A50-BB6E-7945A00C069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a:t>
            </a:fld>
            <a:endParaRPr lang="zh-CN" altLang="en-US" dirty="0"/>
          </a:p>
        </p:txBody>
      </p:sp>
      <p:sp>
        <p:nvSpPr>
          <p:cNvPr id="7" name="TextBox 6"/>
          <p:cNvSpPr txBox="1"/>
          <p:nvPr/>
        </p:nvSpPr>
        <p:spPr>
          <a:xfrm>
            <a:off x="7153944" y="2111945"/>
            <a:ext cx="1306488" cy="3693319"/>
          </a:xfrm>
          <a:prstGeom prst="rect">
            <a:avLst/>
          </a:prstGeom>
          <a:noFill/>
          <a:ln w="15875">
            <a:solidFill>
              <a:schemeClr val="tx1">
                <a:lumMod val="75000"/>
                <a:lumOff val="25000"/>
              </a:schemeClr>
            </a:solidFill>
          </a:ln>
        </p:spPr>
        <p:txBody>
          <a:bodyPr wrap="square" rtlCol="0">
            <a:spAutoFit/>
          </a:bodyPr>
          <a:lstStyle/>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P1 ()</a:t>
            </a:r>
          </a:p>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A1;</a:t>
            </a:r>
          </a:p>
          <a:p>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B1;</a:t>
            </a:r>
          </a:p>
          <a:p>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C1;</a:t>
            </a:r>
          </a:p>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t>
            </a:r>
          </a:p>
          <a:p>
            <a:endParaRPr lang="en-US" altLang="zh-CN" b="1" dirty="0">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P2 ()</a:t>
            </a:r>
          </a:p>
          <a:p>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altLang="zh-CN"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A2;</a:t>
            </a:r>
          </a:p>
          <a:p>
            <a:r>
              <a:rPr lang="en-US" altLang="zh-CN"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B2;</a:t>
            </a:r>
          </a:p>
          <a:p>
            <a:r>
              <a:rPr lang="en-US" altLang="zh-CN"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C2;</a:t>
            </a:r>
          </a:p>
          <a:p>
            <a:r>
              <a:rPr lang="en-US" altLang="zh-CN"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en-US"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9" name="Straight Arrow Connector 8"/>
          <p:cNvCxnSpPr/>
          <p:nvPr/>
        </p:nvCxnSpPr>
        <p:spPr>
          <a:xfrm>
            <a:off x="899592" y="4005064"/>
            <a:ext cx="5328592"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899592" y="6165304"/>
            <a:ext cx="5328592" cy="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259632" y="2570455"/>
            <a:ext cx="4464496" cy="369332"/>
          </a:xfrm>
          <a:prstGeom prst="rect">
            <a:avLst/>
          </a:prstGeom>
          <a:noFill/>
        </p:spPr>
        <p:txBody>
          <a:bodyPr wrap="square" rtlCol="0">
            <a:spAutoFit/>
          </a:bodyPr>
          <a:lstStyle/>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A1        B1        C1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A2        B2        C2</a:t>
            </a:r>
            <a:endParaRPr lang="zh-CN" altLang="en-US"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2" name="TextBox 11"/>
          <p:cNvSpPr txBox="1"/>
          <p:nvPr/>
        </p:nvSpPr>
        <p:spPr>
          <a:xfrm>
            <a:off x="1259632" y="3059668"/>
            <a:ext cx="4464496" cy="369332"/>
          </a:xfrm>
          <a:prstGeom prst="rect">
            <a:avLst/>
          </a:prstGeom>
          <a:noFill/>
        </p:spPr>
        <p:txBody>
          <a:bodyPr wrap="square" rtlCol="0">
            <a:spAutoFit/>
          </a:bodyPr>
          <a:lstStyle/>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A1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A2        B2        C2</a:t>
            </a:r>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B1        </a:t>
            </a:r>
            <a:r>
              <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C1</a:t>
            </a:r>
            <a:endParaRPr lang="zh-CN" altLang="en-US"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3" name="TextBox 12"/>
          <p:cNvSpPr txBox="1"/>
          <p:nvPr/>
        </p:nvSpPr>
        <p:spPr>
          <a:xfrm>
            <a:off x="1259632" y="3563724"/>
            <a:ext cx="4464496" cy="369332"/>
          </a:xfrm>
          <a:prstGeom prst="rect">
            <a:avLst/>
          </a:prstGeom>
          <a:noFill/>
        </p:spPr>
        <p:txBody>
          <a:bodyPr wrap="square" rtlCol="0">
            <a:spAutoFit/>
          </a:bodyPr>
          <a:lstStyle/>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A1        </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A2</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        B1        </a:t>
            </a:r>
            <a:r>
              <a:rPr lang="en-US" altLang="zh-CN"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B</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2        </a:t>
            </a:r>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C1</a:t>
            </a:r>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        C2</a:t>
            </a:r>
            <a:endParaRPr lang="zh-CN" altLang="en-US"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4" name="TextBox 13"/>
          <p:cNvSpPr txBox="1"/>
          <p:nvPr/>
        </p:nvSpPr>
        <p:spPr>
          <a:xfrm>
            <a:off x="2555776" y="5169966"/>
            <a:ext cx="2900808" cy="923330"/>
          </a:xfrm>
          <a:prstGeom prst="rect">
            <a:avLst/>
          </a:prstGeom>
          <a:noFill/>
        </p:spPr>
        <p:txBody>
          <a:bodyPr wrap="square" rtlCol="0">
            <a:spAutoFit/>
          </a:bodyPr>
          <a:lstStyle/>
          <a:p>
            <a:r>
              <a:rPr lang="en-US" altLang="zh-CN" b="1" dirty="0" smtClean="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A1        B1        C1        </a:t>
            </a:r>
          </a:p>
          <a:p>
            <a:endParaRPr lang="en-US" altLang="zh-CN"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altLang="zh-CN" b="1" dirty="0" smtClean="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A2        B2        C2</a:t>
            </a:r>
            <a:endParaRPr lang="zh-CN" altLang="en-US" b="1"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29423109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并发访问全局数据造成的错误</a:t>
            </a:r>
            <a:endParaRPr lang="zh-CN" altLang="en-US" dirty="0"/>
          </a:p>
        </p:txBody>
      </p:sp>
      <p:sp>
        <p:nvSpPr>
          <p:cNvPr id="3" name="Content Placeholder 2"/>
          <p:cNvSpPr>
            <a:spLocks noGrp="1"/>
          </p:cNvSpPr>
          <p:nvPr>
            <p:ph idx="1"/>
          </p:nvPr>
        </p:nvSpPr>
        <p:spPr/>
        <p:txBody>
          <a:bodyPr/>
          <a:lstStyle/>
          <a:p>
            <a:r>
              <a:rPr lang="zh-CN" altLang="en-US" dirty="0" smtClean="0"/>
              <a:t>堆栈访问的例子</a:t>
            </a:r>
            <a:endParaRPr lang="en-US" altLang="zh-CN" dirty="0" smtClean="0"/>
          </a:p>
          <a:p>
            <a:pPr lvl="1"/>
            <a:endParaRPr lang="zh-CN" altLang="en-US" dirty="0"/>
          </a:p>
        </p:txBody>
      </p:sp>
      <p:sp>
        <p:nvSpPr>
          <p:cNvPr id="4" name="Date Placeholder 3"/>
          <p:cNvSpPr>
            <a:spLocks noGrp="1"/>
          </p:cNvSpPr>
          <p:nvPr>
            <p:ph type="dt" sz="half" idx="10"/>
          </p:nvPr>
        </p:nvSpPr>
        <p:spPr/>
        <p:txBody>
          <a:bodyPr/>
          <a:lstStyle/>
          <a:p>
            <a:fld id="{FEAC3412-FBE5-4DED-82CE-98EE1C7B4C8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a:t>
            </a:fld>
            <a:endParaRPr lang="zh-CN" altLang="en-US" dirty="0"/>
          </a:p>
        </p:txBody>
      </p:sp>
      <p:sp>
        <p:nvSpPr>
          <p:cNvPr id="7" name="Text Box 3"/>
          <p:cNvSpPr txBox="1">
            <a:spLocks noChangeArrowheads="1"/>
          </p:cNvSpPr>
          <p:nvPr/>
        </p:nvSpPr>
        <p:spPr bwMode="auto">
          <a:xfrm>
            <a:off x="355829" y="1844824"/>
            <a:ext cx="1993931" cy="219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en-US" altLang="zh-CN" sz="1800" b="1" dirty="0" err="1" smtClean="0">
                <a:solidFill>
                  <a:srgbClr val="FF0000"/>
                </a:solidFill>
                <a:latin typeface="+mn-lt"/>
                <a:cs typeface="Courier New" panose="02070309020205020404" pitchFamily="49" charset="0"/>
              </a:rPr>
              <a:t>Proc</a:t>
            </a:r>
            <a:r>
              <a:rPr lang="en-US" altLang="zh-CN" sz="1800" b="1" dirty="0" smtClean="0">
                <a:solidFill>
                  <a:srgbClr val="FF0000"/>
                </a:solidFill>
                <a:latin typeface="+mn-lt"/>
                <a:cs typeface="Courier New" panose="02070309020205020404" pitchFamily="49" charset="0"/>
              </a:rPr>
              <a:t> pop()</a:t>
            </a:r>
            <a:endParaRPr lang="en-US" altLang="zh-CN" sz="1800" b="1" dirty="0">
              <a:solidFill>
                <a:srgbClr val="FF0000"/>
              </a:solidFill>
              <a:latin typeface="+mn-lt"/>
              <a:cs typeface="Courier New" panose="02070309020205020404" pitchFamily="49" charset="0"/>
            </a:endParaRPr>
          </a:p>
          <a:p>
            <a:pPr eaLnBrk="1" hangingPunct="1">
              <a:spcBef>
                <a:spcPct val="10000"/>
              </a:spcBef>
            </a:pPr>
            <a:r>
              <a:rPr lang="en-US" altLang="zh-CN" sz="1800" b="1" dirty="0" smtClean="0">
                <a:solidFill>
                  <a:srgbClr val="FF0000"/>
                </a:solidFill>
                <a:latin typeface="+mn-lt"/>
                <a:cs typeface="Courier New" panose="02070309020205020404" pitchFamily="49" charset="0"/>
              </a:rPr>
              <a:t>Begin</a:t>
            </a:r>
            <a:endParaRPr lang="en-US" altLang="zh-CN" sz="1800" b="1" dirty="0">
              <a:solidFill>
                <a:srgbClr val="FF0000"/>
              </a:solidFill>
              <a:latin typeface="+mn-lt"/>
              <a:cs typeface="Courier New" panose="02070309020205020404" pitchFamily="49" charset="0"/>
            </a:endParaRPr>
          </a:p>
          <a:p>
            <a:pPr eaLnBrk="1" hangingPunct="1">
              <a:spcBef>
                <a:spcPct val="10000"/>
              </a:spcBef>
            </a:pPr>
            <a:r>
              <a:rPr lang="en-US" altLang="zh-CN" sz="1800" b="1" dirty="0">
                <a:solidFill>
                  <a:srgbClr val="FF0000"/>
                </a:solidFill>
                <a:latin typeface="+mn-lt"/>
                <a:cs typeface="Courier New" panose="02070309020205020404" pitchFamily="49" charset="0"/>
              </a:rPr>
              <a:t>   </a:t>
            </a:r>
            <a:r>
              <a:rPr lang="en-US" altLang="zh-CN" sz="1800" b="1" dirty="0" smtClean="0">
                <a:solidFill>
                  <a:srgbClr val="FF0000"/>
                </a:solidFill>
                <a:latin typeface="+mn-lt"/>
                <a:cs typeface="Courier New" panose="02070309020205020404" pitchFamily="49" charset="0"/>
              </a:rPr>
              <a:t> local </a:t>
            </a:r>
            <a:r>
              <a:rPr lang="en-US" altLang="zh-CN" sz="1800" b="1" dirty="0">
                <a:solidFill>
                  <a:srgbClr val="FF0000"/>
                </a:solidFill>
                <a:latin typeface="+mn-lt"/>
                <a:cs typeface="Courier New" panose="02070309020205020404" pitchFamily="49" charset="0"/>
              </a:rPr>
              <a:t>r;</a:t>
            </a:r>
          </a:p>
          <a:p>
            <a:pPr eaLnBrk="1" hangingPunct="1">
              <a:spcBef>
                <a:spcPct val="10000"/>
              </a:spcBef>
            </a:pPr>
            <a:r>
              <a:rPr lang="en-US" altLang="zh-CN" sz="1800" b="1" dirty="0">
                <a:solidFill>
                  <a:srgbClr val="FF0000"/>
                </a:solidFill>
                <a:latin typeface="+mn-lt"/>
                <a:cs typeface="Courier New" panose="02070309020205020404" pitchFamily="49" charset="0"/>
              </a:rPr>
              <a:t>  </a:t>
            </a:r>
            <a:r>
              <a:rPr lang="en-US" altLang="zh-CN" sz="1800" b="1" dirty="0" smtClean="0">
                <a:solidFill>
                  <a:srgbClr val="FF0000"/>
                </a:solidFill>
                <a:latin typeface="+mn-lt"/>
                <a:cs typeface="Courier New" panose="02070309020205020404" pitchFamily="49" charset="0"/>
              </a:rPr>
              <a:t>  1.1  </a:t>
            </a:r>
            <a:r>
              <a:rPr lang="en-US" altLang="zh-CN" sz="1800" b="1" dirty="0">
                <a:solidFill>
                  <a:srgbClr val="FF0000"/>
                </a:solidFill>
                <a:latin typeface="+mn-lt"/>
                <a:cs typeface="Courier New" panose="02070309020205020404" pitchFamily="49" charset="0"/>
              </a:rPr>
              <a:t>r  </a:t>
            </a:r>
            <a:r>
              <a:rPr lang="en-US" altLang="zh-CN" sz="1800" b="1" dirty="0">
                <a:solidFill>
                  <a:srgbClr val="FF0000"/>
                </a:solidFill>
                <a:latin typeface="+mn-lt"/>
                <a:cs typeface="Courier New" panose="02070309020205020404" pitchFamily="49" charset="0"/>
                <a:sym typeface="Wingdings" panose="05000000000000000000" pitchFamily="2" charset="2"/>
              </a:rPr>
              <a:t>  s[top];</a:t>
            </a:r>
          </a:p>
          <a:p>
            <a:pPr eaLnBrk="1" hangingPunct="1">
              <a:spcBef>
                <a:spcPct val="10000"/>
              </a:spcBef>
            </a:pPr>
            <a:r>
              <a:rPr lang="en-US" altLang="zh-CN" sz="1800" b="1" dirty="0">
                <a:solidFill>
                  <a:srgbClr val="FF0000"/>
                </a:solidFill>
                <a:latin typeface="+mn-lt"/>
                <a:cs typeface="Courier New" panose="02070309020205020404" pitchFamily="49" charset="0"/>
                <a:sym typeface="Wingdings" panose="05000000000000000000" pitchFamily="2" charset="2"/>
              </a:rPr>
              <a:t>  </a:t>
            </a:r>
            <a:r>
              <a:rPr lang="en-US" altLang="zh-CN" sz="1800" b="1" dirty="0" smtClean="0">
                <a:solidFill>
                  <a:srgbClr val="FF0000"/>
                </a:solidFill>
                <a:latin typeface="+mn-lt"/>
                <a:cs typeface="Courier New" panose="02070309020205020404" pitchFamily="49" charset="0"/>
                <a:sym typeface="Wingdings" panose="05000000000000000000" pitchFamily="2" charset="2"/>
              </a:rPr>
              <a:t>  1.2  </a:t>
            </a:r>
            <a:r>
              <a:rPr lang="en-US" altLang="zh-CN" sz="1800" b="1" dirty="0">
                <a:solidFill>
                  <a:srgbClr val="FF0000"/>
                </a:solidFill>
                <a:latin typeface="+mn-lt"/>
                <a:cs typeface="Courier New" panose="02070309020205020404" pitchFamily="49" charset="0"/>
                <a:sym typeface="Wingdings" panose="05000000000000000000" pitchFamily="2" charset="2"/>
              </a:rPr>
              <a:t>top  top+1;</a:t>
            </a:r>
          </a:p>
          <a:p>
            <a:pPr eaLnBrk="1" hangingPunct="1">
              <a:spcBef>
                <a:spcPct val="10000"/>
              </a:spcBef>
            </a:pPr>
            <a:r>
              <a:rPr lang="en-US" altLang="zh-CN" sz="1800" b="1" dirty="0">
                <a:solidFill>
                  <a:srgbClr val="FF0000"/>
                </a:solidFill>
                <a:latin typeface="+mn-lt"/>
                <a:cs typeface="Courier New" panose="02070309020205020404" pitchFamily="49" charset="0"/>
                <a:sym typeface="Wingdings" panose="05000000000000000000" pitchFamily="2" charset="2"/>
              </a:rPr>
              <a:t>  </a:t>
            </a:r>
            <a:r>
              <a:rPr lang="en-US" altLang="zh-CN" sz="1800" b="1" dirty="0" smtClean="0">
                <a:solidFill>
                  <a:srgbClr val="FF0000"/>
                </a:solidFill>
                <a:latin typeface="+mn-lt"/>
                <a:cs typeface="Courier New" panose="02070309020205020404" pitchFamily="49" charset="0"/>
                <a:sym typeface="Wingdings" panose="05000000000000000000" pitchFamily="2" charset="2"/>
              </a:rPr>
              <a:t>  1.3  </a:t>
            </a:r>
            <a:r>
              <a:rPr lang="en-US" altLang="zh-CN" sz="1800" b="1" dirty="0">
                <a:solidFill>
                  <a:srgbClr val="FF0000"/>
                </a:solidFill>
                <a:latin typeface="+mn-lt"/>
                <a:cs typeface="Courier New" panose="02070309020205020404" pitchFamily="49" charset="0"/>
                <a:sym typeface="Wingdings" panose="05000000000000000000" pitchFamily="2" charset="2"/>
              </a:rPr>
              <a:t>return (r);</a:t>
            </a:r>
          </a:p>
          <a:p>
            <a:pPr eaLnBrk="1" hangingPunct="1">
              <a:spcBef>
                <a:spcPct val="10000"/>
              </a:spcBef>
            </a:pPr>
            <a:r>
              <a:rPr lang="en-US" altLang="zh-CN" sz="1800" b="1" dirty="0" smtClean="0">
                <a:solidFill>
                  <a:srgbClr val="FF0000"/>
                </a:solidFill>
                <a:latin typeface="+mn-lt"/>
                <a:cs typeface="Courier New" panose="02070309020205020404" pitchFamily="49" charset="0"/>
                <a:sym typeface="Wingdings" panose="05000000000000000000" pitchFamily="2" charset="2"/>
              </a:rPr>
              <a:t>End</a:t>
            </a:r>
            <a:endParaRPr lang="en-US" altLang="zh-CN" sz="1800" b="1" dirty="0">
              <a:solidFill>
                <a:srgbClr val="FF0000"/>
              </a:solidFill>
              <a:latin typeface="+mn-lt"/>
              <a:cs typeface="Courier New" panose="02070309020205020404" pitchFamily="49" charset="0"/>
              <a:sym typeface="Wingdings" panose="05000000000000000000" pitchFamily="2" charset="2"/>
            </a:endParaRPr>
          </a:p>
        </p:txBody>
      </p:sp>
      <p:sp>
        <p:nvSpPr>
          <p:cNvPr id="8" name="Text Box 4"/>
          <p:cNvSpPr txBox="1">
            <a:spLocks noChangeArrowheads="1"/>
          </p:cNvSpPr>
          <p:nvPr/>
        </p:nvSpPr>
        <p:spPr bwMode="auto">
          <a:xfrm>
            <a:off x="2627784" y="1844824"/>
            <a:ext cx="1993931" cy="169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1800" b="1" dirty="0" err="1">
                <a:solidFill>
                  <a:srgbClr val="009900"/>
                </a:solidFill>
                <a:latin typeface="+mn-lt"/>
                <a:cs typeface="Courier New" panose="02070309020205020404" pitchFamily="49" charset="0"/>
                <a:sym typeface="Wingdings" panose="05000000000000000000" pitchFamily="2" charset="2"/>
              </a:rPr>
              <a:t>Proc</a:t>
            </a:r>
            <a:r>
              <a:rPr lang="en-US" altLang="zh-CN" sz="1800" b="1" dirty="0">
                <a:solidFill>
                  <a:srgbClr val="009900"/>
                </a:solidFill>
                <a:latin typeface="+mn-lt"/>
                <a:cs typeface="Courier New" panose="02070309020205020404" pitchFamily="49" charset="0"/>
                <a:sym typeface="Wingdings" panose="05000000000000000000" pitchFamily="2" charset="2"/>
              </a:rPr>
              <a:t> </a:t>
            </a:r>
            <a:r>
              <a:rPr lang="en-US" altLang="zh-CN" sz="1800" b="1" dirty="0" smtClean="0">
                <a:solidFill>
                  <a:srgbClr val="009900"/>
                </a:solidFill>
                <a:latin typeface="+mn-lt"/>
                <a:cs typeface="Courier New" panose="02070309020205020404" pitchFamily="49" charset="0"/>
                <a:sym typeface="Wingdings" panose="05000000000000000000" pitchFamily="2" charset="2"/>
              </a:rPr>
              <a:t>push(</a:t>
            </a:r>
            <a:r>
              <a:rPr lang="en-US" altLang="zh-CN" sz="1800" b="1" dirty="0" err="1" smtClean="0">
                <a:solidFill>
                  <a:srgbClr val="009900"/>
                </a:solidFill>
                <a:latin typeface="+mn-lt"/>
                <a:cs typeface="Courier New" panose="02070309020205020404" pitchFamily="49" charset="0"/>
                <a:sym typeface="Wingdings" panose="05000000000000000000" pitchFamily="2" charset="2"/>
              </a:rPr>
              <a:t>blk</a:t>
            </a:r>
            <a:r>
              <a:rPr lang="en-US" altLang="zh-CN" sz="1800" b="1" dirty="0">
                <a:solidFill>
                  <a:srgbClr val="009900"/>
                </a:solidFill>
                <a:latin typeface="+mn-lt"/>
                <a:cs typeface="Courier New" panose="02070309020205020404" pitchFamily="49" charset="0"/>
                <a:sym typeface="Wingdings" panose="05000000000000000000" pitchFamily="2" charset="2"/>
              </a:rPr>
              <a:t>)</a:t>
            </a:r>
          </a:p>
          <a:p>
            <a:pPr eaLnBrk="1" hangingPunct="1">
              <a:spcBef>
                <a:spcPct val="20000"/>
              </a:spcBef>
            </a:pPr>
            <a:r>
              <a:rPr lang="en-US" altLang="zh-CN" sz="1800" b="1" dirty="0" smtClean="0">
                <a:solidFill>
                  <a:srgbClr val="009900"/>
                </a:solidFill>
                <a:latin typeface="+mn-lt"/>
                <a:cs typeface="Courier New" panose="02070309020205020404" pitchFamily="49" charset="0"/>
                <a:sym typeface="Wingdings" panose="05000000000000000000" pitchFamily="2" charset="2"/>
              </a:rPr>
              <a:t>Begin</a:t>
            </a:r>
            <a:endParaRPr lang="en-US" altLang="zh-CN" sz="1800" b="1" dirty="0">
              <a:solidFill>
                <a:srgbClr val="009900"/>
              </a:solidFill>
              <a:latin typeface="+mn-lt"/>
              <a:cs typeface="Courier New" panose="02070309020205020404" pitchFamily="49" charset="0"/>
              <a:sym typeface="Wingdings" panose="05000000000000000000" pitchFamily="2" charset="2"/>
            </a:endParaRPr>
          </a:p>
          <a:p>
            <a:pPr eaLnBrk="1" hangingPunct="1">
              <a:spcBef>
                <a:spcPct val="20000"/>
              </a:spcBef>
            </a:pPr>
            <a:r>
              <a:rPr lang="en-US" altLang="zh-CN" sz="1800" b="1" dirty="0">
                <a:solidFill>
                  <a:srgbClr val="009900"/>
                </a:solidFill>
                <a:latin typeface="+mn-lt"/>
                <a:cs typeface="Courier New" panose="02070309020205020404" pitchFamily="49" charset="0"/>
                <a:sym typeface="Wingdings" panose="05000000000000000000" pitchFamily="2" charset="2"/>
              </a:rPr>
              <a:t>   </a:t>
            </a:r>
            <a:r>
              <a:rPr lang="en-US" altLang="zh-CN" sz="1800" b="1" dirty="0" smtClean="0">
                <a:solidFill>
                  <a:srgbClr val="009900"/>
                </a:solidFill>
                <a:latin typeface="+mn-lt"/>
                <a:cs typeface="Courier New" panose="02070309020205020404" pitchFamily="49" charset="0"/>
                <a:sym typeface="Wingdings" panose="05000000000000000000" pitchFamily="2" charset="2"/>
              </a:rPr>
              <a:t> 2.1  </a:t>
            </a:r>
            <a:r>
              <a:rPr lang="en-US" altLang="zh-CN" sz="1800" b="1" dirty="0">
                <a:solidFill>
                  <a:srgbClr val="009900"/>
                </a:solidFill>
                <a:latin typeface="+mn-lt"/>
                <a:cs typeface="Courier New" panose="02070309020205020404" pitchFamily="49" charset="0"/>
                <a:sym typeface="Wingdings" panose="05000000000000000000" pitchFamily="2" charset="2"/>
              </a:rPr>
              <a:t>top  top-1;</a:t>
            </a:r>
          </a:p>
          <a:p>
            <a:pPr eaLnBrk="1" hangingPunct="1">
              <a:spcBef>
                <a:spcPct val="20000"/>
              </a:spcBef>
            </a:pPr>
            <a:r>
              <a:rPr lang="en-US" altLang="zh-CN" sz="1800" b="1" dirty="0">
                <a:solidFill>
                  <a:srgbClr val="009900"/>
                </a:solidFill>
                <a:latin typeface="+mn-lt"/>
                <a:cs typeface="Courier New" panose="02070309020205020404" pitchFamily="49" charset="0"/>
                <a:sym typeface="Wingdings" panose="05000000000000000000" pitchFamily="2" charset="2"/>
              </a:rPr>
              <a:t>   </a:t>
            </a:r>
            <a:r>
              <a:rPr lang="en-US" altLang="zh-CN" sz="1800" b="1" dirty="0" smtClean="0">
                <a:solidFill>
                  <a:srgbClr val="009900"/>
                </a:solidFill>
                <a:latin typeface="+mn-lt"/>
                <a:cs typeface="Courier New" panose="02070309020205020404" pitchFamily="49" charset="0"/>
                <a:sym typeface="Wingdings" panose="05000000000000000000" pitchFamily="2" charset="2"/>
              </a:rPr>
              <a:t> 2.2  </a:t>
            </a:r>
            <a:r>
              <a:rPr lang="en-US" altLang="zh-CN" sz="1800" b="1" dirty="0">
                <a:solidFill>
                  <a:srgbClr val="009900"/>
                </a:solidFill>
                <a:latin typeface="+mn-lt"/>
                <a:cs typeface="Courier New" panose="02070309020205020404" pitchFamily="49" charset="0"/>
                <a:sym typeface="Wingdings" panose="05000000000000000000" pitchFamily="2" charset="2"/>
              </a:rPr>
              <a:t>s[top]  </a:t>
            </a:r>
            <a:r>
              <a:rPr lang="en-US" altLang="zh-CN" sz="1800" b="1" dirty="0" err="1">
                <a:solidFill>
                  <a:srgbClr val="009900"/>
                </a:solidFill>
                <a:latin typeface="+mn-lt"/>
                <a:cs typeface="Courier New" panose="02070309020205020404" pitchFamily="49" charset="0"/>
                <a:sym typeface="Wingdings" panose="05000000000000000000" pitchFamily="2" charset="2"/>
              </a:rPr>
              <a:t>blk</a:t>
            </a:r>
            <a:r>
              <a:rPr lang="en-US" altLang="zh-CN" sz="1800" b="1" dirty="0">
                <a:solidFill>
                  <a:srgbClr val="009900"/>
                </a:solidFill>
                <a:latin typeface="+mn-lt"/>
                <a:cs typeface="Courier New" panose="02070309020205020404" pitchFamily="49" charset="0"/>
                <a:sym typeface="Wingdings" panose="05000000000000000000" pitchFamily="2" charset="2"/>
              </a:rPr>
              <a:t>;</a:t>
            </a:r>
          </a:p>
          <a:p>
            <a:pPr eaLnBrk="1" hangingPunct="1">
              <a:spcBef>
                <a:spcPct val="20000"/>
              </a:spcBef>
            </a:pPr>
            <a:r>
              <a:rPr lang="en-US" altLang="zh-CN" sz="1800" b="1" dirty="0" smtClean="0">
                <a:solidFill>
                  <a:srgbClr val="009900"/>
                </a:solidFill>
                <a:latin typeface="+mn-lt"/>
                <a:cs typeface="Courier New" panose="02070309020205020404" pitchFamily="49" charset="0"/>
                <a:sym typeface="Wingdings" panose="05000000000000000000" pitchFamily="2" charset="2"/>
              </a:rPr>
              <a:t>End</a:t>
            </a:r>
            <a:endParaRPr lang="en-US" altLang="zh-CN" sz="1800" b="1" dirty="0">
              <a:solidFill>
                <a:srgbClr val="009900"/>
              </a:solidFill>
              <a:latin typeface="+mn-lt"/>
              <a:cs typeface="Courier New" panose="02070309020205020404" pitchFamily="49" charset="0"/>
            </a:endParaRPr>
          </a:p>
        </p:txBody>
      </p:sp>
      <p:sp>
        <p:nvSpPr>
          <p:cNvPr id="9" name="Text Box 5"/>
          <p:cNvSpPr txBox="1">
            <a:spLocks noChangeArrowheads="1"/>
          </p:cNvSpPr>
          <p:nvPr/>
        </p:nvSpPr>
        <p:spPr bwMode="auto">
          <a:xfrm>
            <a:off x="5257800" y="1844824"/>
            <a:ext cx="1500188" cy="21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pPr>
            <a:r>
              <a:rPr lang="en-US" altLang="zh-CN" sz="1800" b="1" dirty="0">
                <a:solidFill>
                  <a:srgbClr val="FF0000"/>
                </a:solidFill>
                <a:latin typeface="+mn-lt"/>
                <a:cs typeface="Courier New" panose="02070309020205020404" pitchFamily="49" charset="0"/>
              </a:rPr>
              <a:t>Process  A</a:t>
            </a:r>
          </a:p>
          <a:p>
            <a:pPr eaLnBrk="1" hangingPunct="1">
              <a:spcBef>
                <a:spcPct val="25000"/>
              </a:spcBef>
            </a:pPr>
            <a:r>
              <a:rPr lang="en-US" altLang="zh-CN" sz="1800" b="1" dirty="0" smtClean="0">
                <a:solidFill>
                  <a:srgbClr val="FF0000"/>
                </a:solidFill>
                <a:latin typeface="+mn-lt"/>
                <a:cs typeface="Courier New" panose="02070309020205020404" pitchFamily="49" charset="0"/>
              </a:rPr>
              <a:t>Begin </a:t>
            </a:r>
            <a:endParaRPr lang="en-US" altLang="zh-CN" sz="1800" b="1" dirty="0">
              <a:solidFill>
                <a:srgbClr val="FF0000"/>
              </a:solidFill>
              <a:latin typeface="+mn-lt"/>
              <a:cs typeface="Courier New" panose="02070309020205020404" pitchFamily="49" charset="0"/>
            </a:endParaRPr>
          </a:p>
          <a:p>
            <a:pPr eaLnBrk="1" hangingPunct="1">
              <a:spcBef>
                <a:spcPct val="25000"/>
              </a:spcBef>
            </a:pPr>
            <a:r>
              <a:rPr lang="en-US" altLang="zh-CN" sz="1800" b="1" dirty="0">
                <a:solidFill>
                  <a:srgbClr val="FF0000"/>
                </a:solidFill>
                <a:latin typeface="+mn-lt"/>
                <a:cs typeface="Courier New" panose="02070309020205020404" pitchFamily="49" charset="0"/>
              </a:rPr>
              <a:t>    </a:t>
            </a:r>
            <a:r>
              <a:rPr lang="en-US" altLang="zh-CN" sz="1800" b="1" dirty="0" smtClean="0">
                <a:solidFill>
                  <a:srgbClr val="FF0000"/>
                </a:solidFill>
                <a:latin typeface="+mn-lt"/>
                <a:cs typeface="Courier New" panose="02070309020205020404" pitchFamily="49" charset="0"/>
              </a:rPr>
              <a:t>  </a:t>
            </a:r>
            <a:r>
              <a:rPr lang="en-US" altLang="zh-CN" sz="1800" b="1" dirty="0">
                <a:solidFill>
                  <a:srgbClr val="FF0000"/>
                </a:solidFill>
                <a:latin typeface="+mn-lt"/>
                <a:cs typeface="Courier New" panose="02070309020205020404" pitchFamily="49" charset="0"/>
              </a:rPr>
              <a:t>......</a:t>
            </a:r>
          </a:p>
          <a:p>
            <a:pPr eaLnBrk="1" hangingPunct="1">
              <a:spcBef>
                <a:spcPct val="25000"/>
              </a:spcBef>
            </a:pPr>
            <a:r>
              <a:rPr lang="en-US" altLang="zh-CN" sz="1800" b="1" dirty="0">
                <a:solidFill>
                  <a:srgbClr val="FF0000"/>
                </a:solidFill>
                <a:latin typeface="+mn-lt"/>
                <a:cs typeface="Courier New" panose="02070309020205020404" pitchFamily="49" charset="0"/>
              </a:rPr>
              <a:t>    </a:t>
            </a:r>
            <a:r>
              <a:rPr lang="en-US" altLang="zh-CN" sz="1800" b="1" dirty="0" smtClean="0">
                <a:solidFill>
                  <a:srgbClr val="FF0000"/>
                </a:solidFill>
                <a:latin typeface="+mn-lt"/>
                <a:cs typeface="Courier New" panose="02070309020205020404" pitchFamily="49" charset="0"/>
              </a:rPr>
              <a:t>  pop()</a:t>
            </a:r>
            <a:endParaRPr lang="en-US" altLang="zh-CN" sz="1800" b="1" dirty="0">
              <a:solidFill>
                <a:srgbClr val="FF0000"/>
              </a:solidFill>
              <a:latin typeface="+mn-lt"/>
              <a:cs typeface="Courier New" panose="02070309020205020404" pitchFamily="49" charset="0"/>
            </a:endParaRPr>
          </a:p>
          <a:p>
            <a:pPr eaLnBrk="1" hangingPunct="1">
              <a:spcBef>
                <a:spcPct val="25000"/>
              </a:spcBef>
            </a:pPr>
            <a:r>
              <a:rPr lang="en-US" altLang="zh-CN" sz="1800" b="1" dirty="0">
                <a:solidFill>
                  <a:srgbClr val="FF0000"/>
                </a:solidFill>
                <a:latin typeface="+mn-lt"/>
                <a:cs typeface="Courier New" panose="02070309020205020404" pitchFamily="49" charset="0"/>
              </a:rPr>
              <a:t>    </a:t>
            </a:r>
            <a:r>
              <a:rPr lang="en-US" altLang="zh-CN" sz="1800" b="1" dirty="0" smtClean="0">
                <a:solidFill>
                  <a:srgbClr val="FF0000"/>
                </a:solidFill>
                <a:latin typeface="+mn-lt"/>
                <a:cs typeface="Courier New" panose="02070309020205020404" pitchFamily="49" charset="0"/>
              </a:rPr>
              <a:t>  ......</a:t>
            </a:r>
            <a:endParaRPr lang="en-US" altLang="zh-CN" sz="1800" b="1" dirty="0">
              <a:solidFill>
                <a:srgbClr val="FF0000"/>
              </a:solidFill>
              <a:latin typeface="+mn-lt"/>
              <a:cs typeface="Courier New" panose="02070309020205020404" pitchFamily="49" charset="0"/>
            </a:endParaRPr>
          </a:p>
          <a:p>
            <a:pPr eaLnBrk="1" hangingPunct="1">
              <a:spcBef>
                <a:spcPct val="25000"/>
              </a:spcBef>
            </a:pPr>
            <a:r>
              <a:rPr lang="en-US" altLang="zh-CN" sz="1800" b="1" dirty="0" smtClean="0">
                <a:solidFill>
                  <a:srgbClr val="FF0000"/>
                </a:solidFill>
                <a:latin typeface="+mn-lt"/>
                <a:cs typeface="Courier New" panose="02070309020205020404" pitchFamily="49" charset="0"/>
              </a:rPr>
              <a:t>End</a:t>
            </a:r>
            <a:endParaRPr lang="en-US" altLang="zh-CN" sz="1800" b="1" dirty="0">
              <a:solidFill>
                <a:srgbClr val="FF0000"/>
              </a:solidFill>
              <a:latin typeface="+mn-lt"/>
              <a:cs typeface="Courier New" panose="02070309020205020404" pitchFamily="49" charset="0"/>
            </a:endParaRPr>
          </a:p>
        </p:txBody>
      </p:sp>
      <p:sp>
        <p:nvSpPr>
          <p:cNvPr id="10" name="Text Box 6"/>
          <p:cNvSpPr txBox="1">
            <a:spLocks noChangeArrowheads="1"/>
          </p:cNvSpPr>
          <p:nvPr/>
        </p:nvSpPr>
        <p:spPr bwMode="auto">
          <a:xfrm>
            <a:off x="7010400" y="1844824"/>
            <a:ext cx="17145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lang="en-US" altLang="zh-CN" sz="1800" b="1" dirty="0">
                <a:solidFill>
                  <a:srgbClr val="00B050"/>
                </a:solidFill>
                <a:latin typeface="+mn-lt"/>
                <a:cs typeface="Courier New" panose="02070309020205020404" pitchFamily="49" charset="0"/>
              </a:rPr>
              <a:t>Process  B</a:t>
            </a:r>
          </a:p>
          <a:p>
            <a:pPr eaLnBrk="1" hangingPunct="1">
              <a:spcBef>
                <a:spcPct val="30000"/>
              </a:spcBef>
            </a:pPr>
            <a:r>
              <a:rPr lang="en-US" altLang="zh-CN" sz="1800" b="1" dirty="0">
                <a:solidFill>
                  <a:srgbClr val="00B050"/>
                </a:solidFill>
                <a:latin typeface="+mn-lt"/>
                <a:cs typeface="Courier New" panose="02070309020205020404" pitchFamily="49" charset="0"/>
              </a:rPr>
              <a:t>Begin </a:t>
            </a:r>
          </a:p>
          <a:p>
            <a:pPr eaLnBrk="1" hangingPunct="1">
              <a:spcBef>
                <a:spcPct val="30000"/>
              </a:spcBef>
            </a:pPr>
            <a:r>
              <a:rPr lang="en-US" altLang="zh-CN" sz="1800" b="1" dirty="0">
                <a:solidFill>
                  <a:srgbClr val="00B050"/>
                </a:solidFill>
                <a:latin typeface="+mn-lt"/>
                <a:cs typeface="Courier New" panose="02070309020205020404" pitchFamily="49" charset="0"/>
              </a:rPr>
              <a:t>     ......</a:t>
            </a:r>
          </a:p>
          <a:p>
            <a:pPr eaLnBrk="1" hangingPunct="1">
              <a:spcBef>
                <a:spcPct val="30000"/>
              </a:spcBef>
            </a:pPr>
            <a:r>
              <a:rPr lang="en-US" altLang="zh-CN" sz="1800" b="1" dirty="0">
                <a:solidFill>
                  <a:srgbClr val="00B050"/>
                </a:solidFill>
                <a:latin typeface="+mn-lt"/>
                <a:cs typeface="Courier New" panose="02070309020205020404" pitchFamily="49" charset="0"/>
              </a:rPr>
              <a:t>     push(</a:t>
            </a:r>
            <a:r>
              <a:rPr lang="en-US" altLang="zh-CN" sz="1800" b="1" dirty="0" err="1">
                <a:solidFill>
                  <a:srgbClr val="00B050"/>
                </a:solidFill>
                <a:latin typeface="+mn-lt"/>
                <a:cs typeface="Courier New" panose="02070309020205020404" pitchFamily="49" charset="0"/>
              </a:rPr>
              <a:t>blk</a:t>
            </a:r>
            <a:r>
              <a:rPr lang="en-US" altLang="zh-CN" sz="1800" b="1" dirty="0">
                <a:solidFill>
                  <a:srgbClr val="00B050"/>
                </a:solidFill>
                <a:latin typeface="+mn-lt"/>
                <a:cs typeface="Courier New" panose="02070309020205020404" pitchFamily="49" charset="0"/>
              </a:rPr>
              <a:t>)</a:t>
            </a:r>
          </a:p>
          <a:p>
            <a:pPr eaLnBrk="1" hangingPunct="1">
              <a:spcBef>
                <a:spcPct val="30000"/>
              </a:spcBef>
            </a:pPr>
            <a:r>
              <a:rPr lang="en-US" altLang="zh-CN" sz="1800" b="1" dirty="0">
                <a:solidFill>
                  <a:srgbClr val="00B050"/>
                </a:solidFill>
                <a:latin typeface="+mn-lt"/>
                <a:cs typeface="Courier New" panose="02070309020205020404" pitchFamily="49" charset="0"/>
              </a:rPr>
              <a:t>     ......</a:t>
            </a:r>
          </a:p>
          <a:p>
            <a:pPr eaLnBrk="1" hangingPunct="1">
              <a:spcBef>
                <a:spcPct val="30000"/>
              </a:spcBef>
            </a:pPr>
            <a:r>
              <a:rPr lang="en-US" altLang="zh-CN" sz="1800" b="1" dirty="0">
                <a:solidFill>
                  <a:srgbClr val="00B050"/>
                </a:solidFill>
                <a:latin typeface="+mn-lt"/>
                <a:cs typeface="Courier New" panose="02070309020205020404" pitchFamily="49" charset="0"/>
              </a:rPr>
              <a:t>End</a:t>
            </a:r>
          </a:p>
        </p:txBody>
      </p:sp>
      <p:graphicFrame>
        <p:nvGraphicFramePr>
          <p:cNvPr id="11" name="Group 38"/>
          <p:cNvGraphicFramePr>
            <a:graphicFrameLocks noGrp="1"/>
          </p:cNvGraphicFramePr>
          <p:nvPr>
            <p:extLst>
              <p:ext uri="{D42A27DB-BD31-4B8C-83A1-F6EECF244321}">
                <p14:modId xmlns:p14="http://schemas.microsoft.com/office/powerpoint/2010/main" val="2970636162"/>
              </p:ext>
            </p:extLst>
          </p:nvPr>
        </p:nvGraphicFramePr>
        <p:xfrm>
          <a:off x="772616" y="4365104"/>
          <a:ext cx="7543800" cy="1990742"/>
        </p:xfrm>
        <a:graphic>
          <a:graphicData uri="http://schemas.openxmlformats.org/drawingml/2006/table">
            <a:tbl>
              <a:tblPr/>
              <a:tblGrid>
                <a:gridCol w="1225550">
                  <a:extLst>
                    <a:ext uri="{9D8B030D-6E8A-4147-A177-3AD203B41FA5}">
                      <a16:colId xmlns:a16="http://schemas.microsoft.com/office/drawing/2014/main" xmlns="" val="20000"/>
                    </a:ext>
                  </a:extLst>
                </a:gridCol>
                <a:gridCol w="3803650">
                  <a:extLst>
                    <a:ext uri="{9D8B030D-6E8A-4147-A177-3AD203B41FA5}">
                      <a16:colId xmlns:a16="http://schemas.microsoft.com/office/drawing/2014/main" xmlns="" val="20001"/>
                    </a:ext>
                  </a:extLst>
                </a:gridCol>
                <a:gridCol w="2514600">
                  <a:extLst>
                    <a:ext uri="{9D8B030D-6E8A-4147-A177-3AD203B41FA5}">
                      <a16:colId xmlns:a16="http://schemas.microsoft.com/office/drawing/2014/main" xmlns="" val="20002"/>
                    </a:ext>
                  </a:extLst>
                </a:gridCol>
              </a:tblGrid>
              <a:tr h="3961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mn-lt"/>
                          <a:ea typeface="楷体" panose="02010609060101010101" pitchFamily="49" charset="-122"/>
                        </a:rPr>
                        <a:t>情况</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mn-lt"/>
                          <a:ea typeface="楷体" panose="02010609060101010101" pitchFamily="49" charset="-122"/>
                        </a:rPr>
                        <a:t>可能的执行顺序</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mn-lt"/>
                          <a:ea typeface="楷体" panose="02010609060101010101" pitchFamily="49" charset="-122"/>
                        </a:rPr>
                        <a:t>结果</a:t>
                      </a: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61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mn-lt"/>
                          <a:ea typeface="楷体" panose="02010609060101010101" pitchFamily="49" charset="-122"/>
                        </a:rPr>
                        <a:t>1</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1.1,  1.2,  1.3,  </a:t>
                      </a:r>
                      <a:r>
                        <a:rPr kumimoji="1" lang="en-US" altLang="zh-CN" sz="2000" b="1" i="0" u="none" strike="noStrike" cap="none" normalizeH="0" baseline="0" dirty="0" smtClean="0">
                          <a:ln>
                            <a:noFill/>
                          </a:ln>
                          <a:solidFill>
                            <a:srgbClr val="009900"/>
                          </a:solidFill>
                          <a:effectLst/>
                          <a:latin typeface="+mn-lt"/>
                          <a:ea typeface="楷体" panose="02010609060101010101" pitchFamily="49" charset="-122"/>
                        </a:rPr>
                        <a:t>2.1,  2.2</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000" b="1" i="0" u="none" strike="noStrike" cap="none" normalizeH="0" baseline="0" dirty="0" smtClean="0">
                        <a:ln>
                          <a:noFill/>
                        </a:ln>
                        <a:solidFill>
                          <a:srgbClr val="00B050"/>
                        </a:solidFill>
                        <a:effectLst/>
                        <a:latin typeface="+mn-lt"/>
                        <a:ea typeface="楷体" panose="02010609060101010101" pitchFamily="49" charset="-122"/>
                      </a:endParaRP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961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mn-lt"/>
                          <a:ea typeface="楷体" panose="02010609060101010101" pitchFamily="49" charset="-122"/>
                        </a:rPr>
                        <a:t>2</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rgbClr val="009900"/>
                          </a:solidFill>
                          <a:effectLst/>
                          <a:latin typeface="+mn-lt"/>
                          <a:ea typeface="楷体" panose="02010609060101010101" pitchFamily="49" charset="-122"/>
                        </a:rPr>
                        <a:t>2.1,  2.2,</a:t>
                      </a:r>
                      <a:r>
                        <a:rPr kumimoji="1" lang="en-US" altLang="zh-CN" sz="2000" b="1" i="0" u="none" strike="noStrike" cap="none" normalizeH="0" baseline="0" dirty="0" smtClean="0">
                          <a:ln>
                            <a:noFill/>
                          </a:ln>
                          <a:solidFill>
                            <a:schemeClr val="accent2"/>
                          </a:solidFill>
                          <a:effectLst/>
                          <a:latin typeface="+mn-lt"/>
                          <a:ea typeface="楷体" panose="02010609060101010101" pitchFamily="49" charset="-122"/>
                        </a:rPr>
                        <a:t>  </a:t>
                      </a: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1.1,  1.2,  1.3</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000" b="1" i="0" u="none" strike="noStrike" cap="none" normalizeH="0" baseline="0" dirty="0" smtClean="0">
                        <a:ln>
                          <a:noFill/>
                        </a:ln>
                        <a:solidFill>
                          <a:srgbClr val="00B050"/>
                        </a:solidFill>
                        <a:effectLst/>
                        <a:latin typeface="+mn-lt"/>
                        <a:ea typeface="楷体" panose="02010609060101010101" pitchFamily="49" charset="-122"/>
                      </a:endParaRP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060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mn-lt"/>
                          <a:ea typeface="楷体" panose="02010609060101010101" pitchFamily="49" charset="-122"/>
                        </a:rPr>
                        <a:t>3</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rgbClr val="009900"/>
                          </a:solidFill>
                          <a:effectLst/>
                          <a:latin typeface="+mn-lt"/>
                          <a:ea typeface="楷体" panose="02010609060101010101" pitchFamily="49" charset="-122"/>
                        </a:rPr>
                        <a:t>2.1,</a:t>
                      </a:r>
                      <a:r>
                        <a:rPr kumimoji="1" lang="en-US" altLang="zh-CN" sz="2000" b="1" i="0" u="none" strike="noStrike" cap="none" normalizeH="0" baseline="0" dirty="0" smtClean="0">
                          <a:ln>
                            <a:noFill/>
                          </a:ln>
                          <a:solidFill>
                            <a:schemeClr val="tx1"/>
                          </a:solidFill>
                          <a:effectLst/>
                          <a:latin typeface="+mn-lt"/>
                          <a:ea typeface="楷体" panose="02010609060101010101" pitchFamily="49" charset="-122"/>
                        </a:rPr>
                        <a:t>  </a:t>
                      </a: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1.1,</a:t>
                      </a:r>
                      <a:r>
                        <a:rPr kumimoji="1" lang="en-US" altLang="zh-CN" sz="2000" b="1" i="0" u="none" strike="noStrike" cap="none" normalizeH="0" baseline="0" dirty="0" smtClean="0">
                          <a:ln>
                            <a:noFill/>
                          </a:ln>
                          <a:solidFill>
                            <a:schemeClr val="tx1"/>
                          </a:solidFill>
                          <a:effectLst/>
                          <a:latin typeface="+mn-lt"/>
                          <a:ea typeface="楷体" panose="02010609060101010101" pitchFamily="49" charset="-122"/>
                        </a:rPr>
                        <a:t>  </a:t>
                      </a:r>
                      <a:r>
                        <a:rPr kumimoji="1" lang="en-US" altLang="zh-CN" sz="2000" b="1" i="0" u="none" strike="noStrike" cap="none" normalizeH="0" baseline="0" dirty="0" smtClean="0">
                          <a:ln>
                            <a:noFill/>
                          </a:ln>
                          <a:solidFill>
                            <a:srgbClr val="009900"/>
                          </a:solidFill>
                          <a:effectLst/>
                          <a:latin typeface="+mn-lt"/>
                          <a:ea typeface="楷体" panose="02010609060101010101" pitchFamily="49" charset="-122"/>
                        </a:rPr>
                        <a:t>2.2 ,</a:t>
                      </a:r>
                      <a:r>
                        <a:rPr kumimoji="1" lang="en-US" altLang="zh-CN" sz="2000" b="1" i="0" u="none" strike="noStrike" cap="none" normalizeH="0" baseline="0" dirty="0" smtClean="0">
                          <a:ln>
                            <a:noFill/>
                          </a:ln>
                          <a:solidFill>
                            <a:schemeClr val="tx1"/>
                          </a:solidFill>
                          <a:effectLst/>
                          <a:latin typeface="+mn-lt"/>
                          <a:ea typeface="楷体" panose="02010609060101010101" pitchFamily="49" charset="-122"/>
                        </a:rPr>
                        <a:t> </a:t>
                      </a: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1.2,  1.3</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000" b="1" i="0" u="none" strike="noStrike" cap="none" normalizeH="0" baseline="0" dirty="0" smtClean="0">
                        <a:ln>
                          <a:noFill/>
                        </a:ln>
                        <a:solidFill>
                          <a:srgbClr val="FF0000"/>
                        </a:solidFill>
                        <a:effectLst/>
                        <a:latin typeface="+mn-lt"/>
                        <a:ea typeface="楷体" panose="02010609060101010101" pitchFamily="49" charset="-122"/>
                      </a:endParaRP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961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tx1"/>
                          </a:solidFill>
                          <a:effectLst/>
                          <a:latin typeface="+mn-lt"/>
                          <a:ea typeface="楷体" panose="02010609060101010101" pitchFamily="49" charset="-122"/>
                        </a:rPr>
                        <a:t>4</a:t>
                      </a:r>
                    </a:p>
                  </a:txBody>
                  <a:tcPr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1.1,  </a:t>
                      </a:r>
                      <a:r>
                        <a:rPr kumimoji="1" lang="en-US" altLang="zh-CN" sz="2000" b="1" i="0" u="none" strike="noStrike" cap="none" normalizeH="0" baseline="0" dirty="0" smtClean="0">
                          <a:ln>
                            <a:noFill/>
                          </a:ln>
                          <a:solidFill>
                            <a:srgbClr val="009900"/>
                          </a:solidFill>
                          <a:effectLst/>
                          <a:latin typeface="+mn-lt"/>
                          <a:ea typeface="楷体" panose="02010609060101010101" pitchFamily="49" charset="-122"/>
                        </a:rPr>
                        <a:t>2.1,  2.2</a:t>
                      </a:r>
                      <a:r>
                        <a:rPr kumimoji="1" lang="zh-CN" altLang="en-US" sz="2000" b="1" i="0" u="none" strike="noStrike" cap="none" normalizeH="0" baseline="0" dirty="0" smtClean="0">
                          <a:ln>
                            <a:noFill/>
                          </a:ln>
                          <a:solidFill>
                            <a:srgbClr val="009900"/>
                          </a:solidFill>
                          <a:effectLst/>
                          <a:latin typeface="+mn-lt"/>
                          <a:ea typeface="楷体" panose="02010609060101010101" pitchFamily="49" charset="-122"/>
                        </a:rPr>
                        <a:t>，</a:t>
                      </a:r>
                      <a:r>
                        <a:rPr kumimoji="1" lang="en-US" altLang="zh-CN" sz="2000" b="1" i="0" u="none" strike="noStrike" cap="none" normalizeH="0" baseline="0" dirty="0" smtClean="0">
                          <a:ln>
                            <a:noFill/>
                          </a:ln>
                          <a:solidFill>
                            <a:srgbClr val="FF0000"/>
                          </a:solidFill>
                          <a:effectLst/>
                          <a:latin typeface="+mn-lt"/>
                          <a:ea typeface="楷体" panose="02010609060101010101" pitchFamily="49" charset="-122"/>
                        </a:rPr>
                        <a:t>1.2,  1.3  </a:t>
                      </a:r>
                    </a:p>
                  </a:txBody>
                  <a:tcPr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000" b="1" i="0" u="none" strike="noStrike" cap="none" normalizeH="0" baseline="0" dirty="0" smtClean="0">
                        <a:ln>
                          <a:noFill/>
                        </a:ln>
                        <a:solidFill>
                          <a:srgbClr val="FF0000"/>
                        </a:solidFill>
                        <a:effectLst/>
                        <a:latin typeface="+mn-lt"/>
                        <a:ea typeface="楷体" panose="02010609060101010101" pitchFamily="49" charset="-122"/>
                      </a:endParaRPr>
                    </a:p>
                  </a:txBody>
                  <a:tcPr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12" name="TextBox 11"/>
          <p:cNvSpPr txBox="1"/>
          <p:nvPr/>
        </p:nvSpPr>
        <p:spPr>
          <a:xfrm>
            <a:off x="6119446" y="4765430"/>
            <a:ext cx="1837592" cy="1631216"/>
          </a:xfrm>
          <a:prstGeom prst="rect">
            <a:avLst/>
          </a:prstGeom>
          <a:noFill/>
        </p:spPr>
        <p:txBody>
          <a:bodyPr wrap="square" rtlCol="0">
            <a:spAutoFit/>
          </a:bodyPr>
          <a:lstStyle/>
          <a:p>
            <a:pPr algn="ctr">
              <a:lnSpc>
                <a:spcPct val="125000"/>
              </a:lnSpc>
            </a:pPr>
            <a:r>
              <a:rPr lang="zh-CN" altLang="en-US" sz="2000" b="1" dirty="0" smtClean="0">
                <a:solidFill>
                  <a:srgbClr val="00B050"/>
                </a:solidFill>
                <a:latin typeface="楷体" panose="02010609060101010101" pitchFamily="49" charset="-122"/>
                <a:ea typeface="楷体" panose="02010609060101010101" pitchFamily="49" charset="-122"/>
              </a:rPr>
              <a:t>正确</a:t>
            </a:r>
            <a:endParaRPr lang="en-US" altLang="zh-CN" sz="2000" b="1" dirty="0" smtClean="0">
              <a:solidFill>
                <a:srgbClr val="00B050"/>
              </a:solidFill>
              <a:latin typeface="楷体" panose="02010609060101010101" pitchFamily="49" charset="-122"/>
              <a:ea typeface="楷体" panose="02010609060101010101" pitchFamily="49" charset="-122"/>
            </a:endParaRPr>
          </a:p>
          <a:p>
            <a:pPr algn="ctr">
              <a:lnSpc>
                <a:spcPct val="125000"/>
              </a:lnSpc>
            </a:pPr>
            <a:r>
              <a:rPr lang="zh-CN" altLang="en-US" sz="2000" b="1" dirty="0" smtClean="0">
                <a:solidFill>
                  <a:srgbClr val="00B050"/>
                </a:solidFill>
                <a:latin typeface="楷体" panose="02010609060101010101" pitchFamily="49" charset="-122"/>
                <a:ea typeface="楷体" panose="02010609060101010101" pitchFamily="49" charset="-122"/>
              </a:rPr>
              <a:t>正确</a:t>
            </a:r>
            <a:endParaRPr lang="en-US" altLang="zh-CN" sz="2000" b="1" dirty="0" smtClean="0">
              <a:solidFill>
                <a:srgbClr val="00B050"/>
              </a:solidFill>
              <a:latin typeface="楷体" panose="02010609060101010101" pitchFamily="49" charset="-122"/>
              <a:ea typeface="楷体" panose="02010609060101010101" pitchFamily="49" charset="-122"/>
            </a:endParaRPr>
          </a:p>
          <a:p>
            <a:pPr algn="ctr">
              <a:lnSpc>
                <a:spcPct val="125000"/>
              </a:lnSpc>
            </a:pPr>
            <a:r>
              <a:rPr lang="zh-CN" altLang="en-US" sz="2000" b="1" dirty="0" smtClean="0">
                <a:solidFill>
                  <a:srgbClr val="FF0000"/>
                </a:solidFill>
                <a:latin typeface="楷体" panose="02010609060101010101" pitchFamily="49" charset="-122"/>
                <a:ea typeface="楷体" panose="02010609060101010101" pitchFamily="49" charset="-122"/>
              </a:rPr>
              <a:t>错误</a:t>
            </a:r>
            <a:endParaRPr lang="en-US" altLang="zh-CN" sz="2000" b="1" dirty="0" smtClean="0">
              <a:solidFill>
                <a:srgbClr val="FF0000"/>
              </a:solidFill>
              <a:latin typeface="楷体" panose="02010609060101010101" pitchFamily="49" charset="-122"/>
              <a:ea typeface="楷体" panose="02010609060101010101" pitchFamily="49" charset="-122"/>
            </a:endParaRPr>
          </a:p>
          <a:p>
            <a:pPr algn="ctr">
              <a:lnSpc>
                <a:spcPct val="125000"/>
              </a:lnSpc>
            </a:pPr>
            <a:r>
              <a:rPr lang="zh-CN" altLang="en-US" sz="2000" b="1" dirty="0">
                <a:solidFill>
                  <a:srgbClr val="FF0000"/>
                </a:solidFill>
                <a:latin typeface="楷体" panose="02010609060101010101" pitchFamily="49" charset="-122"/>
                <a:ea typeface="楷体" panose="02010609060101010101" pitchFamily="49" charset="-122"/>
              </a:rPr>
              <a:t>错误</a:t>
            </a:r>
          </a:p>
        </p:txBody>
      </p:sp>
    </p:spTree>
    <p:extLst>
      <p:ext uri="{BB962C8B-B14F-4D97-AF65-F5344CB8AC3E}">
        <p14:creationId xmlns:p14="http://schemas.microsoft.com/office/powerpoint/2010/main" val="208289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并发访问全局数据造成的错误</a:t>
            </a:r>
          </a:p>
        </p:txBody>
      </p:sp>
      <p:sp>
        <p:nvSpPr>
          <p:cNvPr id="3" name="Content Placeholder 2"/>
          <p:cNvSpPr>
            <a:spLocks noGrp="1"/>
          </p:cNvSpPr>
          <p:nvPr>
            <p:ph idx="1"/>
          </p:nvPr>
        </p:nvSpPr>
        <p:spPr/>
        <p:txBody>
          <a:bodyPr/>
          <a:lstStyle/>
          <a:p>
            <a:r>
              <a:rPr lang="zh-CN" altLang="en-US" dirty="0" smtClean="0"/>
              <a:t>网上订机票的例子</a:t>
            </a:r>
            <a:endParaRPr lang="en-US" altLang="zh-CN" dirty="0" smtClean="0"/>
          </a:p>
          <a:p>
            <a:pPr lvl="1"/>
            <a:r>
              <a:rPr lang="en-US" altLang="zh-CN" dirty="0" smtClean="0"/>
              <a:t>T1</a:t>
            </a:r>
            <a:r>
              <a:rPr lang="zh-CN" altLang="en-US" dirty="0" smtClean="0"/>
              <a:t>和</a:t>
            </a:r>
            <a:r>
              <a:rPr lang="en-US" altLang="zh-CN" dirty="0" smtClean="0"/>
              <a:t>T2</a:t>
            </a:r>
            <a:r>
              <a:rPr lang="zh-CN" altLang="en-US" dirty="0" smtClean="0"/>
              <a:t>两个进程同时订机票</a:t>
            </a:r>
            <a:endParaRPr lang="zh-CN" altLang="en-US" dirty="0"/>
          </a:p>
        </p:txBody>
      </p:sp>
      <p:sp>
        <p:nvSpPr>
          <p:cNvPr id="4" name="Date Placeholder 3"/>
          <p:cNvSpPr>
            <a:spLocks noGrp="1"/>
          </p:cNvSpPr>
          <p:nvPr>
            <p:ph type="dt" sz="half" idx="10"/>
          </p:nvPr>
        </p:nvSpPr>
        <p:spPr/>
        <p:txBody>
          <a:bodyPr/>
          <a:lstStyle/>
          <a:p>
            <a:fld id="{74AC3273-38AD-46AC-9868-CD247215291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a:t>
            </a:fld>
            <a:endParaRPr lang="zh-CN" altLang="en-US" dirty="0"/>
          </a:p>
        </p:txBody>
      </p:sp>
      <p:sp>
        <p:nvSpPr>
          <p:cNvPr id="7" name="TextBox 6"/>
          <p:cNvSpPr txBox="1"/>
          <p:nvPr/>
        </p:nvSpPr>
        <p:spPr>
          <a:xfrm>
            <a:off x="611560" y="2420888"/>
            <a:ext cx="3672408" cy="2585323"/>
          </a:xfrm>
          <a:prstGeom prst="rect">
            <a:avLst/>
          </a:prstGeom>
          <a:noFill/>
        </p:spPr>
        <p:txBody>
          <a:bodyPr wrap="square" rtlCol="0">
            <a:spAutoFit/>
          </a:bodyPr>
          <a:lstStyle/>
          <a:p>
            <a:r>
              <a:rPr lang="zh-CN" altLang="en-US" b="1" dirty="0"/>
              <a:t> </a:t>
            </a:r>
            <a:r>
              <a:rPr lang="zh-CN" altLang="en-US" b="1" dirty="0" smtClean="0"/>
              <a:t>     </a:t>
            </a:r>
            <a:r>
              <a:rPr lang="en-US" altLang="zh-CN" b="1" dirty="0" smtClean="0"/>
              <a:t>T1                           T2</a:t>
            </a:r>
            <a:endParaRPr lang="en-US" altLang="zh-CN" b="1" dirty="0"/>
          </a:p>
          <a:p>
            <a:r>
              <a:rPr lang="en-US" altLang="zh-CN" b="1" dirty="0"/>
              <a:t>    </a:t>
            </a:r>
            <a:r>
              <a:rPr lang="en-US" altLang="zh-CN" b="1" dirty="0" smtClean="0"/>
              <a:t>   ...                           ...</a:t>
            </a:r>
            <a:endParaRPr lang="en-US" altLang="zh-CN" b="1" dirty="0"/>
          </a:p>
          <a:p>
            <a:r>
              <a:rPr lang="en-US" altLang="zh-CN" b="1" dirty="0"/>
              <a:t>      Read(x);            </a:t>
            </a:r>
            <a:r>
              <a:rPr lang="en-US" altLang="zh-CN" b="1" dirty="0" smtClean="0"/>
              <a:t>    Read(x</a:t>
            </a:r>
            <a:r>
              <a:rPr lang="en-US" altLang="zh-CN" b="1" dirty="0"/>
              <a:t>);</a:t>
            </a:r>
          </a:p>
          <a:p>
            <a:r>
              <a:rPr lang="en-US" altLang="zh-CN" b="1" dirty="0"/>
              <a:t>      y1:=x;                  </a:t>
            </a:r>
            <a:r>
              <a:rPr lang="en-US" altLang="zh-CN" b="1" dirty="0" smtClean="0"/>
              <a:t>  y2</a:t>
            </a:r>
            <a:r>
              <a:rPr lang="en-US" altLang="zh-CN" b="1" dirty="0"/>
              <a:t>:=x;</a:t>
            </a:r>
          </a:p>
          <a:p>
            <a:r>
              <a:rPr lang="en-US" altLang="zh-CN" b="1" dirty="0"/>
              <a:t>      if y1&gt;=1 then    </a:t>
            </a:r>
            <a:r>
              <a:rPr lang="en-US" altLang="zh-CN" b="1" dirty="0" smtClean="0"/>
              <a:t>   if </a:t>
            </a:r>
            <a:r>
              <a:rPr lang="en-US" altLang="zh-CN" b="1" dirty="0"/>
              <a:t>y2&gt;=1 then</a:t>
            </a:r>
          </a:p>
          <a:p>
            <a:r>
              <a:rPr lang="en-US" altLang="zh-CN" b="1" dirty="0"/>
              <a:t>         </a:t>
            </a:r>
            <a:r>
              <a:rPr lang="en-US" altLang="zh-CN" b="1" dirty="0" smtClean="0"/>
              <a:t>  y1</a:t>
            </a:r>
            <a:r>
              <a:rPr lang="en-US" altLang="zh-CN" b="1" dirty="0"/>
              <a:t>:=y1-1;          </a:t>
            </a:r>
            <a:r>
              <a:rPr lang="en-US" altLang="zh-CN" b="1" dirty="0" smtClean="0"/>
              <a:t>     y2</a:t>
            </a:r>
            <a:r>
              <a:rPr lang="en-US" altLang="zh-CN" b="1" dirty="0"/>
              <a:t>:=y2-1;</a:t>
            </a:r>
          </a:p>
          <a:p>
            <a:r>
              <a:rPr lang="en-US" altLang="zh-CN" b="1" dirty="0"/>
              <a:t>         </a:t>
            </a:r>
            <a:r>
              <a:rPr lang="en-US" altLang="zh-CN" b="1" dirty="0" smtClean="0"/>
              <a:t>  x</a:t>
            </a:r>
            <a:r>
              <a:rPr lang="en-US" altLang="zh-CN" b="1" dirty="0"/>
              <a:t>:=y1;               </a:t>
            </a:r>
            <a:r>
              <a:rPr lang="en-US" altLang="zh-CN" b="1" dirty="0" smtClean="0"/>
              <a:t>     x</a:t>
            </a:r>
            <a:r>
              <a:rPr lang="en-US" altLang="zh-CN" b="1" dirty="0"/>
              <a:t>:=y2;</a:t>
            </a:r>
          </a:p>
          <a:p>
            <a:r>
              <a:rPr lang="en-US" altLang="zh-CN" b="1" dirty="0"/>
              <a:t>         </a:t>
            </a:r>
            <a:r>
              <a:rPr lang="en-US" altLang="zh-CN" b="1" dirty="0" smtClean="0"/>
              <a:t>  write(x</a:t>
            </a:r>
            <a:r>
              <a:rPr lang="en-US" altLang="zh-CN" b="1" dirty="0"/>
              <a:t>);           </a:t>
            </a:r>
            <a:r>
              <a:rPr lang="en-US" altLang="zh-CN" b="1" dirty="0" smtClean="0"/>
              <a:t>     write(x</a:t>
            </a:r>
            <a:r>
              <a:rPr lang="en-US" altLang="zh-CN" b="1" dirty="0"/>
              <a:t>);</a:t>
            </a:r>
          </a:p>
          <a:p>
            <a:r>
              <a:rPr lang="en-US" altLang="zh-CN" b="1" dirty="0"/>
              <a:t>      </a:t>
            </a:r>
            <a:r>
              <a:rPr lang="en-US" altLang="zh-CN" b="1" dirty="0" smtClean="0"/>
              <a:t>...                            ...</a:t>
            </a:r>
            <a:endParaRPr lang="zh-CN" altLang="en-US" dirty="0"/>
          </a:p>
        </p:txBody>
      </p:sp>
      <p:sp>
        <p:nvSpPr>
          <p:cNvPr id="9" name="Text Box 37"/>
          <p:cNvSpPr txBox="1">
            <a:spLocks noChangeArrowheads="1"/>
          </p:cNvSpPr>
          <p:nvPr/>
        </p:nvSpPr>
        <p:spPr bwMode="auto">
          <a:xfrm>
            <a:off x="5004048" y="2204864"/>
            <a:ext cx="3419053" cy="3859518"/>
          </a:xfrm>
          <a:prstGeom prst="rect">
            <a:avLst/>
          </a:prstGeom>
          <a:solidFill>
            <a:schemeClr val="bg1">
              <a:lumMod val="85000"/>
            </a:schemeClr>
          </a:solidFill>
          <a:ln>
            <a:noFill/>
          </a:ln>
          <a:effec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65000"/>
              </a:lnSpc>
              <a:spcBef>
                <a:spcPct val="70000"/>
              </a:spcBef>
            </a:pPr>
            <a:r>
              <a:rPr lang="zh-CN" altLang="en-US" sz="1800" b="1" dirty="0">
                <a:latin typeface="+mn-lt"/>
                <a:ea typeface="楷体" panose="02010609060101010101" pitchFamily="49" charset="-122"/>
              </a:rPr>
              <a:t>假</a:t>
            </a:r>
            <a:r>
              <a:rPr lang="zh-CN" altLang="en-US" sz="1800" b="1" dirty="0" smtClean="0">
                <a:latin typeface="+mn-lt"/>
                <a:ea typeface="楷体" panose="02010609060101010101" pitchFamily="49" charset="-122"/>
              </a:rPr>
              <a:t>定初始票量为</a:t>
            </a:r>
            <a:r>
              <a:rPr lang="en-US" altLang="zh-CN" sz="1800" b="1" dirty="0" smtClean="0">
                <a:latin typeface="+mn-lt"/>
                <a:ea typeface="楷体" panose="02010609060101010101" pitchFamily="49" charset="-122"/>
              </a:rPr>
              <a:t>100</a:t>
            </a:r>
          </a:p>
          <a:p>
            <a:pPr eaLnBrk="1" hangingPunct="1">
              <a:lnSpc>
                <a:spcPct val="65000"/>
              </a:lnSpc>
              <a:spcBef>
                <a:spcPct val="70000"/>
              </a:spcBef>
            </a:pPr>
            <a:r>
              <a:rPr lang="en-US" altLang="zh-CN" sz="1800" b="1" dirty="0" smtClean="0">
                <a:latin typeface="+mn-lt"/>
                <a:ea typeface="楷体" panose="02010609060101010101" pitchFamily="49" charset="-122"/>
              </a:rPr>
              <a:t>1</a:t>
            </a:r>
            <a:r>
              <a:rPr lang="en-US" altLang="zh-CN" sz="1800" b="1" dirty="0">
                <a:latin typeface="+mn-lt"/>
                <a:ea typeface="楷体" panose="02010609060101010101" pitchFamily="49" charset="-122"/>
              </a:rPr>
              <a:t>. </a:t>
            </a:r>
            <a:r>
              <a:rPr lang="zh-CN" altLang="en-US" sz="1800" b="1" dirty="0">
                <a:latin typeface="+mn-lt"/>
                <a:ea typeface="楷体" panose="02010609060101010101" pitchFamily="49" charset="-122"/>
              </a:rPr>
              <a:t>若执行顺序为：</a:t>
            </a:r>
          </a:p>
          <a:p>
            <a:pPr eaLnBrk="1" hangingPunct="1">
              <a:lnSpc>
                <a:spcPct val="65000"/>
              </a:lnSpc>
              <a:spcBef>
                <a:spcPct val="50000"/>
              </a:spcBef>
            </a:pPr>
            <a:r>
              <a:rPr lang="zh-CN" altLang="en-US" sz="1800" b="1" dirty="0">
                <a:latin typeface="+mn-lt"/>
                <a:ea typeface="楷体" panose="02010609060101010101" pitchFamily="49" charset="-122"/>
              </a:rPr>
              <a:t>    先</a:t>
            </a:r>
            <a:r>
              <a:rPr lang="en-US" altLang="zh-CN" sz="1800" b="1" dirty="0">
                <a:latin typeface="+mn-lt"/>
                <a:ea typeface="楷体" panose="02010609060101010101" pitchFamily="49" charset="-122"/>
              </a:rPr>
              <a:t>T1;  </a:t>
            </a:r>
            <a:r>
              <a:rPr lang="zh-CN" altLang="en-US" sz="1800" b="1" dirty="0">
                <a:latin typeface="+mn-lt"/>
                <a:ea typeface="楷体" panose="02010609060101010101" pitchFamily="49" charset="-122"/>
              </a:rPr>
              <a:t>后</a:t>
            </a:r>
            <a:r>
              <a:rPr lang="en-US" altLang="zh-CN" sz="1800" b="1" dirty="0">
                <a:latin typeface="+mn-lt"/>
                <a:ea typeface="楷体" panose="02010609060101010101" pitchFamily="49" charset="-122"/>
              </a:rPr>
              <a:t>T2;</a:t>
            </a:r>
          </a:p>
          <a:p>
            <a:pPr eaLnBrk="1" hangingPunct="1">
              <a:lnSpc>
                <a:spcPct val="65000"/>
              </a:lnSpc>
              <a:spcBef>
                <a:spcPct val="50000"/>
              </a:spcBef>
            </a:pPr>
            <a:r>
              <a:rPr lang="en-US" altLang="zh-CN" sz="1800" b="1" dirty="0">
                <a:latin typeface="+mn-lt"/>
                <a:ea typeface="楷体" panose="02010609060101010101" pitchFamily="49" charset="-122"/>
              </a:rPr>
              <a:t>    </a:t>
            </a:r>
            <a:r>
              <a:rPr lang="zh-CN" altLang="en-US" sz="1800" b="1" dirty="0">
                <a:latin typeface="+mn-lt"/>
                <a:ea typeface="楷体" panose="02010609060101010101" pitchFamily="49" charset="-122"/>
              </a:rPr>
              <a:t>则结果：</a:t>
            </a:r>
            <a:r>
              <a:rPr lang="en-US" altLang="zh-CN" sz="1800" b="1" dirty="0">
                <a:latin typeface="+mn-lt"/>
                <a:ea typeface="楷体" panose="02010609060101010101" pitchFamily="49" charset="-122"/>
              </a:rPr>
              <a:t>x = 98</a:t>
            </a:r>
          </a:p>
          <a:p>
            <a:pPr eaLnBrk="1" hangingPunct="1">
              <a:spcBef>
                <a:spcPct val="60000"/>
              </a:spcBef>
            </a:pPr>
            <a:r>
              <a:rPr lang="en-US" altLang="zh-CN" sz="1800" b="1" dirty="0">
                <a:latin typeface="+mn-lt"/>
                <a:ea typeface="楷体" panose="02010609060101010101" pitchFamily="49" charset="-122"/>
              </a:rPr>
              <a:t>2. </a:t>
            </a:r>
            <a:r>
              <a:rPr lang="zh-CN" altLang="en-US" sz="1800" b="1" dirty="0">
                <a:latin typeface="+mn-lt"/>
                <a:ea typeface="楷体" panose="02010609060101010101" pitchFamily="49" charset="-122"/>
              </a:rPr>
              <a:t>若执行顺序为：</a:t>
            </a:r>
          </a:p>
          <a:p>
            <a:pPr lvl="1" eaLnBrk="1" hangingPunct="1">
              <a:lnSpc>
                <a:spcPct val="60000"/>
              </a:lnSpc>
              <a:spcBef>
                <a:spcPct val="50000"/>
              </a:spcBef>
            </a:pPr>
            <a:r>
              <a:rPr lang="en-US" altLang="zh-CN" sz="1800" b="1" dirty="0">
                <a:latin typeface="+mn-lt"/>
                <a:ea typeface="楷体" panose="02010609060101010101" pitchFamily="49" charset="-122"/>
              </a:rPr>
              <a:t>T1: Read(x); </a:t>
            </a:r>
          </a:p>
          <a:p>
            <a:pPr lvl="1" eaLnBrk="1" hangingPunct="1">
              <a:lnSpc>
                <a:spcPct val="60000"/>
              </a:lnSpc>
              <a:spcBef>
                <a:spcPct val="50000"/>
              </a:spcBef>
            </a:pPr>
            <a:r>
              <a:rPr lang="en-US" altLang="zh-CN" sz="1800" b="1" dirty="0">
                <a:latin typeface="+mn-lt"/>
                <a:ea typeface="楷体" panose="02010609060101010101" pitchFamily="49" charset="-122"/>
              </a:rPr>
              <a:t>T2: Read(x); </a:t>
            </a:r>
          </a:p>
          <a:p>
            <a:pPr lvl="1" eaLnBrk="1" hangingPunct="1">
              <a:lnSpc>
                <a:spcPct val="60000"/>
              </a:lnSpc>
              <a:spcBef>
                <a:spcPct val="50000"/>
              </a:spcBef>
            </a:pPr>
            <a:r>
              <a:rPr lang="en-US" altLang="zh-CN" sz="1800" b="1" dirty="0">
                <a:latin typeface="+mn-lt"/>
                <a:ea typeface="楷体" panose="02010609060101010101" pitchFamily="49" charset="-122"/>
              </a:rPr>
              <a:t>T1: if y1&gt;=1 then y1:=y1-1;</a:t>
            </a:r>
          </a:p>
          <a:p>
            <a:pPr lvl="1" eaLnBrk="1" hangingPunct="1">
              <a:lnSpc>
                <a:spcPct val="60000"/>
              </a:lnSpc>
              <a:spcBef>
                <a:spcPct val="50000"/>
              </a:spcBef>
            </a:pPr>
            <a:r>
              <a:rPr lang="en-US" altLang="zh-CN" sz="1800" b="1" dirty="0">
                <a:latin typeface="+mn-lt"/>
                <a:ea typeface="楷体" panose="02010609060101010101" pitchFamily="49" charset="-122"/>
              </a:rPr>
              <a:t>T2: if y2&gt;=1 then y2:=y2-1;</a:t>
            </a:r>
          </a:p>
          <a:p>
            <a:pPr lvl="1" eaLnBrk="1" hangingPunct="1">
              <a:lnSpc>
                <a:spcPct val="60000"/>
              </a:lnSpc>
              <a:spcBef>
                <a:spcPct val="50000"/>
              </a:spcBef>
            </a:pPr>
            <a:r>
              <a:rPr lang="en-US" altLang="zh-CN" sz="1800" b="1" dirty="0">
                <a:latin typeface="+mn-lt"/>
                <a:ea typeface="楷体" panose="02010609060101010101" pitchFamily="49" charset="-122"/>
              </a:rPr>
              <a:t>T1: write(x);</a:t>
            </a:r>
          </a:p>
          <a:p>
            <a:pPr lvl="1" eaLnBrk="1" hangingPunct="1">
              <a:lnSpc>
                <a:spcPct val="60000"/>
              </a:lnSpc>
              <a:spcBef>
                <a:spcPct val="50000"/>
              </a:spcBef>
            </a:pPr>
            <a:r>
              <a:rPr lang="en-US" altLang="zh-CN" sz="1800" b="1" dirty="0">
                <a:latin typeface="+mn-lt"/>
                <a:ea typeface="楷体" panose="02010609060101010101" pitchFamily="49" charset="-122"/>
              </a:rPr>
              <a:t>T2: write(x); </a:t>
            </a:r>
          </a:p>
          <a:p>
            <a:pPr lvl="1" eaLnBrk="1" hangingPunct="1">
              <a:lnSpc>
                <a:spcPct val="60000"/>
              </a:lnSpc>
              <a:spcBef>
                <a:spcPct val="50000"/>
              </a:spcBef>
            </a:pPr>
            <a:r>
              <a:rPr lang="zh-CN" altLang="en-US" sz="1800" b="1" dirty="0">
                <a:solidFill>
                  <a:srgbClr val="FF0000"/>
                </a:solidFill>
                <a:latin typeface="+mn-lt"/>
                <a:ea typeface="楷体" panose="02010609060101010101" pitchFamily="49" charset="-122"/>
              </a:rPr>
              <a:t>则结果 </a:t>
            </a:r>
            <a:r>
              <a:rPr lang="en-US" altLang="zh-CN" sz="1800" b="1" dirty="0">
                <a:solidFill>
                  <a:srgbClr val="FF0000"/>
                </a:solidFill>
                <a:latin typeface="+mn-lt"/>
                <a:ea typeface="楷体" panose="02010609060101010101" pitchFamily="49" charset="-122"/>
              </a:rPr>
              <a:t>x = </a:t>
            </a:r>
            <a:r>
              <a:rPr lang="en-US" altLang="zh-CN" sz="1800" b="1" dirty="0" smtClean="0">
                <a:solidFill>
                  <a:srgbClr val="FF0000"/>
                </a:solidFill>
                <a:latin typeface="+mn-lt"/>
                <a:ea typeface="楷体" panose="02010609060101010101" pitchFamily="49" charset="-122"/>
              </a:rPr>
              <a:t>99</a:t>
            </a:r>
            <a:r>
              <a:rPr lang="zh-CN" altLang="en-US" sz="1800" b="1" dirty="0" smtClean="0">
                <a:solidFill>
                  <a:srgbClr val="FF0000"/>
                </a:solidFill>
                <a:latin typeface="+mn-lt"/>
                <a:ea typeface="楷体" panose="02010609060101010101" pitchFamily="49" charset="-122"/>
              </a:rPr>
              <a:t>，错误！</a:t>
            </a:r>
            <a:endParaRPr lang="en-US" altLang="zh-CN" sz="1800" b="1" dirty="0">
              <a:solidFill>
                <a:srgbClr val="FF0000"/>
              </a:solidFill>
              <a:latin typeface="+mn-lt"/>
              <a:ea typeface="楷体" panose="02010609060101010101" pitchFamily="49" charset="-122"/>
            </a:endParaRPr>
          </a:p>
        </p:txBody>
      </p:sp>
    </p:spTree>
    <p:extLst>
      <p:ext uri="{BB962C8B-B14F-4D97-AF65-F5344CB8AC3E}">
        <p14:creationId xmlns:p14="http://schemas.microsoft.com/office/powerpoint/2010/main" val="16057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Race Condition</a:t>
            </a:r>
            <a:endParaRPr lang="zh-CN" altLang="en-US" dirty="0"/>
          </a:p>
        </p:txBody>
      </p:sp>
      <p:sp>
        <p:nvSpPr>
          <p:cNvPr id="4" name="Date Placeholder 3"/>
          <p:cNvSpPr>
            <a:spLocks noGrp="1"/>
          </p:cNvSpPr>
          <p:nvPr>
            <p:ph type="dt" sz="half" idx="10"/>
          </p:nvPr>
        </p:nvSpPr>
        <p:spPr/>
        <p:txBody>
          <a:bodyPr/>
          <a:lstStyle/>
          <a:p>
            <a:fld id="{CDE32BAB-D5D9-4425-B632-E98AFA6625C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a:t>
            </a:fld>
            <a:endParaRPr lang="zh-CN" altLang="en-US" dirty="0"/>
          </a:p>
        </p:txBody>
      </p:sp>
      <p:sp>
        <p:nvSpPr>
          <p:cNvPr id="7" name="TextBox 6"/>
          <p:cNvSpPr txBox="1"/>
          <p:nvPr/>
        </p:nvSpPr>
        <p:spPr>
          <a:xfrm>
            <a:off x="1043608" y="1772816"/>
            <a:ext cx="7056784" cy="1938992"/>
          </a:xfrm>
          <a:prstGeom prst="rect">
            <a:avLst/>
          </a:prstGeom>
          <a:noFill/>
        </p:spPr>
        <p:txBody>
          <a:bodyPr wrap="square" rtlCol="0">
            <a:spAutoFit/>
          </a:bodyPr>
          <a:lstStyle/>
          <a:p>
            <a:pPr algn="ctr"/>
            <a:r>
              <a:rPr lang="en-US" altLang="zh-CN" sz="2400" i="1" dirty="0">
                <a:solidFill>
                  <a:schemeClr val="tx1">
                    <a:lumMod val="75000"/>
                    <a:lumOff val="25000"/>
                  </a:schemeClr>
                </a:solidFill>
              </a:rPr>
              <a:t>A race condition occurs when </a:t>
            </a:r>
            <a:r>
              <a:rPr lang="en-US" altLang="zh-CN" sz="2400" i="1" dirty="0">
                <a:solidFill>
                  <a:srgbClr val="0000FF"/>
                </a:solidFill>
              </a:rPr>
              <a:t>multiple processes </a:t>
            </a:r>
            <a:r>
              <a:rPr lang="en-US" altLang="zh-CN" sz="2400" i="1" dirty="0">
                <a:solidFill>
                  <a:schemeClr val="tx1">
                    <a:lumMod val="75000"/>
                    <a:lumOff val="25000"/>
                  </a:schemeClr>
                </a:solidFill>
              </a:rPr>
              <a:t>or threads read and write </a:t>
            </a:r>
            <a:r>
              <a:rPr lang="en-US" altLang="zh-CN" sz="2400" i="1" dirty="0" smtClean="0">
                <a:solidFill>
                  <a:schemeClr val="tx1">
                    <a:lumMod val="75000"/>
                    <a:lumOff val="25000"/>
                  </a:schemeClr>
                </a:solidFill>
              </a:rPr>
              <a:t>data items </a:t>
            </a:r>
            <a:r>
              <a:rPr lang="en-US" altLang="zh-CN" sz="2400" i="1" dirty="0" smtClean="0">
                <a:solidFill>
                  <a:srgbClr val="0000FF"/>
                </a:solidFill>
              </a:rPr>
              <a:t>concurrently</a:t>
            </a:r>
            <a:r>
              <a:rPr lang="en-US" altLang="zh-CN" sz="2400" i="1" dirty="0" smtClean="0">
                <a:solidFill>
                  <a:schemeClr val="tx1">
                    <a:lumMod val="75000"/>
                    <a:lumOff val="25000"/>
                  </a:schemeClr>
                </a:solidFill>
              </a:rPr>
              <a:t> so </a:t>
            </a:r>
            <a:r>
              <a:rPr lang="en-US" altLang="zh-CN" sz="2400" i="1" dirty="0">
                <a:solidFill>
                  <a:schemeClr val="tx1">
                    <a:lumMod val="75000"/>
                    <a:lumOff val="25000"/>
                  </a:schemeClr>
                </a:solidFill>
              </a:rPr>
              <a:t>that the </a:t>
            </a:r>
            <a:r>
              <a:rPr lang="en-US" altLang="zh-CN" sz="2400" i="1" dirty="0">
                <a:solidFill>
                  <a:srgbClr val="0000FF"/>
                </a:solidFill>
              </a:rPr>
              <a:t>final result </a:t>
            </a:r>
            <a:r>
              <a:rPr lang="en-US" altLang="zh-CN" sz="2400" i="1" dirty="0">
                <a:solidFill>
                  <a:schemeClr val="tx1">
                    <a:lumMod val="75000"/>
                    <a:lumOff val="25000"/>
                  </a:schemeClr>
                </a:solidFill>
              </a:rPr>
              <a:t>depends on </a:t>
            </a:r>
            <a:r>
              <a:rPr lang="en-US" altLang="zh-CN" sz="2400" i="1" dirty="0">
                <a:solidFill>
                  <a:srgbClr val="FF0000"/>
                </a:solidFill>
              </a:rPr>
              <a:t>the order of execution of instructions </a:t>
            </a:r>
            <a:r>
              <a:rPr lang="en-US" altLang="zh-CN" sz="2400" i="1" dirty="0">
                <a:solidFill>
                  <a:schemeClr val="tx1">
                    <a:lumMod val="75000"/>
                    <a:lumOff val="25000"/>
                  </a:schemeClr>
                </a:solidFill>
              </a:rPr>
              <a:t>in </a:t>
            </a:r>
            <a:r>
              <a:rPr lang="en-US" altLang="zh-CN" sz="2400" i="1" dirty="0" smtClean="0">
                <a:solidFill>
                  <a:schemeClr val="tx1">
                    <a:lumMod val="75000"/>
                    <a:lumOff val="25000"/>
                  </a:schemeClr>
                </a:solidFill>
              </a:rPr>
              <a:t>the multiple </a:t>
            </a:r>
            <a:r>
              <a:rPr lang="en-US" altLang="zh-CN" sz="2400" i="1" dirty="0">
                <a:solidFill>
                  <a:schemeClr val="tx1">
                    <a:lumMod val="75000"/>
                    <a:lumOff val="25000"/>
                  </a:schemeClr>
                </a:solidFill>
              </a:rPr>
              <a:t>processes.</a:t>
            </a:r>
            <a:endParaRPr lang="zh-CN" altLang="en-US" sz="2400" i="1" dirty="0">
              <a:solidFill>
                <a:schemeClr val="tx1">
                  <a:lumMod val="75000"/>
                  <a:lumOff val="25000"/>
                </a:schemeClr>
              </a:solidFill>
            </a:endParaRPr>
          </a:p>
          <a:p>
            <a:pPr algn="ctr"/>
            <a:endParaRPr lang="zh-CN" altLang="en-US" sz="2400" dirty="0">
              <a:solidFill>
                <a:schemeClr val="tx1">
                  <a:lumMod val="75000"/>
                  <a:lumOff val="25000"/>
                </a:schemeClr>
              </a:solidFill>
            </a:endParaRPr>
          </a:p>
        </p:txBody>
      </p:sp>
      <p:sp>
        <p:nvSpPr>
          <p:cNvPr id="8" name="TextBox 7"/>
          <p:cNvSpPr txBox="1"/>
          <p:nvPr/>
        </p:nvSpPr>
        <p:spPr>
          <a:xfrm>
            <a:off x="1043608" y="4370328"/>
            <a:ext cx="7056784" cy="1569660"/>
          </a:xfrm>
          <a:prstGeom prst="rect">
            <a:avLst/>
          </a:prstGeom>
          <a:noFill/>
        </p:spPr>
        <p:txBody>
          <a:bodyPr wrap="square" rtlCol="0">
            <a:spAutoFit/>
          </a:bodyPr>
          <a:lstStyle/>
          <a:p>
            <a:pPr algn="ctr"/>
            <a:r>
              <a:rPr lang="en-US" altLang="zh-CN" sz="2400" i="1" dirty="0" smtClean="0">
                <a:solidFill>
                  <a:schemeClr val="tx1">
                    <a:lumMod val="75000"/>
                    <a:lumOff val="25000"/>
                  </a:schemeClr>
                </a:solidFill>
              </a:rPr>
              <a:t>Operating systems should </a:t>
            </a:r>
            <a:r>
              <a:rPr lang="en-US" altLang="zh-CN" sz="2400" i="1" dirty="0" smtClean="0">
                <a:solidFill>
                  <a:srgbClr val="00B050"/>
                </a:solidFill>
              </a:rPr>
              <a:t>protect</a:t>
            </a:r>
            <a:r>
              <a:rPr lang="en-US" altLang="zh-CN" sz="2400" i="1" dirty="0" smtClean="0">
                <a:solidFill>
                  <a:schemeClr val="tx1">
                    <a:lumMod val="75000"/>
                    <a:lumOff val="25000"/>
                  </a:schemeClr>
                </a:solidFill>
              </a:rPr>
              <a:t> the access to shared resources so that </a:t>
            </a:r>
            <a:r>
              <a:rPr lang="en-US" altLang="zh-CN" sz="2400" i="1" dirty="0" smtClean="0">
                <a:solidFill>
                  <a:srgbClr val="00B050"/>
                </a:solidFill>
              </a:rPr>
              <a:t>speed independency</a:t>
            </a:r>
            <a:r>
              <a:rPr lang="en-US" altLang="zh-CN" sz="2400" i="1" dirty="0" smtClean="0">
                <a:solidFill>
                  <a:schemeClr val="tx1">
                    <a:lumMod val="75000"/>
                    <a:lumOff val="25000"/>
                  </a:schemeClr>
                </a:solidFill>
              </a:rPr>
              <a:t> and </a:t>
            </a:r>
            <a:r>
              <a:rPr lang="en-US" altLang="zh-CN" sz="2400" i="1" dirty="0" smtClean="0">
                <a:solidFill>
                  <a:srgbClr val="00B050"/>
                </a:solidFill>
              </a:rPr>
              <a:t>data consistency</a:t>
            </a:r>
            <a:r>
              <a:rPr lang="en-US" altLang="zh-CN" sz="2400" i="1" dirty="0" smtClean="0">
                <a:solidFill>
                  <a:schemeClr val="tx1">
                    <a:lumMod val="75000"/>
                    <a:lumOff val="25000"/>
                  </a:schemeClr>
                </a:solidFill>
              </a:rPr>
              <a:t> is achieved.</a:t>
            </a:r>
            <a:endParaRPr lang="zh-CN" altLang="en-US" sz="2400" i="1" dirty="0">
              <a:solidFill>
                <a:schemeClr val="tx1">
                  <a:lumMod val="75000"/>
                  <a:lumOff val="25000"/>
                </a:schemeClr>
              </a:solidFill>
            </a:endParaRPr>
          </a:p>
          <a:p>
            <a:pPr algn="ctr"/>
            <a:endParaRPr lang="zh-CN" altLang="en-US" sz="2400" dirty="0">
              <a:solidFill>
                <a:schemeClr val="tx1">
                  <a:lumMod val="75000"/>
                  <a:lumOff val="25000"/>
                </a:schemeClr>
              </a:solidFill>
            </a:endParaRPr>
          </a:p>
        </p:txBody>
      </p:sp>
    </p:spTree>
    <p:extLst>
      <p:ext uri="{BB962C8B-B14F-4D97-AF65-F5344CB8AC3E}">
        <p14:creationId xmlns:p14="http://schemas.microsoft.com/office/powerpoint/2010/main" val="1713336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进程间的制约关系</a:t>
            </a:r>
            <a:endParaRPr lang="zh-CN" altLang="en-US" dirty="0"/>
          </a:p>
        </p:txBody>
      </p:sp>
      <p:sp>
        <p:nvSpPr>
          <p:cNvPr id="3" name="Content Placeholder 2"/>
          <p:cNvSpPr>
            <a:spLocks noGrp="1"/>
          </p:cNvSpPr>
          <p:nvPr>
            <p:ph idx="1"/>
          </p:nvPr>
        </p:nvSpPr>
        <p:spPr/>
        <p:txBody>
          <a:bodyPr/>
          <a:lstStyle/>
          <a:p>
            <a:r>
              <a:rPr lang="zh-CN" altLang="en-US" dirty="0" smtClean="0"/>
              <a:t>间接</a:t>
            </a:r>
            <a:r>
              <a:rPr lang="zh-CN" altLang="en-US" dirty="0"/>
              <a:t>制</a:t>
            </a:r>
            <a:r>
              <a:rPr lang="zh-CN" altLang="en-US" dirty="0" smtClean="0"/>
              <a:t>约</a:t>
            </a:r>
            <a:endParaRPr lang="en-US" altLang="zh-CN" dirty="0" smtClean="0"/>
          </a:p>
          <a:p>
            <a:pPr lvl="1"/>
            <a:r>
              <a:rPr lang="zh-CN" altLang="en-US" b="1" dirty="0">
                <a:solidFill>
                  <a:srgbClr val="0000FF"/>
                </a:solidFill>
              </a:rPr>
              <a:t>进行竞争</a:t>
            </a:r>
            <a:r>
              <a:rPr lang="en-US" altLang="zh-CN" dirty="0"/>
              <a:t>——</a:t>
            </a:r>
            <a:r>
              <a:rPr lang="zh-CN" altLang="en-US" dirty="0"/>
              <a:t>独占分配到的部分或全部共享资源</a:t>
            </a:r>
            <a:r>
              <a:rPr lang="zh-CN" altLang="en-US" dirty="0" smtClean="0"/>
              <a:t>，进</a:t>
            </a:r>
            <a:r>
              <a:rPr lang="zh-CN" altLang="en-US" dirty="0"/>
              <a:t>程间要通过某种中介发生联系，是无意识安排的，可发生在相关进程之间，也可发生在无关进</a:t>
            </a:r>
            <a:r>
              <a:rPr lang="zh-CN" altLang="en-US" dirty="0" smtClean="0"/>
              <a:t>程之间</a:t>
            </a:r>
            <a:endParaRPr lang="en-US" altLang="zh-CN" dirty="0" smtClean="0"/>
          </a:p>
          <a:p>
            <a:endParaRPr lang="en-US" altLang="zh-CN" dirty="0"/>
          </a:p>
          <a:p>
            <a:r>
              <a:rPr lang="zh-CN" altLang="en-US" dirty="0" smtClean="0"/>
              <a:t>直接制约</a:t>
            </a:r>
            <a:endParaRPr lang="en-US" altLang="zh-CN" dirty="0" smtClean="0"/>
          </a:p>
          <a:p>
            <a:pPr lvl="1"/>
            <a:r>
              <a:rPr lang="zh-CN" altLang="en-US" b="1" dirty="0">
                <a:solidFill>
                  <a:srgbClr val="0000FF"/>
                </a:solidFill>
              </a:rPr>
              <a:t>进行协作</a:t>
            </a:r>
            <a:r>
              <a:rPr lang="en-US" altLang="zh-CN" dirty="0"/>
              <a:t>——</a:t>
            </a:r>
            <a:r>
              <a:rPr lang="zh-CN" altLang="en-US" dirty="0"/>
              <a:t>等待来自其他进程的信</a:t>
            </a:r>
            <a:r>
              <a:rPr lang="zh-CN" altLang="en-US" dirty="0" smtClean="0"/>
              <a:t>息。</a:t>
            </a:r>
            <a:r>
              <a:rPr lang="zh-CN" altLang="en-US" dirty="0"/>
              <a:t>进程间的相互联系是有意识的安排的，直接作用只发生在相关进程间</a:t>
            </a:r>
          </a:p>
        </p:txBody>
      </p:sp>
      <p:sp>
        <p:nvSpPr>
          <p:cNvPr id="4" name="Date Placeholder 3"/>
          <p:cNvSpPr>
            <a:spLocks noGrp="1"/>
          </p:cNvSpPr>
          <p:nvPr>
            <p:ph type="dt" sz="half" idx="10"/>
          </p:nvPr>
        </p:nvSpPr>
        <p:spPr/>
        <p:txBody>
          <a:bodyPr/>
          <a:lstStyle/>
          <a:p>
            <a:fld id="{DD7A5DBB-CC34-4F0F-B0AC-BAAF984C624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a:t>
            </a:fld>
            <a:endParaRPr lang="zh-CN" altLang="en-US" dirty="0"/>
          </a:p>
        </p:txBody>
      </p:sp>
    </p:spTree>
    <p:extLst>
      <p:ext uri="{BB962C8B-B14F-4D97-AF65-F5344CB8AC3E}">
        <p14:creationId xmlns:p14="http://schemas.microsoft.com/office/powerpoint/2010/main" val="1767273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需要解决的问题</a:t>
            </a:r>
            <a:endParaRPr lang="zh-CN" altLang="en-US" dirty="0"/>
          </a:p>
        </p:txBody>
      </p:sp>
      <p:sp>
        <p:nvSpPr>
          <p:cNvPr id="3" name="Content Placeholder 2"/>
          <p:cNvSpPr>
            <a:spLocks noGrp="1"/>
          </p:cNvSpPr>
          <p:nvPr>
            <p:ph idx="1"/>
          </p:nvPr>
        </p:nvSpPr>
        <p:spPr/>
        <p:txBody>
          <a:bodyPr>
            <a:normAutofit fontScale="92500" lnSpcReduction="20000"/>
          </a:bodyPr>
          <a:lstStyle/>
          <a:p>
            <a:r>
              <a:rPr lang="zh-CN" altLang="en-US" sz="1900" dirty="0" smtClean="0">
                <a:solidFill>
                  <a:srgbClr val="FF0000"/>
                </a:solidFill>
              </a:rPr>
              <a:t>互斥</a:t>
            </a:r>
            <a:r>
              <a:rPr lang="en-US" altLang="zh-CN" sz="1900" dirty="0" smtClean="0"/>
              <a:t>——</a:t>
            </a:r>
            <a:r>
              <a:rPr lang="zh-CN" altLang="en-US" sz="1900" dirty="0"/>
              <a:t>多</a:t>
            </a:r>
            <a:r>
              <a:rPr lang="zh-CN" altLang="en-US" sz="1900" dirty="0" smtClean="0"/>
              <a:t>个进程竞争资源的问题</a:t>
            </a:r>
            <a:endParaRPr lang="en-US" altLang="zh-CN" sz="1900" dirty="0" smtClean="0"/>
          </a:p>
          <a:p>
            <a:pPr lvl="1"/>
            <a:r>
              <a:rPr lang="zh-CN" altLang="en-US" sz="1700" b="1" dirty="0">
                <a:solidFill>
                  <a:srgbClr val="FF0000"/>
                </a:solidFill>
              </a:rPr>
              <a:t>数据一致性问题</a:t>
            </a:r>
            <a:endParaRPr lang="en-US" altLang="zh-CN" sz="1700" b="1" dirty="0">
              <a:solidFill>
                <a:srgbClr val="FF0000"/>
              </a:solidFill>
            </a:endParaRPr>
          </a:p>
          <a:p>
            <a:pPr lvl="1"/>
            <a:r>
              <a:rPr lang="zh-CN" altLang="en-US" sz="1700" dirty="0" smtClean="0"/>
              <a:t>如果处理方法不当，会造成</a:t>
            </a:r>
            <a:endParaRPr lang="en-US" altLang="zh-CN" sz="1700" dirty="0" smtClean="0"/>
          </a:p>
          <a:p>
            <a:pPr lvl="2"/>
            <a:r>
              <a:rPr lang="zh-CN" altLang="en-US" sz="1500" b="1" dirty="0">
                <a:solidFill>
                  <a:srgbClr val="FF0000"/>
                </a:solidFill>
              </a:rPr>
              <a:t>死</a:t>
            </a:r>
            <a:r>
              <a:rPr lang="zh-CN" altLang="en-US" sz="1500" b="1" dirty="0" smtClean="0">
                <a:solidFill>
                  <a:srgbClr val="FF0000"/>
                </a:solidFill>
              </a:rPr>
              <a:t>锁问题</a:t>
            </a:r>
            <a:r>
              <a:rPr lang="zh-CN" altLang="en-US" sz="1500" dirty="0" smtClean="0"/>
              <a:t>：多个进程互不相让，都不能得到足够的资源</a:t>
            </a:r>
            <a:endParaRPr lang="en-US" altLang="zh-CN" sz="1500" dirty="0" smtClean="0"/>
          </a:p>
          <a:p>
            <a:pPr lvl="2"/>
            <a:r>
              <a:rPr lang="zh-CN" altLang="en-US" sz="1500" b="1" dirty="0">
                <a:solidFill>
                  <a:srgbClr val="FF0000"/>
                </a:solidFill>
              </a:rPr>
              <a:t>饥</a:t>
            </a:r>
            <a:r>
              <a:rPr lang="zh-CN" altLang="en-US" sz="1500" b="1" dirty="0" smtClean="0">
                <a:solidFill>
                  <a:srgbClr val="FF0000"/>
                </a:solidFill>
              </a:rPr>
              <a:t>饿问题</a:t>
            </a:r>
            <a:r>
              <a:rPr lang="zh-CN" altLang="en-US" sz="1500" dirty="0" smtClean="0"/>
              <a:t>：即使没有死锁问题，一个进程总是得不到资源（其它进程轮流占用资源）</a:t>
            </a:r>
            <a:endParaRPr lang="en-US" altLang="zh-CN" sz="1500" dirty="0" smtClean="0"/>
          </a:p>
          <a:p>
            <a:r>
              <a:rPr lang="zh-CN" altLang="en-US" sz="1900" dirty="0" smtClean="0">
                <a:solidFill>
                  <a:srgbClr val="FF0000"/>
                </a:solidFill>
              </a:rPr>
              <a:t>同步</a:t>
            </a:r>
            <a:r>
              <a:rPr lang="en-US" altLang="zh-CN" sz="1900" dirty="0" smtClean="0"/>
              <a:t>——</a:t>
            </a:r>
            <a:r>
              <a:rPr lang="zh-CN" altLang="en-US" sz="1900" dirty="0" smtClean="0"/>
              <a:t>多个进程协作的问题</a:t>
            </a:r>
            <a:endParaRPr lang="en-US" altLang="zh-CN" sz="1900" dirty="0" smtClean="0"/>
          </a:p>
          <a:p>
            <a:pPr lvl="1"/>
            <a:r>
              <a:rPr lang="zh-CN" altLang="en-US" sz="1700" dirty="0"/>
              <a:t>通</a:t>
            </a:r>
            <a:r>
              <a:rPr lang="zh-CN" altLang="en-US" sz="1700" dirty="0" smtClean="0"/>
              <a:t>过什么机制在进程之间传递消息（通信）？</a:t>
            </a:r>
            <a:endParaRPr lang="en-US" altLang="zh-CN" sz="1700" dirty="0" smtClean="0"/>
          </a:p>
          <a:p>
            <a:pPr lvl="1"/>
            <a:r>
              <a:rPr lang="zh-CN" altLang="en-US" sz="1700" dirty="0"/>
              <a:t>进</a:t>
            </a:r>
            <a:r>
              <a:rPr lang="zh-CN" altLang="en-US" sz="1700" dirty="0" smtClean="0"/>
              <a:t>程因为同步，状态应如何维护？</a:t>
            </a:r>
            <a:endParaRPr lang="en-US" altLang="zh-CN" sz="1700" dirty="0" smtClean="0"/>
          </a:p>
          <a:p>
            <a:pPr lvl="1"/>
            <a:r>
              <a:rPr lang="zh-CN" altLang="en-US" sz="1700" dirty="0"/>
              <a:t>同</a:t>
            </a:r>
            <a:r>
              <a:rPr lang="zh-CN" altLang="en-US" sz="1700" dirty="0" smtClean="0"/>
              <a:t>步策略不当，依然可能造成死锁和饥饿问题</a:t>
            </a:r>
            <a:endParaRPr lang="en-US" altLang="zh-CN" sz="1700" dirty="0" smtClean="0"/>
          </a:p>
          <a:p>
            <a:pPr lvl="1">
              <a:buNone/>
            </a:pPr>
            <a:endParaRPr lang="en-US" altLang="zh-CN" sz="1700" dirty="0" smtClean="0"/>
          </a:p>
          <a:p>
            <a:pPr lvl="1">
              <a:buFont typeface="Wingdings" pitchFamily="2" charset="2"/>
              <a:buChar char="p"/>
            </a:pPr>
            <a:r>
              <a:rPr lang="zh-CN" altLang="en-US" sz="1900" dirty="0" smtClean="0"/>
              <a:t>进程互斥和进程同步有时也统称为进程的同步</a:t>
            </a:r>
            <a:r>
              <a:rPr lang="en-US" altLang="zh-CN" sz="1900" dirty="0" smtClean="0"/>
              <a:t>;</a:t>
            </a:r>
          </a:p>
          <a:p>
            <a:pPr lvl="1">
              <a:buFont typeface="Wingdings" pitchFamily="2" charset="2"/>
              <a:buChar char="p"/>
            </a:pPr>
            <a:r>
              <a:rPr lang="zh-CN" altLang="en-US" sz="1900" dirty="0" smtClean="0"/>
              <a:t>进程互斥是进程同步的特例；互斥进程是竞争共享资源的使用，而同步进程之间必然有依赖关系</a:t>
            </a:r>
            <a:r>
              <a:rPr lang="en-US" altLang="zh-CN" sz="1900" dirty="0" smtClean="0"/>
              <a:t>;</a:t>
            </a:r>
          </a:p>
          <a:p>
            <a:pPr lvl="1">
              <a:buFont typeface="Wingdings" pitchFamily="2" charset="2"/>
              <a:buChar char="p"/>
            </a:pPr>
            <a:r>
              <a:rPr lang="zh-CN" altLang="en-US" sz="1900" dirty="0" smtClean="0"/>
              <a:t>进程的同步和互斥都涉及并发进程访问共享资源的问题</a:t>
            </a:r>
            <a:endParaRPr lang="en-US" altLang="zh-CN" sz="1900" dirty="0" smtClean="0"/>
          </a:p>
          <a:p>
            <a:pPr lvl="1"/>
            <a:endParaRPr lang="en-US" altLang="zh-CN" dirty="0" smtClean="0"/>
          </a:p>
        </p:txBody>
      </p:sp>
      <p:sp>
        <p:nvSpPr>
          <p:cNvPr id="4" name="Date Placeholder 3"/>
          <p:cNvSpPr>
            <a:spLocks noGrp="1"/>
          </p:cNvSpPr>
          <p:nvPr>
            <p:ph type="dt" sz="half" idx="10"/>
          </p:nvPr>
        </p:nvSpPr>
        <p:spPr/>
        <p:txBody>
          <a:bodyPr/>
          <a:lstStyle/>
          <a:p>
            <a:fld id="{052479CC-84F8-4CC8-8FD1-010FD5E3C3B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a:t>
            </a:fld>
            <a:endParaRPr lang="zh-CN" altLang="en-US" dirty="0"/>
          </a:p>
        </p:txBody>
      </p:sp>
    </p:spTree>
    <p:extLst>
      <p:ext uri="{BB962C8B-B14F-4D97-AF65-F5344CB8AC3E}">
        <p14:creationId xmlns:p14="http://schemas.microsoft.com/office/powerpoint/2010/main" val="656143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同步关系举例</a:t>
            </a:r>
            <a:endParaRPr lang="zh-CN" altLang="en-US" dirty="0"/>
          </a:p>
        </p:txBody>
      </p:sp>
      <p:sp>
        <p:nvSpPr>
          <p:cNvPr id="4" name="Date Placeholder 3"/>
          <p:cNvSpPr>
            <a:spLocks noGrp="1"/>
          </p:cNvSpPr>
          <p:nvPr>
            <p:ph type="dt" sz="half" idx="10"/>
          </p:nvPr>
        </p:nvSpPr>
        <p:spPr/>
        <p:txBody>
          <a:bodyPr/>
          <a:lstStyle/>
          <a:p>
            <a:fld id="{16D0FE64-A61F-40A0-BE6D-EBC5040654E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a:t>
            </a:fld>
            <a:endParaRPr lang="zh-CN" altLang="en-US" dirty="0"/>
          </a:p>
        </p:txBody>
      </p:sp>
      <p:sp>
        <p:nvSpPr>
          <p:cNvPr id="8" name="Rectangle 1032"/>
          <p:cNvSpPr txBox="1">
            <a:spLocks noChangeArrowheads="1"/>
          </p:cNvSpPr>
          <p:nvPr/>
        </p:nvSpPr>
        <p:spPr bwMode="auto">
          <a:xfrm>
            <a:off x="1098376" y="1916832"/>
            <a:ext cx="6858000" cy="41148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lnSpcReduction="10000"/>
          </a:bodyPr>
          <a:lstStyle>
            <a:lvl1pPr algn="ctr" defTabSz="914400" rtl="0" eaLnBrk="1" latinLnBrk="0" hangingPunct="1">
              <a:spcBef>
                <a:spcPct val="0"/>
              </a:spcBef>
              <a:buNone/>
              <a:defRPr sz="3600" b="1" kern="1200">
                <a:solidFill>
                  <a:schemeClr val="tx1"/>
                </a:solidFill>
                <a:latin typeface="Times New Roman" pitchFamily="18" charset="0"/>
                <a:ea typeface="楷体" pitchFamily="49" charset="-122"/>
                <a:cs typeface="Times New Roman" pitchFamily="18" charset="0"/>
              </a:defRPr>
            </a:lvl1pPr>
          </a:lstStyle>
          <a:p>
            <a:pPr algn="l">
              <a:lnSpc>
                <a:spcPct val="120000"/>
              </a:lnSpc>
              <a:spcAft>
                <a:spcPts val="1700"/>
              </a:spcAft>
            </a:pPr>
            <a:r>
              <a:rPr lang="en-US" altLang="zh-CN" sz="2800" dirty="0" smtClean="0">
                <a:solidFill>
                  <a:srgbClr val="FFFF00"/>
                </a:solidFill>
                <a:ea typeface="华文黑体" panose="02010600040101010101" pitchFamily="2" charset="-122"/>
              </a:rPr>
              <a:t>      </a:t>
            </a:r>
            <a:r>
              <a:rPr lang="zh-CN" altLang="en-US" sz="2800" dirty="0" smtClean="0">
                <a:solidFill>
                  <a:srgbClr val="FF0000"/>
                </a:solidFill>
                <a:ea typeface="华文黑体" panose="02010600040101010101" pitchFamily="2" charset="-122"/>
              </a:rPr>
              <a:t>司机   </a:t>
            </a:r>
            <a:r>
              <a:rPr lang="en-US" altLang="zh-CN" sz="2800" dirty="0" smtClean="0">
                <a:solidFill>
                  <a:srgbClr val="FF0000"/>
                </a:solidFill>
                <a:ea typeface="华文黑体" panose="02010600040101010101" pitchFamily="2" charset="-122"/>
              </a:rPr>
              <a:t>P1</a:t>
            </a:r>
            <a:r>
              <a:rPr lang="en-US" altLang="zh-CN" sz="2800" dirty="0" smtClean="0">
                <a:solidFill>
                  <a:srgbClr val="FFFF00"/>
                </a:solidFill>
                <a:ea typeface="华文黑体" panose="02010600040101010101" pitchFamily="2" charset="-122"/>
              </a:rPr>
              <a:t>                         </a:t>
            </a:r>
            <a:r>
              <a:rPr lang="zh-CN" altLang="en-US" sz="2800" dirty="0" smtClean="0">
                <a:solidFill>
                  <a:srgbClr val="FF0000"/>
                </a:solidFill>
                <a:ea typeface="华文黑体" panose="02010600040101010101" pitchFamily="2" charset="-122"/>
              </a:rPr>
              <a:t>售票员  </a:t>
            </a:r>
            <a:r>
              <a:rPr lang="en-US" altLang="zh-CN" sz="2800" dirty="0" smtClean="0">
                <a:solidFill>
                  <a:srgbClr val="FF0000"/>
                </a:solidFill>
                <a:ea typeface="华文黑体" panose="02010600040101010101" pitchFamily="2" charset="-122"/>
              </a:rPr>
              <a:t>P2</a:t>
            </a:r>
            <a:r>
              <a:rPr lang="en-US" altLang="zh-CN" sz="2800" dirty="0" smtClean="0">
                <a:solidFill>
                  <a:srgbClr val="FFFF00"/>
                </a:solidFill>
                <a:ea typeface="华文黑体" panose="02010600040101010101" pitchFamily="2" charset="-122"/>
              </a:rPr>
              <a:t/>
            </a:r>
            <a:br>
              <a:rPr lang="en-US" altLang="zh-CN" sz="2800" dirty="0" smtClean="0">
                <a:solidFill>
                  <a:srgbClr val="FFFF00"/>
                </a:solidFill>
                <a:ea typeface="华文黑体" panose="02010600040101010101" pitchFamily="2" charset="-122"/>
              </a:rPr>
            </a:br>
            <a:r>
              <a:rPr lang="en-US" altLang="zh-CN" sz="2800" dirty="0" smtClean="0">
                <a:solidFill>
                  <a:srgbClr val="FFFF00"/>
                </a:solidFill>
                <a:ea typeface="华文黑体" panose="02010600040101010101" pitchFamily="2" charset="-122"/>
              </a:rPr>
              <a:t>      </a:t>
            </a:r>
            <a:r>
              <a:rPr lang="en-US" altLang="zh-CN" sz="2800" dirty="0" smtClean="0">
                <a:solidFill>
                  <a:srgbClr val="0000FF"/>
                </a:solidFill>
                <a:ea typeface="华文黑体" panose="02010600040101010101" pitchFamily="2" charset="-122"/>
              </a:rPr>
              <a:t>REPEAT                          </a:t>
            </a:r>
            <a:r>
              <a:rPr lang="en-US" altLang="zh-CN" sz="2800" dirty="0" err="1" smtClean="0">
                <a:solidFill>
                  <a:srgbClr val="0000FF"/>
                </a:solidFill>
                <a:ea typeface="华文黑体" panose="02010600040101010101" pitchFamily="2" charset="-122"/>
              </a:rPr>
              <a:t>REPEAT</a:t>
            </a:r>
            <a:r>
              <a:rPr lang="en-US" altLang="zh-CN" sz="2800" dirty="0" smtClean="0">
                <a:solidFill>
                  <a:srgbClr val="0000FF"/>
                </a:solidFill>
                <a:ea typeface="华文黑体" panose="02010600040101010101" pitchFamily="2" charset="-122"/>
              </a:rPr>
              <a:t/>
            </a:r>
            <a:br>
              <a:rPr lang="en-US" altLang="zh-CN" sz="2800" dirty="0" smtClean="0">
                <a:solidFill>
                  <a:srgbClr val="0000FF"/>
                </a:solidFill>
                <a:ea typeface="华文黑体" panose="02010600040101010101" pitchFamily="2" charset="-122"/>
              </a:rPr>
            </a:br>
            <a:r>
              <a:rPr lang="en-US" altLang="zh-CN" sz="2800" dirty="0" smtClean="0">
                <a:solidFill>
                  <a:srgbClr val="0000FF"/>
                </a:solidFill>
                <a:ea typeface="华文黑体" panose="02010600040101010101" pitchFamily="2" charset="-122"/>
              </a:rPr>
              <a:t>          </a:t>
            </a:r>
            <a:r>
              <a:rPr lang="zh-CN" altLang="en-US" sz="2800" dirty="0" smtClean="0">
                <a:solidFill>
                  <a:srgbClr val="0000FF"/>
                </a:solidFill>
                <a:ea typeface="华文黑体" panose="02010600040101010101" pitchFamily="2" charset="-122"/>
              </a:rPr>
              <a:t>启动                                  关门</a:t>
            </a:r>
            <a:br>
              <a:rPr lang="zh-CN" altLang="en-US" sz="2800" dirty="0" smtClean="0">
                <a:solidFill>
                  <a:srgbClr val="0000FF"/>
                </a:solidFill>
                <a:ea typeface="华文黑体" panose="02010600040101010101" pitchFamily="2" charset="-122"/>
              </a:rPr>
            </a:br>
            <a:r>
              <a:rPr lang="zh-CN" altLang="en-US" sz="2800" dirty="0" smtClean="0">
                <a:solidFill>
                  <a:srgbClr val="0000FF"/>
                </a:solidFill>
                <a:ea typeface="华文黑体" panose="02010600040101010101" pitchFamily="2" charset="-122"/>
              </a:rPr>
              <a:t/>
            </a:r>
            <a:br>
              <a:rPr lang="zh-CN" altLang="en-US" sz="2800" dirty="0" smtClean="0">
                <a:solidFill>
                  <a:srgbClr val="0000FF"/>
                </a:solidFill>
                <a:ea typeface="华文黑体" panose="02010600040101010101" pitchFamily="2" charset="-122"/>
              </a:rPr>
            </a:br>
            <a:r>
              <a:rPr lang="zh-CN" altLang="en-US" sz="2800" dirty="0" smtClean="0">
                <a:solidFill>
                  <a:srgbClr val="0000FF"/>
                </a:solidFill>
                <a:ea typeface="华文黑体" panose="02010600040101010101" pitchFamily="2" charset="-122"/>
              </a:rPr>
              <a:t>       正常运行                             售票</a:t>
            </a:r>
            <a:br>
              <a:rPr lang="zh-CN" altLang="en-US" sz="2800" dirty="0" smtClean="0">
                <a:solidFill>
                  <a:srgbClr val="0000FF"/>
                </a:solidFill>
                <a:ea typeface="华文黑体" panose="02010600040101010101" pitchFamily="2" charset="-122"/>
              </a:rPr>
            </a:br>
            <a:r>
              <a:rPr lang="zh-CN" altLang="en-US" sz="2800" dirty="0" smtClean="0">
                <a:solidFill>
                  <a:srgbClr val="0000FF"/>
                </a:solidFill>
                <a:ea typeface="华文黑体" panose="02010600040101010101" pitchFamily="2" charset="-122"/>
              </a:rPr>
              <a:t/>
            </a:r>
            <a:br>
              <a:rPr lang="zh-CN" altLang="en-US" sz="2800" dirty="0" smtClean="0">
                <a:solidFill>
                  <a:srgbClr val="0000FF"/>
                </a:solidFill>
                <a:ea typeface="华文黑体" panose="02010600040101010101" pitchFamily="2" charset="-122"/>
              </a:rPr>
            </a:br>
            <a:r>
              <a:rPr lang="zh-CN" altLang="en-US" sz="2800" dirty="0" smtClean="0">
                <a:solidFill>
                  <a:srgbClr val="0000FF"/>
                </a:solidFill>
                <a:ea typeface="华文黑体" panose="02010600040101010101" pitchFamily="2" charset="-122"/>
              </a:rPr>
              <a:t>         到站停                               开门</a:t>
            </a:r>
            <a:br>
              <a:rPr lang="zh-CN" altLang="en-US" sz="2800" dirty="0" smtClean="0">
                <a:solidFill>
                  <a:srgbClr val="0000FF"/>
                </a:solidFill>
                <a:ea typeface="华文黑体" panose="02010600040101010101" pitchFamily="2" charset="-122"/>
              </a:rPr>
            </a:br>
            <a:r>
              <a:rPr lang="zh-CN" altLang="en-US" sz="2800" dirty="0" smtClean="0">
                <a:solidFill>
                  <a:srgbClr val="0000FF"/>
                </a:solidFill>
                <a:ea typeface="华文黑体" panose="02010600040101010101" pitchFamily="2" charset="-122"/>
              </a:rPr>
              <a:t>  </a:t>
            </a:r>
            <a:r>
              <a:rPr lang="en-US" altLang="zh-CN" sz="2800" dirty="0" smtClean="0">
                <a:solidFill>
                  <a:srgbClr val="0000FF"/>
                </a:solidFill>
                <a:ea typeface="华文黑体" panose="02010600040101010101" pitchFamily="2" charset="-122"/>
              </a:rPr>
              <a:t>UNTIL FALSE                UNTIL FALSE </a:t>
            </a:r>
          </a:p>
        </p:txBody>
      </p:sp>
      <p:grpSp>
        <p:nvGrpSpPr>
          <p:cNvPr id="9" name="Group 1039"/>
          <p:cNvGrpSpPr>
            <a:grpSpLocks/>
          </p:cNvGrpSpPr>
          <p:nvPr/>
        </p:nvGrpSpPr>
        <p:grpSpPr bwMode="auto">
          <a:xfrm>
            <a:off x="2469976" y="3504332"/>
            <a:ext cx="3735388" cy="544513"/>
            <a:chOff x="1488" y="2440"/>
            <a:chExt cx="2353" cy="343"/>
          </a:xfrm>
        </p:grpSpPr>
        <p:sp>
          <p:nvSpPr>
            <p:cNvPr id="10" name="Line 1034"/>
            <p:cNvSpPr>
              <a:spLocks noChangeShapeType="1"/>
            </p:cNvSpPr>
            <p:nvPr/>
          </p:nvSpPr>
          <p:spPr bwMode="auto">
            <a:xfrm>
              <a:off x="1488" y="2448"/>
              <a:ext cx="1" cy="30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黑体" panose="02010600040101010101" pitchFamily="2" charset="-122"/>
                <a:cs typeface="Times New Roman" panose="02020603050405020304" pitchFamily="18" charset="0"/>
              </a:endParaRPr>
            </a:p>
          </p:txBody>
        </p:sp>
        <p:sp>
          <p:nvSpPr>
            <p:cNvPr id="11" name="Line 1035"/>
            <p:cNvSpPr>
              <a:spLocks noChangeShapeType="1"/>
            </p:cNvSpPr>
            <p:nvPr/>
          </p:nvSpPr>
          <p:spPr bwMode="auto">
            <a:xfrm>
              <a:off x="3840" y="2440"/>
              <a:ext cx="1" cy="34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黑体" panose="02010600040101010101" pitchFamily="2" charset="-122"/>
                <a:cs typeface="Times New Roman" panose="02020603050405020304" pitchFamily="18" charset="0"/>
              </a:endParaRPr>
            </a:p>
          </p:txBody>
        </p:sp>
      </p:grpSp>
      <p:sp>
        <p:nvSpPr>
          <p:cNvPr id="12" name="Line 1036"/>
          <p:cNvSpPr>
            <a:spLocks noChangeShapeType="1"/>
          </p:cNvSpPr>
          <p:nvPr/>
        </p:nvSpPr>
        <p:spPr bwMode="auto">
          <a:xfrm>
            <a:off x="2469976" y="4451654"/>
            <a:ext cx="1588" cy="54451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黑体" panose="02010600040101010101" pitchFamily="2" charset="-122"/>
              <a:cs typeface="Times New Roman" panose="02020603050405020304" pitchFamily="18" charset="0"/>
            </a:endParaRPr>
          </a:p>
        </p:txBody>
      </p:sp>
      <p:sp>
        <p:nvSpPr>
          <p:cNvPr id="13" name="Line 1037"/>
          <p:cNvSpPr>
            <a:spLocks noChangeShapeType="1"/>
          </p:cNvSpPr>
          <p:nvPr/>
        </p:nvSpPr>
        <p:spPr bwMode="auto">
          <a:xfrm>
            <a:off x="3231976" y="5253757"/>
            <a:ext cx="2138363" cy="15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黑体" panose="02010600040101010101" pitchFamily="2" charset="-122"/>
              <a:cs typeface="Times New Roman" panose="02020603050405020304" pitchFamily="18" charset="0"/>
            </a:endParaRPr>
          </a:p>
        </p:txBody>
      </p:sp>
      <p:sp>
        <p:nvSpPr>
          <p:cNvPr id="14" name="Line 1038"/>
          <p:cNvSpPr>
            <a:spLocks noChangeShapeType="1"/>
          </p:cNvSpPr>
          <p:nvPr/>
        </p:nvSpPr>
        <p:spPr bwMode="auto">
          <a:xfrm flipH="1">
            <a:off x="3179589" y="3288432"/>
            <a:ext cx="2209800"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黑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5500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ppt_w/2"/>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ppt_w</p:attrName>
                                        </p:attrNameLst>
                                      </p:cBhvr>
                                      <p:tavLst>
                                        <p:tav tm="0">
                                          <p:val>
                                            <p:fltVal val="0"/>
                                          </p:val>
                                        </p:tav>
                                        <p:tav tm="100000">
                                          <p:val>
                                            <p:strVal val="#ppt_w"/>
                                          </p:val>
                                        </p:tav>
                                      </p:tavLst>
                                    </p:anim>
                                    <p:anim calcmode="lin" valueType="num">
                                      <p:cBhvr>
                                        <p:cTn id="10"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ppt_h/2"/>
                                          </p:val>
                                        </p:tav>
                                        <p:tav tm="100000">
                                          <p:val>
                                            <p:strVal val="#ppt_y"/>
                                          </p:val>
                                        </p:tav>
                                      </p:tavLst>
                                    </p:anim>
                                    <p:anim calcmode="lin" valueType="num">
                                      <p:cBhvr>
                                        <p:cTn id="17" dur="500" fill="hold"/>
                                        <p:tgtEl>
                                          <p:spTgt spid="9"/>
                                        </p:tgtEl>
                                        <p:attrNameLst>
                                          <p:attrName>ppt_w</p:attrName>
                                        </p:attrNameLst>
                                      </p:cBhvr>
                                      <p:tavLst>
                                        <p:tav tm="0">
                                          <p:val>
                                            <p:strVal val="#ppt_w"/>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ppt_h/2"/>
                                          </p:val>
                                        </p:tav>
                                        <p:tav tm="100000">
                                          <p:val>
                                            <p:strVal val="#ppt_y"/>
                                          </p:val>
                                        </p:tav>
                                      </p:tavLst>
                                    </p:anim>
                                    <p:anim calcmode="lin" valueType="num">
                                      <p:cBhvr>
                                        <p:cTn id="25" dur="500" fill="hold"/>
                                        <p:tgtEl>
                                          <p:spTgt spid="12"/>
                                        </p:tgtEl>
                                        <p:attrNameLst>
                                          <p:attrName>ppt_w</p:attrName>
                                        </p:attrNameLst>
                                      </p:cBhvr>
                                      <p:tavLst>
                                        <p:tav tm="0">
                                          <p:val>
                                            <p:strVal val="#ppt_w"/>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ppt_x</p:attrName>
                                        </p:attrNameLst>
                                      </p:cBhvr>
                                      <p:tavLst>
                                        <p:tav tm="0">
                                          <p:val>
                                            <p:strVal val="#ppt_x-#ppt_w/2"/>
                                          </p:val>
                                        </p:tav>
                                        <p:tav tm="100000">
                                          <p:val>
                                            <p:strVal val="#ppt_x"/>
                                          </p:val>
                                        </p:tav>
                                      </p:tavLst>
                                    </p:anim>
                                    <p:anim calcmode="lin" valueType="num">
                                      <p:cBhvr>
                                        <p:cTn id="32" dur="500" fill="hold"/>
                                        <p:tgtEl>
                                          <p:spTgt spid="13"/>
                                        </p:tgtEl>
                                        <p:attrNameLst>
                                          <p:attrName>ppt_y</p:attrName>
                                        </p:attrNameLst>
                                      </p:cBhvr>
                                      <p:tavLst>
                                        <p:tav tm="0">
                                          <p:val>
                                            <p:strVal val="#ppt_y"/>
                                          </p:val>
                                        </p:tav>
                                        <p:tav tm="100000">
                                          <p:val>
                                            <p:strVal val="#ppt_y"/>
                                          </p:val>
                                        </p:tav>
                                      </p:tavLst>
                                    </p:anim>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smtClean="0">
                <a:solidFill>
                  <a:srgbClr val="FF3300"/>
                </a:solidFill>
              </a:rPr>
              <a:t>同步问题及其解决办法</a:t>
            </a:r>
            <a:endParaRPr lang="en-US" altLang="zh-CN" dirty="0" smtClean="0">
              <a:solidFill>
                <a:srgbClr val="FF3300"/>
              </a:solidFill>
            </a:endParaRPr>
          </a:p>
          <a:p>
            <a:pPr lvl="1"/>
            <a:r>
              <a:rPr lang="zh-CN" altLang="en-US" dirty="0">
                <a:solidFill>
                  <a:srgbClr val="FF3300"/>
                </a:solidFill>
              </a:rPr>
              <a:t>软</a:t>
            </a:r>
            <a:r>
              <a:rPr lang="zh-CN" altLang="en-US" dirty="0" smtClean="0">
                <a:solidFill>
                  <a:srgbClr val="FF3300"/>
                </a:solidFill>
              </a:rPr>
              <a:t>件办法（应用程序员搞定）</a:t>
            </a:r>
            <a:endParaRPr lang="en-US" altLang="zh-CN" dirty="0" smtClean="0">
              <a:solidFill>
                <a:srgbClr val="FF3300"/>
              </a:solidFill>
            </a:endParaRPr>
          </a:p>
          <a:p>
            <a:pPr lvl="1"/>
            <a:r>
              <a:rPr lang="zh-CN" altLang="en-US" dirty="0">
                <a:solidFill>
                  <a:schemeClr val="bg1">
                    <a:lumMod val="75000"/>
                  </a:schemeClr>
                </a:solidFill>
              </a:rPr>
              <a:t>硬件办</a:t>
            </a:r>
            <a:r>
              <a:rPr lang="zh-CN" altLang="en-US" dirty="0" smtClean="0">
                <a:solidFill>
                  <a:schemeClr val="bg1">
                    <a:lumMod val="75000"/>
                  </a:schemeClr>
                </a:solidFill>
              </a:rPr>
              <a:t>法（处理器设计者搞定）</a:t>
            </a:r>
            <a:endParaRPr lang="en-US" altLang="zh-CN" dirty="0">
              <a:solidFill>
                <a:schemeClr val="bg1">
                  <a:lumMod val="75000"/>
                </a:schemeClr>
              </a:solidFill>
            </a:endParaRPr>
          </a:p>
          <a:p>
            <a:pPr lvl="1"/>
            <a:r>
              <a:rPr lang="zh-CN" altLang="en-US" dirty="0">
                <a:solidFill>
                  <a:schemeClr val="bg1">
                    <a:lumMod val="75000"/>
                  </a:schemeClr>
                </a:solidFill>
              </a:rPr>
              <a:t>信号</a:t>
            </a:r>
            <a:r>
              <a:rPr lang="zh-CN" altLang="en-US" dirty="0" smtClean="0">
                <a:solidFill>
                  <a:schemeClr val="bg1">
                    <a:lumMod val="75000"/>
                  </a:schemeClr>
                </a:solidFill>
              </a:rPr>
              <a:t>量方法（操作系统搞定）</a:t>
            </a:r>
            <a:endParaRPr lang="en-US" altLang="zh-CN" dirty="0" smtClean="0">
              <a:solidFill>
                <a:schemeClr val="bg1">
                  <a:lumMod val="75000"/>
                </a:schemeClr>
              </a:solidFill>
            </a:endParaRPr>
          </a:p>
          <a:p>
            <a:r>
              <a:rPr lang="zh-CN" altLang="en-US" dirty="0" smtClean="0">
                <a:solidFill>
                  <a:schemeClr val="bg1">
                    <a:lumMod val="75000"/>
                  </a:schemeClr>
                </a:solidFill>
              </a:rPr>
              <a:t>信号量</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847D5578-C6DE-40B4-BE0B-7BC420BD6B1D}"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11</a:t>
            </a:fld>
            <a:endParaRPr lang="zh-CN" altLang="en-US" dirty="0"/>
          </a:p>
        </p:txBody>
      </p:sp>
    </p:spTree>
    <p:extLst>
      <p:ext uri="{BB962C8B-B14F-4D97-AF65-F5344CB8AC3E}">
        <p14:creationId xmlns:p14="http://schemas.microsoft.com/office/powerpoint/2010/main" val="10658261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同步问题与临界区</a:t>
            </a:r>
            <a:endParaRPr lang="zh-CN" altLang="en-US" dirty="0"/>
          </a:p>
        </p:txBody>
      </p:sp>
      <p:sp>
        <p:nvSpPr>
          <p:cNvPr id="3" name="Content Placeholder 2"/>
          <p:cNvSpPr>
            <a:spLocks noGrp="1"/>
          </p:cNvSpPr>
          <p:nvPr>
            <p:ph idx="1"/>
          </p:nvPr>
        </p:nvSpPr>
        <p:spPr/>
        <p:txBody>
          <a:bodyPr/>
          <a:lstStyle/>
          <a:p>
            <a:r>
              <a:rPr lang="zh-CN" altLang="en-US" dirty="0" smtClean="0"/>
              <a:t>多个进程对共享资源进行访问，需要限制访问行为，以保证共享资源的数据一致性</a:t>
            </a:r>
            <a:endParaRPr lang="en-US" altLang="zh-CN" dirty="0" smtClean="0"/>
          </a:p>
          <a:p>
            <a:endParaRPr lang="en-US" altLang="zh-CN" dirty="0" smtClean="0"/>
          </a:p>
          <a:p>
            <a:r>
              <a:rPr lang="zh-CN" altLang="en-US" dirty="0" smtClean="0">
                <a:solidFill>
                  <a:srgbClr val="0000FF"/>
                </a:solidFill>
              </a:rPr>
              <a:t>临</a:t>
            </a:r>
            <a:r>
              <a:rPr lang="zh-CN" altLang="en-US" dirty="0">
                <a:solidFill>
                  <a:srgbClr val="0000FF"/>
                </a:solidFill>
              </a:rPr>
              <a:t>界</a:t>
            </a:r>
            <a:r>
              <a:rPr lang="zh-CN" altLang="en-US" dirty="0" smtClean="0">
                <a:solidFill>
                  <a:srgbClr val="0000FF"/>
                </a:solidFill>
              </a:rPr>
              <a:t>区</a:t>
            </a:r>
            <a:endParaRPr lang="en-US" altLang="zh-CN" dirty="0" smtClean="0">
              <a:solidFill>
                <a:srgbClr val="0000FF"/>
              </a:solidFill>
            </a:endParaRPr>
          </a:p>
          <a:p>
            <a:pPr lvl="1"/>
            <a:r>
              <a:rPr lang="zh-CN" altLang="en-US" dirty="0" smtClean="0"/>
              <a:t>它指程序中的一段特定的区域，在这个区域里，程序可能访问</a:t>
            </a:r>
            <a:r>
              <a:rPr lang="zh-CN" altLang="en-US" dirty="0" smtClean="0">
                <a:solidFill>
                  <a:srgbClr val="FF0000"/>
                </a:solidFill>
              </a:rPr>
              <a:t>公共数据</a:t>
            </a:r>
            <a:endParaRPr lang="en-US" altLang="zh-CN" dirty="0" smtClean="0">
              <a:solidFill>
                <a:srgbClr val="FF0000"/>
              </a:solidFill>
            </a:endParaRPr>
          </a:p>
          <a:p>
            <a:r>
              <a:rPr lang="zh-CN" altLang="en-US" dirty="0">
                <a:solidFill>
                  <a:srgbClr val="0000FF"/>
                </a:solidFill>
              </a:rPr>
              <a:t>临界</a:t>
            </a:r>
            <a:r>
              <a:rPr lang="zh-CN" altLang="en-US" dirty="0" smtClean="0">
                <a:solidFill>
                  <a:srgbClr val="0000FF"/>
                </a:solidFill>
              </a:rPr>
              <a:t>区问题</a:t>
            </a:r>
            <a:endParaRPr lang="en-US" altLang="zh-CN" dirty="0" smtClean="0">
              <a:solidFill>
                <a:srgbClr val="0000FF"/>
              </a:solidFill>
            </a:endParaRPr>
          </a:p>
          <a:p>
            <a:pPr lvl="1"/>
            <a:r>
              <a:rPr lang="zh-CN" altLang="en-US" dirty="0"/>
              <a:t>如</a:t>
            </a:r>
            <a:r>
              <a:rPr lang="zh-CN" altLang="en-US" dirty="0" smtClean="0"/>
              <a:t>何设计合理的协议，使得</a:t>
            </a:r>
            <a:r>
              <a:rPr lang="zh-CN" altLang="en-US" dirty="0" smtClean="0">
                <a:solidFill>
                  <a:srgbClr val="FF0000"/>
                </a:solidFill>
              </a:rPr>
              <a:t>同时最多只有一个</a:t>
            </a:r>
            <a:r>
              <a:rPr lang="zh-CN" altLang="en-US" dirty="0" smtClean="0"/>
              <a:t>进程在相关的临界区内执行</a:t>
            </a:r>
            <a:endParaRPr lang="zh-CN" altLang="en-US" dirty="0"/>
          </a:p>
        </p:txBody>
      </p:sp>
      <p:sp>
        <p:nvSpPr>
          <p:cNvPr id="4" name="Date Placeholder 3"/>
          <p:cNvSpPr>
            <a:spLocks noGrp="1"/>
          </p:cNvSpPr>
          <p:nvPr>
            <p:ph type="dt" sz="half" idx="10"/>
          </p:nvPr>
        </p:nvSpPr>
        <p:spPr/>
        <p:txBody>
          <a:bodyPr/>
          <a:lstStyle/>
          <a:p>
            <a:fld id="{7A26B61C-21A9-4408-A1F2-6592BCAA4B0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a:t>
            </a:fld>
            <a:endParaRPr lang="zh-CN" altLang="en-US" dirty="0"/>
          </a:p>
        </p:txBody>
      </p:sp>
    </p:spTree>
    <p:extLst>
      <p:ext uri="{BB962C8B-B14F-4D97-AF65-F5344CB8AC3E}">
        <p14:creationId xmlns:p14="http://schemas.microsoft.com/office/powerpoint/2010/main" val="1071565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临界区</a:t>
            </a:r>
            <a:endParaRPr lang="zh-CN" altLang="en-US" dirty="0"/>
          </a:p>
        </p:txBody>
      </p:sp>
      <p:sp>
        <p:nvSpPr>
          <p:cNvPr id="4" name="Date Placeholder 3"/>
          <p:cNvSpPr>
            <a:spLocks noGrp="1"/>
          </p:cNvSpPr>
          <p:nvPr>
            <p:ph type="dt" sz="half" idx="10"/>
          </p:nvPr>
        </p:nvSpPr>
        <p:spPr/>
        <p:txBody>
          <a:bodyPr/>
          <a:lstStyle/>
          <a:p>
            <a:fld id="{9FDE28C1-E568-4B6F-BF10-2DA2CC63A01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a:t>
            </a:fld>
            <a:endParaRPr lang="zh-CN" altLang="en-US" dirty="0"/>
          </a:p>
        </p:txBody>
      </p:sp>
      <p:sp>
        <p:nvSpPr>
          <p:cNvPr id="7" name="TextBox 6"/>
          <p:cNvSpPr txBox="1"/>
          <p:nvPr/>
        </p:nvSpPr>
        <p:spPr>
          <a:xfrm>
            <a:off x="2411760" y="1525894"/>
            <a:ext cx="4248472" cy="4711418"/>
          </a:xfrm>
          <a:prstGeom prst="rect">
            <a:avLst/>
          </a:prstGeom>
          <a:noFill/>
        </p:spPr>
        <p:txBody>
          <a:bodyPr wrap="square" rtlCol="0">
            <a:spAutoFit/>
          </a:bodyPr>
          <a:lstStyle/>
          <a:p>
            <a:pPr>
              <a:lnSpc>
                <a:spcPct val="120000"/>
              </a:lnSpc>
            </a:pPr>
            <a:r>
              <a:rPr lang="en-US" altLang="zh-CN" sz="2800" dirty="0" smtClean="0"/>
              <a:t>DO</a:t>
            </a:r>
          </a:p>
          <a:p>
            <a:pPr>
              <a:lnSpc>
                <a:spcPct val="120000"/>
              </a:lnSpc>
            </a:pPr>
            <a:r>
              <a:rPr lang="en-US" altLang="zh-CN" sz="2800" dirty="0" smtClean="0"/>
              <a:t>        ……</a:t>
            </a:r>
          </a:p>
          <a:p>
            <a:pPr>
              <a:lnSpc>
                <a:spcPct val="120000"/>
              </a:lnSpc>
            </a:pPr>
            <a:r>
              <a:rPr lang="en-US" altLang="zh-CN" sz="2800" dirty="0"/>
              <a:t> </a:t>
            </a:r>
            <a:r>
              <a:rPr lang="en-US" altLang="zh-CN" sz="2800" dirty="0" smtClean="0"/>
              <a:t>       </a:t>
            </a:r>
            <a:r>
              <a:rPr lang="en-US" altLang="zh-CN" sz="2800" dirty="0" smtClean="0">
                <a:solidFill>
                  <a:srgbClr val="0000FF"/>
                </a:solidFill>
              </a:rPr>
              <a:t>Enter Section</a:t>
            </a:r>
          </a:p>
          <a:p>
            <a:pPr>
              <a:lnSpc>
                <a:spcPct val="120000"/>
              </a:lnSpc>
            </a:pPr>
            <a:r>
              <a:rPr lang="en-US" altLang="zh-CN" sz="2800" dirty="0"/>
              <a:t> </a:t>
            </a:r>
            <a:r>
              <a:rPr lang="en-US" altLang="zh-CN" sz="2800" dirty="0" smtClean="0"/>
              <a:t>               </a:t>
            </a:r>
            <a:r>
              <a:rPr lang="en-US" altLang="zh-CN" sz="2800" b="1" dirty="0" smtClean="0">
                <a:solidFill>
                  <a:srgbClr val="FF0000"/>
                </a:solidFill>
              </a:rPr>
              <a:t>Critical Section</a:t>
            </a:r>
          </a:p>
          <a:p>
            <a:pPr>
              <a:lnSpc>
                <a:spcPct val="120000"/>
              </a:lnSpc>
            </a:pPr>
            <a:r>
              <a:rPr lang="en-US" altLang="zh-CN" sz="2800" dirty="0"/>
              <a:t> </a:t>
            </a:r>
            <a:r>
              <a:rPr lang="en-US" altLang="zh-CN" sz="2800" dirty="0" smtClean="0"/>
              <a:t>       </a:t>
            </a:r>
            <a:r>
              <a:rPr lang="en-US" altLang="zh-CN" sz="2800" dirty="0" smtClean="0">
                <a:solidFill>
                  <a:srgbClr val="0000FF"/>
                </a:solidFill>
              </a:rPr>
              <a:t>Exit Section</a:t>
            </a:r>
          </a:p>
          <a:p>
            <a:pPr>
              <a:lnSpc>
                <a:spcPct val="120000"/>
              </a:lnSpc>
            </a:pPr>
            <a:endParaRPr lang="en-US" altLang="zh-CN" sz="2800" dirty="0"/>
          </a:p>
          <a:p>
            <a:pPr>
              <a:lnSpc>
                <a:spcPct val="120000"/>
              </a:lnSpc>
            </a:pPr>
            <a:r>
              <a:rPr lang="en-US" altLang="zh-CN" sz="2800" dirty="0" smtClean="0"/>
              <a:t>        Remainder Section</a:t>
            </a:r>
          </a:p>
          <a:p>
            <a:pPr>
              <a:lnSpc>
                <a:spcPct val="120000"/>
              </a:lnSpc>
            </a:pPr>
            <a:r>
              <a:rPr lang="en-US" altLang="zh-CN" sz="2800" dirty="0"/>
              <a:t> </a:t>
            </a:r>
            <a:r>
              <a:rPr lang="en-US" altLang="zh-CN" sz="2800" dirty="0" smtClean="0"/>
              <a:t>       ……..</a:t>
            </a:r>
          </a:p>
          <a:p>
            <a:pPr>
              <a:lnSpc>
                <a:spcPct val="120000"/>
              </a:lnSpc>
            </a:pPr>
            <a:r>
              <a:rPr lang="en-US" altLang="zh-CN" sz="2800" dirty="0" smtClean="0"/>
              <a:t>WHILE (TRUE)</a:t>
            </a:r>
            <a:endParaRPr lang="zh-CN" altLang="en-US" sz="2800" dirty="0"/>
          </a:p>
        </p:txBody>
      </p:sp>
      <p:sp>
        <p:nvSpPr>
          <p:cNvPr id="8" name="Rectangle 7"/>
          <p:cNvSpPr/>
          <p:nvPr/>
        </p:nvSpPr>
        <p:spPr>
          <a:xfrm>
            <a:off x="3131840" y="2636912"/>
            <a:ext cx="2016224" cy="43204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8"/>
          <p:cNvSpPr/>
          <p:nvPr/>
        </p:nvSpPr>
        <p:spPr>
          <a:xfrm>
            <a:off x="3131840" y="3645024"/>
            <a:ext cx="2016224" cy="43204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p:cNvSpPr/>
          <p:nvPr/>
        </p:nvSpPr>
        <p:spPr>
          <a:xfrm>
            <a:off x="6075619" y="2636912"/>
            <a:ext cx="2609386" cy="1631216"/>
          </a:xfrm>
          <a:prstGeom prst="rect">
            <a:avLst/>
          </a:prstGeom>
        </p:spPr>
        <p:txBody>
          <a:bodyPr wrap="square">
            <a:spAutoFit/>
          </a:bodyPr>
          <a:lstStyle/>
          <a:p>
            <a:pPr lvl="1"/>
            <a:r>
              <a:rPr lang="zh-CN" altLang="en-US" sz="2000" dirty="0" smtClean="0">
                <a:latin typeface="黑体" panose="02010609060101010101" pitchFamily="49" charset="-122"/>
                <a:ea typeface="黑体" panose="02010609060101010101" pitchFamily="49" charset="-122"/>
              </a:rPr>
              <a:t>临界区：指</a:t>
            </a:r>
            <a:r>
              <a:rPr lang="zh-CN" altLang="en-US" sz="2000" dirty="0">
                <a:latin typeface="黑体" panose="02010609060101010101" pitchFamily="49" charset="-122"/>
                <a:ea typeface="黑体" panose="02010609060101010101" pitchFamily="49" charset="-122"/>
              </a:rPr>
              <a:t>程序中的一段特定的区域，在这个区域里，程序可能访问</a:t>
            </a:r>
            <a:r>
              <a:rPr lang="zh-CN" altLang="en-US" sz="2000" dirty="0">
                <a:solidFill>
                  <a:srgbClr val="FF0000"/>
                </a:solidFill>
                <a:latin typeface="黑体" panose="02010609060101010101" pitchFamily="49" charset="-122"/>
                <a:ea typeface="黑体" panose="02010609060101010101" pitchFamily="49" charset="-122"/>
              </a:rPr>
              <a:t>公共数据</a:t>
            </a:r>
            <a:endParaRPr lang="en-US" altLang="zh-CN" sz="2000" dirty="0">
              <a:solidFill>
                <a:srgbClr val="FF0000"/>
              </a:solidFill>
              <a:latin typeface="黑体" panose="02010609060101010101" pitchFamily="49" charset="-122"/>
              <a:ea typeface="黑体" panose="02010609060101010101" pitchFamily="49" charset="-122"/>
            </a:endParaRPr>
          </a:p>
        </p:txBody>
      </p:sp>
      <p:sp>
        <p:nvSpPr>
          <p:cNvPr id="10" name="Rectangle 9"/>
          <p:cNvSpPr/>
          <p:nvPr/>
        </p:nvSpPr>
        <p:spPr>
          <a:xfrm>
            <a:off x="117354" y="2521639"/>
            <a:ext cx="2086931" cy="2246769"/>
          </a:xfrm>
          <a:prstGeom prst="rect">
            <a:avLst/>
          </a:prstGeom>
        </p:spPr>
        <p:txBody>
          <a:bodyPr wrap="square">
            <a:spAutoFit/>
          </a:bodyPr>
          <a:lstStyle/>
          <a:p>
            <a:pPr lvl="1"/>
            <a:r>
              <a:rPr lang="zh-CN" altLang="en-US" sz="2000" dirty="0">
                <a:solidFill>
                  <a:srgbClr val="FF0000"/>
                </a:solidFill>
                <a:latin typeface="黑体" panose="02010609060101010101" pitchFamily="49" charset="-122"/>
                <a:ea typeface="黑体" panose="02010609060101010101" pitchFamily="49" charset="-122"/>
              </a:rPr>
              <a:t>如何设计合理的协议，使得同时最多只有一个进程在相关的临界区内执</a:t>
            </a:r>
            <a:r>
              <a:rPr lang="zh-CN" altLang="en-US" sz="2000" dirty="0" smtClean="0">
                <a:solidFill>
                  <a:srgbClr val="FF0000"/>
                </a:solidFill>
                <a:latin typeface="黑体" panose="02010609060101010101" pitchFamily="49" charset="-122"/>
                <a:ea typeface="黑体" panose="02010609060101010101" pitchFamily="49" charset="-122"/>
              </a:rPr>
              <a:t>行？？？</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694143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使用临界区应遵循的准则</a:t>
            </a:r>
            <a:endParaRPr lang="zh-CN" altLang="en-US" dirty="0"/>
          </a:p>
        </p:txBody>
      </p:sp>
      <p:sp>
        <p:nvSpPr>
          <p:cNvPr id="3" name="Content Placeholder 2"/>
          <p:cNvSpPr>
            <a:spLocks noGrp="1"/>
          </p:cNvSpPr>
          <p:nvPr>
            <p:ph idx="1"/>
          </p:nvPr>
        </p:nvSpPr>
        <p:spPr/>
        <p:txBody>
          <a:bodyPr>
            <a:normAutofit/>
          </a:bodyPr>
          <a:lstStyle/>
          <a:p>
            <a:r>
              <a:rPr lang="zh-CN" altLang="en-US" sz="2000" dirty="0" smtClean="0">
                <a:solidFill>
                  <a:srgbClr val="FF0000"/>
                </a:solidFill>
              </a:rPr>
              <a:t>空闲让进</a:t>
            </a:r>
            <a:r>
              <a:rPr lang="zh-CN" altLang="en-US" sz="2000" b="0" dirty="0" smtClean="0"/>
              <a:t>：</a:t>
            </a:r>
            <a:r>
              <a:rPr lang="zh-CN" altLang="en-US" sz="2000" dirty="0"/>
              <a:t>无</a:t>
            </a:r>
            <a:r>
              <a:rPr lang="zh-CN" altLang="en-US" sz="2000" b="0" dirty="0" smtClean="0"/>
              <a:t>进程</a:t>
            </a:r>
            <a:r>
              <a:rPr lang="zh-CN" altLang="en-US" sz="2000" b="0" dirty="0"/>
              <a:t>在互斥区时，任何有权使用互斥区的进程可</a:t>
            </a:r>
            <a:r>
              <a:rPr lang="zh-CN" altLang="en-US" sz="2000" b="0" dirty="0" smtClean="0"/>
              <a:t>进入</a:t>
            </a:r>
            <a:endParaRPr lang="en-US" altLang="zh-CN" sz="2000" b="0" dirty="0" smtClean="0"/>
          </a:p>
          <a:p>
            <a:r>
              <a:rPr lang="zh-CN" altLang="en-US" sz="2000" dirty="0" smtClean="0">
                <a:solidFill>
                  <a:srgbClr val="FF0000"/>
                </a:solidFill>
              </a:rPr>
              <a:t>忙则等待</a:t>
            </a:r>
            <a:r>
              <a:rPr lang="zh-CN" altLang="en-US" sz="2000" dirty="0" smtClean="0"/>
              <a:t>：有进程已经进入互斥区，其他任何进程不得再进入</a:t>
            </a:r>
            <a:endParaRPr lang="en-US" altLang="zh-CN" sz="2000" dirty="0" smtClean="0"/>
          </a:p>
          <a:p>
            <a:r>
              <a:rPr lang="zh-CN" altLang="en-US" sz="2000" dirty="0" smtClean="0">
                <a:solidFill>
                  <a:srgbClr val="FF0000"/>
                </a:solidFill>
              </a:rPr>
              <a:t>有限</a:t>
            </a:r>
            <a:r>
              <a:rPr lang="zh-CN" altLang="en-US" sz="2000" dirty="0">
                <a:solidFill>
                  <a:srgbClr val="FF0000"/>
                </a:solidFill>
              </a:rPr>
              <a:t>等待</a:t>
            </a:r>
            <a:r>
              <a:rPr lang="zh-CN" altLang="en-US" sz="2000" dirty="0"/>
              <a:t>：任何进入互斥区的要求应在有限的时间内得到</a:t>
            </a:r>
            <a:r>
              <a:rPr lang="zh-CN" altLang="en-US" sz="2000" dirty="0" smtClean="0"/>
              <a:t>满足</a:t>
            </a:r>
            <a:r>
              <a:rPr lang="zh-CN" altLang="en-US" sz="2000" b="1" dirty="0" smtClean="0"/>
              <a:t>（受惠的是进程自己）</a:t>
            </a:r>
            <a:endParaRPr lang="en-US" altLang="zh-CN" sz="2000" dirty="0"/>
          </a:p>
          <a:p>
            <a:pPr marL="742950" lvl="2" indent="-342900">
              <a:spcBef>
                <a:spcPts val="1200"/>
              </a:spcBef>
            </a:pPr>
            <a:r>
              <a:rPr lang="zh-CN" altLang="en-US" sz="1600" dirty="0" smtClean="0"/>
              <a:t>一</a:t>
            </a:r>
            <a:r>
              <a:rPr lang="zh-CN" altLang="en-US" sz="1600" dirty="0"/>
              <a:t>个进程在互斥区内的执行时间是有限</a:t>
            </a:r>
            <a:r>
              <a:rPr lang="zh-CN" altLang="en-US" sz="1600" dirty="0" smtClean="0"/>
              <a:t>的</a:t>
            </a:r>
            <a:endParaRPr lang="en-US" altLang="zh-CN" sz="1600" dirty="0" smtClean="0"/>
          </a:p>
          <a:p>
            <a:pPr marL="742950" lvl="2" indent="-342900">
              <a:spcBef>
                <a:spcPts val="1200"/>
              </a:spcBef>
            </a:pPr>
            <a:r>
              <a:rPr lang="zh-CN" altLang="en-US" sz="1600" dirty="0" smtClean="0"/>
              <a:t>一</a:t>
            </a:r>
            <a:r>
              <a:rPr lang="zh-CN" altLang="en-US" sz="1600" dirty="0"/>
              <a:t>个等待进入临界区的进程不能被无限期阻</a:t>
            </a:r>
            <a:r>
              <a:rPr lang="zh-CN" altLang="en-US" sz="1600" dirty="0" smtClean="0"/>
              <a:t>塞</a:t>
            </a:r>
            <a:endParaRPr lang="en-US" altLang="zh-CN" sz="1600" dirty="0" smtClean="0"/>
          </a:p>
          <a:p>
            <a:pPr marL="342900" lvl="1" indent="-342900">
              <a:spcBef>
                <a:spcPts val="1200"/>
              </a:spcBef>
            </a:pPr>
            <a:r>
              <a:rPr lang="zh-CN" altLang="en-US" sz="1800" dirty="0" smtClean="0">
                <a:solidFill>
                  <a:srgbClr val="FF0000"/>
                </a:solidFill>
              </a:rPr>
              <a:t>让</a:t>
            </a:r>
            <a:r>
              <a:rPr lang="zh-CN" altLang="en-US" sz="1800" dirty="0">
                <a:solidFill>
                  <a:srgbClr val="FF0000"/>
                </a:solidFill>
              </a:rPr>
              <a:t>权等</a:t>
            </a:r>
            <a:r>
              <a:rPr lang="zh-CN" altLang="en-US" sz="1800" dirty="0" smtClean="0">
                <a:solidFill>
                  <a:srgbClr val="FF0000"/>
                </a:solidFill>
              </a:rPr>
              <a:t>待</a:t>
            </a:r>
            <a:r>
              <a:rPr lang="zh-CN" altLang="en-US" sz="1800" b="1" dirty="0" smtClean="0"/>
              <a:t>：</a:t>
            </a:r>
            <a:r>
              <a:rPr lang="zh-CN" altLang="en-US" sz="1800" dirty="0" smtClean="0"/>
              <a:t>处</a:t>
            </a:r>
            <a:r>
              <a:rPr lang="zh-CN" altLang="en-US" sz="1800" dirty="0"/>
              <a:t>于等待状态的进程应放弃占用</a:t>
            </a:r>
            <a:r>
              <a:rPr lang="en-US" altLang="zh-CN" sz="1800" dirty="0" smtClean="0"/>
              <a:t>CPU</a:t>
            </a:r>
            <a:r>
              <a:rPr lang="zh-CN" altLang="en-US" sz="1800" b="1" dirty="0" smtClean="0"/>
              <a:t> （受惠的是其他进程）</a:t>
            </a:r>
            <a:endParaRPr lang="en-US" altLang="zh-CN" sz="1800" dirty="0" smtClean="0"/>
          </a:p>
        </p:txBody>
      </p:sp>
      <p:sp>
        <p:nvSpPr>
          <p:cNvPr id="4" name="Date Placeholder 3"/>
          <p:cNvSpPr>
            <a:spLocks noGrp="1"/>
          </p:cNvSpPr>
          <p:nvPr>
            <p:ph type="dt" sz="half" idx="10"/>
          </p:nvPr>
        </p:nvSpPr>
        <p:spPr/>
        <p:txBody>
          <a:bodyPr/>
          <a:lstStyle/>
          <a:p>
            <a:fld id="{31B17860-6B38-4FBA-A5BF-8E7B55402AC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14</a:t>
            </a:fld>
            <a:endParaRPr lang="zh-CN" altLang="en-US" dirty="0"/>
          </a:p>
        </p:txBody>
      </p:sp>
    </p:spTree>
    <p:extLst>
      <p:ext uri="{BB962C8B-B14F-4D97-AF65-F5344CB8AC3E}">
        <p14:creationId xmlns:p14="http://schemas.microsoft.com/office/powerpoint/2010/main" val="23178094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解决同步问题的软件办法</a:t>
            </a:r>
            <a:endParaRPr lang="zh-CN" altLang="en-US" dirty="0"/>
          </a:p>
        </p:txBody>
      </p:sp>
      <p:sp>
        <p:nvSpPr>
          <p:cNvPr id="3" name="Content Placeholder 2"/>
          <p:cNvSpPr>
            <a:spLocks noGrp="1"/>
          </p:cNvSpPr>
          <p:nvPr>
            <p:ph idx="1"/>
          </p:nvPr>
        </p:nvSpPr>
        <p:spPr/>
        <p:txBody>
          <a:bodyPr/>
          <a:lstStyle/>
          <a:p>
            <a:r>
              <a:rPr lang="zh-CN" altLang="en-US" dirty="0"/>
              <a:t>软</a:t>
            </a:r>
            <a:r>
              <a:rPr lang="zh-CN" altLang="en-US" dirty="0" smtClean="0"/>
              <a:t>件方法</a:t>
            </a:r>
            <a:endParaRPr lang="en-US" altLang="zh-CN" dirty="0" smtClean="0"/>
          </a:p>
          <a:p>
            <a:pPr lvl="1"/>
            <a:r>
              <a:rPr lang="zh-CN" altLang="en-US" dirty="0" smtClean="0"/>
              <a:t>由应用程序的开发者，在应用程序代码中，自行设计用于正确访问临界区的额外功能代码</a:t>
            </a:r>
            <a:endParaRPr lang="en-US" altLang="zh-CN" dirty="0" smtClean="0"/>
          </a:p>
          <a:p>
            <a:endParaRPr lang="en-US" altLang="zh-CN" dirty="0"/>
          </a:p>
          <a:p>
            <a:r>
              <a:rPr lang="zh-CN" altLang="en-US" dirty="0" smtClean="0"/>
              <a:t>单标志法</a:t>
            </a:r>
            <a:endParaRPr lang="en-US" altLang="zh-CN" dirty="0" smtClean="0"/>
          </a:p>
          <a:p>
            <a:r>
              <a:rPr lang="zh-CN" altLang="en-US" dirty="0" smtClean="0"/>
              <a:t>双标识、先检验</a:t>
            </a:r>
            <a:endParaRPr lang="en-US" altLang="zh-CN" dirty="0" smtClean="0"/>
          </a:p>
          <a:p>
            <a:r>
              <a:rPr lang="zh-CN" altLang="en-US" dirty="0" smtClean="0"/>
              <a:t>双标识、后检验</a:t>
            </a:r>
            <a:endParaRPr lang="en-US" altLang="zh-CN" dirty="0" smtClean="0"/>
          </a:p>
          <a:p>
            <a:r>
              <a:rPr lang="en-US" altLang="zh-CN" dirty="0" smtClean="0"/>
              <a:t>Peterson’s Algorithm</a:t>
            </a:r>
          </a:p>
          <a:p>
            <a:endParaRPr lang="zh-CN" altLang="en-US" dirty="0"/>
          </a:p>
        </p:txBody>
      </p:sp>
      <p:sp>
        <p:nvSpPr>
          <p:cNvPr id="4" name="Date Placeholder 3"/>
          <p:cNvSpPr>
            <a:spLocks noGrp="1"/>
          </p:cNvSpPr>
          <p:nvPr>
            <p:ph type="dt" sz="half" idx="10"/>
          </p:nvPr>
        </p:nvSpPr>
        <p:spPr/>
        <p:txBody>
          <a:bodyPr/>
          <a:lstStyle/>
          <a:p>
            <a:fld id="{9DAF682C-4EA7-438F-A217-B55C4ADFA46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15</a:t>
            </a:fld>
            <a:endParaRPr lang="zh-CN" altLang="en-US" dirty="0"/>
          </a:p>
        </p:txBody>
      </p:sp>
    </p:spTree>
    <p:extLst>
      <p:ext uri="{BB962C8B-B14F-4D97-AF65-F5344CB8AC3E}">
        <p14:creationId xmlns:p14="http://schemas.microsoft.com/office/powerpoint/2010/main" val="1477462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软件方法</a:t>
            </a:r>
            <a:r>
              <a:rPr lang="en-US" altLang="zh-CN" dirty="0" smtClean="0"/>
              <a:t>——</a:t>
            </a:r>
            <a:r>
              <a:rPr lang="zh-CN" altLang="en-US" dirty="0" smtClean="0"/>
              <a:t>单标识法</a:t>
            </a:r>
            <a:endParaRPr lang="zh-CN" altLang="en-US" dirty="0"/>
          </a:p>
        </p:txBody>
      </p:sp>
      <p:sp>
        <p:nvSpPr>
          <p:cNvPr id="3" name="Content Placeholder 2"/>
          <p:cNvSpPr>
            <a:spLocks noGrp="1"/>
          </p:cNvSpPr>
          <p:nvPr>
            <p:ph idx="1"/>
          </p:nvPr>
        </p:nvSpPr>
        <p:spPr/>
        <p:txBody>
          <a:bodyPr>
            <a:normAutofit fontScale="92500" lnSpcReduction="10000"/>
          </a:bodyPr>
          <a:lstStyle/>
          <a:p>
            <a:r>
              <a:rPr lang="zh-CN" altLang="en-US" dirty="0" smtClean="0"/>
              <a:t>基本思想：</a:t>
            </a:r>
            <a:r>
              <a:rPr lang="zh-CN" altLang="en-US" dirty="0" smtClean="0">
                <a:solidFill>
                  <a:srgbClr val="0000FF"/>
                </a:solidFill>
              </a:rPr>
              <a:t>强制两个进程轮流进入临界区</a:t>
            </a:r>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a:solidFill>
                <a:srgbClr val="0000FF"/>
              </a:solidFill>
            </a:endParaRPr>
          </a:p>
          <a:p>
            <a:endParaRPr lang="en-US" altLang="zh-CN" dirty="0" smtClean="0"/>
          </a:p>
          <a:p>
            <a:endParaRPr lang="en-US" altLang="zh-CN" dirty="0" smtClean="0"/>
          </a:p>
          <a:p>
            <a:r>
              <a:rPr lang="zh-CN" altLang="en-US" dirty="0" smtClean="0"/>
              <a:t>算法描述</a:t>
            </a:r>
            <a:endParaRPr lang="en-US" altLang="zh-CN" dirty="0" smtClean="0"/>
          </a:p>
          <a:p>
            <a:pPr lvl="1"/>
            <a:r>
              <a:rPr lang="zh-CN" altLang="en-US" dirty="0" smtClean="0"/>
              <a:t>“</a:t>
            </a:r>
            <a:r>
              <a:rPr lang="en-US" altLang="zh-CN" dirty="0" smtClean="0"/>
              <a:t>turn</a:t>
            </a:r>
            <a:r>
              <a:rPr lang="zh-CN" altLang="en-US" dirty="0" smtClean="0"/>
              <a:t>”是一个公共变量，描述谁能够进入临界区</a:t>
            </a:r>
            <a:endParaRPr lang="en-US" altLang="zh-CN" dirty="0" smtClean="0"/>
          </a:p>
          <a:p>
            <a:pPr lvl="1"/>
            <a:r>
              <a:rPr lang="zh-CN" altLang="en-US" dirty="0"/>
              <a:t>进</a:t>
            </a:r>
            <a:r>
              <a:rPr lang="zh-CN" altLang="en-US" dirty="0" smtClean="0"/>
              <a:t>入临界区之前，循环检测</a:t>
            </a:r>
            <a:r>
              <a:rPr lang="en-US" altLang="zh-CN" dirty="0" smtClean="0"/>
              <a:t>turn</a:t>
            </a:r>
            <a:r>
              <a:rPr lang="zh-CN" altLang="en-US" dirty="0" smtClean="0"/>
              <a:t>的取值</a:t>
            </a:r>
            <a:endParaRPr lang="en-US" altLang="zh-CN" dirty="0" smtClean="0"/>
          </a:p>
          <a:p>
            <a:pPr lvl="1"/>
            <a:r>
              <a:rPr lang="zh-CN" altLang="en-US" dirty="0"/>
              <a:t>退</a:t>
            </a:r>
            <a:r>
              <a:rPr lang="zh-CN" altLang="en-US" dirty="0" smtClean="0"/>
              <a:t>出临界区时，将</a:t>
            </a:r>
            <a:r>
              <a:rPr lang="en-US" altLang="zh-CN" dirty="0" smtClean="0"/>
              <a:t>turn</a:t>
            </a:r>
            <a:r>
              <a:rPr lang="zh-CN" altLang="en-US" dirty="0" smtClean="0"/>
              <a:t>设置为“对方”</a:t>
            </a:r>
            <a:endParaRPr lang="en-US" altLang="zh-CN" dirty="0" smtClean="0"/>
          </a:p>
          <a:p>
            <a:pPr lvl="1"/>
            <a:endParaRPr lang="en-US" altLang="zh-CN" dirty="0" smtClean="0"/>
          </a:p>
          <a:p>
            <a:endParaRPr lang="zh-CN" altLang="en-US" dirty="0">
              <a:solidFill>
                <a:srgbClr val="0000FF"/>
              </a:solidFill>
            </a:endParaRPr>
          </a:p>
        </p:txBody>
      </p:sp>
      <p:sp>
        <p:nvSpPr>
          <p:cNvPr id="4" name="Date Placeholder 3"/>
          <p:cNvSpPr>
            <a:spLocks noGrp="1"/>
          </p:cNvSpPr>
          <p:nvPr>
            <p:ph type="dt" sz="half" idx="10"/>
          </p:nvPr>
        </p:nvSpPr>
        <p:spPr/>
        <p:txBody>
          <a:bodyPr/>
          <a:lstStyle/>
          <a:p>
            <a:fld id="{F88EE3A9-5A15-4072-8CC1-8238249C6BB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16</a:t>
            </a:fld>
            <a:endParaRPr lang="zh-CN" altLang="en-US" dirty="0"/>
          </a:p>
        </p:txBody>
      </p:sp>
      <p:sp>
        <p:nvSpPr>
          <p:cNvPr id="7" name="TextBox 6"/>
          <p:cNvSpPr txBox="1"/>
          <p:nvPr/>
        </p:nvSpPr>
        <p:spPr>
          <a:xfrm>
            <a:off x="1043608" y="1844824"/>
            <a:ext cx="2952328" cy="2208297"/>
          </a:xfrm>
          <a:prstGeom prst="rect">
            <a:avLst/>
          </a:prstGeom>
          <a:noFill/>
        </p:spPr>
        <p:txBody>
          <a:bodyPr wrap="square" rtlCol="0">
            <a:spAutoFit/>
          </a:bodyPr>
          <a:lstStyle/>
          <a:p>
            <a:pPr>
              <a:lnSpc>
                <a:spcPct val="125000"/>
              </a:lnSpc>
            </a:pPr>
            <a:r>
              <a:rPr lang="en-US" altLang="zh-CN" sz="2200" b="1" dirty="0" smtClean="0"/>
              <a:t>Pi </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turn </a:t>
            </a:r>
            <a:r>
              <a:rPr lang="en-US" altLang="zh-CN" sz="2200" b="1" dirty="0" smtClean="0"/>
              <a:t>!= </a:t>
            </a:r>
            <a:r>
              <a:rPr lang="en-US" altLang="zh-CN" sz="2200" b="1" dirty="0" err="1" smtClean="0"/>
              <a:t>i</a:t>
            </a:r>
            <a:r>
              <a:rPr lang="en-US" altLang="zh-CN" sz="2200" b="1" dirty="0" smtClean="0"/>
              <a:t>);</a:t>
            </a:r>
          </a:p>
          <a:p>
            <a:pPr>
              <a:lnSpc>
                <a:spcPct val="125000"/>
              </a:lnSpc>
            </a:pPr>
            <a:r>
              <a:rPr lang="en-US" altLang="zh-CN" sz="2200" b="1" dirty="0"/>
              <a:t> </a:t>
            </a:r>
            <a:r>
              <a:rPr lang="en-US" altLang="zh-CN" sz="2200" b="1" dirty="0" smtClean="0"/>
              <a:t>       </a:t>
            </a:r>
            <a:r>
              <a:rPr lang="en-US" altLang="zh-CN" sz="2200" b="1" dirty="0" smtClean="0">
                <a:solidFill>
                  <a:srgbClr val="FF0000"/>
                </a:solidFill>
              </a:rPr>
              <a:t>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turn </a:t>
            </a:r>
            <a:r>
              <a:rPr lang="en-US" altLang="zh-CN" sz="2200" b="1" dirty="0" smtClean="0"/>
              <a:t>= j;</a:t>
            </a:r>
          </a:p>
          <a:p>
            <a:pPr>
              <a:lnSpc>
                <a:spcPct val="125000"/>
              </a:lnSpc>
            </a:pPr>
            <a:r>
              <a:rPr lang="en-US" altLang="zh-CN" sz="2200" b="1" dirty="0"/>
              <a:t> </a:t>
            </a:r>
            <a:r>
              <a:rPr lang="en-US" altLang="zh-CN" sz="2200" b="1" dirty="0" smtClean="0"/>
              <a:t>       remainder section</a:t>
            </a:r>
          </a:p>
        </p:txBody>
      </p:sp>
      <p:sp>
        <p:nvSpPr>
          <p:cNvPr id="8" name="TextBox 7"/>
          <p:cNvSpPr txBox="1"/>
          <p:nvPr/>
        </p:nvSpPr>
        <p:spPr>
          <a:xfrm>
            <a:off x="5004048" y="1844824"/>
            <a:ext cx="2952328" cy="2208297"/>
          </a:xfrm>
          <a:prstGeom prst="rect">
            <a:avLst/>
          </a:prstGeom>
          <a:noFill/>
        </p:spPr>
        <p:txBody>
          <a:bodyPr wrap="square" rtlCol="0">
            <a:spAutoFit/>
          </a:bodyPr>
          <a:lstStyle/>
          <a:p>
            <a:pPr>
              <a:lnSpc>
                <a:spcPct val="125000"/>
              </a:lnSpc>
            </a:pPr>
            <a:r>
              <a:rPr lang="en-US" altLang="zh-CN" sz="2200" b="1" dirty="0" err="1" smtClean="0"/>
              <a:t>Pj</a:t>
            </a:r>
            <a:r>
              <a:rPr lang="en-US" altLang="zh-CN" sz="2200" b="1" dirty="0" smtClean="0"/>
              <a:t> </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turn </a:t>
            </a:r>
            <a:r>
              <a:rPr lang="en-US" altLang="zh-CN" sz="2200" b="1" dirty="0" smtClean="0"/>
              <a:t>!= </a:t>
            </a:r>
            <a:r>
              <a:rPr lang="en-US" altLang="zh-CN" sz="2200" b="1" dirty="0"/>
              <a:t>j</a:t>
            </a:r>
            <a:r>
              <a:rPr lang="en-US" altLang="zh-CN" sz="2200" b="1" dirty="0" smtClean="0"/>
              <a:t>);</a:t>
            </a:r>
          </a:p>
          <a:p>
            <a:pPr>
              <a:lnSpc>
                <a:spcPct val="125000"/>
              </a:lnSpc>
            </a:pPr>
            <a:r>
              <a:rPr lang="en-US" altLang="zh-CN" sz="2200" b="1" dirty="0"/>
              <a:t> </a:t>
            </a:r>
            <a:r>
              <a:rPr lang="en-US" altLang="zh-CN" sz="2200" b="1" dirty="0" smtClean="0"/>
              <a:t>       </a:t>
            </a:r>
            <a:r>
              <a:rPr lang="en-US" altLang="zh-CN" sz="2200" b="1" dirty="0" smtClean="0">
                <a:solidFill>
                  <a:srgbClr val="FF0000"/>
                </a:solidFill>
              </a:rPr>
              <a:t>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turn </a:t>
            </a:r>
            <a:r>
              <a:rPr lang="en-US" altLang="zh-CN" sz="2200" b="1" dirty="0" smtClean="0"/>
              <a:t>= </a:t>
            </a:r>
            <a:r>
              <a:rPr lang="en-US" altLang="zh-CN" sz="2200" b="1" dirty="0" err="1" smtClean="0"/>
              <a:t>i</a:t>
            </a:r>
            <a:r>
              <a:rPr lang="en-US" altLang="zh-CN" sz="2200" b="1" dirty="0" smtClean="0"/>
              <a:t>;</a:t>
            </a:r>
          </a:p>
          <a:p>
            <a:pPr>
              <a:lnSpc>
                <a:spcPct val="125000"/>
              </a:lnSpc>
            </a:pPr>
            <a:r>
              <a:rPr lang="en-US" altLang="zh-CN" sz="2200" b="1" dirty="0"/>
              <a:t> </a:t>
            </a:r>
            <a:r>
              <a:rPr lang="en-US" altLang="zh-CN" sz="2200" b="1" dirty="0" smtClean="0"/>
              <a:t>       remainder section</a:t>
            </a:r>
            <a:endParaRPr lang="zh-CN" altLang="en-US" sz="2200" b="1" dirty="0"/>
          </a:p>
        </p:txBody>
      </p:sp>
      <p:sp>
        <p:nvSpPr>
          <p:cNvPr id="9" name="Rectangle 8"/>
          <p:cNvSpPr/>
          <p:nvPr/>
        </p:nvSpPr>
        <p:spPr>
          <a:xfrm>
            <a:off x="1331640" y="2348880"/>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p:cNvSpPr/>
          <p:nvPr/>
        </p:nvSpPr>
        <p:spPr>
          <a:xfrm>
            <a:off x="1331640" y="3202232"/>
            <a:ext cx="2016224" cy="370784"/>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a:off x="5255736" y="2348880"/>
            <a:ext cx="2124576"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p:cNvSpPr/>
          <p:nvPr/>
        </p:nvSpPr>
        <p:spPr>
          <a:xfrm>
            <a:off x="5267186" y="3209788"/>
            <a:ext cx="2113126" cy="363227"/>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Straight Arrow Connector 13"/>
          <p:cNvCxnSpPr/>
          <p:nvPr/>
        </p:nvCxnSpPr>
        <p:spPr>
          <a:xfrm flipV="1">
            <a:off x="3394978" y="2591080"/>
            <a:ext cx="1728192" cy="720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3479433" y="2627665"/>
            <a:ext cx="1656184" cy="720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98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a:t>
            </a:r>
            <a:r>
              <a:rPr lang="zh-CN" altLang="en-US" dirty="0"/>
              <a:t>单标识法</a:t>
            </a:r>
          </a:p>
        </p:txBody>
      </p:sp>
      <p:sp>
        <p:nvSpPr>
          <p:cNvPr id="3" name="Content Placeholder 2"/>
          <p:cNvSpPr>
            <a:spLocks noGrp="1"/>
          </p:cNvSpPr>
          <p:nvPr>
            <p:ph idx="1"/>
          </p:nvPr>
        </p:nvSpPr>
        <p:spPr/>
        <p:txBody>
          <a:bodyPr/>
          <a:lstStyle/>
          <a:p>
            <a:r>
              <a:rPr lang="zh-CN" altLang="en-US" dirty="0" smtClean="0"/>
              <a:t>单标识法的主要问题</a:t>
            </a:r>
            <a:endParaRPr lang="en-US" altLang="zh-CN" dirty="0" smtClean="0"/>
          </a:p>
          <a:p>
            <a:pPr lvl="1"/>
            <a:r>
              <a:rPr lang="zh-CN" altLang="en-US" dirty="0"/>
              <a:t>强</a:t>
            </a:r>
            <a:r>
              <a:rPr lang="zh-CN" altLang="en-US" dirty="0" smtClean="0"/>
              <a:t>制两个进程轮流使用临界区</a:t>
            </a:r>
            <a:endParaRPr lang="en-US" altLang="zh-CN" dirty="0" smtClean="0"/>
          </a:p>
          <a:p>
            <a:pPr lvl="2"/>
            <a:r>
              <a:rPr lang="zh-CN" altLang="en-US" dirty="0"/>
              <a:t>效率</a:t>
            </a:r>
            <a:r>
              <a:rPr lang="zh-CN" altLang="en-US" dirty="0" smtClean="0"/>
              <a:t>低</a:t>
            </a:r>
            <a:endParaRPr lang="en-US" altLang="zh-CN" dirty="0" smtClean="0"/>
          </a:p>
          <a:p>
            <a:pPr lvl="2"/>
            <a:r>
              <a:rPr lang="zh-CN" altLang="en-US" dirty="0"/>
              <a:t>如</a:t>
            </a:r>
            <a:r>
              <a:rPr lang="zh-CN" altLang="en-US" dirty="0" smtClean="0"/>
              <a:t>果其中一个进程不再使用临界区怎么办？</a:t>
            </a:r>
            <a:endParaRPr lang="en-US" altLang="zh-CN" dirty="0" smtClean="0"/>
          </a:p>
          <a:p>
            <a:pPr lvl="1"/>
            <a:r>
              <a:rPr lang="zh-CN" altLang="en-US" dirty="0"/>
              <a:t>如</a:t>
            </a:r>
            <a:r>
              <a:rPr lang="zh-CN" altLang="en-US" dirty="0" smtClean="0"/>
              <a:t>果有更多进程怎么办？</a:t>
            </a:r>
            <a:endParaRPr lang="en-US" altLang="zh-CN" dirty="0" smtClean="0"/>
          </a:p>
          <a:p>
            <a:pPr lvl="1"/>
            <a:r>
              <a:rPr lang="en-US" altLang="zh-CN" dirty="0" smtClean="0"/>
              <a:t>Busy waiting</a:t>
            </a:r>
            <a:r>
              <a:rPr lang="zh-CN" altLang="en-US" dirty="0"/>
              <a:t>白</a:t>
            </a:r>
            <a:r>
              <a:rPr lang="zh-CN" altLang="en-US" dirty="0" smtClean="0"/>
              <a:t>白消耗处理机时间</a:t>
            </a:r>
            <a:endParaRPr lang="zh-CN" altLang="en-US" dirty="0"/>
          </a:p>
        </p:txBody>
      </p:sp>
      <p:sp>
        <p:nvSpPr>
          <p:cNvPr id="4" name="Date Placeholder 3"/>
          <p:cNvSpPr>
            <a:spLocks noGrp="1"/>
          </p:cNvSpPr>
          <p:nvPr>
            <p:ph type="dt" sz="half" idx="10"/>
          </p:nvPr>
        </p:nvSpPr>
        <p:spPr/>
        <p:txBody>
          <a:bodyPr/>
          <a:lstStyle/>
          <a:p>
            <a:fld id="{D047FA02-CB57-4D8A-AFEC-3E2826421AF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17</a:t>
            </a:fld>
            <a:endParaRPr lang="zh-CN" altLang="en-US" dirty="0"/>
          </a:p>
        </p:txBody>
      </p:sp>
      <p:sp>
        <p:nvSpPr>
          <p:cNvPr id="7" name="TextBox 6"/>
          <p:cNvSpPr txBox="1"/>
          <p:nvPr/>
        </p:nvSpPr>
        <p:spPr>
          <a:xfrm>
            <a:off x="2026348" y="4509120"/>
            <a:ext cx="5112568" cy="461665"/>
          </a:xfrm>
          <a:prstGeom prst="rect">
            <a:avLst/>
          </a:prstGeom>
          <a:noFill/>
        </p:spPr>
        <p:txBody>
          <a:bodyPr wrap="square" rtlCol="0">
            <a:spAutoFit/>
          </a:bodyPr>
          <a:lstStyle/>
          <a:p>
            <a:r>
              <a:rPr lang="zh-CN" altLang="en-US" sz="2400" b="1" dirty="0" smtClean="0">
                <a:solidFill>
                  <a:srgbClr val="00B050"/>
                </a:solidFill>
                <a:latin typeface="黑体" panose="02010609060101010101" pitchFamily="49" charset="-122"/>
                <a:ea typeface="黑体" panose="02010609060101010101" pitchFamily="49" charset="-122"/>
              </a:rPr>
              <a:t>忙则等待    空闲</a:t>
            </a:r>
            <a:r>
              <a:rPr lang="zh-CN" altLang="en-US" sz="2400" b="1" dirty="0" smtClean="0">
                <a:solidFill>
                  <a:srgbClr val="FF0000"/>
                </a:solidFill>
                <a:latin typeface="黑体" panose="02010609060101010101" pitchFamily="49" charset="-122"/>
                <a:ea typeface="黑体" panose="02010609060101010101" pitchFamily="49" charset="-122"/>
              </a:rPr>
              <a:t>让进    有限等待</a:t>
            </a:r>
            <a:r>
              <a:rPr lang="zh-CN" altLang="en-US" sz="2400" b="1" dirty="0" smtClean="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1076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软件方法</a:t>
            </a:r>
            <a:r>
              <a:rPr lang="en-US" altLang="zh-CN" dirty="0" smtClean="0"/>
              <a:t>——</a:t>
            </a:r>
            <a:r>
              <a:rPr lang="zh-CN" altLang="en-US" dirty="0" smtClean="0"/>
              <a:t>双标识、先检验</a:t>
            </a:r>
            <a:endParaRPr lang="zh-CN" altLang="en-US" dirty="0"/>
          </a:p>
        </p:txBody>
      </p:sp>
      <p:sp>
        <p:nvSpPr>
          <p:cNvPr id="3" name="Content Placeholder 2"/>
          <p:cNvSpPr>
            <a:spLocks noGrp="1"/>
          </p:cNvSpPr>
          <p:nvPr>
            <p:ph idx="1"/>
          </p:nvPr>
        </p:nvSpPr>
        <p:spPr/>
        <p:txBody>
          <a:bodyPr>
            <a:normAutofit fontScale="92500" lnSpcReduction="20000"/>
          </a:bodyPr>
          <a:lstStyle/>
          <a:p>
            <a:r>
              <a:rPr lang="zh-CN" altLang="en-US" dirty="0" smtClean="0"/>
              <a:t>基本思想：</a:t>
            </a:r>
            <a:r>
              <a:rPr lang="zh-CN" altLang="en-US" dirty="0" smtClean="0">
                <a:solidFill>
                  <a:srgbClr val="0000FF"/>
                </a:solidFill>
              </a:rPr>
              <a:t>解决一个进程不能连续进入临界区的问题</a:t>
            </a:r>
            <a:endParaRPr lang="en-US" altLang="zh-CN" dirty="0" smtClean="0">
              <a:solidFill>
                <a:srgbClr val="0000FF"/>
              </a:solidFill>
            </a:endParaRP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a:t>算</a:t>
            </a:r>
            <a:r>
              <a:rPr lang="zh-CN" altLang="en-US" dirty="0" smtClean="0"/>
              <a:t>法描述</a:t>
            </a:r>
            <a:endParaRPr lang="en-US" altLang="zh-CN" dirty="0" smtClean="0"/>
          </a:p>
          <a:p>
            <a:pPr lvl="1"/>
            <a:r>
              <a:rPr lang="zh-CN" altLang="en-US" dirty="0" smtClean="0"/>
              <a:t>为每个进程设置单独的标识</a:t>
            </a:r>
            <a:r>
              <a:rPr lang="en-US" altLang="zh-CN" dirty="0" smtClean="0"/>
              <a:t>flag[</a:t>
            </a:r>
            <a:r>
              <a:rPr lang="en-US" altLang="zh-CN" dirty="0" err="1" smtClean="0"/>
              <a:t>i</a:t>
            </a:r>
            <a:r>
              <a:rPr lang="en-US" altLang="zh-CN" dirty="0" smtClean="0"/>
              <a:t>]</a:t>
            </a:r>
          </a:p>
          <a:p>
            <a:pPr lvl="1"/>
            <a:r>
              <a:rPr lang="zh-CN" altLang="en-US" dirty="0"/>
              <a:t>进入</a:t>
            </a:r>
            <a:r>
              <a:rPr lang="zh-CN" altLang="en-US" dirty="0" smtClean="0"/>
              <a:t>时测试对方标识，设置自己标识为</a:t>
            </a:r>
            <a:r>
              <a:rPr lang="en-US" altLang="zh-CN" dirty="0" smtClean="0"/>
              <a:t>TRUE</a:t>
            </a:r>
          </a:p>
          <a:p>
            <a:pPr lvl="1"/>
            <a:r>
              <a:rPr lang="zh-CN" altLang="en-US" dirty="0"/>
              <a:t>退出</a:t>
            </a:r>
            <a:r>
              <a:rPr lang="zh-CN" altLang="en-US" dirty="0" smtClean="0"/>
              <a:t>时设置自己标识为</a:t>
            </a:r>
            <a:r>
              <a:rPr lang="en-US" altLang="zh-CN" dirty="0" smtClean="0"/>
              <a:t>FALSE</a:t>
            </a:r>
            <a:endParaRPr lang="zh-CN" altLang="en-US" dirty="0"/>
          </a:p>
        </p:txBody>
      </p:sp>
      <p:sp>
        <p:nvSpPr>
          <p:cNvPr id="4" name="Date Placeholder 3"/>
          <p:cNvSpPr>
            <a:spLocks noGrp="1"/>
          </p:cNvSpPr>
          <p:nvPr>
            <p:ph type="dt" sz="half" idx="10"/>
          </p:nvPr>
        </p:nvSpPr>
        <p:spPr/>
        <p:txBody>
          <a:bodyPr/>
          <a:lstStyle/>
          <a:p>
            <a:fld id="{0F0A7AC3-632A-4759-A58C-5D24D5408FF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18</a:t>
            </a:fld>
            <a:endParaRPr lang="zh-CN" altLang="en-US" dirty="0"/>
          </a:p>
        </p:txBody>
      </p:sp>
      <p:sp>
        <p:nvSpPr>
          <p:cNvPr id="7" name="TextBox 6"/>
          <p:cNvSpPr txBox="1"/>
          <p:nvPr/>
        </p:nvSpPr>
        <p:spPr>
          <a:xfrm>
            <a:off x="899592" y="1844824"/>
            <a:ext cx="3240360" cy="2631490"/>
          </a:xfrm>
          <a:prstGeom prst="rect">
            <a:avLst/>
          </a:prstGeom>
          <a:noFill/>
        </p:spPr>
        <p:txBody>
          <a:bodyPr wrap="square" rtlCol="0">
            <a:spAutoFit/>
          </a:bodyPr>
          <a:lstStyle/>
          <a:p>
            <a:pPr>
              <a:lnSpc>
                <a:spcPct val="125000"/>
              </a:lnSpc>
            </a:pPr>
            <a:r>
              <a:rPr lang="en-US" altLang="zh-CN" sz="2200" b="1" dirty="0" smtClean="0"/>
              <a:t>P0 </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flag[1]</a:t>
            </a:r>
            <a:r>
              <a:rPr lang="en-US" altLang="zh-CN" sz="2200" b="1" dirty="0" smtClean="0"/>
              <a:t>);    </a:t>
            </a:r>
            <a:r>
              <a:rPr lang="en-US" altLang="zh-CN" sz="2200" b="1" dirty="0" smtClean="0">
                <a:solidFill>
                  <a:schemeClr val="tx1">
                    <a:lumMod val="65000"/>
                    <a:lumOff val="35000"/>
                  </a:schemeClr>
                </a:solidFill>
              </a:rPr>
              <a:t>&lt;a0&gt;</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flag[0]</a:t>
            </a:r>
            <a:r>
              <a:rPr lang="en-US" altLang="zh-CN" sz="2200" b="1" dirty="0" smtClean="0"/>
              <a:t> = TRUE;    </a:t>
            </a:r>
            <a:r>
              <a:rPr lang="en-US" altLang="zh-CN" sz="2200" b="1" dirty="0" smtClean="0">
                <a:solidFill>
                  <a:schemeClr val="tx1">
                    <a:lumMod val="65000"/>
                    <a:lumOff val="35000"/>
                  </a:schemeClr>
                </a:solidFill>
              </a:rPr>
              <a:t>&lt;b0&gt;</a:t>
            </a:r>
          </a:p>
          <a:p>
            <a:pPr>
              <a:lnSpc>
                <a:spcPct val="125000"/>
              </a:lnSpc>
            </a:pPr>
            <a:r>
              <a:rPr lang="en-US" altLang="zh-CN" sz="2200" b="1" dirty="0"/>
              <a:t> </a:t>
            </a:r>
            <a:r>
              <a:rPr lang="en-US" altLang="zh-CN" sz="2200" b="1" dirty="0" smtClean="0"/>
              <a:t>       </a:t>
            </a:r>
            <a:r>
              <a:rPr lang="en-US" altLang="zh-CN" sz="2200" b="1" dirty="0" smtClean="0">
                <a:solidFill>
                  <a:srgbClr val="FF0000"/>
                </a:solidFill>
              </a:rPr>
              <a:t>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flag[0]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8" name="TextBox 7"/>
          <p:cNvSpPr txBox="1"/>
          <p:nvPr/>
        </p:nvSpPr>
        <p:spPr>
          <a:xfrm>
            <a:off x="5220072" y="1844824"/>
            <a:ext cx="3240360" cy="2631490"/>
          </a:xfrm>
          <a:prstGeom prst="rect">
            <a:avLst/>
          </a:prstGeom>
          <a:noFill/>
        </p:spPr>
        <p:txBody>
          <a:bodyPr wrap="square" rtlCol="0">
            <a:spAutoFit/>
          </a:bodyPr>
          <a:lstStyle/>
          <a:p>
            <a:pPr>
              <a:lnSpc>
                <a:spcPct val="125000"/>
              </a:lnSpc>
            </a:pPr>
            <a:r>
              <a:rPr lang="en-US" altLang="zh-CN" sz="2200" b="1" dirty="0" smtClean="0"/>
              <a:t>P1 </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flag[0]</a:t>
            </a:r>
            <a:r>
              <a:rPr lang="en-US" altLang="zh-CN" sz="2200" b="1" dirty="0" smtClean="0"/>
              <a:t>);    </a:t>
            </a:r>
            <a:r>
              <a:rPr lang="en-US" altLang="zh-CN" sz="2200" b="1" dirty="0" smtClean="0">
                <a:solidFill>
                  <a:schemeClr val="tx1">
                    <a:lumMod val="65000"/>
                    <a:lumOff val="35000"/>
                  </a:schemeClr>
                </a:solidFill>
              </a:rPr>
              <a:t>&lt;a1&gt;</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flag[1]</a:t>
            </a:r>
            <a:r>
              <a:rPr lang="en-US" altLang="zh-CN" sz="2200" b="1" dirty="0" smtClean="0"/>
              <a:t> = TRUE;    </a:t>
            </a:r>
            <a:r>
              <a:rPr lang="en-US" altLang="zh-CN" sz="2200" b="1" dirty="0" smtClean="0">
                <a:solidFill>
                  <a:schemeClr val="tx1">
                    <a:lumMod val="65000"/>
                    <a:lumOff val="35000"/>
                  </a:schemeClr>
                </a:solidFill>
              </a:rPr>
              <a:t>&lt;b1&gt;</a:t>
            </a:r>
          </a:p>
          <a:p>
            <a:pPr>
              <a:lnSpc>
                <a:spcPct val="125000"/>
              </a:lnSpc>
            </a:pPr>
            <a:r>
              <a:rPr lang="en-US" altLang="zh-CN" sz="2200" b="1" dirty="0"/>
              <a:t> </a:t>
            </a:r>
            <a:r>
              <a:rPr lang="en-US" altLang="zh-CN" sz="2200" b="1" dirty="0" smtClean="0"/>
              <a:t>       </a:t>
            </a:r>
            <a:r>
              <a:rPr lang="en-US" altLang="zh-CN" sz="2200" b="1" dirty="0" smtClean="0">
                <a:solidFill>
                  <a:srgbClr val="FF0000"/>
                </a:solidFill>
              </a:rPr>
              <a:t>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flag[1]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9" name="Rectangle 8"/>
          <p:cNvSpPr/>
          <p:nvPr/>
        </p:nvSpPr>
        <p:spPr>
          <a:xfrm>
            <a:off x="1187624" y="2348880"/>
            <a:ext cx="2952328"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p:cNvSpPr/>
          <p:nvPr/>
        </p:nvSpPr>
        <p:spPr>
          <a:xfrm>
            <a:off x="5508104" y="2348880"/>
            <a:ext cx="2880320"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a:off x="1187624" y="3573016"/>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p:cNvSpPr/>
          <p:nvPr/>
        </p:nvSpPr>
        <p:spPr>
          <a:xfrm>
            <a:off x="5502932" y="3573016"/>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23597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软件方法</a:t>
            </a:r>
            <a:r>
              <a:rPr lang="en-US" altLang="zh-CN" dirty="0" smtClean="0"/>
              <a:t>——</a:t>
            </a:r>
            <a:r>
              <a:rPr lang="zh-CN" altLang="en-US" dirty="0" smtClean="0"/>
              <a:t>双标识、先检验</a:t>
            </a:r>
            <a:endParaRPr lang="zh-CN" altLang="en-US" dirty="0"/>
          </a:p>
        </p:txBody>
      </p:sp>
      <p:sp>
        <p:nvSpPr>
          <p:cNvPr id="3" name="Content Placeholder 2"/>
          <p:cNvSpPr>
            <a:spLocks noGrp="1"/>
          </p:cNvSpPr>
          <p:nvPr>
            <p:ph idx="1"/>
          </p:nvPr>
        </p:nvSpPr>
        <p:spPr/>
        <p:txBody>
          <a:bodyPr/>
          <a:lstStyle/>
          <a:p>
            <a:r>
              <a:rPr lang="zh-CN" altLang="en-US" dirty="0" smtClean="0"/>
              <a:t>“双标识、先检验”的主要问题</a:t>
            </a:r>
            <a:endParaRPr lang="en-US" altLang="zh-CN" dirty="0" smtClean="0"/>
          </a:p>
          <a:p>
            <a:pPr lvl="1"/>
            <a:r>
              <a:rPr lang="zh-CN" altLang="en-US" dirty="0">
                <a:solidFill>
                  <a:srgbClr val="FF0000"/>
                </a:solidFill>
              </a:rPr>
              <a:t>两</a:t>
            </a:r>
            <a:r>
              <a:rPr lang="zh-CN" altLang="en-US" dirty="0" smtClean="0">
                <a:solidFill>
                  <a:srgbClr val="FF0000"/>
                </a:solidFill>
              </a:rPr>
              <a:t>个进程可能同时进入临界区！！</a:t>
            </a:r>
            <a:endParaRPr lang="en-US" altLang="zh-CN" dirty="0" smtClean="0">
              <a:solidFill>
                <a:srgbClr val="FF0000"/>
              </a:solidFill>
            </a:endParaRPr>
          </a:p>
          <a:p>
            <a:pPr lvl="2"/>
            <a:r>
              <a:rPr lang="zh-CN" altLang="en-US" dirty="0">
                <a:solidFill>
                  <a:srgbClr val="FF0000"/>
                </a:solidFill>
              </a:rPr>
              <a:t>两</a:t>
            </a:r>
            <a:r>
              <a:rPr lang="zh-CN" altLang="en-US" dirty="0" smtClean="0">
                <a:solidFill>
                  <a:srgbClr val="FF0000"/>
                </a:solidFill>
              </a:rPr>
              <a:t>个进程都通过了进入临界区之前的</a:t>
            </a:r>
            <a:r>
              <a:rPr lang="en-US" altLang="zh-CN" dirty="0" smtClean="0">
                <a:solidFill>
                  <a:srgbClr val="FF0000"/>
                </a:solidFill>
              </a:rPr>
              <a:t>while</a:t>
            </a:r>
            <a:r>
              <a:rPr lang="zh-CN" altLang="en-US" dirty="0" smtClean="0">
                <a:solidFill>
                  <a:srgbClr val="FF0000"/>
                </a:solidFill>
              </a:rPr>
              <a:t>检测</a:t>
            </a:r>
            <a:endParaRPr lang="en-US" altLang="zh-CN" dirty="0" smtClean="0">
              <a:solidFill>
                <a:srgbClr val="FF0000"/>
              </a:solidFill>
            </a:endParaRPr>
          </a:p>
          <a:p>
            <a:pPr lvl="2"/>
            <a:r>
              <a:rPr lang="zh-CN" altLang="en-US" dirty="0">
                <a:solidFill>
                  <a:srgbClr val="0000FF"/>
                </a:solidFill>
              </a:rPr>
              <a:t>问</a:t>
            </a:r>
            <a:r>
              <a:rPr lang="zh-CN" altLang="en-US" dirty="0" smtClean="0">
                <a:solidFill>
                  <a:srgbClr val="0000FF"/>
                </a:solidFill>
              </a:rPr>
              <a:t>题的根本原因是：标识的检测和修改不能同时进行</a:t>
            </a:r>
            <a:endParaRPr lang="en-US" altLang="zh-CN" dirty="0" smtClean="0">
              <a:solidFill>
                <a:srgbClr val="0000FF"/>
              </a:solidFill>
            </a:endParaRPr>
          </a:p>
          <a:p>
            <a:pPr lvl="1"/>
            <a:r>
              <a:rPr lang="zh-CN" altLang="en-US" dirty="0"/>
              <a:t>如</a:t>
            </a:r>
            <a:r>
              <a:rPr lang="zh-CN" altLang="en-US" dirty="0" smtClean="0"/>
              <a:t>何扩展到多个进程？</a:t>
            </a:r>
            <a:endParaRPr lang="en-US" altLang="zh-CN" dirty="0" smtClean="0"/>
          </a:p>
          <a:p>
            <a:pPr lvl="1"/>
            <a:r>
              <a:rPr lang="en-US" altLang="zh-CN" dirty="0"/>
              <a:t>Busy waiting</a:t>
            </a:r>
            <a:r>
              <a:rPr lang="zh-CN" altLang="en-US" dirty="0"/>
              <a:t>白白消耗处理机时间</a:t>
            </a:r>
          </a:p>
          <a:p>
            <a:pPr lvl="1"/>
            <a:endParaRPr lang="zh-CN" altLang="en-US" dirty="0"/>
          </a:p>
        </p:txBody>
      </p:sp>
      <p:sp>
        <p:nvSpPr>
          <p:cNvPr id="4" name="Date Placeholder 3"/>
          <p:cNvSpPr>
            <a:spLocks noGrp="1"/>
          </p:cNvSpPr>
          <p:nvPr>
            <p:ph type="dt" sz="half" idx="10"/>
          </p:nvPr>
        </p:nvSpPr>
        <p:spPr/>
        <p:txBody>
          <a:bodyPr/>
          <a:lstStyle/>
          <a:p>
            <a:fld id="{BF65B4BC-286D-4213-B516-0072ECB54DC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19</a:t>
            </a:fld>
            <a:endParaRPr lang="zh-CN" altLang="en-US" dirty="0"/>
          </a:p>
        </p:txBody>
      </p:sp>
      <p:sp>
        <p:nvSpPr>
          <p:cNvPr id="7" name="TextBox 6"/>
          <p:cNvSpPr txBox="1"/>
          <p:nvPr/>
        </p:nvSpPr>
        <p:spPr>
          <a:xfrm>
            <a:off x="2026348" y="4509120"/>
            <a:ext cx="5112568" cy="461665"/>
          </a:xfrm>
          <a:prstGeom prst="rect">
            <a:avLst/>
          </a:prstGeom>
          <a:noFill/>
        </p:spPr>
        <p:txBody>
          <a:bodyPr wrap="square" rtlCol="0">
            <a:spAutoFit/>
          </a:bodyPr>
          <a:lstStyle/>
          <a:p>
            <a:r>
              <a:rPr lang="zh-CN" altLang="en-US" sz="2400" b="1" dirty="0" smtClean="0">
                <a:solidFill>
                  <a:srgbClr val="FF0000"/>
                </a:solidFill>
                <a:latin typeface="黑体" panose="02010609060101010101" pitchFamily="49" charset="-122"/>
                <a:ea typeface="黑体" panose="02010609060101010101" pitchFamily="49" charset="-122"/>
              </a:rPr>
              <a:t>忙则等待    。。。。。。</a:t>
            </a:r>
            <a:endParaRPr lang="zh-CN" altLang="en-US" sz="2400" b="1"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90200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a:t>
            </a:r>
            <a:r>
              <a:rPr lang="zh-CN" altLang="en-US" dirty="0"/>
              <a:t>双标识</a:t>
            </a:r>
            <a:r>
              <a:rPr lang="zh-CN" altLang="en-US" dirty="0" smtClean="0"/>
              <a:t>、后检</a:t>
            </a:r>
            <a:r>
              <a:rPr lang="zh-CN" altLang="en-US" dirty="0"/>
              <a:t>验</a:t>
            </a:r>
          </a:p>
        </p:txBody>
      </p:sp>
      <p:sp>
        <p:nvSpPr>
          <p:cNvPr id="3" name="Content Placeholder 2"/>
          <p:cNvSpPr>
            <a:spLocks noGrp="1"/>
          </p:cNvSpPr>
          <p:nvPr>
            <p:ph idx="1"/>
          </p:nvPr>
        </p:nvSpPr>
        <p:spPr/>
        <p:txBody>
          <a:bodyPr>
            <a:normAutofit fontScale="92500" lnSpcReduction="10000"/>
          </a:bodyPr>
          <a:lstStyle/>
          <a:p>
            <a:r>
              <a:rPr lang="zh-CN" altLang="en-US" dirty="0" smtClean="0"/>
              <a:t>基本思想：</a:t>
            </a:r>
            <a:r>
              <a:rPr lang="zh-CN" altLang="en-US" dirty="0" smtClean="0">
                <a:solidFill>
                  <a:srgbClr val="0000FF"/>
                </a:solidFill>
              </a:rPr>
              <a:t>先占位，后检验</a:t>
            </a:r>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a:solidFill>
                <a:srgbClr val="0000FF"/>
              </a:solidFill>
            </a:endParaRPr>
          </a:p>
          <a:p>
            <a:endParaRPr lang="en-US" altLang="zh-CN" dirty="0" smtClean="0"/>
          </a:p>
          <a:p>
            <a:r>
              <a:rPr lang="zh-CN" altLang="en-US" dirty="0" smtClean="0"/>
              <a:t>算法描述</a:t>
            </a:r>
            <a:endParaRPr lang="en-US" altLang="zh-CN" dirty="0" smtClean="0"/>
          </a:p>
          <a:p>
            <a:pPr lvl="1"/>
            <a:r>
              <a:rPr lang="zh-CN" altLang="en-US" dirty="0" smtClean="0"/>
              <a:t>与上一算法类似，只是在进入临界区之前，设置标志位的操作和检验标志位的操作次序改变</a:t>
            </a:r>
            <a:endParaRPr lang="zh-CN" altLang="en-US" dirty="0"/>
          </a:p>
        </p:txBody>
      </p:sp>
      <p:sp>
        <p:nvSpPr>
          <p:cNvPr id="4" name="Date Placeholder 3"/>
          <p:cNvSpPr>
            <a:spLocks noGrp="1"/>
          </p:cNvSpPr>
          <p:nvPr>
            <p:ph type="dt" sz="half" idx="10"/>
          </p:nvPr>
        </p:nvSpPr>
        <p:spPr/>
        <p:txBody>
          <a:bodyPr/>
          <a:lstStyle/>
          <a:p>
            <a:fld id="{FC0593B7-CB9F-4C80-82A6-850CF3C3BBE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20</a:t>
            </a:fld>
            <a:endParaRPr lang="zh-CN" altLang="en-US" dirty="0"/>
          </a:p>
        </p:txBody>
      </p:sp>
      <p:sp>
        <p:nvSpPr>
          <p:cNvPr id="7" name="TextBox 6"/>
          <p:cNvSpPr txBox="1"/>
          <p:nvPr/>
        </p:nvSpPr>
        <p:spPr>
          <a:xfrm>
            <a:off x="899592" y="1844824"/>
            <a:ext cx="2952328" cy="2631490"/>
          </a:xfrm>
          <a:prstGeom prst="rect">
            <a:avLst/>
          </a:prstGeom>
          <a:noFill/>
        </p:spPr>
        <p:txBody>
          <a:bodyPr wrap="square" rtlCol="0">
            <a:spAutoFit/>
          </a:bodyPr>
          <a:lstStyle/>
          <a:p>
            <a:pPr>
              <a:lnSpc>
                <a:spcPct val="125000"/>
              </a:lnSpc>
            </a:pPr>
            <a:r>
              <a:rPr lang="en-US" altLang="zh-CN" sz="2200" b="1" dirty="0" smtClean="0"/>
              <a:t>P0 </a:t>
            </a:r>
          </a:p>
          <a:p>
            <a:pPr>
              <a:lnSpc>
                <a:spcPct val="125000"/>
              </a:lnSpc>
            </a:pPr>
            <a:r>
              <a:rPr lang="en-US" altLang="zh-CN" sz="2200" b="1" dirty="0" smtClean="0">
                <a:solidFill>
                  <a:srgbClr val="0000FF"/>
                </a:solidFill>
              </a:rPr>
              <a:t>    flag[0</a:t>
            </a:r>
            <a:r>
              <a:rPr lang="en-US" altLang="zh-CN" sz="2200" b="1" dirty="0">
                <a:solidFill>
                  <a:srgbClr val="0000FF"/>
                </a:solidFill>
              </a:rPr>
              <a:t>]</a:t>
            </a:r>
            <a:r>
              <a:rPr lang="en-US" altLang="zh-CN" sz="2200" b="1" dirty="0"/>
              <a:t> = TRUE</a:t>
            </a:r>
            <a:r>
              <a:rPr lang="en-US" altLang="zh-CN" sz="2200" b="1" dirty="0" smtClean="0"/>
              <a:t>;    </a:t>
            </a:r>
          </a:p>
          <a:p>
            <a:pPr>
              <a:lnSpc>
                <a:spcPct val="125000"/>
              </a:lnSpc>
            </a:pPr>
            <a:r>
              <a:rPr lang="en-US" altLang="zh-CN" sz="2200" b="1" dirty="0" smtClean="0"/>
              <a:t>    while (</a:t>
            </a:r>
            <a:r>
              <a:rPr lang="en-US" altLang="zh-CN" sz="2200" b="1" dirty="0" smtClean="0">
                <a:solidFill>
                  <a:srgbClr val="0000FF"/>
                </a:solidFill>
              </a:rPr>
              <a:t>flag[1]</a:t>
            </a:r>
            <a:r>
              <a:rPr lang="en-US" altLang="zh-CN" sz="2200" b="1" dirty="0" smtClean="0"/>
              <a:t>);</a:t>
            </a:r>
          </a:p>
          <a:p>
            <a:pPr>
              <a:lnSpc>
                <a:spcPct val="125000"/>
              </a:lnSpc>
            </a:pPr>
            <a:r>
              <a:rPr lang="en-US" altLang="zh-CN" sz="2200" b="1" dirty="0" smtClean="0">
                <a:solidFill>
                  <a:srgbClr val="FF0000"/>
                </a:solidFill>
              </a:rPr>
              <a:t>        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flag[0]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8" name="TextBox 7"/>
          <p:cNvSpPr txBox="1"/>
          <p:nvPr/>
        </p:nvSpPr>
        <p:spPr>
          <a:xfrm>
            <a:off x="5220072" y="1844824"/>
            <a:ext cx="2952328" cy="2631490"/>
          </a:xfrm>
          <a:prstGeom prst="rect">
            <a:avLst/>
          </a:prstGeom>
          <a:noFill/>
        </p:spPr>
        <p:txBody>
          <a:bodyPr wrap="square" rtlCol="0">
            <a:spAutoFit/>
          </a:bodyPr>
          <a:lstStyle/>
          <a:p>
            <a:pPr>
              <a:lnSpc>
                <a:spcPct val="125000"/>
              </a:lnSpc>
            </a:pPr>
            <a:r>
              <a:rPr lang="en-US" altLang="zh-CN" sz="2200" b="1" dirty="0" smtClean="0"/>
              <a:t>P1 </a:t>
            </a:r>
          </a:p>
          <a:p>
            <a:pPr>
              <a:lnSpc>
                <a:spcPct val="125000"/>
              </a:lnSpc>
            </a:pPr>
            <a:r>
              <a:rPr lang="en-US" altLang="zh-CN" sz="2200" b="1" dirty="0"/>
              <a:t> </a:t>
            </a:r>
            <a:r>
              <a:rPr lang="en-US" altLang="zh-CN" sz="2200" b="1" dirty="0" smtClean="0"/>
              <a:t>   </a:t>
            </a:r>
            <a:r>
              <a:rPr lang="en-US" altLang="zh-CN" sz="2200" b="1" dirty="0">
                <a:solidFill>
                  <a:srgbClr val="0000FF"/>
                </a:solidFill>
              </a:rPr>
              <a:t>flag[1]</a:t>
            </a:r>
            <a:r>
              <a:rPr lang="en-US" altLang="zh-CN" sz="2200" b="1" dirty="0"/>
              <a:t> = TRUE</a:t>
            </a:r>
            <a:r>
              <a:rPr lang="en-US" altLang="zh-CN" sz="2200" b="1" dirty="0" smtClean="0"/>
              <a:t>;</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flag[0]</a:t>
            </a:r>
            <a:r>
              <a:rPr lang="en-US" altLang="zh-CN" sz="2200" b="1" dirty="0" smtClean="0"/>
              <a:t>);</a:t>
            </a:r>
          </a:p>
          <a:p>
            <a:pPr>
              <a:lnSpc>
                <a:spcPct val="125000"/>
              </a:lnSpc>
            </a:pPr>
            <a:r>
              <a:rPr lang="en-US" altLang="zh-CN" sz="2200" b="1" dirty="0" smtClean="0">
                <a:solidFill>
                  <a:srgbClr val="FF0000"/>
                </a:solidFill>
              </a:rPr>
              <a:t>        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flag[1]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9" name="Rectangle 8"/>
          <p:cNvSpPr/>
          <p:nvPr/>
        </p:nvSpPr>
        <p:spPr>
          <a:xfrm>
            <a:off x="1187624" y="2348880"/>
            <a:ext cx="2016224"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p:cNvSpPr/>
          <p:nvPr/>
        </p:nvSpPr>
        <p:spPr>
          <a:xfrm>
            <a:off x="5508104" y="2348880"/>
            <a:ext cx="2016224"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a:off x="1187624" y="3573016"/>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p:cNvSpPr/>
          <p:nvPr/>
        </p:nvSpPr>
        <p:spPr>
          <a:xfrm>
            <a:off x="5502932" y="3573016"/>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33882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a:t>
            </a:r>
            <a:r>
              <a:rPr lang="zh-CN" altLang="en-US" dirty="0"/>
              <a:t>双标识、后检验</a:t>
            </a:r>
          </a:p>
        </p:txBody>
      </p:sp>
      <p:sp>
        <p:nvSpPr>
          <p:cNvPr id="3" name="Content Placeholder 2"/>
          <p:cNvSpPr>
            <a:spLocks noGrp="1"/>
          </p:cNvSpPr>
          <p:nvPr>
            <p:ph idx="1"/>
          </p:nvPr>
        </p:nvSpPr>
        <p:spPr/>
        <p:txBody>
          <a:bodyPr/>
          <a:lstStyle/>
          <a:p>
            <a:r>
              <a:rPr lang="zh-CN" altLang="en-US" dirty="0"/>
              <a:t>“双标识</a:t>
            </a:r>
            <a:r>
              <a:rPr lang="zh-CN" altLang="en-US" dirty="0" smtClean="0"/>
              <a:t>、后检</a:t>
            </a:r>
            <a:r>
              <a:rPr lang="zh-CN" altLang="en-US" dirty="0"/>
              <a:t>验”的主要问题</a:t>
            </a:r>
            <a:endParaRPr lang="en-US" altLang="zh-CN" dirty="0"/>
          </a:p>
          <a:p>
            <a:pPr lvl="1"/>
            <a:r>
              <a:rPr lang="zh-CN" altLang="en-US" dirty="0" smtClean="0">
                <a:solidFill>
                  <a:srgbClr val="FF0000"/>
                </a:solidFill>
              </a:rPr>
              <a:t>两个进程可能都无法进入临界区！！</a:t>
            </a:r>
            <a:endParaRPr lang="en-US" altLang="zh-CN" dirty="0" smtClean="0">
              <a:solidFill>
                <a:srgbClr val="FF0000"/>
              </a:solidFill>
            </a:endParaRPr>
          </a:p>
          <a:p>
            <a:pPr lvl="2"/>
            <a:r>
              <a:rPr lang="zh-CN" altLang="en-US" dirty="0"/>
              <a:t>两</a:t>
            </a:r>
            <a:r>
              <a:rPr lang="zh-CN" altLang="en-US" dirty="0" smtClean="0"/>
              <a:t>个进程进入临界区前执行</a:t>
            </a:r>
            <a:r>
              <a:rPr lang="en-US" altLang="zh-CN" dirty="0" smtClean="0"/>
              <a:t>&lt;a0&gt; &lt;a1&gt; &lt;b0&gt; &lt;b1&gt;</a:t>
            </a:r>
          </a:p>
          <a:p>
            <a:pPr lvl="1"/>
            <a:r>
              <a:rPr lang="zh-CN" altLang="en-US" dirty="0" smtClean="0"/>
              <a:t>如何扩展到多个进程？</a:t>
            </a:r>
            <a:endParaRPr lang="en-US" altLang="zh-CN" dirty="0" smtClean="0"/>
          </a:p>
          <a:p>
            <a:pPr lvl="1"/>
            <a:r>
              <a:rPr lang="en-US" altLang="zh-CN" dirty="0"/>
              <a:t>Busy waiting</a:t>
            </a:r>
            <a:r>
              <a:rPr lang="zh-CN" altLang="en-US" dirty="0"/>
              <a:t>白白消耗处理机时间</a:t>
            </a:r>
          </a:p>
          <a:p>
            <a:pPr lvl="1"/>
            <a:endParaRPr lang="zh-CN" altLang="en-US" dirty="0"/>
          </a:p>
        </p:txBody>
      </p:sp>
      <p:sp>
        <p:nvSpPr>
          <p:cNvPr id="4" name="Date Placeholder 3"/>
          <p:cNvSpPr>
            <a:spLocks noGrp="1"/>
          </p:cNvSpPr>
          <p:nvPr>
            <p:ph type="dt" sz="half" idx="10"/>
          </p:nvPr>
        </p:nvSpPr>
        <p:spPr/>
        <p:txBody>
          <a:bodyPr/>
          <a:lstStyle/>
          <a:p>
            <a:fld id="{9F48908F-CFF1-44F7-A789-4D39CFF09C9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21</a:t>
            </a:fld>
            <a:endParaRPr lang="zh-CN" altLang="en-US" dirty="0"/>
          </a:p>
        </p:txBody>
      </p:sp>
      <p:sp>
        <p:nvSpPr>
          <p:cNvPr id="7" name="TextBox 6"/>
          <p:cNvSpPr txBox="1"/>
          <p:nvPr/>
        </p:nvSpPr>
        <p:spPr>
          <a:xfrm>
            <a:off x="2026348" y="4509120"/>
            <a:ext cx="5112568" cy="461665"/>
          </a:xfrm>
          <a:prstGeom prst="rect">
            <a:avLst/>
          </a:prstGeom>
          <a:noFill/>
        </p:spPr>
        <p:txBody>
          <a:bodyPr wrap="square" rtlCol="0">
            <a:spAutoFit/>
          </a:bodyPr>
          <a:lstStyle/>
          <a:p>
            <a:r>
              <a:rPr lang="zh-CN" altLang="en-US" sz="2400" b="1" dirty="0" smtClean="0">
                <a:solidFill>
                  <a:srgbClr val="00B050"/>
                </a:solidFill>
                <a:latin typeface="黑体" panose="02010609060101010101" pitchFamily="49" charset="-122"/>
                <a:ea typeface="黑体" panose="02010609060101010101" pitchFamily="49" charset="-122"/>
              </a:rPr>
              <a:t>忙则等待    空闲</a:t>
            </a:r>
            <a:r>
              <a:rPr lang="zh-CN" altLang="en-US" sz="2400" b="1" dirty="0" smtClean="0">
                <a:solidFill>
                  <a:srgbClr val="FF0000"/>
                </a:solidFill>
                <a:latin typeface="黑体" panose="02010609060101010101" pitchFamily="49" charset="-122"/>
                <a:ea typeface="黑体" panose="02010609060101010101" pitchFamily="49" charset="-122"/>
              </a:rPr>
              <a:t>让进    有限等待</a:t>
            </a:r>
            <a:r>
              <a:rPr lang="zh-CN" altLang="en-US" sz="2400" b="1" dirty="0" smtClean="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054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软件方法</a:t>
            </a:r>
            <a:r>
              <a:rPr lang="en-US" altLang="zh-CN" dirty="0" smtClean="0"/>
              <a:t>——Peterson’s Solution</a:t>
            </a:r>
            <a:endParaRPr lang="zh-CN" altLang="en-US" dirty="0"/>
          </a:p>
        </p:txBody>
      </p:sp>
      <p:sp>
        <p:nvSpPr>
          <p:cNvPr id="3" name="Content Placeholder 2"/>
          <p:cNvSpPr>
            <a:spLocks noGrp="1"/>
          </p:cNvSpPr>
          <p:nvPr>
            <p:ph idx="1"/>
          </p:nvPr>
        </p:nvSpPr>
        <p:spPr/>
        <p:txBody>
          <a:bodyPr>
            <a:normAutofit fontScale="70000" lnSpcReduction="20000"/>
          </a:bodyPr>
          <a:lstStyle/>
          <a:p>
            <a:r>
              <a:rPr lang="zh-CN" altLang="en-US" dirty="0"/>
              <a:t>基</a:t>
            </a:r>
            <a:r>
              <a:rPr lang="zh-CN" altLang="en-US" dirty="0" smtClean="0"/>
              <a:t>本思想：</a:t>
            </a:r>
            <a:r>
              <a:rPr lang="zh-CN" altLang="en-US" dirty="0" smtClean="0">
                <a:solidFill>
                  <a:srgbClr val="0000FF"/>
                </a:solidFill>
              </a:rPr>
              <a:t>吸取以上方法的经验和教训</a:t>
            </a:r>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a:solidFill>
                <a:srgbClr val="0000FF"/>
              </a:solidFill>
            </a:endParaRPr>
          </a:p>
          <a:p>
            <a:endParaRPr lang="en-US" altLang="zh-CN" dirty="0" smtClean="0">
              <a:solidFill>
                <a:srgbClr val="0000FF"/>
              </a:solidFill>
            </a:endParaRPr>
          </a:p>
          <a:p>
            <a:endParaRPr lang="en-US" altLang="zh-CN" dirty="0" smtClean="0"/>
          </a:p>
          <a:p>
            <a:r>
              <a:rPr lang="zh-CN" altLang="en-US" dirty="0" smtClean="0"/>
              <a:t>算法描述</a:t>
            </a:r>
            <a:endParaRPr lang="en-US" altLang="zh-CN" dirty="0" smtClean="0"/>
          </a:p>
          <a:p>
            <a:pPr lvl="1"/>
            <a:r>
              <a:rPr lang="zh-CN" altLang="en-US" dirty="0"/>
              <a:t>依</a:t>
            </a:r>
            <a:r>
              <a:rPr lang="zh-CN" altLang="en-US" dirty="0" smtClean="0"/>
              <a:t>然采用双标识</a:t>
            </a:r>
            <a:endParaRPr lang="en-US" altLang="zh-CN" dirty="0" smtClean="0"/>
          </a:p>
          <a:p>
            <a:pPr lvl="1"/>
            <a:r>
              <a:rPr lang="en-US" altLang="zh-CN" dirty="0" smtClean="0"/>
              <a:t>Turn</a:t>
            </a:r>
            <a:r>
              <a:rPr lang="zh-CN" altLang="en-US" dirty="0" smtClean="0"/>
              <a:t>：便是那个进程可以进入其临界区，如果</a:t>
            </a:r>
            <a:r>
              <a:rPr lang="en-US" altLang="zh-CN" dirty="0" smtClean="0"/>
              <a:t>turn=</a:t>
            </a:r>
            <a:r>
              <a:rPr lang="en-US" altLang="zh-CN" dirty="0" err="1" smtClean="0"/>
              <a:t>i</a:t>
            </a:r>
            <a:r>
              <a:rPr lang="zh-CN" altLang="en-US" dirty="0" smtClean="0"/>
              <a:t>，表示进程</a:t>
            </a:r>
            <a:r>
              <a:rPr lang="en-US" altLang="zh-CN" dirty="0" smtClean="0"/>
              <a:t>Pi</a:t>
            </a:r>
            <a:r>
              <a:rPr lang="zh-CN" altLang="en-US" dirty="0" smtClean="0"/>
              <a:t>允许在临界区执行</a:t>
            </a:r>
            <a:endParaRPr lang="en-US" altLang="zh-CN" dirty="0" smtClean="0"/>
          </a:p>
          <a:p>
            <a:pPr lvl="1"/>
            <a:r>
              <a:rPr lang="en-US" altLang="zh-CN" dirty="0" smtClean="0"/>
              <a:t>Flag</a:t>
            </a:r>
            <a:r>
              <a:rPr lang="zh-CN" altLang="en-US" dirty="0" smtClean="0"/>
              <a:t>数组：表示哪个进程想要进入临界区。如果</a:t>
            </a:r>
            <a:r>
              <a:rPr lang="en-US" altLang="zh-CN" dirty="0" smtClean="0"/>
              <a:t>flag[</a:t>
            </a:r>
            <a:r>
              <a:rPr lang="en-US" altLang="zh-CN" dirty="0" err="1" smtClean="0"/>
              <a:t>i</a:t>
            </a:r>
            <a:r>
              <a:rPr lang="en-US" altLang="zh-CN" dirty="0" smtClean="0"/>
              <a:t>]=true</a:t>
            </a:r>
            <a:r>
              <a:rPr lang="zh-CN" altLang="en-US" dirty="0" smtClean="0"/>
              <a:t>，即进程</a:t>
            </a:r>
            <a:r>
              <a:rPr lang="en-US" altLang="zh-CN" dirty="0" smtClean="0"/>
              <a:t>Pi</a:t>
            </a:r>
            <a:r>
              <a:rPr lang="zh-CN" altLang="en-US" dirty="0" smtClean="0"/>
              <a:t>想要进入临界区。</a:t>
            </a:r>
            <a:endParaRPr lang="en-US" altLang="zh-CN" dirty="0" smtClean="0"/>
          </a:p>
        </p:txBody>
      </p:sp>
      <p:sp>
        <p:nvSpPr>
          <p:cNvPr id="4" name="Date Placeholder 3"/>
          <p:cNvSpPr>
            <a:spLocks noGrp="1"/>
          </p:cNvSpPr>
          <p:nvPr>
            <p:ph type="dt" sz="half" idx="10"/>
          </p:nvPr>
        </p:nvSpPr>
        <p:spPr/>
        <p:txBody>
          <a:bodyPr/>
          <a:lstStyle/>
          <a:p>
            <a:fld id="{C29557FE-AE73-4010-BA94-41F4BBBBBC1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22</a:t>
            </a:fld>
            <a:endParaRPr lang="zh-CN" altLang="en-US" dirty="0"/>
          </a:p>
        </p:txBody>
      </p:sp>
      <p:sp>
        <p:nvSpPr>
          <p:cNvPr id="7" name="TextBox 6"/>
          <p:cNvSpPr txBox="1"/>
          <p:nvPr/>
        </p:nvSpPr>
        <p:spPr>
          <a:xfrm>
            <a:off x="611560" y="1795416"/>
            <a:ext cx="3600400" cy="2631490"/>
          </a:xfrm>
          <a:prstGeom prst="rect">
            <a:avLst/>
          </a:prstGeom>
          <a:noFill/>
        </p:spPr>
        <p:txBody>
          <a:bodyPr wrap="square" rtlCol="0">
            <a:spAutoFit/>
          </a:bodyPr>
          <a:lstStyle/>
          <a:p>
            <a:pPr>
              <a:lnSpc>
                <a:spcPct val="125000"/>
              </a:lnSpc>
            </a:pPr>
            <a:r>
              <a:rPr lang="en-US" altLang="zh-CN" sz="2200" b="1" dirty="0" smtClean="0"/>
              <a:t>P0 </a:t>
            </a:r>
          </a:p>
          <a:p>
            <a:pPr>
              <a:lnSpc>
                <a:spcPct val="125000"/>
              </a:lnSpc>
            </a:pPr>
            <a:r>
              <a:rPr lang="en-US" altLang="zh-CN" sz="2200" b="1" dirty="0" smtClean="0">
                <a:solidFill>
                  <a:srgbClr val="0000FF"/>
                </a:solidFill>
              </a:rPr>
              <a:t>    flag[0</a:t>
            </a:r>
            <a:r>
              <a:rPr lang="en-US" altLang="zh-CN" sz="2200" b="1" dirty="0">
                <a:solidFill>
                  <a:srgbClr val="0000FF"/>
                </a:solidFill>
              </a:rPr>
              <a:t>]</a:t>
            </a:r>
            <a:r>
              <a:rPr lang="en-US" altLang="zh-CN" sz="2200" b="1" dirty="0"/>
              <a:t> = TRUE</a:t>
            </a:r>
            <a:r>
              <a:rPr lang="en-US" altLang="zh-CN" sz="2200" b="1" dirty="0" smtClean="0"/>
              <a:t>;   </a:t>
            </a:r>
            <a:r>
              <a:rPr lang="en-US" altLang="zh-CN" sz="2200" b="1" dirty="0" smtClean="0">
                <a:solidFill>
                  <a:srgbClr val="FF0000"/>
                </a:solidFill>
              </a:rPr>
              <a:t>turn = 1</a:t>
            </a:r>
            <a:r>
              <a:rPr lang="en-US" altLang="zh-CN" sz="2200" b="1" dirty="0" smtClean="0"/>
              <a:t>;   </a:t>
            </a:r>
          </a:p>
          <a:p>
            <a:pPr>
              <a:lnSpc>
                <a:spcPct val="125000"/>
              </a:lnSpc>
            </a:pPr>
            <a:r>
              <a:rPr lang="en-US" altLang="zh-CN" sz="2200" b="1" dirty="0" smtClean="0"/>
              <a:t>    while (</a:t>
            </a:r>
            <a:r>
              <a:rPr lang="en-US" altLang="zh-CN" sz="2200" b="1" dirty="0" smtClean="0">
                <a:solidFill>
                  <a:srgbClr val="0000FF"/>
                </a:solidFill>
              </a:rPr>
              <a:t>flag[1] </a:t>
            </a:r>
            <a:r>
              <a:rPr lang="en-US" altLang="zh-CN" sz="2200" b="1" dirty="0" smtClean="0"/>
              <a:t>&amp;&amp;</a:t>
            </a:r>
            <a:r>
              <a:rPr lang="en-US" altLang="zh-CN" sz="2200" b="1" dirty="0" smtClean="0">
                <a:solidFill>
                  <a:srgbClr val="0000FF"/>
                </a:solidFill>
              </a:rPr>
              <a:t> </a:t>
            </a:r>
            <a:r>
              <a:rPr lang="en-US" altLang="zh-CN" sz="2200" b="1" dirty="0" smtClean="0">
                <a:solidFill>
                  <a:srgbClr val="FF0000"/>
                </a:solidFill>
              </a:rPr>
              <a:t>turn ==1</a:t>
            </a:r>
            <a:r>
              <a:rPr lang="en-US" altLang="zh-CN" sz="2200" b="1" dirty="0" smtClean="0"/>
              <a:t>);</a:t>
            </a:r>
          </a:p>
          <a:p>
            <a:pPr>
              <a:lnSpc>
                <a:spcPct val="125000"/>
              </a:lnSpc>
            </a:pPr>
            <a:r>
              <a:rPr lang="en-US" altLang="zh-CN" sz="2200" b="1" dirty="0" smtClean="0">
                <a:solidFill>
                  <a:srgbClr val="FF0000"/>
                </a:solidFill>
              </a:rPr>
              <a:t>        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flag[0]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8" name="TextBox 7"/>
          <p:cNvSpPr txBox="1"/>
          <p:nvPr/>
        </p:nvSpPr>
        <p:spPr>
          <a:xfrm>
            <a:off x="4932040" y="1804208"/>
            <a:ext cx="3610744" cy="2631490"/>
          </a:xfrm>
          <a:prstGeom prst="rect">
            <a:avLst/>
          </a:prstGeom>
          <a:noFill/>
        </p:spPr>
        <p:txBody>
          <a:bodyPr wrap="square" rtlCol="0">
            <a:spAutoFit/>
          </a:bodyPr>
          <a:lstStyle/>
          <a:p>
            <a:pPr>
              <a:lnSpc>
                <a:spcPct val="125000"/>
              </a:lnSpc>
            </a:pPr>
            <a:r>
              <a:rPr lang="en-US" altLang="zh-CN" sz="2200" b="1" dirty="0" smtClean="0"/>
              <a:t>P1 </a:t>
            </a:r>
          </a:p>
          <a:p>
            <a:pPr>
              <a:lnSpc>
                <a:spcPct val="125000"/>
              </a:lnSpc>
            </a:pPr>
            <a:r>
              <a:rPr lang="en-US" altLang="zh-CN" sz="2200" b="1" dirty="0"/>
              <a:t> </a:t>
            </a:r>
            <a:r>
              <a:rPr lang="en-US" altLang="zh-CN" sz="2200" b="1" dirty="0" smtClean="0"/>
              <a:t>   </a:t>
            </a:r>
            <a:r>
              <a:rPr lang="en-US" altLang="zh-CN" sz="2200" b="1" dirty="0">
                <a:solidFill>
                  <a:srgbClr val="0000FF"/>
                </a:solidFill>
              </a:rPr>
              <a:t>flag[1]</a:t>
            </a:r>
            <a:r>
              <a:rPr lang="en-US" altLang="zh-CN" sz="2200" b="1" dirty="0"/>
              <a:t> = TRUE</a:t>
            </a:r>
            <a:r>
              <a:rPr lang="en-US" altLang="zh-CN" sz="2200" b="1" dirty="0" smtClean="0"/>
              <a:t>;  </a:t>
            </a:r>
            <a:r>
              <a:rPr lang="en-US" altLang="zh-CN" sz="2200" b="1" dirty="0" smtClean="0">
                <a:solidFill>
                  <a:srgbClr val="FF0000"/>
                </a:solidFill>
              </a:rPr>
              <a:t>turn = 0</a:t>
            </a:r>
            <a:r>
              <a:rPr lang="en-US" altLang="zh-CN" sz="2200" b="1" dirty="0" smtClean="0"/>
              <a:t>;</a:t>
            </a:r>
          </a:p>
          <a:p>
            <a:pPr>
              <a:lnSpc>
                <a:spcPct val="125000"/>
              </a:lnSpc>
            </a:pPr>
            <a:r>
              <a:rPr lang="en-US" altLang="zh-CN" sz="2200" b="1" dirty="0"/>
              <a:t> </a:t>
            </a:r>
            <a:r>
              <a:rPr lang="en-US" altLang="zh-CN" sz="2200" b="1" dirty="0" smtClean="0"/>
              <a:t>   while (</a:t>
            </a:r>
            <a:r>
              <a:rPr lang="en-US" altLang="zh-CN" sz="2200" b="1" dirty="0" smtClean="0">
                <a:solidFill>
                  <a:srgbClr val="0000FF"/>
                </a:solidFill>
              </a:rPr>
              <a:t>flag[0] </a:t>
            </a:r>
            <a:r>
              <a:rPr lang="en-US" altLang="zh-CN" sz="2200" b="1" dirty="0" smtClean="0"/>
              <a:t>&amp;&amp;</a:t>
            </a:r>
            <a:r>
              <a:rPr lang="en-US" altLang="zh-CN" sz="2200" b="1" dirty="0" smtClean="0">
                <a:solidFill>
                  <a:srgbClr val="0000FF"/>
                </a:solidFill>
              </a:rPr>
              <a:t> </a:t>
            </a:r>
            <a:r>
              <a:rPr lang="en-US" altLang="zh-CN" sz="2200" b="1" dirty="0" smtClean="0">
                <a:solidFill>
                  <a:srgbClr val="FF0000"/>
                </a:solidFill>
              </a:rPr>
              <a:t>turn ==0</a:t>
            </a:r>
            <a:r>
              <a:rPr lang="en-US" altLang="zh-CN" sz="2200" b="1" dirty="0" smtClean="0"/>
              <a:t>);</a:t>
            </a:r>
          </a:p>
          <a:p>
            <a:pPr>
              <a:lnSpc>
                <a:spcPct val="125000"/>
              </a:lnSpc>
            </a:pPr>
            <a:r>
              <a:rPr lang="en-US" altLang="zh-CN" sz="2200" b="1" dirty="0" smtClean="0">
                <a:solidFill>
                  <a:srgbClr val="FF0000"/>
                </a:solidFill>
              </a:rPr>
              <a:t>        critical section</a:t>
            </a:r>
          </a:p>
          <a:p>
            <a:pPr>
              <a:lnSpc>
                <a:spcPct val="125000"/>
              </a:lnSpc>
            </a:pPr>
            <a:r>
              <a:rPr lang="en-US" altLang="zh-CN" sz="2200" b="1" dirty="0"/>
              <a:t> </a:t>
            </a:r>
            <a:r>
              <a:rPr lang="en-US" altLang="zh-CN" sz="2200" b="1" dirty="0" smtClean="0"/>
              <a:t>   </a:t>
            </a:r>
            <a:r>
              <a:rPr lang="en-US" altLang="zh-CN" sz="2200" b="1" dirty="0" smtClean="0">
                <a:solidFill>
                  <a:srgbClr val="0000FF"/>
                </a:solidFill>
              </a:rPr>
              <a:t>flag[1] </a:t>
            </a:r>
            <a:r>
              <a:rPr lang="en-US" altLang="zh-CN" sz="2200" b="1" dirty="0" smtClean="0"/>
              <a:t>= FALSE;</a:t>
            </a:r>
          </a:p>
          <a:p>
            <a:pPr>
              <a:lnSpc>
                <a:spcPct val="125000"/>
              </a:lnSpc>
            </a:pPr>
            <a:r>
              <a:rPr lang="en-US" altLang="zh-CN" sz="2200" b="1" dirty="0"/>
              <a:t> </a:t>
            </a:r>
            <a:r>
              <a:rPr lang="en-US" altLang="zh-CN" sz="2200" b="1" dirty="0" smtClean="0"/>
              <a:t>       remainder section</a:t>
            </a:r>
            <a:endParaRPr lang="zh-CN" altLang="en-US" sz="2200" b="1" dirty="0"/>
          </a:p>
        </p:txBody>
      </p:sp>
      <p:sp>
        <p:nvSpPr>
          <p:cNvPr id="9" name="Rectangle 8"/>
          <p:cNvSpPr/>
          <p:nvPr/>
        </p:nvSpPr>
        <p:spPr>
          <a:xfrm>
            <a:off x="899592" y="2308264"/>
            <a:ext cx="3384376"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p:cNvSpPr/>
          <p:nvPr/>
        </p:nvSpPr>
        <p:spPr>
          <a:xfrm>
            <a:off x="899592" y="3532400"/>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p:nvPr/>
        </p:nvSpPr>
        <p:spPr>
          <a:xfrm>
            <a:off x="5220072" y="2308264"/>
            <a:ext cx="3384376" cy="792088"/>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p:cNvSpPr/>
          <p:nvPr/>
        </p:nvSpPr>
        <p:spPr>
          <a:xfrm>
            <a:off x="5220072" y="3532400"/>
            <a:ext cx="2016224" cy="360040"/>
          </a:xfrm>
          <a:prstGeom prst="rect">
            <a:avLst/>
          </a:prstGeom>
          <a:noFill/>
          <a:ln w="1270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62121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——Peterson’s Solution</a:t>
            </a:r>
            <a:endParaRPr lang="zh-CN" altLang="en-US" dirty="0"/>
          </a:p>
        </p:txBody>
      </p:sp>
      <p:sp>
        <p:nvSpPr>
          <p:cNvPr id="3" name="Content Placeholder 2"/>
          <p:cNvSpPr>
            <a:spLocks noGrp="1"/>
          </p:cNvSpPr>
          <p:nvPr>
            <p:ph idx="1"/>
          </p:nvPr>
        </p:nvSpPr>
        <p:spPr/>
        <p:txBody>
          <a:bodyPr/>
          <a:lstStyle/>
          <a:p>
            <a:r>
              <a:rPr lang="zh-CN" altLang="en-US" dirty="0"/>
              <a:t>三</a:t>
            </a:r>
            <a:r>
              <a:rPr lang="zh-CN" altLang="en-US" dirty="0" smtClean="0"/>
              <a:t>个根本问题需要思考</a:t>
            </a:r>
            <a:endParaRPr lang="en-US" altLang="zh-CN" dirty="0" smtClean="0"/>
          </a:p>
          <a:p>
            <a:pPr lvl="1"/>
            <a:r>
              <a:rPr lang="zh-CN" altLang="en-US" dirty="0"/>
              <a:t>是</a:t>
            </a:r>
            <a:r>
              <a:rPr lang="zh-CN" altLang="en-US" dirty="0" smtClean="0"/>
              <a:t>否最多只有一个进程进入临界区？</a:t>
            </a:r>
            <a:endParaRPr lang="en-US" altLang="zh-CN" dirty="0" smtClean="0"/>
          </a:p>
          <a:p>
            <a:pPr lvl="1"/>
            <a:r>
              <a:rPr lang="zh-CN" altLang="en-US" dirty="0"/>
              <a:t>是</a:t>
            </a:r>
            <a:r>
              <a:rPr lang="zh-CN" altLang="en-US" dirty="0" smtClean="0"/>
              <a:t>否会出现所有进程都无法进入临界区的情况？</a:t>
            </a:r>
            <a:endParaRPr lang="en-US" altLang="zh-CN" dirty="0" smtClean="0"/>
          </a:p>
          <a:p>
            <a:pPr lvl="1"/>
            <a:r>
              <a:rPr lang="zh-CN" altLang="en-US" dirty="0"/>
              <a:t>等</a:t>
            </a:r>
            <a:r>
              <a:rPr lang="zh-CN" altLang="en-US" dirty="0" smtClean="0"/>
              <a:t>待时间是否是有限的？（假设临界区内的执行时间有限）</a:t>
            </a:r>
            <a:endParaRPr lang="zh-CN" altLang="en-US" dirty="0"/>
          </a:p>
        </p:txBody>
      </p:sp>
      <p:sp>
        <p:nvSpPr>
          <p:cNvPr id="4" name="Date Placeholder 3"/>
          <p:cNvSpPr>
            <a:spLocks noGrp="1"/>
          </p:cNvSpPr>
          <p:nvPr>
            <p:ph type="dt" sz="half" idx="10"/>
          </p:nvPr>
        </p:nvSpPr>
        <p:spPr/>
        <p:txBody>
          <a:bodyPr/>
          <a:lstStyle/>
          <a:p>
            <a:fld id="{FA0A660F-48E0-4A23-9048-0B3CF5C2F63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23</a:t>
            </a:fld>
            <a:endParaRPr lang="zh-CN" altLang="en-US" dirty="0"/>
          </a:p>
        </p:txBody>
      </p:sp>
      <p:sp>
        <p:nvSpPr>
          <p:cNvPr id="7" name="TextBox 6"/>
          <p:cNvSpPr txBox="1"/>
          <p:nvPr/>
        </p:nvSpPr>
        <p:spPr>
          <a:xfrm>
            <a:off x="1547664" y="4509120"/>
            <a:ext cx="6048672" cy="461665"/>
          </a:xfrm>
          <a:prstGeom prst="rect">
            <a:avLst/>
          </a:prstGeom>
          <a:noFill/>
        </p:spPr>
        <p:txBody>
          <a:bodyPr wrap="square" rtlCol="0">
            <a:spAutoFit/>
          </a:bodyPr>
          <a:lstStyle/>
          <a:p>
            <a:r>
              <a:rPr lang="zh-CN" altLang="en-US" sz="2400" b="1" dirty="0" smtClean="0">
                <a:solidFill>
                  <a:schemeClr val="bg1">
                    <a:lumMod val="50000"/>
                  </a:schemeClr>
                </a:solidFill>
                <a:latin typeface="黑体" panose="02010609060101010101" pitchFamily="49" charset="-122"/>
                <a:ea typeface="黑体" panose="02010609060101010101" pitchFamily="49" charset="-122"/>
              </a:rPr>
              <a:t>忙则等待？    空闲让进？    有限等待？</a:t>
            </a:r>
            <a:endParaRPr lang="zh-CN" altLang="en-US" sz="2400" b="1" dirty="0">
              <a:solidFill>
                <a:schemeClr val="bg1">
                  <a:lumMod val="50000"/>
                </a:schemeClr>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4209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——Peterson’s Solution</a:t>
            </a:r>
            <a:endParaRPr lang="zh-CN" altLang="en-US" dirty="0"/>
          </a:p>
        </p:txBody>
      </p:sp>
      <p:sp>
        <p:nvSpPr>
          <p:cNvPr id="3" name="Content Placeholder 2"/>
          <p:cNvSpPr>
            <a:spLocks noGrp="1"/>
          </p:cNvSpPr>
          <p:nvPr>
            <p:ph idx="1"/>
          </p:nvPr>
        </p:nvSpPr>
        <p:spPr/>
        <p:txBody>
          <a:bodyPr/>
          <a:lstStyle/>
          <a:p>
            <a:r>
              <a:rPr lang="zh-CN" altLang="en-US" dirty="0" smtClean="0">
                <a:solidFill>
                  <a:srgbClr val="00B050"/>
                </a:solidFill>
              </a:rPr>
              <a:t>最多只有一个进程进入临界区</a:t>
            </a:r>
            <a:endParaRPr lang="en-US" altLang="zh-CN" dirty="0" smtClean="0">
              <a:solidFill>
                <a:srgbClr val="00B050"/>
              </a:solidFill>
            </a:endParaRPr>
          </a:p>
          <a:p>
            <a:r>
              <a:rPr lang="zh-CN" altLang="en-US" dirty="0">
                <a:solidFill>
                  <a:srgbClr val="0000FF"/>
                </a:solidFill>
              </a:rPr>
              <a:t>证</a:t>
            </a:r>
            <a:r>
              <a:rPr lang="zh-CN" altLang="en-US" dirty="0" smtClean="0">
                <a:solidFill>
                  <a:srgbClr val="0000FF"/>
                </a:solidFill>
              </a:rPr>
              <a:t>明思路</a:t>
            </a:r>
            <a:endParaRPr lang="en-US" altLang="zh-CN" dirty="0" smtClean="0">
              <a:solidFill>
                <a:srgbClr val="0000FF"/>
              </a:solidFill>
            </a:endParaRPr>
          </a:p>
          <a:p>
            <a:pPr lvl="1"/>
            <a:r>
              <a:rPr lang="zh-CN" altLang="en-US" dirty="0" smtClean="0"/>
              <a:t>如果</a:t>
            </a:r>
            <a:r>
              <a:rPr lang="en-US" altLang="zh-CN" dirty="0" smtClean="0"/>
              <a:t>P0</a:t>
            </a:r>
            <a:r>
              <a:rPr lang="zh-CN" altLang="en-US" dirty="0" smtClean="0"/>
              <a:t>能够进入</a:t>
            </a:r>
            <a:r>
              <a:rPr lang="en-US" altLang="zh-CN" dirty="0" smtClean="0"/>
              <a:t>CS</a:t>
            </a:r>
            <a:r>
              <a:rPr lang="zh-CN" altLang="en-US" dirty="0" smtClean="0"/>
              <a:t>，</a:t>
            </a:r>
            <a:r>
              <a:rPr lang="en-US" altLang="zh-CN" dirty="0" smtClean="0"/>
              <a:t>flag[1]==FALSE </a:t>
            </a:r>
            <a:r>
              <a:rPr lang="zh-CN" altLang="en-US" dirty="0" smtClean="0"/>
              <a:t>或 </a:t>
            </a:r>
            <a:r>
              <a:rPr lang="en-US" altLang="zh-CN" dirty="0" smtClean="0"/>
              <a:t>turn==0</a:t>
            </a:r>
          </a:p>
          <a:p>
            <a:pPr lvl="1"/>
            <a:r>
              <a:rPr lang="zh-CN" altLang="en-US" dirty="0"/>
              <a:t>如</a:t>
            </a:r>
            <a:r>
              <a:rPr lang="zh-CN" altLang="en-US" dirty="0" smtClean="0"/>
              <a:t>果</a:t>
            </a:r>
            <a:r>
              <a:rPr lang="en-US" altLang="zh-CN" dirty="0" smtClean="0"/>
              <a:t>P1</a:t>
            </a:r>
            <a:r>
              <a:rPr lang="zh-CN" altLang="en-US" dirty="0" smtClean="0"/>
              <a:t>能够进入</a:t>
            </a:r>
            <a:r>
              <a:rPr lang="en-US" altLang="zh-CN" dirty="0" smtClean="0"/>
              <a:t>CS</a:t>
            </a:r>
            <a:r>
              <a:rPr lang="zh-CN" altLang="en-US" dirty="0" smtClean="0"/>
              <a:t>，</a:t>
            </a:r>
            <a:r>
              <a:rPr lang="en-US" altLang="zh-CN" dirty="0" smtClean="0"/>
              <a:t>flag[0]==FALSE </a:t>
            </a:r>
            <a:r>
              <a:rPr lang="zh-CN" altLang="en-US" dirty="0" smtClean="0"/>
              <a:t>或 </a:t>
            </a:r>
            <a:r>
              <a:rPr lang="en-US" altLang="zh-CN" dirty="0" smtClean="0"/>
              <a:t>turn==1</a:t>
            </a:r>
            <a:r>
              <a:rPr lang="zh-CN" altLang="en-US" dirty="0" smtClean="0"/>
              <a:t> </a:t>
            </a:r>
            <a:endParaRPr lang="en-US" altLang="zh-CN" dirty="0" smtClean="0"/>
          </a:p>
          <a:p>
            <a:pPr lvl="1"/>
            <a:r>
              <a:rPr lang="zh-CN" altLang="en-US" dirty="0"/>
              <a:t>如</a:t>
            </a:r>
            <a:r>
              <a:rPr lang="zh-CN" altLang="en-US" dirty="0" smtClean="0"/>
              <a:t>果</a:t>
            </a:r>
            <a:r>
              <a:rPr lang="en-US" altLang="zh-CN" dirty="0" smtClean="0"/>
              <a:t>P0</a:t>
            </a:r>
            <a:r>
              <a:rPr lang="zh-CN" altLang="en-US" dirty="0" smtClean="0"/>
              <a:t>和</a:t>
            </a:r>
            <a:r>
              <a:rPr lang="en-US" altLang="zh-CN" dirty="0" smtClean="0"/>
              <a:t>P1</a:t>
            </a:r>
            <a:r>
              <a:rPr lang="zh-CN" altLang="en-US" dirty="0"/>
              <a:t>同</a:t>
            </a:r>
            <a:r>
              <a:rPr lang="zh-CN" altLang="en-US" dirty="0" smtClean="0"/>
              <a:t>时进入</a:t>
            </a:r>
            <a:r>
              <a:rPr lang="en-US" altLang="zh-CN" dirty="0" smtClean="0"/>
              <a:t>CS</a:t>
            </a:r>
            <a:r>
              <a:rPr lang="zh-CN" altLang="en-US" dirty="0" smtClean="0"/>
              <a:t>，可知</a:t>
            </a:r>
            <a:r>
              <a:rPr lang="en-US" altLang="zh-CN" dirty="0" smtClean="0"/>
              <a:t>flag[0]==flag[1]==TRUE</a:t>
            </a:r>
          </a:p>
          <a:p>
            <a:pPr lvl="1"/>
            <a:r>
              <a:rPr lang="zh-CN" altLang="en-US" dirty="0"/>
              <a:t>那</a:t>
            </a:r>
            <a:r>
              <a:rPr lang="zh-CN" altLang="en-US" dirty="0" smtClean="0"/>
              <a:t>么，</a:t>
            </a:r>
            <a:r>
              <a:rPr lang="en-US" altLang="zh-CN" dirty="0" smtClean="0"/>
              <a:t>turn==0 </a:t>
            </a:r>
            <a:r>
              <a:rPr lang="zh-CN" altLang="en-US" dirty="0" smtClean="0"/>
              <a:t>和 </a:t>
            </a:r>
            <a:r>
              <a:rPr lang="en-US" altLang="zh-CN" dirty="0" smtClean="0"/>
              <a:t>turn==1</a:t>
            </a:r>
            <a:r>
              <a:rPr lang="zh-CN" altLang="en-US" dirty="0" smtClean="0"/>
              <a:t>同时成立，矛盾！</a:t>
            </a:r>
            <a:endParaRPr lang="en-US" altLang="zh-CN" dirty="0" smtClean="0"/>
          </a:p>
          <a:p>
            <a:pPr lvl="1"/>
            <a:endParaRPr lang="en-US" altLang="zh-CN" dirty="0"/>
          </a:p>
          <a:p>
            <a:pPr lvl="1"/>
            <a:r>
              <a:rPr lang="zh-CN" altLang="en-US" dirty="0" smtClean="0"/>
              <a:t>如果</a:t>
            </a:r>
            <a:r>
              <a:rPr lang="en-US" altLang="zh-CN" dirty="0" smtClean="0"/>
              <a:t>P0</a:t>
            </a:r>
            <a:r>
              <a:rPr lang="zh-CN" altLang="en-US" dirty="0" smtClean="0"/>
              <a:t>进入了</a:t>
            </a:r>
            <a:r>
              <a:rPr lang="en-US" altLang="zh-CN" dirty="0" smtClean="0"/>
              <a:t>CS</a:t>
            </a:r>
            <a:r>
              <a:rPr lang="zh-CN" altLang="en-US" dirty="0" smtClean="0"/>
              <a:t>，则 </a:t>
            </a:r>
            <a:r>
              <a:rPr lang="en-US" altLang="zh-CN" dirty="0" smtClean="0"/>
              <a:t>flag[0] == TRUE</a:t>
            </a:r>
            <a:r>
              <a:rPr lang="zh-CN" altLang="en-US" dirty="0" smtClean="0"/>
              <a:t>，</a:t>
            </a:r>
            <a:r>
              <a:rPr lang="en-US" altLang="zh-CN" dirty="0" smtClean="0"/>
              <a:t>P1</a:t>
            </a:r>
            <a:r>
              <a:rPr lang="zh-CN" altLang="en-US" dirty="0" smtClean="0"/>
              <a:t>在进入</a:t>
            </a:r>
            <a:r>
              <a:rPr lang="en-US" altLang="zh-CN" dirty="0" smtClean="0"/>
              <a:t>while</a:t>
            </a:r>
            <a:r>
              <a:rPr lang="zh-CN" altLang="en-US" dirty="0" smtClean="0"/>
              <a:t>检测之前，必然设置</a:t>
            </a:r>
            <a:r>
              <a:rPr lang="en-US" altLang="zh-CN" dirty="0" smtClean="0"/>
              <a:t>turn</a:t>
            </a:r>
            <a:r>
              <a:rPr lang="zh-CN" altLang="en-US" dirty="0" smtClean="0"/>
              <a:t>为</a:t>
            </a:r>
            <a:r>
              <a:rPr lang="en-US" altLang="zh-CN" dirty="0" smtClean="0"/>
              <a:t>0</a:t>
            </a:r>
            <a:r>
              <a:rPr lang="zh-CN" altLang="en-US" dirty="0" smtClean="0"/>
              <a:t>，那么</a:t>
            </a:r>
            <a:r>
              <a:rPr lang="en-US" altLang="zh-CN" dirty="0" smtClean="0"/>
              <a:t>P1</a:t>
            </a:r>
            <a:r>
              <a:rPr lang="zh-CN" altLang="en-US" dirty="0" smtClean="0"/>
              <a:t>将一直被阻止，直到</a:t>
            </a:r>
            <a:r>
              <a:rPr lang="en-US" altLang="zh-CN" dirty="0" smtClean="0"/>
              <a:t>P0</a:t>
            </a:r>
            <a:r>
              <a:rPr lang="zh-CN" altLang="en-US" dirty="0" smtClean="0"/>
              <a:t>退出</a:t>
            </a:r>
            <a:r>
              <a:rPr lang="en-US" altLang="zh-CN" dirty="0" smtClean="0"/>
              <a:t>CS</a:t>
            </a:r>
            <a:r>
              <a:rPr lang="zh-CN" altLang="en-US" dirty="0" smtClean="0"/>
              <a:t>，将</a:t>
            </a:r>
            <a:r>
              <a:rPr lang="en-US" altLang="zh-CN" dirty="0" smtClean="0"/>
              <a:t>flag[0]</a:t>
            </a:r>
            <a:r>
              <a:rPr lang="zh-CN" altLang="en-US" dirty="0" smtClean="0"/>
              <a:t>设置为</a:t>
            </a:r>
            <a:r>
              <a:rPr lang="en-US" altLang="zh-CN" dirty="0" smtClean="0"/>
              <a:t>FALSE</a:t>
            </a:r>
            <a:endParaRPr lang="zh-CN" altLang="en-US" dirty="0"/>
          </a:p>
        </p:txBody>
      </p:sp>
      <p:sp>
        <p:nvSpPr>
          <p:cNvPr id="4" name="Date Placeholder 3"/>
          <p:cNvSpPr>
            <a:spLocks noGrp="1"/>
          </p:cNvSpPr>
          <p:nvPr>
            <p:ph type="dt" sz="half" idx="10"/>
          </p:nvPr>
        </p:nvSpPr>
        <p:spPr/>
        <p:txBody>
          <a:bodyPr/>
          <a:lstStyle/>
          <a:p>
            <a:fld id="{5CF1EFA9-D51F-4908-9205-3830552FB3E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24</a:t>
            </a:fld>
            <a:endParaRPr lang="zh-CN" altLang="en-US" dirty="0"/>
          </a:p>
        </p:txBody>
      </p:sp>
    </p:spTree>
    <p:extLst>
      <p:ext uri="{BB962C8B-B14F-4D97-AF65-F5344CB8AC3E}">
        <p14:creationId xmlns:p14="http://schemas.microsoft.com/office/powerpoint/2010/main" val="32739564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软件方法</a:t>
            </a:r>
            <a:r>
              <a:rPr lang="en-US" altLang="zh-CN" dirty="0"/>
              <a:t>——Peterson’s Solution</a:t>
            </a:r>
            <a:endParaRPr lang="zh-CN" altLang="en-US" dirty="0"/>
          </a:p>
        </p:txBody>
      </p:sp>
      <p:sp>
        <p:nvSpPr>
          <p:cNvPr id="3" name="Content Placeholder 2"/>
          <p:cNvSpPr>
            <a:spLocks noGrp="1"/>
          </p:cNvSpPr>
          <p:nvPr>
            <p:ph idx="1"/>
          </p:nvPr>
        </p:nvSpPr>
        <p:spPr/>
        <p:txBody>
          <a:bodyPr>
            <a:normAutofit fontScale="85000" lnSpcReduction="10000"/>
          </a:bodyPr>
          <a:lstStyle/>
          <a:p>
            <a:r>
              <a:rPr lang="zh-CN" altLang="en-US" dirty="0" smtClean="0">
                <a:solidFill>
                  <a:srgbClr val="00B050"/>
                </a:solidFill>
              </a:rPr>
              <a:t>如果临界区空闲，有等待进程能够进入临界区</a:t>
            </a:r>
            <a:endParaRPr lang="en-US" altLang="zh-CN" dirty="0" smtClean="0">
              <a:solidFill>
                <a:srgbClr val="00B050"/>
              </a:solidFill>
            </a:endParaRPr>
          </a:p>
          <a:p>
            <a:r>
              <a:rPr lang="zh-CN" altLang="en-US" dirty="0">
                <a:solidFill>
                  <a:srgbClr val="00B050"/>
                </a:solidFill>
              </a:rPr>
              <a:t>有</a:t>
            </a:r>
            <a:r>
              <a:rPr lang="zh-CN" altLang="en-US" dirty="0" smtClean="0">
                <a:solidFill>
                  <a:srgbClr val="00B050"/>
                </a:solidFill>
              </a:rPr>
              <a:t>限等待时间（某个进程不会一直等待）</a:t>
            </a:r>
            <a:endParaRPr lang="en-US" altLang="zh-CN" dirty="0" smtClean="0">
              <a:solidFill>
                <a:srgbClr val="00B050"/>
              </a:solidFill>
            </a:endParaRPr>
          </a:p>
          <a:p>
            <a:r>
              <a:rPr lang="zh-CN" altLang="en-US" dirty="0">
                <a:solidFill>
                  <a:srgbClr val="0000FF"/>
                </a:solidFill>
              </a:rPr>
              <a:t>证</a:t>
            </a:r>
            <a:r>
              <a:rPr lang="zh-CN" altLang="en-US" dirty="0" smtClean="0">
                <a:solidFill>
                  <a:srgbClr val="0000FF"/>
                </a:solidFill>
              </a:rPr>
              <a:t>明思路</a:t>
            </a:r>
            <a:endParaRPr lang="en-US" altLang="zh-CN" dirty="0" smtClean="0">
              <a:solidFill>
                <a:srgbClr val="0000FF"/>
              </a:solidFill>
            </a:endParaRPr>
          </a:p>
          <a:p>
            <a:pPr lvl="1"/>
            <a:r>
              <a:rPr lang="zh-CN" altLang="en-US" dirty="0" smtClean="0"/>
              <a:t>如果</a:t>
            </a:r>
            <a:r>
              <a:rPr lang="en-US" altLang="zh-CN" dirty="0" smtClean="0"/>
              <a:t>P0</a:t>
            </a:r>
            <a:r>
              <a:rPr lang="zh-CN" altLang="en-US" dirty="0" smtClean="0"/>
              <a:t>在进行</a:t>
            </a:r>
            <a:r>
              <a:rPr lang="en-US" altLang="zh-CN" dirty="0" smtClean="0"/>
              <a:t>while</a:t>
            </a:r>
            <a:r>
              <a:rPr lang="zh-CN" altLang="en-US" dirty="0" smtClean="0"/>
              <a:t>检测的时候，</a:t>
            </a:r>
            <a:r>
              <a:rPr lang="en-US" altLang="zh-CN" dirty="0" smtClean="0"/>
              <a:t>P1</a:t>
            </a:r>
            <a:r>
              <a:rPr lang="zh-CN" altLang="en-US" dirty="0" smtClean="0"/>
              <a:t>没有准备进入</a:t>
            </a:r>
            <a:r>
              <a:rPr lang="en-US" altLang="zh-CN" dirty="0" smtClean="0"/>
              <a:t>CS</a:t>
            </a:r>
            <a:r>
              <a:rPr lang="zh-CN" altLang="en-US" dirty="0" smtClean="0"/>
              <a:t>，那么</a:t>
            </a:r>
            <a:r>
              <a:rPr lang="en-US" altLang="zh-CN" dirty="0" smtClean="0"/>
              <a:t>flag[1]==FALSE</a:t>
            </a:r>
            <a:r>
              <a:rPr lang="zh-CN" altLang="en-US" dirty="0" smtClean="0"/>
              <a:t>，</a:t>
            </a:r>
            <a:r>
              <a:rPr lang="en-US" altLang="zh-CN" dirty="0" smtClean="0"/>
              <a:t>P0</a:t>
            </a:r>
            <a:r>
              <a:rPr lang="zh-CN" altLang="en-US" dirty="0" smtClean="0"/>
              <a:t>可以进入</a:t>
            </a:r>
            <a:endParaRPr lang="en-US" altLang="zh-CN" dirty="0" smtClean="0"/>
          </a:p>
          <a:p>
            <a:pPr lvl="1"/>
            <a:r>
              <a:rPr lang="zh-CN" altLang="en-US" dirty="0"/>
              <a:t>如</a:t>
            </a:r>
            <a:r>
              <a:rPr lang="zh-CN" altLang="en-US" dirty="0" smtClean="0"/>
              <a:t>果此时</a:t>
            </a:r>
            <a:r>
              <a:rPr lang="en-US" altLang="zh-CN" dirty="0" smtClean="0"/>
              <a:t>P1</a:t>
            </a:r>
            <a:r>
              <a:rPr lang="zh-CN" altLang="en-US" dirty="0" smtClean="0"/>
              <a:t>也准备进入</a:t>
            </a:r>
            <a:r>
              <a:rPr lang="en-US" altLang="zh-CN" dirty="0" smtClean="0"/>
              <a:t>CS</a:t>
            </a:r>
            <a:r>
              <a:rPr lang="zh-CN" altLang="en-US" dirty="0" smtClean="0"/>
              <a:t>，并已经将</a:t>
            </a:r>
            <a:r>
              <a:rPr lang="en-US" altLang="zh-CN" dirty="0" smtClean="0"/>
              <a:t>flag[1]</a:t>
            </a:r>
            <a:r>
              <a:rPr lang="zh-CN" altLang="en-US" dirty="0" smtClean="0"/>
              <a:t>设置为</a:t>
            </a:r>
            <a:r>
              <a:rPr lang="en-US" altLang="zh-CN" dirty="0" smtClean="0"/>
              <a:t>TRUE</a:t>
            </a:r>
            <a:r>
              <a:rPr lang="zh-CN" altLang="en-US" dirty="0" smtClean="0"/>
              <a:t>，那么</a:t>
            </a:r>
            <a:r>
              <a:rPr lang="en-US" altLang="zh-CN" dirty="0" smtClean="0"/>
              <a:t>P0</a:t>
            </a:r>
            <a:r>
              <a:rPr lang="zh-CN" altLang="en-US" dirty="0" smtClean="0"/>
              <a:t>和</a:t>
            </a:r>
            <a:r>
              <a:rPr lang="en-US" altLang="zh-CN" dirty="0" smtClean="0"/>
              <a:t>P1</a:t>
            </a:r>
            <a:r>
              <a:rPr lang="zh-CN" altLang="en-US" dirty="0" smtClean="0"/>
              <a:t>都将继续设置</a:t>
            </a:r>
            <a:r>
              <a:rPr lang="en-US" altLang="zh-CN" dirty="0" smtClean="0"/>
              <a:t>turn</a:t>
            </a:r>
            <a:r>
              <a:rPr lang="zh-CN" altLang="en-US" dirty="0" smtClean="0"/>
              <a:t>，最终</a:t>
            </a:r>
            <a:r>
              <a:rPr lang="en-US" altLang="zh-CN" dirty="0" smtClean="0"/>
              <a:t>turn</a:t>
            </a:r>
            <a:r>
              <a:rPr lang="zh-CN" altLang="en-US" dirty="0" smtClean="0"/>
              <a:t>要么等于</a:t>
            </a:r>
            <a:r>
              <a:rPr lang="en-US" altLang="zh-CN" dirty="0" smtClean="0"/>
              <a:t>0</a:t>
            </a:r>
            <a:r>
              <a:rPr lang="zh-CN" altLang="en-US" dirty="0" smtClean="0"/>
              <a:t>，要么等于</a:t>
            </a:r>
            <a:r>
              <a:rPr lang="en-US" altLang="zh-CN" dirty="0" smtClean="0"/>
              <a:t>1</a:t>
            </a:r>
            <a:r>
              <a:rPr lang="zh-CN" altLang="en-US" dirty="0" smtClean="0"/>
              <a:t>，对应的进程将进入</a:t>
            </a:r>
            <a:r>
              <a:rPr lang="en-US" altLang="zh-CN" dirty="0" smtClean="0"/>
              <a:t>CS</a:t>
            </a:r>
            <a:r>
              <a:rPr lang="zh-CN" altLang="en-US" dirty="0" smtClean="0"/>
              <a:t>，另外一个进程等待</a:t>
            </a:r>
            <a:endParaRPr lang="en-US" altLang="zh-CN" dirty="0" smtClean="0"/>
          </a:p>
          <a:p>
            <a:pPr lvl="1"/>
            <a:endParaRPr lang="en-US" altLang="zh-CN" dirty="0"/>
          </a:p>
          <a:p>
            <a:pPr lvl="1"/>
            <a:r>
              <a:rPr lang="en-US" altLang="zh-CN" dirty="0" smtClean="0"/>
              <a:t>P0</a:t>
            </a:r>
            <a:r>
              <a:rPr lang="zh-CN" altLang="en-US" dirty="0" smtClean="0"/>
              <a:t>退出后，将</a:t>
            </a:r>
            <a:r>
              <a:rPr lang="en-US" altLang="zh-CN" dirty="0" smtClean="0"/>
              <a:t>flag[0]</a:t>
            </a:r>
            <a:r>
              <a:rPr lang="zh-CN" altLang="en-US" dirty="0" smtClean="0"/>
              <a:t>设置为</a:t>
            </a:r>
            <a:r>
              <a:rPr lang="en-US" altLang="zh-CN" dirty="0" smtClean="0"/>
              <a:t>FALSE</a:t>
            </a:r>
            <a:r>
              <a:rPr lang="zh-CN" altLang="en-US" dirty="0" smtClean="0"/>
              <a:t>，因而</a:t>
            </a:r>
            <a:r>
              <a:rPr lang="en-US" altLang="zh-CN" dirty="0" smtClean="0"/>
              <a:t>P1</a:t>
            </a:r>
            <a:r>
              <a:rPr lang="zh-CN" altLang="en-US" dirty="0" smtClean="0"/>
              <a:t>有机会进入</a:t>
            </a:r>
            <a:r>
              <a:rPr lang="en-US" altLang="zh-CN" dirty="0" smtClean="0"/>
              <a:t>CS</a:t>
            </a:r>
          </a:p>
          <a:p>
            <a:pPr lvl="1"/>
            <a:r>
              <a:rPr lang="zh-CN" altLang="en-US" dirty="0"/>
              <a:t>如</a:t>
            </a:r>
            <a:r>
              <a:rPr lang="zh-CN" altLang="en-US" dirty="0" smtClean="0"/>
              <a:t>果</a:t>
            </a:r>
            <a:r>
              <a:rPr lang="en-US" altLang="zh-CN" dirty="0" smtClean="0"/>
              <a:t>P0</a:t>
            </a:r>
            <a:r>
              <a:rPr lang="zh-CN" altLang="en-US" dirty="0" smtClean="0"/>
              <a:t>马上将</a:t>
            </a:r>
            <a:r>
              <a:rPr lang="en-US" altLang="zh-CN" dirty="0" smtClean="0"/>
              <a:t>flag[0]</a:t>
            </a:r>
            <a:r>
              <a:rPr lang="zh-CN" altLang="en-US" dirty="0" smtClean="0"/>
              <a:t>设置为</a:t>
            </a:r>
            <a:r>
              <a:rPr lang="en-US" altLang="zh-CN" dirty="0" smtClean="0"/>
              <a:t>TRUE</a:t>
            </a:r>
            <a:r>
              <a:rPr lang="zh-CN" altLang="en-US" dirty="0" smtClean="0"/>
              <a:t>，</a:t>
            </a:r>
            <a:r>
              <a:rPr lang="en-US" altLang="zh-CN" dirty="0" smtClean="0"/>
              <a:t>P1</a:t>
            </a:r>
            <a:r>
              <a:rPr lang="zh-CN" altLang="en-US" dirty="0" smtClean="0"/>
              <a:t>将无法从</a:t>
            </a:r>
            <a:r>
              <a:rPr lang="en-US" altLang="zh-CN" dirty="0" smtClean="0"/>
              <a:t>while</a:t>
            </a:r>
            <a:r>
              <a:rPr lang="zh-CN" altLang="en-US" dirty="0" smtClean="0"/>
              <a:t>循环退出。但是，</a:t>
            </a:r>
            <a:r>
              <a:rPr lang="en-US" altLang="zh-CN" dirty="0" smtClean="0"/>
              <a:t>P0</a:t>
            </a:r>
            <a:r>
              <a:rPr lang="zh-CN" altLang="en-US" dirty="0" smtClean="0"/>
              <a:t>一定将继续把</a:t>
            </a:r>
            <a:r>
              <a:rPr lang="en-US" altLang="zh-CN" dirty="0" smtClean="0"/>
              <a:t>turn</a:t>
            </a:r>
            <a:r>
              <a:rPr lang="zh-CN" altLang="en-US" dirty="0" smtClean="0"/>
              <a:t>设置为</a:t>
            </a:r>
            <a:r>
              <a:rPr lang="en-US" altLang="zh-CN" dirty="0" smtClean="0"/>
              <a:t>1</a:t>
            </a:r>
            <a:r>
              <a:rPr lang="zh-CN" altLang="en-US" dirty="0" smtClean="0"/>
              <a:t>，从而使</a:t>
            </a:r>
            <a:r>
              <a:rPr lang="en-US" altLang="zh-CN" dirty="0" smtClean="0"/>
              <a:t>P1</a:t>
            </a:r>
            <a:r>
              <a:rPr lang="zh-CN" altLang="en-US" dirty="0" smtClean="0"/>
              <a:t>可以从</a:t>
            </a:r>
            <a:r>
              <a:rPr lang="en-US" altLang="zh-CN" dirty="0" smtClean="0"/>
              <a:t>while</a:t>
            </a:r>
            <a:r>
              <a:rPr lang="zh-CN" altLang="en-US" dirty="0" smtClean="0"/>
              <a:t>检测退出</a:t>
            </a:r>
            <a:endParaRPr lang="en-US" altLang="zh-CN" dirty="0" smtClean="0"/>
          </a:p>
          <a:p>
            <a:pPr lvl="1"/>
            <a:r>
              <a:rPr lang="zh-CN" altLang="en-US" dirty="0"/>
              <a:t>此</a:t>
            </a:r>
            <a:r>
              <a:rPr lang="zh-CN" altLang="en-US" dirty="0" smtClean="0"/>
              <a:t>时，</a:t>
            </a:r>
            <a:r>
              <a:rPr lang="en-US" altLang="zh-CN" dirty="0" smtClean="0"/>
              <a:t>flag[1]==TRUE</a:t>
            </a:r>
            <a:r>
              <a:rPr lang="zh-CN" altLang="en-US" dirty="0" smtClean="0"/>
              <a:t>且</a:t>
            </a:r>
            <a:r>
              <a:rPr lang="en-US" altLang="zh-CN" dirty="0" smtClean="0"/>
              <a:t>turn==1</a:t>
            </a:r>
            <a:r>
              <a:rPr lang="zh-CN" altLang="en-US" dirty="0" smtClean="0"/>
              <a:t>，</a:t>
            </a:r>
            <a:r>
              <a:rPr lang="en-US" altLang="zh-CN" dirty="0" smtClean="0"/>
              <a:t>P0</a:t>
            </a:r>
            <a:r>
              <a:rPr lang="zh-CN" altLang="en-US" dirty="0" smtClean="0"/>
              <a:t>一定阻塞在</a:t>
            </a:r>
            <a:r>
              <a:rPr lang="en-US" altLang="zh-CN" dirty="0" smtClean="0"/>
              <a:t>while</a:t>
            </a:r>
            <a:r>
              <a:rPr lang="zh-CN" altLang="en-US" dirty="0" smtClean="0"/>
              <a:t>循环里</a:t>
            </a:r>
            <a:endParaRPr lang="zh-CN" altLang="en-US" dirty="0"/>
          </a:p>
        </p:txBody>
      </p:sp>
      <p:sp>
        <p:nvSpPr>
          <p:cNvPr id="4" name="Date Placeholder 3"/>
          <p:cNvSpPr>
            <a:spLocks noGrp="1"/>
          </p:cNvSpPr>
          <p:nvPr>
            <p:ph type="dt" sz="half" idx="10"/>
          </p:nvPr>
        </p:nvSpPr>
        <p:spPr/>
        <p:txBody>
          <a:bodyPr/>
          <a:lstStyle/>
          <a:p>
            <a:fld id="{E70C1497-9475-4BC8-A274-42F0C38EA12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25</a:t>
            </a:fld>
            <a:endParaRPr lang="zh-CN" altLang="en-US" dirty="0"/>
          </a:p>
        </p:txBody>
      </p:sp>
    </p:spTree>
    <p:extLst>
      <p:ext uri="{BB962C8B-B14F-4D97-AF65-F5344CB8AC3E}">
        <p14:creationId xmlns:p14="http://schemas.microsoft.com/office/powerpoint/2010/main" val="14130636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软件方法总结</a:t>
            </a:r>
            <a:endParaRPr lang="zh-CN" altLang="en-US" dirty="0"/>
          </a:p>
        </p:txBody>
      </p:sp>
      <p:sp>
        <p:nvSpPr>
          <p:cNvPr id="3" name="Content Placeholder 2"/>
          <p:cNvSpPr>
            <a:spLocks noGrp="1"/>
          </p:cNvSpPr>
          <p:nvPr>
            <p:ph idx="1"/>
          </p:nvPr>
        </p:nvSpPr>
        <p:spPr/>
        <p:txBody>
          <a:bodyPr/>
          <a:lstStyle/>
          <a:p>
            <a:r>
              <a:rPr lang="zh-CN" altLang="en-US" dirty="0" smtClean="0"/>
              <a:t>软件方法的共同问题</a:t>
            </a:r>
            <a:endParaRPr lang="en-US" altLang="zh-CN" dirty="0" smtClean="0"/>
          </a:p>
          <a:p>
            <a:pPr lvl="1"/>
            <a:endParaRPr lang="en-US" altLang="zh-CN" dirty="0" smtClean="0"/>
          </a:p>
          <a:p>
            <a:pPr lvl="1"/>
            <a:r>
              <a:rPr lang="zh-CN" altLang="en-US" dirty="0" smtClean="0"/>
              <a:t>容易出错（程序员自行解决，缺少统一方法）</a:t>
            </a:r>
            <a:endParaRPr lang="en-US" altLang="zh-CN" dirty="0" smtClean="0"/>
          </a:p>
          <a:p>
            <a:pPr lvl="1"/>
            <a:endParaRPr lang="en-US" altLang="zh-CN" dirty="0" smtClean="0"/>
          </a:p>
          <a:p>
            <a:pPr lvl="1"/>
            <a:r>
              <a:rPr lang="zh-CN" altLang="en-US" dirty="0" smtClean="0"/>
              <a:t>规模可伸缩性差（扩展到多个进程普遍存在问题）</a:t>
            </a:r>
            <a:endParaRPr lang="zh-CN" altLang="en-US" dirty="0"/>
          </a:p>
        </p:txBody>
      </p:sp>
      <p:sp>
        <p:nvSpPr>
          <p:cNvPr id="4" name="Date Placeholder 3"/>
          <p:cNvSpPr>
            <a:spLocks noGrp="1"/>
          </p:cNvSpPr>
          <p:nvPr>
            <p:ph type="dt" sz="half" idx="10"/>
          </p:nvPr>
        </p:nvSpPr>
        <p:spPr/>
        <p:txBody>
          <a:bodyPr/>
          <a:lstStyle/>
          <a:p>
            <a:fld id="{CF1A7729-C953-4490-94C0-CFD945D4DE9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26</a:t>
            </a:fld>
            <a:endParaRPr lang="zh-CN" altLang="en-US" dirty="0"/>
          </a:p>
        </p:txBody>
      </p:sp>
    </p:spTree>
    <p:extLst>
      <p:ext uri="{BB962C8B-B14F-4D97-AF65-F5344CB8AC3E}">
        <p14:creationId xmlns:p14="http://schemas.microsoft.com/office/powerpoint/2010/main" val="4793865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a:solidFill>
                  <a:srgbClr val="FF3300"/>
                </a:solidFill>
              </a:rPr>
              <a:t>互</a:t>
            </a:r>
            <a:r>
              <a:rPr lang="zh-CN" altLang="en-US" dirty="0" smtClean="0">
                <a:solidFill>
                  <a:srgbClr val="FF3300"/>
                </a:solidFill>
              </a:rPr>
              <a:t>斥问题及其解决办法</a:t>
            </a:r>
            <a:endParaRPr lang="en-US" altLang="zh-CN" dirty="0" smtClean="0">
              <a:solidFill>
                <a:srgbClr val="FF3300"/>
              </a:solidFill>
            </a:endParaRPr>
          </a:p>
          <a:p>
            <a:pPr lvl="1"/>
            <a:r>
              <a:rPr lang="zh-CN" altLang="en-US" dirty="0">
                <a:solidFill>
                  <a:schemeClr val="bg1">
                    <a:lumMod val="75000"/>
                  </a:schemeClr>
                </a:solidFill>
              </a:rPr>
              <a:t>软件办法（应用程序员搞定）</a:t>
            </a:r>
            <a:endParaRPr lang="en-US" altLang="zh-CN" dirty="0">
              <a:solidFill>
                <a:schemeClr val="bg1">
                  <a:lumMod val="75000"/>
                </a:schemeClr>
              </a:solidFill>
            </a:endParaRPr>
          </a:p>
          <a:p>
            <a:pPr lvl="1"/>
            <a:r>
              <a:rPr lang="zh-CN" altLang="en-US" dirty="0">
                <a:solidFill>
                  <a:srgbClr val="FF3300"/>
                </a:solidFill>
              </a:rPr>
              <a:t>硬件办</a:t>
            </a:r>
            <a:r>
              <a:rPr lang="zh-CN" altLang="en-US" dirty="0" smtClean="0">
                <a:solidFill>
                  <a:srgbClr val="FF3300"/>
                </a:solidFill>
              </a:rPr>
              <a:t>法（处理器设计者搞定）</a:t>
            </a:r>
            <a:endParaRPr lang="en-US" altLang="zh-CN" dirty="0">
              <a:solidFill>
                <a:srgbClr val="FF3300"/>
              </a:solidFill>
            </a:endParaRPr>
          </a:p>
          <a:p>
            <a:pPr lvl="1"/>
            <a:r>
              <a:rPr lang="zh-CN" altLang="en-US" dirty="0">
                <a:solidFill>
                  <a:schemeClr val="bg1">
                    <a:lumMod val="75000"/>
                  </a:schemeClr>
                </a:solidFill>
              </a:rPr>
              <a:t>信号</a:t>
            </a:r>
            <a:r>
              <a:rPr lang="zh-CN" altLang="en-US" dirty="0" smtClean="0">
                <a:solidFill>
                  <a:schemeClr val="bg1">
                    <a:lumMod val="75000"/>
                  </a:schemeClr>
                </a:solidFill>
              </a:rPr>
              <a:t>量方法（操作系统搞定）</a:t>
            </a:r>
            <a:endParaRPr lang="en-US" altLang="zh-CN" dirty="0" smtClean="0">
              <a:solidFill>
                <a:schemeClr val="bg1">
                  <a:lumMod val="75000"/>
                </a:schemeClr>
              </a:solidFill>
            </a:endParaRPr>
          </a:p>
          <a:p>
            <a:r>
              <a:rPr lang="zh-CN" altLang="en-US" dirty="0" smtClean="0">
                <a:solidFill>
                  <a:schemeClr val="bg1">
                    <a:lumMod val="75000"/>
                  </a:schemeClr>
                </a:solidFill>
              </a:rPr>
              <a:t>信号量</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3E7DA82D-A184-4C81-81E2-C9FC8C2F53C2}"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27</a:t>
            </a:fld>
            <a:endParaRPr lang="zh-CN" altLang="en-US" dirty="0"/>
          </a:p>
        </p:txBody>
      </p:sp>
    </p:spTree>
    <p:extLst>
      <p:ext uri="{BB962C8B-B14F-4D97-AF65-F5344CB8AC3E}">
        <p14:creationId xmlns:p14="http://schemas.microsoft.com/office/powerpoint/2010/main" val="38309703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回顾软件方法的问题</a:t>
            </a:r>
            <a:endParaRPr lang="zh-CN" altLang="en-US" dirty="0"/>
          </a:p>
        </p:txBody>
      </p:sp>
      <p:sp>
        <p:nvSpPr>
          <p:cNvPr id="3" name="Content Placeholder 2"/>
          <p:cNvSpPr>
            <a:spLocks noGrp="1"/>
          </p:cNvSpPr>
          <p:nvPr>
            <p:ph idx="1"/>
          </p:nvPr>
        </p:nvSpPr>
        <p:spPr/>
        <p:txBody>
          <a:bodyPr/>
          <a:lstStyle/>
          <a:p>
            <a:r>
              <a:rPr lang="zh-CN" altLang="en-US" dirty="0" smtClean="0"/>
              <a:t>根本原因</a:t>
            </a:r>
            <a:endParaRPr lang="en-US" altLang="zh-CN" dirty="0" smtClean="0"/>
          </a:p>
          <a:p>
            <a:pPr lvl="1"/>
            <a:r>
              <a:rPr lang="zh-CN" altLang="en-US" dirty="0" smtClean="0"/>
              <a:t>无法不中断的对“锁”变量完成连续的读和写操作</a:t>
            </a:r>
            <a:endParaRPr lang="en-US" altLang="zh-CN" dirty="0" smtClean="0"/>
          </a:p>
          <a:p>
            <a:endParaRPr lang="en-US" altLang="zh-CN" dirty="0"/>
          </a:p>
          <a:p>
            <a:r>
              <a:rPr lang="zh-CN" altLang="en-US" dirty="0" smtClean="0"/>
              <a:t>硬件方法的主要思路</a:t>
            </a:r>
            <a:endParaRPr lang="en-US" altLang="zh-CN" dirty="0" smtClean="0"/>
          </a:p>
          <a:p>
            <a:pPr lvl="1"/>
            <a:r>
              <a:rPr lang="zh-CN" altLang="en-US" dirty="0" smtClean="0"/>
              <a:t>从硬件机制上，保证对“锁”变量连续读写操作不被打断</a:t>
            </a:r>
            <a:endParaRPr lang="zh-CN" altLang="en-US" dirty="0"/>
          </a:p>
        </p:txBody>
      </p:sp>
      <p:sp>
        <p:nvSpPr>
          <p:cNvPr id="4" name="Date Placeholder 3"/>
          <p:cNvSpPr>
            <a:spLocks noGrp="1"/>
          </p:cNvSpPr>
          <p:nvPr>
            <p:ph type="dt" sz="half" idx="10"/>
          </p:nvPr>
        </p:nvSpPr>
        <p:spPr/>
        <p:txBody>
          <a:bodyPr/>
          <a:lstStyle/>
          <a:p>
            <a:fld id="{12728408-465E-40E9-83CE-171EE99E47A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28</a:t>
            </a:fld>
            <a:endParaRPr lang="zh-CN" altLang="en-US" dirty="0"/>
          </a:p>
        </p:txBody>
      </p:sp>
    </p:spTree>
    <p:extLst>
      <p:ext uri="{BB962C8B-B14F-4D97-AF65-F5344CB8AC3E}">
        <p14:creationId xmlns:p14="http://schemas.microsoft.com/office/powerpoint/2010/main" val="20455682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硬件方法</a:t>
            </a:r>
            <a:r>
              <a:rPr lang="en-US" altLang="zh-CN" dirty="0" smtClean="0"/>
              <a:t>——</a:t>
            </a:r>
            <a:r>
              <a:rPr lang="zh-CN" altLang="en-US" dirty="0" smtClean="0"/>
              <a:t>屏蔽中断</a:t>
            </a:r>
            <a:endParaRPr lang="zh-CN" altLang="en-US" dirty="0"/>
          </a:p>
        </p:txBody>
      </p:sp>
      <p:sp>
        <p:nvSpPr>
          <p:cNvPr id="3" name="Content Placeholder 2"/>
          <p:cNvSpPr>
            <a:spLocks noGrp="1"/>
          </p:cNvSpPr>
          <p:nvPr>
            <p:ph idx="1"/>
          </p:nvPr>
        </p:nvSpPr>
        <p:spPr/>
        <p:txBody>
          <a:bodyPr>
            <a:normAutofit/>
          </a:bodyPr>
          <a:lstStyle/>
          <a:p>
            <a:r>
              <a:rPr lang="zh-CN" altLang="en-US" dirty="0" smtClean="0"/>
              <a:t>出发点：</a:t>
            </a:r>
            <a:r>
              <a:rPr lang="zh-CN" altLang="en-US" dirty="0" smtClean="0">
                <a:solidFill>
                  <a:srgbClr val="0000FF"/>
                </a:solidFill>
              </a:rPr>
              <a:t>禁止访问互斥区的过程被打断</a:t>
            </a:r>
            <a:endParaRPr lang="en-US" altLang="zh-CN" dirty="0" smtClean="0">
              <a:solidFill>
                <a:srgbClr val="0000FF"/>
              </a:solidFill>
            </a:endParaRPr>
          </a:p>
          <a:p>
            <a:r>
              <a:rPr lang="zh-CN" altLang="en-US" dirty="0" smtClean="0"/>
              <a:t>几乎所有的处理器都提供开关中断的指令</a:t>
            </a:r>
            <a:endParaRPr lang="en-US" altLang="zh-CN" dirty="0" smtClean="0"/>
          </a:p>
          <a:p>
            <a:r>
              <a:rPr lang="zh-CN" altLang="en-US" dirty="0"/>
              <a:t>互斥</a:t>
            </a:r>
            <a:r>
              <a:rPr lang="zh-CN" altLang="en-US" dirty="0" smtClean="0"/>
              <a:t>区保护方法</a:t>
            </a:r>
            <a:endParaRPr lang="en-US" altLang="zh-CN" dirty="0" smtClean="0"/>
          </a:p>
          <a:p>
            <a:endParaRPr lang="en-US" altLang="zh-CN" dirty="0"/>
          </a:p>
          <a:p>
            <a:endParaRPr lang="en-US" altLang="zh-CN" dirty="0" smtClean="0"/>
          </a:p>
          <a:p>
            <a:endParaRPr lang="en-US" altLang="zh-CN" dirty="0"/>
          </a:p>
          <a:p>
            <a:r>
              <a:rPr lang="zh-CN" altLang="en-US" dirty="0" smtClean="0"/>
              <a:t>主要问题</a:t>
            </a:r>
            <a:endParaRPr lang="en-US" altLang="zh-CN" dirty="0" smtClean="0"/>
          </a:p>
          <a:p>
            <a:pPr lvl="1"/>
            <a:r>
              <a:rPr lang="zh-CN" altLang="en-US" dirty="0"/>
              <a:t>互斥</a:t>
            </a:r>
            <a:r>
              <a:rPr lang="zh-CN" altLang="en-US" dirty="0" smtClean="0"/>
              <a:t>区访问时间长，这期间一直关闭中断，降低了系统的响应性，代价太高</a:t>
            </a:r>
            <a:endParaRPr lang="en-US" altLang="zh-CN" dirty="0"/>
          </a:p>
          <a:p>
            <a:endParaRPr lang="en-US" altLang="zh-CN" dirty="0" smtClean="0"/>
          </a:p>
          <a:p>
            <a:endParaRPr lang="en-US" altLang="zh-CN" dirty="0"/>
          </a:p>
          <a:p>
            <a:endParaRPr lang="en-US" altLang="zh-CN" dirty="0" smtClean="0"/>
          </a:p>
          <a:p>
            <a:endParaRPr lang="zh-CN" altLang="en-US" dirty="0"/>
          </a:p>
        </p:txBody>
      </p:sp>
      <p:sp>
        <p:nvSpPr>
          <p:cNvPr id="4" name="Date Placeholder 3"/>
          <p:cNvSpPr>
            <a:spLocks noGrp="1"/>
          </p:cNvSpPr>
          <p:nvPr>
            <p:ph type="dt" sz="half" idx="10"/>
          </p:nvPr>
        </p:nvSpPr>
        <p:spPr/>
        <p:txBody>
          <a:bodyPr/>
          <a:lstStyle/>
          <a:p>
            <a:fld id="{0711795D-8F5A-4E20-92C1-B13DE37936B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29</a:t>
            </a:fld>
            <a:endParaRPr lang="zh-CN" altLang="en-US" dirty="0"/>
          </a:p>
        </p:txBody>
      </p:sp>
      <p:sp>
        <p:nvSpPr>
          <p:cNvPr id="7" name="TextBox 6"/>
          <p:cNvSpPr txBox="1"/>
          <p:nvPr/>
        </p:nvSpPr>
        <p:spPr>
          <a:xfrm>
            <a:off x="2987824" y="3447460"/>
            <a:ext cx="3024336" cy="1015663"/>
          </a:xfrm>
          <a:prstGeom prst="rect">
            <a:avLst/>
          </a:prstGeom>
          <a:noFill/>
          <a:ln>
            <a:solidFill>
              <a:srgbClr val="0000FF"/>
            </a:solidFill>
          </a:ln>
        </p:spPr>
        <p:txBody>
          <a:bodyPr wrap="square" rtlCol="0">
            <a:spAutoFit/>
          </a:bodyPr>
          <a:lstStyle/>
          <a:p>
            <a:r>
              <a:rPr lang="zh-CN" altLang="en-US" sz="2000" b="1" dirty="0" smtClean="0">
                <a:latin typeface="楷体" pitchFamily="49" charset="-122"/>
                <a:ea typeface="楷体" pitchFamily="49" charset="-122"/>
              </a:rPr>
              <a:t>执行“</a:t>
            </a:r>
            <a:r>
              <a:rPr lang="zh-CN" altLang="en-US" sz="2000" b="1" dirty="0" smtClean="0">
                <a:solidFill>
                  <a:srgbClr val="0000FF"/>
                </a:solidFill>
                <a:latin typeface="楷体" pitchFamily="49" charset="-122"/>
                <a:ea typeface="楷体" pitchFamily="49" charset="-122"/>
              </a:rPr>
              <a:t>关闭中断</a:t>
            </a:r>
            <a:r>
              <a:rPr lang="zh-CN" altLang="en-US" sz="2000" b="1" dirty="0" smtClean="0">
                <a:latin typeface="楷体" pitchFamily="49" charset="-122"/>
                <a:ea typeface="楷体" pitchFamily="49" charset="-122"/>
              </a:rPr>
              <a:t>”指令</a:t>
            </a:r>
            <a:endParaRPr lang="en-US" altLang="zh-CN" sz="2000" b="1" dirty="0" smtClean="0">
              <a:latin typeface="楷体" pitchFamily="49" charset="-122"/>
              <a:ea typeface="楷体" pitchFamily="49" charset="-122"/>
            </a:endParaRPr>
          </a:p>
          <a:p>
            <a:r>
              <a:rPr lang="en-US" altLang="zh-CN" sz="2000" b="1" dirty="0" smtClean="0">
                <a:latin typeface="楷体" pitchFamily="49" charset="-122"/>
                <a:ea typeface="楷体" pitchFamily="49" charset="-122"/>
              </a:rPr>
              <a:t>    /*  </a:t>
            </a:r>
            <a:r>
              <a:rPr lang="zh-CN" altLang="en-US" sz="2000" b="1" dirty="0" smtClean="0">
                <a:latin typeface="楷体" pitchFamily="49" charset="-122"/>
                <a:ea typeface="楷体" pitchFamily="49" charset="-122"/>
              </a:rPr>
              <a:t>互斥区访问  </a:t>
            </a:r>
            <a:r>
              <a:rPr lang="en-US" altLang="zh-CN" sz="2000" b="1" dirty="0" smtClean="0">
                <a:latin typeface="楷体" pitchFamily="49" charset="-122"/>
                <a:ea typeface="楷体" pitchFamily="49" charset="-122"/>
              </a:rPr>
              <a:t>*/</a:t>
            </a:r>
          </a:p>
          <a:p>
            <a:r>
              <a:rPr lang="zh-CN" altLang="en-US" sz="2000" b="1" dirty="0" smtClean="0">
                <a:latin typeface="楷体" pitchFamily="49" charset="-122"/>
                <a:ea typeface="楷体" pitchFamily="49" charset="-122"/>
              </a:rPr>
              <a:t>执行“</a:t>
            </a:r>
            <a:r>
              <a:rPr lang="zh-CN" altLang="en-US" sz="2000" b="1" dirty="0" smtClean="0">
                <a:solidFill>
                  <a:srgbClr val="0000FF"/>
                </a:solidFill>
                <a:latin typeface="楷体" pitchFamily="49" charset="-122"/>
                <a:ea typeface="楷体" pitchFamily="49" charset="-122"/>
              </a:rPr>
              <a:t>打开中断</a:t>
            </a:r>
            <a:r>
              <a:rPr lang="zh-CN" altLang="en-US" sz="2000" b="1" dirty="0" smtClean="0">
                <a:latin typeface="楷体" pitchFamily="49" charset="-122"/>
                <a:ea typeface="楷体" pitchFamily="49" charset="-122"/>
              </a:rPr>
              <a:t>”指令</a:t>
            </a:r>
            <a:endParaRPr lang="zh-CN" altLang="en-US" sz="2000" b="1" dirty="0">
              <a:latin typeface="楷体" pitchFamily="49" charset="-122"/>
              <a:ea typeface="楷体" pitchFamily="49" charset="-122"/>
            </a:endParaRPr>
          </a:p>
        </p:txBody>
      </p:sp>
    </p:spTree>
    <p:extLst>
      <p:ext uri="{BB962C8B-B14F-4D97-AF65-F5344CB8AC3E}">
        <p14:creationId xmlns:p14="http://schemas.microsoft.com/office/powerpoint/2010/main" val="4345423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硬件方法</a:t>
            </a:r>
            <a:r>
              <a:rPr lang="en-US" altLang="zh-CN" dirty="0" smtClean="0"/>
              <a:t>——TS</a:t>
            </a:r>
            <a:r>
              <a:rPr lang="zh-CN" altLang="en-US" dirty="0" smtClean="0"/>
              <a:t>指令</a:t>
            </a:r>
            <a:endParaRPr lang="zh-CN" altLang="en-US" dirty="0"/>
          </a:p>
        </p:txBody>
      </p:sp>
      <p:sp>
        <p:nvSpPr>
          <p:cNvPr id="3" name="内容占位符 2"/>
          <p:cNvSpPr>
            <a:spLocks noGrp="1"/>
          </p:cNvSpPr>
          <p:nvPr>
            <p:ph idx="1"/>
          </p:nvPr>
        </p:nvSpPr>
        <p:spPr>
          <a:xfrm>
            <a:off x="628650" y="1212096"/>
            <a:ext cx="7886700" cy="4917600"/>
          </a:xfrm>
        </p:spPr>
        <p:txBody>
          <a:bodyPr/>
          <a:lstStyle/>
          <a:p>
            <a:r>
              <a:rPr lang="en-US" altLang="zh-CN" dirty="0" smtClean="0"/>
              <a:t>Test-and-Set</a:t>
            </a:r>
            <a:r>
              <a:rPr lang="zh-CN" altLang="en-US" dirty="0" smtClean="0"/>
              <a:t>指令</a:t>
            </a:r>
            <a:r>
              <a:rPr lang="en-US" altLang="zh-CN" dirty="0" smtClean="0"/>
              <a:t>——</a:t>
            </a:r>
            <a:r>
              <a:rPr lang="zh-CN" altLang="en-US" dirty="0" smtClean="0">
                <a:solidFill>
                  <a:srgbClr val="FF0000"/>
                </a:solidFill>
              </a:rPr>
              <a:t>具有原子性</a:t>
            </a:r>
            <a:endParaRPr lang="en-US" altLang="zh-CN" dirty="0" smtClean="0">
              <a:solidFill>
                <a:srgbClr val="FF0000"/>
              </a:solidFill>
            </a:endParaRPr>
          </a:p>
          <a:p>
            <a:endParaRPr lang="en-US" altLang="zh-CN" dirty="0"/>
          </a:p>
          <a:p>
            <a:endParaRPr lang="en-US" altLang="zh-CN" dirty="0" smtClean="0"/>
          </a:p>
          <a:p>
            <a:endParaRPr lang="en-US" altLang="zh-CN" dirty="0"/>
          </a:p>
          <a:p>
            <a:r>
              <a:rPr lang="zh-CN" altLang="en-US" dirty="0" smtClean="0"/>
              <a:t>采用</a:t>
            </a:r>
            <a:r>
              <a:rPr lang="en-US" altLang="zh-CN" dirty="0" smtClean="0"/>
              <a:t>TS</a:t>
            </a:r>
            <a:r>
              <a:rPr lang="zh-CN" altLang="en-US" dirty="0" smtClean="0"/>
              <a:t>指令对互斥区访问进行维护的方法</a:t>
            </a:r>
            <a:endParaRPr lang="zh-CN" altLang="en-US" dirty="0"/>
          </a:p>
        </p:txBody>
      </p:sp>
      <p:sp>
        <p:nvSpPr>
          <p:cNvPr id="4" name="日期占位符 3"/>
          <p:cNvSpPr>
            <a:spLocks noGrp="1"/>
          </p:cNvSpPr>
          <p:nvPr>
            <p:ph type="dt" sz="half" idx="10"/>
          </p:nvPr>
        </p:nvSpPr>
        <p:spPr/>
        <p:txBody>
          <a:bodyPr/>
          <a:lstStyle/>
          <a:p>
            <a:fld id="{7BAA8B62-B15F-4D92-8143-57510E6615AA}"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30</a:t>
            </a:fld>
            <a:endParaRPr lang="zh-CN" altLang="en-US" dirty="0"/>
          </a:p>
        </p:txBody>
      </p:sp>
      <p:sp>
        <p:nvSpPr>
          <p:cNvPr id="7" name="TextBox 6"/>
          <p:cNvSpPr txBox="1"/>
          <p:nvPr/>
        </p:nvSpPr>
        <p:spPr>
          <a:xfrm>
            <a:off x="2339752" y="1771737"/>
            <a:ext cx="4248472" cy="1754326"/>
          </a:xfrm>
          <a:prstGeom prst="rect">
            <a:avLst/>
          </a:prstGeom>
          <a:noFill/>
          <a:ln>
            <a:solidFill>
              <a:srgbClr val="0000FF"/>
            </a:solidFill>
          </a:ln>
        </p:spPr>
        <p:txBody>
          <a:bodyPr wrap="square" rtlCol="0">
            <a:spAutoFit/>
          </a:bodyPr>
          <a:lstStyle/>
          <a:p>
            <a:pPr lvl="1"/>
            <a:r>
              <a:rPr lang="en-US" altLang="zh-CN" b="1" dirty="0" err="1"/>
              <a:t>boolean</a:t>
            </a:r>
            <a:r>
              <a:rPr lang="en-US" altLang="zh-CN" b="1" dirty="0"/>
              <a:t> </a:t>
            </a:r>
            <a:r>
              <a:rPr lang="en-US" altLang="zh-CN" b="1" dirty="0" smtClean="0"/>
              <a:t>TS (</a:t>
            </a:r>
            <a:r>
              <a:rPr lang="en-US" altLang="zh-CN" b="1" dirty="0" err="1"/>
              <a:t>boolean</a:t>
            </a:r>
            <a:r>
              <a:rPr lang="en-US" altLang="zh-CN" b="1" dirty="0"/>
              <a:t> *lock) {</a:t>
            </a:r>
          </a:p>
          <a:p>
            <a:pPr lvl="1"/>
            <a:r>
              <a:rPr lang="en-US" altLang="zh-CN" b="1" dirty="0"/>
              <a:t>  </a:t>
            </a:r>
            <a:r>
              <a:rPr lang="en-US" altLang="zh-CN" b="1" dirty="0" smtClean="0"/>
              <a:t>   </a:t>
            </a:r>
            <a:r>
              <a:rPr lang="en-US" altLang="zh-CN" b="1" dirty="0" err="1" smtClean="0"/>
              <a:t>boolean</a:t>
            </a:r>
            <a:r>
              <a:rPr lang="en-US" altLang="zh-CN" b="1" dirty="0" smtClean="0"/>
              <a:t> </a:t>
            </a:r>
            <a:r>
              <a:rPr lang="en-US" altLang="zh-CN" b="1" dirty="0"/>
              <a:t>old;</a:t>
            </a:r>
          </a:p>
          <a:p>
            <a:pPr lvl="1"/>
            <a:r>
              <a:rPr lang="en-US" altLang="zh-CN" b="1" dirty="0"/>
              <a:t>  </a:t>
            </a:r>
            <a:r>
              <a:rPr lang="en-US" altLang="zh-CN" b="1" dirty="0" smtClean="0"/>
              <a:t>   old </a:t>
            </a:r>
            <a:r>
              <a:rPr lang="en-US" altLang="zh-CN" b="1" dirty="0"/>
              <a:t>= *lock;  </a:t>
            </a:r>
            <a:endParaRPr lang="en-US" altLang="zh-CN" b="1" dirty="0" smtClean="0"/>
          </a:p>
          <a:p>
            <a:pPr lvl="1"/>
            <a:r>
              <a:rPr lang="en-US" altLang="zh-CN" b="1" dirty="0"/>
              <a:t> </a:t>
            </a:r>
            <a:r>
              <a:rPr lang="en-US" altLang="zh-CN" b="1" dirty="0" smtClean="0"/>
              <a:t>    *</a:t>
            </a:r>
            <a:r>
              <a:rPr lang="en-US" altLang="zh-CN" b="1" dirty="0"/>
              <a:t>lock = TRUE;</a:t>
            </a:r>
          </a:p>
          <a:p>
            <a:pPr lvl="1"/>
            <a:r>
              <a:rPr lang="en-US" altLang="zh-CN" b="1" dirty="0"/>
              <a:t>  </a:t>
            </a:r>
            <a:r>
              <a:rPr lang="en-US" altLang="zh-CN" b="1" dirty="0" smtClean="0"/>
              <a:t>   return </a:t>
            </a:r>
            <a:r>
              <a:rPr lang="en-US" altLang="zh-CN" b="1" dirty="0"/>
              <a:t>old;</a:t>
            </a:r>
          </a:p>
          <a:p>
            <a:pPr lvl="1"/>
            <a:r>
              <a:rPr lang="en-US" altLang="zh-CN" b="1" dirty="0" smtClean="0"/>
              <a:t>}</a:t>
            </a:r>
            <a:endParaRPr lang="en-US" altLang="zh-CN" b="1" dirty="0"/>
          </a:p>
        </p:txBody>
      </p:sp>
      <p:sp>
        <p:nvSpPr>
          <p:cNvPr id="8" name="TextBox 7"/>
          <p:cNvSpPr txBox="1"/>
          <p:nvPr/>
        </p:nvSpPr>
        <p:spPr>
          <a:xfrm>
            <a:off x="2339752" y="4129392"/>
            <a:ext cx="4248472" cy="1754326"/>
          </a:xfrm>
          <a:prstGeom prst="rect">
            <a:avLst/>
          </a:prstGeom>
          <a:noFill/>
          <a:ln>
            <a:solidFill>
              <a:srgbClr val="0000FF"/>
            </a:solidFill>
          </a:ln>
        </p:spPr>
        <p:txBody>
          <a:bodyPr wrap="square" rtlCol="0">
            <a:spAutoFit/>
          </a:bodyPr>
          <a:lstStyle/>
          <a:p>
            <a:pPr lvl="1"/>
            <a:r>
              <a:rPr lang="en-US" altLang="zh-CN" b="1" dirty="0" smtClean="0"/>
              <a:t>Do {</a:t>
            </a:r>
          </a:p>
          <a:p>
            <a:pPr lvl="1"/>
            <a:r>
              <a:rPr lang="en-US" altLang="zh-CN" b="1" dirty="0"/>
              <a:t> </a:t>
            </a:r>
            <a:r>
              <a:rPr lang="en-US" altLang="zh-CN" b="1" dirty="0" smtClean="0"/>
              <a:t>       while (TS(&amp;lock));</a:t>
            </a:r>
          </a:p>
          <a:p>
            <a:pPr lvl="1"/>
            <a:r>
              <a:rPr lang="en-US" altLang="zh-CN" b="1" dirty="0"/>
              <a:t> </a:t>
            </a:r>
            <a:r>
              <a:rPr lang="en-US" altLang="zh-CN" b="1" dirty="0" smtClean="0"/>
              <a:t>               /* Critical Section */</a:t>
            </a:r>
          </a:p>
          <a:p>
            <a:pPr lvl="1"/>
            <a:r>
              <a:rPr lang="en-US" altLang="zh-CN" b="1" dirty="0"/>
              <a:t> </a:t>
            </a:r>
            <a:r>
              <a:rPr lang="en-US" altLang="zh-CN" b="1" dirty="0" smtClean="0"/>
              <a:t>       lock = FALSE;</a:t>
            </a:r>
          </a:p>
          <a:p>
            <a:pPr lvl="1"/>
            <a:r>
              <a:rPr lang="en-US" altLang="zh-CN" b="1" dirty="0"/>
              <a:t> </a:t>
            </a:r>
            <a:r>
              <a:rPr lang="en-US" altLang="zh-CN" b="1" dirty="0" smtClean="0"/>
              <a:t>               /* remainder section */</a:t>
            </a:r>
          </a:p>
          <a:p>
            <a:pPr lvl="1"/>
            <a:r>
              <a:rPr lang="en-US" altLang="zh-CN" b="1" dirty="0" smtClean="0"/>
              <a:t>} while (TRUE)</a:t>
            </a:r>
            <a:endParaRPr lang="en-US" altLang="zh-CN" b="1" dirty="0"/>
          </a:p>
        </p:txBody>
      </p:sp>
      <p:sp>
        <p:nvSpPr>
          <p:cNvPr id="9" name="TextBox 8"/>
          <p:cNvSpPr txBox="1"/>
          <p:nvPr/>
        </p:nvSpPr>
        <p:spPr>
          <a:xfrm>
            <a:off x="6620607" y="1978270"/>
            <a:ext cx="2382715" cy="1346907"/>
          </a:xfrm>
          <a:prstGeom prst="rect">
            <a:avLst/>
          </a:prstGeom>
          <a:noFill/>
        </p:spPr>
        <p:txBody>
          <a:bodyPr wrap="square" rtlCol="0">
            <a:spAutoFit/>
          </a:bodyPr>
          <a:lstStyle/>
          <a:p>
            <a:pPr>
              <a:lnSpc>
                <a:spcPct val="150000"/>
              </a:lnSpc>
              <a:buFont typeface="Wingdings" pitchFamily="2" charset="2"/>
              <a:buChar char="Ø"/>
            </a:pPr>
            <a:r>
              <a:rPr lang="zh-CN" altLang="en-US" sz="1400" dirty="0" smtClean="0">
                <a:latin typeface="微软雅黑" pitchFamily="34" charset="-122"/>
                <a:ea typeface="微软雅黑" pitchFamily="34" charset="-122"/>
              </a:rPr>
              <a:t>当*</a:t>
            </a:r>
            <a:r>
              <a:rPr lang="en-US" altLang="zh-CN" sz="1400" dirty="0" smtClean="0">
                <a:latin typeface="微软雅黑" pitchFamily="34" charset="-122"/>
                <a:ea typeface="微软雅黑" pitchFamily="34" charset="-122"/>
              </a:rPr>
              <a:t>lock==FALSE</a:t>
            </a:r>
            <a:r>
              <a:rPr lang="zh-CN" altLang="en-US" sz="1400" dirty="0" smtClean="0">
                <a:latin typeface="微软雅黑" pitchFamily="34" charset="-122"/>
                <a:ea typeface="微软雅黑" pitchFamily="34" charset="-122"/>
              </a:rPr>
              <a:t>时，表示该资源空闲；</a:t>
            </a:r>
            <a:endParaRPr lang="en-US" altLang="zh-CN" sz="1400" dirty="0" smtClean="0">
              <a:latin typeface="微软雅黑" pitchFamily="34" charset="-122"/>
              <a:ea typeface="微软雅黑" pitchFamily="34" charset="-122"/>
            </a:endParaRPr>
          </a:p>
          <a:p>
            <a:pPr>
              <a:lnSpc>
                <a:spcPct val="150000"/>
              </a:lnSpc>
              <a:buFont typeface="Wingdings" pitchFamily="2" charset="2"/>
              <a:buChar char="Ø"/>
            </a:pPr>
            <a:r>
              <a:rPr lang="zh-CN" altLang="en-US" sz="1400" dirty="0" smtClean="0">
                <a:latin typeface="微软雅黑" pitchFamily="34" charset="-122"/>
                <a:ea typeface="微软雅黑" pitchFamily="34" charset="-122"/>
              </a:rPr>
              <a:t>当*</a:t>
            </a:r>
            <a:r>
              <a:rPr lang="en-US" altLang="zh-CN" sz="1400" dirty="0" smtClean="0">
                <a:latin typeface="微软雅黑" pitchFamily="34" charset="-122"/>
                <a:ea typeface="微软雅黑" pitchFamily="34" charset="-122"/>
              </a:rPr>
              <a:t>lock==TRUE</a:t>
            </a:r>
            <a:r>
              <a:rPr lang="zh-CN" altLang="en-US" sz="1400" dirty="0" smtClean="0">
                <a:latin typeface="微软雅黑" pitchFamily="34" charset="-122"/>
                <a:ea typeface="微软雅黑" pitchFamily="34" charset="-122"/>
              </a:rPr>
              <a:t>时，表示该资源在被使用。</a:t>
            </a:r>
            <a:endParaRPr lang="zh-CN" altLang="en-US" sz="1400" dirty="0">
              <a:latin typeface="微软雅黑" pitchFamily="34" charset="-122"/>
              <a:ea typeface="微软雅黑" pitchFamily="34" charset="-122"/>
            </a:endParaRPr>
          </a:p>
        </p:txBody>
      </p:sp>
    </p:spTree>
    <p:extLst>
      <p:ext uri="{BB962C8B-B14F-4D97-AF65-F5344CB8AC3E}">
        <p14:creationId xmlns:p14="http://schemas.microsoft.com/office/powerpoint/2010/main" val="42385348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硬件方法</a:t>
            </a:r>
            <a:r>
              <a:rPr lang="en-US" altLang="zh-CN" dirty="0" smtClean="0"/>
              <a:t>——SWAP</a:t>
            </a:r>
            <a:r>
              <a:rPr lang="zh-CN" altLang="en-US" dirty="0" smtClean="0"/>
              <a:t>指令</a:t>
            </a:r>
            <a:endParaRPr lang="zh-CN" altLang="en-US" dirty="0"/>
          </a:p>
        </p:txBody>
      </p:sp>
      <p:sp>
        <p:nvSpPr>
          <p:cNvPr id="3" name="内容占位符 2"/>
          <p:cNvSpPr>
            <a:spLocks noGrp="1"/>
          </p:cNvSpPr>
          <p:nvPr>
            <p:ph idx="1"/>
          </p:nvPr>
        </p:nvSpPr>
        <p:spPr/>
        <p:txBody>
          <a:bodyPr/>
          <a:lstStyle/>
          <a:p>
            <a:r>
              <a:rPr lang="en-US" altLang="zh-CN" dirty="0" smtClean="0"/>
              <a:t>SWAP</a:t>
            </a:r>
            <a:r>
              <a:rPr lang="zh-CN" altLang="en-US" dirty="0" smtClean="0"/>
              <a:t>指令语义</a:t>
            </a:r>
            <a:endParaRPr lang="en-US" altLang="zh-CN" dirty="0" smtClean="0"/>
          </a:p>
          <a:p>
            <a:pPr lvl="1"/>
            <a:r>
              <a:rPr lang="zh-CN" altLang="en-US" dirty="0" smtClean="0"/>
              <a:t>又称为</a:t>
            </a:r>
            <a:r>
              <a:rPr lang="en-US" altLang="zh-CN" dirty="0" smtClean="0"/>
              <a:t>Exchange</a:t>
            </a:r>
            <a:r>
              <a:rPr lang="zh-CN" altLang="en-US" dirty="0" smtClean="0"/>
              <a:t>指令</a:t>
            </a:r>
            <a:endParaRPr lang="zh-CN" altLang="en-US" dirty="0"/>
          </a:p>
        </p:txBody>
      </p:sp>
      <p:sp>
        <p:nvSpPr>
          <p:cNvPr id="4" name="日期占位符 3"/>
          <p:cNvSpPr>
            <a:spLocks noGrp="1"/>
          </p:cNvSpPr>
          <p:nvPr>
            <p:ph type="dt" sz="half" idx="10"/>
          </p:nvPr>
        </p:nvSpPr>
        <p:spPr/>
        <p:txBody>
          <a:bodyPr/>
          <a:lstStyle/>
          <a:p>
            <a:fld id="{E8715BC2-B160-426B-9600-C2ECB5A53D8F}"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31</a:t>
            </a:fld>
            <a:endParaRPr lang="zh-CN" altLang="en-US" dirty="0"/>
          </a:p>
        </p:txBody>
      </p:sp>
      <p:sp>
        <p:nvSpPr>
          <p:cNvPr id="7" name="TextBox 6"/>
          <p:cNvSpPr txBox="1"/>
          <p:nvPr/>
        </p:nvSpPr>
        <p:spPr>
          <a:xfrm>
            <a:off x="2339752" y="2550383"/>
            <a:ext cx="4248472" cy="2246769"/>
          </a:xfrm>
          <a:prstGeom prst="rect">
            <a:avLst/>
          </a:prstGeom>
          <a:noFill/>
          <a:ln>
            <a:solidFill>
              <a:srgbClr val="0000FF"/>
            </a:solidFill>
          </a:ln>
        </p:spPr>
        <p:txBody>
          <a:bodyPr wrap="square" rtlCol="0">
            <a:spAutoFit/>
          </a:bodyPr>
          <a:lstStyle/>
          <a:p>
            <a:pPr lvl="1"/>
            <a:r>
              <a:rPr lang="en-US" altLang="zh-CN" sz="2000" b="1" dirty="0" smtClean="0"/>
              <a:t>Void SWAP (</a:t>
            </a:r>
            <a:r>
              <a:rPr lang="en-US" altLang="zh-CN" sz="2000" b="1" dirty="0" err="1" smtClean="0"/>
              <a:t>int</a:t>
            </a:r>
            <a:r>
              <a:rPr lang="en-US" altLang="zh-CN" sz="2000" b="1" dirty="0" smtClean="0"/>
              <a:t> *a, </a:t>
            </a:r>
            <a:r>
              <a:rPr lang="en-US" altLang="zh-CN" sz="2000" b="1" dirty="0" err="1" smtClean="0"/>
              <a:t>int</a:t>
            </a:r>
            <a:r>
              <a:rPr lang="en-US" altLang="zh-CN" sz="2000" b="1" dirty="0" smtClean="0"/>
              <a:t> *b)</a:t>
            </a:r>
          </a:p>
          <a:p>
            <a:pPr lvl="1"/>
            <a:r>
              <a:rPr lang="en-US" altLang="zh-CN" sz="2000" b="1" dirty="0" smtClean="0"/>
              <a:t>{</a:t>
            </a:r>
          </a:p>
          <a:p>
            <a:pPr lvl="1"/>
            <a:r>
              <a:rPr lang="en-US" altLang="zh-CN" sz="2000" b="1" dirty="0"/>
              <a:t> </a:t>
            </a:r>
            <a:r>
              <a:rPr lang="en-US" altLang="zh-CN" sz="2000" b="1" dirty="0" smtClean="0"/>
              <a:t>   </a:t>
            </a:r>
            <a:r>
              <a:rPr lang="en-US" altLang="zh-CN" sz="2000" b="1" dirty="0" err="1" smtClean="0"/>
              <a:t>int</a:t>
            </a:r>
            <a:r>
              <a:rPr lang="en-US" altLang="zh-CN" sz="2000" b="1" dirty="0" smtClean="0"/>
              <a:t> temp;</a:t>
            </a:r>
          </a:p>
          <a:p>
            <a:pPr lvl="1"/>
            <a:r>
              <a:rPr lang="en-US" altLang="zh-CN" sz="2000" b="1" dirty="0"/>
              <a:t> </a:t>
            </a:r>
            <a:r>
              <a:rPr lang="en-US" altLang="zh-CN" sz="2000" b="1" dirty="0" smtClean="0"/>
              <a:t>   temp = *a;</a:t>
            </a:r>
          </a:p>
          <a:p>
            <a:pPr lvl="1"/>
            <a:r>
              <a:rPr lang="en-US" altLang="zh-CN" sz="2000" b="1" dirty="0"/>
              <a:t> </a:t>
            </a:r>
            <a:r>
              <a:rPr lang="en-US" altLang="zh-CN" sz="2000" b="1" dirty="0" smtClean="0"/>
              <a:t>   *a = *b;</a:t>
            </a:r>
          </a:p>
          <a:p>
            <a:pPr lvl="1"/>
            <a:r>
              <a:rPr lang="en-US" altLang="zh-CN" sz="2000" b="1" dirty="0"/>
              <a:t> </a:t>
            </a:r>
            <a:r>
              <a:rPr lang="en-US" altLang="zh-CN" sz="2000" b="1" dirty="0" smtClean="0"/>
              <a:t>   *b = temp;</a:t>
            </a:r>
          </a:p>
          <a:p>
            <a:pPr lvl="1"/>
            <a:r>
              <a:rPr lang="en-US" altLang="zh-CN" sz="2000" b="1" dirty="0"/>
              <a:t>}</a:t>
            </a:r>
          </a:p>
        </p:txBody>
      </p:sp>
    </p:spTree>
    <p:extLst>
      <p:ext uri="{BB962C8B-B14F-4D97-AF65-F5344CB8AC3E}">
        <p14:creationId xmlns:p14="http://schemas.microsoft.com/office/powerpoint/2010/main" val="23225331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硬件方法</a:t>
            </a:r>
            <a:r>
              <a:rPr lang="en-US" altLang="zh-CN" dirty="0"/>
              <a:t>——Swap</a:t>
            </a:r>
            <a:r>
              <a:rPr lang="zh-CN" altLang="en-US" dirty="0"/>
              <a:t>指令</a:t>
            </a:r>
          </a:p>
        </p:txBody>
      </p:sp>
      <p:sp>
        <p:nvSpPr>
          <p:cNvPr id="3" name="内容占位符 2"/>
          <p:cNvSpPr>
            <a:spLocks noGrp="1"/>
          </p:cNvSpPr>
          <p:nvPr>
            <p:ph idx="1"/>
          </p:nvPr>
        </p:nvSpPr>
        <p:spPr/>
        <p:txBody>
          <a:bodyPr/>
          <a:lstStyle/>
          <a:p>
            <a:r>
              <a:rPr lang="zh-CN" altLang="en-US" dirty="0" smtClean="0"/>
              <a:t>用</a:t>
            </a:r>
            <a:r>
              <a:rPr lang="en-US" altLang="zh-CN" dirty="0" smtClean="0"/>
              <a:t>SWAP</a:t>
            </a:r>
            <a:r>
              <a:rPr lang="zh-CN" altLang="en-US" dirty="0" smtClean="0"/>
              <a:t>指令实现对互斥区访问的维护</a:t>
            </a:r>
            <a:endParaRPr lang="en-US" altLang="zh-CN" dirty="0" smtClean="0"/>
          </a:p>
          <a:p>
            <a:pPr lvl="1">
              <a:buFont typeface="Wingdings" pitchFamily="2" charset="2"/>
              <a:buChar char="p"/>
            </a:pPr>
            <a:r>
              <a:rPr lang="zh-CN" altLang="en-US" dirty="0" smtClean="0"/>
              <a:t>为每一个临界资源设置一个全局的布尔变量</a:t>
            </a:r>
            <a:r>
              <a:rPr lang="en-US" altLang="zh-CN" dirty="0" smtClean="0"/>
              <a:t>lock</a:t>
            </a:r>
            <a:r>
              <a:rPr lang="zh-CN" altLang="en-US" dirty="0" smtClean="0"/>
              <a:t>，其初值为</a:t>
            </a:r>
            <a:r>
              <a:rPr lang="en-US" altLang="zh-CN" dirty="0" smtClean="0"/>
              <a:t>false</a:t>
            </a:r>
            <a:r>
              <a:rPr lang="zh-CN" altLang="en-US" dirty="0" smtClean="0"/>
              <a:t>，在每个进程中再利用一个局部布尔变量</a:t>
            </a:r>
            <a:r>
              <a:rPr lang="en-US" altLang="zh-CN" dirty="0" smtClean="0"/>
              <a:t>key</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C61E6221-5D7C-4FD7-83BD-195B22BA02A3}"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32</a:t>
            </a:fld>
            <a:endParaRPr lang="zh-CN" altLang="en-US" dirty="0"/>
          </a:p>
        </p:txBody>
      </p:sp>
      <p:sp>
        <p:nvSpPr>
          <p:cNvPr id="7" name="TextBox 6"/>
          <p:cNvSpPr txBox="1"/>
          <p:nvPr/>
        </p:nvSpPr>
        <p:spPr>
          <a:xfrm>
            <a:off x="2330960" y="2709364"/>
            <a:ext cx="4248472" cy="3477875"/>
          </a:xfrm>
          <a:prstGeom prst="rect">
            <a:avLst/>
          </a:prstGeom>
          <a:noFill/>
          <a:ln>
            <a:solidFill>
              <a:srgbClr val="0000FF"/>
            </a:solidFill>
          </a:ln>
        </p:spPr>
        <p:txBody>
          <a:bodyPr wrap="square" rtlCol="0">
            <a:spAutoFit/>
          </a:bodyPr>
          <a:lstStyle/>
          <a:p>
            <a:pPr lvl="1"/>
            <a:r>
              <a:rPr lang="en-US" altLang="zh-CN" sz="2000" b="1" dirty="0" smtClean="0">
                <a:solidFill>
                  <a:srgbClr val="0000FF"/>
                </a:solidFill>
              </a:rPr>
              <a:t>Key = TRUE</a:t>
            </a:r>
            <a:r>
              <a:rPr lang="zh-CN" altLang="en-US" sz="2000" b="1" dirty="0" smtClean="0">
                <a:solidFill>
                  <a:srgbClr val="0000FF"/>
                </a:solidFill>
              </a:rPr>
              <a:t>；</a:t>
            </a:r>
            <a:endParaRPr lang="en-US" altLang="zh-CN" sz="2000" b="1" dirty="0" smtClean="0">
              <a:solidFill>
                <a:srgbClr val="0000FF"/>
              </a:solidFill>
            </a:endParaRPr>
          </a:p>
          <a:p>
            <a:pPr lvl="1"/>
            <a:r>
              <a:rPr lang="en-US" altLang="zh-CN" sz="2000" b="1" dirty="0" smtClean="0">
                <a:solidFill>
                  <a:srgbClr val="0000FF"/>
                </a:solidFill>
              </a:rPr>
              <a:t>do</a:t>
            </a:r>
          </a:p>
          <a:p>
            <a:pPr lvl="1"/>
            <a:r>
              <a:rPr lang="en-US" altLang="zh-CN" sz="2000" b="1" dirty="0" smtClean="0">
                <a:solidFill>
                  <a:srgbClr val="0000FF"/>
                </a:solidFill>
              </a:rPr>
              <a:t>{</a:t>
            </a:r>
          </a:p>
          <a:p>
            <a:pPr lvl="1"/>
            <a:r>
              <a:rPr lang="en-US" altLang="zh-CN" sz="2000" b="1" dirty="0">
                <a:solidFill>
                  <a:srgbClr val="0000FF"/>
                </a:solidFill>
              </a:rPr>
              <a:t> </a:t>
            </a:r>
            <a:r>
              <a:rPr lang="en-US" altLang="zh-CN" sz="2000" b="1" dirty="0" smtClean="0">
                <a:solidFill>
                  <a:srgbClr val="0000FF"/>
                </a:solidFill>
              </a:rPr>
              <a:t>   SWAP (&amp;lock, &amp;key);</a:t>
            </a:r>
          </a:p>
          <a:p>
            <a:pPr lvl="1"/>
            <a:r>
              <a:rPr lang="en-US" altLang="zh-CN" sz="2000" b="1" dirty="0" smtClean="0">
                <a:solidFill>
                  <a:srgbClr val="0000FF"/>
                </a:solidFill>
              </a:rPr>
              <a:t>} while (key);</a:t>
            </a:r>
          </a:p>
          <a:p>
            <a:pPr lvl="1"/>
            <a:endParaRPr lang="en-US" altLang="zh-CN" sz="2000" b="1" dirty="0" smtClean="0"/>
          </a:p>
          <a:p>
            <a:pPr lvl="1"/>
            <a:r>
              <a:rPr lang="en-US" altLang="zh-CN" sz="2000" b="1" dirty="0" smtClean="0"/>
              <a:t>/* Critical Section */</a:t>
            </a:r>
          </a:p>
          <a:p>
            <a:pPr lvl="1"/>
            <a:endParaRPr lang="en-US" altLang="zh-CN" sz="2000" b="1" dirty="0"/>
          </a:p>
          <a:p>
            <a:pPr lvl="1"/>
            <a:r>
              <a:rPr lang="en-US" altLang="zh-CN" sz="2000" b="1" dirty="0" smtClean="0">
                <a:solidFill>
                  <a:srgbClr val="0000FF"/>
                </a:solidFill>
              </a:rPr>
              <a:t>Lock = FALSE;</a:t>
            </a:r>
          </a:p>
          <a:p>
            <a:pPr lvl="1"/>
            <a:endParaRPr lang="en-US" altLang="zh-CN" sz="2000" b="1" dirty="0"/>
          </a:p>
          <a:p>
            <a:pPr lvl="1"/>
            <a:r>
              <a:rPr lang="en-US" altLang="zh-CN" sz="2000" b="1" dirty="0" smtClean="0"/>
              <a:t>/* remainder section */</a:t>
            </a:r>
            <a:endParaRPr lang="en-US" altLang="zh-CN" sz="2000" b="1" dirty="0"/>
          </a:p>
        </p:txBody>
      </p:sp>
    </p:spTree>
    <p:extLst>
      <p:ext uri="{BB962C8B-B14F-4D97-AF65-F5344CB8AC3E}">
        <p14:creationId xmlns:p14="http://schemas.microsoft.com/office/powerpoint/2010/main" val="17481976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采用上述特殊指令的问题</a:t>
            </a:r>
            <a:endParaRPr lang="zh-CN" altLang="en-US" dirty="0"/>
          </a:p>
        </p:txBody>
      </p:sp>
      <p:sp>
        <p:nvSpPr>
          <p:cNvPr id="3" name="内容占位符 2"/>
          <p:cNvSpPr>
            <a:spLocks noGrp="1"/>
          </p:cNvSpPr>
          <p:nvPr>
            <p:ph idx="1"/>
          </p:nvPr>
        </p:nvSpPr>
        <p:spPr/>
        <p:txBody>
          <a:bodyPr/>
          <a:lstStyle/>
          <a:p>
            <a:r>
              <a:rPr lang="zh-CN" altLang="en-US" dirty="0" smtClean="0"/>
              <a:t>互斥访问显然能够得到保证，“</a:t>
            </a:r>
            <a:r>
              <a:rPr lang="zh-CN" altLang="en-US" dirty="0" smtClean="0">
                <a:solidFill>
                  <a:srgbClr val="FF0000"/>
                </a:solidFill>
              </a:rPr>
              <a:t>有限等待</a:t>
            </a:r>
            <a:r>
              <a:rPr lang="zh-CN" altLang="en-US" dirty="0" smtClean="0"/>
              <a:t>”是否能保证？</a:t>
            </a:r>
            <a:endParaRPr lang="en-US" altLang="zh-CN" dirty="0" smtClean="0"/>
          </a:p>
          <a:p>
            <a:r>
              <a:rPr lang="zh-CN" altLang="en-US" dirty="0" smtClean="0"/>
              <a:t>用</a:t>
            </a:r>
            <a:r>
              <a:rPr lang="en-US" altLang="zh-CN" dirty="0" smtClean="0"/>
              <a:t>TS</a:t>
            </a:r>
            <a:r>
              <a:rPr lang="zh-CN" altLang="en-US" dirty="0" smtClean="0"/>
              <a:t>指令实现具有“有限等待”特性的互斥访问控制</a:t>
            </a:r>
            <a:endParaRPr lang="zh-CN" altLang="en-US" dirty="0"/>
          </a:p>
        </p:txBody>
      </p:sp>
      <p:sp>
        <p:nvSpPr>
          <p:cNvPr id="4" name="日期占位符 3"/>
          <p:cNvSpPr>
            <a:spLocks noGrp="1"/>
          </p:cNvSpPr>
          <p:nvPr>
            <p:ph type="dt" sz="half" idx="10"/>
          </p:nvPr>
        </p:nvSpPr>
        <p:spPr/>
        <p:txBody>
          <a:bodyPr/>
          <a:lstStyle/>
          <a:p>
            <a:fld id="{F719C2C5-DCF4-4133-80BC-9236B61B1B62}"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33</a:t>
            </a:fld>
            <a:endParaRPr lang="zh-CN" altLang="en-US" dirty="0"/>
          </a:p>
        </p:txBody>
      </p:sp>
      <p:sp>
        <p:nvSpPr>
          <p:cNvPr id="7" name="矩形 6"/>
          <p:cNvSpPr/>
          <p:nvPr/>
        </p:nvSpPr>
        <p:spPr>
          <a:xfrm>
            <a:off x="2044310" y="2383929"/>
            <a:ext cx="4572000" cy="4154984"/>
          </a:xfrm>
          <a:prstGeom prst="rect">
            <a:avLst/>
          </a:prstGeom>
        </p:spPr>
        <p:txBody>
          <a:bodyPr>
            <a:spAutoFit/>
          </a:bodyPr>
          <a:lstStyle/>
          <a:p>
            <a:r>
              <a:rPr lang="en-US" altLang="zh-CN" sz="1600" b="1" dirty="0"/>
              <a:t>do </a:t>
            </a:r>
            <a:r>
              <a:rPr lang="en-US" altLang="zh-CN" sz="1600" b="1" i="1" dirty="0"/>
              <a:t>{</a:t>
            </a:r>
          </a:p>
          <a:p>
            <a:r>
              <a:rPr lang="en-US" altLang="zh-CN" sz="1600" b="1" dirty="0" smtClean="0"/>
              <a:t>    waiting[</a:t>
            </a:r>
            <a:r>
              <a:rPr lang="en-US" altLang="zh-CN" sz="1600" b="1" dirty="0" err="1" smtClean="0"/>
              <a:t>i</a:t>
            </a:r>
            <a:r>
              <a:rPr lang="en-US" altLang="zh-CN" sz="1600" b="1" dirty="0"/>
              <a:t>] = true;</a:t>
            </a:r>
          </a:p>
          <a:p>
            <a:r>
              <a:rPr lang="en-US" altLang="zh-CN" sz="1600" b="1" dirty="0" smtClean="0"/>
              <a:t>    key </a:t>
            </a:r>
            <a:r>
              <a:rPr lang="en-US" altLang="zh-CN" sz="1600" b="1" dirty="0"/>
              <a:t>= true;</a:t>
            </a:r>
          </a:p>
          <a:p>
            <a:r>
              <a:rPr lang="en-US" altLang="zh-CN" sz="1600" b="1" dirty="0" smtClean="0"/>
              <a:t>    while </a:t>
            </a:r>
            <a:r>
              <a:rPr lang="en-US" altLang="zh-CN" sz="1600" b="1" dirty="0"/>
              <a:t>(waiting[</a:t>
            </a:r>
            <a:r>
              <a:rPr lang="en-US" altLang="zh-CN" sz="1600" b="1" dirty="0" err="1"/>
              <a:t>i</a:t>
            </a:r>
            <a:r>
              <a:rPr lang="en-US" altLang="zh-CN" sz="1600" b="1" dirty="0"/>
              <a:t>] &amp;&amp; key)</a:t>
            </a:r>
          </a:p>
          <a:p>
            <a:r>
              <a:rPr lang="en-US" altLang="zh-CN" sz="1600" b="1" dirty="0" smtClean="0"/>
              <a:t>        key </a:t>
            </a:r>
            <a:r>
              <a:rPr lang="en-US" altLang="zh-CN" sz="1600" b="1" dirty="0"/>
              <a:t>= </a:t>
            </a:r>
            <a:r>
              <a:rPr lang="en-US" altLang="zh-CN" sz="1600" b="1" dirty="0" smtClean="0"/>
              <a:t>TS (&amp;</a:t>
            </a:r>
            <a:r>
              <a:rPr lang="en-US" altLang="zh-CN" sz="1600" b="1" dirty="0"/>
              <a:t>lock);</a:t>
            </a:r>
          </a:p>
          <a:p>
            <a:r>
              <a:rPr lang="en-US" altLang="zh-CN" sz="1600" b="1" dirty="0" smtClean="0"/>
              <a:t>    waiting[</a:t>
            </a:r>
            <a:r>
              <a:rPr lang="en-US" altLang="zh-CN" sz="1600" b="1" dirty="0" err="1" smtClean="0"/>
              <a:t>i</a:t>
            </a:r>
            <a:r>
              <a:rPr lang="en-US" altLang="zh-CN" sz="1600" b="1" dirty="0"/>
              <a:t>] = false;</a:t>
            </a:r>
          </a:p>
          <a:p>
            <a:r>
              <a:rPr lang="en-US" altLang="zh-CN" sz="1600" b="1" dirty="0" smtClean="0">
                <a:solidFill>
                  <a:srgbClr val="FF0000"/>
                </a:solidFill>
              </a:rPr>
              <a:t>        /* </a:t>
            </a:r>
            <a:r>
              <a:rPr lang="en-US" altLang="zh-CN" sz="1600" b="1" dirty="0">
                <a:solidFill>
                  <a:srgbClr val="FF0000"/>
                </a:solidFill>
              </a:rPr>
              <a:t>critical section */</a:t>
            </a:r>
          </a:p>
          <a:p>
            <a:r>
              <a:rPr lang="en-US" altLang="zh-CN" sz="1600" b="1" dirty="0" smtClean="0"/>
              <a:t>    j </a:t>
            </a:r>
            <a:r>
              <a:rPr lang="en-US" altLang="zh-CN" sz="1600" b="1" dirty="0"/>
              <a:t>= (</a:t>
            </a:r>
            <a:r>
              <a:rPr lang="en-US" altLang="zh-CN" sz="1600" b="1" dirty="0" err="1"/>
              <a:t>i</a:t>
            </a:r>
            <a:r>
              <a:rPr lang="en-US" altLang="zh-CN" sz="1600" b="1" dirty="0"/>
              <a:t> + 1) % n;</a:t>
            </a:r>
          </a:p>
          <a:p>
            <a:r>
              <a:rPr lang="en-US" altLang="zh-CN" sz="1600" b="1" dirty="0" smtClean="0"/>
              <a:t>    while ( (</a:t>
            </a:r>
            <a:r>
              <a:rPr lang="en-US" altLang="zh-CN" sz="1600" b="1" dirty="0"/>
              <a:t>j != </a:t>
            </a:r>
            <a:r>
              <a:rPr lang="en-US" altLang="zh-CN" sz="1600" b="1" dirty="0" err="1"/>
              <a:t>i</a:t>
            </a:r>
            <a:r>
              <a:rPr lang="en-US" altLang="zh-CN" sz="1600" b="1" dirty="0"/>
              <a:t>) &amp;&amp; !waiting[j</a:t>
            </a:r>
            <a:r>
              <a:rPr lang="en-US" altLang="zh-CN" sz="1600" b="1" dirty="0" smtClean="0"/>
              <a:t>] )</a:t>
            </a:r>
            <a:endParaRPr lang="en-US" altLang="zh-CN" sz="1600" b="1" dirty="0"/>
          </a:p>
          <a:p>
            <a:r>
              <a:rPr lang="en-US" altLang="zh-CN" sz="1600" b="1" dirty="0" smtClean="0"/>
              <a:t>        j </a:t>
            </a:r>
            <a:r>
              <a:rPr lang="en-US" altLang="zh-CN" sz="1600" b="1" dirty="0"/>
              <a:t>= (j + 1) % n;</a:t>
            </a:r>
          </a:p>
          <a:p>
            <a:r>
              <a:rPr lang="en-US" altLang="zh-CN" sz="1600" b="1" dirty="0" smtClean="0"/>
              <a:t>    if </a:t>
            </a:r>
            <a:r>
              <a:rPr lang="en-US" altLang="zh-CN" sz="1600" b="1" dirty="0"/>
              <a:t>(j == </a:t>
            </a:r>
            <a:r>
              <a:rPr lang="en-US" altLang="zh-CN" sz="1600" b="1" dirty="0" err="1"/>
              <a:t>i</a:t>
            </a:r>
            <a:r>
              <a:rPr lang="en-US" altLang="zh-CN" sz="1600" b="1" dirty="0"/>
              <a:t>)</a:t>
            </a:r>
          </a:p>
          <a:p>
            <a:r>
              <a:rPr lang="en-US" altLang="zh-CN" sz="1600" b="1" dirty="0" smtClean="0"/>
              <a:t>        lock </a:t>
            </a:r>
            <a:r>
              <a:rPr lang="en-US" altLang="zh-CN" sz="1600" b="1" dirty="0"/>
              <a:t>= false;</a:t>
            </a:r>
          </a:p>
          <a:p>
            <a:r>
              <a:rPr lang="en-US" altLang="zh-CN" sz="1600" b="1" dirty="0" smtClean="0"/>
              <a:t>    else</a:t>
            </a:r>
            <a:endParaRPr lang="en-US" altLang="zh-CN" sz="1600" b="1" dirty="0"/>
          </a:p>
          <a:p>
            <a:r>
              <a:rPr lang="en-US" altLang="zh-CN" sz="1600" b="1" dirty="0" smtClean="0"/>
              <a:t>        waiting[j</a:t>
            </a:r>
            <a:r>
              <a:rPr lang="en-US" altLang="zh-CN" sz="1600" b="1" dirty="0"/>
              <a:t>] = false;</a:t>
            </a:r>
          </a:p>
          <a:p>
            <a:r>
              <a:rPr lang="en-US" altLang="zh-CN" sz="1600" b="1" dirty="0" smtClean="0"/>
              <a:t>        </a:t>
            </a:r>
            <a:r>
              <a:rPr lang="en-US" altLang="zh-CN" sz="1600" b="1" dirty="0" smtClean="0">
                <a:solidFill>
                  <a:srgbClr val="00B050"/>
                </a:solidFill>
              </a:rPr>
              <a:t>/* </a:t>
            </a:r>
            <a:r>
              <a:rPr lang="en-US" altLang="zh-CN" sz="1600" b="1" dirty="0">
                <a:solidFill>
                  <a:srgbClr val="00B050"/>
                </a:solidFill>
              </a:rPr>
              <a:t>remainder section */</a:t>
            </a:r>
          </a:p>
          <a:p>
            <a:r>
              <a:rPr lang="en-US" altLang="zh-CN" sz="1600" b="1" i="1" dirty="0"/>
              <a:t>} </a:t>
            </a:r>
            <a:r>
              <a:rPr lang="en-US" altLang="zh-CN" sz="1600" b="1" dirty="0"/>
              <a:t>while (true);</a:t>
            </a:r>
            <a:endParaRPr lang="zh-CN" altLang="en-US" sz="1600" b="1" dirty="0"/>
          </a:p>
        </p:txBody>
      </p:sp>
      <p:sp>
        <p:nvSpPr>
          <p:cNvPr id="8" name="TextBox 7"/>
          <p:cNvSpPr txBox="1"/>
          <p:nvPr/>
        </p:nvSpPr>
        <p:spPr>
          <a:xfrm>
            <a:off x="6444208" y="3645024"/>
            <a:ext cx="2016224" cy="1754326"/>
          </a:xfrm>
          <a:prstGeom prst="rect">
            <a:avLst/>
          </a:prstGeom>
          <a:noFill/>
        </p:spPr>
        <p:txBody>
          <a:bodyPr wrap="square" rtlCol="0">
            <a:spAutoFit/>
          </a:bodyPr>
          <a:lstStyle/>
          <a:p>
            <a:r>
              <a:rPr lang="zh-CN" altLang="en-US" b="1" dirty="0" smtClean="0">
                <a:solidFill>
                  <a:srgbClr val="FF0000"/>
                </a:solidFill>
                <a:latin typeface="楷体" pitchFamily="49" charset="-122"/>
                <a:ea typeface="楷体" pitchFamily="49" charset="-122"/>
              </a:rPr>
              <a:t>思考：</a:t>
            </a:r>
            <a:endParaRPr lang="en-US" altLang="zh-CN" b="1" dirty="0" smtClean="0">
              <a:solidFill>
                <a:srgbClr val="FF0000"/>
              </a:solidFill>
              <a:latin typeface="楷体" pitchFamily="49" charset="-122"/>
              <a:ea typeface="楷体" pitchFamily="49" charset="-122"/>
            </a:endParaRPr>
          </a:p>
          <a:p>
            <a:r>
              <a:rPr lang="zh-CN" altLang="en-US" b="1" dirty="0" smtClean="0">
                <a:solidFill>
                  <a:srgbClr val="FF0000"/>
                </a:solidFill>
                <a:latin typeface="楷体" pitchFamily="49" charset="-122"/>
                <a:ea typeface="楷体" pitchFamily="49" charset="-122"/>
              </a:rPr>
              <a:t>该算法是否满足</a:t>
            </a:r>
            <a:endParaRPr lang="en-US" altLang="zh-CN" b="1" dirty="0" smtClean="0">
              <a:solidFill>
                <a:srgbClr val="FF0000"/>
              </a:solidFill>
              <a:latin typeface="楷体" pitchFamily="49" charset="-122"/>
              <a:ea typeface="楷体" pitchFamily="49" charset="-122"/>
            </a:endParaRPr>
          </a:p>
          <a:p>
            <a:r>
              <a:rPr lang="en-US" altLang="zh-CN" b="1" dirty="0" smtClean="0">
                <a:solidFill>
                  <a:srgbClr val="FF0000"/>
                </a:solidFill>
                <a:latin typeface="楷体" pitchFamily="49" charset="-122"/>
                <a:ea typeface="楷体" pitchFamily="49" charset="-122"/>
              </a:rPr>
              <a:t>1</a:t>
            </a:r>
            <a:r>
              <a:rPr lang="zh-CN" altLang="en-US" b="1" dirty="0" smtClean="0">
                <a:solidFill>
                  <a:srgbClr val="FF0000"/>
                </a:solidFill>
                <a:latin typeface="楷体" pitchFamily="49" charset="-122"/>
                <a:ea typeface="楷体" pitchFamily="49" charset="-122"/>
              </a:rPr>
              <a:t>）忙则等待</a:t>
            </a:r>
            <a:endParaRPr lang="en-US" altLang="zh-CN" b="1" dirty="0" smtClean="0">
              <a:solidFill>
                <a:srgbClr val="FF0000"/>
              </a:solidFill>
              <a:latin typeface="楷体" pitchFamily="49" charset="-122"/>
              <a:ea typeface="楷体" pitchFamily="49" charset="-122"/>
            </a:endParaRPr>
          </a:p>
          <a:p>
            <a:r>
              <a:rPr lang="en-US" altLang="zh-CN" b="1" dirty="0" smtClean="0">
                <a:solidFill>
                  <a:srgbClr val="FF0000"/>
                </a:solidFill>
                <a:latin typeface="楷体" pitchFamily="49" charset="-122"/>
                <a:ea typeface="楷体" pitchFamily="49" charset="-122"/>
              </a:rPr>
              <a:t>2</a:t>
            </a:r>
            <a:r>
              <a:rPr lang="zh-CN" altLang="en-US" b="1" dirty="0" smtClean="0">
                <a:solidFill>
                  <a:srgbClr val="FF0000"/>
                </a:solidFill>
                <a:latin typeface="楷体" pitchFamily="49" charset="-122"/>
                <a:ea typeface="楷体" pitchFamily="49" charset="-122"/>
              </a:rPr>
              <a:t>）空闲让进</a:t>
            </a:r>
            <a:endParaRPr lang="en-US" altLang="zh-CN" b="1" dirty="0" smtClean="0">
              <a:solidFill>
                <a:srgbClr val="FF0000"/>
              </a:solidFill>
              <a:latin typeface="楷体" pitchFamily="49" charset="-122"/>
              <a:ea typeface="楷体" pitchFamily="49" charset="-122"/>
            </a:endParaRPr>
          </a:p>
          <a:p>
            <a:r>
              <a:rPr lang="en-US" altLang="zh-CN" b="1" dirty="0" smtClean="0">
                <a:solidFill>
                  <a:srgbClr val="FF0000"/>
                </a:solidFill>
                <a:latin typeface="楷体" pitchFamily="49" charset="-122"/>
                <a:ea typeface="楷体" pitchFamily="49" charset="-122"/>
              </a:rPr>
              <a:t>3</a:t>
            </a:r>
            <a:r>
              <a:rPr lang="zh-CN" altLang="en-US" b="1" dirty="0" smtClean="0">
                <a:solidFill>
                  <a:srgbClr val="FF0000"/>
                </a:solidFill>
                <a:latin typeface="楷体" pitchFamily="49" charset="-122"/>
                <a:ea typeface="楷体" pitchFamily="49" charset="-122"/>
              </a:rPr>
              <a:t>）有限等待</a:t>
            </a:r>
            <a:endParaRPr lang="en-US" altLang="zh-CN" b="1" dirty="0" smtClean="0">
              <a:solidFill>
                <a:srgbClr val="FF0000"/>
              </a:solidFill>
              <a:latin typeface="楷体" pitchFamily="49" charset="-122"/>
              <a:ea typeface="楷体" pitchFamily="49" charset="-122"/>
            </a:endParaRPr>
          </a:p>
          <a:p>
            <a:r>
              <a:rPr lang="zh-CN" altLang="en-US" b="1" dirty="0" smtClean="0">
                <a:solidFill>
                  <a:srgbClr val="FF0000"/>
                </a:solidFill>
                <a:latin typeface="楷体" pitchFamily="49" charset="-122"/>
                <a:ea typeface="楷体" pitchFamily="49" charset="-122"/>
              </a:rPr>
              <a:t>这</a:t>
            </a:r>
            <a:r>
              <a:rPr lang="zh-CN" altLang="en-US" b="1" dirty="0">
                <a:solidFill>
                  <a:srgbClr val="FF0000"/>
                </a:solidFill>
                <a:latin typeface="楷体" pitchFamily="49" charset="-122"/>
                <a:ea typeface="楷体" pitchFamily="49" charset="-122"/>
              </a:rPr>
              <a:t>三</a:t>
            </a:r>
            <a:r>
              <a:rPr lang="zh-CN" altLang="en-US" b="1" dirty="0" smtClean="0">
                <a:solidFill>
                  <a:srgbClr val="FF0000"/>
                </a:solidFill>
                <a:latin typeface="楷体" pitchFamily="49" charset="-122"/>
                <a:ea typeface="楷体" pitchFamily="49" charset="-122"/>
              </a:rPr>
              <a:t>个特性？ </a:t>
            </a:r>
            <a:endParaRPr lang="zh-CN" altLang="en-US" b="1" dirty="0">
              <a:solidFill>
                <a:srgbClr val="FF0000"/>
              </a:solidFill>
              <a:latin typeface="楷体" pitchFamily="49" charset="-122"/>
              <a:ea typeface="楷体" pitchFamily="49" charset="-122"/>
            </a:endParaRPr>
          </a:p>
        </p:txBody>
      </p:sp>
    </p:spTree>
    <p:extLst>
      <p:ext uri="{BB962C8B-B14F-4D97-AF65-F5344CB8AC3E}">
        <p14:creationId xmlns:p14="http://schemas.microsoft.com/office/powerpoint/2010/main" val="418324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硬件方法的优缺点</a:t>
            </a:r>
            <a:endParaRPr lang="zh-CN" altLang="en-US" dirty="0"/>
          </a:p>
        </p:txBody>
      </p:sp>
      <p:sp>
        <p:nvSpPr>
          <p:cNvPr id="3" name="内容占位符 2"/>
          <p:cNvSpPr>
            <a:spLocks noGrp="1"/>
          </p:cNvSpPr>
          <p:nvPr>
            <p:ph idx="1"/>
          </p:nvPr>
        </p:nvSpPr>
        <p:spPr/>
        <p:txBody>
          <a:bodyPr/>
          <a:lstStyle/>
          <a:p>
            <a:r>
              <a:rPr lang="zh-CN" altLang="en-US" dirty="0" smtClean="0"/>
              <a:t>优点</a:t>
            </a:r>
            <a:endParaRPr lang="en-US" altLang="zh-CN" dirty="0" smtClean="0"/>
          </a:p>
          <a:p>
            <a:pPr lvl="1"/>
            <a:r>
              <a:rPr lang="zh-CN" altLang="en-US" dirty="0" smtClean="0"/>
              <a:t>适用任意数目的进程</a:t>
            </a:r>
            <a:endParaRPr lang="en-US" altLang="zh-CN" dirty="0" smtClean="0"/>
          </a:p>
          <a:p>
            <a:pPr lvl="1"/>
            <a:r>
              <a:rPr lang="zh-CN" altLang="en-US" dirty="0" smtClean="0"/>
              <a:t>简单，容易验证正确性</a:t>
            </a:r>
            <a:endParaRPr lang="en-US" altLang="zh-CN" dirty="0" smtClean="0"/>
          </a:p>
          <a:p>
            <a:pPr lvl="1"/>
            <a:r>
              <a:rPr lang="zh-CN" altLang="en-US" dirty="0" smtClean="0"/>
              <a:t>可用于实现多临界区管理，每个临界区一个锁</a:t>
            </a:r>
            <a:endParaRPr lang="en-US" altLang="zh-CN" dirty="0" smtClean="0"/>
          </a:p>
          <a:p>
            <a:endParaRPr lang="en-US" altLang="zh-CN" dirty="0"/>
          </a:p>
          <a:p>
            <a:r>
              <a:rPr lang="zh-CN" altLang="en-US" dirty="0" smtClean="0"/>
              <a:t>缺点</a:t>
            </a:r>
            <a:endParaRPr lang="en-US" altLang="zh-CN" dirty="0" smtClean="0"/>
          </a:p>
          <a:p>
            <a:pPr lvl="1"/>
            <a:r>
              <a:rPr lang="zh-CN" altLang="en-US" dirty="0" smtClean="0"/>
              <a:t>仅依靠硬件方法无法避免“饥饿”问题</a:t>
            </a:r>
            <a:endParaRPr lang="en-US" altLang="zh-CN" dirty="0" smtClean="0"/>
          </a:p>
          <a:p>
            <a:pPr lvl="1"/>
            <a:r>
              <a:rPr lang="zh-CN" altLang="en-US" dirty="0"/>
              <a:t>仅依靠硬件方法无</a:t>
            </a:r>
            <a:r>
              <a:rPr lang="zh-CN" altLang="en-US" dirty="0" smtClean="0"/>
              <a:t>法避免“死锁”问题</a:t>
            </a:r>
            <a:endParaRPr lang="zh-CN" altLang="en-US" dirty="0"/>
          </a:p>
        </p:txBody>
      </p:sp>
      <p:sp>
        <p:nvSpPr>
          <p:cNvPr id="4" name="日期占位符 3"/>
          <p:cNvSpPr>
            <a:spLocks noGrp="1"/>
          </p:cNvSpPr>
          <p:nvPr>
            <p:ph type="dt" sz="half" idx="10"/>
          </p:nvPr>
        </p:nvSpPr>
        <p:spPr/>
        <p:txBody>
          <a:bodyPr/>
          <a:lstStyle/>
          <a:p>
            <a:fld id="{8ADBC802-A94D-4B9B-B967-60658210294D}"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34</a:t>
            </a:fld>
            <a:endParaRPr lang="zh-CN" altLang="en-US" dirty="0"/>
          </a:p>
        </p:txBody>
      </p:sp>
    </p:spTree>
    <p:extLst>
      <p:ext uri="{BB962C8B-B14F-4D97-AF65-F5344CB8AC3E}">
        <p14:creationId xmlns:p14="http://schemas.microsoft.com/office/powerpoint/2010/main" val="42875076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对软硬件方法的总结</a:t>
            </a:r>
            <a:endParaRPr lang="zh-CN" altLang="en-US" dirty="0"/>
          </a:p>
        </p:txBody>
      </p:sp>
      <p:sp>
        <p:nvSpPr>
          <p:cNvPr id="3" name="内容占位符 2"/>
          <p:cNvSpPr>
            <a:spLocks noGrp="1"/>
          </p:cNvSpPr>
          <p:nvPr>
            <p:ph idx="1"/>
          </p:nvPr>
        </p:nvSpPr>
        <p:spPr/>
        <p:txBody>
          <a:bodyPr/>
          <a:lstStyle/>
          <a:p>
            <a:r>
              <a:rPr lang="zh-CN" altLang="en-US" dirty="0" smtClean="0"/>
              <a:t>无论软件方法还是硬件方法，都存在一些明显的问题</a:t>
            </a:r>
            <a:endParaRPr lang="en-US" altLang="zh-CN" dirty="0" smtClean="0"/>
          </a:p>
          <a:p>
            <a:endParaRPr lang="en-US" altLang="zh-CN" dirty="0"/>
          </a:p>
          <a:p>
            <a:r>
              <a:rPr lang="zh-CN" altLang="en-US" dirty="0" smtClean="0"/>
              <a:t>仅仅提供互斥的可能还是不够的，</a:t>
            </a:r>
            <a:r>
              <a:rPr lang="zh-CN" altLang="en-US" dirty="0"/>
              <a:t>任由应用程序自由争夺共享资源，从系统全局的角度，并不是理想的策略</a:t>
            </a:r>
            <a:endParaRPr lang="en-US" altLang="zh-CN" dirty="0"/>
          </a:p>
          <a:p>
            <a:endParaRPr lang="en-US" altLang="zh-CN" dirty="0" smtClean="0"/>
          </a:p>
          <a:p>
            <a:r>
              <a:rPr lang="zh-CN" altLang="en-US" dirty="0"/>
              <a:t>因此，需要“一只看不见的手”，在应用程序运行的背后，控制它们对临界区的访问，包括：控制准入</a:t>
            </a:r>
            <a:r>
              <a:rPr lang="zh-CN" altLang="en-US" dirty="0" smtClean="0"/>
              <a:t>、访问</a:t>
            </a:r>
            <a:r>
              <a:rPr lang="zh-CN" altLang="en-US" dirty="0"/>
              <a:t>次序，</a:t>
            </a:r>
            <a:r>
              <a:rPr lang="zh-CN" altLang="en-US" dirty="0" smtClean="0"/>
              <a:t>等等</a:t>
            </a:r>
            <a:endParaRPr lang="zh-CN" altLang="en-US" dirty="0"/>
          </a:p>
        </p:txBody>
      </p:sp>
      <p:sp>
        <p:nvSpPr>
          <p:cNvPr id="4" name="日期占位符 3"/>
          <p:cNvSpPr>
            <a:spLocks noGrp="1"/>
          </p:cNvSpPr>
          <p:nvPr>
            <p:ph type="dt" sz="half" idx="10"/>
          </p:nvPr>
        </p:nvSpPr>
        <p:spPr/>
        <p:txBody>
          <a:bodyPr/>
          <a:lstStyle/>
          <a:p>
            <a:fld id="{1D36EB24-C713-45DC-8A4E-7C9AF1DF50C3}"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35</a:t>
            </a:fld>
            <a:endParaRPr lang="zh-CN" altLang="en-US" dirty="0"/>
          </a:p>
        </p:txBody>
      </p:sp>
    </p:spTree>
    <p:extLst>
      <p:ext uri="{BB962C8B-B14F-4D97-AF65-F5344CB8AC3E}">
        <p14:creationId xmlns:p14="http://schemas.microsoft.com/office/powerpoint/2010/main" val="21539980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smtClean="0">
                <a:solidFill>
                  <a:schemeClr val="bg1">
                    <a:lumMod val="75000"/>
                  </a:schemeClr>
                </a:solidFill>
              </a:rPr>
              <a:t>同步问题</a:t>
            </a:r>
            <a:r>
              <a:rPr lang="zh-CN" altLang="en-US" dirty="0">
                <a:solidFill>
                  <a:schemeClr val="bg1">
                    <a:lumMod val="75000"/>
                  </a:schemeClr>
                </a:solidFill>
              </a:rPr>
              <a:t>及其解决办法</a:t>
            </a:r>
            <a:endParaRPr lang="en-US" altLang="zh-CN" dirty="0">
              <a:solidFill>
                <a:schemeClr val="bg1">
                  <a:lumMod val="75000"/>
                </a:schemeClr>
              </a:solidFill>
            </a:endParaRPr>
          </a:p>
          <a:p>
            <a:r>
              <a:rPr lang="zh-CN" altLang="en-US" dirty="0" smtClean="0">
                <a:solidFill>
                  <a:srgbClr val="FF3300"/>
                </a:solidFill>
              </a:rPr>
              <a:t>信号量</a:t>
            </a:r>
            <a:endParaRPr lang="en-US" altLang="zh-CN" dirty="0" smtClean="0">
              <a:solidFill>
                <a:srgbClr val="FF3300"/>
              </a:solidFill>
            </a:endParaRPr>
          </a:p>
          <a:p>
            <a:pPr lvl="1"/>
            <a:r>
              <a:rPr lang="zh-CN" altLang="en-US" dirty="0" smtClean="0">
                <a:solidFill>
                  <a:srgbClr val="FF3300"/>
                </a:solidFill>
              </a:rPr>
              <a:t>什么是信号量</a:t>
            </a:r>
            <a:endParaRPr lang="en-US" altLang="zh-CN" dirty="0" smtClean="0">
              <a:solidFill>
                <a:srgbClr val="FF3300"/>
              </a:solidFill>
            </a:endParaRPr>
          </a:p>
          <a:p>
            <a:pPr lvl="1"/>
            <a:r>
              <a:rPr lang="zh-CN" altLang="en-US" dirty="0">
                <a:solidFill>
                  <a:srgbClr val="FF3300"/>
                </a:solidFill>
              </a:rPr>
              <a:t>用信号量实现进程间互斥</a:t>
            </a:r>
            <a:endParaRPr lang="en-US" altLang="zh-CN" dirty="0">
              <a:solidFill>
                <a:srgbClr val="FF3300"/>
              </a:solidFill>
            </a:endParaRPr>
          </a:p>
          <a:p>
            <a:pPr lvl="1"/>
            <a:r>
              <a:rPr lang="zh-CN" altLang="en-US" dirty="0" smtClean="0">
                <a:solidFill>
                  <a:srgbClr val="FF3300"/>
                </a:solidFill>
              </a:rPr>
              <a:t>用信号量实现进程间同步</a:t>
            </a:r>
            <a:endParaRPr lang="en-US" altLang="zh-CN" dirty="0" smtClean="0">
              <a:solidFill>
                <a:srgbClr val="FF3300"/>
              </a:solidFill>
            </a:endParaRPr>
          </a:p>
          <a:p>
            <a:pPr lvl="1"/>
            <a:r>
              <a:rPr lang="zh-CN" altLang="en-US" dirty="0" smtClean="0">
                <a:solidFill>
                  <a:schemeClr val="bg1">
                    <a:lumMod val="75000"/>
                  </a:schemeClr>
                </a:solidFill>
              </a:rPr>
              <a:t>信号量的实现方法</a:t>
            </a:r>
            <a:endParaRPr lang="en-US" altLang="zh-CN" dirty="0" smtClean="0">
              <a:solidFill>
                <a:schemeClr val="bg1">
                  <a:lumMod val="75000"/>
                </a:schemeClr>
              </a:solidFill>
            </a:endParaRPr>
          </a:p>
          <a:p>
            <a:pPr lvl="1"/>
            <a:r>
              <a:rPr lang="zh-CN" altLang="en-US" dirty="0" smtClean="0">
                <a:solidFill>
                  <a:schemeClr val="bg1">
                    <a:lumMod val="75000"/>
                  </a:schemeClr>
                </a:solidFill>
              </a:rPr>
              <a:t>经典进程同步问题</a:t>
            </a:r>
            <a:endParaRPr lang="en-US" altLang="zh-CN" dirty="0" smtClean="0">
              <a:solidFill>
                <a:schemeClr val="bg1">
                  <a:lumMod val="75000"/>
                </a:schemeClr>
              </a:solidFill>
            </a:endParaRPr>
          </a:p>
          <a:p>
            <a:pPr lvl="1"/>
            <a:r>
              <a:rPr lang="zh-CN" altLang="en-US" dirty="0" smtClean="0">
                <a:solidFill>
                  <a:schemeClr val="bg1">
                    <a:lumMod val="75000"/>
                  </a:schemeClr>
                </a:solidFill>
              </a:rPr>
              <a:t>信号量集</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314486F8-3EA6-4444-9523-F42B4374396F}"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36</a:t>
            </a:fld>
            <a:endParaRPr lang="zh-CN" altLang="en-US" dirty="0"/>
          </a:p>
        </p:txBody>
      </p:sp>
    </p:spTree>
    <p:extLst>
      <p:ext uri="{BB962C8B-B14F-4D97-AF65-F5344CB8AC3E}">
        <p14:creationId xmlns:p14="http://schemas.microsoft.com/office/powerpoint/2010/main" val="3412133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为什么引入信号量</a:t>
            </a:r>
            <a:endParaRPr lang="zh-CN" altLang="en-US" dirty="0"/>
          </a:p>
        </p:txBody>
      </p:sp>
      <p:sp>
        <p:nvSpPr>
          <p:cNvPr id="3" name="Content Placeholder 2"/>
          <p:cNvSpPr>
            <a:spLocks noGrp="1"/>
          </p:cNvSpPr>
          <p:nvPr>
            <p:ph idx="1"/>
          </p:nvPr>
        </p:nvSpPr>
        <p:spPr/>
        <p:txBody>
          <a:bodyPr/>
          <a:lstStyle/>
          <a:p>
            <a:r>
              <a:rPr lang="zh-CN" altLang="en-US" dirty="0" smtClean="0"/>
              <a:t>前面</a:t>
            </a:r>
            <a:r>
              <a:rPr lang="zh-CN" altLang="en-US" dirty="0"/>
              <a:t>的互斥算法都存在问题，它们是</a:t>
            </a:r>
            <a:r>
              <a:rPr lang="zh-CN" altLang="en-US" dirty="0">
                <a:solidFill>
                  <a:srgbClr val="FF0000"/>
                </a:solidFill>
              </a:rPr>
              <a:t>平等进程</a:t>
            </a:r>
            <a:r>
              <a:rPr lang="zh-CN" altLang="en-US" dirty="0"/>
              <a:t>间的一种</a:t>
            </a:r>
            <a:r>
              <a:rPr lang="zh-CN" altLang="en-US" dirty="0">
                <a:solidFill>
                  <a:srgbClr val="FF0000"/>
                </a:solidFill>
              </a:rPr>
              <a:t>协商</a:t>
            </a:r>
            <a:r>
              <a:rPr lang="zh-CN" altLang="en-US" dirty="0"/>
              <a:t>机制，需要一个地位高于进程的</a:t>
            </a:r>
            <a:r>
              <a:rPr lang="zh-CN" altLang="en-US" dirty="0">
                <a:solidFill>
                  <a:srgbClr val="FF0000"/>
                </a:solidFill>
              </a:rPr>
              <a:t>管理者</a:t>
            </a:r>
            <a:r>
              <a:rPr lang="zh-CN" altLang="en-US" dirty="0"/>
              <a:t>来解决公有资源的使用问</a:t>
            </a:r>
            <a:r>
              <a:rPr lang="zh-CN" altLang="en-US" dirty="0" smtClean="0"/>
              <a:t>题</a:t>
            </a:r>
            <a:endParaRPr lang="en-US" altLang="zh-CN" dirty="0" smtClean="0"/>
          </a:p>
          <a:p>
            <a:endParaRPr lang="en-US" altLang="zh-CN" dirty="0"/>
          </a:p>
          <a:p>
            <a:r>
              <a:rPr lang="zh-CN" altLang="en-US" dirty="0" smtClean="0">
                <a:solidFill>
                  <a:srgbClr val="FF0000"/>
                </a:solidFill>
              </a:rPr>
              <a:t>操作系统</a:t>
            </a:r>
            <a:r>
              <a:rPr lang="zh-CN" altLang="en-US" dirty="0" smtClean="0"/>
              <a:t>可</a:t>
            </a:r>
            <a:r>
              <a:rPr lang="zh-CN" altLang="en-US" dirty="0"/>
              <a:t>从进程管理者的角度来处理互斥的问题，</a:t>
            </a:r>
            <a:r>
              <a:rPr lang="zh-CN" altLang="en-US" dirty="0">
                <a:solidFill>
                  <a:srgbClr val="FF0000"/>
                </a:solidFill>
              </a:rPr>
              <a:t>信号量</a:t>
            </a:r>
            <a:r>
              <a:rPr lang="zh-CN" altLang="en-US" dirty="0"/>
              <a:t>就是</a:t>
            </a:r>
            <a:r>
              <a:rPr lang="en-US" altLang="zh-CN" dirty="0"/>
              <a:t>OS</a:t>
            </a:r>
            <a:r>
              <a:rPr lang="zh-CN" altLang="en-US" dirty="0"/>
              <a:t>提供的管理公有资源的有效手</a:t>
            </a:r>
            <a:r>
              <a:rPr lang="zh-CN" altLang="en-US" dirty="0" smtClean="0"/>
              <a:t>段</a:t>
            </a:r>
            <a:endParaRPr lang="en-US" altLang="zh-CN" dirty="0" smtClean="0"/>
          </a:p>
          <a:p>
            <a:endParaRPr lang="en-US" altLang="zh-CN" dirty="0"/>
          </a:p>
          <a:p>
            <a:r>
              <a:rPr lang="zh-CN" altLang="en-US" smtClean="0"/>
              <a:t>从某种意义上讲是一种软件工程的考虑</a:t>
            </a:r>
            <a:endParaRPr lang="en-US" altLang="zh-CN" dirty="0" smtClean="0"/>
          </a:p>
        </p:txBody>
      </p:sp>
      <p:sp>
        <p:nvSpPr>
          <p:cNvPr id="4" name="Date Placeholder 3"/>
          <p:cNvSpPr>
            <a:spLocks noGrp="1"/>
          </p:cNvSpPr>
          <p:nvPr>
            <p:ph type="dt" sz="half" idx="10"/>
          </p:nvPr>
        </p:nvSpPr>
        <p:spPr/>
        <p:txBody>
          <a:bodyPr/>
          <a:lstStyle/>
          <a:p>
            <a:fld id="{0D756C1F-1CFB-49FD-8273-5EF81876F5D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37</a:t>
            </a:fld>
            <a:endParaRPr lang="zh-CN" altLang="en-US" dirty="0"/>
          </a:p>
        </p:txBody>
      </p:sp>
    </p:spTree>
    <p:extLst>
      <p:ext uri="{BB962C8B-B14F-4D97-AF65-F5344CB8AC3E}">
        <p14:creationId xmlns:p14="http://schemas.microsoft.com/office/powerpoint/2010/main" val="31241883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a:t>
            </a:r>
            <a:endParaRPr lang="zh-CN" altLang="en-US" dirty="0"/>
          </a:p>
        </p:txBody>
      </p:sp>
      <p:sp>
        <p:nvSpPr>
          <p:cNvPr id="3" name="Content Placeholder 2"/>
          <p:cNvSpPr>
            <a:spLocks noGrp="1"/>
          </p:cNvSpPr>
          <p:nvPr>
            <p:ph idx="1"/>
          </p:nvPr>
        </p:nvSpPr>
        <p:spPr/>
        <p:txBody>
          <a:bodyPr/>
          <a:lstStyle/>
          <a:p>
            <a:r>
              <a:rPr lang="zh-CN" altLang="en-US" dirty="0" smtClean="0"/>
              <a:t>信号量的概念在</a:t>
            </a:r>
            <a:r>
              <a:rPr lang="en-US" altLang="zh-CN" dirty="0" smtClean="0"/>
              <a:t>1965</a:t>
            </a:r>
            <a:r>
              <a:rPr lang="zh-CN" altLang="en-US" dirty="0" smtClean="0"/>
              <a:t>年由学者</a:t>
            </a:r>
            <a:r>
              <a:rPr lang="en-US" altLang="zh-CN" dirty="0" err="1" smtClean="0">
                <a:solidFill>
                  <a:srgbClr val="0000FF"/>
                </a:solidFill>
              </a:rPr>
              <a:t>Dijkstra</a:t>
            </a:r>
            <a:r>
              <a:rPr lang="zh-CN" altLang="en-US" dirty="0" smtClean="0"/>
              <a:t>提出</a:t>
            </a:r>
            <a:endParaRPr lang="en-US" altLang="zh-CN" dirty="0" smtClean="0"/>
          </a:p>
          <a:p>
            <a:r>
              <a:rPr lang="zh-CN" altLang="en-US" dirty="0"/>
              <a:t>本质</a:t>
            </a:r>
            <a:r>
              <a:rPr lang="zh-CN" altLang="en-US" dirty="0" smtClean="0"/>
              <a:t>上是一个特殊的变量，是一个</a:t>
            </a:r>
            <a:r>
              <a:rPr lang="zh-CN" altLang="en-US" dirty="0" smtClean="0">
                <a:solidFill>
                  <a:srgbClr val="0000FF"/>
                </a:solidFill>
              </a:rPr>
              <a:t>整型值</a:t>
            </a:r>
            <a:endParaRPr lang="en-US" altLang="zh-CN" dirty="0" smtClean="0">
              <a:solidFill>
                <a:srgbClr val="0000FF"/>
              </a:solidFill>
            </a:endParaRPr>
          </a:p>
          <a:p>
            <a:r>
              <a:rPr lang="zh-CN" altLang="en-US" dirty="0" smtClean="0"/>
              <a:t>其特殊性在于，它的值只能被“初始化”和</a:t>
            </a:r>
            <a:r>
              <a:rPr lang="en-US" altLang="zh-CN" dirty="0" smtClean="0"/>
              <a:t>P</a:t>
            </a:r>
            <a:r>
              <a:rPr lang="zh-CN" altLang="en-US" dirty="0" smtClean="0"/>
              <a:t>、</a:t>
            </a:r>
            <a:r>
              <a:rPr lang="en-US" altLang="zh-CN" dirty="0" smtClean="0"/>
              <a:t>V</a:t>
            </a:r>
            <a:r>
              <a:rPr lang="zh-CN" altLang="en-US" dirty="0" smtClean="0"/>
              <a:t>两个原语操作所修改</a:t>
            </a:r>
            <a:endParaRPr lang="en-US" altLang="zh-CN" dirty="0" smtClean="0"/>
          </a:p>
          <a:p>
            <a:r>
              <a:rPr lang="zh-CN" altLang="en-US" dirty="0"/>
              <a:t>用</a:t>
            </a:r>
            <a:r>
              <a:rPr lang="zh-CN" altLang="en-US" dirty="0" smtClean="0"/>
              <a:t>作控制进程的互斥与同步</a:t>
            </a:r>
            <a:endParaRPr lang="zh-CN" altLang="en-US" dirty="0"/>
          </a:p>
        </p:txBody>
      </p:sp>
      <p:sp>
        <p:nvSpPr>
          <p:cNvPr id="4" name="Date Placeholder 3"/>
          <p:cNvSpPr>
            <a:spLocks noGrp="1"/>
          </p:cNvSpPr>
          <p:nvPr>
            <p:ph type="dt" sz="half" idx="10"/>
          </p:nvPr>
        </p:nvSpPr>
        <p:spPr/>
        <p:txBody>
          <a:bodyPr/>
          <a:lstStyle/>
          <a:p>
            <a:fld id="{8352FCF6-0BB2-41F4-9CB1-5254BFB7C5B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38</a:t>
            </a:fld>
            <a:endParaRPr lang="zh-CN" altLang="en-US" dirty="0"/>
          </a:p>
        </p:txBody>
      </p:sp>
    </p:spTree>
    <p:extLst>
      <p:ext uri="{BB962C8B-B14F-4D97-AF65-F5344CB8AC3E}">
        <p14:creationId xmlns:p14="http://schemas.microsoft.com/office/powerpoint/2010/main" val="357911033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a:t>
            </a:r>
            <a:endParaRPr lang="zh-CN" altLang="en-US" dirty="0"/>
          </a:p>
        </p:txBody>
      </p:sp>
      <p:sp>
        <p:nvSpPr>
          <p:cNvPr id="3" name="Content Placeholder 2"/>
          <p:cNvSpPr>
            <a:spLocks noGrp="1"/>
          </p:cNvSpPr>
          <p:nvPr>
            <p:ph idx="1"/>
          </p:nvPr>
        </p:nvSpPr>
        <p:spPr/>
        <p:txBody>
          <a:bodyPr/>
          <a:lstStyle/>
          <a:p>
            <a:r>
              <a:rPr lang="zh-CN" altLang="en-US" dirty="0" smtClean="0"/>
              <a:t>信号量的定义（数据结构）</a:t>
            </a:r>
            <a:endParaRPr lang="en-US" altLang="zh-CN" dirty="0" smtClean="0"/>
          </a:p>
          <a:p>
            <a:endParaRPr lang="en-US" altLang="zh-CN" dirty="0"/>
          </a:p>
          <a:p>
            <a:endParaRPr lang="en-US" altLang="zh-CN" dirty="0" smtClean="0"/>
          </a:p>
          <a:p>
            <a:endParaRPr lang="en-US" altLang="zh-CN" dirty="0"/>
          </a:p>
          <a:p>
            <a:r>
              <a:rPr lang="en-US" altLang="zh-CN" dirty="0" smtClean="0"/>
              <a:t>Count</a:t>
            </a:r>
            <a:r>
              <a:rPr lang="zh-CN" altLang="en-US" dirty="0" smtClean="0"/>
              <a:t>的取值</a:t>
            </a:r>
            <a:endParaRPr lang="en-US" altLang="zh-CN" dirty="0" smtClean="0"/>
          </a:p>
          <a:p>
            <a:pPr lvl="1"/>
            <a:r>
              <a:rPr lang="zh-CN" altLang="en-US" dirty="0"/>
              <a:t>初始</a:t>
            </a:r>
            <a:r>
              <a:rPr lang="zh-CN" altLang="en-US" dirty="0" smtClean="0"/>
              <a:t>值：一般初始化为非负整数，数值表示空闲资源的总数</a:t>
            </a:r>
            <a:endParaRPr lang="en-US" altLang="zh-CN" dirty="0" smtClean="0"/>
          </a:p>
          <a:p>
            <a:pPr lvl="1"/>
            <a:r>
              <a:rPr lang="zh-CN" altLang="en-US" dirty="0" smtClean="0"/>
              <a:t>若为非负整数，则表示当前空闲资源的数量</a:t>
            </a:r>
            <a:endParaRPr lang="en-US" altLang="zh-CN" dirty="0" smtClean="0"/>
          </a:p>
          <a:p>
            <a:pPr lvl="1"/>
            <a:r>
              <a:rPr lang="zh-CN" altLang="en-US" dirty="0" smtClean="0"/>
              <a:t>若为负值，则其绝对值表示当前等待进程的数量</a:t>
            </a:r>
            <a:endParaRPr lang="en-US" altLang="zh-CN" dirty="0" smtClean="0"/>
          </a:p>
          <a:p>
            <a:endParaRPr lang="en-US" altLang="zh-CN" dirty="0"/>
          </a:p>
          <a:p>
            <a:endParaRPr lang="en-US" altLang="zh-CN" dirty="0" smtClean="0"/>
          </a:p>
          <a:p>
            <a:endParaRPr lang="en-US" altLang="zh-CN" dirty="0"/>
          </a:p>
          <a:p>
            <a:endParaRPr lang="zh-CN" altLang="en-US" dirty="0"/>
          </a:p>
        </p:txBody>
      </p:sp>
      <p:sp>
        <p:nvSpPr>
          <p:cNvPr id="4" name="Date Placeholder 3"/>
          <p:cNvSpPr>
            <a:spLocks noGrp="1"/>
          </p:cNvSpPr>
          <p:nvPr>
            <p:ph type="dt" sz="half" idx="10"/>
          </p:nvPr>
        </p:nvSpPr>
        <p:spPr/>
        <p:txBody>
          <a:bodyPr/>
          <a:lstStyle/>
          <a:p>
            <a:fld id="{A44D02AE-B04C-4CD6-96FB-B2005A8C590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39</a:t>
            </a:fld>
            <a:endParaRPr lang="zh-CN" altLang="en-US" dirty="0"/>
          </a:p>
        </p:txBody>
      </p:sp>
      <p:sp>
        <p:nvSpPr>
          <p:cNvPr id="7" name="Rectangle 6"/>
          <p:cNvSpPr/>
          <p:nvPr/>
        </p:nvSpPr>
        <p:spPr>
          <a:xfrm>
            <a:off x="3059832" y="1951092"/>
            <a:ext cx="2880320" cy="1261884"/>
          </a:xfrm>
          <a:prstGeom prst="rect">
            <a:avLst/>
          </a:prstGeom>
          <a:ln>
            <a:solidFill>
              <a:srgbClr val="0000FF"/>
            </a:solidFill>
          </a:ln>
        </p:spPr>
        <p:txBody>
          <a:bodyPr wrap="square">
            <a:spAutoFit/>
          </a:bodyPr>
          <a:lstStyle/>
          <a:p>
            <a:pPr>
              <a:lnSpc>
                <a:spcPct val="80000"/>
              </a:lnSpc>
              <a:spcBef>
                <a:spcPct val="20000"/>
              </a:spcBef>
            </a:pPr>
            <a:r>
              <a:rPr lang="en-US" altLang="zh-CN" sz="2000" b="1" dirty="0" err="1"/>
              <a:t>typedef</a:t>
            </a:r>
            <a:r>
              <a:rPr lang="en-US" altLang="zh-CN" sz="2000" b="1" dirty="0"/>
              <a:t> </a:t>
            </a:r>
            <a:r>
              <a:rPr lang="en-US" altLang="zh-CN" sz="2000" b="1" dirty="0" err="1"/>
              <a:t>struct</a:t>
            </a:r>
            <a:r>
              <a:rPr lang="en-US" altLang="zh-CN" sz="2000" b="1" dirty="0"/>
              <a:t>  {</a:t>
            </a:r>
          </a:p>
          <a:p>
            <a:pPr>
              <a:lnSpc>
                <a:spcPct val="80000"/>
              </a:lnSpc>
              <a:spcBef>
                <a:spcPct val="20000"/>
              </a:spcBef>
            </a:pPr>
            <a:r>
              <a:rPr lang="en-US" altLang="zh-CN" sz="2000" b="1" dirty="0" smtClean="0"/>
              <a:t>        </a:t>
            </a:r>
            <a:r>
              <a:rPr lang="en-US" altLang="zh-CN" sz="2000" b="1" dirty="0" err="1" smtClean="0"/>
              <a:t>int</a:t>
            </a:r>
            <a:r>
              <a:rPr lang="en-US" altLang="zh-CN" sz="2000" b="1" dirty="0" smtClean="0"/>
              <a:t> </a:t>
            </a:r>
            <a:r>
              <a:rPr lang="en-US" altLang="zh-CN" sz="2000" b="1" dirty="0">
                <a:solidFill>
                  <a:srgbClr val="FF0000"/>
                </a:solidFill>
              </a:rPr>
              <a:t>count</a:t>
            </a:r>
            <a:r>
              <a:rPr lang="en-US" altLang="zh-CN" sz="2000" b="1" dirty="0"/>
              <a:t>;</a:t>
            </a:r>
          </a:p>
          <a:p>
            <a:pPr>
              <a:lnSpc>
                <a:spcPct val="80000"/>
              </a:lnSpc>
              <a:spcBef>
                <a:spcPct val="20000"/>
              </a:spcBef>
            </a:pPr>
            <a:r>
              <a:rPr lang="en-US" altLang="zh-CN" sz="2000" b="1" dirty="0" smtClean="0"/>
              <a:t>        </a:t>
            </a:r>
            <a:r>
              <a:rPr lang="en-US" altLang="zh-CN" sz="2000" b="1" dirty="0" err="1" smtClean="0"/>
              <a:t>Pointer_PCB</a:t>
            </a:r>
            <a:r>
              <a:rPr lang="en-US" altLang="zh-CN" sz="2000" b="1" dirty="0" smtClean="0"/>
              <a:t> </a:t>
            </a:r>
            <a:r>
              <a:rPr lang="en-US" altLang="zh-CN" sz="2000" b="1" dirty="0"/>
              <a:t>Queue;</a:t>
            </a:r>
          </a:p>
          <a:p>
            <a:pPr>
              <a:lnSpc>
                <a:spcPct val="80000"/>
              </a:lnSpc>
              <a:spcBef>
                <a:spcPct val="20000"/>
              </a:spcBef>
            </a:pPr>
            <a:r>
              <a:rPr lang="en-US" altLang="zh-CN" sz="2000" b="1" dirty="0" smtClean="0"/>
              <a:t>}  </a:t>
            </a:r>
            <a:r>
              <a:rPr lang="en-US" altLang="zh-CN" sz="2000" b="1" dirty="0"/>
              <a:t>Semaphore;</a:t>
            </a:r>
          </a:p>
        </p:txBody>
      </p:sp>
    </p:spTree>
    <p:extLst>
      <p:ext uri="{BB962C8B-B14F-4D97-AF65-F5344CB8AC3E}">
        <p14:creationId xmlns:p14="http://schemas.microsoft.com/office/powerpoint/2010/main" val="39556817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用信号量实现互斥</a:t>
            </a:r>
          </a:p>
        </p:txBody>
      </p:sp>
      <p:sp>
        <p:nvSpPr>
          <p:cNvPr id="3" name="Content Placeholder 2"/>
          <p:cNvSpPr>
            <a:spLocks noGrp="1"/>
          </p:cNvSpPr>
          <p:nvPr>
            <p:ph idx="1"/>
          </p:nvPr>
        </p:nvSpPr>
        <p:spPr/>
        <p:txBody>
          <a:bodyPr/>
          <a:lstStyle/>
          <a:p>
            <a:r>
              <a:rPr lang="zh-CN" altLang="en-US" dirty="0" smtClean="0"/>
              <a:t>举例</a:t>
            </a:r>
            <a:endParaRPr lang="zh-CN" altLang="en-US" dirty="0"/>
          </a:p>
        </p:txBody>
      </p:sp>
      <p:sp>
        <p:nvSpPr>
          <p:cNvPr id="4" name="Date Placeholder 3"/>
          <p:cNvSpPr>
            <a:spLocks noGrp="1"/>
          </p:cNvSpPr>
          <p:nvPr>
            <p:ph type="dt" sz="half" idx="10"/>
          </p:nvPr>
        </p:nvSpPr>
        <p:spPr/>
        <p:txBody>
          <a:bodyPr/>
          <a:lstStyle/>
          <a:p>
            <a:fld id="{13DB0E49-B905-4871-BFBF-B4C0BB937E1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40</a:t>
            </a:fld>
            <a:endParaRPr lang="zh-CN" altLang="en-US" dirty="0"/>
          </a:p>
        </p:txBody>
      </p:sp>
      <p:sp>
        <p:nvSpPr>
          <p:cNvPr id="7" name="Text Box 6"/>
          <p:cNvSpPr txBox="1">
            <a:spLocks noChangeArrowheads="1"/>
          </p:cNvSpPr>
          <p:nvPr/>
        </p:nvSpPr>
        <p:spPr bwMode="auto">
          <a:xfrm>
            <a:off x="755576" y="2060848"/>
            <a:ext cx="367240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err="1">
                <a:latin typeface="+mn-lt"/>
              </a:rPr>
              <a:t>const</a:t>
            </a:r>
            <a:r>
              <a:rPr lang="en-US" altLang="zh-CN" b="1" dirty="0">
                <a:latin typeface="+mn-lt"/>
              </a:rPr>
              <a:t>  </a:t>
            </a:r>
            <a:r>
              <a:rPr lang="en-US" altLang="zh-CN" b="1" dirty="0" err="1">
                <a:latin typeface="+mn-lt"/>
              </a:rPr>
              <a:t>int</a:t>
            </a:r>
            <a:r>
              <a:rPr lang="en-US" altLang="zh-CN" b="1" dirty="0">
                <a:latin typeface="+mn-lt"/>
              </a:rPr>
              <a:t> n = </a:t>
            </a:r>
            <a:r>
              <a:rPr lang="zh-CN" altLang="en-US" b="1" dirty="0">
                <a:latin typeface="+mn-lt"/>
              </a:rPr>
              <a:t>进程数；</a:t>
            </a:r>
            <a:r>
              <a:rPr lang="en-US" altLang="zh-CN" b="1" dirty="0">
                <a:latin typeface="+mn-lt"/>
              </a:rPr>
              <a:t>Semaphore </a:t>
            </a:r>
            <a:r>
              <a:rPr lang="en-US" altLang="zh-CN" b="1" dirty="0">
                <a:solidFill>
                  <a:srgbClr val="FF0000"/>
                </a:solidFill>
                <a:latin typeface="+mn-lt"/>
              </a:rPr>
              <a:t>s = 1</a:t>
            </a:r>
            <a:r>
              <a:rPr lang="en-US" altLang="zh-CN" b="1" dirty="0">
                <a:latin typeface="+mn-lt"/>
              </a:rPr>
              <a:t>;</a:t>
            </a:r>
            <a:br>
              <a:rPr lang="en-US" altLang="zh-CN" b="1" dirty="0">
                <a:latin typeface="+mn-lt"/>
              </a:rPr>
            </a:br>
            <a:r>
              <a:rPr lang="en-US" altLang="zh-CN" b="1" dirty="0" smtClean="0">
                <a:latin typeface="+mn-lt"/>
              </a:rPr>
              <a:t>void  </a:t>
            </a:r>
            <a:r>
              <a:rPr lang="en-US" altLang="zh-CN" b="1" dirty="0">
                <a:latin typeface="+mn-lt"/>
              </a:rPr>
              <a:t>Process( </a:t>
            </a:r>
            <a:r>
              <a:rPr lang="en-US" altLang="zh-CN" b="1" dirty="0" err="1">
                <a:latin typeface="+mn-lt"/>
              </a:rPr>
              <a:t>int</a:t>
            </a:r>
            <a:r>
              <a:rPr lang="en-US" altLang="zh-CN" b="1" dirty="0">
                <a:latin typeface="+mn-lt"/>
              </a:rPr>
              <a:t> </a:t>
            </a:r>
            <a:r>
              <a:rPr lang="en-US" altLang="zh-CN" b="1" dirty="0" err="1">
                <a:latin typeface="+mn-lt"/>
              </a:rPr>
              <a:t>i</a:t>
            </a:r>
            <a:r>
              <a:rPr lang="en-US" altLang="zh-CN" b="1" dirty="0">
                <a:latin typeface="+mn-lt"/>
              </a:rPr>
              <a:t>) {</a:t>
            </a:r>
            <a:br>
              <a:rPr lang="en-US" altLang="zh-CN" b="1" dirty="0">
                <a:latin typeface="+mn-lt"/>
              </a:rPr>
            </a:br>
            <a:r>
              <a:rPr lang="en-US" altLang="zh-CN" b="1" dirty="0">
                <a:latin typeface="+mn-lt"/>
              </a:rPr>
              <a:t>     while ( true) {</a:t>
            </a:r>
            <a:br>
              <a:rPr lang="en-US" altLang="zh-CN" b="1" dirty="0">
                <a:latin typeface="+mn-lt"/>
              </a:rPr>
            </a:br>
            <a:r>
              <a:rPr lang="en-US" altLang="zh-CN" b="1" dirty="0">
                <a:latin typeface="+mn-lt"/>
              </a:rPr>
              <a:t>            </a:t>
            </a:r>
            <a:r>
              <a:rPr lang="en-US" altLang="zh-CN" b="1" dirty="0">
                <a:solidFill>
                  <a:srgbClr val="FF0000"/>
                </a:solidFill>
                <a:latin typeface="+mn-lt"/>
              </a:rPr>
              <a:t>P(s);</a:t>
            </a:r>
            <a:r>
              <a:rPr lang="en-US" altLang="zh-CN" b="1" dirty="0">
                <a:latin typeface="+mn-lt"/>
              </a:rPr>
              <a:t>  // wait(s)</a:t>
            </a:r>
            <a:br>
              <a:rPr lang="en-US" altLang="zh-CN" b="1" dirty="0">
                <a:latin typeface="+mn-lt"/>
              </a:rPr>
            </a:br>
            <a:r>
              <a:rPr lang="en-US" altLang="zh-CN" b="1" dirty="0">
                <a:latin typeface="+mn-lt"/>
              </a:rPr>
              <a:t>              </a:t>
            </a:r>
            <a:r>
              <a:rPr lang="en-US" altLang="zh-CN" b="1" dirty="0">
                <a:solidFill>
                  <a:srgbClr val="0000FF"/>
                </a:solidFill>
                <a:latin typeface="+mn-lt"/>
              </a:rPr>
              <a:t>&lt;critical section&gt;</a:t>
            </a:r>
            <a:br>
              <a:rPr lang="en-US" altLang="zh-CN" b="1" dirty="0">
                <a:solidFill>
                  <a:srgbClr val="0000FF"/>
                </a:solidFill>
                <a:latin typeface="+mn-lt"/>
              </a:rPr>
            </a:br>
            <a:r>
              <a:rPr lang="en-US" altLang="zh-CN" b="1" dirty="0">
                <a:latin typeface="+mn-lt"/>
              </a:rPr>
              <a:t>            </a:t>
            </a:r>
            <a:r>
              <a:rPr lang="en-US" altLang="zh-CN" b="1" dirty="0">
                <a:solidFill>
                  <a:srgbClr val="FF0000"/>
                </a:solidFill>
                <a:latin typeface="+mn-lt"/>
              </a:rPr>
              <a:t>V(s</a:t>
            </a:r>
            <a:r>
              <a:rPr lang="en-US" altLang="zh-CN" b="1" dirty="0" smtClean="0">
                <a:solidFill>
                  <a:srgbClr val="FF0000"/>
                </a:solidFill>
                <a:latin typeface="+mn-lt"/>
              </a:rPr>
              <a:t>);</a:t>
            </a:r>
            <a:r>
              <a:rPr lang="en-US" altLang="zh-CN" b="1" dirty="0" smtClean="0">
                <a:latin typeface="+mn-lt"/>
              </a:rPr>
              <a:t>  </a:t>
            </a:r>
            <a:r>
              <a:rPr lang="en-US" altLang="zh-CN" b="1" dirty="0">
                <a:latin typeface="+mn-lt"/>
              </a:rPr>
              <a:t>// signal(s)</a:t>
            </a:r>
          </a:p>
          <a:p>
            <a:pPr eaLnBrk="1" hangingPunct="1"/>
            <a:r>
              <a:rPr lang="en-US" altLang="zh-CN" b="1" dirty="0">
                <a:latin typeface="+mn-lt"/>
              </a:rPr>
              <a:t>      remainder section</a:t>
            </a:r>
          </a:p>
          <a:p>
            <a:pPr eaLnBrk="1" hangingPunct="1"/>
            <a:r>
              <a:rPr lang="en-US" altLang="zh-CN" b="1" dirty="0">
                <a:latin typeface="+mn-lt"/>
              </a:rPr>
              <a:t>     }</a:t>
            </a:r>
          </a:p>
          <a:p>
            <a:pPr eaLnBrk="1" hangingPunct="1"/>
            <a:r>
              <a:rPr lang="en-US" altLang="zh-CN" b="1" dirty="0">
                <a:latin typeface="+mn-lt"/>
              </a:rPr>
              <a:t>}</a:t>
            </a:r>
          </a:p>
        </p:txBody>
      </p:sp>
      <p:sp>
        <p:nvSpPr>
          <p:cNvPr id="8" name="Text Box 7"/>
          <p:cNvSpPr txBox="1">
            <a:spLocks noChangeArrowheads="1"/>
          </p:cNvSpPr>
          <p:nvPr/>
        </p:nvSpPr>
        <p:spPr bwMode="auto">
          <a:xfrm>
            <a:off x="4870376" y="2070373"/>
            <a:ext cx="3505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mn-lt"/>
              </a:rPr>
              <a:t>void main()</a:t>
            </a:r>
          </a:p>
          <a:p>
            <a:pPr eaLnBrk="1" hangingPunct="1">
              <a:spcBef>
                <a:spcPct val="50000"/>
              </a:spcBef>
            </a:pPr>
            <a:r>
              <a:rPr lang="en-US" altLang="zh-CN" b="1" dirty="0">
                <a:latin typeface="+mn-lt"/>
              </a:rPr>
              <a:t>{</a:t>
            </a:r>
          </a:p>
          <a:p>
            <a:pPr eaLnBrk="1" hangingPunct="1">
              <a:spcBef>
                <a:spcPct val="50000"/>
              </a:spcBef>
            </a:pPr>
            <a:r>
              <a:rPr lang="en-US" altLang="zh-CN" b="1" dirty="0">
                <a:latin typeface="+mn-lt"/>
              </a:rPr>
              <a:t>    </a:t>
            </a:r>
            <a:r>
              <a:rPr lang="en-US" altLang="zh-CN" b="1" dirty="0" err="1">
                <a:latin typeface="+mn-lt"/>
              </a:rPr>
              <a:t>parbegin</a:t>
            </a:r>
            <a:r>
              <a:rPr lang="en-US" altLang="zh-CN" b="1" dirty="0">
                <a:latin typeface="+mn-lt"/>
              </a:rPr>
              <a:t>(Process(1),</a:t>
            </a:r>
          </a:p>
          <a:p>
            <a:pPr eaLnBrk="1" hangingPunct="1">
              <a:spcBef>
                <a:spcPct val="50000"/>
              </a:spcBef>
            </a:pPr>
            <a:r>
              <a:rPr lang="en-US" altLang="zh-CN" b="1" dirty="0">
                <a:latin typeface="+mn-lt"/>
              </a:rPr>
              <a:t>                     Process(2),</a:t>
            </a:r>
          </a:p>
          <a:p>
            <a:pPr eaLnBrk="1" hangingPunct="1">
              <a:spcBef>
                <a:spcPct val="50000"/>
              </a:spcBef>
            </a:pPr>
            <a:r>
              <a:rPr lang="en-US" altLang="zh-CN" b="1" dirty="0">
                <a:latin typeface="+mn-lt"/>
              </a:rPr>
              <a:t>                     ...,</a:t>
            </a:r>
          </a:p>
          <a:p>
            <a:pPr eaLnBrk="1" hangingPunct="1">
              <a:spcBef>
                <a:spcPct val="50000"/>
              </a:spcBef>
            </a:pPr>
            <a:r>
              <a:rPr lang="en-US" altLang="zh-CN" b="1" dirty="0">
                <a:latin typeface="+mn-lt"/>
              </a:rPr>
              <a:t>                     Process(n));</a:t>
            </a:r>
          </a:p>
          <a:p>
            <a:pPr eaLnBrk="1" hangingPunct="1">
              <a:spcBef>
                <a:spcPct val="50000"/>
              </a:spcBef>
            </a:pPr>
            <a:r>
              <a:rPr lang="en-US" altLang="zh-CN" b="1" dirty="0">
                <a:latin typeface="+mn-lt"/>
              </a:rPr>
              <a:t>}</a:t>
            </a:r>
          </a:p>
        </p:txBody>
      </p:sp>
    </p:spTree>
    <p:extLst>
      <p:ext uri="{BB962C8B-B14F-4D97-AF65-F5344CB8AC3E}">
        <p14:creationId xmlns:p14="http://schemas.microsoft.com/office/powerpoint/2010/main" val="37941691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用信号量实现互斥</a:t>
            </a:r>
          </a:p>
        </p:txBody>
      </p:sp>
      <p:pic>
        <p:nvPicPr>
          <p:cNvPr id="7" name="Content Placeholder 6"/>
          <p:cNvPicPr>
            <a:picLocks noGrp="1" noChangeAspect="1"/>
          </p:cNvPicPr>
          <p:nvPr>
            <p:ph idx="1"/>
          </p:nvPr>
        </p:nvPicPr>
        <p:blipFill>
          <a:blip r:embed="rId2"/>
          <a:stretch>
            <a:fillRect/>
          </a:stretch>
        </p:blipFill>
        <p:spPr>
          <a:xfrm>
            <a:off x="1723072" y="1771072"/>
            <a:ext cx="5697855" cy="4251960"/>
          </a:xfrm>
          <a:prstGeom prst="rect">
            <a:avLst/>
          </a:prstGeom>
        </p:spPr>
      </p:pic>
      <p:sp>
        <p:nvSpPr>
          <p:cNvPr id="4" name="Date Placeholder 3"/>
          <p:cNvSpPr>
            <a:spLocks noGrp="1"/>
          </p:cNvSpPr>
          <p:nvPr>
            <p:ph type="dt" sz="half" idx="10"/>
          </p:nvPr>
        </p:nvSpPr>
        <p:spPr/>
        <p:txBody>
          <a:bodyPr/>
          <a:lstStyle/>
          <a:p>
            <a:fld id="{4CE1B833-0ABB-41BB-BEAA-24FE1FC0235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41</a:t>
            </a:fld>
            <a:endParaRPr lang="zh-CN" altLang="en-US" dirty="0"/>
          </a:p>
        </p:txBody>
      </p:sp>
      <p:cxnSp>
        <p:nvCxnSpPr>
          <p:cNvPr id="9" name="Straight Arrow Connector 8"/>
          <p:cNvCxnSpPr/>
          <p:nvPr/>
        </p:nvCxnSpPr>
        <p:spPr>
          <a:xfrm>
            <a:off x="4499992" y="2852936"/>
            <a:ext cx="0" cy="1224136"/>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076056" y="4293096"/>
            <a:ext cx="0" cy="648072"/>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724128" y="5085184"/>
            <a:ext cx="0" cy="432048"/>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3693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信号量的操作</a:t>
            </a:r>
            <a:r>
              <a:rPr lang="en-US" altLang="zh-CN" dirty="0" smtClean="0"/>
              <a:t>——P</a:t>
            </a:r>
            <a:r>
              <a:rPr lang="zh-CN" altLang="en-US" dirty="0" smtClean="0"/>
              <a:t>、</a:t>
            </a:r>
            <a:r>
              <a:rPr lang="en-US" altLang="zh-CN" dirty="0" smtClean="0"/>
              <a:t>V</a:t>
            </a:r>
            <a:r>
              <a:rPr lang="zh-CN" altLang="en-US" dirty="0" smtClean="0"/>
              <a:t>原语</a:t>
            </a:r>
            <a:endParaRPr lang="zh-CN" altLang="en-US" dirty="0"/>
          </a:p>
        </p:txBody>
      </p:sp>
      <p:sp>
        <p:nvSpPr>
          <p:cNvPr id="3" name="Content Placeholder 2"/>
          <p:cNvSpPr>
            <a:spLocks noGrp="1"/>
          </p:cNvSpPr>
          <p:nvPr>
            <p:ph idx="1"/>
          </p:nvPr>
        </p:nvSpPr>
        <p:spPr/>
        <p:txBody>
          <a:bodyPr/>
          <a:lstStyle/>
          <a:p>
            <a:r>
              <a:rPr lang="en-US" altLang="zh-CN" dirty="0" smtClean="0"/>
              <a:t>P</a:t>
            </a:r>
            <a:r>
              <a:rPr lang="zh-CN" altLang="en-US" dirty="0" smtClean="0"/>
              <a:t>原语</a:t>
            </a:r>
            <a:r>
              <a:rPr lang="en-US" altLang="zh-CN" dirty="0" smtClean="0"/>
              <a:t>——P(s)</a:t>
            </a:r>
            <a:r>
              <a:rPr lang="zh-CN" altLang="en-US" dirty="0" smtClean="0"/>
              <a:t>或</a:t>
            </a:r>
            <a:r>
              <a:rPr lang="en-US" altLang="zh-CN" dirty="0" smtClean="0"/>
              <a:t>wait(s)</a:t>
            </a:r>
          </a:p>
          <a:p>
            <a:pPr lvl="1"/>
            <a:r>
              <a:rPr lang="zh-CN" altLang="en-US" dirty="0"/>
              <a:t>荷兰语</a:t>
            </a:r>
            <a:r>
              <a:rPr lang="en-US" altLang="zh-CN" dirty="0" err="1"/>
              <a:t>proberen</a:t>
            </a:r>
            <a:r>
              <a:rPr lang="zh-CN" altLang="en-US" dirty="0"/>
              <a:t>，是</a:t>
            </a:r>
            <a:r>
              <a:rPr lang="en-US" altLang="zh-CN" dirty="0"/>
              <a:t>test</a:t>
            </a:r>
            <a:r>
              <a:rPr lang="zh-CN" altLang="en-US" dirty="0"/>
              <a:t>的意思</a:t>
            </a:r>
            <a:endParaRPr lang="en-US" altLang="zh-CN" dirty="0"/>
          </a:p>
          <a:p>
            <a:pPr lvl="1"/>
            <a:r>
              <a:rPr lang="zh-CN" altLang="en-US" dirty="0"/>
              <a:t>功</a:t>
            </a:r>
            <a:r>
              <a:rPr lang="zh-CN" altLang="en-US" dirty="0" smtClean="0"/>
              <a:t>能是使信号量的值减</a:t>
            </a:r>
            <a:r>
              <a:rPr lang="en-US" altLang="zh-CN" dirty="0" smtClean="0"/>
              <a:t>1</a:t>
            </a:r>
            <a:endParaRPr lang="zh-CN" altLang="en-US" dirty="0"/>
          </a:p>
        </p:txBody>
      </p:sp>
      <p:sp>
        <p:nvSpPr>
          <p:cNvPr id="4" name="Date Placeholder 3"/>
          <p:cNvSpPr>
            <a:spLocks noGrp="1"/>
          </p:cNvSpPr>
          <p:nvPr>
            <p:ph type="dt" sz="half" idx="10"/>
          </p:nvPr>
        </p:nvSpPr>
        <p:spPr/>
        <p:txBody>
          <a:bodyPr/>
          <a:lstStyle/>
          <a:p>
            <a:fld id="{F7BD8ACE-1ABF-4F4E-9806-DE476E7578A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42</a:t>
            </a:fld>
            <a:endParaRPr lang="zh-CN" altLang="en-US" dirty="0"/>
          </a:p>
        </p:txBody>
      </p:sp>
      <p:sp>
        <p:nvSpPr>
          <p:cNvPr id="7" name="Rectangle 6"/>
          <p:cNvSpPr/>
          <p:nvPr/>
        </p:nvSpPr>
        <p:spPr>
          <a:xfrm>
            <a:off x="1043608" y="2862222"/>
            <a:ext cx="6552728" cy="3447098"/>
          </a:xfrm>
          <a:prstGeom prst="rect">
            <a:avLst/>
          </a:prstGeom>
        </p:spPr>
        <p:txBody>
          <a:bodyPr wrap="square">
            <a:spAutoFit/>
          </a:bodyPr>
          <a:lstStyle/>
          <a:p>
            <a:pPr marL="1270000" lvl="2">
              <a:spcBef>
                <a:spcPct val="10000"/>
              </a:spcBef>
            </a:pPr>
            <a:r>
              <a:rPr lang="en-US" altLang="zh-CN" sz="2000" b="1" dirty="0" smtClean="0">
                <a:ea typeface="楷体" panose="02010609060101010101" pitchFamily="49" charset="-122"/>
              </a:rPr>
              <a:t>P(s</a:t>
            </a:r>
            <a:r>
              <a:rPr lang="en-US" altLang="zh-CN" sz="2000" b="1" dirty="0">
                <a:ea typeface="楷体" panose="02010609060101010101" pitchFamily="49" charset="-122"/>
              </a:rPr>
              <a:t>)</a:t>
            </a:r>
          </a:p>
          <a:p>
            <a:pPr marL="1270000" lvl="2">
              <a:spcBef>
                <a:spcPct val="10000"/>
              </a:spcBef>
            </a:pPr>
            <a:r>
              <a:rPr lang="en-US" altLang="zh-CN" sz="2000" b="1" dirty="0">
                <a:ea typeface="楷体" panose="02010609060101010101" pitchFamily="49" charset="-122"/>
              </a:rPr>
              <a:t>{</a:t>
            </a:r>
          </a:p>
          <a:p>
            <a:pPr marL="1270000"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r>
              <a:rPr lang="en-US" altLang="zh-CN" sz="2000" b="1" dirty="0" err="1">
                <a:ea typeface="楷体" panose="02010609060101010101" pitchFamily="49" charset="-122"/>
              </a:rPr>
              <a:t>s.count</a:t>
            </a:r>
            <a:r>
              <a:rPr lang="en-US" altLang="zh-CN" sz="2000" b="1" dirty="0">
                <a:ea typeface="楷体" panose="02010609060101010101" pitchFamily="49" charset="-122"/>
              </a:rPr>
              <a:t>;		</a:t>
            </a:r>
            <a:r>
              <a:rPr lang="en-US" altLang="zh-CN" sz="2000" b="1" dirty="0">
                <a:solidFill>
                  <a:srgbClr val="009900"/>
                </a:solidFill>
                <a:ea typeface="楷体" panose="02010609060101010101" pitchFamily="49" charset="-122"/>
              </a:rPr>
              <a:t>//</a:t>
            </a:r>
            <a:r>
              <a:rPr lang="zh-CN" altLang="en-US" sz="2000" b="1" dirty="0">
                <a:solidFill>
                  <a:srgbClr val="009900"/>
                </a:solidFill>
                <a:ea typeface="楷体" panose="02010609060101010101" pitchFamily="49" charset="-122"/>
              </a:rPr>
              <a:t>表示申请一个资源</a:t>
            </a:r>
            <a:r>
              <a:rPr lang="en-US" altLang="zh-CN" sz="2000" b="1" dirty="0">
                <a:solidFill>
                  <a:srgbClr val="009900"/>
                </a:solidFill>
                <a:ea typeface="楷体" panose="02010609060101010101" pitchFamily="49" charset="-122"/>
              </a:rPr>
              <a:t>;</a:t>
            </a:r>
          </a:p>
          <a:p>
            <a:pPr marL="1270000"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if </a:t>
            </a:r>
            <a:r>
              <a:rPr lang="en-US" altLang="zh-CN" sz="2000" b="1" dirty="0">
                <a:ea typeface="楷体" panose="02010609060101010101" pitchFamily="49" charset="-122"/>
              </a:rPr>
              <a:t>(</a:t>
            </a:r>
            <a:r>
              <a:rPr lang="en-US" altLang="zh-CN" sz="2000" b="1" dirty="0" err="1">
                <a:ea typeface="楷体" panose="02010609060101010101" pitchFamily="49" charset="-122"/>
              </a:rPr>
              <a:t>s.count</a:t>
            </a:r>
            <a:r>
              <a:rPr lang="en-US" altLang="zh-CN" sz="2000" b="1" dirty="0">
                <a:ea typeface="楷体" panose="02010609060101010101" pitchFamily="49" charset="-122"/>
              </a:rPr>
              <a:t> &lt;0)	</a:t>
            </a:r>
            <a:r>
              <a:rPr lang="en-US" altLang="zh-CN" sz="2000" b="1" dirty="0">
                <a:solidFill>
                  <a:srgbClr val="009900"/>
                </a:solidFill>
                <a:ea typeface="楷体" panose="02010609060101010101" pitchFamily="49" charset="-122"/>
              </a:rPr>
              <a:t>//</a:t>
            </a:r>
            <a:r>
              <a:rPr lang="zh-CN" altLang="en-US" sz="2000" b="1" dirty="0">
                <a:solidFill>
                  <a:srgbClr val="009900"/>
                </a:solidFill>
                <a:ea typeface="楷体" panose="02010609060101010101" pitchFamily="49" charset="-122"/>
              </a:rPr>
              <a:t>表示没有空闲资源</a:t>
            </a:r>
            <a:r>
              <a:rPr lang="en-US" altLang="zh-CN" sz="2000" b="1" dirty="0">
                <a:solidFill>
                  <a:srgbClr val="009900"/>
                </a:solidFill>
                <a:ea typeface="楷体" panose="02010609060101010101" pitchFamily="49" charset="-122"/>
              </a:rPr>
              <a:t>;</a:t>
            </a:r>
          </a:p>
          <a:p>
            <a:pPr marL="1270000" lvl="2">
              <a:spcBef>
                <a:spcPct val="10000"/>
              </a:spcBef>
            </a:pPr>
            <a:r>
              <a:rPr lang="en-US" altLang="zh-CN" sz="2000" b="1" dirty="0">
                <a:ea typeface="楷体" panose="02010609060101010101" pitchFamily="49" charset="-122"/>
              </a:rPr>
              <a:t>    {</a:t>
            </a:r>
          </a:p>
          <a:p>
            <a:pPr marL="1270000" lvl="2">
              <a:spcBef>
                <a:spcPct val="10000"/>
              </a:spcBef>
            </a:pPr>
            <a:r>
              <a:rPr lang="en-US" altLang="zh-CN" sz="2000" b="1" dirty="0">
                <a:ea typeface="楷体" panose="02010609060101010101" pitchFamily="49" charset="-122"/>
              </a:rPr>
              <a:t>        </a:t>
            </a:r>
            <a:r>
              <a:rPr lang="zh-CN" altLang="en-US" sz="2000" b="1" dirty="0">
                <a:ea typeface="楷体" panose="02010609060101010101" pitchFamily="49" charset="-122"/>
              </a:rPr>
              <a:t>调用进程进入等待队列</a:t>
            </a:r>
            <a:r>
              <a:rPr lang="en-US" altLang="zh-CN" sz="2000" b="1" dirty="0" err="1">
                <a:ea typeface="楷体" panose="02010609060101010101" pitchFamily="49" charset="-122"/>
              </a:rPr>
              <a:t>s.queue</a:t>
            </a:r>
            <a:r>
              <a:rPr lang="en-US" altLang="zh-CN" sz="2000" b="1" dirty="0">
                <a:ea typeface="楷体" panose="02010609060101010101" pitchFamily="49" charset="-122"/>
              </a:rPr>
              <a:t>;</a:t>
            </a:r>
          </a:p>
          <a:p>
            <a:pPr marL="1270000" lvl="2">
              <a:spcBef>
                <a:spcPct val="10000"/>
              </a:spcBef>
            </a:pPr>
            <a:r>
              <a:rPr lang="en-US" altLang="zh-CN" sz="2000" b="1" dirty="0">
                <a:ea typeface="楷体" panose="02010609060101010101" pitchFamily="49" charset="-122"/>
              </a:rPr>
              <a:t>        </a:t>
            </a:r>
            <a:r>
              <a:rPr lang="zh-CN" altLang="en-US" sz="2000" b="1" dirty="0">
                <a:ea typeface="楷体" panose="02010609060101010101" pitchFamily="49" charset="-122"/>
              </a:rPr>
              <a:t>阻塞调用进程</a:t>
            </a:r>
            <a:r>
              <a:rPr lang="en-US" altLang="zh-CN" sz="2000" b="1" dirty="0">
                <a:ea typeface="楷体" panose="02010609060101010101" pitchFamily="49" charset="-122"/>
              </a:rPr>
              <a:t>;</a:t>
            </a:r>
          </a:p>
          <a:p>
            <a:pPr marL="1270000" lvl="2">
              <a:spcBef>
                <a:spcPct val="10000"/>
              </a:spcBef>
            </a:pPr>
            <a:r>
              <a:rPr lang="en-US" altLang="zh-CN" sz="2000" b="1" dirty="0">
                <a:ea typeface="楷体" panose="02010609060101010101" pitchFamily="49" charset="-122"/>
              </a:rPr>
              <a:t>        </a:t>
            </a:r>
            <a:r>
              <a:rPr lang="zh-CN" altLang="en-US" sz="2000" b="1" dirty="0">
                <a:solidFill>
                  <a:srgbClr val="FF0000"/>
                </a:solidFill>
                <a:ea typeface="楷体" panose="02010609060101010101" pitchFamily="49" charset="-122"/>
              </a:rPr>
              <a:t>转进程调度；</a:t>
            </a:r>
            <a:endParaRPr lang="en-US" altLang="zh-CN" sz="2000" b="1" dirty="0">
              <a:solidFill>
                <a:srgbClr val="FF0000"/>
              </a:solidFill>
              <a:ea typeface="楷体" panose="02010609060101010101" pitchFamily="49" charset="-122"/>
            </a:endParaRPr>
          </a:p>
          <a:p>
            <a:pPr marL="1270000" lvl="2">
              <a:spcBef>
                <a:spcPct val="10000"/>
              </a:spcBef>
            </a:pPr>
            <a:r>
              <a:rPr lang="en-US" altLang="zh-CN" sz="2000" b="1" dirty="0">
                <a:ea typeface="楷体" panose="02010609060101010101" pitchFamily="49" charset="-122"/>
              </a:rPr>
              <a:t>    }</a:t>
            </a:r>
          </a:p>
          <a:p>
            <a:pPr marL="1270000" lvl="2">
              <a:spcBef>
                <a:spcPct val="10000"/>
              </a:spcBef>
            </a:pPr>
            <a:r>
              <a:rPr lang="en-US" altLang="zh-CN" sz="2000" b="1" dirty="0">
                <a:ea typeface="楷体" panose="02010609060101010101" pitchFamily="49" charset="-122"/>
              </a:rPr>
              <a:t>}</a:t>
            </a:r>
          </a:p>
        </p:txBody>
      </p:sp>
    </p:spTree>
    <p:extLst>
      <p:ext uri="{BB962C8B-B14F-4D97-AF65-F5344CB8AC3E}">
        <p14:creationId xmlns:p14="http://schemas.microsoft.com/office/powerpoint/2010/main" val="40362550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信号量的操作</a:t>
            </a:r>
            <a:r>
              <a:rPr lang="en-US" altLang="zh-CN" dirty="0"/>
              <a:t>——P</a:t>
            </a:r>
            <a:r>
              <a:rPr lang="zh-CN" altLang="en-US" dirty="0"/>
              <a:t>、</a:t>
            </a:r>
            <a:r>
              <a:rPr lang="en-US" altLang="zh-CN" dirty="0"/>
              <a:t>V</a:t>
            </a:r>
            <a:r>
              <a:rPr lang="zh-CN" altLang="en-US" dirty="0"/>
              <a:t>原语</a:t>
            </a:r>
          </a:p>
        </p:txBody>
      </p:sp>
      <p:sp>
        <p:nvSpPr>
          <p:cNvPr id="3" name="Content Placeholder 2"/>
          <p:cNvSpPr>
            <a:spLocks noGrp="1"/>
          </p:cNvSpPr>
          <p:nvPr>
            <p:ph idx="1"/>
          </p:nvPr>
        </p:nvSpPr>
        <p:spPr/>
        <p:txBody>
          <a:bodyPr/>
          <a:lstStyle/>
          <a:p>
            <a:r>
              <a:rPr lang="en-US" altLang="zh-CN" dirty="0" smtClean="0"/>
              <a:t>V</a:t>
            </a:r>
            <a:r>
              <a:rPr lang="zh-CN" altLang="en-US" dirty="0" smtClean="0"/>
              <a:t>原语</a:t>
            </a:r>
            <a:r>
              <a:rPr lang="en-US" altLang="zh-CN" dirty="0" smtClean="0"/>
              <a:t>——V(s)</a:t>
            </a:r>
            <a:r>
              <a:rPr lang="zh-CN" altLang="en-US" dirty="0" smtClean="0"/>
              <a:t>或</a:t>
            </a:r>
            <a:r>
              <a:rPr lang="en-US" altLang="zh-CN" dirty="0" smtClean="0"/>
              <a:t>signal(s)</a:t>
            </a:r>
          </a:p>
          <a:p>
            <a:pPr lvl="1"/>
            <a:r>
              <a:rPr lang="zh-CN" altLang="en-US" dirty="0"/>
              <a:t>荷兰</a:t>
            </a:r>
            <a:r>
              <a:rPr lang="zh-CN" altLang="en-US" dirty="0" smtClean="0"/>
              <a:t>语</a:t>
            </a:r>
            <a:r>
              <a:rPr lang="en-US" altLang="zh-CN" sz="2000" dirty="0" err="1" smtClean="0"/>
              <a:t>verhogen</a:t>
            </a:r>
            <a:r>
              <a:rPr lang="zh-CN" altLang="en-US" sz="2000" dirty="0" smtClean="0"/>
              <a:t>，是</a:t>
            </a:r>
            <a:r>
              <a:rPr lang="en-US" altLang="zh-CN" sz="2000" dirty="0" smtClean="0"/>
              <a:t>increment</a:t>
            </a:r>
            <a:r>
              <a:rPr lang="zh-CN" altLang="en-US" sz="2000" dirty="0" smtClean="0"/>
              <a:t>的意思</a:t>
            </a:r>
            <a:endParaRPr lang="en-US" altLang="zh-CN" sz="2000" dirty="0" smtClean="0"/>
          </a:p>
          <a:p>
            <a:pPr lvl="1"/>
            <a:r>
              <a:rPr lang="zh-CN" altLang="en-US" dirty="0" smtClean="0"/>
              <a:t>功能是使信号量的值加</a:t>
            </a:r>
            <a:r>
              <a:rPr lang="en-US" altLang="zh-CN" dirty="0" smtClean="0"/>
              <a:t>1</a:t>
            </a:r>
            <a:endParaRPr lang="zh-CN" altLang="en-US" dirty="0"/>
          </a:p>
        </p:txBody>
      </p:sp>
      <p:sp>
        <p:nvSpPr>
          <p:cNvPr id="4" name="Date Placeholder 3"/>
          <p:cNvSpPr>
            <a:spLocks noGrp="1"/>
          </p:cNvSpPr>
          <p:nvPr>
            <p:ph type="dt" sz="half" idx="10"/>
          </p:nvPr>
        </p:nvSpPr>
        <p:spPr/>
        <p:txBody>
          <a:bodyPr/>
          <a:lstStyle/>
          <a:p>
            <a:fld id="{6466F969-CA21-4A27-B651-572A9C92C7D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43</a:t>
            </a:fld>
            <a:endParaRPr lang="zh-CN" altLang="en-US" dirty="0"/>
          </a:p>
        </p:txBody>
      </p:sp>
      <p:sp>
        <p:nvSpPr>
          <p:cNvPr id="7" name="Rectangle 6"/>
          <p:cNvSpPr/>
          <p:nvPr/>
        </p:nvSpPr>
        <p:spPr>
          <a:xfrm>
            <a:off x="683568" y="2852936"/>
            <a:ext cx="7110536" cy="3447098"/>
          </a:xfrm>
          <a:prstGeom prst="rect">
            <a:avLst/>
          </a:prstGeom>
        </p:spPr>
        <p:txBody>
          <a:bodyPr wrap="square">
            <a:spAutoFit/>
          </a:bodyPr>
          <a:lstStyle/>
          <a:p>
            <a:pPr marL="1177925" lvl="2">
              <a:spcBef>
                <a:spcPct val="10000"/>
              </a:spcBef>
            </a:pPr>
            <a:r>
              <a:rPr lang="en-US" altLang="zh-CN" sz="2000" b="1" dirty="0" smtClean="0">
                <a:ea typeface="楷体" panose="02010609060101010101" pitchFamily="49" charset="-122"/>
              </a:rPr>
              <a:t>V(s)</a:t>
            </a:r>
            <a:endParaRPr lang="en-US" altLang="zh-CN" sz="2000" b="1" dirty="0">
              <a:ea typeface="楷体" panose="02010609060101010101" pitchFamily="49" charset="-122"/>
            </a:endParaRPr>
          </a:p>
          <a:p>
            <a:pPr marL="1177925" lvl="2">
              <a:spcBef>
                <a:spcPct val="10000"/>
              </a:spcBef>
            </a:pPr>
            <a:r>
              <a:rPr lang="en-US" altLang="zh-CN" sz="2000" b="1" dirty="0">
                <a:ea typeface="楷体" panose="02010609060101010101" pitchFamily="49" charset="-122"/>
              </a:rPr>
              <a:t>{</a:t>
            </a:r>
          </a:p>
          <a:p>
            <a:pPr marL="1177925"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r>
              <a:rPr lang="en-US" altLang="zh-CN" sz="2000" b="1" dirty="0" err="1">
                <a:ea typeface="楷体" panose="02010609060101010101" pitchFamily="49" charset="-122"/>
              </a:rPr>
              <a:t>s.count</a:t>
            </a:r>
            <a:r>
              <a:rPr lang="en-US" altLang="zh-CN" sz="2000" b="1" dirty="0">
                <a:ea typeface="楷体" panose="02010609060101010101" pitchFamily="49" charset="-122"/>
              </a:rPr>
              <a:t>;		  </a:t>
            </a:r>
            <a:r>
              <a:rPr lang="en-US" altLang="zh-CN" sz="2000" b="1" dirty="0">
                <a:solidFill>
                  <a:srgbClr val="009900"/>
                </a:solidFill>
                <a:ea typeface="楷体" panose="02010609060101010101" pitchFamily="49" charset="-122"/>
              </a:rPr>
              <a:t>//</a:t>
            </a:r>
            <a:r>
              <a:rPr lang="zh-CN" altLang="en-US" sz="2000" b="1" dirty="0">
                <a:solidFill>
                  <a:srgbClr val="009900"/>
                </a:solidFill>
                <a:ea typeface="楷体" panose="02010609060101010101" pitchFamily="49" charset="-122"/>
              </a:rPr>
              <a:t>表示释放一个资源；</a:t>
            </a:r>
          </a:p>
          <a:p>
            <a:pPr marL="1177925" lvl="2">
              <a:spcBef>
                <a:spcPct val="10000"/>
              </a:spcBef>
            </a:pPr>
            <a:r>
              <a:rPr lang="zh-CN" altLang="en-US" sz="2000" b="1" dirty="0">
                <a:ea typeface="楷体" panose="02010609060101010101" pitchFamily="49" charset="-122"/>
              </a:rPr>
              <a:t> </a:t>
            </a:r>
            <a:r>
              <a:rPr lang="zh-CN" altLang="en-US" sz="2000" b="1" dirty="0" smtClean="0">
                <a:ea typeface="楷体" panose="02010609060101010101" pitchFamily="49" charset="-122"/>
              </a:rPr>
              <a:t>    </a:t>
            </a:r>
            <a:r>
              <a:rPr lang="en-US" altLang="zh-CN" sz="2000" b="1" dirty="0" smtClean="0">
                <a:ea typeface="楷体" panose="02010609060101010101" pitchFamily="49" charset="-122"/>
              </a:rPr>
              <a:t>if </a:t>
            </a:r>
            <a:r>
              <a:rPr lang="en-US" altLang="zh-CN" sz="2000" b="1" dirty="0">
                <a:ea typeface="楷体" panose="02010609060101010101" pitchFamily="49" charset="-122"/>
              </a:rPr>
              <a:t>(</a:t>
            </a:r>
            <a:r>
              <a:rPr lang="en-US" altLang="zh-CN" sz="2000" b="1" dirty="0" err="1">
                <a:ea typeface="楷体" panose="02010609060101010101" pitchFamily="49" charset="-122"/>
              </a:rPr>
              <a:t>s.count</a:t>
            </a:r>
            <a:r>
              <a:rPr lang="en-US" altLang="zh-CN" sz="2000" b="1" dirty="0">
                <a:ea typeface="楷体" panose="02010609060101010101" pitchFamily="49" charset="-122"/>
              </a:rPr>
              <a:t> &lt;= 0)     </a:t>
            </a:r>
            <a:r>
              <a:rPr lang="en-US" altLang="zh-CN" sz="2000" b="1" dirty="0">
                <a:solidFill>
                  <a:srgbClr val="009900"/>
                </a:solidFill>
                <a:ea typeface="楷体" panose="02010609060101010101" pitchFamily="49" charset="-122"/>
              </a:rPr>
              <a:t>//</a:t>
            </a:r>
            <a:r>
              <a:rPr lang="zh-CN" altLang="en-US" sz="2000" b="1" dirty="0">
                <a:solidFill>
                  <a:srgbClr val="009900"/>
                </a:solidFill>
                <a:ea typeface="楷体" panose="02010609060101010101" pitchFamily="49" charset="-122"/>
              </a:rPr>
              <a:t>表示有进程处于阻塞状态；</a:t>
            </a:r>
          </a:p>
          <a:p>
            <a:pPr marL="1177925" lvl="2">
              <a:spcBef>
                <a:spcPct val="10000"/>
              </a:spcBef>
            </a:pPr>
            <a:r>
              <a:rPr lang="zh-CN" altLang="en-US" sz="2000" b="1" dirty="0">
                <a:ea typeface="楷体" panose="02010609060101010101" pitchFamily="49" charset="-122"/>
              </a:rPr>
              <a:t> </a:t>
            </a:r>
            <a:r>
              <a:rPr lang="zh-CN" altLang="en-US" sz="2000" b="1" dirty="0" smtClean="0">
                <a:ea typeface="楷体" panose="02010609060101010101" pitchFamily="49" charset="-122"/>
              </a:rPr>
              <a:t>    </a:t>
            </a:r>
            <a:r>
              <a:rPr lang="en-US" altLang="zh-CN" sz="2000" b="1" dirty="0" smtClean="0">
                <a:ea typeface="楷体" panose="02010609060101010101" pitchFamily="49" charset="-122"/>
              </a:rPr>
              <a:t>{</a:t>
            </a:r>
            <a:endParaRPr lang="en-US" altLang="zh-CN" sz="2000" b="1" dirty="0">
              <a:ea typeface="楷体" panose="02010609060101010101" pitchFamily="49" charset="-122"/>
            </a:endParaRPr>
          </a:p>
          <a:p>
            <a:pPr marL="1177925"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r>
              <a:rPr lang="zh-CN" altLang="en-US" sz="2000" b="1" dirty="0" smtClean="0">
                <a:ea typeface="楷体" panose="02010609060101010101" pitchFamily="49" charset="-122"/>
              </a:rPr>
              <a:t>从</a:t>
            </a:r>
            <a:r>
              <a:rPr lang="zh-CN" altLang="en-US" sz="2000" b="1" dirty="0">
                <a:ea typeface="楷体" panose="02010609060101010101" pitchFamily="49" charset="-122"/>
              </a:rPr>
              <a:t>等待队列</a:t>
            </a:r>
            <a:r>
              <a:rPr lang="en-US" altLang="zh-CN" sz="2000" b="1" dirty="0" err="1">
                <a:ea typeface="楷体" panose="02010609060101010101" pitchFamily="49" charset="-122"/>
              </a:rPr>
              <a:t>s.queue</a:t>
            </a:r>
            <a:r>
              <a:rPr lang="zh-CN" altLang="en-US" sz="2000" b="1" dirty="0">
                <a:ea typeface="楷体" panose="02010609060101010101" pitchFamily="49" charset="-122"/>
              </a:rPr>
              <a:t>中取出一个进程</a:t>
            </a:r>
            <a:r>
              <a:rPr lang="en-US" altLang="zh-CN" sz="2000" b="1" dirty="0">
                <a:ea typeface="楷体" panose="02010609060101010101" pitchFamily="49" charset="-122"/>
              </a:rPr>
              <a:t>P;</a:t>
            </a:r>
          </a:p>
          <a:p>
            <a:pPr marL="1177925"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r>
              <a:rPr lang="zh-CN" altLang="en-US" sz="2000" b="1" dirty="0" smtClean="0">
                <a:ea typeface="楷体" panose="02010609060101010101" pitchFamily="49" charset="-122"/>
              </a:rPr>
              <a:t>进</a:t>
            </a:r>
            <a:r>
              <a:rPr lang="zh-CN" altLang="en-US" sz="2000" b="1" dirty="0">
                <a:ea typeface="楷体" panose="02010609060101010101" pitchFamily="49" charset="-122"/>
              </a:rPr>
              <a:t>程</a:t>
            </a:r>
            <a:r>
              <a:rPr lang="en-US" altLang="zh-CN" sz="2000" b="1" dirty="0">
                <a:ea typeface="楷体" panose="02010609060101010101" pitchFamily="49" charset="-122"/>
              </a:rPr>
              <a:t>P</a:t>
            </a:r>
            <a:r>
              <a:rPr lang="zh-CN" altLang="en-US" sz="2000" b="1" dirty="0">
                <a:ea typeface="楷体" panose="02010609060101010101" pitchFamily="49" charset="-122"/>
              </a:rPr>
              <a:t>进入就绪队列</a:t>
            </a:r>
            <a:r>
              <a:rPr lang="en-US" altLang="zh-CN" sz="2000" b="1" dirty="0">
                <a:ea typeface="楷体" panose="02010609060101010101" pitchFamily="49" charset="-122"/>
              </a:rPr>
              <a:t>;</a:t>
            </a:r>
          </a:p>
          <a:p>
            <a:pPr marL="1177925"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r>
              <a:rPr lang="zh-CN" altLang="en-US" sz="2000" b="1" dirty="0" smtClean="0">
                <a:solidFill>
                  <a:srgbClr val="FF0000"/>
                </a:solidFill>
                <a:ea typeface="楷体" panose="02010609060101010101" pitchFamily="49" charset="-122"/>
              </a:rPr>
              <a:t>转</a:t>
            </a:r>
            <a:r>
              <a:rPr lang="zh-CN" altLang="en-US" sz="2000" b="1" dirty="0">
                <a:solidFill>
                  <a:srgbClr val="FF0000"/>
                </a:solidFill>
                <a:ea typeface="楷体" panose="02010609060101010101" pitchFamily="49" charset="-122"/>
              </a:rPr>
              <a:t>进程调度；</a:t>
            </a:r>
            <a:endParaRPr lang="en-US" altLang="zh-CN" sz="2000" b="1" dirty="0">
              <a:solidFill>
                <a:srgbClr val="FF0000"/>
              </a:solidFill>
              <a:ea typeface="楷体" panose="02010609060101010101" pitchFamily="49" charset="-122"/>
            </a:endParaRPr>
          </a:p>
          <a:p>
            <a:pPr marL="1177925" lvl="2">
              <a:spcBef>
                <a:spcPct val="10000"/>
              </a:spcBef>
            </a:pPr>
            <a:r>
              <a:rPr lang="en-US" altLang="zh-CN" sz="2000" b="1" dirty="0">
                <a:ea typeface="楷体" panose="02010609060101010101" pitchFamily="49" charset="-122"/>
              </a:rPr>
              <a:t> </a:t>
            </a:r>
            <a:r>
              <a:rPr lang="en-US" altLang="zh-CN" sz="2000" b="1" dirty="0" smtClean="0">
                <a:ea typeface="楷体" panose="02010609060101010101" pitchFamily="49" charset="-122"/>
              </a:rPr>
              <a:t>    }</a:t>
            </a:r>
            <a:endParaRPr lang="en-US" altLang="zh-CN" sz="2000" b="1" dirty="0">
              <a:ea typeface="楷体" panose="02010609060101010101" pitchFamily="49" charset="-122"/>
            </a:endParaRPr>
          </a:p>
          <a:p>
            <a:pPr marL="1177925" lvl="2">
              <a:spcBef>
                <a:spcPct val="10000"/>
              </a:spcBef>
            </a:pPr>
            <a:r>
              <a:rPr lang="en-US" altLang="zh-CN" sz="2000" b="1" dirty="0">
                <a:ea typeface="楷体" panose="02010609060101010101" pitchFamily="49" charset="-122"/>
              </a:rPr>
              <a:t>}</a:t>
            </a:r>
          </a:p>
        </p:txBody>
      </p:sp>
    </p:spTree>
    <p:extLst>
      <p:ext uri="{BB962C8B-B14F-4D97-AF65-F5344CB8AC3E}">
        <p14:creationId xmlns:p14="http://schemas.microsoft.com/office/powerpoint/2010/main" val="26295327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a:t>
            </a:r>
            <a:endParaRPr lang="zh-CN" altLang="en-US" dirty="0"/>
          </a:p>
        </p:txBody>
      </p:sp>
      <p:sp>
        <p:nvSpPr>
          <p:cNvPr id="3" name="Content Placeholder 2"/>
          <p:cNvSpPr>
            <a:spLocks noGrp="1"/>
          </p:cNvSpPr>
          <p:nvPr>
            <p:ph idx="1"/>
          </p:nvPr>
        </p:nvSpPr>
        <p:spPr/>
        <p:txBody>
          <a:bodyPr>
            <a:normAutofit lnSpcReduction="10000"/>
          </a:bodyPr>
          <a:lstStyle/>
          <a:p>
            <a:r>
              <a:rPr lang="zh-CN" altLang="en-US" dirty="0" smtClean="0"/>
              <a:t>一般信号量（</a:t>
            </a:r>
            <a:r>
              <a:rPr lang="en-US" altLang="zh-CN" dirty="0" smtClean="0"/>
              <a:t>Counting Semaphore, General Semaphore</a:t>
            </a:r>
            <a:r>
              <a:rPr lang="zh-CN" altLang="en-US" dirty="0" smtClean="0"/>
              <a:t>）</a:t>
            </a:r>
            <a:endParaRPr lang="en-US" altLang="zh-CN" dirty="0" smtClean="0"/>
          </a:p>
          <a:p>
            <a:pPr lvl="1"/>
            <a:r>
              <a:rPr lang="zh-CN" altLang="en-US" dirty="0"/>
              <a:t>取</a:t>
            </a:r>
            <a:r>
              <a:rPr lang="zh-CN" altLang="en-US" dirty="0" smtClean="0"/>
              <a:t>值没有额外的要求</a:t>
            </a:r>
            <a:endParaRPr lang="en-US" altLang="zh-CN" dirty="0" smtClean="0"/>
          </a:p>
          <a:p>
            <a:endParaRPr lang="en-US" altLang="zh-CN" dirty="0"/>
          </a:p>
          <a:p>
            <a:r>
              <a:rPr lang="zh-CN" altLang="en-US" dirty="0" smtClean="0"/>
              <a:t>二值信号量（</a:t>
            </a:r>
            <a:r>
              <a:rPr lang="en-US" altLang="zh-CN" dirty="0" smtClean="0"/>
              <a:t>Binary Semaphore</a:t>
            </a:r>
            <a:r>
              <a:rPr lang="zh-CN" altLang="en-US" dirty="0" smtClean="0"/>
              <a:t>）</a:t>
            </a:r>
            <a:endParaRPr lang="en-US" altLang="zh-CN" dirty="0" smtClean="0"/>
          </a:p>
          <a:p>
            <a:pPr lvl="1"/>
            <a:r>
              <a:rPr lang="zh-CN" altLang="en-US" dirty="0"/>
              <a:t>信号</a:t>
            </a:r>
            <a:r>
              <a:rPr lang="zh-CN" altLang="en-US" dirty="0" smtClean="0"/>
              <a:t>量只能取值</a:t>
            </a:r>
            <a:r>
              <a:rPr lang="en-US" altLang="zh-CN" dirty="0" smtClean="0"/>
              <a:t>0</a:t>
            </a:r>
            <a:r>
              <a:rPr lang="zh-CN" altLang="en-US" dirty="0" smtClean="0"/>
              <a:t>或者</a:t>
            </a:r>
            <a:r>
              <a:rPr lang="en-US" altLang="zh-CN" dirty="0" smtClean="0"/>
              <a:t>1</a:t>
            </a:r>
          </a:p>
          <a:p>
            <a:endParaRPr lang="en-US" altLang="zh-CN" dirty="0"/>
          </a:p>
          <a:p>
            <a:r>
              <a:rPr lang="en-US" altLang="zh-CN" dirty="0" err="1" smtClean="0"/>
              <a:t>Mutex</a:t>
            </a:r>
            <a:endParaRPr lang="en-US" altLang="zh-CN" dirty="0" smtClean="0"/>
          </a:p>
          <a:p>
            <a:pPr lvl="1"/>
            <a:r>
              <a:rPr lang="zh-CN" altLang="en-US" dirty="0"/>
              <a:t>一</a:t>
            </a:r>
            <a:r>
              <a:rPr lang="zh-CN" altLang="en-US" dirty="0" smtClean="0"/>
              <a:t>种特殊的二值信号量，对信号量</a:t>
            </a:r>
            <a:r>
              <a:rPr lang="zh-CN" altLang="en-US" dirty="0" smtClean="0">
                <a:solidFill>
                  <a:srgbClr val="FF0000"/>
                </a:solidFill>
              </a:rPr>
              <a:t>解锁的进程</a:t>
            </a:r>
            <a:r>
              <a:rPr lang="zh-CN" altLang="en-US" dirty="0" smtClean="0"/>
              <a:t>和对信号量</a:t>
            </a:r>
            <a:r>
              <a:rPr lang="zh-CN" altLang="en-US" dirty="0" smtClean="0">
                <a:solidFill>
                  <a:srgbClr val="FF0000"/>
                </a:solidFill>
              </a:rPr>
              <a:t>上锁的进程</a:t>
            </a:r>
            <a:r>
              <a:rPr lang="zh-CN" altLang="en-US" dirty="0" smtClean="0"/>
              <a:t>必须是</a:t>
            </a:r>
            <a:r>
              <a:rPr lang="zh-CN" altLang="en-US" dirty="0" smtClean="0">
                <a:solidFill>
                  <a:srgbClr val="FF0000"/>
                </a:solidFill>
              </a:rPr>
              <a:t>同一个</a:t>
            </a:r>
            <a:endParaRPr lang="zh-CN" altLang="en-US" dirty="0">
              <a:solidFill>
                <a:srgbClr val="FF0000"/>
              </a:solidFill>
            </a:endParaRPr>
          </a:p>
        </p:txBody>
      </p:sp>
      <p:sp>
        <p:nvSpPr>
          <p:cNvPr id="4" name="Date Placeholder 3"/>
          <p:cNvSpPr>
            <a:spLocks noGrp="1"/>
          </p:cNvSpPr>
          <p:nvPr>
            <p:ph type="dt" sz="half" idx="10"/>
          </p:nvPr>
        </p:nvSpPr>
        <p:spPr/>
        <p:txBody>
          <a:bodyPr/>
          <a:lstStyle/>
          <a:p>
            <a:fld id="{6DBF12B4-669F-480F-A7FC-442B67CA939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44</a:t>
            </a:fld>
            <a:endParaRPr lang="zh-CN" altLang="en-US" dirty="0"/>
          </a:p>
        </p:txBody>
      </p:sp>
    </p:spTree>
    <p:extLst>
      <p:ext uri="{BB962C8B-B14F-4D97-AF65-F5344CB8AC3E}">
        <p14:creationId xmlns:p14="http://schemas.microsoft.com/office/powerpoint/2010/main" val="41309549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用信号量实现互斥</a:t>
            </a:r>
            <a:endParaRPr lang="zh-CN" altLang="en-US" dirty="0"/>
          </a:p>
        </p:txBody>
      </p:sp>
      <p:sp>
        <p:nvSpPr>
          <p:cNvPr id="3" name="Content Placeholder 2"/>
          <p:cNvSpPr>
            <a:spLocks noGrp="1"/>
          </p:cNvSpPr>
          <p:nvPr>
            <p:ph idx="1"/>
          </p:nvPr>
        </p:nvSpPr>
        <p:spPr/>
        <p:txBody>
          <a:bodyPr/>
          <a:lstStyle/>
          <a:p>
            <a:r>
              <a:rPr lang="zh-CN" altLang="en-US" dirty="0" smtClean="0"/>
              <a:t>采用</a:t>
            </a:r>
            <a:r>
              <a:rPr lang="en-US" altLang="zh-CN" dirty="0" err="1" smtClean="0"/>
              <a:t>Mutex</a:t>
            </a:r>
            <a:r>
              <a:rPr lang="zh-CN" altLang="en-US" dirty="0" smtClean="0"/>
              <a:t>类型的信号量</a:t>
            </a:r>
            <a:endParaRPr lang="en-US" altLang="zh-CN" dirty="0" smtClean="0"/>
          </a:p>
          <a:p>
            <a:pPr lvl="1"/>
            <a:r>
              <a:rPr lang="zh-CN" altLang="en-US" dirty="0"/>
              <a:t>初始</a:t>
            </a:r>
            <a:r>
              <a:rPr lang="zh-CN" altLang="en-US" dirty="0" smtClean="0"/>
              <a:t>值为</a:t>
            </a:r>
            <a:r>
              <a:rPr lang="en-US" altLang="zh-CN" dirty="0" smtClean="0"/>
              <a:t>1</a:t>
            </a:r>
            <a:r>
              <a:rPr lang="zh-CN" altLang="en-US" dirty="0" smtClean="0"/>
              <a:t>，表示没有进程在临界区</a:t>
            </a:r>
            <a:endParaRPr lang="en-US" altLang="zh-CN" dirty="0" smtClean="0"/>
          </a:p>
          <a:p>
            <a:pPr lvl="1"/>
            <a:r>
              <a:rPr lang="zh-CN" altLang="en-US" dirty="0"/>
              <a:t>在每个进程中，将临界区代码置于</a:t>
            </a:r>
            <a:r>
              <a:rPr lang="en-US" altLang="zh-CN" dirty="0" smtClean="0"/>
              <a:t>P</a:t>
            </a:r>
            <a:r>
              <a:rPr lang="zh-CN" altLang="en-US" dirty="0" smtClean="0"/>
              <a:t>、</a:t>
            </a:r>
            <a:r>
              <a:rPr lang="en-US" altLang="zh-CN" dirty="0" smtClean="0"/>
              <a:t>V</a:t>
            </a:r>
            <a:r>
              <a:rPr lang="zh-CN" altLang="en-US" dirty="0"/>
              <a:t>操作之间</a:t>
            </a:r>
            <a:endParaRPr lang="en-US" altLang="zh-CN" dirty="0"/>
          </a:p>
          <a:p>
            <a:pPr lvl="1"/>
            <a:r>
              <a:rPr lang="zh-CN" altLang="en-US" dirty="0"/>
              <a:t>必须</a:t>
            </a:r>
            <a:r>
              <a:rPr lang="zh-CN" altLang="en-US" dirty="0">
                <a:solidFill>
                  <a:srgbClr val="0000FF"/>
                </a:solidFill>
              </a:rPr>
              <a:t>成对使用</a:t>
            </a:r>
            <a:r>
              <a:rPr lang="en-US" altLang="zh-CN" dirty="0"/>
              <a:t>P</a:t>
            </a:r>
            <a:r>
              <a:rPr lang="zh-CN" altLang="en-US" dirty="0"/>
              <a:t>和</a:t>
            </a:r>
            <a:r>
              <a:rPr lang="en-US" altLang="zh-CN" dirty="0"/>
              <a:t>V</a:t>
            </a:r>
            <a:r>
              <a:rPr lang="zh-CN" altLang="en-US" dirty="0"/>
              <a:t>原</a:t>
            </a:r>
            <a:r>
              <a:rPr lang="zh-CN" altLang="en-US" dirty="0" smtClean="0"/>
              <a:t>语</a:t>
            </a:r>
            <a:endParaRPr lang="en-US" altLang="zh-CN" dirty="0" smtClean="0"/>
          </a:p>
          <a:p>
            <a:pPr lvl="2"/>
            <a:r>
              <a:rPr lang="zh-CN" altLang="en-US" dirty="0" smtClean="0"/>
              <a:t>遗</a:t>
            </a:r>
            <a:r>
              <a:rPr lang="zh-CN" altLang="en-US" dirty="0"/>
              <a:t>漏</a:t>
            </a:r>
            <a:r>
              <a:rPr lang="en-US" altLang="zh-CN" dirty="0"/>
              <a:t>P</a:t>
            </a:r>
            <a:r>
              <a:rPr lang="zh-CN" altLang="en-US" dirty="0"/>
              <a:t>原语则不能保证互斥访</a:t>
            </a:r>
            <a:r>
              <a:rPr lang="zh-CN" altLang="en-US" dirty="0" smtClean="0"/>
              <a:t>问</a:t>
            </a:r>
            <a:endParaRPr lang="en-US" altLang="zh-CN" dirty="0"/>
          </a:p>
          <a:p>
            <a:pPr lvl="2"/>
            <a:r>
              <a:rPr lang="zh-CN" altLang="en-US" dirty="0" smtClean="0"/>
              <a:t>遗</a:t>
            </a:r>
            <a:r>
              <a:rPr lang="zh-CN" altLang="en-US" dirty="0"/>
              <a:t>漏</a:t>
            </a:r>
            <a:r>
              <a:rPr lang="en-US" altLang="zh-CN" dirty="0"/>
              <a:t>V</a:t>
            </a:r>
            <a:r>
              <a:rPr lang="zh-CN" altLang="en-US" dirty="0"/>
              <a:t>原语则不能在使用临界资源之后将其释放（给其他等待的进</a:t>
            </a:r>
            <a:r>
              <a:rPr lang="zh-CN" altLang="en-US" dirty="0" smtClean="0"/>
              <a:t>程）</a:t>
            </a:r>
            <a:endParaRPr lang="en-US" altLang="zh-CN" dirty="0" smtClean="0"/>
          </a:p>
          <a:p>
            <a:pPr lvl="2"/>
            <a:r>
              <a:rPr lang="en-US" altLang="zh-CN" dirty="0" smtClean="0"/>
              <a:t>P</a:t>
            </a:r>
            <a:r>
              <a:rPr lang="zh-CN" altLang="en-US" dirty="0"/>
              <a:t>、</a:t>
            </a:r>
            <a:r>
              <a:rPr lang="en-US" altLang="zh-CN" dirty="0"/>
              <a:t>V</a:t>
            </a:r>
            <a:r>
              <a:rPr lang="zh-CN" altLang="en-US" dirty="0"/>
              <a:t>原语</a:t>
            </a:r>
            <a:r>
              <a:rPr lang="zh-CN" altLang="en-US" dirty="0">
                <a:solidFill>
                  <a:srgbClr val="0000FF"/>
                </a:solidFill>
              </a:rPr>
              <a:t>不能次序错误、重复或遗漏</a:t>
            </a:r>
          </a:p>
        </p:txBody>
      </p:sp>
      <p:sp>
        <p:nvSpPr>
          <p:cNvPr id="4" name="Date Placeholder 3"/>
          <p:cNvSpPr>
            <a:spLocks noGrp="1"/>
          </p:cNvSpPr>
          <p:nvPr>
            <p:ph type="dt" sz="half" idx="10"/>
          </p:nvPr>
        </p:nvSpPr>
        <p:spPr/>
        <p:txBody>
          <a:bodyPr/>
          <a:lstStyle/>
          <a:p>
            <a:fld id="{236F07B5-BCEC-4440-9077-BBBAB91C1B0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45</a:t>
            </a:fld>
            <a:endParaRPr lang="zh-CN" altLang="en-US" dirty="0"/>
          </a:p>
        </p:txBody>
      </p:sp>
    </p:spTree>
    <p:extLst>
      <p:ext uri="{BB962C8B-B14F-4D97-AF65-F5344CB8AC3E}">
        <p14:creationId xmlns:p14="http://schemas.microsoft.com/office/powerpoint/2010/main" val="7336391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用信号量实现互斥</a:t>
            </a:r>
          </a:p>
        </p:txBody>
      </p:sp>
      <p:sp>
        <p:nvSpPr>
          <p:cNvPr id="3" name="Content Placeholder 2"/>
          <p:cNvSpPr>
            <a:spLocks noGrp="1"/>
          </p:cNvSpPr>
          <p:nvPr>
            <p:ph idx="1"/>
          </p:nvPr>
        </p:nvSpPr>
        <p:spPr/>
        <p:txBody>
          <a:bodyPr/>
          <a:lstStyle/>
          <a:p>
            <a:r>
              <a:rPr lang="zh-CN" altLang="en-US" dirty="0" smtClean="0"/>
              <a:t>举例</a:t>
            </a:r>
            <a:endParaRPr lang="zh-CN" altLang="en-US" dirty="0"/>
          </a:p>
        </p:txBody>
      </p:sp>
      <p:sp>
        <p:nvSpPr>
          <p:cNvPr id="4" name="Date Placeholder 3"/>
          <p:cNvSpPr>
            <a:spLocks noGrp="1"/>
          </p:cNvSpPr>
          <p:nvPr>
            <p:ph type="dt" sz="half" idx="10"/>
          </p:nvPr>
        </p:nvSpPr>
        <p:spPr/>
        <p:txBody>
          <a:bodyPr/>
          <a:lstStyle/>
          <a:p>
            <a:fld id="{13DB0E49-B905-4871-BFBF-B4C0BB937E1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46</a:t>
            </a:fld>
            <a:endParaRPr lang="zh-CN" altLang="en-US" dirty="0"/>
          </a:p>
        </p:txBody>
      </p:sp>
      <p:sp>
        <p:nvSpPr>
          <p:cNvPr id="7" name="Text Box 6"/>
          <p:cNvSpPr txBox="1">
            <a:spLocks noChangeArrowheads="1"/>
          </p:cNvSpPr>
          <p:nvPr/>
        </p:nvSpPr>
        <p:spPr bwMode="auto">
          <a:xfrm>
            <a:off x="755576" y="2060848"/>
            <a:ext cx="367240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err="1">
                <a:latin typeface="+mn-lt"/>
              </a:rPr>
              <a:t>const</a:t>
            </a:r>
            <a:r>
              <a:rPr lang="en-US" altLang="zh-CN" b="1" dirty="0">
                <a:latin typeface="+mn-lt"/>
              </a:rPr>
              <a:t>  </a:t>
            </a:r>
            <a:r>
              <a:rPr lang="en-US" altLang="zh-CN" b="1" dirty="0" err="1">
                <a:latin typeface="+mn-lt"/>
              </a:rPr>
              <a:t>int</a:t>
            </a:r>
            <a:r>
              <a:rPr lang="en-US" altLang="zh-CN" b="1" dirty="0">
                <a:latin typeface="+mn-lt"/>
              </a:rPr>
              <a:t> n = </a:t>
            </a:r>
            <a:r>
              <a:rPr lang="zh-CN" altLang="en-US" b="1" dirty="0">
                <a:latin typeface="+mn-lt"/>
              </a:rPr>
              <a:t>进程数；</a:t>
            </a:r>
            <a:r>
              <a:rPr lang="en-US" altLang="zh-CN" b="1" dirty="0">
                <a:latin typeface="+mn-lt"/>
              </a:rPr>
              <a:t>Semaphore </a:t>
            </a:r>
            <a:r>
              <a:rPr lang="en-US" altLang="zh-CN" b="1" dirty="0">
                <a:solidFill>
                  <a:srgbClr val="FF0000"/>
                </a:solidFill>
                <a:latin typeface="+mn-lt"/>
              </a:rPr>
              <a:t>s = 1</a:t>
            </a:r>
            <a:r>
              <a:rPr lang="en-US" altLang="zh-CN" b="1" dirty="0">
                <a:latin typeface="+mn-lt"/>
              </a:rPr>
              <a:t>;</a:t>
            </a:r>
            <a:br>
              <a:rPr lang="en-US" altLang="zh-CN" b="1" dirty="0">
                <a:latin typeface="+mn-lt"/>
              </a:rPr>
            </a:br>
            <a:r>
              <a:rPr lang="en-US" altLang="zh-CN" b="1" dirty="0" smtClean="0">
                <a:latin typeface="+mn-lt"/>
              </a:rPr>
              <a:t>void  </a:t>
            </a:r>
            <a:r>
              <a:rPr lang="en-US" altLang="zh-CN" b="1" dirty="0">
                <a:latin typeface="+mn-lt"/>
              </a:rPr>
              <a:t>Process( </a:t>
            </a:r>
            <a:r>
              <a:rPr lang="en-US" altLang="zh-CN" b="1" dirty="0" err="1">
                <a:latin typeface="+mn-lt"/>
              </a:rPr>
              <a:t>int</a:t>
            </a:r>
            <a:r>
              <a:rPr lang="en-US" altLang="zh-CN" b="1" dirty="0">
                <a:latin typeface="+mn-lt"/>
              </a:rPr>
              <a:t> </a:t>
            </a:r>
            <a:r>
              <a:rPr lang="en-US" altLang="zh-CN" b="1" dirty="0" err="1">
                <a:latin typeface="+mn-lt"/>
              </a:rPr>
              <a:t>i</a:t>
            </a:r>
            <a:r>
              <a:rPr lang="en-US" altLang="zh-CN" b="1" dirty="0">
                <a:latin typeface="+mn-lt"/>
              </a:rPr>
              <a:t>) {</a:t>
            </a:r>
            <a:br>
              <a:rPr lang="en-US" altLang="zh-CN" b="1" dirty="0">
                <a:latin typeface="+mn-lt"/>
              </a:rPr>
            </a:br>
            <a:r>
              <a:rPr lang="en-US" altLang="zh-CN" b="1" dirty="0">
                <a:latin typeface="+mn-lt"/>
              </a:rPr>
              <a:t>     while ( true) {</a:t>
            </a:r>
            <a:br>
              <a:rPr lang="en-US" altLang="zh-CN" b="1" dirty="0">
                <a:latin typeface="+mn-lt"/>
              </a:rPr>
            </a:br>
            <a:r>
              <a:rPr lang="en-US" altLang="zh-CN" b="1" dirty="0">
                <a:latin typeface="+mn-lt"/>
              </a:rPr>
              <a:t>            </a:t>
            </a:r>
            <a:r>
              <a:rPr lang="en-US" altLang="zh-CN" b="1" dirty="0">
                <a:solidFill>
                  <a:srgbClr val="FF0000"/>
                </a:solidFill>
                <a:latin typeface="+mn-lt"/>
              </a:rPr>
              <a:t>P(s);</a:t>
            </a:r>
            <a:r>
              <a:rPr lang="en-US" altLang="zh-CN" b="1" dirty="0">
                <a:latin typeface="+mn-lt"/>
              </a:rPr>
              <a:t>  // wait(s)</a:t>
            </a:r>
            <a:br>
              <a:rPr lang="en-US" altLang="zh-CN" b="1" dirty="0">
                <a:latin typeface="+mn-lt"/>
              </a:rPr>
            </a:br>
            <a:r>
              <a:rPr lang="en-US" altLang="zh-CN" b="1" dirty="0">
                <a:latin typeface="+mn-lt"/>
              </a:rPr>
              <a:t>              </a:t>
            </a:r>
            <a:r>
              <a:rPr lang="en-US" altLang="zh-CN" b="1" dirty="0">
                <a:solidFill>
                  <a:srgbClr val="0000FF"/>
                </a:solidFill>
                <a:latin typeface="+mn-lt"/>
              </a:rPr>
              <a:t>&lt;critical section&gt;</a:t>
            </a:r>
            <a:br>
              <a:rPr lang="en-US" altLang="zh-CN" b="1" dirty="0">
                <a:solidFill>
                  <a:srgbClr val="0000FF"/>
                </a:solidFill>
                <a:latin typeface="+mn-lt"/>
              </a:rPr>
            </a:br>
            <a:r>
              <a:rPr lang="en-US" altLang="zh-CN" b="1" dirty="0">
                <a:latin typeface="+mn-lt"/>
              </a:rPr>
              <a:t>            </a:t>
            </a:r>
            <a:r>
              <a:rPr lang="en-US" altLang="zh-CN" b="1" dirty="0">
                <a:solidFill>
                  <a:srgbClr val="FF0000"/>
                </a:solidFill>
                <a:latin typeface="+mn-lt"/>
              </a:rPr>
              <a:t>V(s</a:t>
            </a:r>
            <a:r>
              <a:rPr lang="en-US" altLang="zh-CN" b="1" dirty="0" smtClean="0">
                <a:solidFill>
                  <a:srgbClr val="FF0000"/>
                </a:solidFill>
                <a:latin typeface="+mn-lt"/>
              </a:rPr>
              <a:t>);</a:t>
            </a:r>
            <a:r>
              <a:rPr lang="en-US" altLang="zh-CN" b="1" dirty="0" smtClean="0">
                <a:latin typeface="+mn-lt"/>
              </a:rPr>
              <a:t>  </a:t>
            </a:r>
            <a:r>
              <a:rPr lang="en-US" altLang="zh-CN" b="1" dirty="0">
                <a:latin typeface="+mn-lt"/>
              </a:rPr>
              <a:t>// signal(s)</a:t>
            </a:r>
          </a:p>
          <a:p>
            <a:pPr eaLnBrk="1" hangingPunct="1"/>
            <a:r>
              <a:rPr lang="en-US" altLang="zh-CN" b="1" dirty="0">
                <a:latin typeface="+mn-lt"/>
              </a:rPr>
              <a:t>      remainder section</a:t>
            </a:r>
          </a:p>
          <a:p>
            <a:pPr eaLnBrk="1" hangingPunct="1"/>
            <a:r>
              <a:rPr lang="en-US" altLang="zh-CN" b="1" dirty="0">
                <a:latin typeface="+mn-lt"/>
              </a:rPr>
              <a:t>     }</a:t>
            </a:r>
          </a:p>
          <a:p>
            <a:pPr eaLnBrk="1" hangingPunct="1"/>
            <a:r>
              <a:rPr lang="en-US" altLang="zh-CN" b="1" dirty="0">
                <a:latin typeface="+mn-lt"/>
              </a:rPr>
              <a:t>}</a:t>
            </a:r>
          </a:p>
        </p:txBody>
      </p:sp>
      <p:sp>
        <p:nvSpPr>
          <p:cNvPr id="8" name="Text Box 7"/>
          <p:cNvSpPr txBox="1">
            <a:spLocks noChangeArrowheads="1"/>
          </p:cNvSpPr>
          <p:nvPr/>
        </p:nvSpPr>
        <p:spPr bwMode="auto">
          <a:xfrm>
            <a:off x="4870376" y="2070373"/>
            <a:ext cx="3505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latin typeface="+mn-lt"/>
              </a:rPr>
              <a:t>void main()</a:t>
            </a:r>
          </a:p>
          <a:p>
            <a:pPr eaLnBrk="1" hangingPunct="1">
              <a:spcBef>
                <a:spcPct val="50000"/>
              </a:spcBef>
            </a:pPr>
            <a:r>
              <a:rPr lang="en-US" altLang="zh-CN" b="1" dirty="0">
                <a:latin typeface="+mn-lt"/>
              </a:rPr>
              <a:t>{</a:t>
            </a:r>
          </a:p>
          <a:p>
            <a:pPr eaLnBrk="1" hangingPunct="1">
              <a:spcBef>
                <a:spcPct val="50000"/>
              </a:spcBef>
            </a:pPr>
            <a:r>
              <a:rPr lang="en-US" altLang="zh-CN" b="1" dirty="0">
                <a:latin typeface="+mn-lt"/>
              </a:rPr>
              <a:t>    </a:t>
            </a:r>
            <a:r>
              <a:rPr lang="en-US" altLang="zh-CN" b="1" dirty="0" err="1">
                <a:latin typeface="+mn-lt"/>
              </a:rPr>
              <a:t>parbegin</a:t>
            </a:r>
            <a:r>
              <a:rPr lang="en-US" altLang="zh-CN" b="1" dirty="0">
                <a:latin typeface="+mn-lt"/>
              </a:rPr>
              <a:t>(Process(1),</a:t>
            </a:r>
          </a:p>
          <a:p>
            <a:pPr eaLnBrk="1" hangingPunct="1">
              <a:spcBef>
                <a:spcPct val="50000"/>
              </a:spcBef>
            </a:pPr>
            <a:r>
              <a:rPr lang="en-US" altLang="zh-CN" b="1" dirty="0">
                <a:latin typeface="+mn-lt"/>
              </a:rPr>
              <a:t>                     Process(2),</a:t>
            </a:r>
          </a:p>
          <a:p>
            <a:pPr eaLnBrk="1" hangingPunct="1">
              <a:spcBef>
                <a:spcPct val="50000"/>
              </a:spcBef>
            </a:pPr>
            <a:r>
              <a:rPr lang="en-US" altLang="zh-CN" b="1" dirty="0">
                <a:latin typeface="+mn-lt"/>
              </a:rPr>
              <a:t>                     ...,</a:t>
            </a:r>
          </a:p>
          <a:p>
            <a:pPr eaLnBrk="1" hangingPunct="1">
              <a:spcBef>
                <a:spcPct val="50000"/>
              </a:spcBef>
            </a:pPr>
            <a:r>
              <a:rPr lang="en-US" altLang="zh-CN" b="1" dirty="0">
                <a:latin typeface="+mn-lt"/>
              </a:rPr>
              <a:t>                     Process(n));</a:t>
            </a:r>
          </a:p>
          <a:p>
            <a:pPr eaLnBrk="1" hangingPunct="1">
              <a:spcBef>
                <a:spcPct val="50000"/>
              </a:spcBef>
            </a:pPr>
            <a:r>
              <a:rPr lang="en-US" altLang="zh-CN" b="1" dirty="0">
                <a:latin typeface="+mn-lt"/>
              </a:rPr>
              <a:t>}</a:t>
            </a:r>
          </a:p>
        </p:txBody>
      </p:sp>
      <p:sp>
        <p:nvSpPr>
          <p:cNvPr id="9" name="TextBox 8"/>
          <p:cNvSpPr txBox="1"/>
          <p:nvPr/>
        </p:nvSpPr>
        <p:spPr>
          <a:xfrm>
            <a:off x="983974" y="5893904"/>
            <a:ext cx="6112565"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阻塞非忙等！</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11012324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用信号量实现互斥</a:t>
            </a:r>
          </a:p>
        </p:txBody>
      </p:sp>
      <p:pic>
        <p:nvPicPr>
          <p:cNvPr id="7" name="Content Placeholder 6"/>
          <p:cNvPicPr>
            <a:picLocks noGrp="1" noChangeAspect="1"/>
          </p:cNvPicPr>
          <p:nvPr>
            <p:ph idx="1"/>
          </p:nvPr>
        </p:nvPicPr>
        <p:blipFill>
          <a:blip r:embed="rId2"/>
          <a:stretch>
            <a:fillRect/>
          </a:stretch>
        </p:blipFill>
        <p:spPr>
          <a:xfrm>
            <a:off x="1723072" y="1771072"/>
            <a:ext cx="5697855" cy="4251960"/>
          </a:xfrm>
          <a:prstGeom prst="rect">
            <a:avLst/>
          </a:prstGeom>
        </p:spPr>
      </p:pic>
      <p:sp>
        <p:nvSpPr>
          <p:cNvPr id="4" name="Date Placeholder 3"/>
          <p:cNvSpPr>
            <a:spLocks noGrp="1"/>
          </p:cNvSpPr>
          <p:nvPr>
            <p:ph type="dt" sz="half" idx="10"/>
          </p:nvPr>
        </p:nvSpPr>
        <p:spPr/>
        <p:txBody>
          <a:bodyPr/>
          <a:lstStyle/>
          <a:p>
            <a:fld id="{4CE1B833-0ABB-41BB-BEAA-24FE1FC0235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47</a:t>
            </a:fld>
            <a:endParaRPr lang="zh-CN" altLang="en-US" dirty="0"/>
          </a:p>
        </p:txBody>
      </p:sp>
      <p:cxnSp>
        <p:nvCxnSpPr>
          <p:cNvPr id="9" name="Straight Arrow Connector 8"/>
          <p:cNvCxnSpPr/>
          <p:nvPr/>
        </p:nvCxnSpPr>
        <p:spPr>
          <a:xfrm>
            <a:off x="4499992" y="2852936"/>
            <a:ext cx="0" cy="1224136"/>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076056" y="4293096"/>
            <a:ext cx="0" cy="648072"/>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724128" y="5085184"/>
            <a:ext cx="0" cy="432048"/>
          </a:xfrm>
          <a:prstGeom prst="straightConnector1">
            <a:avLst/>
          </a:prstGeom>
          <a:ln w="3492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7804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用信号量实现同步</a:t>
            </a:r>
            <a:endParaRPr lang="zh-CN" altLang="en-US" dirty="0"/>
          </a:p>
        </p:txBody>
      </p:sp>
      <p:sp>
        <p:nvSpPr>
          <p:cNvPr id="3" name="Content Placeholder 2"/>
          <p:cNvSpPr>
            <a:spLocks noGrp="1"/>
          </p:cNvSpPr>
          <p:nvPr>
            <p:ph idx="1"/>
          </p:nvPr>
        </p:nvSpPr>
        <p:spPr/>
        <p:txBody>
          <a:bodyPr/>
          <a:lstStyle/>
          <a:p>
            <a:r>
              <a:rPr lang="zh-CN" altLang="en-US" dirty="0" smtClean="0"/>
              <a:t>生产者</a:t>
            </a:r>
            <a:r>
              <a:rPr lang="en-US" altLang="zh-CN" dirty="0" smtClean="0"/>
              <a:t>/</a:t>
            </a:r>
            <a:r>
              <a:rPr lang="zh-CN" altLang="en-US" dirty="0" smtClean="0"/>
              <a:t>消费者问题</a:t>
            </a:r>
            <a:endParaRPr lang="en-US" altLang="zh-CN" dirty="0" smtClean="0"/>
          </a:p>
          <a:p>
            <a:pPr lvl="1"/>
            <a:r>
              <a:rPr lang="zh-CN" altLang="en-US" dirty="0"/>
              <a:t>若</a:t>
            </a:r>
            <a:r>
              <a:rPr lang="zh-CN" altLang="en-US" dirty="0" smtClean="0"/>
              <a:t>干个生产者和若干个消费者</a:t>
            </a:r>
            <a:endParaRPr lang="en-US" altLang="zh-CN" dirty="0" smtClean="0"/>
          </a:p>
          <a:p>
            <a:pPr lvl="1"/>
            <a:r>
              <a:rPr lang="zh-CN" altLang="en-US" dirty="0"/>
              <a:t>容</a:t>
            </a:r>
            <a:r>
              <a:rPr lang="zh-CN" altLang="en-US" dirty="0" smtClean="0"/>
              <a:t>量为</a:t>
            </a:r>
            <a:r>
              <a:rPr lang="en-US" altLang="zh-CN" dirty="0" smtClean="0"/>
              <a:t>N</a:t>
            </a:r>
            <a:r>
              <a:rPr lang="zh-CN" altLang="en-US" dirty="0" smtClean="0"/>
              <a:t>的队列（缓冲区）用以存放数据</a:t>
            </a:r>
            <a:endParaRPr lang="en-US" altLang="zh-CN" dirty="0" smtClean="0"/>
          </a:p>
          <a:p>
            <a:pPr lvl="1"/>
            <a:r>
              <a:rPr lang="zh-CN" altLang="en-US" dirty="0"/>
              <a:t>一</a:t>
            </a:r>
            <a:r>
              <a:rPr lang="zh-CN" altLang="en-US" dirty="0" smtClean="0"/>
              <a:t>次向队列放入或取出一个数据，同时只能有一个进程操作队列</a:t>
            </a:r>
            <a:endParaRPr lang="en-US" altLang="zh-CN" dirty="0" smtClean="0"/>
          </a:p>
          <a:p>
            <a:endParaRPr lang="en-US" altLang="zh-CN" dirty="0"/>
          </a:p>
          <a:p>
            <a:r>
              <a:rPr lang="zh-CN" altLang="en-US" dirty="0" smtClean="0"/>
              <a:t>需满足的条件</a:t>
            </a:r>
            <a:endParaRPr lang="en-US" altLang="zh-CN" dirty="0" smtClean="0"/>
          </a:p>
          <a:p>
            <a:pPr lvl="1"/>
            <a:r>
              <a:rPr lang="zh-CN" altLang="en-US" dirty="0"/>
              <a:t>队</a:t>
            </a:r>
            <a:r>
              <a:rPr lang="zh-CN" altLang="en-US" dirty="0" smtClean="0"/>
              <a:t>列是共享资源，需互斥访问</a:t>
            </a:r>
            <a:endParaRPr lang="en-US" altLang="zh-CN" dirty="0" smtClean="0"/>
          </a:p>
          <a:p>
            <a:pPr lvl="1"/>
            <a:r>
              <a:rPr lang="zh-CN" altLang="en-US" dirty="0"/>
              <a:t>缓冲</a:t>
            </a:r>
            <a:r>
              <a:rPr lang="zh-CN" altLang="en-US" dirty="0" smtClean="0"/>
              <a:t>区满的时候，生产者不能向其中放入数据</a:t>
            </a:r>
            <a:endParaRPr lang="en-US" altLang="zh-CN" dirty="0" smtClean="0"/>
          </a:p>
          <a:p>
            <a:pPr lvl="1"/>
            <a:r>
              <a:rPr lang="zh-CN" altLang="en-US" dirty="0"/>
              <a:t>缓冲</a:t>
            </a:r>
            <a:r>
              <a:rPr lang="zh-CN" altLang="en-US" dirty="0" smtClean="0"/>
              <a:t>区空的时候，消费者不能从中取数据</a:t>
            </a:r>
            <a:endParaRPr lang="en-US" altLang="zh-CN" dirty="0" smtClean="0"/>
          </a:p>
          <a:p>
            <a:pPr lvl="1"/>
            <a:endParaRPr lang="zh-CN" altLang="en-US" dirty="0"/>
          </a:p>
        </p:txBody>
      </p:sp>
      <p:sp>
        <p:nvSpPr>
          <p:cNvPr id="4" name="Date Placeholder 3"/>
          <p:cNvSpPr>
            <a:spLocks noGrp="1"/>
          </p:cNvSpPr>
          <p:nvPr>
            <p:ph type="dt" sz="half" idx="10"/>
          </p:nvPr>
        </p:nvSpPr>
        <p:spPr/>
        <p:txBody>
          <a:bodyPr/>
          <a:lstStyle/>
          <a:p>
            <a:fld id="{B01A3B0F-7345-44E6-873F-2C5B43DFEF1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48</a:t>
            </a:fld>
            <a:endParaRPr lang="zh-CN" altLang="en-US" dirty="0"/>
          </a:p>
        </p:txBody>
      </p:sp>
    </p:spTree>
    <p:extLst>
      <p:ext uri="{BB962C8B-B14F-4D97-AF65-F5344CB8AC3E}">
        <p14:creationId xmlns:p14="http://schemas.microsoft.com/office/powerpoint/2010/main" val="30334891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用信号量实现同步</a:t>
            </a:r>
          </a:p>
        </p:txBody>
      </p:sp>
      <p:sp>
        <p:nvSpPr>
          <p:cNvPr id="3" name="Content Placeholder 2"/>
          <p:cNvSpPr>
            <a:spLocks noGrp="1"/>
          </p:cNvSpPr>
          <p:nvPr>
            <p:ph idx="1"/>
          </p:nvPr>
        </p:nvSpPr>
        <p:spPr/>
        <p:txBody>
          <a:bodyPr/>
          <a:lstStyle/>
          <a:p>
            <a:r>
              <a:rPr lang="zh-CN" altLang="en-US" dirty="0" smtClean="0"/>
              <a:t>信号量的设计</a:t>
            </a:r>
            <a:endParaRPr lang="en-US" altLang="zh-CN" dirty="0" smtClean="0"/>
          </a:p>
          <a:p>
            <a:pPr lvl="1"/>
            <a:r>
              <a:rPr lang="zh-CN" altLang="en-US" dirty="0" smtClean="0"/>
              <a:t>用</a:t>
            </a:r>
            <a:r>
              <a:rPr lang="en-US" altLang="zh-CN" dirty="0" err="1"/>
              <a:t>m</a:t>
            </a:r>
            <a:r>
              <a:rPr lang="en-US" altLang="zh-CN" dirty="0" err="1" smtClean="0"/>
              <a:t>utex</a:t>
            </a:r>
            <a:r>
              <a:rPr lang="zh-CN" altLang="en-US" dirty="0" smtClean="0"/>
              <a:t>控制对缓冲区的互斥访问，初值为</a:t>
            </a:r>
            <a:r>
              <a:rPr lang="en-US" altLang="zh-CN" dirty="0" smtClean="0"/>
              <a:t>1</a:t>
            </a:r>
          </a:p>
          <a:p>
            <a:pPr lvl="1"/>
            <a:r>
              <a:rPr lang="zh-CN" altLang="en-US" dirty="0" smtClean="0"/>
              <a:t>用</a:t>
            </a:r>
            <a:r>
              <a:rPr lang="en-US" altLang="zh-CN" dirty="0" smtClean="0"/>
              <a:t>full</a:t>
            </a:r>
            <a:r>
              <a:rPr lang="zh-CN" altLang="en-US" dirty="0" smtClean="0"/>
              <a:t>表示“满”的数目，初值为</a:t>
            </a:r>
            <a:r>
              <a:rPr lang="en-US" altLang="zh-CN" dirty="0" smtClean="0"/>
              <a:t>0</a:t>
            </a:r>
          </a:p>
          <a:p>
            <a:pPr lvl="1"/>
            <a:r>
              <a:rPr lang="zh-CN" altLang="en-US" dirty="0" smtClean="0"/>
              <a:t>用</a:t>
            </a:r>
            <a:r>
              <a:rPr lang="en-US" altLang="zh-CN" dirty="0" smtClean="0"/>
              <a:t>empty</a:t>
            </a:r>
            <a:r>
              <a:rPr lang="zh-CN" altLang="en-US" dirty="0" smtClean="0"/>
              <a:t>表示“空”的数目，初值为</a:t>
            </a:r>
            <a:r>
              <a:rPr lang="en-US" altLang="zh-CN" dirty="0" smtClean="0"/>
              <a:t>N</a:t>
            </a:r>
          </a:p>
          <a:p>
            <a:pPr lvl="1"/>
            <a:r>
              <a:rPr lang="zh-CN" altLang="en-US" dirty="0"/>
              <a:t>实</a:t>
            </a:r>
            <a:r>
              <a:rPr lang="zh-CN" altLang="en-US" dirty="0" smtClean="0"/>
              <a:t>际上，</a:t>
            </a:r>
            <a:r>
              <a:rPr lang="en-US" altLang="zh-CN" dirty="0" smtClean="0"/>
              <a:t>full + empty = N</a:t>
            </a:r>
            <a:r>
              <a:rPr lang="zh-CN" altLang="en-US" dirty="0" smtClean="0"/>
              <a:t>（</a:t>
            </a:r>
            <a:r>
              <a:rPr lang="zh-CN" altLang="en-US" dirty="0" smtClean="0">
                <a:solidFill>
                  <a:srgbClr val="FF0000"/>
                </a:solidFill>
              </a:rPr>
              <a:t>用一个信号量是否可以？</a:t>
            </a:r>
            <a:r>
              <a:rPr lang="zh-CN" altLang="en-US" dirty="0" smtClean="0"/>
              <a:t>）</a:t>
            </a:r>
            <a:endParaRPr lang="en-US" altLang="zh-CN" dirty="0" smtClean="0"/>
          </a:p>
          <a:p>
            <a:pPr lvl="1"/>
            <a:endParaRPr lang="zh-CN" altLang="en-US" dirty="0"/>
          </a:p>
        </p:txBody>
      </p:sp>
      <p:sp>
        <p:nvSpPr>
          <p:cNvPr id="4" name="Date Placeholder 3"/>
          <p:cNvSpPr>
            <a:spLocks noGrp="1"/>
          </p:cNvSpPr>
          <p:nvPr>
            <p:ph type="dt" sz="half" idx="10"/>
          </p:nvPr>
        </p:nvSpPr>
        <p:spPr/>
        <p:txBody>
          <a:bodyPr/>
          <a:lstStyle/>
          <a:p>
            <a:fld id="{92B8740F-0193-4F32-8479-871C4C74410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49</a:t>
            </a:fld>
            <a:endParaRPr lang="zh-CN" altLang="en-US" dirty="0"/>
          </a:p>
        </p:txBody>
      </p:sp>
      <p:grpSp>
        <p:nvGrpSpPr>
          <p:cNvPr id="7" name="Group 5"/>
          <p:cNvGrpSpPr>
            <a:grpSpLocks/>
          </p:cNvGrpSpPr>
          <p:nvPr/>
        </p:nvGrpSpPr>
        <p:grpSpPr bwMode="auto">
          <a:xfrm>
            <a:off x="850900" y="3635970"/>
            <a:ext cx="2932113" cy="2673350"/>
            <a:chOff x="376" y="1584"/>
            <a:chExt cx="1847" cy="1684"/>
          </a:xfrm>
        </p:grpSpPr>
        <p:sp>
          <p:nvSpPr>
            <p:cNvPr id="8" name="Rectangle 6"/>
            <p:cNvSpPr>
              <a:spLocks noChangeArrowheads="1"/>
            </p:cNvSpPr>
            <p:nvPr/>
          </p:nvSpPr>
          <p:spPr bwMode="auto">
            <a:xfrm>
              <a:off x="951" y="1584"/>
              <a:ext cx="60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latin typeface="+mn-lt"/>
                  <a:ea typeface="楷体" panose="02010609060101010101" pitchFamily="49" charset="-122"/>
                </a:rPr>
                <a:t>Producer</a:t>
              </a:r>
            </a:p>
          </p:txBody>
        </p:sp>
        <p:sp>
          <p:nvSpPr>
            <p:cNvPr id="9" name="Rectangle 7"/>
            <p:cNvSpPr>
              <a:spLocks noChangeArrowheads="1"/>
            </p:cNvSpPr>
            <p:nvPr/>
          </p:nvSpPr>
          <p:spPr bwMode="auto">
            <a:xfrm>
              <a:off x="376" y="1888"/>
              <a:ext cx="66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P(empty);</a:t>
              </a:r>
              <a:endParaRPr lang="en-US" altLang="zh-CN" sz="2000" b="1" dirty="0">
                <a:latin typeface="+mn-lt"/>
                <a:ea typeface="楷体" panose="02010609060101010101" pitchFamily="49" charset="-122"/>
              </a:endParaRPr>
            </a:p>
          </p:txBody>
        </p:sp>
        <p:sp>
          <p:nvSpPr>
            <p:cNvPr id="10" name="Rectangle 8"/>
            <p:cNvSpPr>
              <a:spLocks noChangeArrowheads="1"/>
            </p:cNvSpPr>
            <p:nvPr/>
          </p:nvSpPr>
          <p:spPr bwMode="auto">
            <a:xfrm>
              <a:off x="376" y="2175"/>
              <a:ext cx="65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P(mutex);</a:t>
              </a:r>
              <a:endParaRPr lang="en-US" altLang="zh-CN" sz="2000" b="1">
                <a:latin typeface="+mn-lt"/>
                <a:ea typeface="楷体" panose="02010609060101010101" pitchFamily="49" charset="-122"/>
              </a:endParaRPr>
            </a:p>
          </p:txBody>
        </p:sp>
        <p:sp>
          <p:nvSpPr>
            <p:cNvPr id="11" name="Rectangle 9"/>
            <p:cNvSpPr>
              <a:spLocks noChangeArrowheads="1"/>
            </p:cNvSpPr>
            <p:nvPr/>
          </p:nvSpPr>
          <p:spPr bwMode="auto">
            <a:xfrm>
              <a:off x="1572" y="2175"/>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a:t>
              </a:r>
              <a:r>
                <a:rPr lang="zh-CN" altLang="en-US" sz="2000" b="1">
                  <a:solidFill>
                    <a:srgbClr val="000000"/>
                  </a:solidFill>
                  <a:latin typeface="+mn-lt"/>
                  <a:ea typeface="楷体" panose="02010609060101010101" pitchFamily="49" charset="-122"/>
                </a:rPr>
                <a:t>进入区</a:t>
              </a:r>
              <a:endParaRPr lang="zh-CN" altLang="en-US" sz="2000" b="1">
                <a:latin typeface="+mn-lt"/>
                <a:ea typeface="楷体" panose="02010609060101010101" pitchFamily="49" charset="-122"/>
              </a:endParaRPr>
            </a:p>
          </p:txBody>
        </p:sp>
        <p:sp>
          <p:nvSpPr>
            <p:cNvPr id="12" name="Rectangle 10"/>
            <p:cNvSpPr>
              <a:spLocks noChangeArrowheads="1"/>
            </p:cNvSpPr>
            <p:nvPr/>
          </p:nvSpPr>
          <p:spPr bwMode="auto">
            <a:xfrm>
              <a:off x="376" y="2483"/>
              <a:ext cx="1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  one unit</a:t>
              </a:r>
              <a:r>
                <a:rPr lang="en-US" altLang="zh-CN" sz="2000" b="1">
                  <a:solidFill>
                    <a:srgbClr val="000000"/>
                  </a:solidFill>
                  <a:latin typeface="+mn-lt"/>
                  <a:ea typeface="楷体" panose="02010609060101010101" pitchFamily="49" charset="-122"/>
                  <a:sym typeface="Symbol" panose="05050102010706020507" pitchFamily="18" charset="2"/>
                </a:rPr>
                <a:t></a:t>
              </a:r>
              <a:r>
                <a:rPr lang="en-US" altLang="zh-CN" sz="2000" b="1">
                  <a:solidFill>
                    <a:srgbClr val="000000"/>
                  </a:solidFill>
                  <a:latin typeface="+mn-lt"/>
                  <a:ea typeface="楷体" panose="02010609060101010101" pitchFamily="49" charset="-122"/>
                </a:rPr>
                <a:t> buffer;</a:t>
              </a:r>
              <a:endParaRPr lang="en-US" altLang="zh-CN" sz="2000" b="1">
                <a:latin typeface="+mn-lt"/>
                <a:ea typeface="楷体" panose="02010609060101010101" pitchFamily="49" charset="-122"/>
              </a:endParaRPr>
            </a:p>
          </p:txBody>
        </p:sp>
        <p:sp>
          <p:nvSpPr>
            <p:cNvPr id="13" name="Rectangle 11"/>
            <p:cNvSpPr>
              <a:spLocks noChangeArrowheads="1"/>
            </p:cNvSpPr>
            <p:nvPr/>
          </p:nvSpPr>
          <p:spPr bwMode="auto">
            <a:xfrm>
              <a:off x="376" y="2786"/>
              <a:ext cx="6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V(mutex);</a:t>
              </a:r>
              <a:endParaRPr lang="en-US" altLang="zh-CN" sz="2000" b="1">
                <a:latin typeface="+mn-lt"/>
                <a:ea typeface="楷体" panose="02010609060101010101" pitchFamily="49" charset="-122"/>
              </a:endParaRPr>
            </a:p>
          </p:txBody>
        </p:sp>
        <p:sp>
          <p:nvSpPr>
            <p:cNvPr id="14" name="Rectangle 12"/>
            <p:cNvSpPr>
              <a:spLocks noChangeArrowheads="1"/>
            </p:cNvSpPr>
            <p:nvPr/>
          </p:nvSpPr>
          <p:spPr bwMode="auto">
            <a:xfrm>
              <a:off x="376" y="3074"/>
              <a:ext cx="45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V(full);</a:t>
              </a:r>
              <a:endParaRPr lang="en-US" altLang="zh-CN" sz="2000" b="1">
                <a:latin typeface="+mn-lt"/>
                <a:ea typeface="楷体" panose="02010609060101010101" pitchFamily="49" charset="-122"/>
              </a:endParaRPr>
            </a:p>
          </p:txBody>
        </p:sp>
        <p:sp>
          <p:nvSpPr>
            <p:cNvPr id="15" name="Rectangle 13"/>
            <p:cNvSpPr>
              <a:spLocks noChangeArrowheads="1"/>
            </p:cNvSpPr>
            <p:nvPr/>
          </p:nvSpPr>
          <p:spPr bwMode="auto">
            <a:xfrm>
              <a:off x="1560" y="2796"/>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退出区</a:t>
              </a:r>
              <a:endParaRPr lang="zh-CN" altLang="en-US" sz="2000" b="1" dirty="0">
                <a:latin typeface="+mn-lt"/>
                <a:ea typeface="楷体" panose="02010609060101010101" pitchFamily="49" charset="-122"/>
              </a:endParaRPr>
            </a:p>
          </p:txBody>
        </p:sp>
      </p:grpSp>
      <p:grpSp>
        <p:nvGrpSpPr>
          <p:cNvPr id="16" name="Group 14"/>
          <p:cNvGrpSpPr>
            <a:grpSpLocks/>
          </p:cNvGrpSpPr>
          <p:nvPr/>
        </p:nvGrpSpPr>
        <p:grpSpPr bwMode="auto">
          <a:xfrm>
            <a:off x="5362575" y="3635970"/>
            <a:ext cx="2932113" cy="2673350"/>
            <a:chOff x="3218" y="1584"/>
            <a:chExt cx="1847" cy="1684"/>
          </a:xfrm>
        </p:grpSpPr>
        <p:sp>
          <p:nvSpPr>
            <p:cNvPr id="17" name="Rectangle 15"/>
            <p:cNvSpPr>
              <a:spLocks noChangeArrowheads="1"/>
            </p:cNvSpPr>
            <p:nvPr/>
          </p:nvSpPr>
          <p:spPr bwMode="auto">
            <a:xfrm>
              <a:off x="3854" y="1584"/>
              <a:ext cx="6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latin typeface="+mn-lt"/>
                  <a:ea typeface="楷体" panose="02010609060101010101" pitchFamily="49" charset="-122"/>
                </a:rPr>
                <a:t>Consumer</a:t>
              </a:r>
            </a:p>
          </p:txBody>
        </p:sp>
        <p:sp>
          <p:nvSpPr>
            <p:cNvPr id="18" name="Rectangle 16"/>
            <p:cNvSpPr>
              <a:spLocks noChangeArrowheads="1"/>
            </p:cNvSpPr>
            <p:nvPr/>
          </p:nvSpPr>
          <p:spPr bwMode="auto">
            <a:xfrm>
              <a:off x="3218" y="1888"/>
              <a:ext cx="4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P(full);</a:t>
              </a:r>
              <a:endParaRPr lang="en-US" altLang="zh-CN" sz="2000" b="1">
                <a:latin typeface="+mn-lt"/>
                <a:ea typeface="楷体" panose="02010609060101010101" pitchFamily="49" charset="-122"/>
              </a:endParaRPr>
            </a:p>
          </p:txBody>
        </p:sp>
        <p:sp>
          <p:nvSpPr>
            <p:cNvPr id="19" name="Rectangle 17"/>
            <p:cNvSpPr>
              <a:spLocks noChangeArrowheads="1"/>
            </p:cNvSpPr>
            <p:nvPr/>
          </p:nvSpPr>
          <p:spPr bwMode="auto">
            <a:xfrm>
              <a:off x="3218" y="2175"/>
              <a:ext cx="65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P(mutex);</a:t>
              </a:r>
              <a:endParaRPr lang="en-US" altLang="zh-CN" sz="2000" b="1">
                <a:latin typeface="+mn-lt"/>
                <a:ea typeface="楷体" panose="02010609060101010101" pitchFamily="49" charset="-122"/>
              </a:endParaRPr>
            </a:p>
          </p:txBody>
        </p:sp>
        <p:sp>
          <p:nvSpPr>
            <p:cNvPr id="20" name="Rectangle 18"/>
            <p:cNvSpPr>
              <a:spLocks noChangeArrowheads="1"/>
            </p:cNvSpPr>
            <p:nvPr/>
          </p:nvSpPr>
          <p:spPr bwMode="auto">
            <a:xfrm>
              <a:off x="4414" y="2175"/>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a:t>
              </a:r>
              <a:r>
                <a:rPr lang="zh-CN" altLang="en-US" sz="2000" b="1">
                  <a:solidFill>
                    <a:srgbClr val="000000"/>
                  </a:solidFill>
                  <a:latin typeface="+mn-lt"/>
                  <a:ea typeface="楷体" panose="02010609060101010101" pitchFamily="49" charset="-122"/>
                </a:rPr>
                <a:t>进入区</a:t>
              </a:r>
              <a:endParaRPr lang="zh-CN" altLang="en-US" sz="2000" b="1">
                <a:latin typeface="+mn-lt"/>
                <a:ea typeface="楷体" panose="02010609060101010101" pitchFamily="49" charset="-122"/>
              </a:endParaRPr>
            </a:p>
          </p:txBody>
        </p:sp>
        <p:sp>
          <p:nvSpPr>
            <p:cNvPr id="21" name="Rectangle 19"/>
            <p:cNvSpPr>
              <a:spLocks noChangeArrowheads="1"/>
            </p:cNvSpPr>
            <p:nvPr/>
          </p:nvSpPr>
          <p:spPr bwMode="auto">
            <a:xfrm>
              <a:off x="3218" y="2483"/>
              <a:ext cx="1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  one unit </a:t>
              </a:r>
              <a:r>
                <a:rPr lang="en-US" altLang="zh-CN" sz="2000" b="1">
                  <a:solidFill>
                    <a:srgbClr val="000000"/>
                  </a:solidFill>
                  <a:latin typeface="+mn-lt"/>
                  <a:ea typeface="楷体" panose="02010609060101010101" pitchFamily="49" charset="-122"/>
                  <a:sym typeface="Symbol" panose="05050102010706020507" pitchFamily="18" charset="2"/>
                </a:rPr>
                <a:t></a:t>
              </a:r>
              <a:r>
                <a:rPr lang="en-US" altLang="zh-CN" sz="2000" b="1">
                  <a:solidFill>
                    <a:srgbClr val="000000"/>
                  </a:solidFill>
                  <a:latin typeface="+mn-lt"/>
                  <a:ea typeface="楷体" panose="02010609060101010101" pitchFamily="49" charset="-122"/>
                </a:rPr>
                <a:t>buffer;</a:t>
              </a:r>
              <a:endParaRPr lang="en-US" altLang="zh-CN" sz="2000" b="1">
                <a:latin typeface="+mn-lt"/>
                <a:ea typeface="楷体" panose="02010609060101010101" pitchFamily="49" charset="-122"/>
              </a:endParaRPr>
            </a:p>
          </p:txBody>
        </p:sp>
        <p:sp>
          <p:nvSpPr>
            <p:cNvPr id="22" name="Rectangle 20"/>
            <p:cNvSpPr>
              <a:spLocks noChangeArrowheads="1"/>
            </p:cNvSpPr>
            <p:nvPr/>
          </p:nvSpPr>
          <p:spPr bwMode="auto">
            <a:xfrm>
              <a:off x="3218" y="2786"/>
              <a:ext cx="6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V(mutex);</a:t>
              </a:r>
              <a:endParaRPr lang="en-US" altLang="zh-CN" sz="2000" b="1">
                <a:latin typeface="+mn-lt"/>
                <a:ea typeface="楷体" panose="02010609060101010101" pitchFamily="49" charset="-122"/>
              </a:endParaRPr>
            </a:p>
          </p:txBody>
        </p:sp>
        <p:sp>
          <p:nvSpPr>
            <p:cNvPr id="23" name="Rectangle 21"/>
            <p:cNvSpPr>
              <a:spLocks noChangeArrowheads="1"/>
            </p:cNvSpPr>
            <p:nvPr/>
          </p:nvSpPr>
          <p:spPr bwMode="auto">
            <a:xfrm>
              <a:off x="3218" y="3074"/>
              <a:ext cx="6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V(empty);</a:t>
              </a:r>
              <a:endParaRPr lang="en-US" altLang="zh-CN" sz="2000" b="1">
                <a:latin typeface="+mn-lt"/>
                <a:ea typeface="楷体" panose="02010609060101010101" pitchFamily="49" charset="-122"/>
              </a:endParaRPr>
            </a:p>
          </p:txBody>
        </p:sp>
        <p:sp>
          <p:nvSpPr>
            <p:cNvPr id="24" name="Rectangle 22"/>
            <p:cNvSpPr>
              <a:spLocks noChangeArrowheads="1"/>
            </p:cNvSpPr>
            <p:nvPr/>
          </p:nvSpPr>
          <p:spPr bwMode="auto">
            <a:xfrm>
              <a:off x="4414" y="2802"/>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退出区</a:t>
              </a:r>
              <a:endParaRPr lang="zh-CN" altLang="en-US" sz="2000" b="1" dirty="0">
                <a:latin typeface="+mn-lt"/>
                <a:ea typeface="楷体" panose="02010609060101010101" pitchFamily="49" charset="-122"/>
              </a:endParaRPr>
            </a:p>
          </p:txBody>
        </p:sp>
      </p:grpSp>
    </p:spTree>
    <p:extLst>
      <p:ext uri="{BB962C8B-B14F-4D97-AF65-F5344CB8AC3E}">
        <p14:creationId xmlns:p14="http://schemas.microsoft.com/office/powerpoint/2010/main" val="320233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6"/>
          <p:cNvGrpSpPr>
            <a:grpSpLocks/>
          </p:cNvGrpSpPr>
          <p:nvPr/>
        </p:nvGrpSpPr>
        <p:grpSpPr bwMode="auto">
          <a:xfrm>
            <a:off x="1520825" y="1025525"/>
            <a:ext cx="6264275" cy="2808288"/>
            <a:chOff x="958" y="646"/>
            <a:chExt cx="3946" cy="1769"/>
          </a:xfrm>
        </p:grpSpPr>
        <p:grpSp>
          <p:nvGrpSpPr>
            <p:cNvPr id="60435" name="Group 25"/>
            <p:cNvGrpSpPr>
              <a:grpSpLocks/>
            </p:cNvGrpSpPr>
            <p:nvPr/>
          </p:nvGrpSpPr>
          <p:grpSpPr bwMode="auto">
            <a:xfrm>
              <a:off x="958" y="646"/>
              <a:ext cx="1950" cy="1769"/>
              <a:chOff x="657" y="709"/>
              <a:chExt cx="1950" cy="1769"/>
            </a:xfrm>
          </p:grpSpPr>
          <p:sp>
            <p:nvSpPr>
              <p:cNvPr id="60447" name="Rectangle 2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0448" name="Group 3"/>
              <p:cNvGrpSpPr>
                <a:grpSpLocks/>
              </p:cNvGrpSpPr>
              <p:nvPr/>
            </p:nvGrpSpPr>
            <p:grpSpPr bwMode="auto">
              <a:xfrm>
                <a:off x="703" y="709"/>
                <a:ext cx="1881" cy="1720"/>
                <a:chOff x="376" y="1584"/>
                <a:chExt cx="1881" cy="1720"/>
              </a:xfrm>
            </p:grpSpPr>
            <p:sp>
              <p:nvSpPr>
                <p:cNvPr id="60449" name="Rectangle 4"/>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0450" name="Rectangle 5"/>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0451" name="Rectangle 6"/>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0452" name="Rectangle 7"/>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0453" name="Rectangle 8"/>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0454" name="Rectangle 9"/>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0455" name="Rectangle 10"/>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0456" name="Rectangle 11"/>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0436" name="Group 23"/>
            <p:cNvGrpSpPr>
              <a:grpSpLocks/>
            </p:cNvGrpSpPr>
            <p:nvPr/>
          </p:nvGrpSpPr>
          <p:grpSpPr bwMode="auto">
            <a:xfrm>
              <a:off x="2908" y="646"/>
              <a:ext cx="1996" cy="1769"/>
              <a:chOff x="3152" y="709"/>
              <a:chExt cx="1996" cy="1769"/>
            </a:xfrm>
          </p:grpSpPr>
          <p:sp>
            <p:nvSpPr>
              <p:cNvPr id="60437" name="Rectangle 22"/>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0438" name="Group 12"/>
              <p:cNvGrpSpPr>
                <a:grpSpLocks/>
              </p:cNvGrpSpPr>
              <p:nvPr/>
            </p:nvGrpSpPr>
            <p:grpSpPr bwMode="auto">
              <a:xfrm>
                <a:off x="3198" y="712"/>
                <a:ext cx="1881" cy="1720"/>
                <a:chOff x="3218" y="1584"/>
                <a:chExt cx="1881" cy="1720"/>
              </a:xfrm>
            </p:grpSpPr>
            <p:sp>
              <p:nvSpPr>
                <p:cNvPr id="60439" name="Rectangle 13"/>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0440" name="Rectangle 14"/>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0441" name="Rectangle 15"/>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0442" name="Rectangle 16"/>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0443" name="Rectangle 17"/>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0444" name="Rectangle 18"/>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0445" name="Rectangle 19"/>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0446" name="Rectangle 20"/>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0419" name="Text Box 27"/>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0420" name="Text Box 28"/>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0421" name="Text Box 29"/>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Empty=5</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Mutex=1</a:t>
            </a:r>
          </a:p>
        </p:txBody>
      </p:sp>
      <p:grpSp>
        <p:nvGrpSpPr>
          <p:cNvPr id="60422" name="Group 35"/>
          <p:cNvGrpSpPr>
            <a:grpSpLocks/>
          </p:cNvGrpSpPr>
          <p:nvPr/>
        </p:nvGrpSpPr>
        <p:grpSpPr bwMode="auto">
          <a:xfrm>
            <a:off x="3678238" y="4121150"/>
            <a:ext cx="3600450" cy="663575"/>
            <a:chOff x="1973" y="2831"/>
            <a:chExt cx="2268" cy="418"/>
          </a:xfrm>
        </p:grpSpPr>
        <p:sp>
          <p:nvSpPr>
            <p:cNvPr id="60430" name="Rectangle 30"/>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31" name="Line 31"/>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2" name="Line 32"/>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3" name="Line 33"/>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4" name="Line 34"/>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0423" name="Text Box 36"/>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grpSp>
        <p:nvGrpSpPr>
          <p:cNvPr id="60424" name="Group 44"/>
          <p:cNvGrpSpPr>
            <a:grpSpLocks/>
          </p:cNvGrpSpPr>
          <p:nvPr/>
        </p:nvGrpSpPr>
        <p:grpSpPr bwMode="auto">
          <a:xfrm>
            <a:off x="2268538" y="5805488"/>
            <a:ext cx="3743325" cy="576262"/>
            <a:chOff x="1429" y="3657"/>
            <a:chExt cx="2358" cy="363"/>
          </a:xfrm>
        </p:grpSpPr>
        <p:sp>
          <p:nvSpPr>
            <p:cNvPr id="60425" name="Text Box 39"/>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0426" name="Rectangle 40"/>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27" name="Line 41"/>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8" name="Line 42"/>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9" name="Line 43"/>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A7B9B058-C7CE-43E4-8829-17A3FBF397C2}"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50</a:t>
            </a:fld>
            <a:endParaRPr lang="zh-CN" altLang="en-US"/>
          </a:p>
        </p:txBody>
      </p:sp>
    </p:spTree>
    <p:extLst>
      <p:ext uri="{BB962C8B-B14F-4D97-AF65-F5344CB8AC3E}">
        <p14:creationId xmlns:p14="http://schemas.microsoft.com/office/powerpoint/2010/main" val="27106294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p:cNvGrpSpPr>
            <a:grpSpLocks/>
          </p:cNvGrpSpPr>
          <p:nvPr/>
        </p:nvGrpSpPr>
        <p:grpSpPr bwMode="auto">
          <a:xfrm>
            <a:off x="1520825" y="1025525"/>
            <a:ext cx="6264275" cy="2808288"/>
            <a:chOff x="958" y="646"/>
            <a:chExt cx="3946" cy="1769"/>
          </a:xfrm>
        </p:grpSpPr>
        <p:grpSp>
          <p:nvGrpSpPr>
            <p:cNvPr id="61461" name="Group 3"/>
            <p:cNvGrpSpPr>
              <a:grpSpLocks/>
            </p:cNvGrpSpPr>
            <p:nvPr/>
          </p:nvGrpSpPr>
          <p:grpSpPr bwMode="auto">
            <a:xfrm>
              <a:off x="958" y="646"/>
              <a:ext cx="1950" cy="1769"/>
              <a:chOff x="657" y="709"/>
              <a:chExt cx="1950" cy="1769"/>
            </a:xfrm>
          </p:grpSpPr>
          <p:sp>
            <p:nvSpPr>
              <p:cNvPr id="61473"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1474" name="Group 5"/>
              <p:cNvGrpSpPr>
                <a:grpSpLocks/>
              </p:cNvGrpSpPr>
              <p:nvPr/>
            </p:nvGrpSpPr>
            <p:grpSpPr bwMode="auto">
              <a:xfrm>
                <a:off x="703" y="709"/>
                <a:ext cx="1881" cy="1720"/>
                <a:chOff x="376" y="1584"/>
                <a:chExt cx="1881" cy="1720"/>
              </a:xfrm>
            </p:grpSpPr>
            <p:sp>
              <p:nvSpPr>
                <p:cNvPr id="61475"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1476"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1477"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1478"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1479"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1480"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1481"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1482"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1462" name="Group 14"/>
            <p:cNvGrpSpPr>
              <a:grpSpLocks/>
            </p:cNvGrpSpPr>
            <p:nvPr/>
          </p:nvGrpSpPr>
          <p:grpSpPr bwMode="auto">
            <a:xfrm>
              <a:off x="2908" y="646"/>
              <a:ext cx="1996" cy="1769"/>
              <a:chOff x="3152" y="709"/>
              <a:chExt cx="1996" cy="1769"/>
            </a:xfrm>
          </p:grpSpPr>
          <p:sp>
            <p:nvSpPr>
              <p:cNvPr id="61463"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1464" name="Group 16"/>
              <p:cNvGrpSpPr>
                <a:grpSpLocks/>
              </p:cNvGrpSpPr>
              <p:nvPr/>
            </p:nvGrpSpPr>
            <p:grpSpPr bwMode="auto">
              <a:xfrm>
                <a:off x="3198" y="712"/>
                <a:ext cx="1881" cy="1720"/>
                <a:chOff x="3218" y="1584"/>
                <a:chExt cx="1881" cy="1720"/>
              </a:xfrm>
            </p:grpSpPr>
            <p:sp>
              <p:nvSpPr>
                <p:cNvPr id="61465"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1466"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1467"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1468"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1469"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1470"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1471"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1472"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1443"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1444"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1445"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Empty=5</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Mutex=1</a:t>
            </a:r>
          </a:p>
        </p:txBody>
      </p:sp>
      <p:grpSp>
        <p:nvGrpSpPr>
          <p:cNvPr id="61446" name="Group 28"/>
          <p:cNvGrpSpPr>
            <a:grpSpLocks/>
          </p:cNvGrpSpPr>
          <p:nvPr/>
        </p:nvGrpSpPr>
        <p:grpSpPr bwMode="auto">
          <a:xfrm>
            <a:off x="3678238" y="4121150"/>
            <a:ext cx="3600450" cy="663575"/>
            <a:chOff x="1973" y="2831"/>
            <a:chExt cx="2268" cy="418"/>
          </a:xfrm>
        </p:grpSpPr>
        <p:sp>
          <p:nvSpPr>
            <p:cNvPr id="61456"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457"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8"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9"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0"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447"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1448" name="Text Box 35"/>
          <p:cNvSpPr txBox="1">
            <a:spLocks noChangeArrowheads="1"/>
          </p:cNvSpPr>
          <p:nvPr/>
        </p:nvSpPr>
        <p:spPr bwMode="auto">
          <a:xfrm>
            <a:off x="2555875" y="5157788"/>
            <a:ext cx="41767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makes a new unit</a:t>
            </a:r>
          </a:p>
        </p:txBody>
      </p:sp>
      <p:pic>
        <p:nvPicPr>
          <p:cNvPr id="61449"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50" name="Group 38"/>
          <p:cNvGrpSpPr>
            <a:grpSpLocks/>
          </p:cNvGrpSpPr>
          <p:nvPr/>
        </p:nvGrpSpPr>
        <p:grpSpPr bwMode="auto">
          <a:xfrm>
            <a:off x="2268538" y="5805488"/>
            <a:ext cx="3743325" cy="576262"/>
            <a:chOff x="1429" y="3657"/>
            <a:chExt cx="2358" cy="363"/>
          </a:xfrm>
        </p:grpSpPr>
        <p:sp>
          <p:nvSpPr>
            <p:cNvPr id="61451" name="Text Box 39"/>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1452" name="Rectangle 40"/>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453" name="Line 41"/>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4" name="Line 42"/>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5" name="Line 43"/>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64F55394-811B-4145-A745-003F04E8E5EB}"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51</a:t>
            </a:fld>
            <a:endParaRPr lang="zh-CN" altLang="en-US"/>
          </a:p>
        </p:txBody>
      </p:sp>
    </p:spTree>
    <p:extLst>
      <p:ext uri="{BB962C8B-B14F-4D97-AF65-F5344CB8AC3E}">
        <p14:creationId xmlns:p14="http://schemas.microsoft.com/office/powerpoint/2010/main" val="141137930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6" name="Group 2"/>
          <p:cNvGrpSpPr>
            <a:grpSpLocks/>
          </p:cNvGrpSpPr>
          <p:nvPr/>
        </p:nvGrpSpPr>
        <p:grpSpPr bwMode="auto">
          <a:xfrm>
            <a:off x="1520825" y="1025525"/>
            <a:ext cx="6264275" cy="2808288"/>
            <a:chOff x="958" y="646"/>
            <a:chExt cx="3946" cy="1769"/>
          </a:xfrm>
        </p:grpSpPr>
        <p:grpSp>
          <p:nvGrpSpPr>
            <p:cNvPr id="62486" name="Group 3"/>
            <p:cNvGrpSpPr>
              <a:grpSpLocks/>
            </p:cNvGrpSpPr>
            <p:nvPr/>
          </p:nvGrpSpPr>
          <p:grpSpPr bwMode="auto">
            <a:xfrm>
              <a:off x="958" y="646"/>
              <a:ext cx="1950" cy="1769"/>
              <a:chOff x="657" y="709"/>
              <a:chExt cx="1950" cy="1769"/>
            </a:xfrm>
          </p:grpSpPr>
          <p:sp>
            <p:nvSpPr>
              <p:cNvPr id="62498"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2499" name="Group 5"/>
              <p:cNvGrpSpPr>
                <a:grpSpLocks/>
              </p:cNvGrpSpPr>
              <p:nvPr/>
            </p:nvGrpSpPr>
            <p:grpSpPr bwMode="auto">
              <a:xfrm>
                <a:off x="703" y="709"/>
                <a:ext cx="1881" cy="1720"/>
                <a:chOff x="376" y="1584"/>
                <a:chExt cx="1881" cy="1720"/>
              </a:xfrm>
            </p:grpSpPr>
            <p:sp>
              <p:nvSpPr>
                <p:cNvPr id="62500"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2501"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2502"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2503"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2504"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2505"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2506"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2507"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2487" name="Group 14"/>
            <p:cNvGrpSpPr>
              <a:grpSpLocks/>
            </p:cNvGrpSpPr>
            <p:nvPr/>
          </p:nvGrpSpPr>
          <p:grpSpPr bwMode="auto">
            <a:xfrm>
              <a:off x="2908" y="646"/>
              <a:ext cx="1996" cy="1769"/>
              <a:chOff x="3152" y="709"/>
              <a:chExt cx="1996" cy="1769"/>
            </a:xfrm>
          </p:grpSpPr>
          <p:sp>
            <p:nvSpPr>
              <p:cNvPr id="62488"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2489" name="Group 16"/>
              <p:cNvGrpSpPr>
                <a:grpSpLocks/>
              </p:cNvGrpSpPr>
              <p:nvPr/>
            </p:nvGrpSpPr>
            <p:grpSpPr bwMode="auto">
              <a:xfrm>
                <a:off x="3198" y="712"/>
                <a:ext cx="1881" cy="1720"/>
                <a:chOff x="3218" y="1584"/>
                <a:chExt cx="1881" cy="1720"/>
              </a:xfrm>
            </p:grpSpPr>
            <p:sp>
              <p:nvSpPr>
                <p:cNvPr id="62490"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2491"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2492"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2493"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2494"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2495"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2496"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2497"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2467"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2468"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2469"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Empty=4</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Mutex=1</a:t>
            </a:r>
          </a:p>
        </p:txBody>
      </p:sp>
      <p:grpSp>
        <p:nvGrpSpPr>
          <p:cNvPr id="62470" name="Group 28"/>
          <p:cNvGrpSpPr>
            <a:grpSpLocks/>
          </p:cNvGrpSpPr>
          <p:nvPr/>
        </p:nvGrpSpPr>
        <p:grpSpPr bwMode="auto">
          <a:xfrm>
            <a:off x="3678238" y="4121150"/>
            <a:ext cx="3600450" cy="663575"/>
            <a:chOff x="1973" y="2831"/>
            <a:chExt cx="2268" cy="418"/>
          </a:xfrm>
        </p:grpSpPr>
        <p:sp>
          <p:nvSpPr>
            <p:cNvPr id="62481"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482"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3"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4"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5"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471"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2472" name="Text Box 35"/>
          <p:cNvSpPr txBox="1">
            <a:spLocks noChangeArrowheads="1"/>
          </p:cNvSpPr>
          <p:nvPr/>
        </p:nvSpPr>
        <p:spPr bwMode="auto">
          <a:xfrm>
            <a:off x="2555875" y="5157788"/>
            <a:ext cx="41767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applies a “empty”</a:t>
            </a:r>
          </a:p>
        </p:txBody>
      </p:sp>
      <p:pic>
        <p:nvPicPr>
          <p:cNvPr id="62473"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4" name="Oval 38"/>
          <p:cNvSpPr>
            <a:spLocks noChangeArrowheads="1"/>
          </p:cNvSpPr>
          <p:nvPr/>
        </p:nvSpPr>
        <p:spPr bwMode="auto">
          <a:xfrm>
            <a:off x="1533525" y="47672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2475" name="Group 40"/>
          <p:cNvGrpSpPr>
            <a:grpSpLocks/>
          </p:cNvGrpSpPr>
          <p:nvPr/>
        </p:nvGrpSpPr>
        <p:grpSpPr bwMode="auto">
          <a:xfrm>
            <a:off x="2268538" y="5805488"/>
            <a:ext cx="3743325" cy="576262"/>
            <a:chOff x="1429" y="3657"/>
            <a:chExt cx="2358" cy="363"/>
          </a:xfrm>
        </p:grpSpPr>
        <p:sp>
          <p:nvSpPr>
            <p:cNvPr id="62476" name="Text Box 41"/>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2477" name="Rectangle 42"/>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478" name="Line 43"/>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79" name="Line 44"/>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0" name="Line 45"/>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93233392-BD05-4173-8D65-D76F68273D29}"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52</a:t>
            </a:fld>
            <a:endParaRPr lang="zh-CN" altLang="en-US"/>
          </a:p>
        </p:txBody>
      </p:sp>
    </p:spTree>
    <p:extLst>
      <p:ext uri="{BB962C8B-B14F-4D97-AF65-F5344CB8AC3E}">
        <p14:creationId xmlns:p14="http://schemas.microsoft.com/office/powerpoint/2010/main" val="8939071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2"/>
          <p:cNvGrpSpPr>
            <a:grpSpLocks/>
          </p:cNvGrpSpPr>
          <p:nvPr/>
        </p:nvGrpSpPr>
        <p:grpSpPr bwMode="auto">
          <a:xfrm>
            <a:off x="1520825" y="1025525"/>
            <a:ext cx="6264275" cy="2808288"/>
            <a:chOff x="958" y="646"/>
            <a:chExt cx="3946" cy="1769"/>
          </a:xfrm>
        </p:grpSpPr>
        <p:grpSp>
          <p:nvGrpSpPr>
            <p:cNvPr id="63510" name="Group 3"/>
            <p:cNvGrpSpPr>
              <a:grpSpLocks/>
            </p:cNvGrpSpPr>
            <p:nvPr/>
          </p:nvGrpSpPr>
          <p:grpSpPr bwMode="auto">
            <a:xfrm>
              <a:off x="958" y="646"/>
              <a:ext cx="1950" cy="1769"/>
              <a:chOff x="657" y="709"/>
              <a:chExt cx="1950" cy="1769"/>
            </a:xfrm>
          </p:grpSpPr>
          <p:sp>
            <p:nvSpPr>
              <p:cNvPr id="63522"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3523" name="Group 5"/>
              <p:cNvGrpSpPr>
                <a:grpSpLocks/>
              </p:cNvGrpSpPr>
              <p:nvPr/>
            </p:nvGrpSpPr>
            <p:grpSpPr bwMode="auto">
              <a:xfrm>
                <a:off x="703" y="709"/>
                <a:ext cx="1881" cy="1720"/>
                <a:chOff x="376" y="1584"/>
                <a:chExt cx="1881" cy="1720"/>
              </a:xfrm>
            </p:grpSpPr>
            <p:sp>
              <p:nvSpPr>
                <p:cNvPr id="63524"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3525"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3526" name="Rectangle 8"/>
                <p:cNvSpPr>
                  <a:spLocks noChangeArrowheads="1"/>
                </p:cNvSpPr>
                <p:nvPr/>
              </p:nvSpPr>
              <p:spPr bwMode="auto">
                <a:xfrm>
                  <a:off x="376" y="2175"/>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3527"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3528"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3529"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3530"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3531"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3511" name="Group 14"/>
            <p:cNvGrpSpPr>
              <a:grpSpLocks/>
            </p:cNvGrpSpPr>
            <p:nvPr/>
          </p:nvGrpSpPr>
          <p:grpSpPr bwMode="auto">
            <a:xfrm>
              <a:off x="2908" y="646"/>
              <a:ext cx="1996" cy="1769"/>
              <a:chOff x="3152" y="709"/>
              <a:chExt cx="1996" cy="1769"/>
            </a:xfrm>
          </p:grpSpPr>
          <p:sp>
            <p:nvSpPr>
              <p:cNvPr id="63512"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3513" name="Group 16"/>
              <p:cNvGrpSpPr>
                <a:grpSpLocks/>
              </p:cNvGrpSpPr>
              <p:nvPr/>
            </p:nvGrpSpPr>
            <p:grpSpPr bwMode="auto">
              <a:xfrm>
                <a:off x="3198" y="712"/>
                <a:ext cx="1881" cy="1720"/>
                <a:chOff x="3218" y="1584"/>
                <a:chExt cx="1881" cy="1720"/>
              </a:xfrm>
            </p:grpSpPr>
            <p:sp>
              <p:nvSpPr>
                <p:cNvPr id="63514"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3515"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3516"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3517"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3518"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3519"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3520"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3521"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3491"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3492"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3493"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Empty=4</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Mutex=0</a:t>
            </a:r>
          </a:p>
        </p:txBody>
      </p:sp>
      <p:grpSp>
        <p:nvGrpSpPr>
          <p:cNvPr id="63494" name="Group 28"/>
          <p:cNvGrpSpPr>
            <a:grpSpLocks/>
          </p:cNvGrpSpPr>
          <p:nvPr/>
        </p:nvGrpSpPr>
        <p:grpSpPr bwMode="auto">
          <a:xfrm>
            <a:off x="3678238" y="4121150"/>
            <a:ext cx="3600450" cy="663575"/>
            <a:chOff x="1973" y="2831"/>
            <a:chExt cx="2268" cy="418"/>
          </a:xfrm>
        </p:grpSpPr>
        <p:sp>
          <p:nvSpPr>
            <p:cNvPr id="63505"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506"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7"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8"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9"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495"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3496" name="Text Box 35"/>
          <p:cNvSpPr txBox="1">
            <a:spLocks noChangeArrowheads="1"/>
          </p:cNvSpPr>
          <p:nvPr/>
        </p:nvSpPr>
        <p:spPr bwMode="auto">
          <a:xfrm>
            <a:off x="2555875" y="5157788"/>
            <a:ext cx="4537075"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applies critical section</a:t>
            </a:r>
          </a:p>
        </p:txBody>
      </p:sp>
      <p:pic>
        <p:nvPicPr>
          <p:cNvPr id="63497"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Oval 39"/>
          <p:cNvSpPr>
            <a:spLocks noChangeArrowheads="1"/>
          </p:cNvSpPr>
          <p:nvPr/>
        </p:nvSpPr>
        <p:spPr bwMode="auto">
          <a:xfrm>
            <a:off x="1489075" y="56308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3499" name="Group 40"/>
          <p:cNvGrpSpPr>
            <a:grpSpLocks/>
          </p:cNvGrpSpPr>
          <p:nvPr/>
        </p:nvGrpSpPr>
        <p:grpSpPr bwMode="auto">
          <a:xfrm>
            <a:off x="2268538" y="5805488"/>
            <a:ext cx="3743325" cy="576262"/>
            <a:chOff x="1429" y="3657"/>
            <a:chExt cx="2358" cy="363"/>
          </a:xfrm>
        </p:grpSpPr>
        <p:sp>
          <p:nvSpPr>
            <p:cNvPr id="63500" name="Text Box 41"/>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3501" name="Rectangle 42"/>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502" name="Line 43"/>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3" name="Line 44"/>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4" name="Line 45"/>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B513842B-FAB4-4F54-8234-69EFA1659AD4}"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53</a:t>
            </a:fld>
            <a:endParaRPr lang="zh-CN" altLang="en-US"/>
          </a:p>
        </p:txBody>
      </p:sp>
    </p:spTree>
    <p:extLst>
      <p:ext uri="{BB962C8B-B14F-4D97-AF65-F5344CB8AC3E}">
        <p14:creationId xmlns:p14="http://schemas.microsoft.com/office/powerpoint/2010/main" val="9162433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2"/>
          <p:cNvGrpSpPr>
            <a:grpSpLocks/>
          </p:cNvGrpSpPr>
          <p:nvPr/>
        </p:nvGrpSpPr>
        <p:grpSpPr bwMode="auto">
          <a:xfrm>
            <a:off x="1520825" y="1025525"/>
            <a:ext cx="6264275" cy="2808288"/>
            <a:chOff x="958" y="646"/>
            <a:chExt cx="3946" cy="1769"/>
          </a:xfrm>
        </p:grpSpPr>
        <p:grpSp>
          <p:nvGrpSpPr>
            <p:cNvPr id="64533" name="Group 3"/>
            <p:cNvGrpSpPr>
              <a:grpSpLocks/>
            </p:cNvGrpSpPr>
            <p:nvPr/>
          </p:nvGrpSpPr>
          <p:grpSpPr bwMode="auto">
            <a:xfrm>
              <a:off x="958" y="646"/>
              <a:ext cx="1950" cy="1769"/>
              <a:chOff x="657" y="709"/>
              <a:chExt cx="1950" cy="1769"/>
            </a:xfrm>
          </p:grpSpPr>
          <p:sp>
            <p:nvSpPr>
              <p:cNvPr id="64545"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4546" name="Group 5"/>
              <p:cNvGrpSpPr>
                <a:grpSpLocks/>
              </p:cNvGrpSpPr>
              <p:nvPr/>
            </p:nvGrpSpPr>
            <p:grpSpPr bwMode="auto">
              <a:xfrm>
                <a:off x="703" y="709"/>
                <a:ext cx="1881" cy="1720"/>
                <a:chOff x="376" y="1584"/>
                <a:chExt cx="1881" cy="1720"/>
              </a:xfrm>
            </p:grpSpPr>
            <p:sp>
              <p:nvSpPr>
                <p:cNvPr id="64547"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4548"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4549"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4550"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4551" name="Rectangle 10"/>
                <p:cNvSpPr>
                  <a:spLocks noChangeArrowheads="1"/>
                </p:cNvSpPr>
                <p:nvPr/>
              </p:nvSpPr>
              <p:spPr bwMode="auto">
                <a:xfrm>
                  <a:off x="376" y="2483"/>
                  <a:ext cx="1625"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4552"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4553"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4554"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4534" name="Group 14"/>
            <p:cNvGrpSpPr>
              <a:grpSpLocks/>
            </p:cNvGrpSpPr>
            <p:nvPr/>
          </p:nvGrpSpPr>
          <p:grpSpPr bwMode="auto">
            <a:xfrm>
              <a:off x="2908" y="646"/>
              <a:ext cx="1996" cy="1769"/>
              <a:chOff x="3152" y="709"/>
              <a:chExt cx="1996" cy="1769"/>
            </a:xfrm>
          </p:grpSpPr>
          <p:sp>
            <p:nvSpPr>
              <p:cNvPr id="64535"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4536" name="Group 16"/>
              <p:cNvGrpSpPr>
                <a:grpSpLocks/>
              </p:cNvGrpSpPr>
              <p:nvPr/>
            </p:nvGrpSpPr>
            <p:grpSpPr bwMode="auto">
              <a:xfrm>
                <a:off x="3198" y="712"/>
                <a:ext cx="1881" cy="1720"/>
                <a:chOff x="3218" y="1584"/>
                <a:chExt cx="1881" cy="1720"/>
              </a:xfrm>
            </p:grpSpPr>
            <p:sp>
              <p:nvSpPr>
                <p:cNvPr id="64537"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4538"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4539"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4540"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4541"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4542"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4543"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4544"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4515"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4516"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4517"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Empty=4</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Mutex=0</a:t>
            </a:r>
          </a:p>
        </p:txBody>
      </p:sp>
      <p:grpSp>
        <p:nvGrpSpPr>
          <p:cNvPr id="64518" name="Group 28"/>
          <p:cNvGrpSpPr>
            <a:grpSpLocks/>
          </p:cNvGrpSpPr>
          <p:nvPr/>
        </p:nvGrpSpPr>
        <p:grpSpPr bwMode="auto">
          <a:xfrm>
            <a:off x="3678238" y="4121150"/>
            <a:ext cx="3600450" cy="663575"/>
            <a:chOff x="1973" y="2831"/>
            <a:chExt cx="2268" cy="418"/>
          </a:xfrm>
        </p:grpSpPr>
        <p:sp>
          <p:nvSpPr>
            <p:cNvPr id="64528"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4529"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0"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1"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2"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4519"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4520" name="Text Box 35"/>
          <p:cNvSpPr txBox="1">
            <a:spLocks noChangeArrowheads="1"/>
          </p:cNvSpPr>
          <p:nvPr/>
        </p:nvSpPr>
        <p:spPr bwMode="auto">
          <a:xfrm>
            <a:off x="2555875" y="5157788"/>
            <a:ext cx="41767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puts unit into buffer</a:t>
            </a:r>
          </a:p>
        </p:txBody>
      </p:sp>
      <p:pic>
        <p:nvPicPr>
          <p:cNvPr id="64521"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522" name="Group 40"/>
          <p:cNvGrpSpPr>
            <a:grpSpLocks/>
          </p:cNvGrpSpPr>
          <p:nvPr/>
        </p:nvGrpSpPr>
        <p:grpSpPr bwMode="auto">
          <a:xfrm>
            <a:off x="2268538" y="5805488"/>
            <a:ext cx="3743325" cy="576262"/>
            <a:chOff x="1429" y="3657"/>
            <a:chExt cx="2358" cy="363"/>
          </a:xfrm>
        </p:grpSpPr>
        <p:sp>
          <p:nvSpPr>
            <p:cNvPr id="64523" name="Text Box 41"/>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4524" name="Rectangle 42"/>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4525" name="Line 43"/>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6" name="Line 44"/>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7" name="Line 45"/>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5667BC45-2A2A-460F-80B0-DE9D981832F3}"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54</a:t>
            </a:fld>
            <a:endParaRPr lang="zh-CN" altLang="en-US"/>
          </a:p>
        </p:txBody>
      </p:sp>
    </p:spTree>
    <p:extLst>
      <p:ext uri="{BB962C8B-B14F-4D97-AF65-F5344CB8AC3E}">
        <p14:creationId xmlns:p14="http://schemas.microsoft.com/office/powerpoint/2010/main" val="23384792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2"/>
          <p:cNvGrpSpPr>
            <a:grpSpLocks/>
          </p:cNvGrpSpPr>
          <p:nvPr/>
        </p:nvGrpSpPr>
        <p:grpSpPr bwMode="auto">
          <a:xfrm>
            <a:off x="1520825" y="1025525"/>
            <a:ext cx="6264275" cy="2808288"/>
            <a:chOff x="958" y="646"/>
            <a:chExt cx="3946" cy="1769"/>
          </a:xfrm>
        </p:grpSpPr>
        <p:grpSp>
          <p:nvGrpSpPr>
            <p:cNvPr id="65558" name="Group 3"/>
            <p:cNvGrpSpPr>
              <a:grpSpLocks/>
            </p:cNvGrpSpPr>
            <p:nvPr/>
          </p:nvGrpSpPr>
          <p:grpSpPr bwMode="auto">
            <a:xfrm>
              <a:off x="958" y="646"/>
              <a:ext cx="1950" cy="1769"/>
              <a:chOff x="657" y="709"/>
              <a:chExt cx="1950" cy="1769"/>
            </a:xfrm>
          </p:grpSpPr>
          <p:sp>
            <p:nvSpPr>
              <p:cNvPr id="65570"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5571" name="Group 5"/>
              <p:cNvGrpSpPr>
                <a:grpSpLocks/>
              </p:cNvGrpSpPr>
              <p:nvPr/>
            </p:nvGrpSpPr>
            <p:grpSpPr bwMode="auto">
              <a:xfrm>
                <a:off x="703" y="709"/>
                <a:ext cx="1881" cy="1720"/>
                <a:chOff x="376" y="1584"/>
                <a:chExt cx="1881" cy="1720"/>
              </a:xfrm>
            </p:grpSpPr>
            <p:sp>
              <p:nvSpPr>
                <p:cNvPr id="65572"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5573"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5574"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5575"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5576"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5577" name="Rectangle 11"/>
                <p:cNvSpPr>
                  <a:spLocks noChangeArrowheads="1"/>
                </p:cNvSpPr>
                <p:nvPr/>
              </p:nvSpPr>
              <p:spPr bwMode="auto">
                <a:xfrm>
                  <a:off x="376" y="2786"/>
                  <a:ext cx="843"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5578"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5579"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5559" name="Group 14"/>
            <p:cNvGrpSpPr>
              <a:grpSpLocks/>
            </p:cNvGrpSpPr>
            <p:nvPr/>
          </p:nvGrpSpPr>
          <p:grpSpPr bwMode="auto">
            <a:xfrm>
              <a:off x="2908" y="646"/>
              <a:ext cx="1996" cy="1769"/>
              <a:chOff x="3152" y="709"/>
              <a:chExt cx="1996" cy="1769"/>
            </a:xfrm>
          </p:grpSpPr>
          <p:sp>
            <p:nvSpPr>
              <p:cNvPr id="65560"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5561" name="Group 16"/>
              <p:cNvGrpSpPr>
                <a:grpSpLocks/>
              </p:cNvGrpSpPr>
              <p:nvPr/>
            </p:nvGrpSpPr>
            <p:grpSpPr bwMode="auto">
              <a:xfrm>
                <a:off x="3198" y="712"/>
                <a:ext cx="1881" cy="1720"/>
                <a:chOff x="3218" y="1584"/>
                <a:chExt cx="1881" cy="1720"/>
              </a:xfrm>
            </p:grpSpPr>
            <p:sp>
              <p:nvSpPr>
                <p:cNvPr id="65562"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5563"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5564"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5565"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5566"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5567"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5568"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5569"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5539"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5540"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5541"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Empty=4</a:t>
            </a:r>
          </a:p>
          <a:p>
            <a:pPr eaLnBrk="1" hangingPunct="1">
              <a:spcBef>
                <a:spcPct val="20000"/>
              </a:spcBef>
            </a:pPr>
            <a:r>
              <a:rPr lang="en-US" altLang="zh-CN" b="1">
                <a:solidFill>
                  <a:schemeClr val="accent2"/>
                </a:solidFill>
              </a:rPr>
              <a:t>Full=0</a:t>
            </a:r>
          </a:p>
          <a:p>
            <a:pPr eaLnBrk="1" hangingPunct="1">
              <a:spcBef>
                <a:spcPct val="20000"/>
              </a:spcBef>
            </a:pPr>
            <a:r>
              <a:rPr lang="en-US" altLang="zh-CN" b="1"/>
              <a:t>Mutex=1</a:t>
            </a:r>
          </a:p>
        </p:txBody>
      </p:sp>
      <p:grpSp>
        <p:nvGrpSpPr>
          <p:cNvPr id="65542" name="Group 28"/>
          <p:cNvGrpSpPr>
            <a:grpSpLocks/>
          </p:cNvGrpSpPr>
          <p:nvPr/>
        </p:nvGrpSpPr>
        <p:grpSpPr bwMode="auto">
          <a:xfrm>
            <a:off x="3678238" y="4121150"/>
            <a:ext cx="3600450" cy="663575"/>
            <a:chOff x="1973" y="2831"/>
            <a:chExt cx="2268" cy="418"/>
          </a:xfrm>
        </p:grpSpPr>
        <p:sp>
          <p:nvSpPr>
            <p:cNvPr id="65553"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4"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5"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6"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7"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5543"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5544"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goes out critical section</a:t>
            </a:r>
          </a:p>
        </p:txBody>
      </p:sp>
      <p:pic>
        <p:nvPicPr>
          <p:cNvPr id="65545"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6" name="Oval 39"/>
          <p:cNvSpPr>
            <a:spLocks noChangeArrowheads="1"/>
          </p:cNvSpPr>
          <p:nvPr/>
        </p:nvSpPr>
        <p:spPr bwMode="auto">
          <a:xfrm>
            <a:off x="1489075" y="56308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5547" name="Group 40"/>
          <p:cNvGrpSpPr>
            <a:grpSpLocks/>
          </p:cNvGrpSpPr>
          <p:nvPr/>
        </p:nvGrpSpPr>
        <p:grpSpPr bwMode="auto">
          <a:xfrm>
            <a:off x="2268538" y="5805488"/>
            <a:ext cx="3743325" cy="576262"/>
            <a:chOff x="1429" y="3657"/>
            <a:chExt cx="2358" cy="363"/>
          </a:xfrm>
        </p:grpSpPr>
        <p:sp>
          <p:nvSpPr>
            <p:cNvPr id="65548" name="Text Box 41"/>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5549" name="Rectangle 42"/>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550" name="Line 43"/>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1" name="Line 44"/>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2" name="Line 45"/>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0BD164B5-9FBC-4A84-A59E-EC1CCAC147B8}"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55</a:t>
            </a:fld>
            <a:endParaRPr lang="zh-CN" altLang="en-US"/>
          </a:p>
        </p:txBody>
      </p:sp>
    </p:spTree>
    <p:extLst>
      <p:ext uri="{BB962C8B-B14F-4D97-AF65-F5344CB8AC3E}">
        <p14:creationId xmlns:p14="http://schemas.microsoft.com/office/powerpoint/2010/main" val="1214283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2"/>
          <p:cNvGrpSpPr>
            <a:grpSpLocks/>
          </p:cNvGrpSpPr>
          <p:nvPr/>
        </p:nvGrpSpPr>
        <p:grpSpPr bwMode="auto">
          <a:xfrm>
            <a:off x="1520825" y="1025525"/>
            <a:ext cx="6264275" cy="2808288"/>
            <a:chOff x="958" y="646"/>
            <a:chExt cx="3946" cy="1769"/>
          </a:xfrm>
        </p:grpSpPr>
        <p:grpSp>
          <p:nvGrpSpPr>
            <p:cNvPr id="66582" name="Group 3"/>
            <p:cNvGrpSpPr>
              <a:grpSpLocks/>
            </p:cNvGrpSpPr>
            <p:nvPr/>
          </p:nvGrpSpPr>
          <p:grpSpPr bwMode="auto">
            <a:xfrm>
              <a:off x="958" y="646"/>
              <a:ext cx="1950" cy="1769"/>
              <a:chOff x="657" y="709"/>
              <a:chExt cx="1950" cy="1769"/>
            </a:xfrm>
          </p:grpSpPr>
          <p:sp>
            <p:nvSpPr>
              <p:cNvPr id="66594"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6595" name="Group 5"/>
              <p:cNvGrpSpPr>
                <a:grpSpLocks/>
              </p:cNvGrpSpPr>
              <p:nvPr/>
            </p:nvGrpSpPr>
            <p:grpSpPr bwMode="auto">
              <a:xfrm>
                <a:off x="703" y="709"/>
                <a:ext cx="1881" cy="1720"/>
                <a:chOff x="376" y="1584"/>
                <a:chExt cx="1881" cy="1720"/>
              </a:xfrm>
            </p:grpSpPr>
            <p:sp>
              <p:nvSpPr>
                <p:cNvPr id="66596"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6597"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6598"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6599"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6600"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6601"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6602" name="Rectangle 12"/>
                <p:cNvSpPr>
                  <a:spLocks noChangeArrowheads="1"/>
                </p:cNvSpPr>
                <p:nvPr/>
              </p:nvSpPr>
              <p:spPr bwMode="auto">
                <a:xfrm>
                  <a:off x="376" y="3074"/>
                  <a:ext cx="608"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6603"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6583" name="Group 14"/>
            <p:cNvGrpSpPr>
              <a:grpSpLocks/>
            </p:cNvGrpSpPr>
            <p:nvPr/>
          </p:nvGrpSpPr>
          <p:grpSpPr bwMode="auto">
            <a:xfrm>
              <a:off x="2908" y="646"/>
              <a:ext cx="1996" cy="1769"/>
              <a:chOff x="3152" y="709"/>
              <a:chExt cx="1996" cy="1769"/>
            </a:xfrm>
          </p:grpSpPr>
          <p:sp>
            <p:nvSpPr>
              <p:cNvPr id="66584"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6585" name="Group 16"/>
              <p:cNvGrpSpPr>
                <a:grpSpLocks/>
              </p:cNvGrpSpPr>
              <p:nvPr/>
            </p:nvGrpSpPr>
            <p:grpSpPr bwMode="auto">
              <a:xfrm>
                <a:off x="3198" y="712"/>
                <a:ext cx="1881" cy="1720"/>
                <a:chOff x="3218" y="1584"/>
                <a:chExt cx="1881" cy="1720"/>
              </a:xfrm>
            </p:grpSpPr>
            <p:sp>
              <p:nvSpPr>
                <p:cNvPr id="66586"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6587"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6588"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6589"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6590"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6591"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6592"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6593"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6563"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6564"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6565"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Empty=4</a:t>
            </a:r>
          </a:p>
          <a:p>
            <a:pPr eaLnBrk="1" hangingPunct="1">
              <a:spcBef>
                <a:spcPct val="20000"/>
              </a:spcBef>
            </a:pPr>
            <a:r>
              <a:rPr lang="en-US" altLang="zh-CN" b="1">
                <a:solidFill>
                  <a:schemeClr val="accent2"/>
                </a:solidFill>
              </a:rPr>
              <a:t>Full=1</a:t>
            </a:r>
          </a:p>
          <a:p>
            <a:pPr eaLnBrk="1" hangingPunct="1">
              <a:spcBef>
                <a:spcPct val="20000"/>
              </a:spcBef>
            </a:pPr>
            <a:r>
              <a:rPr lang="en-US" altLang="zh-CN" b="1"/>
              <a:t>Mutex=1</a:t>
            </a:r>
          </a:p>
        </p:txBody>
      </p:sp>
      <p:grpSp>
        <p:nvGrpSpPr>
          <p:cNvPr id="66566" name="Group 28"/>
          <p:cNvGrpSpPr>
            <a:grpSpLocks/>
          </p:cNvGrpSpPr>
          <p:nvPr/>
        </p:nvGrpSpPr>
        <p:grpSpPr bwMode="auto">
          <a:xfrm>
            <a:off x="3678238" y="4121150"/>
            <a:ext cx="3600450" cy="663575"/>
            <a:chOff x="1973" y="2831"/>
            <a:chExt cx="2268" cy="418"/>
          </a:xfrm>
        </p:grpSpPr>
        <p:sp>
          <p:nvSpPr>
            <p:cNvPr id="66577"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6578"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9"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0"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1"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567"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6568"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releases a “full”</a:t>
            </a:r>
          </a:p>
        </p:txBody>
      </p:sp>
      <p:pic>
        <p:nvPicPr>
          <p:cNvPr id="66569"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0" name="Oval 38"/>
          <p:cNvSpPr>
            <a:spLocks noChangeArrowheads="1"/>
          </p:cNvSpPr>
          <p:nvPr/>
        </p:nvSpPr>
        <p:spPr bwMode="auto">
          <a:xfrm>
            <a:off x="1173163" y="5200650"/>
            <a:ext cx="360362" cy="4333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6571" name="Group 39"/>
          <p:cNvGrpSpPr>
            <a:grpSpLocks/>
          </p:cNvGrpSpPr>
          <p:nvPr/>
        </p:nvGrpSpPr>
        <p:grpSpPr bwMode="auto">
          <a:xfrm>
            <a:off x="2268538" y="5805488"/>
            <a:ext cx="3743325" cy="576262"/>
            <a:chOff x="1429" y="3657"/>
            <a:chExt cx="2358" cy="363"/>
          </a:xfrm>
        </p:grpSpPr>
        <p:sp>
          <p:nvSpPr>
            <p:cNvPr id="66572" name="Text Box 40"/>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6573" name="Rectangle 41"/>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6574" name="Line 42"/>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5" name="Line 43"/>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6" name="Line 44"/>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8C969873-3D18-4259-942A-4EC613786C95}"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56</a:t>
            </a:fld>
            <a:endParaRPr lang="zh-CN" altLang="en-US"/>
          </a:p>
        </p:txBody>
      </p:sp>
    </p:spTree>
    <p:extLst>
      <p:ext uri="{BB962C8B-B14F-4D97-AF65-F5344CB8AC3E}">
        <p14:creationId xmlns:p14="http://schemas.microsoft.com/office/powerpoint/2010/main" val="30412366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6" name="Group 2"/>
          <p:cNvGrpSpPr>
            <a:grpSpLocks/>
          </p:cNvGrpSpPr>
          <p:nvPr/>
        </p:nvGrpSpPr>
        <p:grpSpPr bwMode="auto">
          <a:xfrm>
            <a:off x="1520825" y="1025525"/>
            <a:ext cx="6264275" cy="2808288"/>
            <a:chOff x="958" y="646"/>
            <a:chExt cx="3946" cy="1769"/>
          </a:xfrm>
        </p:grpSpPr>
        <p:grpSp>
          <p:nvGrpSpPr>
            <p:cNvPr id="67611" name="Group 3"/>
            <p:cNvGrpSpPr>
              <a:grpSpLocks/>
            </p:cNvGrpSpPr>
            <p:nvPr/>
          </p:nvGrpSpPr>
          <p:grpSpPr bwMode="auto">
            <a:xfrm>
              <a:off x="958" y="646"/>
              <a:ext cx="1950" cy="1769"/>
              <a:chOff x="657" y="709"/>
              <a:chExt cx="1950" cy="1769"/>
            </a:xfrm>
          </p:grpSpPr>
          <p:sp>
            <p:nvSpPr>
              <p:cNvPr id="67623"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7624" name="Group 5"/>
              <p:cNvGrpSpPr>
                <a:grpSpLocks/>
              </p:cNvGrpSpPr>
              <p:nvPr/>
            </p:nvGrpSpPr>
            <p:grpSpPr bwMode="auto">
              <a:xfrm>
                <a:off x="703" y="709"/>
                <a:ext cx="1881" cy="1720"/>
                <a:chOff x="376" y="1584"/>
                <a:chExt cx="1881" cy="1720"/>
              </a:xfrm>
            </p:grpSpPr>
            <p:sp>
              <p:nvSpPr>
                <p:cNvPr id="67625"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7626"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7627"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7628"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7629"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7630"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7631"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7632"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7612" name="Group 14"/>
            <p:cNvGrpSpPr>
              <a:grpSpLocks/>
            </p:cNvGrpSpPr>
            <p:nvPr/>
          </p:nvGrpSpPr>
          <p:grpSpPr bwMode="auto">
            <a:xfrm>
              <a:off x="2908" y="646"/>
              <a:ext cx="1996" cy="1769"/>
              <a:chOff x="3152" y="709"/>
              <a:chExt cx="1996" cy="1769"/>
            </a:xfrm>
          </p:grpSpPr>
          <p:sp>
            <p:nvSpPr>
              <p:cNvPr id="67613"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7614" name="Group 16"/>
              <p:cNvGrpSpPr>
                <a:grpSpLocks/>
              </p:cNvGrpSpPr>
              <p:nvPr/>
            </p:nvGrpSpPr>
            <p:grpSpPr bwMode="auto">
              <a:xfrm>
                <a:off x="3198" y="712"/>
                <a:ext cx="1881" cy="1720"/>
                <a:chOff x="3218" y="1584"/>
                <a:chExt cx="1881" cy="1720"/>
              </a:xfrm>
            </p:grpSpPr>
            <p:sp>
              <p:nvSpPr>
                <p:cNvPr id="67615"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7616"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7617"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7618"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7619"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7620"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7621"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7622"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7587"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7588"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7589"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Full=5</a:t>
            </a:r>
          </a:p>
          <a:p>
            <a:pPr eaLnBrk="1" hangingPunct="1">
              <a:spcBef>
                <a:spcPct val="20000"/>
              </a:spcBef>
            </a:pPr>
            <a:r>
              <a:rPr lang="en-US" altLang="zh-CN" b="1"/>
              <a:t>Mutex=1</a:t>
            </a:r>
          </a:p>
        </p:txBody>
      </p:sp>
      <p:grpSp>
        <p:nvGrpSpPr>
          <p:cNvPr id="67590" name="Group 28"/>
          <p:cNvGrpSpPr>
            <a:grpSpLocks/>
          </p:cNvGrpSpPr>
          <p:nvPr/>
        </p:nvGrpSpPr>
        <p:grpSpPr bwMode="auto">
          <a:xfrm>
            <a:off x="3678238" y="4121150"/>
            <a:ext cx="3600450" cy="663575"/>
            <a:chOff x="1973" y="2831"/>
            <a:chExt cx="2268" cy="418"/>
          </a:xfrm>
        </p:grpSpPr>
        <p:sp>
          <p:nvSpPr>
            <p:cNvPr id="67606"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607"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8"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9"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10"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7591"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7592"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a:t>Repeat 4 times </a:t>
            </a:r>
            <a:r>
              <a:rPr lang="en-US" altLang="zh-CN" b="1"/>
              <a:t>again…</a:t>
            </a:r>
          </a:p>
        </p:txBody>
      </p:sp>
      <p:pic>
        <p:nvPicPr>
          <p:cNvPr id="67593"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4" name="Oval 37"/>
          <p:cNvSpPr>
            <a:spLocks noChangeArrowheads="1"/>
          </p:cNvSpPr>
          <p:nvPr/>
        </p:nvSpPr>
        <p:spPr bwMode="auto">
          <a:xfrm>
            <a:off x="1173163" y="5200650"/>
            <a:ext cx="360362" cy="4333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595" name="Oval 38"/>
          <p:cNvSpPr>
            <a:spLocks noChangeArrowheads="1"/>
          </p:cNvSpPr>
          <p:nvPr/>
        </p:nvSpPr>
        <p:spPr bwMode="auto">
          <a:xfrm>
            <a:off x="1519238" y="4768850"/>
            <a:ext cx="360362" cy="4333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67596"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7"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8"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9" name="Picture 42"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600" name="Group 44"/>
          <p:cNvGrpSpPr>
            <a:grpSpLocks/>
          </p:cNvGrpSpPr>
          <p:nvPr/>
        </p:nvGrpSpPr>
        <p:grpSpPr bwMode="auto">
          <a:xfrm>
            <a:off x="2268538" y="5805488"/>
            <a:ext cx="3743325" cy="576262"/>
            <a:chOff x="1429" y="3657"/>
            <a:chExt cx="2358" cy="363"/>
          </a:xfrm>
        </p:grpSpPr>
        <p:sp>
          <p:nvSpPr>
            <p:cNvPr id="67601" name="Text Box 45"/>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7602" name="Rectangle 46"/>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603" name="Line 47"/>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4" name="Line 48"/>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5" name="Line 49"/>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1B83F13B-779C-4B0B-8C9B-F0495EBD253B}"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57</a:t>
            </a:fld>
            <a:endParaRPr lang="zh-CN" altLang="en-US"/>
          </a:p>
        </p:txBody>
      </p:sp>
    </p:spTree>
    <p:extLst>
      <p:ext uri="{BB962C8B-B14F-4D97-AF65-F5344CB8AC3E}">
        <p14:creationId xmlns:p14="http://schemas.microsoft.com/office/powerpoint/2010/main" val="245391961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2"/>
          <p:cNvGrpSpPr>
            <a:grpSpLocks/>
          </p:cNvGrpSpPr>
          <p:nvPr/>
        </p:nvGrpSpPr>
        <p:grpSpPr bwMode="auto">
          <a:xfrm>
            <a:off x="1520825" y="1025525"/>
            <a:ext cx="6264275" cy="2808288"/>
            <a:chOff x="958" y="646"/>
            <a:chExt cx="3946" cy="1769"/>
          </a:xfrm>
        </p:grpSpPr>
        <p:grpSp>
          <p:nvGrpSpPr>
            <p:cNvPr id="68634" name="Group 3"/>
            <p:cNvGrpSpPr>
              <a:grpSpLocks/>
            </p:cNvGrpSpPr>
            <p:nvPr/>
          </p:nvGrpSpPr>
          <p:grpSpPr bwMode="auto">
            <a:xfrm>
              <a:off x="958" y="646"/>
              <a:ext cx="1950" cy="1769"/>
              <a:chOff x="657" y="709"/>
              <a:chExt cx="1950" cy="1769"/>
            </a:xfrm>
          </p:grpSpPr>
          <p:sp>
            <p:nvSpPr>
              <p:cNvPr id="68646"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8647" name="Group 5"/>
              <p:cNvGrpSpPr>
                <a:grpSpLocks/>
              </p:cNvGrpSpPr>
              <p:nvPr/>
            </p:nvGrpSpPr>
            <p:grpSpPr bwMode="auto">
              <a:xfrm>
                <a:off x="703" y="709"/>
                <a:ext cx="1881" cy="1720"/>
                <a:chOff x="376" y="1584"/>
                <a:chExt cx="1881" cy="1720"/>
              </a:xfrm>
            </p:grpSpPr>
            <p:sp>
              <p:nvSpPr>
                <p:cNvPr id="68648"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8649"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8650"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8651"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8652"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8653"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8654"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8655"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8635" name="Group 14"/>
            <p:cNvGrpSpPr>
              <a:grpSpLocks/>
            </p:cNvGrpSpPr>
            <p:nvPr/>
          </p:nvGrpSpPr>
          <p:grpSpPr bwMode="auto">
            <a:xfrm>
              <a:off x="2908" y="646"/>
              <a:ext cx="1996" cy="1769"/>
              <a:chOff x="3152" y="709"/>
              <a:chExt cx="1996" cy="1769"/>
            </a:xfrm>
          </p:grpSpPr>
          <p:sp>
            <p:nvSpPr>
              <p:cNvPr id="68636"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8637" name="Group 16"/>
              <p:cNvGrpSpPr>
                <a:grpSpLocks/>
              </p:cNvGrpSpPr>
              <p:nvPr/>
            </p:nvGrpSpPr>
            <p:grpSpPr bwMode="auto">
              <a:xfrm>
                <a:off x="3198" y="712"/>
                <a:ext cx="1881" cy="1720"/>
                <a:chOff x="3218" y="1584"/>
                <a:chExt cx="1881" cy="1720"/>
              </a:xfrm>
            </p:grpSpPr>
            <p:sp>
              <p:nvSpPr>
                <p:cNvPr id="68638"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8639"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8640"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8641"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8642"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8643"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8644"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8645"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8611"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8612"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8613" name="Text Box 27"/>
          <p:cNvSpPr txBox="1">
            <a:spLocks noChangeArrowheads="1"/>
          </p:cNvSpPr>
          <p:nvPr/>
        </p:nvSpPr>
        <p:spPr bwMode="auto">
          <a:xfrm>
            <a:off x="468313" y="4292600"/>
            <a:ext cx="1439862"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Full=5</a:t>
            </a:r>
          </a:p>
          <a:p>
            <a:pPr eaLnBrk="1" hangingPunct="1">
              <a:spcBef>
                <a:spcPct val="20000"/>
              </a:spcBef>
            </a:pPr>
            <a:r>
              <a:rPr lang="en-US" altLang="zh-CN" b="1"/>
              <a:t>Mutex=1</a:t>
            </a:r>
          </a:p>
        </p:txBody>
      </p:sp>
      <p:grpSp>
        <p:nvGrpSpPr>
          <p:cNvPr id="68614" name="Group 28"/>
          <p:cNvGrpSpPr>
            <a:grpSpLocks/>
          </p:cNvGrpSpPr>
          <p:nvPr/>
        </p:nvGrpSpPr>
        <p:grpSpPr bwMode="auto">
          <a:xfrm>
            <a:off x="3678238" y="4121150"/>
            <a:ext cx="3600450" cy="663575"/>
            <a:chOff x="1973" y="2831"/>
            <a:chExt cx="2268" cy="418"/>
          </a:xfrm>
        </p:grpSpPr>
        <p:sp>
          <p:nvSpPr>
            <p:cNvPr id="68629"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8630"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1"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2"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33"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8615"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8616"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makes new unit again…</a:t>
            </a:r>
          </a:p>
        </p:txBody>
      </p:sp>
      <p:pic>
        <p:nvPicPr>
          <p:cNvPr id="68617"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8"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9"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0"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1" name="Picture 42"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2" name="Picture 43"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623" name="Group 44"/>
          <p:cNvGrpSpPr>
            <a:grpSpLocks/>
          </p:cNvGrpSpPr>
          <p:nvPr/>
        </p:nvGrpSpPr>
        <p:grpSpPr bwMode="auto">
          <a:xfrm>
            <a:off x="2268538" y="5805488"/>
            <a:ext cx="3743325" cy="576262"/>
            <a:chOff x="1429" y="3657"/>
            <a:chExt cx="2358" cy="363"/>
          </a:xfrm>
        </p:grpSpPr>
        <p:sp>
          <p:nvSpPr>
            <p:cNvPr id="68624" name="Text Box 45"/>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8625" name="Rectangle 46"/>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8626" name="Line 47"/>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27" name="Line 48"/>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628" name="Line 49"/>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984552C1-2983-44BE-9D06-F27C986A8868}"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58</a:t>
            </a:fld>
            <a:endParaRPr lang="zh-CN" altLang="en-US"/>
          </a:p>
        </p:txBody>
      </p:sp>
    </p:spTree>
    <p:extLst>
      <p:ext uri="{BB962C8B-B14F-4D97-AF65-F5344CB8AC3E}">
        <p14:creationId xmlns:p14="http://schemas.microsoft.com/office/powerpoint/2010/main" val="26226089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2"/>
          <p:cNvGrpSpPr>
            <a:grpSpLocks/>
          </p:cNvGrpSpPr>
          <p:nvPr/>
        </p:nvGrpSpPr>
        <p:grpSpPr bwMode="auto">
          <a:xfrm>
            <a:off x="1520825" y="1025525"/>
            <a:ext cx="6264275" cy="2808288"/>
            <a:chOff x="958" y="646"/>
            <a:chExt cx="3946" cy="1769"/>
          </a:xfrm>
        </p:grpSpPr>
        <p:grpSp>
          <p:nvGrpSpPr>
            <p:cNvPr id="69660" name="Group 3"/>
            <p:cNvGrpSpPr>
              <a:grpSpLocks/>
            </p:cNvGrpSpPr>
            <p:nvPr/>
          </p:nvGrpSpPr>
          <p:grpSpPr bwMode="auto">
            <a:xfrm>
              <a:off x="958" y="646"/>
              <a:ext cx="1950" cy="1769"/>
              <a:chOff x="657" y="709"/>
              <a:chExt cx="1950" cy="1769"/>
            </a:xfrm>
          </p:grpSpPr>
          <p:sp>
            <p:nvSpPr>
              <p:cNvPr id="69672"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9673" name="Group 5"/>
              <p:cNvGrpSpPr>
                <a:grpSpLocks/>
              </p:cNvGrpSpPr>
              <p:nvPr/>
            </p:nvGrpSpPr>
            <p:grpSpPr bwMode="auto">
              <a:xfrm>
                <a:off x="703" y="709"/>
                <a:ext cx="1881" cy="1720"/>
                <a:chOff x="376" y="1584"/>
                <a:chExt cx="1881" cy="1720"/>
              </a:xfrm>
            </p:grpSpPr>
            <p:sp>
              <p:nvSpPr>
                <p:cNvPr id="69674"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69675"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69676"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9677"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9678"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9679"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9680"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69681"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69661" name="Group 14"/>
            <p:cNvGrpSpPr>
              <a:grpSpLocks/>
            </p:cNvGrpSpPr>
            <p:nvPr/>
          </p:nvGrpSpPr>
          <p:grpSpPr bwMode="auto">
            <a:xfrm>
              <a:off x="2908" y="646"/>
              <a:ext cx="1996" cy="1769"/>
              <a:chOff x="3152" y="709"/>
              <a:chExt cx="1996" cy="1769"/>
            </a:xfrm>
          </p:grpSpPr>
          <p:sp>
            <p:nvSpPr>
              <p:cNvPr id="69662"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9663" name="Group 16"/>
              <p:cNvGrpSpPr>
                <a:grpSpLocks/>
              </p:cNvGrpSpPr>
              <p:nvPr/>
            </p:nvGrpSpPr>
            <p:grpSpPr bwMode="auto">
              <a:xfrm>
                <a:off x="3198" y="712"/>
                <a:ext cx="1881" cy="1720"/>
                <a:chOff x="3218" y="1584"/>
                <a:chExt cx="1881" cy="1720"/>
              </a:xfrm>
            </p:grpSpPr>
            <p:sp>
              <p:nvSpPr>
                <p:cNvPr id="69664"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69665"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69666"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69667"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69668"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69669"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69670"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69671"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69635"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69636"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69637"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Empty=-1</a:t>
            </a:r>
          </a:p>
          <a:p>
            <a:pPr eaLnBrk="1" hangingPunct="1">
              <a:spcBef>
                <a:spcPct val="20000"/>
              </a:spcBef>
            </a:pPr>
            <a:r>
              <a:rPr lang="en-US" altLang="zh-CN" b="1">
                <a:solidFill>
                  <a:schemeClr val="accent2"/>
                </a:solidFill>
              </a:rPr>
              <a:t>Full=5</a:t>
            </a:r>
          </a:p>
          <a:p>
            <a:pPr eaLnBrk="1" hangingPunct="1">
              <a:spcBef>
                <a:spcPct val="20000"/>
              </a:spcBef>
            </a:pPr>
            <a:r>
              <a:rPr lang="en-US" altLang="zh-CN" b="1"/>
              <a:t>Mutex=1</a:t>
            </a:r>
          </a:p>
        </p:txBody>
      </p:sp>
      <p:grpSp>
        <p:nvGrpSpPr>
          <p:cNvPr id="69638" name="Group 28"/>
          <p:cNvGrpSpPr>
            <a:grpSpLocks/>
          </p:cNvGrpSpPr>
          <p:nvPr/>
        </p:nvGrpSpPr>
        <p:grpSpPr bwMode="auto">
          <a:xfrm>
            <a:off x="3678238" y="4121150"/>
            <a:ext cx="3600450" cy="663575"/>
            <a:chOff x="1973" y="2831"/>
            <a:chExt cx="2268" cy="418"/>
          </a:xfrm>
        </p:grpSpPr>
        <p:sp>
          <p:nvSpPr>
            <p:cNvPr id="69655"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656"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7"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8"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9"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39"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69640"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applies a “empty”</a:t>
            </a:r>
          </a:p>
        </p:txBody>
      </p:sp>
      <p:pic>
        <p:nvPicPr>
          <p:cNvPr id="69641"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2"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3"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4"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5"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6"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7" name="Oval 42"/>
          <p:cNvSpPr>
            <a:spLocks noChangeArrowheads="1"/>
          </p:cNvSpPr>
          <p:nvPr/>
        </p:nvSpPr>
        <p:spPr bwMode="auto">
          <a:xfrm>
            <a:off x="1519238" y="4768850"/>
            <a:ext cx="360362" cy="4333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9648" name="Group 43"/>
          <p:cNvGrpSpPr>
            <a:grpSpLocks/>
          </p:cNvGrpSpPr>
          <p:nvPr/>
        </p:nvGrpSpPr>
        <p:grpSpPr bwMode="auto">
          <a:xfrm>
            <a:off x="2268538" y="5805488"/>
            <a:ext cx="3743325" cy="576262"/>
            <a:chOff x="1429" y="3657"/>
            <a:chExt cx="2358" cy="363"/>
          </a:xfrm>
        </p:grpSpPr>
        <p:sp>
          <p:nvSpPr>
            <p:cNvPr id="69650"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69651"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652"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3"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54"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9649" name="Text Box 49"/>
          <p:cNvSpPr txBox="1">
            <a:spLocks noChangeArrowheads="1"/>
          </p:cNvSpPr>
          <p:nvPr/>
        </p:nvSpPr>
        <p:spPr bwMode="auto">
          <a:xfrm>
            <a:off x="3724275" y="58531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DDAB1FAC-DA74-4830-A4EC-DD0F6CA81AB8}"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59</a:t>
            </a:fld>
            <a:endParaRPr lang="zh-CN" altLang="en-US"/>
          </a:p>
        </p:txBody>
      </p:sp>
    </p:spTree>
    <p:extLst>
      <p:ext uri="{BB962C8B-B14F-4D97-AF65-F5344CB8AC3E}">
        <p14:creationId xmlns:p14="http://schemas.microsoft.com/office/powerpoint/2010/main" val="21278761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58" name="Group 2"/>
          <p:cNvGrpSpPr>
            <a:grpSpLocks/>
          </p:cNvGrpSpPr>
          <p:nvPr/>
        </p:nvGrpSpPr>
        <p:grpSpPr bwMode="auto">
          <a:xfrm>
            <a:off x="1520825" y="1025525"/>
            <a:ext cx="6264275" cy="2808288"/>
            <a:chOff x="958" y="646"/>
            <a:chExt cx="3946" cy="1769"/>
          </a:xfrm>
        </p:grpSpPr>
        <p:grpSp>
          <p:nvGrpSpPr>
            <p:cNvPr id="70684" name="Group 3"/>
            <p:cNvGrpSpPr>
              <a:grpSpLocks/>
            </p:cNvGrpSpPr>
            <p:nvPr/>
          </p:nvGrpSpPr>
          <p:grpSpPr bwMode="auto">
            <a:xfrm>
              <a:off x="958" y="646"/>
              <a:ext cx="1950" cy="1769"/>
              <a:chOff x="657" y="709"/>
              <a:chExt cx="1950" cy="1769"/>
            </a:xfrm>
          </p:grpSpPr>
          <p:sp>
            <p:nvSpPr>
              <p:cNvPr id="70696"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0697" name="Group 5"/>
              <p:cNvGrpSpPr>
                <a:grpSpLocks/>
              </p:cNvGrpSpPr>
              <p:nvPr/>
            </p:nvGrpSpPr>
            <p:grpSpPr bwMode="auto">
              <a:xfrm>
                <a:off x="703" y="709"/>
                <a:ext cx="1881" cy="1720"/>
                <a:chOff x="376" y="1584"/>
                <a:chExt cx="1881" cy="1720"/>
              </a:xfrm>
            </p:grpSpPr>
            <p:sp>
              <p:nvSpPr>
                <p:cNvPr id="70698"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0699"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0700"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0701"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0702"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0703"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0704"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0705"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0685" name="Group 14"/>
            <p:cNvGrpSpPr>
              <a:grpSpLocks/>
            </p:cNvGrpSpPr>
            <p:nvPr/>
          </p:nvGrpSpPr>
          <p:grpSpPr bwMode="auto">
            <a:xfrm>
              <a:off x="2908" y="646"/>
              <a:ext cx="1996" cy="1769"/>
              <a:chOff x="3152" y="709"/>
              <a:chExt cx="1996" cy="1769"/>
            </a:xfrm>
          </p:grpSpPr>
          <p:sp>
            <p:nvSpPr>
              <p:cNvPr id="70686"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0687" name="Group 16"/>
              <p:cNvGrpSpPr>
                <a:grpSpLocks/>
              </p:cNvGrpSpPr>
              <p:nvPr/>
            </p:nvGrpSpPr>
            <p:grpSpPr bwMode="auto">
              <a:xfrm>
                <a:off x="3198" y="712"/>
                <a:ext cx="1881" cy="1720"/>
                <a:chOff x="3218" y="1584"/>
                <a:chExt cx="1881" cy="1720"/>
              </a:xfrm>
            </p:grpSpPr>
            <p:sp>
              <p:nvSpPr>
                <p:cNvPr id="70688"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0689" name="Rectangle 18"/>
                <p:cNvSpPr>
                  <a:spLocks noChangeArrowheads="1"/>
                </p:cNvSpPr>
                <p:nvPr/>
              </p:nvSpPr>
              <p:spPr bwMode="auto">
                <a:xfrm>
                  <a:off x="3218" y="1888"/>
                  <a:ext cx="586"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0690"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0691"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0692"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0693"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0694"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0695"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0659"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0660"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0661"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Empty=-1</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Mutex=1</a:t>
            </a:r>
          </a:p>
        </p:txBody>
      </p:sp>
      <p:grpSp>
        <p:nvGrpSpPr>
          <p:cNvPr id="70662" name="Group 28"/>
          <p:cNvGrpSpPr>
            <a:grpSpLocks/>
          </p:cNvGrpSpPr>
          <p:nvPr/>
        </p:nvGrpSpPr>
        <p:grpSpPr bwMode="auto">
          <a:xfrm>
            <a:off x="3678238" y="4121150"/>
            <a:ext cx="3600450" cy="663575"/>
            <a:chOff x="1973" y="2831"/>
            <a:chExt cx="2268" cy="418"/>
          </a:xfrm>
        </p:grpSpPr>
        <p:sp>
          <p:nvSpPr>
            <p:cNvPr id="70679"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0680"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1"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2"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3"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663"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0664"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Consumer applies a “full”</a:t>
            </a:r>
          </a:p>
        </p:txBody>
      </p:sp>
      <p:pic>
        <p:nvPicPr>
          <p:cNvPr id="70665"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6"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7"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8"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9"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70"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71" name="Oval 43"/>
          <p:cNvSpPr>
            <a:spLocks noChangeArrowheads="1"/>
          </p:cNvSpPr>
          <p:nvPr/>
        </p:nvSpPr>
        <p:spPr bwMode="auto">
          <a:xfrm>
            <a:off x="1173163" y="5213350"/>
            <a:ext cx="360362" cy="4333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0672" name="Group 44"/>
          <p:cNvGrpSpPr>
            <a:grpSpLocks/>
          </p:cNvGrpSpPr>
          <p:nvPr/>
        </p:nvGrpSpPr>
        <p:grpSpPr bwMode="auto">
          <a:xfrm>
            <a:off x="2484438" y="6021388"/>
            <a:ext cx="3743325" cy="576262"/>
            <a:chOff x="1429" y="3657"/>
            <a:chExt cx="2358" cy="363"/>
          </a:xfrm>
        </p:grpSpPr>
        <p:sp>
          <p:nvSpPr>
            <p:cNvPr id="70674" name="Text Box 45"/>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0675" name="Rectangle 46"/>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0676" name="Line 47"/>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7" name="Line 48"/>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78" name="Line 49"/>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673" name="Text Box 50"/>
          <p:cNvSpPr txBox="1">
            <a:spLocks noChangeArrowheads="1"/>
          </p:cNvSpPr>
          <p:nvPr/>
        </p:nvSpPr>
        <p:spPr bwMode="auto">
          <a:xfrm>
            <a:off x="3940175" y="60690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12C859D1-249E-4086-ABDB-4FB26BEBC794}"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60</a:t>
            </a:fld>
            <a:endParaRPr lang="zh-CN" altLang="en-US"/>
          </a:p>
        </p:txBody>
      </p:sp>
    </p:spTree>
    <p:extLst>
      <p:ext uri="{BB962C8B-B14F-4D97-AF65-F5344CB8AC3E}">
        <p14:creationId xmlns:p14="http://schemas.microsoft.com/office/powerpoint/2010/main" val="174853798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2"/>
          <p:cNvGrpSpPr>
            <a:grpSpLocks/>
          </p:cNvGrpSpPr>
          <p:nvPr/>
        </p:nvGrpSpPr>
        <p:grpSpPr bwMode="auto">
          <a:xfrm>
            <a:off x="1520825" y="1025525"/>
            <a:ext cx="6264275" cy="2808288"/>
            <a:chOff x="958" y="646"/>
            <a:chExt cx="3946" cy="1769"/>
          </a:xfrm>
        </p:grpSpPr>
        <p:grpSp>
          <p:nvGrpSpPr>
            <p:cNvPr id="71708" name="Group 3"/>
            <p:cNvGrpSpPr>
              <a:grpSpLocks/>
            </p:cNvGrpSpPr>
            <p:nvPr/>
          </p:nvGrpSpPr>
          <p:grpSpPr bwMode="auto">
            <a:xfrm>
              <a:off x="958" y="646"/>
              <a:ext cx="1950" cy="1769"/>
              <a:chOff x="657" y="709"/>
              <a:chExt cx="1950" cy="1769"/>
            </a:xfrm>
          </p:grpSpPr>
          <p:sp>
            <p:nvSpPr>
              <p:cNvPr id="71720"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1721" name="Group 5"/>
              <p:cNvGrpSpPr>
                <a:grpSpLocks/>
              </p:cNvGrpSpPr>
              <p:nvPr/>
            </p:nvGrpSpPr>
            <p:grpSpPr bwMode="auto">
              <a:xfrm>
                <a:off x="703" y="709"/>
                <a:ext cx="1881" cy="1720"/>
                <a:chOff x="376" y="1584"/>
                <a:chExt cx="1881" cy="1720"/>
              </a:xfrm>
            </p:grpSpPr>
            <p:sp>
              <p:nvSpPr>
                <p:cNvPr id="71722"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1723"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1724"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1725"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1726"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1727"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1728"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1729"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1709" name="Group 14"/>
            <p:cNvGrpSpPr>
              <a:grpSpLocks/>
            </p:cNvGrpSpPr>
            <p:nvPr/>
          </p:nvGrpSpPr>
          <p:grpSpPr bwMode="auto">
            <a:xfrm>
              <a:off x="2908" y="646"/>
              <a:ext cx="1996" cy="1769"/>
              <a:chOff x="3152" y="709"/>
              <a:chExt cx="1996" cy="1769"/>
            </a:xfrm>
          </p:grpSpPr>
          <p:sp>
            <p:nvSpPr>
              <p:cNvPr id="71710"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1711" name="Group 16"/>
              <p:cNvGrpSpPr>
                <a:grpSpLocks/>
              </p:cNvGrpSpPr>
              <p:nvPr/>
            </p:nvGrpSpPr>
            <p:grpSpPr bwMode="auto">
              <a:xfrm>
                <a:off x="3198" y="712"/>
                <a:ext cx="1881" cy="1720"/>
                <a:chOff x="3218" y="1584"/>
                <a:chExt cx="1881" cy="1720"/>
              </a:xfrm>
            </p:grpSpPr>
            <p:sp>
              <p:nvSpPr>
                <p:cNvPr id="71712"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1713"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1714" name="Rectangle 19"/>
                <p:cNvSpPr>
                  <a:spLocks noChangeArrowheads="1"/>
                </p:cNvSpPr>
                <p:nvPr/>
              </p:nvSpPr>
              <p:spPr bwMode="auto">
                <a:xfrm>
                  <a:off x="3218" y="2175"/>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1715"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1716"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1717"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1718"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1719"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1683"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1684"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1685"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Empty=-1</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Mutex=0</a:t>
            </a:r>
          </a:p>
        </p:txBody>
      </p:sp>
      <p:grpSp>
        <p:nvGrpSpPr>
          <p:cNvPr id="71686" name="Group 28"/>
          <p:cNvGrpSpPr>
            <a:grpSpLocks/>
          </p:cNvGrpSpPr>
          <p:nvPr/>
        </p:nvGrpSpPr>
        <p:grpSpPr bwMode="auto">
          <a:xfrm>
            <a:off x="3678238" y="4121150"/>
            <a:ext cx="3600450" cy="663575"/>
            <a:chOff x="1973" y="2831"/>
            <a:chExt cx="2268" cy="418"/>
          </a:xfrm>
        </p:grpSpPr>
        <p:sp>
          <p:nvSpPr>
            <p:cNvPr id="71703"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704"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5"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6"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7"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687"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1688"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Consumer applies critical section</a:t>
            </a:r>
          </a:p>
        </p:txBody>
      </p:sp>
      <p:pic>
        <p:nvPicPr>
          <p:cNvPr id="71689"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2700" y="41783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1"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2"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3"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4"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5" name="Oval 42"/>
          <p:cNvSpPr>
            <a:spLocks noChangeArrowheads="1"/>
          </p:cNvSpPr>
          <p:nvPr/>
        </p:nvSpPr>
        <p:spPr bwMode="auto">
          <a:xfrm>
            <a:off x="1489075" y="56308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1696" name="Group 43"/>
          <p:cNvGrpSpPr>
            <a:grpSpLocks/>
          </p:cNvGrpSpPr>
          <p:nvPr/>
        </p:nvGrpSpPr>
        <p:grpSpPr bwMode="auto">
          <a:xfrm>
            <a:off x="2484438" y="6021388"/>
            <a:ext cx="3743325" cy="576262"/>
            <a:chOff x="1429" y="3657"/>
            <a:chExt cx="2358" cy="363"/>
          </a:xfrm>
        </p:grpSpPr>
        <p:sp>
          <p:nvSpPr>
            <p:cNvPr id="71698"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1699"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700"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1"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02"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697" name="Text Box 49"/>
          <p:cNvSpPr txBox="1">
            <a:spLocks noChangeArrowheads="1"/>
          </p:cNvSpPr>
          <p:nvPr/>
        </p:nvSpPr>
        <p:spPr bwMode="auto">
          <a:xfrm>
            <a:off x="3940175" y="60690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9B938434-1E4A-4A26-BFF9-8CA9B1239B7D}"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61</a:t>
            </a:fld>
            <a:endParaRPr lang="zh-CN" altLang="en-US"/>
          </a:p>
        </p:txBody>
      </p:sp>
    </p:spTree>
    <p:extLst>
      <p:ext uri="{BB962C8B-B14F-4D97-AF65-F5344CB8AC3E}">
        <p14:creationId xmlns:p14="http://schemas.microsoft.com/office/powerpoint/2010/main" val="125218339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2"/>
          <p:cNvGrpSpPr>
            <a:grpSpLocks/>
          </p:cNvGrpSpPr>
          <p:nvPr/>
        </p:nvGrpSpPr>
        <p:grpSpPr bwMode="auto">
          <a:xfrm>
            <a:off x="1520825" y="1025525"/>
            <a:ext cx="6264275" cy="2808288"/>
            <a:chOff x="958" y="646"/>
            <a:chExt cx="3946" cy="1769"/>
          </a:xfrm>
        </p:grpSpPr>
        <p:grpSp>
          <p:nvGrpSpPr>
            <p:cNvPr id="72731" name="Group 3"/>
            <p:cNvGrpSpPr>
              <a:grpSpLocks/>
            </p:cNvGrpSpPr>
            <p:nvPr/>
          </p:nvGrpSpPr>
          <p:grpSpPr bwMode="auto">
            <a:xfrm>
              <a:off x="958" y="646"/>
              <a:ext cx="1950" cy="1769"/>
              <a:chOff x="657" y="709"/>
              <a:chExt cx="1950" cy="1769"/>
            </a:xfrm>
          </p:grpSpPr>
          <p:sp>
            <p:nvSpPr>
              <p:cNvPr id="72743"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2744" name="Group 5"/>
              <p:cNvGrpSpPr>
                <a:grpSpLocks/>
              </p:cNvGrpSpPr>
              <p:nvPr/>
            </p:nvGrpSpPr>
            <p:grpSpPr bwMode="auto">
              <a:xfrm>
                <a:off x="703" y="709"/>
                <a:ext cx="1881" cy="1720"/>
                <a:chOff x="376" y="1584"/>
                <a:chExt cx="1881" cy="1720"/>
              </a:xfrm>
            </p:grpSpPr>
            <p:sp>
              <p:nvSpPr>
                <p:cNvPr id="72745"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2746"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2747"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2748"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2749"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2750"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2751"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2752"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2732" name="Group 14"/>
            <p:cNvGrpSpPr>
              <a:grpSpLocks/>
            </p:cNvGrpSpPr>
            <p:nvPr/>
          </p:nvGrpSpPr>
          <p:grpSpPr bwMode="auto">
            <a:xfrm>
              <a:off x="2908" y="646"/>
              <a:ext cx="1996" cy="1769"/>
              <a:chOff x="3152" y="709"/>
              <a:chExt cx="1996" cy="1769"/>
            </a:xfrm>
          </p:grpSpPr>
          <p:sp>
            <p:nvSpPr>
              <p:cNvPr id="72733"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2734" name="Group 16"/>
              <p:cNvGrpSpPr>
                <a:grpSpLocks/>
              </p:cNvGrpSpPr>
              <p:nvPr/>
            </p:nvGrpSpPr>
            <p:grpSpPr bwMode="auto">
              <a:xfrm>
                <a:off x="3198" y="712"/>
                <a:ext cx="1881" cy="1720"/>
                <a:chOff x="3218" y="1584"/>
                <a:chExt cx="1881" cy="1720"/>
              </a:xfrm>
            </p:grpSpPr>
            <p:sp>
              <p:nvSpPr>
                <p:cNvPr id="72735"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2736"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2737"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2738"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2739" name="Rectangle 21"/>
                <p:cNvSpPr>
                  <a:spLocks noChangeArrowheads="1"/>
                </p:cNvSpPr>
                <p:nvPr/>
              </p:nvSpPr>
              <p:spPr bwMode="auto">
                <a:xfrm>
                  <a:off x="3218" y="2483"/>
                  <a:ext cx="1625"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2740"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2741"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2742"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2707"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2708"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2709"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Empty=-1</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Mutex=0</a:t>
            </a:r>
          </a:p>
        </p:txBody>
      </p:sp>
      <p:grpSp>
        <p:nvGrpSpPr>
          <p:cNvPr id="72710" name="Group 28"/>
          <p:cNvGrpSpPr>
            <a:grpSpLocks/>
          </p:cNvGrpSpPr>
          <p:nvPr/>
        </p:nvGrpSpPr>
        <p:grpSpPr bwMode="auto">
          <a:xfrm>
            <a:off x="3678238" y="4121150"/>
            <a:ext cx="3600450" cy="663575"/>
            <a:chOff x="1973" y="2831"/>
            <a:chExt cx="2268" cy="418"/>
          </a:xfrm>
        </p:grpSpPr>
        <p:sp>
          <p:nvSpPr>
            <p:cNvPr id="72726"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7"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8"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9"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30"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11"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2712" name="Text Box 35"/>
          <p:cNvSpPr txBox="1">
            <a:spLocks noChangeArrowheads="1"/>
          </p:cNvSpPr>
          <p:nvPr/>
        </p:nvSpPr>
        <p:spPr bwMode="auto">
          <a:xfrm>
            <a:off x="2555875" y="5157788"/>
            <a:ext cx="46085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Consumer gets a unit from buffer</a:t>
            </a:r>
          </a:p>
        </p:txBody>
      </p:sp>
      <p:pic>
        <p:nvPicPr>
          <p:cNvPr id="72713"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138" y="16859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4"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5"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6"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7"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8"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2719" name="Group 43"/>
          <p:cNvGrpSpPr>
            <a:grpSpLocks/>
          </p:cNvGrpSpPr>
          <p:nvPr/>
        </p:nvGrpSpPr>
        <p:grpSpPr bwMode="auto">
          <a:xfrm>
            <a:off x="2484438" y="6021388"/>
            <a:ext cx="3743325" cy="576262"/>
            <a:chOff x="1429" y="3657"/>
            <a:chExt cx="2358" cy="363"/>
          </a:xfrm>
        </p:grpSpPr>
        <p:sp>
          <p:nvSpPr>
            <p:cNvPr id="72721"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2722"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723"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4"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5"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20" name="Text Box 49"/>
          <p:cNvSpPr txBox="1">
            <a:spLocks noChangeArrowheads="1"/>
          </p:cNvSpPr>
          <p:nvPr/>
        </p:nvSpPr>
        <p:spPr bwMode="auto">
          <a:xfrm>
            <a:off x="3940175" y="60690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0409B02B-226A-4A9A-B314-44A53E151019}"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62</a:t>
            </a:fld>
            <a:endParaRPr lang="zh-CN" altLang="en-US"/>
          </a:p>
        </p:txBody>
      </p:sp>
    </p:spTree>
    <p:extLst>
      <p:ext uri="{BB962C8B-B14F-4D97-AF65-F5344CB8AC3E}">
        <p14:creationId xmlns:p14="http://schemas.microsoft.com/office/powerpoint/2010/main" val="20275166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p:cNvGrpSpPr>
            <a:grpSpLocks/>
          </p:cNvGrpSpPr>
          <p:nvPr/>
        </p:nvGrpSpPr>
        <p:grpSpPr bwMode="auto">
          <a:xfrm>
            <a:off x="1520825" y="1025525"/>
            <a:ext cx="6264275" cy="2808288"/>
            <a:chOff x="958" y="646"/>
            <a:chExt cx="3946" cy="1769"/>
          </a:xfrm>
        </p:grpSpPr>
        <p:grpSp>
          <p:nvGrpSpPr>
            <p:cNvPr id="73756" name="Group 3"/>
            <p:cNvGrpSpPr>
              <a:grpSpLocks/>
            </p:cNvGrpSpPr>
            <p:nvPr/>
          </p:nvGrpSpPr>
          <p:grpSpPr bwMode="auto">
            <a:xfrm>
              <a:off x="958" y="646"/>
              <a:ext cx="1950" cy="1769"/>
              <a:chOff x="657" y="709"/>
              <a:chExt cx="1950" cy="1769"/>
            </a:xfrm>
          </p:grpSpPr>
          <p:sp>
            <p:nvSpPr>
              <p:cNvPr id="73768"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3769" name="Group 5"/>
              <p:cNvGrpSpPr>
                <a:grpSpLocks/>
              </p:cNvGrpSpPr>
              <p:nvPr/>
            </p:nvGrpSpPr>
            <p:grpSpPr bwMode="auto">
              <a:xfrm>
                <a:off x="703" y="709"/>
                <a:ext cx="1881" cy="1720"/>
                <a:chOff x="376" y="1584"/>
                <a:chExt cx="1881" cy="1720"/>
              </a:xfrm>
            </p:grpSpPr>
            <p:sp>
              <p:nvSpPr>
                <p:cNvPr id="73770"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3771"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3772"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3773"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3774"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3775"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3776"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3777"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3757" name="Group 14"/>
            <p:cNvGrpSpPr>
              <a:grpSpLocks/>
            </p:cNvGrpSpPr>
            <p:nvPr/>
          </p:nvGrpSpPr>
          <p:grpSpPr bwMode="auto">
            <a:xfrm>
              <a:off x="2908" y="646"/>
              <a:ext cx="1996" cy="1769"/>
              <a:chOff x="3152" y="709"/>
              <a:chExt cx="1996" cy="1769"/>
            </a:xfrm>
          </p:grpSpPr>
          <p:sp>
            <p:nvSpPr>
              <p:cNvPr id="73758"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3759" name="Group 16"/>
              <p:cNvGrpSpPr>
                <a:grpSpLocks/>
              </p:cNvGrpSpPr>
              <p:nvPr/>
            </p:nvGrpSpPr>
            <p:grpSpPr bwMode="auto">
              <a:xfrm>
                <a:off x="3198" y="712"/>
                <a:ext cx="1881" cy="1720"/>
                <a:chOff x="3218" y="1584"/>
                <a:chExt cx="1881" cy="1720"/>
              </a:xfrm>
            </p:grpSpPr>
            <p:sp>
              <p:nvSpPr>
                <p:cNvPr id="73760"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3761"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3762"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3763"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3764"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3765" name="Rectangle 22"/>
                <p:cNvSpPr>
                  <a:spLocks noChangeArrowheads="1"/>
                </p:cNvSpPr>
                <p:nvPr/>
              </p:nvSpPr>
              <p:spPr bwMode="auto">
                <a:xfrm>
                  <a:off x="3218" y="2786"/>
                  <a:ext cx="843"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3766"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3767"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3731"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3732"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3733"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Empty=-1</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Mutex=1</a:t>
            </a:r>
          </a:p>
        </p:txBody>
      </p:sp>
      <p:grpSp>
        <p:nvGrpSpPr>
          <p:cNvPr id="73734" name="Group 28"/>
          <p:cNvGrpSpPr>
            <a:grpSpLocks/>
          </p:cNvGrpSpPr>
          <p:nvPr/>
        </p:nvGrpSpPr>
        <p:grpSpPr bwMode="auto">
          <a:xfrm>
            <a:off x="3678238" y="4121150"/>
            <a:ext cx="3600450" cy="663575"/>
            <a:chOff x="1973" y="2831"/>
            <a:chExt cx="2268" cy="418"/>
          </a:xfrm>
        </p:grpSpPr>
        <p:sp>
          <p:nvSpPr>
            <p:cNvPr id="73751"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3752"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3"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4"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5"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735"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3736" name="Text Box 35"/>
          <p:cNvSpPr txBox="1">
            <a:spLocks noChangeArrowheads="1"/>
          </p:cNvSpPr>
          <p:nvPr/>
        </p:nvSpPr>
        <p:spPr bwMode="auto">
          <a:xfrm>
            <a:off x="2555875" y="5157788"/>
            <a:ext cx="48244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Consumer goes out critical section</a:t>
            </a:r>
          </a:p>
        </p:txBody>
      </p:sp>
      <p:pic>
        <p:nvPicPr>
          <p:cNvPr id="73737"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138" y="16859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8"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9"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0"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1"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2"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3" name="Oval 42"/>
          <p:cNvSpPr>
            <a:spLocks noChangeArrowheads="1"/>
          </p:cNvSpPr>
          <p:nvPr/>
        </p:nvSpPr>
        <p:spPr bwMode="auto">
          <a:xfrm>
            <a:off x="1489075" y="56308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3744" name="Group 43"/>
          <p:cNvGrpSpPr>
            <a:grpSpLocks/>
          </p:cNvGrpSpPr>
          <p:nvPr/>
        </p:nvGrpSpPr>
        <p:grpSpPr bwMode="auto">
          <a:xfrm>
            <a:off x="2484438" y="6021388"/>
            <a:ext cx="3743325" cy="576262"/>
            <a:chOff x="1429" y="3657"/>
            <a:chExt cx="2358" cy="363"/>
          </a:xfrm>
        </p:grpSpPr>
        <p:sp>
          <p:nvSpPr>
            <p:cNvPr id="73746"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3747"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3748"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9"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50"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745" name="Text Box 49"/>
          <p:cNvSpPr txBox="1">
            <a:spLocks noChangeArrowheads="1"/>
          </p:cNvSpPr>
          <p:nvPr/>
        </p:nvSpPr>
        <p:spPr bwMode="auto">
          <a:xfrm>
            <a:off x="3940175" y="60690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DD709DF4-07CF-4E86-B9FD-4849EBFAE90A}"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63</a:t>
            </a:fld>
            <a:endParaRPr lang="zh-CN" altLang="en-US"/>
          </a:p>
        </p:txBody>
      </p:sp>
    </p:spTree>
    <p:extLst>
      <p:ext uri="{BB962C8B-B14F-4D97-AF65-F5344CB8AC3E}">
        <p14:creationId xmlns:p14="http://schemas.microsoft.com/office/powerpoint/2010/main" val="28725628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4" name="Group 2"/>
          <p:cNvGrpSpPr>
            <a:grpSpLocks/>
          </p:cNvGrpSpPr>
          <p:nvPr/>
        </p:nvGrpSpPr>
        <p:grpSpPr bwMode="auto">
          <a:xfrm>
            <a:off x="1520825" y="1025525"/>
            <a:ext cx="6264275" cy="2808288"/>
            <a:chOff x="958" y="646"/>
            <a:chExt cx="3946" cy="1769"/>
          </a:xfrm>
        </p:grpSpPr>
        <p:grpSp>
          <p:nvGrpSpPr>
            <p:cNvPr id="74780" name="Group 3"/>
            <p:cNvGrpSpPr>
              <a:grpSpLocks/>
            </p:cNvGrpSpPr>
            <p:nvPr/>
          </p:nvGrpSpPr>
          <p:grpSpPr bwMode="auto">
            <a:xfrm>
              <a:off x="958" y="646"/>
              <a:ext cx="1950" cy="1769"/>
              <a:chOff x="657" y="709"/>
              <a:chExt cx="1950" cy="1769"/>
            </a:xfrm>
          </p:grpSpPr>
          <p:sp>
            <p:nvSpPr>
              <p:cNvPr id="74792"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4793" name="Group 5"/>
              <p:cNvGrpSpPr>
                <a:grpSpLocks/>
              </p:cNvGrpSpPr>
              <p:nvPr/>
            </p:nvGrpSpPr>
            <p:grpSpPr bwMode="auto">
              <a:xfrm>
                <a:off x="703" y="709"/>
                <a:ext cx="1881" cy="1720"/>
                <a:chOff x="376" y="1584"/>
                <a:chExt cx="1881" cy="1720"/>
              </a:xfrm>
            </p:grpSpPr>
            <p:sp>
              <p:nvSpPr>
                <p:cNvPr id="74794"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4795" name="Rectangle 7"/>
                <p:cNvSpPr>
                  <a:spLocks noChangeArrowheads="1"/>
                </p:cNvSpPr>
                <p:nvPr/>
              </p:nvSpPr>
              <p:spPr bwMode="auto">
                <a:xfrm>
                  <a:off x="376" y="1888"/>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4796"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4797"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4798"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4799"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4800"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4801"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4781" name="Group 14"/>
            <p:cNvGrpSpPr>
              <a:grpSpLocks/>
            </p:cNvGrpSpPr>
            <p:nvPr/>
          </p:nvGrpSpPr>
          <p:grpSpPr bwMode="auto">
            <a:xfrm>
              <a:off x="2908" y="646"/>
              <a:ext cx="1996" cy="1769"/>
              <a:chOff x="3152" y="709"/>
              <a:chExt cx="1996" cy="1769"/>
            </a:xfrm>
          </p:grpSpPr>
          <p:sp>
            <p:nvSpPr>
              <p:cNvPr id="74782"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4783" name="Group 16"/>
              <p:cNvGrpSpPr>
                <a:grpSpLocks/>
              </p:cNvGrpSpPr>
              <p:nvPr/>
            </p:nvGrpSpPr>
            <p:grpSpPr bwMode="auto">
              <a:xfrm>
                <a:off x="3198" y="712"/>
                <a:ext cx="1881" cy="1720"/>
                <a:chOff x="3218" y="1584"/>
                <a:chExt cx="1881" cy="1720"/>
              </a:xfrm>
            </p:grpSpPr>
            <p:sp>
              <p:nvSpPr>
                <p:cNvPr id="74784"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4785"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4786"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4787"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4788"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4789"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4790" name="Rectangle 23"/>
                <p:cNvSpPr>
                  <a:spLocks noChangeArrowheads="1"/>
                </p:cNvSpPr>
                <p:nvPr/>
              </p:nvSpPr>
              <p:spPr bwMode="auto">
                <a:xfrm>
                  <a:off x="3218" y="3074"/>
                  <a:ext cx="843"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4791"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4755"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4756"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4757"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Mutex=1</a:t>
            </a:r>
          </a:p>
        </p:txBody>
      </p:sp>
      <p:grpSp>
        <p:nvGrpSpPr>
          <p:cNvPr id="74758" name="Group 28"/>
          <p:cNvGrpSpPr>
            <a:grpSpLocks/>
          </p:cNvGrpSpPr>
          <p:nvPr/>
        </p:nvGrpSpPr>
        <p:grpSpPr bwMode="auto">
          <a:xfrm>
            <a:off x="3678238" y="4121150"/>
            <a:ext cx="3600450" cy="663575"/>
            <a:chOff x="1973" y="2831"/>
            <a:chExt cx="2268" cy="418"/>
          </a:xfrm>
        </p:grpSpPr>
        <p:sp>
          <p:nvSpPr>
            <p:cNvPr id="74775"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4776"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7"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8"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9"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759"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4760" name="Text Box 35"/>
          <p:cNvSpPr txBox="1">
            <a:spLocks noChangeArrowheads="1"/>
          </p:cNvSpPr>
          <p:nvPr/>
        </p:nvSpPr>
        <p:spPr bwMode="auto">
          <a:xfrm>
            <a:off x="2555875" y="5157788"/>
            <a:ext cx="48244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Consumer releases a “empty”</a:t>
            </a:r>
          </a:p>
        </p:txBody>
      </p:sp>
      <p:pic>
        <p:nvPicPr>
          <p:cNvPr id="74761"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138" y="16859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3"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4"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5"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6"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7" name="Oval 43"/>
          <p:cNvSpPr>
            <a:spLocks noChangeArrowheads="1"/>
          </p:cNvSpPr>
          <p:nvPr/>
        </p:nvSpPr>
        <p:spPr bwMode="auto">
          <a:xfrm>
            <a:off x="1503363" y="4754563"/>
            <a:ext cx="360362"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4768" name="Group 44"/>
          <p:cNvGrpSpPr>
            <a:grpSpLocks/>
          </p:cNvGrpSpPr>
          <p:nvPr/>
        </p:nvGrpSpPr>
        <p:grpSpPr bwMode="auto">
          <a:xfrm>
            <a:off x="2484438" y="6021388"/>
            <a:ext cx="3743325" cy="576262"/>
            <a:chOff x="1429" y="3657"/>
            <a:chExt cx="2358" cy="363"/>
          </a:xfrm>
        </p:grpSpPr>
        <p:sp>
          <p:nvSpPr>
            <p:cNvPr id="74770" name="Text Box 45"/>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4771" name="Rectangle 46"/>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4772" name="Line 47"/>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3" name="Line 48"/>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4" name="Line 49"/>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769" name="Text Box 50"/>
          <p:cNvSpPr txBox="1">
            <a:spLocks noChangeArrowheads="1"/>
          </p:cNvSpPr>
          <p:nvPr/>
        </p:nvSpPr>
        <p:spPr bwMode="auto">
          <a:xfrm>
            <a:off x="3940175" y="60690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P1</a:t>
            </a:r>
          </a:p>
        </p:txBody>
      </p:sp>
      <p:sp>
        <p:nvSpPr>
          <p:cNvPr id="2" name="日期占位符 1"/>
          <p:cNvSpPr>
            <a:spLocks noGrp="1"/>
          </p:cNvSpPr>
          <p:nvPr>
            <p:ph type="dt" sz="half" idx="10"/>
          </p:nvPr>
        </p:nvSpPr>
        <p:spPr/>
        <p:txBody>
          <a:bodyPr/>
          <a:lstStyle/>
          <a:p>
            <a:fld id="{031A7D2D-6291-4DE9-8971-941EA21323D9}"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64</a:t>
            </a:fld>
            <a:endParaRPr lang="zh-CN" altLang="en-US"/>
          </a:p>
        </p:txBody>
      </p:sp>
    </p:spTree>
    <p:extLst>
      <p:ext uri="{BB962C8B-B14F-4D97-AF65-F5344CB8AC3E}">
        <p14:creationId xmlns:p14="http://schemas.microsoft.com/office/powerpoint/2010/main" val="207371117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778" name="Group 2"/>
          <p:cNvGrpSpPr>
            <a:grpSpLocks/>
          </p:cNvGrpSpPr>
          <p:nvPr/>
        </p:nvGrpSpPr>
        <p:grpSpPr bwMode="auto">
          <a:xfrm>
            <a:off x="1520825" y="1025525"/>
            <a:ext cx="6264275" cy="2808288"/>
            <a:chOff x="958" y="646"/>
            <a:chExt cx="3946" cy="1769"/>
          </a:xfrm>
        </p:grpSpPr>
        <p:grpSp>
          <p:nvGrpSpPr>
            <p:cNvPr id="75803" name="Group 3"/>
            <p:cNvGrpSpPr>
              <a:grpSpLocks/>
            </p:cNvGrpSpPr>
            <p:nvPr/>
          </p:nvGrpSpPr>
          <p:grpSpPr bwMode="auto">
            <a:xfrm>
              <a:off x="958" y="646"/>
              <a:ext cx="1950" cy="1769"/>
              <a:chOff x="657" y="709"/>
              <a:chExt cx="1950" cy="1769"/>
            </a:xfrm>
          </p:grpSpPr>
          <p:sp>
            <p:nvSpPr>
              <p:cNvPr id="75815"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5816" name="Group 5"/>
              <p:cNvGrpSpPr>
                <a:grpSpLocks/>
              </p:cNvGrpSpPr>
              <p:nvPr/>
            </p:nvGrpSpPr>
            <p:grpSpPr bwMode="auto">
              <a:xfrm>
                <a:off x="703" y="709"/>
                <a:ext cx="1881" cy="1720"/>
                <a:chOff x="376" y="1584"/>
                <a:chExt cx="1881" cy="1720"/>
              </a:xfrm>
            </p:grpSpPr>
            <p:sp>
              <p:nvSpPr>
                <p:cNvPr id="75817"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5818"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5819" name="Rectangle 8"/>
                <p:cNvSpPr>
                  <a:spLocks noChangeArrowheads="1"/>
                </p:cNvSpPr>
                <p:nvPr/>
              </p:nvSpPr>
              <p:spPr bwMode="auto">
                <a:xfrm>
                  <a:off x="376" y="2175"/>
                  <a:ext cx="821"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5820"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5821"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5822"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5823"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5824"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5804" name="Group 14"/>
            <p:cNvGrpSpPr>
              <a:grpSpLocks/>
            </p:cNvGrpSpPr>
            <p:nvPr/>
          </p:nvGrpSpPr>
          <p:grpSpPr bwMode="auto">
            <a:xfrm>
              <a:off x="2908" y="646"/>
              <a:ext cx="1996" cy="1769"/>
              <a:chOff x="3152" y="709"/>
              <a:chExt cx="1996" cy="1769"/>
            </a:xfrm>
          </p:grpSpPr>
          <p:sp>
            <p:nvSpPr>
              <p:cNvPr id="75805"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5806" name="Group 16"/>
              <p:cNvGrpSpPr>
                <a:grpSpLocks/>
              </p:cNvGrpSpPr>
              <p:nvPr/>
            </p:nvGrpSpPr>
            <p:grpSpPr bwMode="auto">
              <a:xfrm>
                <a:off x="3198" y="712"/>
                <a:ext cx="1881" cy="1720"/>
                <a:chOff x="3218" y="1584"/>
                <a:chExt cx="1881" cy="1720"/>
              </a:xfrm>
            </p:grpSpPr>
            <p:sp>
              <p:nvSpPr>
                <p:cNvPr id="75807"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5808"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5809"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5810"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5811"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5812"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5813"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5814"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5779"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5780"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5781"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Mutex=0</a:t>
            </a:r>
          </a:p>
        </p:txBody>
      </p:sp>
      <p:grpSp>
        <p:nvGrpSpPr>
          <p:cNvPr id="75782" name="Group 28"/>
          <p:cNvGrpSpPr>
            <a:grpSpLocks/>
          </p:cNvGrpSpPr>
          <p:nvPr/>
        </p:nvGrpSpPr>
        <p:grpSpPr bwMode="auto">
          <a:xfrm>
            <a:off x="3678238" y="4121150"/>
            <a:ext cx="3600450" cy="663575"/>
            <a:chOff x="1973" y="2831"/>
            <a:chExt cx="2268" cy="418"/>
          </a:xfrm>
        </p:grpSpPr>
        <p:sp>
          <p:nvSpPr>
            <p:cNvPr id="75798"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5799"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0"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1"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2"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5783"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5784" name="Text Box 35"/>
          <p:cNvSpPr txBox="1">
            <a:spLocks noChangeArrowheads="1"/>
          </p:cNvSpPr>
          <p:nvPr/>
        </p:nvSpPr>
        <p:spPr bwMode="auto">
          <a:xfrm>
            <a:off x="2555875" y="5157788"/>
            <a:ext cx="48244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applies critical section</a:t>
            </a:r>
          </a:p>
        </p:txBody>
      </p:sp>
      <p:pic>
        <p:nvPicPr>
          <p:cNvPr id="75785"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138" y="16859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6"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7"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9"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0"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600200"/>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91" name="Oval 42"/>
          <p:cNvSpPr>
            <a:spLocks noChangeArrowheads="1"/>
          </p:cNvSpPr>
          <p:nvPr/>
        </p:nvSpPr>
        <p:spPr bwMode="auto">
          <a:xfrm>
            <a:off x="1489075" y="5630863"/>
            <a:ext cx="360363" cy="43338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5792" name="Group 43"/>
          <p:cNvGrpSpPr>
            <a:grpSpLocks/>
          </p:cNvGrpSpPr>
          <p:nvPr/>
        </p:nvGrpSpPr>
        <p:grpSpPr bwMode="auto">
          <a:xfrm>
            <a:off x="2484438" y="6021388"/>
            <a:ext cx="3743325" cy="576262"/>
            <a:chOff x="1429" y="3657"/>
            <a:chExt cx="2358" cy="363"/>
          </a:xfrm>
        </p:grpSpPr>
        <p:sp>
          <p:nvSpPr>
            <p:cNvPr id="75793"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5794"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5795"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6"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7"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826E37AA-F078-4F90-8D57-954ED5DE943C}"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65</a:t>
            </a:fld>
            <a:endParaRPr lang="zh-CN" altLang="en-US"/>
          </a:p>
        </p:txBody>
      </p:sp>
    </p:spTree>
    <p:extLst>
      <p:ext uri="{BB962C8B-B14F-4D97-AF65-F5344CB8AC3E}">
        <p14:creationId xmlns:p14="http://schemas.microsoft.com/office/powerpoint/2010/main" val="100558387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2" name="Group 2"/>
          <p:cNvGrpSpPr>
            <a:grpSpLocks/>
          </p:cNvGrpSpPr>
          <p:nvPr/>
        </p:nvGrpSpPr>
        <p:grpSpPr bwMode="auto">
          <a:xfrm>
            <a:off x="1520825" y="1025525"/>
            <a:ext cx="6264275" cy="2808288"/>
            <a:chOff x="958" y="646"/>
            <a:chExt cx="3946" cy="1769"/>
          </a:xfrm>
        </p:grpSpPr>
        <p:grpSp>
          <p:nvGrpSpPr>
            <p:cNvPr id="76826" name="Group 3"/>
            <p:cNvGrpSpPr>
              <a:grpSpLocks/>
            </p:cNvGrpSpPr>
            <p:nvPr/>
          </p:nvGrpSpPr>
          <p:grpSpPr bwMode="auto">
            <a:xfrm>
              <a:off x="958" y="646"/>
              <a:ext cx="1950" cy="1769"/>
              <a:chOff x="657" y="709"/>
              <a:chExt cx="1950" cy="1769"/>
            </a:xfrm>
          </p:grpSpPr>
          <p:sp>
            <p:nvSpPr>
              <p:cNvPr id="76838"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6839" name="Group 5"/>
              <p:cNvGrpSpPr>
                <a:grpSpLocks/>
              </p:cNvGrpSpPr>
              <p:nvPr/>
            </p:nvGrpSpPr>
            <p:grpSpPr bwMode="auto">
              <a:xfrm>
                <a:off x="703" y="709"/>
                <a:ext cx="1881" cy="1720"/>
                <a:chOff x="376" y="1584"/>
                <a:chExt cx="1881" cy="1720"/>
              </a:xfrm>
            </p:grpSpPr>
            <p:sp>
              <p:nvSpPr>
                <p:cNvPr id="76840"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6841"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6842"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6843"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6844" name="Rectangle 10"/>
                <p:cNvSpPr>
                  <a:spLocks noChangeArrowheads="1"/>
                </p:cNvSpPr>
                <p:nvPr/>
              </p:nvSpPr>
              <p:spPr bwMode="auto">
                <a:xfrm>
                  <a:off x="376" y="2483"/>
                  <a:ext cx="1625" cy="23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6845"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6846"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6847"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6827" name="Group 14"/>
            <p:cNvGrpSpPr>
              <a:grpSpLocks/>
            </p:cNvGrpSpPr>
            <p:nvPr/>
          </p:nvGrpSpPr>
          <p:grpSpPr bwMode="auto">
            <a:xfrm>
              <a:off x="2908" y="646"/>
              <a:ext cx="1996" cy="1769"/>
              <a:chOff x="3152" y="709"/>
              <a:chExt cx="1996" cy="1769"/>
            </a:xfrm>
          </p:grpSpPr>
          <p:sp>
            <p:nvSpPr>
              <p:cNvPr id="76828"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6829" name="Group 16"/>
              <p:cNvGrpSpPr>
                <a:grpSpLocks/>
              </p:cNvGrpSpPr>
              <p:nvPr/>
            </p:nvGrpSpPr>
            <p:grpSpPr bwMode="auto">
              <a:xfrm>
                <a:off x="3198" y="712"/>
                <a:ext cx="1881" cy="1720"/>
                <a:chOff x="3218" y="1584"/>
                <a:chExt cx="1881" cy="1720"/>
              </a:xfrm>
            </p:grpSpPr>
            <p:sp>
              <p:nvSpPr>
                <p:cNvPr id="76830"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6831"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6832"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6833"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6834"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6835"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6836"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6837"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6803"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6804"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6805"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Mutex=0</a:t>
            </a:r>
          </a:p>
        </p:txBody>
      </p:sp>
      <p:grpSp>
        <p:nvGrpSpPr>
          <p:cNvPr id="76806" name="Group 28"/>
          <p:cNvGrpSpPr>
            <a:grpSpLocks/>
          </p:cNvGrpSpPr>
          <p:nvPr/>
        </p:nvGrpSpPr>
        <p:grpSpPr bwMode="auto">
          <a:xfrm>
            <a:off x="3678238" y="4121150"/>
            <a:ext cx="3600450" cy="663575"/>
            <a:chOff x="1973" y="2831"/>
            <a:chExt cx="2268" cy="418"/>
          </a:xfrm>
        </p:grpSpPr>
        <p:sp>
          <p:nvSpPr>
            <p:cNvPr id="76821"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6822"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23"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24"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25"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6807"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6808" name="Text Box 35"/>
          <p:cNvSpPr txBox="1">
            <a:spLocks noChangeArrowheads="1"/>
          </p:cNvSpPr>
          <p:nvPr/>
        </p:nvSpPr>
        <p:spPr bwMode="auto">
          <a:xfrm>
            <a:off x="2555875" y="5157788"/>
            <a:ext cx="482441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Producer puts unit into buffer</a:t>
            </a:r>
          </a:p>
        </p:txBody>
      </p:sp>
      <p:pic>
        <p:nvPicPr>
          <p:cNvPr id="76809" name="Picture 36"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138" y="16859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0" name="Picture 37"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1" name="Picture 38"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32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2"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3"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4"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815" name="Group 43"/>
          <p:cNvGrpSpPr>
            <a:grpSpLocks/>
          </p:cNvGrpSpPr>
          <p:nvPr/>
        </p:nvGrpSpPr>
        <p:grpSpPr bwMode="auto">
          <a:xfrm>
            <a:off x="2484438" y="6021388"/>
            <a:ext cx="3743325" cy="576262"/>
            <a:chOff x="1429" y="3657"/>
            <a:chExt cx="2358" cy="363"/>
          </a:xfrm>
        </p:grpSpPr>
        <p:sp>
          <p:nvSpPr>
            <p:cNvPr id="76816" name="Text Box 44"/>
            <p:cNvSpPr txBox="1">
              <a:spLocks noChangeArrowheads="1"/>
            </p:cNvSpPr>
            <p:nvPr/>
          </p:nvSpPr>
          <p:spPr bwMode="auto">
            <a:xfrm>
              <a:off x="1429" y="3657"/>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等待队列</a:t>
              </a:r>
            </a:p>
          </p:txBody>
        </p:sp>
        <p:sp>
          <p:nvSpPr>
            <p:cNvPr id="76817" name="Rectangle 45"/>
            <p:cNvSpPr>
              <a:spLocks noChangeArrowheads="1"/>
            </p:cNvSpPr>
            <p:nvPr/>
          </p:nvSpPr>
          <p:spPr bwMode="auto">
            <a:xfrm>
              <a:off x="2336" y="3657"/>
              <a:ext cx="1451" cy="36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6818" name="Line 46"/>
            <p:cNvSpPr>
              <a:spLocks noChangeShapeType="1"/>
            </p:cNvSpPr>
            <p:nvPr/>
          </p:nvSpPr>
          <p:spPr bwMode="auto">
            <a:xfrm>
              <a:off x="3061"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9" name="Line 47"/>
            <p:cNvSpPr>
              <a:spLocks noChangeShapeType="1"/>
            </p:cNvSpPr>
            <p:nvPr/>
          </p:nvSpPr>
          <p:spPr bwMode="auto">
            <a:xfrm>
              <a:off x="2699"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20" name="Line 48"/>
            <p:cNvSpPr>
              <a:spLocks noChangeShapeType="1"/>
            </p:cNvSpPr>
            <p:nvPr/>
          </p:nvSpPr>
          <p:spPr bwMode="auto">
            <a:xfrm>
              <a:off x="3424" y="365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日期占位符 1"/>
          <p:cNvSpPr>
            <a:spLocks noGrp="1"/>
          </p:cNvSpPr>
          <p:nvPr>
            <p:ph type="dt" sz="half" idx="10"/>
          </p:nvPr>
        </p:nvSpPr>
        <p:spPr/>
        <p:txBody>
          <a:bodyPr/>
          <a:lstStyle/>
          <a:p>
            <a:fld id="{DCA7EB24-73C6-4699-8BE4-F2DBBCACBBFE}"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66</a:t>
            </a:fld>
            <a:endParaRPr lang="zh-CN" altLang="en-US"/>
          </a:p>
        </p:txBody>
      </p:sp>
    </p:spTree>
    <p:extLst>
      <p:ext uri="{BB962C8B-B14F-4D97-AF65-F5344CB8AC3E}">
        <p14:creationId xmlns:p14="http://schemas.microsoft.com/office/powerpoint/2010/main" val="98438902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2"/>
          <p:cNvGrpSpPr>
            <a:grpSpLocks/>
          </p:cNvGrpSpPr>
          <p:nvPr/>
        </p:nvGrpSpPr>
        <p:grpSpPr bwMode="auto">
          <a:xfrm>
            <a:off x="1520825" y="1025525"/>
            <a:ext cx="6264275" cy="2808288"/>
            <a:chOff x="958" y="646"/>
            <a:chExt cx="3946" cy="1769"/>
          </a:xfrm>
        </p:grpSpPr>
        <p:grpSp>
          <p:nvGrpSpPr>
            <p:cNvPr id="77846" name="Group 3"/>
            <p:cNvGrpSpPr>
              <a:grpSpLocks/>
            </p:cNvGrpSpPr>
            <p:nvPr/>
          </p:nvGrpSpPr>
          <p:grpSpPr bwMode="auto">
            <a:xfrm>
              <a:off x="958" y="646"/>
              <a:ext cx="1950" cy="1769"/>
              <a:chOff x="657" y="709"/>
              <a:chExt cx="1950" cy="1769"/>
            </a:xfrm>
          </p:grpSpPr>
          <p:sp>
            <p:nvSpPr>
              <p:cNvPr id="77858" name="Rectangle 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7859" name="Group 5"/>
              <p:cNvGrpSpPr>
                <a:grpSpLocks/>
              </p:cNvGrpSpPr>
              <p:nvPr/>
            </p:nvGrpSpPr>
            <p:grpSpPr bwMode="auto">
              <a:xfrm>
                <a:off x="703" y="709"/>
                <a:ext cx="1881" cy="1720"/>
                <a:chOff x="376" y="1584"/>
                <a:chExt cx="1881" cy="1720"/>
              </a:xfrm>
            </p:grpSpPr>
            <p:sp>
              <p:nvSpPr>
                <p:cNvPr id="77860" name="Rectangle 6"/>
                <p:cNvSpPr>
                  <a:spLocks noChangeArrowheads="1"/>
                </p:cNvSpPr>
                <p:nvPr/>
              </p:nvSpPr>
              <p:spPr bwMode="auto">
                <a:xfrm>
                  <a:off x="1107" y="1584"/>
                  <a:ext cx="76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Producer</a:t>
                  </a:r>
                </a:p>
              </p:txBody>
            </p:sp>
            <p:sp>
              <p:nvSpPr>
                <p:cNvPr id="77861" name="Rectangle 7"/>
                <p:cNvSpPr>
                  <a:spLocks noChangeArrowheads="1"/>
                </p:cNvSpPr>
                <p:nvPr/>
              </p:nvSpPr>
              <p:spPr bwMode="auto">
                <a:xfrm>
                  <a:off x="376" y="1888"/>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P(empty);</a:t>
                  </a:r>
                  <a:endParaRPr lang="en-US" altLang="zh-CN" b="1"/>
                </a:p>
              </p:txBody>
            </p:sp>
            <p:sp>
              <p:nvSpPr>
                <p:cNvPr id="77862" name="Rectangle 8"/>
                <p:cNvSpPr>
                  <a:spLocks noChangeArrowheads="1"/>
                </p:cNvSpPr>
                <p:nvPr/>
              </p:nvSpPr>
              <p:spPr bwMode="auto">
                <a:xfrm>
                  <a:off x="376"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7863" name="Rectangle 9"/>
                <p:cNvSpPr>
                  <a:spLocks noChangeArrowheads="1"/>
                </p:cNvSpPr>
                <p:nvPr/>
              </p:nvSpPr>
              <p:spPr bwMode="auto">
                <a:xfrm>
                  <a:off x="1572"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7864" name="Rectangle 10"/>
                <p:cNvSpPr>
                  <a:spLocks noChangeArrowheads="1"/>
                </p:cNvSpPr>
                <p:nvPr/>
              </p:nvSpPr>
              <p:spPr bwMode="auto">
                <a:xfrm>
                  <a:off x="376"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7865" name="Rectangle 11"/>
                <p:cNvSpPr>
                  <a:spLocks noChangeArrowheads="1"/>
                </p:cNvSpPr>
                <p:nvPr/>
              </p:nvSpPr>
              <p:spPr bwMode="auto">
                <a:xfrm>
                  <a:off x="376"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7866" name="Rectangle 12"/>
                <p:cNvSpPr>
                  <a:spLocks noChangeArrowheads="1"/>
                </p:cNvSpPr>
                <p:nvPr/>
              </p:nvSpPr>
              <p:spPr bwMode="auto">
                <a:xfrm>
                  <a:off x="376" y="3074"/>
                  <a:ext cx="6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V(full);</a:t>
                  </a:r>
                  <a:endParaRPr lang="en-US" altLang="zh-CN" b="1"/>
                </a:p>
              </p:txBody>
            </p:sp>
            <p:sp>
              <p:nvSpPr>
                <p:cNvPr id="77867" name="Rectangle 13"/>
                <p:cNvSpPr>
                  <a:spLocks noChangeArrowheads="1"/>
                </p:cNvSpPr>
                <p:nvPr/>
              </p:nvSpPr>
              <p:spPr bwMode="auto">
                <a:xfrm>
                  <a:off x="1572"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nvGrpSpPr>
            <p:cNvPr id="77847" name="Group 14"/>
            <p:cNvGrpSpPr>
              <a:grpSpLocks/>
            </p:cNvGrpSpPr>
            <p:nvPr/>
          </p:nvGrpSpPr>
          <p:grpSpPr bwMode="auto">
            <a:xfrm>
              <a:off x="2908" y="646"/>
              <a:ext cx="1996" cy="1769"/>
              <a:chOff x="3152" y="709"/>
              <a:chExt cx="1996" cy="1769"/>
            </a:xfrm>
          </p:grpSpPr>
          <p:sp>
            <p:nvSpPr>
              <p:cNvPr id="77848" name="Rectangle 15"/>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7849" name="Group 16"/>
              <p:cNvGrpSpPr>
                <a:grpSpLocks/>
              </p:cNvGrpSpPr>
              <p:nvPr/>
            </p:nvGrpSpPr>
            <p:grpSpPr bwMode="auto">
              <a:xfrm>
                <a:off x="3198" y="712"/>
                <a:ext cx="1881" cy="1720"/>
                <a:chOff x="3218" y="1584"/>
                <a:chExt cx="1881" cy="1720"/>
              </a:xfrm>
            </p:grpSpPr>
            <p:sp>
              <p:nvSpPr>
                <p:cNvPr id="77850" name="Rectangle 17"/>
                <p:cNvSpPr>
                  <a:spLocks noChangeArrowheads="1"/>
                </p:cNvSpPr>
                <p:nvPr/>
              </p:nvSpPr>
              <p:spPr bwMode="auto">
                <a:xfrm>
                  <a:off x="3985" y="1584"/>
                  <a:ext cx="8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accent2"/>
                      </a:solidFill>
                    </a:rPr>
                    <a:t>Consumer</a:t>
                  </a:r>
                </a:p>
              </p:txBody>
            </p:sp>
            <p:sp>
              <p:nvSpPr>
                <p:cNvPr id="77851" name="Rectangle 18"/>
                <p:cNvSpPr>
                  <a:spLocks noChangeArrowheads="1"/>
                </p:cNvSpPr>
                <p:nvPr/>
              </p:nvSpPr>
              <p:spPr bwMode="auto">
                <a:xfrm>
                  <a:off x="3218" y="1888"/>
                  <a:ext cx="586"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P(full);</a:t>
                  </a:r>
                  <a:endParaRPr lang="en-US" altLang="zh-CN" b="1"/>
                </a:p>
              </p:txBody>
            </p:sp>
            <p:sp>
              <p:nvSpPr>
                <p:cNvPr id="77852" name="Rectangle 19"/>
                <p:cNvSpPr>
                  <a:spLocks noChangeArrowheads="1"/>
                </p:cNvSpPr>
                <p:nvPr/>
              </p:nvSpPr>
              <p:spPr bwMode="auto">
                <a:xfrm>
                  <a:off x="3218" y="2175"/>
                  <a:ext cx="821"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P(mutex);</a:t>
                  </a:r>
                  <a:endParaRPr lang="en-US" altLang="zh-CN" b="1"/>
                </a:p>
              </p:txBody>
            </p:sp>
            <p:sp>
              <p:nvSpPr>
                <p:cNvPr id="77853" name="Rectangle 20"/>
                <p:cNvSpPr>
                  <a:spLocks noChangeArrowheads="1"/>
                </p:cNvSpPr>
                <p:nvPr/>
              </p:nvSpPr>
              <p:spPr bwMode="auto">
                <a:xfrm>
                  <a:off x="4414" y="2175"/>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进入区</a:t>
                  </a:r>
                  <a:endParaRPr lang="zh-CN" altLang="en-US" b="1"/>
                </a:p>
              </p:txBody>
            </p:sp>
            <p:sp>
              <p:nvSpPr>
                <p:cNvPr id="77854" name="Rectangle 21"/>
                <p:cNvSpPr>
                  <a:spLocks noChangeArrowheads="1"/>
                </p:cNvSpPr>
                <p:nvPr/>
              </p:nvSpPr>
              <p:spPr bwMode="auto">
                <a:xfrm>
                  <a:off x="3218" y="2483"/>
                  <a:ext cx="1625"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  one unit </a:t>
                  </a:r>
                  <a:r>
                    <a:rPr lang="en-US" altLang="zh-CN" b="1">
                      <a:solidFill>
                        <a:srgbClr val="000000"/>
                      </a:solidFill>
                      <a:sym typeface="Symbol" panose="05050102010706020507" pitchFamily="18" charset="2"/>
                    </a:rPr>
                    <a:t></a:t>
                  </a:r>
                  <a:r>
                    <a:rPr lang="en-US" altLang="zh-CN" b="1">
                      <a:solidFill>
                        <a:srgbClr val="000000"/>
                      </a:solidFill>
                    </a:rPr>
                    <a:t> buffer;</a:t>
                  </a:r>
                  <a:endParaRPr lang="en-US" altLang="zh-CN" b="1"/>
                </a:p>
              </p:txBody>
            </p:sp>
            <p:sp>
              <p:nvSpPr>
                <p:cNvPr id="77855" name="Rectangle 22"/>
                <p:cNvSpPr>
                  <a:spLocks noChangeArrowheads="1"/>
                </p:cNvSpPr>
                <p:nvPr/>
              </p:nvSpPr>
              <p:spPr bwMode="auto">
                <a:xfrm>
                  <a:off x="3218" y="2786"/>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V(mutex);</a:t>
                  </a:r>
                  <a:endParaRPr lang="en-US" altLang="zh-CN" b="1"/>
                </a:p>
              </p:txBody>
            </p:sp>
            <p:sp>
              <p:nvSpPr>
                <p:cNvPr id="77856" name="Rectangle 23"/>
                <p:cNvSpPr>
                  <a:spLocks noChangeArrowheads="1"/>
                </p:cNvSpPr>
                <p:nvPr/>
              </p:nvSpPr>
              <p:spPr bwMode="auto">
                <a:xfrm>
                  <a:off x="3218" y="3074"/>
                  <a:ext cx="843" cy="23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V(empty);</a:t>
                  </a:r>
                  <a:endParaRPr lang="en-US" altLang="zh-CN" b="1"/>
                </a:p>
              </p:txBody>
            </p:sp>
            <p:sp>
              <p:nvSpPr>
                <p:cNvPr id="77857" name="Rectangle 24"/>
                <p:cNvSpPr>
                  <a:spLocks noChangeArrowheads="1"/>
                </p:cNvSpPr>
                <p:nvPr/>
              </p:nvSpPr>
              <p:spPr bwMode="auto">
                <a:xfrm>
                  <a:off x="4414" y="3074"/>
                  <a:ext cx="6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00"/>
                      </a:solidFill>
                    </a:rPr>
                    <a:t>//</a:t>
                  </a:r>
                  <a:r>
                    <a:rPr lang="zh-CN" altLang="en-US" b="1">
                      <a:solidFill>
                        <a:srgbClr val="000000"/>
                      </a:solidFill>
                    </a:rPr>
                    <a:t>退出区</a:t>
                  </a:r>
                  <a:endParaRPr lang="zh-CN" altLang="en-US" b="1"/>
                </a:p>
              </p:txBody>
            </p:sp>
          </p:grpSp>
        </p:grpSp>
      </p:grpSp>
      <p:sp>
        <p:nvSpPr>
          <p:cNvPr id="77827" name="Text Box 25"/>
          <p:cNvSpPr txBox="1">
            <a:spLocks noChangeArrowheads="1"/>
          </p:cNvSpPr>
          <p:nvPr/>
        </p:nvSpPr>
        <p:spPr bwMode="auto">
          <a:xfrm>
            <a:off x="468313" y="1771650"/>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P1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Pn</a:t>
            </a:r>
          </a:p>
        </p:txBody>
      </p:sp>
      <p:sp>
        <p:nvSpPr>
          <p:cNvPr id="77828" name="Text Box 26"/>
          <p:cNvSpPr txBox="1">
            <a:spLocks noChangeArrowheads="1"/>
          </p:cNvSpPr>
          <p:nvPr/>
        </p:nvSpPr>
        <p:spPr bwMode="auto">
          <a:xfrm>
            <a:off x="8101013" y="1844675"/>
            <a:ext cx="576262"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70000"/>
              </a:lnSpc>
            </a:pPr>
            <a:r>
              <a:rPr lang="en-US" altLang="zh-CN" b="1"/>
              <a:t>C1</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a:t>
            </a:r>
          </a:p>
          <a:p>
            <a:pPr algn="ctr" eaLnBrk="1" hangingPunct="1">
              <a:lnSpc>
                <a:spcPct val="70000"/>
              </a:lnSpc>
            </a:pPr>
            <a:r>
              <a:rPr lang="en-US" altLang="zh-CN" b="1"/>
              <a:t>Cn</a:t>
            </a:r>
          </a:p>
        </p:txBody>
      </p:sp>
      <p:sp>
        <p:nvSpPr>
          <p:cNvPr id="77829" name="Text Box 27"/>
          <p:cNvSpPr txBox="1">
            <a:spLocks noChangeArrowheads="1"/>
          </p:cNvSpPr>
          <p:nvPr/>
        </p:nvSpPr>
        <p:spPr bwMode="auto">
          <a:xfrm>
            <a:off x="468313" y="4292600"/>
            <a:ext cx="1582737"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变量：</a:t>
            </a:r>
          </a:p>
          <a:p>
            <a:pPr eaLnBrk="1" hangingPunct="1">
              <a:spcBef>
                <a:spcPct val="20000"/>
              </a:spcBef>
            </a:pPr>
            <a:r>
              <a:rPr lang="en-US" altLang="zh-CN" b="1">
                <a:solidFill>
                  <a:srgbClr val="FF0000"/>
                </a:solidFill>
              </a:rPr>
              <a:t>Empty=0</a:t>
            </a:r>
          </a:p>
          <a:p>
            <a:pPr eaLnBrk="1" hangingPunct="1">
              <a:spcBef>
                <a:spcPct val="20000"/>
              </a:spcBef>
            </a:pPr>
            <a:r>
              <a:rPr lang="en-US" altLang="zh-CN" b="1">
                <a:solidFill>
                  <a:schemeClr val="accent2"/>
                </a:solidFill>
              </a:rPr>
              <a:t>Full=4</a:t>
            </a:r>
          </a:p>
          <a:p>
            <a:pPr eaLnBrk="1" hangingPunct="1">
              <a:spcBef>
                <a:spcPct val="20000"/>
              </a:spcBef>
            </a:pPr>
            <a:r>
              <a:rPr lang="en-US" altLang="zh-CN" b="1"/>
              <a:t>Mutex=0</a:t>
            </a:r>
          </a:p>
        </p:txBody>
      </p:sp>
      <p:grpSp>
        <p:nvGrpSpPr>
          <p:cNvPr id="77830" name="Group 28"/>
          <p:cNvGrpSpPr>
            <a:grpSpLocks/>
          </p:cNvGrpSpPr>
          <p:nvPr/>
        </p:nvGrpSpPr>
        <p:grpSpPr bwMode="auto">
          <a:xfrm>
            <a:off x="3678238" y="4121150"/>
            <a:ext cx="3600450" cy="663575"/>
            <a:chOff x="1973" y="2831"/>
            <a:chExt cx="2268" cy="418"/>
          </a:xfrm>
        </p:grpSpPr>
        <p:sp>
          <p:nvSpPr>
            <p:cNvPr id="77841" name="Rectangle 29"/>
            <p:cNvSpPr>
              <a:spLocks noChangeArrowheads="1"/>
            </p:cNvSpPr>
            <p:nvPr/>
          </p:nvSpPr>
          <p:spPr bwMode="auto">
            <a:xfrm>
              <a:off x="1973" y="2840"/>
              <a:ext cx="2268" cy="40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7842" name="Line 30"/>
            <p:cNvSpPr>
              <a:spLocks noChangeShapeType="1"/>
            </p:cNvSpPr>
            <p:nvPr/>
          </p:nvSpPr>
          <p:spPr bwMode="auto">
            <a:xfrm>
              <a:off x="2445"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3" name="Line 31"/>
            <p:cNvSpPr>
              <a:spLocks noChangeShapeType="1"/>
            </p:cNvSpPr>
            <p:nvPr/>
          </p:nvSpPr>
          <p:spPr bwMode="auto">
            <a:xfrm>
              <a:off x="2898" y="2831"/>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4" name="Line 32"/>
            <p:cNvSpPr>
              <a:spLocks noChangeShapeType="1"/>
            </p:cNvSpPr>
            <p:nvPr/>
          </p:nvSpPr>
          <p:spPr bwMode="auto">
            <a:xfrm>
              <a:off x="3361"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45" name="Line 33"/>
            <p:cNvSpPr>
              <a:spLocks noChangeShapeType="1"/>
            </p:cNvSpPr>
            <p:nvPr/>
          </p:nvSpPr>
          <p:spPr bwMode="auto">
            <a:xfrm>
              <a:off x="3806" y="2840"/>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7831" name="Text Box 34"/>
          <p:cNvSpPr txBox="1">
            <a:spLocks noChangeArrowheads="1"/>
          </p:cNvSpPr>
          <p:nvPr/>
        </p:nvSpPr>
        <p:spPr bwMode="auto">
          <a:xfrm>
            <a:off x="2339975" y="4222750"/>
            <a:ext cx="1150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缓冲区</a:t>
            </a:r>
          </a:p>
        </p:txBody>
      </p:sp>
      <p:sp>
        <p:nvSpPr>
          <p:cNvPr id="77832" name="Text Box 35"/>
          <p:cNvSpPr txBox="1">
            <a:spLocks noChangeArrowheads="1"/>
          </p:cNvSpPr>
          <p:nvPr/>
        </p:nvSpPr>
        <p:spPr bwMode="auto">
          <a:xfrm>
            <a:off x="2555875" y="5157788"/>
            <a:ext cx="3024188" cy="13335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a:t>生产者与生产者互斥</a:t>
            </a:r>
          </a:p>
          <a:p>
            <a:pPr eaLnBrk="1" hangingPunct="1">
              <a:spcBef>
                <a:spcPct val="20000"/>
              </a:spcBef>
            </a:pPr>
            <a:r>
              <a:rPr lang="zh-CN" altLang="en-US" b="1"/>
              <a:t>消费者与消费者互斥</a:t>
            </a:r>
          </a:p>
          <a:p>
            <a:pPr eaLnBrk="1" hangingPunct="1">
              <a:spcBef>
                <a:spcPct val="20000"/>
              </a:spcBef>
            </a:pPr>
            <a:r>
              <a:rPr lang="zh-CN" altLang="en-US" b="1"/>
              <a:t>生产者与消费者同步</a:t>
            </a:r>
          </a:p>
        </p:txBody>
      </p:sp>
      <p:pic>
        <p:nvPicPr>
          <p:cNvPr id="77833" name="Picture 39"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416401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4" name="Picture 40"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4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5" name="Picture 41"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4149725"/>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6" name="Picture 42" descr="0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5516563"/>
            <a:ext cx="45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7" name="Line 43"/>
          <p:cNvSpPr>
            <a:spLocks noChangeShapeType="1"/>
          </p:cNvSpPr>
          <p:nvPr/>
        </p:nvSpPr>
        <p:spPr bwMode="auto">
          <a:xfrm>
            <a:off x="5508625" y="5373688"/>
            <a:ext cx="719138"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8" name="Line 44"/>
          <p:cNvSpPr>
            <a:spLocks noChangeShapeType="1"/>
          </p:cNvSpPr>
          <p:nvPr/>
        </p:nvSpPr>
        <p:spPr bwMode="auto">
          <a:xfrm flipH="1">
            <a:off x="5494338" y="5834063"/>
            <a:ext cx="7191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9" name="Line 45"/>
          <p:cNvSpPr>
            <a:spLocks noChangeShapeType="1"/>
          </p:cNvSpPr>
          <p:nvPr/>
        </p:nvSpPr>
        <p:spPr bwMode="auto">
          <a:xfrm flipH="1">
            <a:off x="5435600" y="5949950"/>
            <a:ext cx="865188" cy="3587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日期占位符 1"/>
          <p:cNvSpPr>
            <a:spLocks noGrp="1"/>
          </p:cNvSpPr>
          <p:nvPr>
            <p:ph type="dt" sz="half" idx="10"/>
          </p:nvPr>
        </p:nvSpPr>
        <p:spPr/>
        <p:txBody>
          <a:bodyPr/>
          <a:lstStyle/>
          <a:p>
            <a:fld id="{7B5D520F-4F39-408C-B1A8-B2F0582AABBA}" type="datetime1">
              <a:rPr lang="zh-CN" altLang="en-US" smtClean="0"/>
              <a:pPr/>
              <a:t>2018/8/3</a:t>
            </a:fld>
            <a:endParaRPr lang="zh-CN" altLang="en-US"/>
          </a:p>
        </p:txBody>
      </p:sp>
      <p:sp>
        <p:nvSpPr>
          <p:cNvPr id="3" name="页脚占位符 2"/>
          <p:cNvSpPr>
            <a:spLocks noGrp="1"/>
          </p:cNvSpPr>
          <p:nvPr>
            <p:ph type="ftr" sz="quarter" idx="11"/>
          </p:nvPr>
        </p:nvSpPr>
        <p:spPr/>
        <p:txBody>
          <a:bodyPr/>
          <a:lstStyle/>
          <a:p>
            <a:r>
              <a:rPr lang="en-US" altLang="zh-CN" smtClean="0"/>
              <a:t>CH03 - Synchronization &amp; Mutual Exclusion</a:t>
            </a:r>
            <a:endParaRPr lang="zh-CN" altLang="en-US"/>
          </a:p>
        </p:txBody>
      </p:sp>
      <p:sp>
        <p:nvSpPr>
          <p:cNvPr id="4" name="灯片编号占位符 3"/>
          <p:cNvSpPr>
            <a:spLocks noGrp="1"/>
          </p:cNvSpPr>
          <p:nvPr>
            <p:ph type="sldNum" sz="quarter" idx="12"/>
          </p:nvPr>
        </p:nvSpPr>
        <p:spPr/>
        <p:txBody>
          <a:bodyPr/>
          <a:lstStyle/>
          <a:p>
            <a:fld id="{56BAEEBF-3716-487D-AE7C-1F66A971DC3D}" type="slidenum">
              <a:rPr lang="zh-CN" altLang="en-US" smtClean="0"/>
              <a:pPr/>
              <a:t>67</a:t>
            </a:fld>
            <a:endParaRPr lang="zh-CN" altLang="en-US"/>
          </a:p>
        </p:txBody>
      </p:sp>
    </p:spTree>
    <p:extLst>
      <p:ext uri="{BB962C8B-B14F-4D97-AF65-F5344CB8AC3E}">
        <p14:creationId xmlns:p14="http://schemas.microsoft.com/office/powerpoint/2010/main" val="19679092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P</a:t>
            </a:r>
            <a:r>
              <a:rPr lang="zh-CN" altLang="en-US" dirty="0" smtClean="0"/>
              <a:t>、</a:t>
            </a:r>
            <a:r>
              <a:rPr lang="en-US" altLang="zh-CN" dirty="0" smtClean="0"/>
              <a:t>V</a:t>
            </a:r>
            <a:r>
              <a:rPr lang="zh-CN" altLang="en-US" dirty="0" smtClean="0"/>
              <a:t>原语的次序</a:t>
            </a:r>
            <a:endParaRPr lang="zh-CN" altLang="en-US" dirty="0"/>
          </a:p>
        </p:txBody>
      </p:sp>
      <p:sp>
        <p:nvSpPr>
          <p:cNvPr id="3" name="Content Placeholder 2"/>
          <p:cNvSpPr>
            <a:spLocks noGrp="1"/>
          </p:cNvSpPr>
          <p:nvPr>
            <p:ph idx="1"/>
          </p:nvPr>
        </p:nvSpPr>
        <p:spPr/>
        <p:txBody>
          <a:bodyPr/>
          <a:lstStyle/>
          <a:p>
            <a:r>
              <a:rPr lang="zh-CN" altLang="en-US" dirty="0" smtClean="0">
                <a:solidFill>
                  <a:srgbClr val="FF0000"/>
                </a:solidFill>
              </a:rPr>
              <a:t>操作不当，会造成死锁！</a:t>
            </a:r>
            <a:endParaRPr lang="zh-CN" altLang="en-US" dirty="0">
              <a:solidFill>
                <a:srgbClr val="FF0000"/>
              </a:solidFill>
            </a:endParaRPr>
          </a:p>
        </p:txBody>
      </p:sp>
      <p:sp>
        <p:nvSpPr>
          <p:cNvPr id="4" name="Date Placeholder 3"/>
          <p:cNvSpPr>
            <a:spLocks noGrp="1"/>
          </p:cNvSpPr>
          <p:nvPr>
            <p:ph type="dt" sz="half" idx="10"/>
          </p:nvPr>
        </p:nvSpPr>
        <p:spPr/>
        <p:txBody>
          <a:bodyPr/>
          <a:lstStyle/>
          <a:p>
            <a:fld id="{A5C48072-1576-46C5-B845-D6D610E1E39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68</a:t>
            </a:fld>
            <a:endParaRPr lang="zh-CN" altLang="en-US" dirty="0"/>
          </a:p>
        </p:txBody>
      </p:sp>
      <p:grpSp>
        <p:nvGrpSpPr>
          <p:cNvPr id="7" name="Group 22"/>
          <p:cNvGrpSpPr>
            <a:grpSpLocks/>
          </p:cNvGrpSpPr>
          <p:nvPr/>
        </p:nvGrpSpPr>
        <p:grpSpPr bwMode="auto">
          <a:xfrm>
            <a:off x="1619672" y="1981200"/>
            <a:ext cx="5949950" cy="2635250"/>
            <a:chOff x="864" y="1248"/>
            <a:chExt cx="3748" cy="1660"/>
          </a:xfrm>
        </p:grpSpPr>
        <p:sp>
          <p:nvSpPr>
            <p:cNvPr id="8" name="Rectangle 6"/>
            <p:cNvSpPr>
              <a:spLocks noChangeArrowheads="1"/>
            </p:cNvSpPr>
            <p:nvPr/>
          </p:nvSpPr>
          <p:spPr bwMode="auto">
            <a:xfrm>
              <a:off x="2448" y="1248"/>
              <a:ext cx="111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Consumer</a:t>
              </a:r>
              <a:r>
                <a:rPr lang="zh-CN" altLang="en-US" sz="2000" b="1">
                  <a:latin typeface="+mn-lt"/>
                  <a:ea typeface="楷体" panose="02010609060101010101" pitchFamily="49" charset="-122"/>
                </a:rPr>
                <a:t>：</a:t>
              </a:r>
            </a:p>
          </p:txBody>
        </p:sp>
        <p:sp>
          <p:nvSpPr>
            <p:cNvPr id="9" name="Rectangle 7"/>
            <p:cNvSpPr>
              <a:spLocks noChangeArrowheads="1"/>
            </p:cNvSpPr>
            <p:nvPr/>
          </p:nvSpPr>
          <p:spPr bwMode="auto">
            <a:xfrm>
              <a:off x="864" y="1254"/>
              <a:ext cx="97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Producer</a:t>
              </a:r>
              <a:r>
                <a:rPr lang="zh-CN" altLang="en-US" sz="2000" b="1" dirty="0">
                  <a:latin typeface="+mn-lt"/>
                  <a:ea typeface="楷体" panose="02010609060101010101" pitchFamily="49" charset="-122"/>
                </a:rPr>
                <a:t>：</a:t>
              </a:r>
            </a:p>
          </p:txBody>
        </p:sp>
        <p:sp>
          <p:nvSpPr>
            <p:cNvPr id="10" name="Rectangle 8"/>
            <p:cNvSpPr>
              <a:spLocks noChangeArrowheads="1"/>
            </p:cNvSpPr>
            <p:nvPr/>
          </p:nvSpPr>
          <p:spPr bwMode="auto">
            <a:xfrm>
              <a:off x="1000" y="1528"/>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P(empty);</a:t>
              </a:r>
            </a:p>
          </p:txBody>
        </p:sp>
        <p:sp>
          <p:nvSpPr>
            <p:cNvPr id="11" name="Rectangle 9"/>
            <p:cNvSpPr>
              <a:spLocks noChangeArrowheads="1"/>
            </p:cNvSpPr>
            <p:nvPr/>
          </p:nvSpPr>
          <p:spPr bwMode="auto">
            <a:xfrm>
              <a:off x="1000" y="1815"/>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a:t>
              </a:r>
              <a:r>
                <a:rPr lang="en-US" altLang="zh-CN" sz="2000" b="1" dirty="0" err="1">
                  <a:latin typeface="+mn-lt"/>
                  <a:ea typeface="楷体" panose="02010609060101010101" pitchFamily="49" charset="-122"/>
                </a:rPr>
                <a:t>mutex</a:t>
              </a:r>
              <a:r>
                <a:rPr lang="en-US" altLang="zh-CN" sz="2000" b="1" dirty="0">
                  <a:latin typeface="+mn-lt"/>
                  <a:ea typeface="楷体" panose="02010609060101010101" pitchFamily="49" charset="-122"/>
                </a:rPr>
                <a:t>);</a:t>
              </a:r>
            </a:p>
          </p:txBody>
        </p:sp>
        <p:sp>
          <p:nvSpPr>
            <p:cNvPr id="12" name="Rectangle 10"/>
            <p:cNvSpPr>
              <a:spLocks noChangeArrowheads="1"/>
            </p:cNvSpPr>
            <p:nvPr/>
          </p:nvSpPr>
          <p:spPr bwMode="auto">
            <a:xfrm>
              <a:off x="1000" y="2096"/>
              <a:ext cx="15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chemeClr val="folHlink"/>
                  </a:solidFill>
                  <a:latin typeface="+mn-lt"/>
                  <a:ea typeface="楷体" panose="02010609060101010101" pitchFamily="49" charset="-122"/>
                </a:rPr>
                <a:t> </a:t>
              </a:r>
              <a:r>
                <a:rPr lang="en-US" altLang="zh-CN" sz="2000" b="1">
                  <a:latin typeface="+mn-lt"/>
                  <a:ea typeface="楷体" panose="02010609060101010101" pitchFamily="49" charset="-122"/>
                </a:rPr>
                <a:t>one unit</a:t>
              </a:r>
              <a:r>
                <a:rPr lang="en-US" altLang="zh-CN" sz="2000" b="1">
                  <a:latin typeface="+mn-lt"/>
                  <a:ea typeface="楷体" panose="02010609060101010101" pitchFamily="49" charset="-122"/>
                  <a:sym typeface="Symbol" panose="05050102010706020507" pitchFamily="18" charset="2"/>
                </a:rPr>
                <a:t></a:t>
              </a:r>
              <a:r>
                <a:rPr lang="en-US" altLang="zh-CN" sz="2000" b="1">
                  <a:latin typeface="+mn-lt"/>
                  <a:ea typeface="楷体" panose="02010609060101010101" pitchFamily="49" charset="-122"/>
                </a:rPr>
                <a:t>buf;</a:t>
              </a:r>
            </a:p>
          </p:txBody>
        </p:sp>
        <p:sp>
          <p:nvSpPr>
            <p:cNvPr id="13" name="Rectangle 11"/>
            <p:cNvSpPr>
              <a:spLocks noChangeArrowheads="1"/>
            </p:cNvSpPr>
            <p:nvPr/>
          </p:nvSpPr>
          <p:spPr bwMode="auto">
            <a:xfrm>
              <a:off x="1000" y="2372"/>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V(mutex);</a:t>
              </a:r>
            </a:p>
          </p:txBody>
        </p:sp>
        <p:sp>
          <p:nvSpPr>
            <p:cNvPr id="14" name="Rectangle 12"/>
            <p:cNvSpPr>
              <a:spLocks noChangeArrowheads="1"/>
            </p:cNvSpPr>
            <p:nvPr/>
          </p:nvSpPr>
          <p:spPr bwMode="auto">
            <a:xfrm>
              <a:off x="1000" y="2660"/>
              <a:ext cx="7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V(full);</a:t>
              </a:r>
            </a:p>
          </p:txBody>
        </p:sp>
        <p:sp>
          <p:nvSpPr>
            <p:cNvPr id="15" name="Rectangle 13"/>
            <p:cNvSpPr>
              <a:spLocks noChangeArrowheads="1"/>
            </p:cNvSpPr>
            <p:nvPr/>
          </p:nvSpPr>
          <p:spPr bwMode="auto">
            <a:xfrm>
              <a:off x="2640" y="1812"/>
              <a:ext cx="7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latin typeface="+mn-lt"/>
                  <a:ea typeface="楷体" panose="02010609060101010101" pitchFamily="49" charset="-122"/>
                </a:rPr>
                <a:t>P(full);</a:t>
              </a:r>
            </a:p>
          </p:txBody>
        </p:sp>
        <p:sp>
          <p:nvSpPr>
            <p:cNvPr id="16" name="Rectangle 14"/>
            <p:cNvSpPr>
              <a:spLocks noChangeArrowheads="1"/>
            </p:cNvSpPr>
            <p:nvPr/>
          </p:nvSpPr>
          <p:spPr bwMode="auto">
            <a:xfrm>
              <a:off x="2640" y="1524"/>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latin typeface="+mn-lt"/>
                  <a:ea typeface="楷体" panose="02010609060101010101" pitchFamily="49" charset="-122"/>
                </a:rPr>
                <a:t>P(mutex);</a:t>
              </a:r>
            </a:p>
          </p:txBody>
        </p:sp>
        <p:sp>
          <p:nvSpPr>
            <p:cNvPr id="17" name="Rectangle 15"/>
            <p:cNvSpPr>
              <a:spLocks noChangeArrowheads="1"/>
            </p:cNvSpPr>
            <p:nvPr/>
          </p:nvSpPr>
          <p:spPr bwMode="auto">
            <a:xfrm>
              <a:off x="3838" y="1815"/>
              <a:ext cx="7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a:t>
              </a:r>
              <a:r>
                <a:rPr lang="zh-CN" altLang="en-US" sz="2000" b="1">
                  <a:latin typeface="+mn-lt"/>
                  <a:ea typeface="楷体" panose="02010609060101010101" pitchFamily="49" charset="-122"/>
                </a:rPr>
                <a:t>进入区</a:t>
              </a:r>
            </a:p>
          </p:txBody>
        </p:sp>
        <p:sp>
          <p:nvSpPr>
            <p:cNvPr id="18" name="Rectangle 16"/>
            <p:cNvSpPr>
              <a:spLocks noChangeArrowheads="1"/>
            </p:cNvSpPr>
            <p:nvPr/>
          </p:nvSpPr>
          <p:spPr bwMode="auto">
            <a:xfrm>
              <a:off x="2688" y="2088"/>
              <a:ext cx="156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chemeClr val="folHlink"/>
                  </a:solidFill>
                  <a:latin typeface="+mn-lt"/>
                  <a:ea typeface="楷体" panose="02010609060101010101" pitchFamily="49" charset="-122"/>
                </a:rPr>
                <a:t> </a:t>
              </a:r>
              <a:r>
                <a:rPr lang="en-US" altLang="zh-CN" sz="2000" b="1">
                  <a:latin typeface="+mn-lt"/>
                  <a:ea typeface="楷体" panose="02010609060101010101" pitchFamily="49" charset="-122"/>
                </a:rPr>
                <a:t>one unit</a:t>
              </a:r>
              <a:r>
                <a:rPr lang="en-US" altLang="zh-CN" sz="2000" b="1">
                  <a:latin typeface="+mn-lt"/>
                  <a:ea typeface="楷体" panose="02010609060101010101" pitchFamily="49" charset="-122"/>
                  <a:sym typeface="Symbol" panose="05050102010706020507" pitchFamily="18" charset="2"/>
                </a:rPr>
                <a:t></a:t>
              </a:r>
              <a:r>
                <a:rPr lang="en-US" altLang="zh-CN" sz="2000" b="1">
                  <a:latin typeface="+mn-lt"/>
                  <a:ea typeface="楷体" panose="02010609060101010101" pitchFamily="49" charset="-122"/>
                </a:rPr>
                <a:t>buf;</a:t>
              </a:r>
            </a:p>
          </p:txBody>
        </p:sp>
        <p:sp>
          <p:nvSpPr>
            <p:cNvPr id="19" name="Rectangle 17"/>
            <p:cNvSpPr>
              <a:spLocks noChangeArrowheads="1"/>
            </p:cNvSpPr>
            <p:nvPr/>
          </p:nvSpPr>
          <p:spPr bwMode="auto">
            <a:xfrm>
              <a:off x="2642" y="2372"/>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V(mutex);</a:t>
              </a:r>
            </a:p>
          </p:txBody>
        </p:sp>
        <p:sp>
          <p:nvSpPr>
            <p:cNvPr id="20" name="Rectangle 18"/>
            <p:cNvSpPr>
              <a:spLocks noChangeArrowheads="1"/>
            </p:cNvSpPr>
            <p:nvPr/>
          </p:nvSpPr>
          <p:spPr bwMode="auto">
            <a:xfrm>
              <a:off x="2642" y="2660"/>
              <a:ext cx="8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V(empty);</a:t>
              </a:r>
            </a:p>
          </p:txBody>
        </p:sp>
        <p:sp>
          <p:nvSpPr>
            <p:cNvPr id="21" name="Rectangle 19"/>
            <p:cNvSpPr>
              <a:spLocks noChangeArrowheads="1"/>
            </p:cNvSpPr>
            <p:nvPr/>
          </p:nvSpPr>
          <p:spPr bwMode="auto">
            <a:xfrm>
              <a:off x="3838" y="2714"/>
              <a:ext cx="7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楷体" panose="02010609060101010101" pitchFamily="49" charset="-122"/>
                </a:rPr>
                <a:t>//</a:t>
              </a:r>
              <a:r>
                <a:rPr lang="zh-CN" altLang="en-US" sz="2000" b="1">
                  <a:latin typeface="+mn-lt"/>
                  <a:ea typeface="楷体" panose="02010609060101010101" pitchFamily="49" charset="-122"/>
                </a:rPr>
                <a:t>退出区</a:t>
              </a:r>
            </a:p>
          </p:txBody>
        </p:sp>
      </p:grpSp>
      <p:sp>
        <p:nvSpPr>
          <p:cNvPr id="22" name="Rectangle 21"/>
          <p:cNvSpPr/>
          <p:nvPr/>
        </p:nvSpPr>
        <p:spPr>
          <a:xfrm>
            <a:off x="863588" y="4877283"/>
            <a:ext cx="7416824" cy="1394228"/>
          </a:xfrm>
          <a:prstGeom prst="rect">
            <a:avLst/>
          </a:prstGeom>
        </p:spPr>
        <p:txBody>
          <a:bodyPr wrap="square">
            <a:spAutoFit/>
          </a:bodyPr>
          <a:lstStyle/>
          <a:p>
            <a:pPr>
              <a:lnSpc>
                <a:spcPct val="80000"/>
              </a:lnSpc>
              <a:spcBef>
                <a:spcPct val="50000"/>
              </a:spcBef>
            </a:pPr>
            <a:r>
              <a:rPr lang="zh-CN" altLang="en-US" b="1" dirty="0">
                <a:solidFill>
                  <a:srgbClr val="009900"/>
                </a:solidFill>
                <a:ea typeface="楷体" panose="02010609060101010101" pitchFamily="49" charset="-122"/>
              </a:rPr>
              <a:t>当</a:t>
            </a:r>
            <a:r>
              <a:rPr lang="en-US" altLang="zh-CN" b="1" dirty="0">
                <a:solidFill>
                  <a:srgbClr val="009900"/>
                </a:solidFill>
                <a:ea typeface="楷体" panose="02010609060101010101" pitchFamily="49" charset="-122"/>
              </a:rPr>
              <a:t>full=0, </a:t>
            </a:r>
            <a:r>
              <a:rPr lang="en-US" altLang="zh-CN" b="1" dirty="0" err="1">
                <a:solidFill>
                  <a:srgbClr val="009900"/>
                </a:solidFill>
                <a:ea typeface="楷体" panose="02010609060101010101" pitchFamily="49" charset="-122"/>
              </a:rPr>
              <a:t>mutex</a:t>
            </a:r>
            <a:r>
              <a:rPr lang="en-US" altLang="zh-CN" b="1" dirty="0">
                <a:solidFill>
                  <a:srgbClr val="009900"/>
                </a:solidFill>
                <a:ea typeface="楷体" panose="02010609060101010101" pitchFamily="49" charset="-122"/>
              </a:rPr>
              <a:t> = 1</a:t>
            </a:r>
            <a:r>
              <a:rPr lang="zh-CN" altLang="en-US" b="1" dirty="0">
                <a:solidFill>
                  <a:srgbClr val="009900"/>
                </a:solidFill>
                <a:ea typeface="楷体" panose="02010609060101010101" pitchFamily="49" charset="-122"/>
              </a:rPr>
              <a:t>时，执行顺序：</a:t>
            </a:r>
          </a:p>
          <a:p>
            <a:pPr>
              <a:lnSpc>
                <a:spcPct val="80000"/>
              </a:lnSpc>
              <a:spcBef>
                <a:spcPct val="50000"/>
              </a:spcBef>
            </a:pPr>
            <a:r>
              <a:rPr lang="zh-CN" altLang="en-US" b="1" dirty="0">
                <a:solidFill>
                  <a:srgbClr val="009900"/>
                </a:solidFill>
                <a:ea typeface="楷体" panose="02010609060101010101" pitchFamily="49" charset="-122"/>
              </a:rPr>
              <a:t> </a:t>
            </a:r>
            <a:r>
              <a:rPr lang="en-US" altLang="zh-CN" b="1" dirty="0" err="1">
                <a:solidFill>
                  <a:srgbClr val="009900"/>
                </a:solidFill>
                <a:ea typeface="楷体" panose="02010609060101010101" pitchFamily="49" charset="-122"/>
              </a:rPr>
              <a:t>Consumer.P</a:t>
            </a:r>
            <a:r>
              <a:rPr lang="en-US" altLang="zh-CN" b="1" dirty="0">
                <a:solidFill>
                  <a:srgbClr val="009900"/>
                </a:solidFill>
                <a:ea typeface="楷体" panose="02010609060101010101" pitchFamily="49" charset="-122"/>
              </a:rPr>
              <a:t>(</a:t>
            </a:r>
            <a:r>
              <a:rPr lang="en-US" altLang="zh-CN" b="1" dirty="0" err="1">
                <a:solidFill>
                  <a:srgbClr val="009900"/>
                </a:solidFill>
                <a:ea typeface="楷体" panose="02010609060101010101" pitchFamily="49" charset="-122"/>
              </a:rPr>
              <a:t>mutex</a:t>
            </a:r>
            <a:r>
              <a:rPr lang="en-US" altLang="zh-CN" b="1" dirty="0">
                <a:solidFill>
                  <a:srgbClr val="009900"/>
                </a:solidFill>
                <a:ea typeface="楷体" panose="02010609060101010101" pitchFamily="49" charset="-122"/>
              </a:rPr>
              <a:t>) ; </a:t>
            </a:r>
            <a:r>
              <a:rPr lang="en-US" altLang="zh-CN" b="1" dirty="0" err="1">
                <a:solidFill>
                  <a:srgbClr val="009900"/>
                </a:solidFill>
                <a:ea typeface="楷体" panose="02010609060101010101" pitchFamily="49" charset="-122"/>
              </a:rPr>
              <a:t>Consumer.P</a:t>
            </a:r>
            <a:r>
              <a:rPr lang="en-US" altLang="zh-CN" b="1" dirty="0">
                <a:solidFill>
                  <a:srgbClr val="009900"/>
                </a:solidFill>
                <a:ea typeface="楷体" panose="02010609060101010101" pitchFamily="49" charset="-122"/>
              </a:rPr>
              <a:t>(full);    </a:t>
            </a:r>
            <a:r>
              <a:rPr lang="en-US" altLang="zh-CN" sz="1050" b="1" dirty="0">
                <a:solidFill>
                  <a:srgbClr val="FF0000"/>
                </a:solidFill>
                <a:ea typeface="楷体" panose="02010609060101010101" pitchFamily="49" charset="-122"/>
              </a:rPr>
              <a:t>// C</a:t>
            </a:r>
            <a:r>
              <a:rPr lang="zh-CN" altLang="en-US" sz="1050" b="1" dirty="0">
                <a:solidFill>
                  <a:srgbClr val="FF0000"/>
                </a:solidFill>
                <a:ea typeface="楷体" panose="02010609060101010101" pitchFamily="49" charset="-122"/>
              </a:rPr>
              <a:t>阻塞，等待</a:t>
            </a:r>
            <a:r>
              <a:rPr lang="en-US" altLang="zh-CN" sz="1050" b="1" dirty="0">
                <a:solidFill>
                  <a:srgbClr val="FF0000"/>
                </a:solidFill>
                <a:ea typeface="楷体" panose="02010609060101010101" pitchFamily="49" charset="-122"/>
              </a:rPr>
              <a:t>Producer </a:t>
            </a:r>
            <a:r>
              <a:rPr lang="zh-CN" altLang="en-US" sz="1050" b="1" dirty="0">
                <a:solidFill>
                  <a:srgbClr val="FF0000"/>
                </a:solidFill>
                <a:ea typeface="楷体" panose="02010609060101010101" pitchFamily="49" charset="-122"/>
              </a:rPr>
              <a:t>发出的</a:t>
            </a:r>
            <a:r>
              <a:rPr lang="en-US" altLang="zh-CN" sz="1050" b="1" dirty="0">
                <a:solidFill>
                  <a:srgbClr val="FF0000"/>
                </a:solidFill>
                <a:ea typeface="楷体" panose="02010609060101010101" pitchFamily="49" charset="-122"/>
              </a:rPr>
              <a:t>full</a:t>
            </a:r>
            <a:r>
              <a:rPr lang="zh-CN" altLang="en-US" sz="1050" b="1" dirty="0">
                <a:solidFill>
                  <a:srgbClr val="FF0000"/>
                </a:solidFill>
                <a:ea typeface="楷体" panose="02010609060101010101" pitchFamily="49" charset="-122"/>
              </a:rPr>
              <a:t>信号</a:t>
            </a:r>
          </a:p>
          <a:p>
            <a:pPr>
              <a:lnSpc>
                <a:spcPct val="80000"/>
              </a:lnSpc>
              <a:spcBef>
                <a:spcPct val="50000"/>
              </a:spcBef>
            </a:pPr>
            <a:r>
              <a:rPr lang="zh-CN" altLang="en-US" b="1" dirty="0">
                <a:solidFill>
                  <a:srgbClr val="009900"/>
                </a:solidFill>
                <a:ea typeface="楷体" panose="02010609060101010101" pitchFamily="49" charset="-122"/>
              </a:rPr>
              <a:t> </a:t>
            </a:r>
            <a:r>
              <a:rPr lang="en-US" altLang="zh-CN" b="1" dirty="0" err="1">
                <a:solidFill>
                  <a:srgbClr val="009900"/>
                </a:solidFill>
                <a:ea typeface="楷体" panose="02010609060101010101" pitchFamily="49" charset="-122"/>
              </a:rPr>
              <a:t>Producer.P</a:t>
            </a:r>
            <a:r>
              <a:rPr lang="en-US" altLang="zh-CN" b="1" dirty="0">
                <a:solidFill>
                  <a:srgbClr val="009900"/>
                </a:solidFill>
                <a:ea typeface="楷体" panose="02010609060101010101" pitchFamily="49" charset="-122"/>
              </a:rPr>
              <a:t>(empty) ; </a:t>
            </a:r>
            <a:r>
              <a:rPr lang="en-US" altLang="zh-CN" b="1" dirty="0" err="1">
                <a:solidFill>
                  <a:srgbClr val="009900"/>
                </a:solidFill>
                <a:ea typeface="楷体" panose="02010609060101010101" pitchFamily="49" charset="-122"/>
              </a:rPr>
              <a:t>Producer.P</a:t>
            </a:r>
            <a:r>
              <a:rPr lang="en-US" altLang="zh-CN" b="1" dirty="0">
                <a:solidFill>
                  <a:srgbClr val="009900"/>
                </a:solidFill>
                <a:ea typeface="楷体" panose="02010609060101010101" pitchFamily="49" charset="-122"/>
              </a:rPr>
              <a:t>(</a:t>
            </a:r>
            <a:r>
              <a:rPr lang="en-US" altLang="zh-CN" b="1" dirty="0" err="1">
                <a:solidFill>
                  <a:srgbClr val="009900"/>
                </a:solidFill>
                <a:ea typeface="楷体" panose="02010609060101010101" pitchFamily="49" charset="-122"/>
              </a:rPr>
              <a:t>mutex</a:t>
            </a:r>
            <a:r>
              <a:rPr lang="en-US" altLang="zh-CN" b="1" dirty="0">
                <a:solidFill>
                  <a:srgbClr val="009900"/>
                </a:solidFill>
                <a:ea typeface="楷体" panose="02010609060101010101" pitchFamily="49" charset="-122"/>
              </a:rPr>
              <a:t>) ; </a:t>
            </a:r>
            <a:r>
              <a:rPr lang="en-US" altLang="zh-CN" sz="1050" b="1" dirty="0">
                <a:solidFill>
                  <a:srgbClr val="FF0000"/>
                </a:solidFill>
                <a:ea typeface="楷体" panose="02010609060101010101" pitchFamily="49" charset="-122"/>
              </a:rPr>
              <a:t>// P </a:t>
            </a:r>
            <a:r>
              <a:rPr lang="zh-CN" altLang="en-US" sz="1050" b="1" dirty="0">
                <a:solidFill>
                  <a:srgbClr val="FF0000"/>
                </a:solidFill>
                <a:ea typeface="楷体" panose="02010609060101010101" pitchFamily="49" charset="-122"/>
              </a:rPr>
              <a:t>阻塞，等待</a:t>
            </a:r>
            <a:r>
              <a:rPr lang="en-US" altLang="zh-CN" sz="1050" b="1" dirty="0">
                <a:solidFill>
                  <a:srgbClr val="FF0000"/>
                </a:solidFill>
                <a:ea typeface="楷体" panose="02010609060101010101" pitchFamily="49" charset="-122"/>
              </a:rPr>
              <a:t>Consumer</a:t>
            </a:r>
            <a:r>
              <a:rPr lang="zh-CN" altLang="en-US" sz="1050" b="1" dirty="0">
                <a:solidFill>
                  <a:srgbClr val="FF0000"/>
                </a:solidFill>
                <a:ea typeface="楷体" panose="02010609060101010101" pitchFamily="49" charset="-122"/>
              </a:rPr>
              <a:t>发出的</a:t>
            </a:r>
            <a:r>
              <a:rPr lang="en-US" altLang="zh-CN" sz="1050" b="1" dirty="0">
                <a:solidFill>
                  <a:srgbClr val="FF0000"/>
                </a:solidFill>
                <a:ea typeface="楷体" panose="02010609060101010101" pitchFamily="49" charset="-122"/>
              </a:rPr>
              <a:t>empty</a:t>
            </a:r>
            <a:r>
              <a:rPr lang="zh-CN" altLang="en-US" sz="1050" b="1" dirty="0">
                <a:solidFill>
                  <a:srgbClr val="FF0000"/>
                </a:solidFill>
                <a:ea typeface="楷体" panose="02010609060101010101" pitchFamily="49" charset="-122"/>
              </a:rPr>
              <a:t>信号</a:t>
            </a:r>
          </a:p>
          <a:p>
            <a:pPr>
              <a:lnSpc>
                <a:spcPct val="80000"/>
              </a:lnSpc>
              <a:spcBef>
                <a:spcPct val="50000"/>
              </a:spcBef>
            </a:pPr>
            <a:r>
              <a:rPr lang="zh-CN" altLang="en-US" b="1" dirty="0">
                <a:solidFill>
                  <a:srgbClr val="FF0000"/>
                </a:solidFill>
                <a:ea typeface="楷体" panose="02010609060101010101" pitchFamily="49" charset="-122"/>
              </a:rPr>
              <a:t>死锁  ，还有其他的执行序列可以产生死锁吗？</a:t>
            </a:r>
            <a:endParaRPr lang="zh-CN" altLang="en-US" dirty="0">
              <a:ea typeface="楷体" panose="02010609060101010101" pitchFamily="49" charset="-122"/>
            </a:endParaRPr>
          </a:p>
        </p:txBody>
      </p:sp>
    </p:spTree>
    <p:extLst>
      <p:ext uri="{BB962C8B-B14F-4D97-AF65-F5344CB8AC3E}">
        <p14:creationId xmlns:p14="http://schemas.microsoft.com/office/powerpoint/2010/main" val="114900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a:solidFill>
                  <a:schemeClr val="bg1">
                    <a:lumMod val="75000"/>
                  </a:schemeClr>
                </a:solidFill>
              </a:rPr>
              <a:t>互斥问题及其解决办法</a:t>
            </a:r>
            <a:endParaRPr lang="en-US" altLang="zh-CN" dirty="0">
              <a:solidFill>
                <a:schemeClr val="bg1">
                  <a:lumMod val="75000"/>
                </a:schemeClr>
              </a:solidFill>
            </a:endParaRPr>
          </a:p>
          <a:p>
            <a:r>
              <a:rPr lang="zh-CN" altLang="en-US" dirty="0" smtClean="0">
                <a:solidFill>
                  <a:srgbClr val="FF3300"/>
                </a:solidFill>
              </a:rPr>
              <a:t>信号量</a:t>
            </a:r>
            <a:endParaRPr lang="en-US" altLang="zh-CN" dirty="0" smtClean="0">
              <a:solidFill>
                <a:srgbClr val="FF3300"/>
              </a:solidFill>
            </a:endParaRPr>
          </a:p>
          <a:p>
            <a:pPr lvl="1"/>
            <a:r>
              <a:rPr lang="zh-CN" altLang="en-US" dirty="0">
                <a:solidFill>
                  <a:schemeClr val="bg1">
                    <a:lumMod val="75000"/>
                  </a:schemeClr>
                </a:solidFill>
              </a:rPr>
              <a:t>什么是信号量</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用信号量实现进程间互斥</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用信号量实现进程间同步</a:t>
            </a:r>
            <a:endParaRPr lang="en-US" altLang="zh-CN" dirty="0">
              <a:solidFill>
                <a:schemeClr val="bg1">
                  <a:lumMod val="75000"/>
                </a:schemeClr>
              </a:solidFill>
            </a:endParaRPr>
          </a:p>
          <a:p>
            <a:pPr lvl="1"/>
            <a:r>
              <a:rPr lang="zh-CN" altLang="en-US" dirty="0" smtClean="0">
                <a:solidFill>
                  <a:srgbClr val="FF3300"/>
                </a:solidFill>
              </a:rPr>
              <a:t>信号量的实现</a:t>
            </a:r>
            <a:endParaRPr lang="en-US" altLang="zh-CN" dirty="0" smtClean="0">
              <a:solidFill>
                <a:srgbClr val="FF3300"/>
              </a:solidFill>
            </a:endParaRPr>
          </a:p>
          <a:p>
            <a:pPr lvl="1"/>
            <a:r>
              <a:rPr lang="zh-CN" altLang="en-US" dirty="0" smtClean="0">
                <a:solidFill>
                  <a:schemeClr val="bg1">
                    <a:lumMod val="75000"/>
                  </a:schemeClr>
                </a:solidFill>
              </a:rPr>
              <a:t>经典进程同步问题</a:t>
            </a:r>
            <a:endParaRPr lang="en-US" altLang="zh-CN" dirty="0" smtClean="0">
              <a:solidFill>
                <a:schemeClr val="bg1">
                  <a:lumMod val="75000"/>
                </a:schemeClr>
              </a:solidFill>
            </a:endParaRPr>
          </a:p>
          <a:p>
            <a:pPr lvl="1"/>
            <a:r>
              <a:rPr lang="zh-CN" altLang="en-US" dirty="0" smtClean="0">
                <a:solidFill>
                  <a:schemeClr val="bg1">
                    <a:lumMod val="75000"/>
                  </a:schemeClr>
                </a:solidFill>
              </a:rPr>
              <a:t>信号量集</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A149D5EA-7356-4712-B4AF-82C10827AC00}"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69</a:t>
            </a:fld>
            <a:endParaRPr lang="zh-CN" altLang="en-US" dirty="0"/>
          </a:p>
        </p:txBody>
      </p:sp>
    </p:spTree>
    <p:extLst>
      <p:ext uri="{BB962C8B-B14F-4D97-AF65-F5344CB8AC3E}">
        <p14:creationId xmlns:p14="http://schemas.microsoft.com/office/powerpoint/2010/main" val="26285086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P</a:t>
            </a:r>
            <a:r>
              <a:rPr lang="zh-CN" altLang="en-US" dirty="0" smtClean="0"/>
              <a:t>原语的实现</a:t>
            </a:r>
            <a:endParaRPr lang="zh-CN" altLang="en-US" dirty="0"/>
          </a:p>
        </p:txBody>
      </p:sp>
      <p:sp>
        <p:nvSpPr>
          <p:cNvPr id="4" name="Date Placeholder 3"/>
          <p:cNvSpPr>
            <a:spLocks noGrp="1"/>
          </p:cNvSpPr>
          <p:nvPr>
            <p:ph type="dt" sz="half" idx="10"/>
          </p:nvPr>
        </p:nvSpPr>
        <p:spPr/>
        <p:txBody>
          <a:bodyPr/>
          <a:lstStyle/>
          <a:p>
            <a:fld id="{F2E55197-BB0E-4289-9A97-3AF010F5AB5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70</a:t>
            </a:fld>
            <a:endParaRPr lang="zh-CN" altLang="en-US" dirty="0"/>
          </a:p>
        </p:txBody>
      </p:sp>
      <p:sp>
        <p:nvSpPr>
          <p:cNvPr id="7" name="Rectangle 3"/>
          <p:cNvSpPr txBox="1">
            <a:spLocks noChangeArrowheads="1"/>
          </p:cNvSpPr>
          <p:nvPr/>
        </p:nvSpPr>
        <p:spPr>
          <a:xfrm>
            <a:off x="1403648" y="1700808"/>
            <a:ext cx="7086600" cy="4648200"/>
          </a:xfrm>
          <a:prstGeom prst="rect">
            <a:avLst/>
          </a:prstGeom>
          <a:noFill/>
        </p:spPr>
        <p:txBody>
          <a:bodyPr vert="horz" lIns="91440" tIns="45720" rIns="91440" bIns="45720" rtlCol="0">
            <a:normAutofit fontScale="92500" lnSpcReduction="10000"/>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90000"/>
              </a:lnSpc>
              <a:spcBef>
                <a:spcPct val="15000"/>
              </a:spcBef>
              <a:buFontTx/>
              <a:buAutoNum type="arabicPeriod"/>
            </a:pPr>
            <a:r>
              <a:rPr lang="en-US" altLang="zh-CN" dirty="0" smtClean="0">
                <a:latin typeface="+mn-lt"/>
              </a:rPr>
              <a:t>P(s)</a:t>
            </a:r>
          </a:p>
          <a:p>
            <a:pPr marL="609600" indent="-609600">
              <a:lnSpc>
                <a:spcPct val="90000"/>
              </a:lnSpc>
              <a:spcBef>
                <a:spcPct val="15000"/>
              </a:spcBef>
              <a:buFontTx/>
              <a:buAutoNum type="arabicPeriod"/>
            </a:pPr>
            <a:r>
              <a:rPr lang="en-US" altLang="zh-CN" dirty="0" smtClean="0">
                <a:latin typeface="+mn-lt"/>
              </a:rPr>
              <a:t>BEGIN </a:t>
            </a:r>
          </a:p>
          <a:p>
            <a:pPr marL="609600" indent="-609600">
              <a:lnSpc>
                <a:spcPct val="90000"/>
              </a:lnSpc>
              <a:spcBef>
                <a:spcPct val="15000"/>
              </a:spcBef>
              <a:buFontTx/>
              <a:buAutoNum type="arabicPeriod"/>
            </a:pPr>
            <a:r>
              <a:rPr lang="en-US" altLang="zh-CN" dirty="0" smtClean="0">
                <a:latin typeface="+mn-lt"/>
              </a:rPr>
              <a:t>      </a:t>
            </a:r>
            <a:r>
              <a:rPr lang="zh-CN" altLang="en-US" dirty="0" smtClean="0">
                <a:solidFill>
                  <a:srgbClr val="0000FF"/>
                </a:solidFill>
                <a:latin typeface="+mn-lt"/>
              </a:rPr>
              <a:t>封锁中断</a:t>
            </a:r>
          </a:p>
          <a:p>
            <a:pPr marL="609600" indent="-609600">
              <a:lnSpc>
                <a:spcPct val="90000"/>
              </a:lnSpc>
              <a:spcBef>
                <a:spcPct val="15000"/>
              </a:spcBef>
              <a:buFontTx/>
              <a:buAutoNum type="arabicPeriod"/>
            </a:pPr>
            <a:r>
              <a:rPr lang="zh-CN" altLang="en-US" dirty="0" smtClean="0">
                <a:latin typeface="+mn-lt"/>
              </a:rPr>
              <a:t>      </a:t>
            </a:r>
            <a:r>
              <a:rPr lang="en-US" altLang="zh-CN" dirty="0" smtClean="0">
                <a:latin typeface="+mn-lt"/>
              </a:rPr>
              <a:t>lock(</a:t>
            </a:r>
            <a:r>
              <a:rPr lang="en-US" altLang="zh-CN" dirty="0" err="1" smtClean="0">
                <a:latin typeface="+mn-lt"/>
              </a:rPr>
              <a:t>lockbit</a:t>
            </a:r>
            <a:r>
              <a:rPr lang="en-US" altLang="zh-CN" dirty="0" smtClean="0">
                <a:latin typeface="+mn-lt"/>
              </a:rPr>
              <a:t>);</a:t>
            </a:r>
          </a:p>
          <a:p>
            <a:pPr marL="609600" indent="-609600">
              <a:lnSpc>
                <a:spcPct val="90000"/>
              </a:lnSpc>
              <a:spcBef>
                <a:spcPct val="15000"/>
              </a:spcBef>
              <a:buFontTx/>
              <a:buAutoNum type="arabicPeriod"/>
            </a:pPr>
            <a:r>
              <a:rPr lang="en-US" altLang="zh-CN" dirty="0" smtClean="0">
                <a:latin typeface="+mn-lt"/>
              </a:rPr>
              <a:t>      --</a:t>
            </a:r>
            <a:r>
              <a:rPr lang="en-US" altLang="zh-CN" dirty="0" err="1" smtClean="0">
                <a:latin typeface="+mn-lt"/>
              </a:rPr>
              <a:t>s.count</a:t>
            </a:r>
            <a:r>
              <a:rPr lang="en-US" altLang="zh-CN" dirty="0" smtClean="0">
                <a:latin typeface="+mn-lt"/>
              </a:rPr>
              <a:t>;</a:t>
            </a:r>
            <a:r>
              <a:rPr lang="en-US" altLang="zh-CN" dirty="0">
                <a:latin typeface="+mn-lt"/>
              </a:rPr>
              <a:t> </a:t>
            </a:r>
            <a:r>
              <a:rPr lang="en-US" altLang="zh-CN" dirty="0" smtClean="0">
                <a:latin typeface="+mn-lt"/>
              </a:rPr>
              <a:t>                     </a:t>
            </a:r>
            <a:r>
              <a:rPr lang="en-US" altLang="zh-CN" dirty="0" smtClean="0">
                <a:solidFill>
                  <a:srgbClr val="009900"/>
                </a:solidFill>
                <a:latin typeface="+mn-lt"/>
              </a:rPr>
              <a:t>//</a:t>
            </a:r>
            <a:r>
              <a:rPr lang="zh-CN" altLang="en-US" dirty="0" smtClean="0">
                <a:solidFill>
                  <a:srgbClr val="009900"/>
                </a:solidFill>
                <a:latin typeface="+mn-lt"/>
              </a:rPr>
              <a:t>表示申请一个资源</a:t>
            </a:r>
            <a:r>
              <a:rPr lang="en-US" altLang="zh-CN" dirty="0" smtClean="0">
                <a:solidFill>
                  <a:srgbClr val="009900"/>
                </a:solidFill>
                <a:latin typeface="+mn-lt"/>
              </a:rPr>
              <a:t>;</a:t>
            </a:r>
          </a:p>
          <a:p>
            <a:pPr marL="609600" indent="-609600">
              <a:lnSpc>
                <a:spcPct val="90000"/>
              </a:lnSpc>
              <a:buFontTx/>
              <a:buNone/>
            </a:pPr>
            <a:r>
              <a:rPr lang="en-US" altLang="zh-CN" dirty="0" smtClean="0">
                <a:latin typeface="+mn-lt"/>
              </a:rPr>
              <a:t>             if (</a:t>
            </a:r>
            <a:r>
              <a:rPr lang="en-US" altLang="zh-CN" dirty="0" err="1" smtClean="0">
                <a:latin typeface="+mn-lt"/>
              </a:rPr>
              <a:t>s.count</a:t>
            </a:r>
            <a:r>
              <a:rPr lang="en-US" altLang="zh-CN" dirty="0" smtClean="0">
                <a:latin typeface="+mn-lt"/>
              </a:rPr>
              <a:t> &lt;0)	           </a:t>
            </a:r>
            <a:r>
              <a:rPr lang="en-US" altLang="zh-CN" dirty="0" smtClean="0">
                <a:solidFill>
                  <a:srgbClr val="009900"/>
                </a:solidFill>
                <a:latin typeface="+mn-lt"/>
              </a:rPr>
              <a:t>//</a:t>
            </a:r>
            <a:r>
              <a:rPr lang="zh-CN" altLang="en-US" dirty="0" smtClean="0">
                <a:solidFill>
                  <a:srgbClr val="009900"/>
                </a:solidFill>
                <a:latin typeface="+mn-lt"/>
              </a:rPr>
              <a:t>表示没有空闲资源</a:t>
            </a:r>
            <a:r>
              <a:rPr lang="en-US" altLang="zh-CN" dirty="0" smtClean="0">
                <a:solidFill>
                  <a:srgbClr val="009900"/>
                </a:solidFill>
                <a:latin typeface="+mn-lt"/>
              </a:rPr>
              <a:t>;</a:t>
            </a:r>
          </a:p>
          <a:p>
            <a:pPr marL="609600" indent="-609600">
              <a:lnSpc>
                <a:spcPct val="90000"/>
              </a:lnSpc>
              <a:buFontTx/>
              <a:buNone/>
            </a:pPr>
            <a:r>
              <a:rPr lang="en-US" altLang="zh-CN" dirty="0" smtClean="0">
                <a:latin typeface="+mn-lt"/>
              </a:rPr>
              <a:t>              {  </a:t>
            </a:r>
            <a:r>
              <a:rPr lang="zh-CN" altLang="en-US" dirty="0" smtClean="0">
                <a:latin typeface="+mn-lt"/>
              </a:rPr>
              <a:t>调用进程进入等待队列</a:t>
            </a:r>
            <a:r>
              <a:rPr lang="en-US" altLang="zh-CN" dirty="0" err="1" smtClean="0">
                <a:latin typeface="+mn-lt"/>
              </a:rPr>
              <a:t>s.queue</a:t>
            </a:r>
            <a:r>
              <a:rPr lang="en-US" altLang="zh-CN" dirty="0" smtClean="0">
                <a:latin typeface="+mn-lt"/>
              </a:rPr>
              <a:t>;</a:t>
            </a:r>
          </a:p>
          <a:p>
            <a:pPr marL="609600" indent="-609600">
              <a:lnSpc>
                <a:spcPct val="90000"/>
              </a:lnSpc>
              <a:buFontTx/>
              <a:buNone/>
            </a:pPr>
            <a:r>
              <a:rPr lang="en-US" altLang="zh-CN" dirty="0" smtClean="0">
                <a:latin typeface="+mn-lt"/>
              </a:rPr>
              <a:t>                  </a:t>
            </a:r>
            <a:r>
              <a:rPr lang="zh-CN" altLang="en-US" dirty="0" smtClean="0">
                <a:latin typeface="+mn-lt"/>
              </a:rPr>
              <a:t>阻塞调用进程</a:t>
            </a:r>
            <a:r>
              <a:rPr lang="en-US" altLang="zh-CN" dirty="0" smtClean="0">
                <a:latin typeface="+mn-lt"/>
              </a:rPr>
              <a:t>;</a:t>
            </a:r>
          </a:p>
          <a:p>
            <a:pPr marL="609600" indent="-609600">
              <a:lnSpc>
                <a:spcPct val="90000"/>
              </a:lnSpc>
              <a:buFontTx/>
              <a:buNone/>
            </a:pPr>
            <a:r>
              <a:rPr lang="en-US" altLang="zh-CN" dirty="0" smtClean="0">
                <a:latin typeface="+mn-lt"/>
              </a:rPr>
              <a:t>               }</a:t>
            </a:r>
          </a:p>
          <a:p>
            <a:pPr marL="609600" indent="-609600">
              <a:lnSpc>
                <a:spcPct val="90000"/>
              </a:lnSpc>
              <a:spcBef>
                <a:spcPct val="15000"/>
              </a:spcBef>
              <a:buFontTx/>
              <a:buAutoNum type="arabicPeriod" startAt="6"/>
            </a:pPr>
            <a:r>
              <a:rPr lang="en-US" altLang="zh-CN" dirty="0" smtClean="0">
                <a:latin typeface="+mn-lt"/>
              </a:rPr>
              <a:t>     unlock(</a:t>
            </a:r>
            <a:r>
              <a:rPr lang="en-US" altLang="zh-CN" dirty="0" err="1" smtClean="0">
                <a:latin typeface="+mn-lt"/>
              </a:rPr>
              <a:t>lockbit</a:t>
            </a:r>
            <a:r>
              <a:rPr lang="en-US" altLang="zh-CN" dirty="0" smtClean="0">
                <a:latin typeface="+mn-lt"/>
              </a:rPr>
              <a:t>)</a:t>
            </a:r>
          </a:p>
          <a:p>
            <a:pPr marL="609600" indent="-609600">
              <a:lnSpc>
                <a:spcPct val="90000"/>
              </a:lnSpc>
              <a:spcBef>
                <a:spcPct val="15000"/>
              </a:spcBef>
              <a:buFontTx/>
              <a:buAutoNum type="arabicPeriod" startAt="6"/>
            </a:pPr>
            <a:r>
              <a:rPr lang="en-US" altLang="zh-CN" dirty="0" smtClean="0">
                <a:latin typeface="+mn-lt"/>
              </a:rPr>
              <a:t>    </a:t>
            </a:r>
            <a:r>
              <a:rPr lang="zh-CN" altLang="en-US" dirty="0" smtClean="0">
                <a:solidFill>
                  <a:srgbClr val="0000FF"/>
                </a:solidFill>
                <a:latin typeface="+mn-lt"/>
              </a:rPr>
              <a:t>开放中断</a:t>
            </a:r>
          </a:p>
          <a:p>
            <a:pPr marL="609600" indent="-609600">
              <a:lnSpc>
                <a:spcPct val="90000"/>
              </a:lnSpc>
              <a:spcBef>
                <a:spcPct val="15000"/>
              </a:spcBef>
              <a:buFontTx/>
              <a:buAutoNum type="arabicPeriod" startAt="6"/>
            </a:pPr>
            <a:r>
              <a:rPr lang="en-US" altLang="zh-CN" dirty="0" smtClean="0">
                <a:latin typeface="+mn-lt"/>
              </a:rPr>
              <a:t>END;</a:t>
            </a:r>
          </a:p>
        </p:txBody>
      </p:sp>
    </p:spTree>
    <p:extLst>
      <p:ext uri="{BB962C8B-B14F-4D97-AF65-F5344CB8AC3E}">
        <p14:creationId xmlns:p14="http://schemas.microsoft.com/office/powerpoint/2010/main" val="427278970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V</a:t>
            </a:r>
            <a:r>
              <a:rPr lang="zh-CN" altLang="en-US" dirty="0" smtClean="0"/>
              <a:t>原语的实现</a:t>
            </a:r>
            <a:endParaRPr lang="zh-CN" altLang="en-US" dirty="0"/>
          </a:p>
        </p:txBody>
      </p:sp>
      <p:sp>
        <p:nvSpPr>
          <p:cNvPr id="4" name="Date Placeholder 3"/>
          <p:cNvSpPr>
            <a:spLocks noGrp="1"/>
          </p:cNvSpPr>
          <p:nvPr>
            <p:ph type="dt" sz="half" idx="10"/>
          </p:nvPr>
        </p:nvSpPr>
        <p:spPr/>
        <p:txBody>
          <a:bodyPr/>
          <a:lstStyle/>
          <a:p>
            <a:fld id="{630193AD-34A6-4462-B9D1-773C951DDAE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71</a:t>
            </a:fld>
            <a:endParaRPr lang="zh-CN" altLang="en-US" dirty="0"/>
          </a:p>
        </p:txBody>
      </p:sp>
      <p:sp>
        <p:nvSpPr>
          <p:cNvPr id="7" name="Rectangle 5"/>
          <p:cNvSpPr txBox="1">
            <a:spLocks noChangeArrowheads="1"/>
          </p:cNvSpPr>
          <p:nvPr/>
        </p:nvSpPr>
        <p:spPr>
          <a:xfrm>
            <a:off x="1475656" y="1772816"/>
            <a:ext cx="6762328" cy="4540250"/>
          </a:xfrm>
          <a:prstGeom prst="rect">
            <a:avLst/>
          </a:prstGeom>
          <a:noFill/>
        </p:spPr>
        <p:txBody>
          <a:bodyPr vert="horz" lIns="91440" tIns="45720" rIns="91440" bIns="45720" rtlCol="0">
            <a:normAutofit/>
          </a:bodyPr>
          <a:lstStyle>
            <a:lvl1pPr marL="342900" indent="-342900" algn="l" defTabSz="914400" rtl="0" eaLnBrk="1" latinLnBrk="0" hangingPunct="1">
              <a:spcBef>
                <a:spcPts val="1200"/>
              </a:spcBef>
              <a:buFont typeface="Arial" pitchFamily="34" charset="0"/>
              <a:buChar char="•"/>
              <a:defRPr sz="2400" b="1" kern="1200">
                <a:solidFill>
                  <a:schemeClr val="tx1"/>
                </a:solidFill>
                <a:latin typeface="Times New Roman" pitchFamily="18" charset="0"/>
                <a:ea typeface="楷体" pitchFamily="49" charset="-122"/>
                <a:cs typeface="Times New Roman" pitchFamily="18" charset="0"/>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Times New Roman" pitchFamily="18" charset="0"/>
                <a:ea typeface="楷体" pitchFamily="49" charset="-122"/>
                <a:cs typeface="Times New Roman"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楷体" pitchFamily="49" charset="-122"/>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80000"/>
              </a:lnSpc>
              <a:spcBef>
                <a:spcPct val="15000"/>
              </a:spcBef>
              <a:buFontTx/>
              <a:buAutoNum type="arabicPeriod"/>
            </a:pPr>
            <a:r>
              <a:rPr lang="en-US" altLang="zh-CN" dirty="0" smtClean="0">
                <a:latin typeface="+mn-lt"/>
              </a:rPr>
              <a:t>V(s)</a:t>
            </a:r>
          </a:p>
          <a:p>
            <a:pPr marL="609600" indent="-609600">
              <a:lnSpc>
                <a:spcPct val="80000"/>
              </a:lnSpc>
              <a:spcBef>
                <a:spcPct val="15000"/>
              </a:spcBef>
              <a:buFontTx/>
              <a:buAutoNum type="arabicPeriod"/>
            </a:pPr>
            <a:r>
              <a:rPr lang="en-US" altLang="zh-CN" dirty="0" smtClean="0">
                <a:latin typeface="+mn-lt"/>
              </a:rPr>
              <a:t>BEGIN</a:t>
            </a:r>
          </a:p>
          <a:p>
            <a:pPr marL="609600" indent="-609600">
              <a:lnSpc>
                <a:spcPct val="80000"/>
              </a:lnSpc>
              <a:spcBef>
                <a:spcPct val="15000"/>
              </a:spcBef>
              <a:buFontTx/>
              <a:buAutoNum type="arabicPeriod"/>
            </a:pPr>
            <a:r>
              <a:rPr lang="en-US" altLang="zh-CN" dirty="0" smtClean="0">
                <a:latin typeface="+mn-lt"/>
              </a:rPr>
              <a:t>      </a:t>
            </a:r>
            <a:r>
              <a:rPr lang="zh-CN" altLang="en-US" dirty="0" smtClean="0">
                <a:solidFill>
                  <a:srgbClr val="0000FF"/>
                </a:solidFill>
                <a:latin typeface="+mn-lt"/>
              </a:rPr>
              <a:t>封锁中断</a:t>
            </a:r>
          </a:p>
          <a:p>
            <a:pPr marL="609600" indent="-609600">
              <a:lnSpc>
                <a:spcPct val="80000"/>
              </a:lnSpc>
              <a:spcBef>
                <a:spcPct val="15000"/>
              </a:spcBef>
              <a:buFontTx/>
              <a:buAutoNum type="arabicPeriod"/>
            </a:pPr>
            <a:r>
              <a:rPr lang="zh-CN" altLang="en-US" dirty="0" smtClean="0">
                <a:latin typeface="+mn-lt"/>
              </a:rPr>
              <a:t>      </a:t>
            </a:r>
            <a:r>
              <a:rPr lang="en-US" altLang="zh-CN" dirty="0" smtClean="0">
                <a:latin typeface="+mn-lt"/>
              </a:rPr>
              <a:t>lock(</a:t>
            </a:r>
            <a:r>
              <a:rPr lang="en-US" altLang="zh-CN" dirty="0" err="1" smtClean="0">
                <a:latin typeface="+mn-lt"/>
              </a:rPr>
              <a:t>lockbit</a:t>
            </a:r>
            <a:r>
              <a:rPr lang="en-US" altLang="zh-CN" dirty="0" smtClean="0">
                <a:latin typeface="+mn-lt"/>
              </a:rPr>
              <a:t>);</a:t>
            </a:r>
          </a:p>
          <a:p>
            <a:pPr marL="609600" indent="-609600">
              <a:lnSpc>
                <a:spcPct val="80000"/>
              </a:lnSpc>
              <a:spcBef>
                <a:spcPct val="15000"/>
              </a:spcBef>
              <a:buFontTx/>
              <a:buAutoNum type="arabicPeriod"/>
            </a:pPr>
            <a:r>
              <a:rPr lang="en-US" altLang="zh-CN" dirty="0" smtClean="0">
                <a:latin typeface="+mn-lt"/>
              </a:rPr>
              <a:t>      ++</a:t>
            </a:r>
            <a:r>
              <a:rPr lang="en-US" altLang="zh-CN" dirty="0" err="1" smtClean="0">
                <a:latin typeface="+mn-lt"/>
              </a:rPr>
              <a:t>s.count</a:t>
            </a:r>
            <a:r>
              <a:rPr lang="en-US" altLang="zh-CN" dirty="0" smtClean="0">
                <a:latin typeface="+mn-lt"/>
              </a:rPr>
              <a:t>;		</a:t>
            </a:r>
          </a:p>
          <a:p>
            <a:pPr marL="609600" indent="-609600">
              <a:lnSpc>
                <a:spcPct val="80000"/>
              </a:lnSpc>
              <a:spcBef>
                <a:spcPct val="15000"/>
              </a:spcBef>
              <a:buFontTx/>
              <a:buAutoNum type="arabicPeriod"/>
            </a:pPr>
            <a:r>
              <a:rPr lang="en-US" altLang="zh-CN" dirty="0" smtClean="0">
                <a:latin typeface="+mn-lt"/>
              </a:rPr>
              <a:t>      if (</a:t>
            </a:r>
            <a:r>
              <a:rPr lang="en-US" altLang="zh-CN" dirty="0" err="1" smtClean="0">
                <a:latin typeface="+mn-lt"/>
              </a:rPr>
              <a:t>s.count</a:t>
            </a:r>
            <a:r>
              <a:rPr lang="en-US" altLang="zh-CN" dirty="0" smtClean="0">
                <a:latin typeface="+mn-lt"/>
              </a:rPr>
              <a:t> &lt;= 0)</a:t>
            </a:r>
          </a:p>
          <a:p>
            <a:pPr marL="609600" indent="-609600">
              <a:lnSpc>
                <a:spcPct val="80000"/>
              </a:lnSpc>
              <a:spcBef>
                <a:spcPct val="15000"/>
              </a:spcBef>
              <a:buFontTx/>
              <a:buAutoNum type="arabicPeriod"/>
            </a:pPr>
            <a:r>
              <a:rPr lang="en-US" altLang="zh-CN" dirty="0" smtClean="0">
                <a:latin typeface="+mn-lt"/>
              </a:rPr>
              <a:t>        {</a:t>
            </a:r>
            <a:r>
              <a:rPr lang="zh-CN" altLang="en-US" dirty="0" smtClean="0">
                <a:latin typeface="+mn-lt"/>
              </a:rPr>
              <a:t>从等待队列</a:t>
            </a:r>
            <a:r>
              <a:rPr lang="en-US" altLang="zh-CN" dirty="0" err="1" smtClean="0">
                <a:latin typeface="+mn-lt"/>
              </a:rPr>
              <a:t>s.queue</a:t>
            </a:r>
            <a:r>
              <a:rPr lang="zh-CN" altLang="en-US" dirty="0" smtClean="0">
                <a:latin typeface="+mn-lt"/>
              </a:rPr>
              <a:t>中取出一个进程</a:t>
            </a:r>
            <a:r>
              <a:rPr lang="en-US" altLang="zh-CN" dirty="0" smtClean="0">
                <a:latin typeface="+mn-lt"/>
              </a:rPr>
              <a:t>P;</a:t>
            </a:r>
          </a:p>
          <a:p>
            <a:pPr marL="1752600" lvl="3" indent="-381000">
              <a:lnSpc>
                <a:spcPct val="80000"/>
              </a:lnSpc>
              <a:buFontTx/>
              <a:buNone/>
            </a:pPr>
            <a:r>
              <a:rPr lang="zh-CN" altLang="en-US" sz="2400" b="1" dirty="0" smtClean="0">
                <a:latin typeface="+mn-lt"/>
              </a:rPr>
              <a:t>进程</a:t>
            </a:r>
            <a:r>
              <a:rPr lang="en-US" altLang="zh-CN" sz="2400" b="1" dirty="0" smtClean="0">
                <a:latin typeface="+mn-lt"/>
              </a:rPr>
              <a:t>P</a:t>
            </a:r>
            <a:r>
              <a:rPr lang="zh-CN" altLang="en-US" sz="2400" b="1" dirty="0" smtClean="0">
                <a:latin typeface="+mn-lt"/>
              </a:rPr>
              <a:t>进入就绪队列</a:t>
            </a:r>
            <a:r>
              <a:rPr lang="en-US" altLang="zh-CN" sz="2400" b="1" dirty="0" smtClean="0">
                <a:latin typeface="+mn-lt"/>
              </a:rPr>
              <a:t>;</a:t>
            </a:r>
          </a:p>
          <a:p>
            <a:pPr marL="609600" indent="-609600">
              <a:lnSpc>
                <a:spcPct val="80000"/>
              </a:lnSpc>
              <a:buFontTx/>
              <a:buNone/>
            </a:pPr>
            <a:r>
              <a:rPr lang="en-US" altLang="zh-CN" dirty="0" smtClean="0">
                <a:latin typeface="+mn-lt"/>
              </a:rPr>
              <a:t>                }</a:t>
            </a:r>
          </a:p>
          <a:p>
            <a:pPr marL="609600" indent="-609600">
              <a:lnSpc>
                <a:spcPct val="80000"/>
              </a:lnSpc>
              <a:spcBef>
                <a:spcPct val="15000"/>
              </a:spcBef>
              <a:buFontTx/>
              <a:buAutoNum type="arabicPeriod" startAt="8"/>
            </a:pPr>
            <a:r>
              <a:rPr lang="en-US" altLang="zh-CN" dirty="0" smtClean="0">
                <a:latin typeface="+mn-lt"/>
              </a:rPr>
              <a:t>     unlock(</a:t>
            </a:r>
            <a:r>
              <a:rPr lang="en-US" altLang="zh-CN" dirty="0" err="1" smtClean="0">
                <a:latin typeface="+mn-lt"/>
              </a:rPr>
              <a:t>lockbit</a:t>
            </a:r>
            <a:r>
              <a:rPr lang="en-US" altLang="zh-CN" dirty="0" smtClean="0">
                <a:latin typeface="+mn-lt"/>
              </a:rPr>
              <a:t>);</a:t>
            </a:r>
          </a:p>
          <a:p>
            <a:pPr marL="609600" indent="-609600">
              <a:lnSpc>
                <a:spcPct val="80000"/>
              </a:lnSpc>
              <a:spcBef>
                <a:spcPct val="15000"/>
              </a:spcBef>
              <a:buFontTx/>
              <a:buAutoNum type="arabicPeriod" startAt="8"/>
            </a:pPr>
            <a:r>
              <a:rPr lang="en-US" altLang="zh-CN" dirty="0" smtClean="0">
                <a:latin typeface="+mn-lt"/>
              </a:rPr>
              <a:t>     </a:t>
            </a:r>
            <a:r>
              <a:rPr lang="zh-CN" altLang="en-US" dirty="0" smtClean="0">
                <a:solidFill>
                  <a:srgbClr val="0000FF"/>
                </a:solidFill>
                <a:latin typeface="+mn-lt"/>
              </a:rPr>
              <a:t>开放中断</a:t>
            </a:r>
          </a:p>
          <a:p>
            <a:pPr marL="609600" indent="-609600">
              <a:lnSpc>
                <a:spcPct val="80000"/>
              </a:lnSpc>
              <a:spcBef>
                <a:spcPct val="15000"/>
              </a:spcBef>
              <a:buFontTx/>
              <a:buAutoNum type="arabicPeriod" startAt="8"/>
            </a:pPr>
            <a:r>
              <a:rPr lang="en-US" altLang="zh-CN" dirty="0" smtClean="0">
                <a:latin typeface="+mn-lt"/>
              </a:rPr>
              <a:t>END;</a:t>
            </a:r>
          </a:p>
        </p:txBody>
      </p:sp>
    </p:spTree>
    <p:extLst>
      <p:ext uri="{BB962C8B-B14F-4D97-AF65-F5344CB8AC3E}">
        <p14:creationId xmlns:p14="http://schemas.microsoft.com/office/powerpoint/2010/main" val="109410602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P</a:t>
            </a:r>
            <a:r>
              <a:rPr lang="zh-CN" altLang="en-US" dirty="0" smtClean="0"/>
              <a:t>、</a:t>
            </a:r>
            <a:r>
              <a:rPr lang="en-US" altLang="zh-CN" dirty="0" smtClean="0"/>
              <a:t>V</a:t>
            </a:r>
            <a:r>
              <a:rPr lang="zh-CN" altLang="en-US" dirty="0" smtClean="0"/>
              <a:t>原语的实现</a:t>
            </a:r>
            <a:endParaRPr lang="zh-CN" altLang="en-US" dirty="0"/>
          </a:p>
        </p:txBody>
      </p:sp>
      <p:sp>
        <p:nvSpPr>
          <p:cNvPr id="3" name="Content Placeholder 2"/>
          <p:cNvSpPr>
            <a:spLocks noGrp="1"/>
          </p:cNvSpPr>
          <p:nvPr>
            <p:ph idx="1"/>
          </p:nvPr>
        </p:nvSpPr>
        <p:spPr/>
        <p:txBody>
          <a:bodyPr/>
          <a:lstStyle/>
          <a:p>
            <a:r>
              <a:rPr lang="en-US" altLang="zh-CN" dirty="0" smtClean="0"/>
              <a:t>P</a:t>
            </a:r>
            <a:r>
              <a:rPr lang="zh-CN" altLang="en-US" dirty="0" smtClean="0"/>
              <a:t>、</a:t>
            </a:r>
            <a:r>
              <a:rPr lang="en-US" altLang="zh-CN" dirty="0" smtClean="0"/>
              <a:t>V</a:t>
            </a:r>
            <a:r>
              <a:rPr lang="zh-CN" altLang="en-US" dirty="0" smtClean="0"/>
              <a:t>原语的实现，通常要借助硬件支持</a:t>
            </a:r>
            <a:endParaRPr lang="en-US" altLang="zh-CN" dirty="0" smtClean="0"/>
          </a:p>
          <a:p>
            <a:r>
              <a:rPr lang="zh-CN" altLang="en-US" dirty="0"/>
              <a:t>执</a:t>
            </a:r>
            <a:r>
              <a:rPr lang="zh-CN" altLang="en-US" dirty="0" smtClean="0"/>
              <a:t>行</a:t>
            </a:r>
            <a:r>
              <a:rPr lang="en-US" altLang="zh-CN" dirty="0" smtClean="0"/>
              <a:t>P</a:t>
            </a:r>
            <a:r>
              <a:rPr lang="zh-CN" altLang="en-US" dirty="0" smtClean="0"/>
              <a:t>原语后，阻塞进程的排队策略决定了是否会造成饥饿现象发生</a:t>
            </a:r>
            <a:endParaRPr lang="zh-CN" altLang="en-US" dirty="0"/>
          </a:p>
        </p:txBody>
      </p:sp>
      <p:sp>
        <p:nvSpPr>
          <p:cNvPr id="4" name="Date Placeholder 3"/>
          <p:cNvSpPr>
            <a:spLocks noGrp="1"/>
          </p:cNvSpPr>
          <p:nvPr>
            <p:ph type="dt" sz="half" idx="10"/>
          </p:nvPr>
        </p:nvSpPr>
        <p:spPr/>
        <p:txBody>
          <a:bodyPr/>
          <a:lstStyle/>
          <a:p>
            <a:fld id="{60BC9D0C-1694-4390-9416-E3E0C305989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72</a:t>
            </a:fld>
            <a:endParaRPr lang="zh-CN" altLang="en-US" dirty="0"/>
          </a:p>
        </p:txBody>
      </p:sp>
    </p:spTree>
    <p:extLst>
      <p:ext uri="{BB962C8B-B14F-4D97-AF65-F5344CB8AC3E}">
        <p14:creationId xmlns:p14="http://schemas.microsoft.com/office/powerpoint/2010/main" val="100484363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7"/>
          <p:cNvGrpSpPr>
            <a:grpSpLocks/>
          </p:cNvGrpSpPr>
          <p:nvPr/>
        </p:nvGrpSpPr>
        <p:grpSpPr bwMode="auto">
          <a:xfrm>
            <a:off x="568325" y="2108206"/>
            <a:ext cx="3787775" cy="3500438"/>
            <a:chOff x="358" y="1616"/>
            <a:chExt cx="2386" cy="2205"/>
          </a:xfrm>
        </p:grpSpPr>
        <p:sp>
          <p:nvSpPr>
            <p:cNvPr id="80907" name="Rectangle 15"/>
            <p:cNvSpPr>
              <a:spLocks noChangeArrowheads="1"/>
            </p:cNvSpPr>
            <p:nvPr/>
          </p:nvSpPr>
          <p:spPr bwMode="auto">
            <a:xfrm>
              <a:off x="386" y="1616"/>
              <a:ext cx="2358" cy="1859"/>
            </a:xfrm>
            <a:prstGeom prst="rect">
              <a:avLst/>
            </a:prstGeom>
            <a:solidFill>
              <a:srgbClr val="FFFF00"/>
            </a:solidFill>
            <a:ln w="9525">
              <a:solidFill>
                <a:srgbClr val="FFFF00"/>
              </a:solidFill>
              <a:miter lim="800000"/>
              <a:headEnd/>
              <a:tailEnd/>
            </a:ln>
            <a:effectLst/>
          </p:spPr>
          <p:txBody>
            <a:bodyPr wrap="none" anchor="ctr"/>
            <a:lstStyle/>
            <a:p>
              <a:endParaRPr lang="zh-CN" altLang="en-US">
                <a:latin typeface="微软雅黑" pitchFamily="34" charset="-122"/>
                <a:ea typeface="微软雅黑" pitchFamily="34" charset="-122"/>
              </a:endParaRPr>
            </a:p>
          </p:txBody>
        </p:sp>
        <p:sp>
          <p:nvSpPr>
            <p:cNvPr id="80908" name="Text Box 7"/>
            <p:cNvSpPr txBox="1">
              <a:spLocks noChangeArrowheads="1"/>
            </p:cNvSpPr>
            <p:nvPr/>
          </p:nvSpPr>
          <p:spPr bwMode="auto">
            <a:xfrm>
              <a:off x="839" y="1661"/>
              <a:ext cx="1542" cy="327"/>
            </a:xfrm>
            <a:prstGeom prst="rect">
              <a:avLst/>
            </a:prstGeom>
            <a:noFill/>
            <a:ln w="9525">
              <a:noFill/>
              <a:miter lim="800000"/>
              <a:headEnd/>
              <a:tailEnd/>
            </a:ln>
            <a:effectLst/>
          </p:spPr>
          <p:txBody>
            <a:bodyPr>
              <a:spAutoFit/>
            </a:bodyPr>
            <a:lstStyle/>
            <a:p>
              <a:pPr>
                <a:spcBef>
                  <a:spcPct val="50000"/>
                </a:spcBef>
              </a:pPr>
              <a:r>
                <a:rPr lang="en-US" altLang="zh-CN" sz="2800" b="1">
                  <a:latin typeface="微软雅黑" pitchFamily="34" charset="-122"/>
                  <a:ea typeface="微软雅黑" pitchFamily="34" charset="-122"/>
                </a:rPr>
                <a:t>S</a:t>
              </a:r>
              <a:r>
                <a:rPr lang="zh-CN" altLang="en-US" sz="2800" b="1">
                  <a:latin typeface="微软雅黑" pitchFamily="34" charset="-122"/>
                  <a:ea typeface="微软雅黑" pitchFamily="34" charset="-122"/>
                </a:rPr>
                <a:t>初始值为</a:t>
              </a:r>
              <a:r>
                <a:rPr lang="en-US" altLang="zh-CN" sz="2800" b="1">
                  <a:latin typeface="微软雅黑" pitchFamily="34" charset="-122"/>
                  <a:ea typeface="微软雅黑" pitchFamily="34" charset="-122"/>
                </a:rPr>
                <a:t>1</a:t>
              </a:r>
            </a:p>
          </p:txBody>
        </p:sp>
        <p:sp>
          <p:nvSpPr>
            <p:cNvPr id="80909" name="Text Box 8"/>
            <p:cNvSpPr txBox="1">
              <a:spLocks noChangeArrowheads="1"/>
            </p:cNvSpPr>
            <p:nvPr/>
          </p:nvSpPr>
          <p:spPr bwMode="auto">
            <a:xfrm>
              <a:off x="358" y="2114"/>
              <a:ext cx="998" cy="1135"/>
            </a:xfrm>
            <a:prstGeom prst="rect">
              <a:avLst/>
            </a:prstGeom>
            <a:noFill/>
            <a:ln w="9525">
              <a:noFill/>
              <a:miter lim="800000"/>
              <a:headEnd/>
              <a:tailEnd/>
            </a:ln>
            <a:effectLst/>
          </p:spPr>
          <p:txBody>
            <a:bodyPr>
              <a:spAutoFit/>
            </a:bodyPr>
            <a:lstStyle/>
            <a:p>
              <a:pPr algn="ctr">
                <a:spcBef>
                  <a:spcPct val="50000"/>
                </a:spcBef>
              </a:pPr>
              <a:r>
                <a:rPr lang="en-US" altLang="zh-CN" sz="2800" b="1">
                  <a:latin typeface="微软雅黑" pitchFamily="34" charset="-122"/>
                  <a:ea typeface="微软雅黑" pitchFamily="34" charset="-122"/>
                </a:rPr>
                <a:t>P(s)</a:t>
              </a:r>
            </a:p>
            <a:p>
              <a:pPr algn="ctr">
                <a:spcBef>
                  <a:spcPct val="50000"/>
                </a:spcBef>
              </a:pPr>
              <a:r>
                <a:rPr lang="zh-CN" altLang="en-US" sz="2800" b="1">
                  <a:latin typeface="微软雅黑" pitchFamily="34" charset="-122"/>
                  <a:ea typeface="微软雅黑" pitchFamily="34" charset="-122"/>
                </a:rPr>
                <a:t>临界区</a:t>
              </a:r>
            </a:p>
            <a:p>
              <a:pPr algn="ctr">
                <a:spcBef>
                  <a:spcPct val="50000"/>
                </a:spcBef>
              </a:pPr>
              <a:r>
                <a:rPr lang="en-US" altLang="zh-CN" sz="2800" b="1">
                  <a:latin typeface="微软雅黑" pitchFamily="34" charset="-122"/>
                  <a:ea typeface="微软雅黑" pitchFamily="34" charset="-122"/>
                </a:rPr>
                <a:t>V(s)</a:t>
              </a:r>
            </a:p>
          </p:txBody>
        </p:sp>
        <p:sp>
          <p:nvSpPr>
            <p:cNvPr id="80910" name="Text Box 9"/>
            <p:cNvSpPr txBox="1">
              <a:spLocks noChangeArrowheads="1"/>
            </p:cNvSpPr>
            <p:nvPr/>
          </p:nvSpPr>
          <p:spPr bwMode="auto">
            <a:xfrm>
              <a:off x="1691" y="2114"/>
              <a:ext cx="998" cy="1135"/>
            </a:xfrm>
            <a:prstGeom prst="rect">
              <a:avLst/>
            </a:prstGeom>
            <a:noFill/>
            <a:ln w="9525">
              <a:noFill/>
              <a:miter lim="800000"/>
              <a:headEnd/>
              <a:tailEnd/>
            </a:ln>
            <a:effectLst/>
          </p:spPr>
          <p:txBody>
            <a:bodyPr>
              <a:spAutoFit/>
            </a:bodyPr>
            <a:lstStyle/>
            <a:p>
              <a:pPr algn="ctr">
                <a:spcBef>
                  <a:spcPct val="50000"/>
                </a:spcBef>
              </a:pPr>
              <a:r>
                <a:rPr lang="en-US" altLang="zh-CN" sz="2800" b="1">
                  <a:latin typeface="微软雅黑" pitchFamily="34" charset="-122"/>
                  <a:ea typeface="微软雅黑" pitchFamily="34" charset="-122"/>
                </a:rPr>
                <a:t>P(s)</a:t>
              </a:r>
            </a:p>
            <a:p>
              <a:pPr algn="ctr">
                <a:spcBef>
                  <a:spcPct val="50000"/>
                </a:spcBef>
              </a:pPr>
              <a:r>
                <a:rPr lang="zh-CN" altLang="en-US" sz="2800" b="1">
                  <a:latin typeface="微软雅黑" pitchFamily="34" charset="-122"/>
                  <a:ea typeface="微软雅黑" pitchFamily="34" charset="-122"/>
                </a:rPr>
                <a:t>临界区</a:t>
              </a:r>
            </a:p>
            <a:p>
              <a:pPr algn="ctr">
                <a:spcBef>
                  <a:spcPct val="50000"/>
                </a:spcBef>
              </a:pPr>
              <a:r>
                <a:rPr lang="en-US" altLang="zh-CN" sz="2800" b="1">
                  <a:latin typeface="微软雅黑" pitchFamily="34" charset="-122"/>
                  <a:ea typeface="微软雅黑" pitchFamily="34" charset="-122"/>
                </a:rPr>
                <a:t>V(s)</a:t>
              </a:r>
            </a:p>
          </p:txBody>
        </p:sp>
        <p:sp>
          <p:nvSpPr>
            <p:cNvPr id="80911" name="Text Box 11"/>
            <p:cNvSpPr txBox="1">
              <a:spLocks noChangeArrowheads="1"/>
            </p:cNvSpPr>
            <p:nvPr/>
          </p:nvSpPr>
          <p:spPr bwMode="auto">
            <a:xfrm>
              <a:off x="1066" y="3494"/>
              <a:ext cx="998" cy="327"/>
            </a:xfrm>
            <a:prstGeom prst="rect">
              <a:avLst/>
            </a:prstGeom>
            <a:noFill/>
            <a:ln w="9525">
              <a:noFill/>
              <a:miter lim="800000"/>
              <a:headEnd/>
              <a:tailEnd/>
            </a:ln>
            <a:effectLst/>
          </p:spPr>
          <p:txBody>
            <a:bodyPr>
              <a:spAutoFit/>
            </a:bodyPr>
            <a:lstStyle/>
            <a:p>
              <a:pPr algn="ctr">
                <a:spcBef>
                  <a:spcPct val="50000"/>
                </a:spcBef>
              </a:pPr>
              <a:r>
                <a:rPr lang="zh-CN" altLang="en-US" sz="2800" b="1">
                  <a:latin typeface="微软雅黑" pitchFamily="34" charset="-122"/>
                  <a:ea typeface="微软雅黑" pitchFamily="34" charset="-122"/>
                </a:rPr>
                <a:t>互斥</a:t>
              </a:r>
            </a:p>
          </p:txBody>
        </p:sp>
        <p:sp>
          <p:nvSpPr>
            <p:cNvPr id="80912" name="Line 12"/>
            <p:cNvSpPr>
              <a:spLocks noChangeShapeType="1"/>
            </p:cNvSpPr>
            <p:nvPr/>
          </p:nvSpPr>
          <p:spPr bwMode="auto">
            <a:xfrm flipH="1">
              <a:off x="1283" y="2577"/>
              <a:ext cx="273" cy="136"/>
            </a:xfrm>
            <a:prstGeom prst="line">
              <a:avLst/>
            </a:prstGeom>
            <a:noFill/>
            <a:ln w="9525">
              <a:solidFill>
                <a:schemeClr val="tx1"/>
              </a:solidFill>
              <a:round/>
              <a:headEnd/>
              <a:tailEnd type="triangle" w="med" len="med"/>
            </a:ln>
            <a:effectLst/>
          </p:spPr>
          <p:txBody>
            <a:bodyPr/>
            <a:lstStyle/>
            <a:p>
              <a:endParaRPr lang="zh-CN" altLang="en-US">
                <a:latin typeface="微软雅黑" pitchFamily="34" charset="-122"/>
                <a:ea typeface="微软雅黑" pitchFamily="34" charset="-122"/>
              </a:endParaRPr>
            </a:p>
          </p:txBody>
        </p:sp>
        <p:sp>
          <p:nvSpPr>
            <p:cNvPr id="80913" name="Line 13"/>
            <p:cNvSpPr>
              <a:spLocks noChangeShapeType="1"/>
            </p:cNvSpPr>
            <p:nvPr/>
          </p:nvSpPr>
          <p:spPr bwMode="auto">
            <a:xfrm flipH="1">
              <a:off x="1510" y="2568"/>
              <a:ext cx="46" cy="227"/>
            </a:xfrm>
            <a:prstGeom prst="line">
              <a:avLst/>
            </a:prstGeom>
            <a:noFill/>
            <a:ln w="9525">
              <a:solidFill>
                <a:schemeClr val="tx1"/>
              </a:solidFill>
              <a:round/>
              <a:headEnd/>
              <a:tailEnd/>
            </a:ln>
            <a:effectLst/>
          </p:spPr>
          <p:txBody>
            <a:bodyPr/>
            <a:lstStyle/>
            <a:p>
              <a:endParaRPr lang="zh-CN" altLang="en-US">
                <a:latin typeface="微软雅黑" pitchFamily="34" charset="-122"/>
                <a:ea typeface="微软雅黑" pitchFamily="34" charset="-122"/>
              </a:endParaRPr>
            </a:p>
          </p:txBody>
        </p:sp>
        <p:sp>
          <p:nvSpPr>
            <p:cNvPr id="80914" name="Line 14"/>
            <p:cNvSpPr>
              <a:spLocks noChangeShapeType="1"/>
            </p:cNvSpPr>
            <p:nvPr/>
          </p:nvSpPr>
          <p:spPr bwMode="auto">
            <a:xfrm flipV="1">
              <a:off x="1510" y="2713"/>
              <a:ext cx="227" cy="91"/>
            </a:xfrm>
            <a:prstGeom prst="line">
              <a:avLst/>
            </a:prstGeom>
            <a:noFill/>
            <a:ln w="9525">
              <a:solidFill>
                <a:schemeClr val="tx1"/>
              </a:solidFill>
              <a:round/>
              <a:headEnd/>
              <a:tailEnd type="triangle" w="med" len="med"/>
            </a:ln>
            <a:effectLst/>
          </p:spPr>
          <p:txBody>
            <a:bodyPr/>
            <a:lstStyle/>
            <a:p>
              <a:endParaRPr lang="zh-CN" altLang="en-US">
                <a:latin typeface="微软雅黑" pitchFamily="34" charset="-122"/>
                <a:ea typeface="微软雅黑" pitchFamily="34" charset="-122"/>
              </a:endParaRPr>
            </a:p>
          </p:txBody>
        </p:sp>
      </p:grpSp>
      <p:sp>
        <p:nvSpPr>
          <p:cNvPr id="80900" name="Rectangle 21"/>
          <p:cNvSpPr>
            <a:spLocks noChangeArrowheads="1"/>
          </p:cNvSpPr>
          <p:nvPr/>
        </p:nvSpPr>
        <p:spPr bwMode="auto">
          <a:xfrm>
            <a:off x="4787900" y="2108206"/>
            <a:ext cx="4032250" cy="2951163"/>
          </a:xfrm>
          <a:prstGeom prst="rect">
            <a:avLst/>
          </a:prstGeom>
          <a:solidFill>
            <a:srgbClr val="00FFFF"/>
          </a:solidFill>
          <a:ln w="9525">
            <a:solidFill>
              <a:srgbClr val="00FFFF"/>
            </a:solidFill>
            <a:miter lim="800000"/>
            <a:headEnd/>
            <a:tailEnd/>
          </a:ln>
          <a:effectLst/>
        </p:spPr>
        <p:txBody>
          <a:bodyPr wrap="none" anchor="ctr"/>
          <a:lstStyle/>
          <a:p>
            <a:endParaRPr lang="zh-CN" altLang="en-US">
              <a:latin typeface="微软雅黑" pitchFamily="34" charset="-122"/>
              <a:ea typeface="微软雅黑" pitchFamily="34" charset="-122"/>
            </a:endParaRPr>
          </a:p>
        </p:txBody>
      </p:sp>
      <p:sp>
        <p:nvSpPr>
          <p:cNvPr id="80901" name="Text Box 17"/>
          <p:cNvSpPr txBox="1">
            <a:spLocks noChangeArrowheads="1"/>
          </p:cNvSpPr>
          <p:nvPr/>
        </p:nvSpPr>
        <p:spPr bwMode="auto">
          <a:xfrm>
            <a:off x="4816474" y="2179644"/>
            <a:ext cx="3989595" cy="523220"/>
          </a:xfrm>
          <a:prstGeom prst="rect">
            <a:avLst/>
          </a:prstGeom>
          <a:noFill/>
          <a:ln w="9525">
            <a:noFill/>
            <a:miter lim="800000"/>
            <a:headEnd/>
            <a:tailEnd/>
          </a:ln>
          <a:effectLst/>
        </p:spPr>
        <p:txBody>
          <a:bodyPr wrap="square">
            <a:spAutoFit/>
          </a:bodyPr>
          <a:lstStyle/>
          <a:p>
            <a:pPr>
              <a:spcBef>
                <a:spcPct val="50000"/>
              </a:spcBef>
            </a:pPr>
            <a:r>
              <a:rPr lang="en-US" altLang="zh-CN" sz="2800" b="1" dirty="0">
                <a:latin typeface="微软雅黑" pitchFamily="34" charset="-122"/>
                <a:ea typeface="微软雅黑" pitchFamily="34" charset="-122"/>
              </a:rPr>
              <a:t>S1</a:t>
            </a:r>
            <a:r>
              <a:rPr lang="zh-CN" altLang="en-US" sz="2800" b="1" dirty="0">
                <a:latin typeface="微软雅黑" pitchFamily="34" charset="-122"/>
                <a:ea typeface="微软雅黑" pitchFamily="34" charset="-122"/>
              </a:rPr>
              <a:t>初始值</a:t>
            </a:r>
            <a:r>
              <a:rPr lang="en-US" altLang="zh-CN" sz="2800" b="1" dirty="0">
                <a:latin typeface="微软雅黑" pitchFamily="34" charset="-122"/>
                <a:ea typeface="微软雅黑" pitchFamily="34" charset="-122"/>
              </a:rPr>
              <a:t>n</a:t>
            </a:r>
            <a:r>
              <a:rPr lang="zh-CN" altLang="en-US" sz="2800" b="1" dirty="0">
                <a:latin typeface="微软雅黑" pitchFamily="34" charset="-122"/>
                <a:ea typeface="微软雅黑" pitchFamily="34" charset="-122"/>
              </a:rPr>
              <a:t>，</a:t>
            </a:r>
            <a:r>
              <a:rPr lang="en-US" altLang="zh-CN" sz="2800" b="1" dirty="0">
                <a:latin typeface="微软雅黑" pitchFamily="34" charset="-122"/>
                <a:ea typeface="微软雅黑" pitchFamily="34" charset="-122"/>
              </a:rPr>
              <a:t>s2</a:t>
            </a:r>
            <a:r>
              <a:rPr lang="zh-CN" altLang="en-US" sz="2800" b="1" dirty="0">
                <a:latin typeface="微软雅黑" pitchFamily="34" charset="-122"/>
                <a:ea typeface="微软雅黑" pitchFamily="34" charset="-122"/>
              </a:rPr>
              <a:t>初始值</a:t>
            </a:r>
            <a:r>
              <a:rPr lang="en-US" altLang="zh-CN" sz="2800" b="1" dirty="0">
                <a:latin typeface="微软雅黑" pitchFamily="34" charset="-122"/>
                <a:ea typeface="微软雅黑" pitchFamily="34" charset="-122"/>
              </a:rPr>
              <a:t>0</a:t>
            </a:r>
          </a:p>
        </p:txBody>
      </p:sp>
      <p:sp>
        <p:nvSpPr>
          <p:cNvPr id="80902" name="Text Box 18"/>
          <p:cNvSpPr txBox="1">
            <a:spLocks noChangeArrowheads="1"/>
          </p:cNvSpPr>
          <p:nvPr/>
        </p:nvSpPr>
        <p:spPr bwMode="auto">
          <a:xfrm>
            <a:off x="4973638" y="2927356"/>
            <a:ext cx="1512887" cy="1801813"/>
          </a:xfrm>
          <a:prstGeom prst="rect">
            <a:avLst/>
          </a:prstGeom>
          <a:noFill/>
          <a:ln w="9525">
            <a:noFill/>
            <a:miter lim="800000"/>
            <a:headEnd/>
            <a:tailEnd/>
          </a:ln>
          <a:effectLst/>
        </p:spPr>
        <p:txBody>
          <a:bodyPr>
            <a:spAutoFit/>
          </a:bodyPr>
          <a:lstStyle/>
          <a:p>
            <a:pPr algn="ctr">
              <a:spcBef>
                <a:spcPct val="50000"/>
              </a:spcBef>
            </a:pPr>
            <a:r>
              <a:rPr lang="en-US" altLang="zh-CN" sz="2800" b="1">
                <a:latin typeface="微软雅黑" pitchFamily="34" charset="-122"/>
                <a:ea typeface="微软雅黑" pitchFamily="34" charset="-122"/>
              </a:rPr>
              <a:t>P(s1)</a:t>
            </a:r>
          </a:p>
          <a:p>
            <a:pPr algn="ctr">
              <a:spcBef>
                <a:spcPct val="50000"/>
              </a:spcBef>
            </a:pPr>
            <a:r>
              <a:rPr lang="zh-CN" altLang="en-US" sz="2800" b="1">
                <a:latin typeface="微软雅黑" pitchFamily="34" charset="-122"/>
                <a:ea typeface="微软雅黑" pitchFamily="34" charset="-122"/>
              </a:rPr>
              <a:t>临界区</a:t>
            </a:r>
            <a:r>
              <a:rPr lang="en-US" altLang="zh-CN" sz="2800" b="1">
                <a:latin typeface="微软雅黑" pitchFamily="34" charset="-122"/>
                <a:ea typeface="微软雅黑" pitchFamily="34" charset="-122"/>
              </a:rPr>
              <a:t>1</a:t>
            </a:r>
          </a:p>
          <a:p>
            <a:pPr algn="ctr">
              <a:spcBef>
                <a:spcPct val="50000"/>
              </a:spcBef>
            </a:pPr>
            <a:r>
              <a:rPr lang="en-US" altLang="zh-CN" sz="2800" b="1">
                <a:latin typeface="微软雅黑" pitchFamily="34" charset="-122"/>
                <a:ea typeface="微软雅黑" pitchFamily="34" charset="-122"/>
              </a:rPr>
              <a:t>V(s2)</a:t>
            </a:r>
          </a:p>
        </p:txBody>
      </p:sp>
      <p:sp>
        <p:nvSpPr>
          <p:cNvPr id="80903" name="Text Box 19"/>
          <p:cNvSpPr txBox="1">
            <a:spLocks noChangeArrowheads="1"/>
          </p:cNvSpPr>
          <p:nvPr/>
        </p:nvSpPr>
        <p:spPr bwMode="auto">
          <a:xfrm>
            <a:off x="6989763" y="2927356"/>
            <a:ext cx="1512887" cy="1801813"/>
          </a:xfrm>
          <a:prstGeom prst="rect">
            <a:avLst/>
          </a:prstGeom>
          <a:noFill/>
          <a:ln w="9525">
            <a:noFill/>
            <a:miter lim="800000"/>
            <a:headEnd/>
            <a:tailEnd/>
          </a:ln>
          <a:effectLst/>
        </p:spPr>
        <p:txBody>
          <a:bodyPr>
            <a:spAutoFit/>
          </a:bodyPr>
          <a:lstStyle/>
          <a:p>
            <a:pPr algn="ctr">
              <a:spcBef>
                <a:spcPct val="50000"/>
              </a:spcBef>
            </a:pPr>
            <a:r>
              <a:rPr lang="en-US" altLang="zh-CN" sz="2800" b="1">
                <a:latin typeface="微软雅黑" pitchFamily="34" charset="-122"/>
                <a:ea typeface="微软雅黑" pitchFamily="34" charset="-122"/>
              </a:rPr>
              <a:t>P(s2)</a:t>
            </a:r>
          </a:p>
          <a:p>
            <a:pPr algn="ctr">
              <a:spcBef>
                <a:spcPct val="50000"/>
              </a:spcBef>
            </a:pPr>
            <a:r>
              <a:rPr lang="zh-CN" altLang="en-US" sz="2800" b="1">
                <a:latin typeface="微软雅黑" pitchFamily="34" charset="-122"/>
                <a:ea typeface="微软雅黑" pitchFamily="34" charset="-122"/>
              </a:rPr>
              <a:t>临界区</a:t>
            </a:r>
            <a:r>
              <a:rPr lang="en-US" altLang="zh-CN" sz="2800" b="1">
                <a:latin typeface="微软雅黑" pitchFamily="34" charset="-122"/>
                <a:ea typeface="微软雅黑" pitchFamily="34" charset="-122"/>
              </a:rPr>
              <a:t>2</a:t>
            </a:r>
          </a:p>
          <a:p>
            <a:pPr algn="ctr">
              <a:spcBef>
                <a:spcPct val="50000"/>
              </a:spcBef>
            </a:pPr>
            <a:r>
              <a:rPr lang="en-US" altLang="zh-CN" sz="2800" b="1">
                <a:latin typeface="微软雅黑" pitchFamily="34" charset="-122"/>
                <a:ea typeface="微软雅黑" pitchFamily="34" charset="-122"/>
              </a:rPr>
              <a:t>V(s1)</a:t>
            </a:r>
          </a:p>
        </p:txBody>
      </p:sp>
      <p:sp>
        <p:nvSpPr>
          <p:cNvPr id="80904" name="Text Box 20"/>
          <p:cNvSpPr txBox="1">
            <a:spLocks noChangeArrowheads="1"/>
          </p:cNvSpPr>
          <p:nvPr/>
        </p:nvSpPr>
        <p:spPr bwMode="auto">
          <a:xfrm>
            <a:off x="6372225" y="5116519"/>
            <a:ext cx="936625" cy="519112"/>
          </a:xfrm>
          <a:prstGeom prst="rect">
            <a:avLst/>
          </a:prstGeom>
          <a:noFill/>
          <a:ln w="9525">
            <a:noFill/>
            <a:miter lim="800000"/>
            <a:headEnd/>
            <a:tailEnd/>
          </a:ln>
          <a:effectLst/>
        </p:spPr>
        <p:txBody>
          <a:bodyPr>
            <a:spAutoFit/>
          </a:bodyPr>
          <a:lstStyle/>
          <a:p>
            <a:pPr>
              <a:spcBef>
                <a:spcPct val="50000"/>
              </a:spcBef>
            </a:pPr>
            <a:r>
              <a:rPr lang="zh-CN" altLang="en-US" sz="2800" b="1">
                <a:latin typeface="微软雅黑" pitchFamily="34" charset="-122"/>
                <a:ea typeface="微软雅黑" pitchFamily="34" charset="-122"/>
              </a:rPr>
              <a:t>同步</a:t>
            </a:r>
          </a:p>
        </p:txBody>
      </p:sp>
      <p:sp>
        <p:nvSpPr>
          <p:cNvPr id="80905" name="Line 23"/>
          <p:cNvSpPr>
            <a:spLocks noChangeShapeType="1"/>
          </p:cNvSpPr>
          <p:nvPr/>
        </p:nvSpPr>
        <p:spPr bwMode="auto">
          <a:xfrm>
            <a:off x="6227763" y="3430594"/>
            <a:ext cx="1008062" cy="1008062"/>
          </a:xfrm>
          <a:prstGeom prst="line">
            <a:avLst/>
          </a:prstGeom>
          <a:noFill/>
          <a:ln w="9525">
            <a:solidFill>
              <a:schemeClr val="tx1"/>
            </a:solidFill>
            <a:round/>
            <a:headEnd/>
            <a:tailEnd type="triangle" w="med" len="med"/>
          </a:ln>
          <a:effectLst/>
        </p:spPr>
        <p:txBody>
          <a:bodyPr/>
          <a:lstStyle/>
          <a:p>
            <a:endParaRPr lang="zh-CN" altLang="en-US">
              <a:latin typeface="微软雅黑" pitchFamily="34" charset="-122"/>
              <a:ea typeface="微软雅黑" pitchFamily="34" charset="-122"/>
            </a:endParaRPr>
          </a:p>
        </p:txBody>
      </p:sp>
      <p:sp>
        <p:nvSpPr>
          <p:cNvPr id="80906" name="Line 24"/>
          <p:cNvSpPr>
            <a:spLocks noChangeShapeType="1"/>
          </p:cNvSpPr>
          <p:nvPr/>
        </p:nvSpPr>
        <p:spPr bwMode="auto">
          <a:xfrm flipH="1">
            <a:off x="6343650" y="3432181"/>
            <a:ext cx="863600" cy="1008063"/>
          </a:xfrm>
          <a:prstGeom prst="line">
            <a:avLst/>
          </a:prstGeom>
          <a:noFill/>
          <a:ln w="9525">
            <a:solidFill>
              <a:schemeClr val="tx1"/>
            </a:solidFill>
            <a:round/>
            <a:headEnd/>
            <a:tailEnd type="triangle" w="med" len="med"/>
          </a:ln>
          <a:effectLst/>
        </p:spPr>
        <p:txBody>
          <a:bodyPr/>
          <a:lstStyle/>
          <a:p>
            <a:endParaRPr lang="zh-CN" altLang="en-US">
              <a:latin typeface="微软雅黑" pitchFamily="34" charset="-122"/>
              <a:ea typeface="微软雅黑" pitchFamily="34" charset="-122"/>
            </a:endParaRPr>
          </a:p>
        </p:txBody>
      </p:sp>
      <p:sp>
        <p:nvSpPr>
          <p:cNvPr id="19" name="Title 1"/>
          <p:cNvSpPr>
            <a:spLocks noGrp="1"/>
          </p:cNvSpPr>
          <p:nvPr>
            <p:ph type="title"/>
          </p:nvPr>
        </p:nvSpPr>
        <p:spPr>
          <a:xfrm>
            <a:off x="628650" y="140676"/>
            <a:ext cx="7886700" cy="693274"/>
          </a:xfrm>
        </p:spPr>
        <p:txBody>
          <a:bodyPr/>
          <a:lstStyle/>
          <a:p>
            <a:r>
              <a:rPr lang="en-US" altLang="zh-CN" dirty="0" smtClean="0"/>
              <a:t>P</a:t>
            </a:r>
            <a:r>
              <a:rPr lang="zh-CN" altLang="en-US" dirty="0" smtClean="0"/>
              <a:t>、</a:t>
            </a:r>
            <a:r>
              <a:rPr lang="en-US" altLang="zh-CN" dirty="0" smtClean="0"/>
              <a:t>V</a:t>
            </a:r>
            <a:r>
              <a:rPr lang="zh-CN" altLang="en-US" dirty="0" smtClean="0"/>
              <a:t>原语的实现</a:t>
            </a:r>
            <a:endParaRPr lang="zh-CN" alt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a:solidFill>
                  <a:schemeClr val="bg1">
                    <a:lumMod val="75000"/>
                  </a:schemeClr>
                </a:solidFill>
              </a:rPr>
              <a:t>互斥问题及其解决办法</a:t>
            </a:r>
            <a:endParaRPr lang="en-US" altLang="zh-CN" dirty="0">
              <a:solidFill>
                <a:schemeClr val="bg1">
                  <a:lumMod val="75000"/>
                </a:schemeClr>
              </a:solidFill>
            </a:endParaRPr>
          </a:p>
          <a:p>
            <a:r>
              <a:rPr lang="zh-CN" altLang="en-US" dirty="0" smtClean="0">
                <a:solidFill>
                  <a:srgbClr val="FF3300"/>
                </a:solidFill>
              </a:rPr>
              <a:t>信号量</a:t>
            </a:r>
            <a:endParaRPr lang="en-US" altLang="zh-CN" dirty="0" smtClean="0">
              <a:solidFill>
                <a:srgbClr val="FF3300"/>
              </a:solidFill>
            </a:endParaRPr>
          </a:p>
          <a:p>
            <a:pPr lvl="1"/>
            <a:r>
              <a:rPr lang="zh-CN" altLang="en-US" dirty="0">
                <a:solidFill>
                  <a:schemeClr val="bg1">
                    <a:lumMod val="75000"/>
                  </a:schemeClr>
                </a:solidFill>
              </a:rPr>
              <a:t>什么是信号量</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用信号量实现进程间互斥</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用信号量实现进程间同步</a:t>
            </a:r>
            <a:endParaRPr lang="en-US" altLang="zh-CN" dirty="0">
              <a:solidFill>
                <a:schemeClr val="bg1">
                  <a:lumMod val="75000"/>
                </a:schemeClr>
              </a:solidFill>
            </a:endParaRPr>
          </a:p>
          <a:p>
            <a:pPr lvl="1"/>
            <a:r>
              <a:rPr lang="zh-CN" altLang="en-US" dirty="0">
                <a:solidFill>
                  <a:schemeClr val="bg1">
                    <a:lumMod val="75000"/>
                  </a:schemeClr>
                </a:solidFill>
              </a:rPr>
              <a:t>信号量的实现</a:t>
            </a:r>
            <a:endParaRPr lang="en-US" altLang="zh-CN" dirty="0">
              <a:solidFill>
                <a:schemeClr val="bg1">
                  <a:lumMod val="75000"/>
                </a:schemeClr>
              </a:solidFill>
            </a:endParaRPr>
          </a:p>
          <a:p>
            <a:pPr lvl="1"/>
            <a:r>
              <a:rPr lang="zh-CN" altLang="en-US" dirty="0" smtClean="0">
                <a:solidFill>
                  <a:srgbClr val="FF3300"/>
                </a:solidFill>
              </a:rPr>
              <a:t>经典进程同步问题</a:t>
            </a:r>
            <a:endParaRPr lang="en-US" altLang="zh-CN" dirty="0" smtClean="0">
              <a:solidFill>
                <a:srgbClr val="FF3300"/>
              </a:solidFill>
            </a:endParaRPr>
          </a:p>
          <a:p>
            <a:pPr lvl="1"/>
            <a:r>
              <a:rPr lang="zh-CN" altLang="en-US" dirty="0" smtClean="0">
                <a:solidFill>
                  <a:schemeClr val="bg1">
                    <a:lumMod val="75000"/>
                  </a:schemeClr>
                </a:solidFill>
              </a:rPr>
              <a:t>信号量集</a:t>
            </a:r>
            <a:endParaRPr lang="en-US" altLang="zh-CN" dirty="0" smtClean="0">
              <a:solidFill>
                <a:schemeClr val="bg1">
                  <a:lumMod val="75000"/>
                </a:schemeClr>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F71CED9E-5C3C-470F-BDDD-1DF6166AF4D3}"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74</a:t>
            </a:fld>
            <a:endParaRPr lang="zh-CN" altLang="en-US" dirty="0"/>
          </a:p>
        </p:txBody>
      </p:sp>
    </p:spTree>
    <p:extLst>
      <p:ext uri="{BB962C8B-B14F-4D97-AF65-F5344CB8AC3E}">
        <p14:creationId xmlns:p14="http://schemas.microsoft.com/office/powerpoint/2010/main" val="222499977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读</a:t>
            </a:r>
            <a:r>
              <a:rPr lang="zh-CN" altLang="en-US" dirty="0" smtClean="0"/>
              <a:t>者</a:t>
            </a:r>
            <a:r>
              <a:rPr lang="en-US" altLang="zh-CN" dirty="0" smtClean="0"/>
              <a:t>-</a:t>
            </a:r>
            <a:r>
              <a:rPr lang="zh-CN" altLang="en-US" smtClean="0"/>
              <a:t>写者问题</a:t>
            </a:r>
            <a:endParaRPr lang="zh-CN" altLang="en-US"/>
          </a:p>
        </p:txBody>
      </p:sp>
      <p:sp>
        <p:nvSpPr>
          <p:cNvPr id="3" name="Content Placeholder 2"/>
          <p:cNvSpPr>
            <a:spLocks noGrp="1"/>
          </p:cNvSpPr>
          <p:nvPr>
            <p:ph idx="1"/>
          </p:nvPr>
        </p:nvSpPr>
        <p:spPr/>
        <p:txBody>
          <a:bodyPr/>
          <a:lstStyle/>
          <a:p>
            <a:r>
              <a:rPr lang="zh-CN" altLang="en-US" dirty="0"/>
              <a:t>问</a:t>
            </a:r>
            <a:r>
              <a:rPr lang="zh-CN" altLang="en-US" dirty="0" smtClean="0"/>
              <a:t>题描述</a:t>
            </a:r>
            <a:endParaRPr lang="en-US" altLang="zh-CN" dirty="0" smtClean="0"/>
          </a:p>
          <a:p>
            <a:pPr lvl="1"/>
            <a:r>
              <a:rPr lang="zh-CN" altLang="en-US" dirty="0"/>
              <a:t>系</a:t>
            </a:r>
            <a:r>
              <a:rPr lang="zh-CN" altLang="en-US" dirty="0" smtClean="0"/>
              <a:t>统中有一个</a:t>
            </a:r>
            <a:r>
              <a:rPr lang="zh-CN" altLang="en-US" dirty="0" smtClean="0">
                <a:solidFill>
                  <a:srgbClr val="0000FF"/>
                </a:solidFill>
              </a:rPr>
              <a:t>公共的</a:t>
            </a:r>
            <a:r>
              <a:rPr lang="en-US" altLang="zh-CN" dirty="0" smtClean="0">
                <a:solidFill>
                  <a:srgbClr val="0000FF"/>
                </a:solidFill>
              </a:rPr>
              <a:t>Database</a:t>
            </a:r>
            <a:r>
              <a:rPr lang="zh-CN" altLang="en-US" dirty="0" smtClean="0"/>
              <a:t>，供所有进程读写</a:t>
            </a:r>
            <a:endParaRPr lang="en-US" altLang="zh-CN" dirty="0" smtClean="0"/>
          </a:p>
          <a:p>
            <a:pPr lvl="1"/>
            <a:r>
              <a:rPr lang="zh-CN" altLang="en-US" dirty="0" smtClean="0"/>
              <a:t>允许无限多个进程同时访问数据库</a:t>
            </a:r>
            <a:endParaRPr lang="en-US" altLang="zh-CN" dirty="0" smtClean="0"/>
          </a:p>
          <a:p>
            <a:pPr lvl="1"/>
            <a:r>
              <a:rPr lang="zh-CN" altLang="en-US" dirty="0"/>
              <a:t>允</a:t>
            </a:r>
            <a:r>
              <a:rPr lang="zh-CN" altLang="en-US" dirty="0" smtClean="0"/>
              <a:t>许</a:t>
            </a:r>
            <a:r>
              <a:rPr lang="zh-CN" altLang="en-US" dirty="0" smtClean="0">
                <a:solidFill>
                  <a:srgbClr val="0000FF"/>
                </a:solidFill>
              </a:rPr>
              <a:t>多个“读者”同时</a:t>
            </a:r>
            <a:r>
              <a:rPr lang="zh-CN" altLang="en-US" dirty="0" smtClean="0"/>
              <a:t>从数据库读数据</a:t>
            </a:r>
            <a:endParaRPr lang="en-US" altLang="zh-CN" dirty="0" smtClean="0"/>
          </a:p>
          <a:p>
            <a:pPr lvl="1"/>
            <a:r>
              <a:rPr lang="zh-CN" altLang="en-US" dirty="0"/>
              <a:t>同</a:t>
            </a:r>
            <a:r>
              <a:rPr lang="zh-CN" altLang="en-US" dirty="0" smtClean="0"/>
              <a:t>时</a:t>
            </a:r>
            <a:r>
              <a:rPr lang="zh-CN" altLang="en-US" dirty="0" smtClean="0">
                <a:solidFill>
                  <a:srgbClr val="0000FF"/>
                </a:solidFill>
              </a:rPr>
              <a:t>只允许一个“写者”</a:t>
            </a:r>
            <a:r>
              <a:rPr lang="zh-CN" altLang="en-US" dirty="0" smtClean="0"/>
              <a:t>向数据库写数据</a:t>
            </a:r>
            <a:endParaRPr lang="en-US" altLang="zh-CN" dirty="0" smtClean="0"/>
          </a:p>
          <a:p>
            <a:pPr lvl="1"/>
            <a:r>
              <a:rPr lang="zh-CN" altLang="en-US" dirty="0" smtClean="0"/>
              <a:t>当有进程向数据库写数据时，不允许读者读数据</a:t>
            </a:r>
            <a:endParaRPr lang="en-US" altLang="zh-CN" dirty="0" smtClean="0"/>
          </a:p>
          <a:p>
            <a:endParaRPr lang="en-US" altLang="zh-CN" dirty="0"/>
          </a:p>
          <a:p>
            <a:r>
              <a:rPr lang="zh-CN" altLang="en-US" dirty="0" smtClean="0"/>
              <a:t>应用背景</a:t>
            </a:r>
            <a:endParaRPr lang="en-US" altLang="zh-CN" dirty="0" smtClean="0"/>
          </a:p>
          <a:p>
            <a:pPr lvl="1"/>
            <a:r>
              <a:rPr lang="zh-CN" altLang="en-US" dirty="0"/>
              <a:t>图书</a:t>
            </a:r>
            <a:r>
              <a:rPr lang="zh-CN" altLang="en-US" dirty="0" smtClean="0"/>
              <a:t>馆图书目录系统的访问</a:t>
            </a:r>
            <a:endParaRPr lang="en-US" altLang="zh-CN" dirty="0" smtClean="0"/>
          </a:p>
          <a:p>
            <a:pPr lvl="1"/>
            <a:r>
              <a:rPr lang="zh-CN" altLang="en-US" dirty="0"/>
              <a:t>读书</a:t>
            </a:r>
            <a:r>
              <a:rPr lang="zh-CN" altLang="en-US" dirty="0" smtClean="0"/>
              <a:t>人是“读者”，系统管理员是“写者”</a:t>
            </a:r>
            <a:endParaRPr lang="zh-CN" altLang="en-US" dirty="0"/>
          </a:p>
        </p:txBody>
      </p:sp>
      <p:sp>
        <p:nvSpPr>
          <p:cNvPr id="4" name="Date Placeholder 3"/>
          <p:cNvSpPr>
            <a:spLocks noGrp="1"/>
          </p:cNvSpPr>
          <p:nvPr>
            <p:ph type="dt" sz="half" idx="10"/>
          </p:nvPr>
        </p:nvSpPr>
        <p:spPr/>
        <p:txBody>
          <a:bodyPr/>
          <a:lstStyle/>
          <a:p>
            <a:fld id="{ABF16DE4-1BAD-4D07-B817-75FAA468502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75</a:t>
            </a:fld>
            <a:endParaRPr lang="zh-CN" altLang="en-US" dirty="0"/>
          </a:p>
        </p:txBody>
      </p:sp>
    </p:spTree>
    <p:extLst>
      <p:ext uri="{BB962C8B-B14F-4D97-AF65-F5344CB8AC3E}">
        <p14:creationId xmlns:p14="http://schemas.microsoft.com/office/powerpoint/2010/main" val="235525114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读</a:t>
            </a:r>
            <a:r>
              <a:rPr lang="zh-CN" altLang="en-US" dirty="0" smtClean="0"/>
              <a:t>者</a:t>
            </a:r>
            <a:r>
              <a:rPr lang="en-US" altLang="zh-CN" dirty="0" smtClean="0"/>
              <a:t>-</a:t>
            </a:r>
            <a:r>
              <a:rPr lang="zh-CN" altLang="en-US" smtClean="0"/>
              <a:t>写者问题</a:t>
            </a:r>
            <a:endParaRPr lang="zh-CN" altLang="en-US"/>
          </a:p>
        </p:txBody>
      </p:sp>
      <p:sp>
        <p:nvSpPr>
          <p:cNvPr id="3" name="Content Placeholder 2"/>
          <p:cNvSpPr>
            <a:spLocks noGrp="1"/>
          </p:cNvSpPr>
          <p:nvPr>
            <p:ph idx="1"/>
          </p:nvPr>
        </p:nvSpPr>
        <p:spPr/>
        <p:txBody>
          <a:bodyPr/>
          <a:lstStyle/>
          <a:p>
            <a:r>
              <a:rPr lang="zh-CN" altLang="en-US" dirty="0" smtClean="0"/>
              <a:t>根据阻塞的策略不同</a:t>
            </a:r>
            <a:endParaRPr lang="en-US" altLang="zh-CN" dirty="0" smtClean="0"/>
          </a:p>
          <a:p>
            <a:pPr lvl="1"/>
            <a:r>
              <a:rPr lang="zh-CN" altLang="en-US" dirty="0"/>
              <a:t>读</a:t>
            </a:r>
            <a:r>
              <a:rPr lang="zh-CN" altLang="en-US" dirty="0" smtClean="0"/>
              <a:t>者优先：仅当所有读者从临界区退出，方可允许写者写入</a:t>
            </a:r>
            <a:endParaRPr lang="en-US" altLang="zh-CN" dirty="0" smtClean="0"/>
          </a:p>
          <a:p>
            <a:pPr lvl="1"/>
            <a:r>
              <a:rPr lang="zh-CN" altLang="en-US" dirty="0"/>
              <a:t>写</a:t>
            </a:r>
            <a:r>
              <a:rPr lang="zh-CN" altLang="en-US" dirty="0" smtClean="0"/>
              <a:t>者优先：仅当所有写者从临界区退出，方可允许读者读取</a:t>
            </a:r>
            <a:endParaRPr lang="en-US" altLang="zh-CN" dirty="0" smtClean="0"/>
          </a:p>
          <a:p>
            <a:endParaRPr lang="en-US" altLang="zh-CN" dirty="0"/>
          </a:p>
          <a:p>
            <a:r>
              <a:rPr lang="zh-CN" altLang="en-US" dirty="0" smtClean="0"/>
              <a:t>互斥需求</a:t>
            </a:r>
            <a:endParaRPr lang="en-US" altLang="zh-CN" dirty="0" smtClean="0"/>
          </a:p>
          <a:p>
            <a:pPr lvl="1"/>
            <a:r>
              <a:rPr lang="zh-CN" altLang="en-US" dirty="0" smtClean="0"/>
              <a:t>“读</a:t>
            </a:r>
            <a:r>
              <a:rPr lang="en-US" altLang="zh-CN" dirty="0" smtClean="0"/>
              <a:t>-</a:t>
            </a:r>
            <a:r>
              <a:rPr lang="zh-CN" altLang="en-US" dirty="0" smtClean="0"/>
              <a:t>写”互斥</a:t>
            </a:r>
            <a:endParaRPr lang="en-US" altLang="zh-CN" dirty="0" smtClean="0"/>
          </a:p>
          <a:p>
            <a:pPr lvl="1"/>
            <a:r>
              <a:rPr lang="zh-CN" altLang="en-US" dirty="0" smtClean="0"/>
              <a:t>“写</a:t>
            </a:r>
            <a:r>
              <a:rPr lang="en-US" altLang="zh-CN" dirty="0" smtClean="0"/>
              <a:t>-</a:t>
            </a:r>
            <a:r>
              <a:rPr lang="zh-CN" altLang="en-US" dirty="0" smtClean="0"/>
              <a:t>写”互斥</a:t>
            </a:r>
            <a:endParaRPr lang="en-US" altLang="zh-CN" dirty="0" smtClean="0"/>
          </a:p>
          <a:p>
            <a:pPr lvl="1"/>
            <a:r>
              <a:rPr lang="zh-CN" altLang="en-US" dirty="0" smtClean="0"/>
              <a:t>“读</a:t>
            </a:r>
            <a:r>
              <a:rPr lang="en-US" altLang="zh-CN" dirty="0" smtClean="0"/>
              <a:t>-</a:t>
            </a:r>
            <a:r>
              <a:rPr lang="zh-CN" altLang="en-US" dirty="0" smtClean="0"/>
              <a:t>读”允许同时进入临界区</a:t>
            </a:r>
            <a:endParaRPr lang="zh-CN" altLang="en-US" dirty="0"/>
          </a:p>
        </p:txBody>
      </p:sp>
      <p:sp>
        <p:nvSpPr>
          <p:cNvPr id="4" name="Date Placeholder 3"/>
          <p:cNvSpPr>
            <a:spLocks noGrp="1"/>
          </p:cNvSpPr>
          <p:nvPr>
            <p:ph type="dt" sz="half" idx="10"/>
          </p:nvPr>
        </p:nvSpPr>
        <p:spPr/>
        <p:txBody>
          <a:bodyPr/>
          <a:lstStyle/>
          <a:p>
            <a:fld id="{8DA25B92-872E-407D-811D-C04BF132EFE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76</a:t>
            </a:fld>
            <a:endParaRPr lang="zh-CN" altLang="en-US" dirty="0"/>
          </a:p>
        </p:txBody>
      </p:sp>
    </p:spTree>
    <p:extLst>
      <p:ext uri="{BB962C8B-B14F-4D97-AF65-F5344CB8AC3E}">
        <p14:creationId xmlns:p14="http://schemas.microsoft.com/office/powerpoint/2010/main" val="140067522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Grp="1" noChangeArrowheads="1"/>
          </p:cNvSpPr>
          <p:nvPr>
            <p:ph type="body" idx="1"/>
          </p:nvPr>
        </p:nvSpPr>
        <p:spPr>
          <a:xfrm>
            <a:off x="457200" y="1480931"/>
            <a:ext cx="8229600" cy="3303104"/>
          </a:xfrm>
          <a:noFill/>
        </p:spPr>
        <p:txBody>
          <a:bodyPr>
            <a:normAutofit/>
          </a:bodyPr>
          <a:lstStyle/>
          <a:p>
            <a:pPr>
              <a:lnSpc>
                <a:spcPct val="150000"/>
              </a:lnSpc>
            </a:pPr>
            <a:r>
              <a:rPr lang="zh-CN" altLang="en-US" dirty="0" smtClean="0"/>
              <a:t>信号量的设计</a:t>
            </a:r>
            <a:endParaRPr lang="en-US" altLang="zh-CN" dirty="0" smtClean="0"/>
          </a:p>
          <a:p>
            <a:pPr lvl="1">
              <a:lnSpc>
                <a:spcPct val="150000"/>
              </a:lnSpc>
            </a:pPr>
            <a:r>
              <a:rPr lang="en-US" altLang="zh-CN" dirty="0" err="1" smtClean="0"/>
              <a:t>Wmutex</a:t>
            </a:r>
            <a:r>
              <a:rPr lang="zh-CN" altLang="en-US" dirty="0" smtClean="0"/>
              <a:t>表示“允许写”，初值是</a:t>
            </a:r>
            <a:r>
              <a:rPr lang="en-US" altLang="zh-CN" dirty="0" smtClean="0"/>
              <a:t>1</a:t>
            </a:r>
            <a:r>
              <a:rPr lang="zh-CN" altLang="en-US" dirty="0" smtClean="0"/>
              <a:t>。</a:t>
            </a:r>
          </a:p>
          <a:p>
            <a:pPr lvl="1">
              <a:lnSpc>
                <a:spcPct val="150000"/>
              </a:lnSpc>
            </a:pPr>
            <a:r>
              <a:rPr lang="zh-CN" altLang="en-US" dirty="0" smtClean="0"/>
              <a:t>公共变量</a:t>
            </a:r>
            <a:r>
              <a:rPr lang="en-US" altLang="zh-CN" dirty="0" err="1" smtClean="0"/>
              <a:t>Rcount</a:t>
            </a:r>
            <a:r>
              <a:rPr lang="zh-CN" altLang="en-US" dirty="0" smtClean="0"/>
              <a:t>表示“正在读”的进程数，初值是</a:t>
            </a:r>
            <a:r>
              <a:rPr lang="en-US" altLang="zh-CN" dirty="0" smtClean="0"/>
              <a:t>0</a:t>
            </a:r>
            <a:r>
              <a:rPr lang="zh-CN" altLang="en-US" dirty="0" smtClean="0"/>
              <a:t>；</a:t>
            </a:r>
          </a:p>
          <a:p>
            <a:pPr lvl="1">
              <a:lnSpc>
                <a:spcPct val="150000"/>
              </a:lnSpc>
            </a:pPr>
            <a:r>
              <a:rPr lang="zh-CN" altLang="en-US" dirty="0" smtClean="0"/>
              <a:t> </a:t>
            </a:r>
            <a:r>
              <a:rPr lang="en-US" altLang="zh-CN" dirty="0" err="1" smtClean="0"/>
              <a:t>Rmutex</a:t>
            </a:r>
            <a:r>
              <a:rPr lang="zh-CN" altLang="en-US" dirty="0" smtClean="0"/>
              <a:t>表示对</a:t>
            </a:r>
            <a:r>
              <a:rPr lang="en-US" altLang="zh-CN" dirty="0" err="1" smtClean="0"/>
              <a:t>Rcount</a:t>
            </a:r>
            <a:r>
              <a:rPr lang="zh-CN" altLang="en-US" dirty="0" smtClean="0"/>
              <a:t>的互斥操作，初值是</a:t>
            </a:r>
            <a:r>
              <a:rPr lang="en-US" altLang="zh-CN" dirty="0" smtClean="0"/>
              <a:t>1</a:t>
            </a:r>
            <a:r>
              <a:rPr lang="zh-CN" altLang="en-US" dirty="0" smtClean="0"/>
              <a:t>。</a:t>
            </a:r>
          </a:p>
        </p:txBody>
      </p:sp>
      <p:sp>
        <p:nvSpPr>
          <p:cNvPr id="62492" name="AutoShape 28"/>
          <p:cNvSpPr>
            <a:spLocks noChangeArrowheads="1"/>
          </p:cNvSpPr>
          <p:nvPr/>
        </p:nvSpPr>
        <p:spPr bwMode="auto">
          <a:xfrm>
            <a:off x="752061" y="4197630"/>
            <a:ext cx="7696200" cy="762000"/>
          </a:xfrm>
          <a:prstGeom prst="homePlate">
            <a:avLst>
              <a:gd name="adj" fmla="val 252500"/>
            </a:avLst>
          </a:prstGeom>
          <a:solidFill>
            <a:srgbClr val="0033CC"/>
          </a:solidFill>
          <a:ln w="9525">
            <a:solidFill>
              <a:schemeClr val="tx1"/>
            </a:solidFill>
            <a:miter lim="800000"/>
            <a:headEnd/>
            <a:tailEnd/>
          </a:ln>
          <a:effectLst/>
        </p:spPr>
        <p:txBody>
          <a:bodyPr wrap="none" anchor="ctr"/>
          <a:lstStyle/>
          <a:p>
            <a:pPr algn="ctr"/>
            <a:r>
              <a:rPr lang="zh-CN" altLang="en-US" sz="2000" b="1" dirty="0">
                <a:solidFill>
                  <a:srgbClr val="FFFF00"/>
                </a:solidFill>
              </a:rPr>
              <a:t>只要一个</a:t>
            </a:r>
            <a:r>
              <a:rPr lang="en-US" altLang="zh-CN" sz="2000" b="1" dirty="0">
                <a:solidFill>
                  <a:srgbClr val="FFFF00"/>
                </a:solidFill>
              </a:rPr>
              <a:t>reader</a:t>
            </a:r>
            <a:r>
              <a:rPr lang="zh-CN" altLang="en-US" sz="2000" b="1" dirty="0">
                <a:solidFill>
                  <a:srgbClr val="FFFF00"/>
                </a:solidFill>
              </a:rPr>
              <a:t>进程在读，便不允许</a:t>
            </a:r>
            <a:r>
              <a:rPr lang="en-US" altLang="zh-CN" sz="2000" b="1" dirty="0">
                <a:solidFill>
                  <a:srgbClr val="FFFF00"/>
                </a:solidFill>
              </a:rPr>
              <a:t>writer</a:t>
            </a:r>
            <a:r>
              <a:rPr lang="zh-CN" altLang="en-US" sz="2000" b="1" dirty="0">
                <a:solidFill>
                  <a:srgbClr val="FFFF00"/>
                </a:solidFill>
              </a:rPr>
              <a:t>进程去写。</a:t>
            </a:r>
          </a:p>
          <a:p>
            <a:pPr algn="ctr"/>
            <a:r>
              <a:rPr lang="zh-CN" altLang="en-US" sz="2000" b="1" dirty="0">
                <a:solidFill>
                  <a:srgbClr val="FFFF00"/>
                </a:solidFill>
              </a:rPr>
              <a:t>仅当</a:t>
            </a:r>
            <a:r>
              <a:rPr lang="en-US" altLang="zh-CN" sz="2000" b="1" dirty="0" err="1">
                <a:solidFill>
                  <a:srgbClr val="FFFF00"/>
                </a:solidFill>
              </a:rPr>
              <a:t>Rcount</a:t>
            </a:r>
            <a:r>
              <a:rPr lang="en-US" altLang="zh-CN" sz="2000" b="1" dirty="0">
                <a:solidFill>
                  <a:srgbClr val="FFFF00"/>
                </a:solidFill>
              </a:rPr>
              <a:t>=0</a:t>
            </a:r>
            <a:r>
              <a:rPr lang="zh-CN" altLang="en-US" sz="2000" b="1" dirty="0">
                <a:solidFill>
                  <a:srgbClr val="FFFF00"/>
                </a:solidFill>
              </a:rPr>
              <a:t>，</a:t>
            </a:r>
            <a:r>
              <a:rPr lang="en-US" altLang="zh-CN" sz="2000" b="1" dirty="0">
                <a:solidFill>
                  <a:srgbClr val="FFFF00"/>
                </a:solidFill>
              </a:rPr>
              <a:t>reader</a:t>
            </a:r>
            <a:r>
              <a:rPr lang="zh-CN" altLang="en-US" sz="2000" b="1" dirty="0">
                <a:solidFill>
                  <a:srgbClr val="FFFF00"/>
                </a:solidFill>
              </a:rPr>
              <a:t>进程才需要执行</a:t>
            </a:r>
            <a:r>
              <a:rPr lang="en-US" altLang="zh-CN" sz="2000" b="1" dirty="0">
                <a:solidFill>
                  <a:srgbClr val="FFFF00"/>
                </a:solidFill>
              </a:rPr>
              <a:t>P(</a:t>
            </a:r>
            <a:r>
              <a:rPr lang="en-US" altLang="zh-CN" sz="2000" b="1" dirty="0" err="1">
                <a:solidFill>
                  <a:srgbClr val="FFFF00"/>
                </a:solidFill>
              </a:rPr>
              <a:t>Wmutex</a:t>
            </a:r>
            <a:r>
              <a:rPr lang="en-US" altLang="zh-CN" sz="2000" b="1" dirty="0">
                <a:solidFill>
                  <a:srgbClr val="FFFF00"/>
                </a:solidFill>
              </a:rPr>
              <a:t>)</a:t>
            </a:r>
            <a:r>
              <a:rPr lang="zh-CN" altLang="en-US" sz="2000" b="1" dirty="0">
                <a:solidFill>
                  <a:srgbClr val="FFFF00"/>
                </a:solidFill>
              </a:rPr>
              <a:t>操作</a:t>
            </a:r>
          </a:p>
        </p:txBody>
      </p:sp>
      <p:sp>
        <p:nvSpPr>
          <p:cNvPr id="62493" name="AutoShape 29"/>
          <p:cNvSpPr>
            <a:spLocks noChangeArrowheads="1"/>
          </p:cNvSpPr>
          <p:nvPr/>
        </p:nvSpPr>
        <p:spPr bwMode="auto">
          <a:xfrm flipH="1">
            <a:off x="858078" y="5214735"/>
            <a:ext cx="6019800" cy="762000"/>
          </a:xfrm>
          <a:prstGeom prst="homePlate">
            <a:avLst>
              <a:gd name="adj" fmla="val 197500"/>
            </a:avLst>
          </a:prstGeom>
          <a:solidFill>
            <a:srgbClr val="0033CC"/>
          </a:solidFill>
          <a:ln w="9525">
            <a:solidFill>
              <a:schemeClr val="tx1"/>
            </a:solidFill>
            <a:miter lim="800000"/>
            <a:headEnd/>
            <a:tailEnd/>
          </a:ln>
          <a:effectLst/>
        </p:spPr>
        <p:txBody>
          <a:bodyPr wrap="none" anchor="ctr"/>
          <a:lstStyle/>
          <a:p>
            <a:pPr algn="ctr"/>
            <a:r>
              <a:rPr lang="zh-CN" altLang="en-US" sz="2000" b="1">
                <a:solidFill>
                  <a:srgbClr val="FFFF00"/>
                </a:solidFill>
              </a:rPr>
              <a:t>仅当</a:t>
            </a:r>
            <a:r>
              <a:rPr lang="en-US" altLang="zh-CN" sz="2000" b="1">
                <a:solidFill>
                  <a:srgbClr val="FFFF00"/>
                </a:solidFill>
              </a:rPr>
              <a:t>reader</a:t>
            </a:r>
            <a:r>
              <a:rPr lang="zh-CN" altLang="en-US" sz="2000" b="1">
                <a:solidFill>
                  <a:srgbClr val="FFFF00"/>
                </a:solidFill>
              </a:rPr>
              <a:t>进程执行了</a:t>
            </a:r>
            <a:r>
              <a:rPr lang="en-US" altLang="zh-CN" sz="2000" b="1">
                <a:solidFill>
                  <a:srgbClr val="FFFF00"/>
                </a:solidFill>
              </a:rPr>
              <a:t>Rcount</a:t>
            </a:r>
            <a:r>
              <a:rPr lang="zh-CN" altLang="en-US" sz="2000" b="1">
                <a:solidFill>
                  <a:srgbClr val="FFFF00"/>
                </a:solidFill>
              </a:rPr>
              <a:t>减</a:t>
            </a:r>
            <a:r>
              <a:rPr lang="en-US" altLang="zh-CN" sz="2000" b="1">
                <a:solidFill>
                  <a:srgbClr val="FFFF00"/>
                </a:solidFill>
              </a:rPr>
              <a:t>1</a:t>
            </a:r>
            <a:r>
              <a:rPr lang="zh-CN" altLang="en-US" sz="2000" b="1">
                <a:solidFill>
                  <a:srgbClr val="FFFF00"/>
                </a:solidFill>
              </a:rPr>
              <a:t>操作后</a:t>
            </a:r>
          </a:p>
          <a:p>
            <a:pPr algn="ctr"/>
            <a:r>
              <a:rPr lang="zh-CN" altLang="en-US" sz="2000" b="1">
                <a:solidFill>
                  <a:srgbClr val="FFFF00"/>
                </a:solidFill>
              </a:rPr>
              <a:t>其值为</a:t>
            </a:r>
            <a:r>
              <a:rPr lang="en-US" altLang="zh-CN" sz="2000" b="1">
                <a:solidFill>
                  <a:srgbClr val="FFFF00"/>
                </a:solidFill>
              </a:rPr>
              <a:t>0</a:t>
            </a:r>
            <a:r>
              <a:rPr lang="zh-CN" altLang="en-US" sz="2000" b="1">
                <a:solidFill>
                  <a:srgbClr val="FFFF00"/>
                </a:solidFill>
              </a:rPr>
              <a:t>时，才须执行</a:t>
            </a:r>
            <a:r>
              <a:rPr lang="en-US" altLang="zh-CN" sz="2000" b="1">
                <a:solidFill>
                  <a:srgbClr val="FFFF00"/>
                </a:solidFill>
              </a:rPr>
              <a:t>V(Wmutex)</a:t>
            </a:r>
            <a:r>
              <a:rPr lang="zh-CN" altLang="en-US" sz="2000" b="1">
                <a:solidFill>
                  <a:srgbClr val="FFFF00"/>
                </a:solidFill>
              </a:rPr>
              <a:t>操作</a:t>
            </a:r>
          </a:p>
        </p:txBody>
      </p:sp>
      <p:sp>
        <p:nvSpPr>
          <p:cNvPr id="5" name="Title 1"/>
          <p:cNvSpPr>
            <a:spLocks noGrp="1"/>
          </p:cNvSpPr>
          <p:nvPr>
            <p:ph type="title"/>
          </p:nvPr>
        </p:nvSpPr>
        <p:spPr>
          <a:xfrm>
            <a:off x="628650" y="140676"/>
            <a:ext cx="7886700" cy="693274"/>
          </a:xfrm>
        </p:spPr>
        <p:txBody>
          <a:bodyPr/>
          <a:lstStyle/>
          <a:p>
            <a:r>
              <a:rPr lang="zh-CN" altLang="en-US" dirty="0"/>
              <a:t>读</a:t>
            </a:r>
            <a:r>
              <a:rPr lang="zh-CN" altLang="en-US" dirty="0" smtClean="0"/>
              <a:t>者</a:t>
            </a:r>
            <a:r>
              <a:rPr lang="en-US" altLang="zh-CN" dirty="0" smtClean="0"/>
              <a:t>-</a:t>
            </a:r>
            <a:r>
              <a:rPr lang="zh-CN" altLang="en-US" dirty="0" smtClean="0"/>
              <a:t>写者问题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2492"/>
                                        </p:tgtEl>
                                        <p:attrNameLst>
                                          <p:attrName>style.visibility</p:attrName>
                                        </p:attrNameLst>
                                      </p:cBhvr>
                                      <p:to>
                                        <p:strVal val="visible"/>
                                      </p:to>
                                    </p:set>
                                    <p:anim calcmode="lin" valueType="num">
                                      <p:cBhvr>
                                        <p:cTn id="7" dur="500" fill="hold"/>
                                        <p:tgtEl>
                                          <p:spTgt spid="62492"/>
                                        </p:tgtEl>
                                        <p:attrNameLst>
                                          <p:attrName>ppt_x</p:attrName>
                                        </p:attrNameLst>
                                      </p:cBhvr>
                                      <p:tavLst>
                                        <p:tav tm="0">
                                          <p:val>
                                            <p:strVal val="#ppt_x-#ppt_w/2"/>
                                          </p:val>
                                        </p:tav>
                                        <p:tav tm="100000">
                                          <p:val>
                                            <p:strVal val="#ppt_x"/>
                                          </p:val>
                                        </p:tav>
                                      </p:tavLst>
                                    </p:anim>
                                    <p:anim calcmode="lin" valueType="num">
                                      <p:cBhvr>
                                        <p:cTn id="8" dur="500" fill="hold"/>
                                        <p:tgtEl>
                                          <p:spTgt spid="62492"/>
                                        </p:tgtEl>
                                        <p:attrNameLst>
                                          <p:attrName>ppt_y</p:attrName>
                                        </p:attrNameLst>
                                      </p:cBhvr>
                                      <p:tavLst>
                                        <p:tav tm="0">
                                          <p:val>
                                            <p:strVal val="#ppt_y"/>
                                          </p:val>
                                        </p:tav>
                                        <p:tav tm="100000">
                                          <p:val>
                                            <p:strVal val="#ppt_y"/>
                                          </p:val>
                                        </p:tav>
                                      </p:tavLst>
                                    </p:anim>
                                    <p:anim calcmode="lin" valueType="num">
                                      <p:cBhvr>
                                        <p:cTn id="9" dur="500" fill="hold"/>
                                        <p:tgtEl>
                                          <p:spTgt spid="62492"/>
                                        </p:tgtEl>
                                        <p:attrNameLst>
                                          <p:attrName>ppt_w</p:attrName>
                                        </p:attrNameLst>
                                      </p:cBhvr>
                                      <p:tavLst>
                                        <p:tav tm="0">
                                          <p:val>
                                            <p:fltVal val="0"/>
                                          </p:val>
                                        </p:tav>
                                        <p:tav tm="100000">
                                          <p:val>
                                            <p:strVal val="#ppt_w"/>
                                          </p:val>
                                        </p:tav>
                                      </p:tavLst>
                                    </p:anim>
                                    <p:anim calcmode="lin" valueType="num">
                                      <p:cBhvr>
                                        <p:cTn id="10" dur="500" fill="hold"/>
                                        <p:tgtEl>
                                          <p:spTgt spid="62492"/>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2" fill="hold" grpId="0" nodeType="clickEffect">
                                  <p:stCondLst>
                                    <p:cond delay="0"/>
                                  </p:stCondLst>
                                  <p:childTnLst>
                                    <p:set>
                                      <p:cBhvr>
                                        <p:cTn id="14" dur="1" fill="hold">
                                          <p:stCondLst>
                                            <p:cond delay="0"/>
                                          </p:stCondLst>
                                        </p:cTn>
                                        <p:tgtEl>
                                          <p:spTgt spid="62493"/>
                                        </p:tgtEl>
                                        <p:attrNameLst>
                                          <p:attrName>style.visibility</p:attrName>
                                        </p:attrNameLst>
                                      </p:cBhvr>
                                      <p:to>
                                        <p:strVal val="visible"/>
                                      </p:to>
                                    </p:set>
                                    <p:anim calcmode="lin" valueType="num">
                                      <p:cBhvr>
                                        <p:cTn id="15" dur="500" fill="hold"/>
                                        <p:tgtEl>
                                          <p:spTgt spid="62493"/>
                                        </p:tgtEl>
                                        <p:attrNameLst>
                                          <p:attrName>ppt_x</p:attrName>
                                        </p:attrNameLst>
                                      </p:cBhvr>
                                      <p:tavLst>
                                        <p:tav tm="0">
                                          <p:val>
                                            <p:strVal val="#ppt_x+#ppt_w/2"/>
                                          </p:val>
                                        </p:tav>
                                        <p:tav tm="100000">
                                          <p:val>
                                            <p:strVal val="#ppt_x"/>
                                          </p:val>
                                        </p:tav>
                                      </p:tavLst>
                                    </p:anim>
                                    <p:anim calcmode="lin" valueType="num">
                                      <p:cBhvr>
                                        <p:cTn id="16" dur="500" fill="hold"/>
                                        <p:tgtEl>
                                          <p:spTgt spid="62493"/>
                                        </p:tgtEl>
                                        <p:attrNameLst>
                                          <p:attrName>ppt_y</p:attrName>
                                        </p:attrNameLst>
                                      </p:cBhvr>
                                      <p:tavLst>
                                        <p:tav tm="0">
                                          <p:val>
                                            <p:strVal val="#ppt_y"/>
                                          </p:val>
                                        </p:tav>
                                        <p:tav tm="100000">
                                          <p:val>
                                            <p:strVal val="#ppt_y"/>
                                          </p:val>
                                        </p:tav>
                                      </p:tavLst>
                                    </p:anim>
                                    <p:anim calcmode="lin" valueType="num">
                                      <p:cBhvr>
                                        <p:cTn id="17" dur="500" fill="hold"/>
                                        <p:tgtEl>
                                          <p:spTgt spid="62493"/>
                                        </p:tgtEl>
                                        <p:attrNameLst>
                                          <p:attrName>ppt_w</p:attrName>
                                        </p:attrNameLst>
                                      </p:cBhvr>
                                      <p:tavLst>
                                        <p:tav tm="0">
                                          <p:val>
                                            <p:fltVal val="0"/>
                                          </p:val>
                                        </p:tav>
                                        <p:tav tm="100000">
                                          <p:val>
                                            <p:strVal val="#ppt_w"/>
                                          </p:val>
                                        </p:tav>
                                      </p:tavLst>
                                    </p:anim>
                                    <p:anim calcmode="lin" valueType="num">
                                      <p:cBhvr>
                                        <p:cTn id="18" dur="500" fill="hold"/>
                                        <p:tgtEl>
                                          <p:spTgt spid="6249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92" grpId="0" animBg="1" autoUpdateAnimBg="0"/>
      <p:bldP spid="62493"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读</a:t>
            </a:r>
            <a:r>
              <a:rPr lang="zh-CN" altLang="en-US" dirty="0" smtClean="0"/>
              <a:t>者</a:t>
            </a:r>
            <a:r>
              <a:rPr lang="en-US" altLang="zh-CN" dirty="0" smtClean="0"/>
              <a:t>-</a:t>
            </a:r>
            <a:r>
              <a:rPr lang="zh-CN" altLang="en-US" dirty="0" smtClean="0"/>
              <a:t>写者问题</a:t>
            </a:r>
            <a:endParaRPr lang="zh-CN" altLang="en-US" dirty="0"/>
          </a:p>
        </p:txBody>
      </p:sp>
      <p:sp>
        <p:nvSpPr>
          <p:cNvPr id="3" name="Content Placeholder 2"/>
          <p:cNvSpPr>
            <a:spLocks noGrp="1"/>
          </p:cNvSpPr>
          <p:nvPr>
            <p:ph idx="1"/>
          </p:nvPr>
        </p:nvSpPr>
        <p:spPr/>
        <p:txBody>
          <a:bodyPr/>
          <a:lstStyle/>
          <a:p>
            <a:r>
              <a:rPr lang="zh-CN" altLang="en-US" dirty="0" smtClean="0"/>
              <a:t>读者优先的算法</a:t>
            </a:r>
            <a:endParaRPr lang="en-US" altLang="zh-CN" dirty="0" smtClean="0"/>
          </a:p>
          <a:p>
            <a:pPr lvl="1"/>
            <a:r>
              <a:rPr lang="zh-CN" altLang="en-US" dirty="0"/>
              <a:t>只</a:t>
            </a:r>
            <a:r>
              <a:rPr lang="zh-CN" altLang="en-US" dirty="0" smtClean="0"/>
              <a:t>要有读者，写者就等待</a:t>
            </a:r>
            <a:endParaRPr lang="zh-CN" altLang="en-US" dirty="0"/>
          </a:p>
        </p:txBody>
      </p:sp>
      <p:sp>
        <p:nvSpPr>
          <p:cNvPr id="4" name="Date Placeholder 3"/>
          <p:cNvSpPr>
            <a:spLocks noGrp="1"/>
          </p:cNvSpPr>
          <p:nvPr>
            <p:ph type="dt" sz="half" idx="10"/>
          </p:nvPr>
        </p:nvSpPr>
        <p:spPr/>
        <p:txBody>
          <a:bodyPr/>
          <a:lstStyle/>
          <a:p>
            <a:fld id="{BE607921-2B00-4EB8-B4C0-E4F87528390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78</a:t>
            </a:fld>
            <a:endParaRPr lang="zh-CN" altLang="en-US" dirty="0"/>
          </a:p>
        </p:txBody>
      </p:sp>
      <p:sp>
        <p:nvSpPr>
          <p:cNvPr id="7" name="TextBox 6"/>
          <p:cNvSpPr txBox="1"/>
          <p:nvPr/>
        </p:nvSpPr>
        <p:spPr>
          <a:xfrm>
            <a:off x="1187624" y="2596842"/>
            <a:ext cx="1872208" cy="400110"/>
          </a:xfrm>
          <a:prstGeom prst="rect">
            <a:avLst/>
          </a:prstGeom>
          <a:noFill/>
        </p:spPr>
        <p:txBody>
          <a:bodyPr wrap="square" rtlCol="0">
            <a:spAutoFit/>
          </a:bodyPr>
          <a:lstStyle/>
          <a:p>
            <a:pPr algn="ctr"/>
            <a:r>
              <a:rPr lang="zh-CN" altLang="en-US" sz="2000" b="1" dirty="0" smtClean="0">
                <a:solidFill>
                  <a:srgbClr val="0000FF"/>
                </a:solidFill>
                <a:latin typeface="楷体" panose="02010609060101010101" pitchFamily="49" charset="-122"/>
                <a:ea typeface="楷体" panose="02010609060101010101" pitchFamily="49" charset="-122"/>
              </a:rPr>
              <a:t>写者进程</a:t>
            </a:r>
            <a:endParaRPr lang="zh-CN" altLang="en-US" sz="2000" b="1" dirty="0">
              <a:solidFill>
                <a:srgbClr val="0000FF"/>
              </a:solidFill>
              <a:latin typeface="楷体" panose="02010609060101010101" pitchFamily="49" charset="-122"/>
              <a:ea typeface="楷体" panose="02010609060101010101" pitchFamily="49" charset="-122"/>
            </a:endParaRPr>
          </a:p>
        </p:txBody>
      </p:sp>
      <p:sp>
        <p:nvSpPr>
          <p:cNvPr id="8" name="TextBox 7"/>
          <p:cNvSpPr txBox="1"/>
          <p:nvPr/>
        </p:nvSpPr>
        <p:spPr>
          <a:xfrm>
            <a:off x="5652120" y="1700808"/>
            <a:ext cx="1872208" cy="400110"/>
          </a:xfrm>
          <a:prstGeom prst="rect">
            <a:avLst/>
          </a:prstGeom>
          <a:noFill/>
        </p:spPr>
        <p:txBody>
          <a:bodyPr wrap="square" rtlCol="0">
            <a:spAutoFit/>
          </a:bodyPr>
          <a:lstStyle/>
          <a:p>
            <a:pPr algn="ctr"/>
            <a:r>
              <a:rPr lang="zh-CN" altLang="en-US" sz="2000" b="1" dirty="0">
                <a:solidFill>
                  <a:srgbClr val="0000FF"/>
                </a:solidFill>
                <a:latin typeface="楷体" panose="02010609060101010101" pitchFamily="49" charset="-122"/>
                <a:ea typeface="楷体" panose="02010609060101010101" pitchFamily="49" charset="-122"/>
              </a:rPr>
              <a:t>读者</a:t>
            </a:r>
            <a:r>
              <a:rPr lang="zh-CN" altLang="en-US" sz="2000" b="1" dirty="0" smtClean="0">
                <a:solidFill>
                  <a:srgbClr val="0000FF"/>
                </a:solidFill>
                <a:latin typeface="楷体" panose="02010609060101010101" pitchFamily="49" charset="-122"/>
                <a:ea typeface="楷体" panose="02010609060101010101" pitchFamily="49" charset="-122"/>
              </a:rPr>
              <a:t>进程</a:t>
            </a:r>
            <a:endParaRPr lang="zh-CN" altLang="en-US" sz="2000" b="1" dirty="0">
              <a:solidFill>
                <a:srgbClr val="0000FF"/>
              </a:solidFill>
              <a:latin typeface="楷体" panose="02010609060101010101" pitchFamily="49" charset="-122"/>
              <a:ea typeface="楷体" panose="02010609060101010101" pitchFamily="49" charset="-122"/>
            </a:endParaRPr>
          </a:p>
        </p:txBody>
      </p:sp>
      <p:sp>
        <p:nvSpPr>
          <p:cNvPr id="9" name="TextBox 8"/>
          <p:cNvSpPr txBox="1"/>
          <p:nvPr/>
        </p:nvSpPr>
        <p:spPr>
          <a:xfrm>
            <a:off x="827584" y="3316922"/>
            <a:ext cx="2592288" cy="1631216"/>
          </a:xfrm>
          <a:prstGeom prst="rect">
            <a:avLst/>
          </a:prstGeom>
          <a:noFill/>
          <a:ln>
            <a:solidFill>
              <a:srgbClr val="0000FF"/>
            </a:solidFill>
          </a:ln>
        </p:spPr>
        <p:txBody>
          <a:bodyPr wrap="square" rtlCol="0">
            <a:spAutoFit/>
          </a:bodyPr>
          <a:lstStyle/>
          <a:p>
            <a:r>
              <a:rPr lang="en-US" altLang="zh-CN" sz="2000" b="1" dirty="0" smtClean="0"/>
              <a:t>While (TRUE) {</a:t>
            </a:r>
          </a:p>
          <a:p>
            <a:r>
              <a:rPr lang="en-US" altLang="zh-CN" sz="2000" b="1" dirty="0" smtClean="0"/>
              <a:t>      P(</a:t>
            </a:r>
            <a:r>
              <a:rPr lang="en-US" altLang="zh-CN" sz="2000" b="1" dirty="0" err="1" smtClean="0"/>
              <a:t>Wmutex</a:t>
            </a:r>
            <a:r>
              <a:rPr lang="en-US" altLang="zh-CN" sz="2000" b="1" dirty="0" smtClean="0"/>
              <a:t>);</a:t>
            </a:r>
          </a:p>
          <a:p>
            <a:r>
              <a:rPr lang="en-US" altLang="zh-CN" sz="2000" b="1" dirty="0" smtClean="0"/>
              <a:t>      Write;</a:t>
            </a:r>
          </a:p>
          <a:p>
            <a:r>
              <a:rPr lang="en-US" altLang="zh-CN" sz="2000" b="1" dirty="0" smtClean="0"/>
              <a:t>      V(</a:t>
            </a:r>
            <a:r>
              <a:rPr lang="en-US" altLang="zh-CN" sz="2000" b="1" dirty="0" err="1" smtClean="0"/>
              <a:t>Wmutex</a:t>
            </a:r>
            <a:r>
              <a:rPr lang="en-US" altLang="zh-CN" sz="2000" b="1" dirty="0" smtClean="0"/>
              <a:t>);</a:t>
            </a:r>
          </a:p>
          <a:p>
            <a:r>
              <a:rPr lang="en-US" altLang="zh-CN" sz="2000" b="1" dirty="0"/>
              <a:t>}</a:t>
            </a:r>
            <a:r>
              <a:rPr lang="en-US" altLang="zh-CN" sz="2000" b="1" dirty="0" smtClean="0"/>
              <a:t>  </a:t>
            </a:r>
            <a:endParaRPr lang="zh-CN" altLang="en-US" sz="2000" b="1" dirty="0"/>
          </a:p>
        </p:txBody>
      </p:sp>
      <p:sp>
        <p:nvSpPr>
          <p:cNvPr id="10" name="TextBox 9"/>
          <p:cNvSpPr txBox="1"/>
          <p:nvPr/>
        </p:nvSpPr>
        <p:spPr>
          <a:xfrm>
            <a:off x="4942657" y="2276872"/>
            <a:ext cx="3301751" cy="4247317"/>
          </a:xfrm>
          <a:prstGeom prst="rect">
            <a:avLst/>
          </a:prstGeom>
          <a:noFill/>
          <a:ln>
            <a:solidFill>
              <a:srgbClr val="0000FF"/>
            </a:solidFill>
          </a:ln>
        </p:spPr>
        <p:txBody>
          <a:bodyPr wrap="square" rtlCol="0">
            <a:spAutoFit/>
          </a:bodyPr>
          <a:lstStyle/>
          <a:p>
            <a:r>
              <a:rPr lang="en-US" altLang="zh-CN" b="1" dirty="0" smtClean="0"/>
              <a:t>While (TRUE) {</a:t>
            </a:r>
          </a:p>
          <a:p>
            <a:pPr lvl="1"/>
            <a:r>
              <a:rPr lang="en-US" altLang="zh-CN" b="1" dirty="0" smtClean="0">
                <a:solidFill>
                  <a:srgbClr val="0000FF"/>
                </a:solidFill>
              </a:rPr>
              <a:t>P(</a:t>
            </a:r>
            <a:r>
              <a:rPr lang="en-US" altLang="zh-CN" b="1" dirty="0" err="1" smtClean="0">
                <a:solidFill>
                  <a:srgbClr val="0000FF"/>
                </a:solidFill>
              </a:rPr>
              <a:t>Rmutex</a:t>
            </a:r>
            <a:r>
              <a:rPr lang="en-US" altLang="zh-CN" b="1" dirty="0" smtClean="0">
                <a:solidFill>
                  <a:srgbClr val="0000FF"/>
                </a:solidFill>
              </a:rPr>
              <a:t>);</a:t>
            </a:r>
          </a:p>
          <a:p>
            <a:pPr lvl="1"/>
            <a:r>
              <a:rPr lang="en-US" altLang="zh-CN" b="1" dirty="0" smtClean="0"/>
              <a:t>if (</a:t>
            </a:r>
            <a:r>
              <a:rPr lang="en-US" altLang="zh-CN" b="1" dirty="0" err="1" smtClean="0"/>
              <a:t>Rcount</a:t>
            </a:r>
            <a:r>
              <a:rPr lang="en-US" altLang="zh-CN" b="1" dirty="0" smtClean="0"/>
              <a:t> == 0)</a:t>
            </a:r>
          </a:p>
          <a:p>
            <a:pPr lvl="1"/>
            <a:r>
              <a:rPr lang="en-US" altLang="zh-CN" b="1" dirty="0" smtClean="0"/>
              <a:t>      </a:t>
            </a:r>
            <a:r>
              <a:rPr lang="en-US" altLang="zh-CN" b="1" dirty="0" smtClean="0">
                <a:solidFill>
                  <a:srgbClr val="FF0000"/>
                </a:solidFill>
              </a:rPr>
              <a:t>P(</a:t>
            </a:r>
            <a:r>
              <a:rPr lang="en-US" altLang="zh-CN" b="1" dirty="0" err="1" smtClean="0">
                <a:solidFill>
                  <a:srgbClr val="FF0000"/>
                </a:solidFill>
              </a:rPr>
              <a:t>Wmutex</a:t>
            </a:r>
            <a:r>
              <a:rPr lang="en-US" altLang="zh-CN" b="1" dirty="0" smtClean="0">
                <a:solidFill>
                  <a:srgbClr val="FF0000"/>
                </a:solidFill>
              </a:rPr>
              <a:t>);</a:t>
            </a:r>
          </a:p>
          <a:p>
            <a:pPr lvl="1"/>
            <a:r>
              <a:rPr lang="en-US" altLang="zh-CN" b="1" dirty="0" smtClean="0"/>
              <a:t>++</a:t>
            </a:r>
            <a:r>
              <a:rPr lang="en-US" altLang="zh-CN" b="1" dirty="0" err="1" smtClean="0"/>
              <a:t>Rcount</a:t>
            </a:r>
            <a:r>
              <a:rPr lang="en-US" altLang="zh-CN" b="1" dirty="0" smtClean="0"/>
              <a:t>;</a:t>
            </a:r>
          </a:p>
          <a:p>
            <a:pPr lvl="1"/>
            <a:r>
              <a:rPr lang="en-US" altLang="zh-CN" b="1" dirty="0" smtClean="0">
                <a:solidFill>
                  <a:srgbClr val="0000FF"/>
                </a:solidFill>
              </a:rPr>
              <a:t>V(</a:t>
            </a:r>
            <a:r>
              <a:rPr lang="en-US" altLang="zh-CN" b="1" dirty="0" err="1" smtClean="0">
                <a:solidFill>
                  <a:srgbClr val="0000FF"/>
                </a:solidFill>
              </a:rPr>
              <a:t>Rmutex</a:t>
            </a:r>
            <a:r>
              <a:rPr lang="en-US" altLang="zh-CN" b="1" dirty="0" smtClean="0">
                <a:solidFill>
                  <a:srgbClr val="0000FF"/>
                </a:solidFill>
              </a:rPr>
              <a:t>);</a:t>
            </a:r>
          </a:p>
          <a:p>
            <a:pPr lvl="1"/>
            <a:endParaRPr lang="en-US" altLang="zh-CN" b="1" dirty="0" smtClean="0">
              <a:solidFill>
                <a:srgbClr val="0000FF"/>
              </a:solidFill>
            </a:endParaRPr>
          </a:p>
          <a:p>
            <a:pPr lvl="1"/>
            <a:r>
              <a:rPr lang="en-US" altLang="zh-CN" b="1" dirty="0" smtClean="0"/>
              <a:t>Read;</a:t>
            </a:r>
          </a:p>
          <a:p>
            <a:pPr lvl="1"/>
            <a:endParaRPr lang="en-US" altLang="zh-CN" b="1" dirty="0" smtClean="0"/>
          </a:p>
          <a:p>
            <a:pPr lvl="1"/>
            <a:r>
              <a:rPr lang="en-US" altLang="zh-CN" b="1" dirty="0" smtClean="0">
                <a:solidFill>
                  <a:srgbClr val="0000FF"/>
                </a:solidFill>
              </a:rPr>
              <a:t>P(</a:t>
            </a:r>
            <a:r>
              <a:rPr lang="en-US" altLang="zh-CN" b="1" dirty="0" err="1" smtClean="0">
                <a:solidFill>
                  <a:srgbClr val="0000FF"/>
                </a:solidFill>
              </a:rPr>
              <a:t>Rmutex</a:t>
            </a:r>
            <a:r>
              <a:rPr lang="en-US" altLang="zh-CN" b="1" dirty="0" smtClean="0">
                <a:solidFill>
                  <a:srgbClr val="0000FF"/>
                </a:solidFill>
              </a:rPr>
              <a:t>);</a:t>
            </a:r>
          </a:p>
          <a:p>
            <a:pPr lvl="1"/>
            <a:r>
              <a:rPr lang="en-US" altLang="zh-CN" b="1" dirty="0" smtClean="0"/>
              <a:t>If (</a:t>
            </a:r>
            <a:r>
              <a:rPr lang="en-US" altLang="zh-CN" b="1" dirty="0" err="1" smtClean="0"/>
              <a:t>Rcount</a:t>
            </a:r>
            <a:r>
              <a:rPr lang="en-US" altLang="zh-CN" b="1" dirty="0" smtClean="0"/>
              <a:t> == 1)</a:t>
            </a:r>
          </a:p>
          <a:p>
            <a:pPr lvl="1"/>
            <a:r>
              <a:rPr lang="en-US" altLang="zh-CN" b="1" dirty="0"/>
              <a:t> </a:t>
            </a:r>
            <a:r>
              <a:rPr lang="en-US" altLang="zh-CN" b="1" dirty="0" smtClean="0"/>
              <a:t>     </a:t>
            </a:r>
            <a:r>
              <a:rPr lang="en-US" altLang="zh-CN" b="1" dirty="0" smtClean="0">
                <a:solidFill>
                  <a:srgbClr val="FF0000"/>
                </a:solidFill>
              </a:rPr>
              <a:t>V(</a:t>
            </a:r>
            <a:r>
              <a:rPr lang="en-US" altLang="zh-CN" b="1" dirty="0" err="1" smtClean="0">
                <a:solidFill>
                  <a:srgbClr val="FF0000"/>
                </a:solidFill>
              </a:rPr>
              <a:t>Wmutex</a:t>
            </a:r>
            <a:r>
              <a:rPr lang="en-US" altLang="zh-CN" b="1" dirty="0" smtClean="0">
                <a:solidFill>
                  <a:srgbClr val="FF0000"/>
                </a:solidFill>
              </a:rPr>
              <a:t>);</a:t>
            </a:r>
          </a:p>
          <a:p>
            <a:pPr lvl="1"/>
            <a:r>
              <a:rPr lang="en-US" altLang="zh-CN" b="1" dirty="0" smtClean="0"/>
              <a:t>--</a:t>
            </a:r>
            <a:r>
              <a:rPr lang="en-US" altLang="zh-CN" b="1" dirty="0" err="1" smtClean="0"/>
              <a:t>Rcount</a:t>
            </a:r>
            <a:r>
              <a:rPr lang="en-US" altLang="zh-CN" b="1" dirty="0" smtClean="0"/>
              <a:t>;</a:t>
            </a:r>
          </a:p>
          <a:p>
            <a:pPr lvl="1"/>
            <a:r>
              <a:rPr lang="en-US" altLang="zh-CN" b="1" dirty="0" smtClean="0">
                <a:solidFill>
                  <a:srgbClr val="0000FF"/>
                </a:solidFill>
              </a:rPr>
              <a:t>V(</a:t>
            </a:r>
            <a:r>
              <a:rPr lang="en-US" altLang="zh-CN" b="1" dirty="0" err="1" smtClean="0">
                <a:solidFill>
                  <a:srgbClr val="0000FF"/>
                </a:solidFill>
              </a:rPr>
              <a:t>Rmutex</a:t>
            </a:r>
            <a:r>
              <a:rPr lang="en-US" altLang="zh-CN" b="1" dirty="0" smtClean="0">
                <a:solidFill>
                  <a:srgbClr val="0000FF"/>
                </a:solidFill>
              </a:rPr>
              <a:t>);</a:t>
            </a:r>
          </a:p>
          <a:p>
            <a:r>
              <a:rPr lang="en-US" altLang="zh-CN" b="1" dirty="0" smtClean="0"/>
              <a:t>}</a:t>
            </a:r>
            <a:endParaRPr lang="zh-CN" altLang="en-US" b="1" dirty="0"/>
          </a:p>
        </p:txBody>
      </p:sp>
    </p:spTree>
    <p:extLst>
      <p:ext uri="{BB962C8B-B14F-4D97-AF65-F5344CB8AC3E}">
        <p14:creationId xmlns:p14="http://schemas.microsoft.com/office/powerpoint/2010/main" val="101307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anim calcmode="lin" valueType="num">
                                      <p:cBhvr additive="base">
                                        <p:cTn id="1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9" end="9"/>
                                            </p:txEl>
                                          </p:spTgt>
                                        </p:tgtEl>
                                        <p:attrNameLst>
                                          <p:attrName>style.visibility</p:attrName>
                                        </p:attrNameLst>
                                      </p:cBhvr>
                                      <p:to>
                                        <p:strVal val="visible"/>
                                      </p:to>
                                    </p:set>
                                    <p:anim calcmode="lin" valueType="num">
                                      <p:cBhvr additive="base">
                                        <p:cTn id="19"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13" end="13"/>
                                            </p:txEl>
                                          </p:spTgt>
                                        </p:tgtEl>
                                        <p:attrNameLst>
                                          <p:attrName>style.visibility</p:attrName>
                                        </p:attrNameLst>
                                      </p:cBhvr>
                                      <p:to>
                                        <p:strVal val="visible"/>
                                      </p:to>
                                    </p:set>
                                    <p:anim calcmode="lin" valueType="num">
                                      <p:cBhvr additive="base">
                                        <p:cTn id="25" dur="500" fill="hold"/>
                                        <p:tgtEl>
                                          <p:spTgt spid="10">
                                            <p:txEl>
                                              <p:pRg st="13" end="1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哲学家进餐问题</a:t>
            </a:r>
            <a:endParaRPr lang="zh-CN" altLang="en-US" dirty="0"/>
          </a:p>
        </p:txBody>
      </p:sp>
      <p:sp>
        <p:nvSpPr>
          <p:cNvPr id="3" name="Content Placeholder 2"/>
          <p:cNvSpPr>
            <a:spLocks noGrp="1"/>
          </p:cNvSpPr>
          <p:nvPr>
            <p:ph idx="1"/>
          </p:nvPr>
        </p:nvSpPr>
        <p:spPr/>
        <p:txBody>
          <a:bodyPr>
            <a:normAutofit fontScale="92500" lnSpcReduction="10000"/>
          </a:bodyPr>
          <a:lstStyle/>
          <a:p>
            <a:r>
              <a:rPr lang="en-US" altLang="zh-CN" dirty="0" smtClean="0"/>
              <a:t>The Dining Philosophers Problem</a:t>
            </a:r>
          </a:p>
          <a:p>
            <a:r>
              <a:rPr lang="zh-CN" altLang="en-US" dirty="0"/>
              <a:t>问</a:t>
            </a:r>
            <a:r>
              <a:rPr lang="zh-CN" altLang="en-US" dirty="0" smtClean="0"/>
              <a:t>题描述</a:t>
            </a:r>
            <a:endParaRPr lang="en-US" altLang="zh-CN" dirty="0" smtClean="0"/>
          </a:p>
          <a:p>
            <a:pPr lvl="1"/>
            <a:r>
              <a:rPr lang="en-US" altLang="zh-CN" dirty="0" smtClean="0"/>
              <a:t>5</a:t>
            </a:r>
            <a:r>
              <a:rPr lang="zh-CN" altLang="en-US" dirty="0" smtClean="0"/>
              <a:t>位哲学家围绕一张餐桌而坐</a:t>
            </a:r>
            <a:endParaRPr lang="en-US" altLang="zh-CN" dirty="0" smtClean="0"/>
          </a:p>
          <a:p>
            <a:pPr lvl="1"/>
            <a:r>
              <a:rPr lang="zh-CN" altLang="en-US" dirty="0" smtClean="0"/>
              <a:t>桌上放</a:t>
            </a:r>
            <a:r>
              <a:rPr lang="en-US" altLang="zh-CN" dirty="0" smtClean="0"/>
              <a:t>5</a:t>
            </a:r>
            <a:r>
              <a:rPr lang="zh-CN" altLang="en-US" dirty="0" smtClean="0"/>
              <a:t>根筷子，每两个人之间放一根</a:t>
            </a:r>
            <a:endParaRPr lang="en-US" altLang="zh-CN" dirty="0" smtClean="0"/>
          </a:p>
          <a:p>
            <a:pPr lvl="1"/>
            <a:r>
              <a:rPr lang="zh-CN" altLang="en-US" dirty="0"/>
              <a:t>哲学</a:t>
            </a:r>
            <a:r>
              <a:rPr lang="zh-CN" altLang="en-US" dirty="0" smtClean="0"/>
              <a:t>家的行为就是“思考”和“进餐”</a:t>
            </a:r>
            <a:endParaRPr lang="en-US" altLang="zh-CN" dirty="0" smtClean="0"/>
          </a:p>
          <a:p>
            <a:pPr lvl="1"/>
            <a:r>
              <a:rPr lang="zh-CN" altLang="en-US" dirty="0"/>
              <a:t>进</a:t>
            </a:r>
            <a:r>
              <a:rPr lang="zh-CN" altLang="en-US" dirty="0" smtClean="0"/>
              <a:t>餐时，必须同时拿到</a:t>
            </a:r>
            <a:r>
              <a:rPr lang="zh-CN" altLang="en-US" dirty="0" smtClean="0">
                <a:solidFill>
                  <a:srgbClr val="FF0000"/>
                </a:solidFill>
              </a:rPr>
              <a:t>左右两边</a:t>
            </a:r>
            <a:r>
              <a:rPr lang="zh-CN" altLang="en-US" dirty="0" smtClean="0"/>
              <a:t>的筷子</a:t>
            </a:r>
            <a:endParaRPr lang="en-US" altLang="zh-CN" dirty="0" smtClean="0"/>
          </a:p>
          <a:p>
            <a:pPr lvl="1"/>
            <a:r>
              <a:rPr lang="zh-CN" altLang="en-US" dirty="0"/>
              <a:t>思</a:t>
            </a:r>
            <a:r>
              <a:rPr lang="zh-CN" altLang="en-US" dirty="0" smtClean="0"/>
              <a:t>考时，将两根筷子放回原位</a:t>
            </a:r>
            <a:endParaRPr lang="en-US" altLang="zh-CN" dirty="0" smtClean="0"/>
          </a:p>
          <a:p>
            <a:endParaRPr lang="en-US" altLang="zh-CN" dirty="0"/>
          </a:p>
          <a:p>
            <a:r>
              <a:rPr lang="zh-CN" altLang="en-US" dirty="0"/>
              <a:t>需要考虑的问题：如何一切有序进行？</a:t>
            </a:r>
            <a:endParaRPr lang="en-US" altLang="zh-CN" dirty="0"/>
          </a:p>
          <a:p>
            <a:pPr lvl="1"/>
            <a:r>
              <a:rPr lang="zh-CN" altLang="en-US" dirty="0" smtClean="0"/>
              <a:t>没有</a:t>
            </a:r>
            <a:r>
              <a:rPr lang="en-US" altLang="zh-CN" dirty="0" smtClean="0"/>
              <a:t>deadlock</a:t>
            </a:r>
            <a:r>
              <a:rPr lang="zh-CN" altLang="en-US" dirty="0" smtClean="0"/>
              <a:t>现象</a:t>
            </a:r>
            <a:endParaRPr lang="en-US" altLang="zh-CN" dirty="0" smtClean="0"/>
          </a:p>
          <a:p>
            <a:pPr lvl="1"/>
            <a:r>
              <a:rPr lang="zh-CN" altLang="en-US" dirty="0"/>
              <a:t>没</a:t>
            </a:r>
            <a:r>
              <a:rPr lang="zh-CN" altLang="en-US" dirty="0" smtClean="0"/>
              <a:t>有</a:t>
            </a:r>
            <a:r>
              <a:rPr lang="en-US" altLang="zh-CN" dirty="0" smtClean="0"/>
              <a:t>starvation</a:t>
            </a:r>
            <a:r>
              <a:rPr lang="zh-CN" altLang="en-US" dirty="0" smtClean="0"/>
              <a:t>现象</a:t>
            </a:r>
            <a:endParaRPr lang="zh-CN" altLang="en-US" dirty="0"/>
          </a:p>
        </p:txBody>
      </p:sp>
      <p:sp>
        <p:nvSpPr>
          <p:cNvPr id="4" name="Date Placeholder 3"/>
          <p:cNvSpPr>
            <a:spLocks noGrp="1"/>
          </p:cNvSpPr>
          <p:nvPr>
            <p:ph type="dt" sz="half" idx="10"/>
          </p:nvPr>
        </p:nvSpPr>
        <p:spPr/>
        <p:txBody>
          <a:bodyPr/>
          <a:lstStyle/>
          <a:p>
            <a:fld id="{D1EC2180-9DDF-49B8-BF1F-13BCAE16EED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79</a:t>
            </a:fld>
            <a:endParaRPr lang="zh-CN" altLang="en-US" dirty="0"/>
          </a:p>
        </p:txBody>
      </p:sp>
      <p:pic>
        <p:nvPicPr>
          <p:cNvPr id="8" name="Picture 7"/>
          <p:cNvPicPr>
            <a:picLocks noChangeAspect="1"/>
          </p:cNvPicPr>
          <p:nvPr/>
        </p:nvPicPr>
        <p:blipFill>
          <a:blip r:embed="rId2" cstate="print"/>
          <a:stretch>
            <a:fillRect/>
          </a:stretch>
        </p:blipFill>
        <p:spPr>
          <a:xfrm>
            <a:off x="6948264" y="1412776"/>
            <a:ext cx="1557362" cy="1464583"/>
          </a:xfrm>
          <a:prstGeom prst="rect">
            <a:avLst/>
          </a:prstGeom>
        </p:spPr>
      </p:pic>
    </p:spTree>
    <p:extLst>
      <p:ext uri="{BB962C8B-B14F-4D97-AF65-F5344CB8AC3E}">
        <p14:creationId xmlns:p14="http://schemas.microsoft.com/office/powerpoint/2010/main" val="356593480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哲学家进餐问题</a:t>
            </a:r>
          </a:p>
        </p:txBody>
      </p:sp>
      <p:sp>
        <p:nvSpPr>
          <p:cNvPr id="3" name="Content Placeholder 2"/>
          <p:cNvSpPr>
            <a:spLocks noGrp="1"/>
          </p:cNvSpPr>
          <p:nvPr>
            <p:ph idx="1"/>
          </p:nvPr>
        </p:nvSpPr>
        <p:spPr/>
        <p:txBody>
          <a:bodyPr>
            <a:normAutofit fontScale="92500" lnSpcReduction="10000"/>
          </a:bodyPr>
          <a:lstStyle/>
          <a:p>
            <a:r>
              <a:rPr lang="zh-CN" altLang="en-US" dirty="0" smtClean="0"/>
              <a:t>一个最简单的解法</a:t>
            </a:r>
            <a:endParaRPr lang="en-US" altLang="zh-CN" dirty="0" smtClean="0"/>
          </a:p>
          <a:p>
            <a:pPr lvl="1"/>
            <a:r>
              <a:rPr lang="zh-CN" altLang="en-US" dirty="0" smtClean="0"/>
              <a:t>每根筷子，用一个信号量</a:t>
            </a:r>
            <a:r>
              <a:rPr lang="en-US" altLang="zh-CN" dirty="0" smtClean="0"/>
              <a:t>chop[</a:t>
            </a:r>
            <a:r>
              <a:rPr lang="en-US" altLang="zh-CN" dirty="0" err="1" smtClean="0"/>
              <a:t>i</a:t>
            </a:r>
            <a:r>
              <a:rPr lang="en-US" altLang="zh-CN" dirty="0" smtClean="0"/>
              <a:t>]</a:t>
            </a:r>
            <a:r>
              <a:rPr lang="zh-CN" altLang="en-US" dirty="0" smtClean="0"/>
              <a:t>来表示，</a:t>
            </a:r>
            <a:r>
              <a:rPr lang="en-US" altLang="zh-CN" dirty="0" err="1" smtClean="0"/>
              <a:t>i</a:t>
            </a:r>
            <a:r>
              <a:rPr lang="en-US" altLang="zh-CN" dirty="0" smtClean="0"/>
              <a:t>=1…5</a:t>
            </a:r>
            <a:r>
              <a:rPr lang="zh-CN" altLang="en-US" dirty="0" smtClean="0"/>
              <a:t>，信号量初值为</a:t>
            </a:r>
            <a:r>
              <a:rPr lang="en-US" altLang="zh-CN" dirty="0" smtClean="0"/>
              <a:t>1</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r>
              <a:rPr lang="zh-CN" altLang="en-US" dirty="0" smtClean="0">
                <a:solidFill>
                  <a:srgbClr val="FF0000"/>
                </a:solidFill>
              </a:rPr>
              <a:t>该算法能够保证相邻的两个哲学家不会同时进餐，但是存在死锁现象（所有人同时拿起左手的筷子）</a:t>
            </a:r>
            <a:endParaRPr lang="en-US" altLang="zh-CN" dirty="0" smtClean="0">
              <a:solidFill>
                <a:srgbClr val="FF0000"/>
              </a:solidFill>
            </a:endParaRPr>
          </a:p>
          <a:p>
            <a:pPr lvl="1"/>
            <a:endParaRPr lang="zh-CN" altLang="en-US" dirty="0"/>
          </a:p>
        </p:txBody>
      </p:sp>
      <p:sp>
        <p:nvSpPr>
          <p:cNvPr id="4" name="Date Placeholder 3"/>
          <p:cNvSpPr>
            <a:spLocks noGrp="1"/>
          </p:cNvSpPr>
          <p:nvPr>
            <p:ph type="dt" sz="half" idx="10"/>
          </p:nvPr>
        </p:nvSpPr>
        <p:spPr/>
        <p:txBody>
          <a:bodyPr/>
          <a:lstStyle/>
          <a:p>
            <a:fld id="{7ABFF37D-81C6-4351-999C-E0F23803C8C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80</a:t>
            </a:fld>
            <a:endParaRPr lang="zh-CN" altLang="en-US" dirty="0"/>
          </a:p>
        </p:txBody>
      </p:sp>
      <p:sp>
        <p:nvSpPr>
          <p:cNvPr id="7" name="TextBox 6"/>
          <p:cNvSpPr txBox="1"/>
          <p:nvPr/>
        </p:nvSpPr>
        <p:spPr>
          <a:xfrm>
            <a:off x="2767018" y="2499127"/>
            <a:ext cx="3348032" cy="2554545"/>
          </a:xfrm>
          <a:prstGeom prst="rect">
            <a:avLst/>
          </a:prstGeom>
          <a:noFill/>
          <a:ln>
            <a:solidFill>
              <a:srgbClr val="0000FF"/>
            </a:solidFill>
          </a:ln>
        </p:spPr>
        <p:txBody>
          <a:bodyPr wrap="square" rtlCol="0">
            <a:spAutoFit/>
          </a:bodyPr>
          <a:lstStyle/>
          <a:p>
            <a:r>
              <a:rPr lang="en-US" altLang="zh-CN" sz="2000" b="1" dirty="0" smtClean="0">
                <a:ea typeface="楷体" panose="02010609060101010101" pitchFamily="49" charset="-122"/>
              </a:rPr>
              <a:t>Do {</a:t>
            </a:r>
          </a:p>
          <a:p>
            <a:r>
              <a:rPr lang="en-US" altLang="zh-CN" sz="2000" b="1" dirty="0">
                <a:ea typeface="楷体" panose="02010609060101010101" pitchFamily="49" charset="-122"/>
              </a:rPr>
              <a:t>	</a:t>
            </a:r>
            <a:r>
              <a:rPr lang="zh-CN" altLang="en-US" sz="2000" b="1" dirty="0" smtClean="0">
                <a:ea typeface="楷体" panose="02010609060101010101" pitchFamily="49" charset="-122"/>
              </a:rPr>
              <a:t>思考</a:t>
            </a:r>
            <a:endParaRPr lang="en-US" altLang="zh-CN" sz="2000" b="1" dirty="0" smtClean="0">
              <a:ea typeface="楷体" panose="02010609060101010101" pitchFamily="49" charset="-122"/>
            </a:endParaRPr>
          </a:p>
          <a:p>
            <a:r>
              <a:rPr lang="en-US" altLang="zh-CN" sz="2000" b="1" dirty="0">
                <a:ea typeface="楷体" panose="02010609060101010101" pitchFamily="49" charset="-122"/>
              </a:rPr>
              <a:t>	</a:t>
            </a:r>
            <a:r>
              <a:rPr lang="en-US" altLang="zh-CN" sz="2000" b="1" dirty="0" smtClean="0">
                <a:ea typeface="楷体" panose="02010609060101010101" pitchFamily="49" charset="-122"/>
              </a:rPr>
              <a:t>P(chop[</a:t>
            </a:r>
            <a:r>
              <a:rPr lang="en-US" altLang="zh-CN" sz="2000" b="1" dirty="0" err="1" smtClean="0">
                <a:ea typeface="楷体" panose="02010609060101010101" pitchFamily="49" charset="-122"/>
              </a:rPr>
              <a:t>i</a:t>
            </a:r>
            <a:r>
              <a:rPr lang="en-US" altLang="zh-CN" sz="2000" b="1" dirty="0" smtClean="0">
                <a:ea typeface="楷体" panose="02010609060101010101" pitchFamily="49" charset="-122"/>
              </a:rPr>
              <a:t>]);</a:t>
            </a:r>
          </a:p>
          <a:p>
            <a:r>
              <a:rPr lang="en-US" altLang="zh-CN" sz="2000" b="1" dirty="0">
                <a:ea typeface="楷体" panose="02010609060101010101" pitchFamily="49" charset="-122"/>
              </a:rPr>
              <a:t>	</a:t>
            </a:r>
            <a:r>
              <a:rPr lang="en-US" altLang="zh-CN" sz="2000" b="1" dirty="0" smtClean="0">
                <a:ea typeface="楷体" panose="02010609060101010101" pitchFamily="49" charset="-122"/>
              </a:rPr>
              <a:t>P(chop[i+1 mod 5];</a:t>
            </a:r>
          </a:p>
          <a:p>
            <a:r>
              <a:rPr lang="en-US" altLang="zh-CN" sz="2000" b="1" dirty="0">
                <a:ea typeface="楷体" panose="02010609060101010101" pitchFamily="49" charset="-122"/>
              </a:rPr>
              <a:t>	</a:t>
            </a:r>
            <a:r>
              <a:rPr lang="zh-CN" altLang="en-US" sz="2000" b="1" dirty="0">
                <a:ea typeface="楷体" panose="02010609060101010101" pitchFamily="49" charset="-122"/>
              </a:rPr>
              <a:t>进</a:t>
            </a:r>
            <a:r>
              <a:rPr lang="zh-CN" altLang="en-US" sz="2000" b="1" dirty="0" smtClean="0">
                <a:ea typeface="楷体" panose="02010609060101010101" pitchFamily="49" charset="-122"/>
              </a:rPr>
              <a:t>餐</a:t>
            </a:r>
            <a:endParaRPr lang="en-US" altLang="zh-CN" sz="2000" b="1" dirty="0" smtClean="0">
              <a:ea typeface="楷体" panose="02010609060101010101" pitchFamily="49" charset="-122"/>
            </a:endParaRPr>
          </a:p>
          <a:p>
            <a:r>
              <a:rPr lang="en-US" altLang="zh-CN" sz="2000" b="1" dirty="0">
                <a:ea typeface="楷体" panose="02010609060101010101" pitchFamily="49" charset="-122"/>
              </a:rPr>
              <a:t>	</a:t>
            </a:r>
            <a:r>
              <a:rPr lang="en-US" altLang="zh-CN" sz="2000" b="1" dirty="0" smtClean="0">
                <a:ea typeface="楷体" panose="02010609060101010101" pitchFamily="49" charset="-122"/>
              </a:rPr>
              <a:t>V(chop[</a:t>
            </a:r>
            <a:r>
              <a:rPr lang="en-US" altLang="zh-CN" sz="2000" b="1" dirty="0" err="1" smtClean="0">
                <a:ea typeface="楷体" panose="02010609060101010101" pitchFamily="49" charset="-122"/>
              </a:rPr>
              <a:t>i</a:t>
            </a:r>
            <a:r>
              <a:rPr lang="en-US" altLang="zh-CN" sz="2000" b="1" dirty="0" smtClean="0">
                <a:ea typeface="楷体" panose="02010609060101010101" pitchFamily="49" charset="-122"/>
              </a:rPr>
              <a:t>]);</a:t>
            </a:r>
          </a:p>
          <a:p>
            <a:r>
              <a:rPr lang="en-US" altLang="zh-CN" sz="2000" b="1" dirty="0">
                <a:ea typeface="楷体" panose="02010609060101010101" pitchFamily="49" charset="-122"/>
              </a:rPr>
              <a:t>	</a:t>
            </a:r>
            <a:r>
              <a:rPr lang="en-US" altLang="zh-CN" sz="2000" b="1" dirty="0" smtClean="0">
                <a:ea typeface="楷体" panose="02010609060101010101" pitchFamily="49" charset="-122"/>
              </a:rPr>
              <a:t>V(chop[i+1 mod 5]);</a:t>
            </a:r>
          </a:p>
          <a:p>
            <a:r>
              <a:rPr lang="en-US" altLang="zh-CN" sz="2000" b="1" dirty="0" smtClean="0">
                <a:ea typeface="楷体" panose="02010609060101010101" pitchFamily="49" charset="-122"/>
              </a:rPr>
              <a:t>} while (TRUE)</a:t>
            </a:r>
          </a:p>
        </p:txBody>
      </p:sp>
    </p:spTree>
    <p:extLst>
      <p:ext uri="{BB962C8B-B14F-4D97-AF65-F5344CB8AC3E}">
        <p14:creationId xmlns:p14="http://schemas.microsoft.com/office/powerpoint/2010/main" val="159014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fade">
                                      <p:cBhvr>
                                        <p:cTn id="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哲学家进餐问题</a:t>
            </a:r>
          </a:p>
        </p:txBody>
      </p:sp>
      <p:sp>
        <p:nvSpPr>
          <p:cNvPr id="3" name="Content Placeholder 2"/>
          <p:cNvSpPr>
            <a:spLocks noGrp="1"/>
          </p:cNvSpPr>
          <p:nvPr>
            <p:ph idx="1"/>
          </p:nvPr>
        </p:nvSpPr>
        <p:spPr/>
        <p:txBody>
          <a:bodyPr/>
          <a:lstStyle/>
          <a:p>
            <a:r>
              <a:rPr lang="zh-CN" altLang="en-US" dirty="0" smtClean="0"/>
              <a:t>为防止死锁，下面列出了多种解决思路</a:t>
            </a:r>
            <a:endParaRPr lang="en-US" altLang="zh-CN" dirty="0" smtClean="0"/>
          </a:p>
          <a:p>
            <a:pPr lvl="1"/>
            <a:r>
              <a:rPr lang="zh-CN" altLang="en-US" dirty="0"/>
              <a:t>最</a:t>
            </a:r>
            <a:r>
              <a:rPr lang="zh-CN" altLang="en-US" dirty="0" smtClean="0"/>
              <a:t>多允许</a:t>
            </a:r>
            <a:r>
              <a:rPr lang="en-US" altLang="zh-CN" dirty="0" smtClean="0"/>
              <a:t>4</a:t>
            </a:r>
            <a:r>
              <a:rPr lang="zh-CN" altLang="en-US" dirty="0" smtClean="0"/>
              <a:t>位哲学家就坐</a:t>
            </a:r>
            <a:endParaRPr lang="en-US" altLang="zh-CN" dirty="0" smtClean="0"/>
          </a:p>
          <a:p>
            <a:pPr lvl="1"/>
            <a:r>
              <a:rPr lang="zh-CN" altLang="en-US" dirty="0"/>
              <a:t>仅</a:t>
            </a:r>
            <a:r>
              <a:rPr lang="zh-CN" altLang="en-US" dirty="0" smtClean="0"/>
              <a:t>当一个哲学家左右手的筷子都可用时，才可以拿起筷子</a:t>
            </a:r>
            <a:endParaRPr lang="en-US" altLang="zh-CN" dirty="0" smtClean="0"/>
          </a:p>
          <a:p>
            <a:pPr lvl="1"/>
            <a:r>
              <a:rPr lang="zh-CN" altLang="en-US" dirty="0"/>
              <a:t>要</a:t>
            </a:r>
            <a:r>
              <a:rPr lang="zh-CN" altLang="en-US" dirty="0" smtClean="0"/>
              <a:t>么同时拿到</a:t>
            </a:r>
            <a:r>
              <a:rPr lang="en-US" altLang="zh-CN" dirty="0" smtClean="0"/>
              <a:t>2</a:t>
            </a:r>
            <a:r>
              <a:rPr lang="zh-CN" altLang="en-US" dirty="0" smtClean="0"/>
              <a:t>只筷子，要么什么都拿不到</a:t>
            </a:r>
            <a:endParaRPr lang="en-US" altLang="zh-CN" dirty="0" smtClean="0"/>
          </a:p>
          <a:p>
            <a:pPr lvl="1"/>
            <a:r>
              <a:rPr lang="zh-CN" altLang="en-US" dirty="0" smtClean="0"/>
              <a:t>给所有哲学家编号，奇数号的哲学家必须首先拿左边的筷子，偶数号的哲学家必须首先拿右边的筷子</a:t>
            </a:r>
            <a:endParaRPr lang="zh-CN" altLang="en-US" dirty="0"/>
          </a:p>
        </p:txBody>
      </p:sp>
      <p:sp>
        <p:nvSpPr>
          <p:cNvPr id="4" name="Date Placeholder 3"/>
          <p:cNvSpPr>
            <a:spLocks noGrp="1"/>
          </p:cNvSpPr>
          <p:nvPr>
            <p:ph type="dt" sz="half" idx="10"/>
          </p:nvPr>
        </p:nvSpPr>
        <p:spPr/>
        <p:txBody>
          <a:bodyPr/>
          <a:lstStyle/>
          <a:p>
            <a:fld id="{869AE468-2C11-44FB-8761-C5C6FCAA174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81</a:t>
            </a:fld>
            <a:endParaRPr lang="zh-CN" altLang="en-US" dirty="0"/>
          </a:p>
        </p:txBody>
      </p:sp>
    </p:spTree>
    <p:extLst>
      <p:ext uri="{BB962C8B-B14F-4D97-AF65-F5344CB8AC3E}">
        <p14:creationId xmlns:p14="http://schemas.microsoft.com/office/powerpoint/2010/main" val="18953227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哲学家进餐问题</a:t>
            </a:r>
            <a:endParaRPr lang="zh-CN" altLang="en-US" dirty="0"/>
          </a:p>
        </p:txBody>
      </p:sp>
      <p:sp>
        <p:nvSpPr>
          <p:cNvPr id="3" name="Content Placeholder 2"/>
          <p:cNvSpPr>
            <a:spLocks noGrp="1"/>
          </p:cNvSpPr>
          <p:nvPr>
            <p:ph idx="1"/>
          </p:nvPr>
        </p:nvSpPr>
        <p:spPr/>
        <p:txBody>
          <a:bodyPr/>
          <a:lstStyle/>
          <a:p>
            <a:r>
              <a:rPr lang="zh-CN" altLang="en-US" dirty="0" smtClean="0"/>
              <a:t>一种解法</a:t>
            </a:r>
            <a:endParaRPr lang="zh-CN" altLang="en-US" dirty="0"/>
          </a:p>
        </p:txBody>
      </p:sp>
      <p:sp>
        <p:nvSpPr>
          <p:cNvPr id="4" name="Date Placeholder 3"/>
          <p:cNvSpPr>
            <a:spLocks noGrp="1"/>
          </p:cNvSpPr>
          <p:nvPr>
            <p:ph type="dt" sz="half" idx="10"/>
          </p:nvPr>
        </p:nvSpPr>
        <p:spPr/>
        <p:txBody>
          <a:bodyPr/>
          <a:lstStyle/>
          <a:p>
            <a:fld id="{58D4750A-CB7F-4BF3-8050-BFF6ED14B53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82</a:t>
            </a:fld>
            <a:endParaRPr lang="zh-CN" altLang="en-US" dirty="0"/>
          </a:p>
        </p:txBody>
      </p:sp>
      <p:sp>
        <p:nvSpPr>
          <p:cNvPr id="7" name="Rectangle 6"/>
          <p:cNvSpPr/>
          <p:nvPr/>
        </p:nvSpPr>
        <p:spPr>
          <a:xfrm>
            <a:off x="2448272" y="1484784"/>
            <a:ext cx="4572000" cy="5016758"/>
          </a:xfrm>
          <a:prstGeom prst="rect">
            <a:avLst/>
          </a:prstGeom>
          <a:ln>
            <a:solidFill>
              <a:srgbClr val="0000FF"/>
            </a:solidFill>
          </a:ln>
        </p:spPr>
        <p:txBody>
          <a:bodyPr>
            <a:spAutoFit/>
          </a:bodyPr>
          <a:lstStyle/>
          <a:p>
            <a:pPr lvl="1"/>
            <a:r>
              <a:rPr lang="en-US" altLang="zh-CN" sz="2000" b="1" dirty="0">
                <a:solidFill>
                  <a:srgbClr val="009900"/>
                </a:solidFill>
              </a:rPr>
              <a:t>Semaphore fork[5] = {1};</a:t>
            </a:r>
          </a:p>
          <a:p>
            <a:pPr lvl="1"/>
            <a:r>
              <a:rPr lang="en-US" altLang="zh-CN" sz="2000" b="1" dirty="0">
                <a:solidFill>
                  <a:srgbClr val="009900"/>
                </a:solidFill>
              </a:rPr>
              <a:t>Semaphore room = 4; </a:t>
            </a:r>
            <a:endParaRPr lang="en-US" altLang="zh-CN" sz="2000" b="1" dirty="0" smtClean="0">
              <a:solidFill>
                <a:srgbClr val="009900"/>
              </a:solidFill>
            </a:endParaRPr>
          </a:p>
          <a:p>
            <a:pPr lvl="1"/>
            <a:r>
              <a:rPr lang="en-US" altLang="zh-CN" sz="2000" b="1" dirty="0" err="1" smtClean="0">
                <a:solidFill>
                  <a:srgbClr val="009900"/>
                </a:solidFill>
              </a:rPr>
              <a:t>int</a:t>
            </a:r>
            <a:r>
              <a:rPr lang="en-US" altLang="zh-CN" sz="2000" b="1" dirty="0" smtClean="0">
                <a:solidFill>
                  <a:srgbClr val="009900"/>
                </a:solidFill>
              </a:rPr>
              <a:t> </a:t>
            </a:r>
            <a:r>
              <a:rPr lang="en-US" altLang="zh-CN" sz="2000" b="1" dirty="0" err="1">
                <a:solidFill>
                  <a:srgbClr val="009900"/>
                </a:solidFill>
              </a:rPr>
              <a:t>i</a:t>
            </a:r>
            <a:r>
              <a:rPr lang="en-US" altLang="zh-CN" sz="2000" b="1" dirty="0">
                <a:solidFill>
                  <a:srgbClr val="009900"/>
                </a:solidFill>
              </a:rPr>
              <a:t>;</a:t>
            </a:r>
          </a:p>
          <a:p>
            <a:pPr lvl="1"/>
            <a:endParaRPr lang="en-US" altLang="zh-CN" sz="2000" b="1" dirty="0" smtClean="0"/>
          </a:p>
          <a:p>
            <a:pPr lvl="1"/>
            <a:r>
              <a:rPr lang="en-US" altLang="zh-CN" sz="2000" b="1" dirty="0" smtClean="0"/>
              <a:t>Void </a:t>
            </a:r>
            <a:r>
              <a:rPr lang="en-US" altLang="zh-CN" sz="2000" b="1" dirty="0" err="1"/>
              <a:t>philospher</a:t>
            </a:r>
            <a:r>
              <a:rPr lang="en-US" altLang="zh-CN" sz="2000" b="1" dirty="0"/>
              <a:t> (</a:t>
            </a:r>
            <a:r>
              <a:rPr lang="en-US" altLang="zh-CN" sz="2000" b="1" dirty="0" err="1"/>
              <a:t>int</a:t>
            </a:r>
            <a:r>
              <a:rPr lang="en-US" altLang="zh-CN" sz="2000" b="1" dirty="0"/>
              <a:t> </a:t>
            </a:r>
            <a:r>
              <a:rPr lang="en-US" altLang="zh-CN" sz="2000" b="1" dirty="0" err="1"/>
              <a:t>i</a:t>
            </a:r>
            <a:r>
              <a:rPr lang="en-US" altLang="zh-CN" sz="2000" b="1" dirty="0"/>
              <a:t>) {</a:t>
            </a:r>
          </a:p>
          <a:p>
            <a:pPr lvl="1"/>
            <a:r>
              <a:rPr lang="en-US" altLang="zh-CN" sz="2000" b="1" dirty="0"/>
              <a:t>    while (true) {</a:t>
            </a:r>
          </a:p>
          <a:p>
            <a:pPr lvl="1"/>
            <a:r>
              <a:rPr lang="en-US" altLang="zh-CN" sz="2000" b="1" dirty="0"/>
              <a:t>          thinking();</a:t>
            </a:r>
          </a:p>
          <a:p>
            <a:pPr lvl="1"/>
            <a:r>
              <a:rPr lang="en-US" altLang="zh-CN" sz="2000" b="1" dirty="0"/>
              <a:t>          </a:t>
            </a:r>
            <a:r>
              <a:rPr lang="en-US" altLang="zh-CN" sz="2000" b="1" dirty="0">
                <a:solidFill>
                  <a:srgbClr val="FF0000"/>
                </a:solidFill>
              </a:rPr>
              <a:t>P( room );</a:t>
            </a:r>
          </a:p>
          <a:p>
            <a:pPr lvl="1"/>
            <a:r>
              <a:rPr lang="en-US" altLang="zh-CN" sz="2000" b="1" dirty="0"/>
              <a:t>          </a:t>
            </a:r>
            <a:r>
              <a:rPr lang="en-US" altLang="zh-CN" sz="2000" b="1" dirty="0">
                <a:solidFill>
                  <a:srgbClr val="0000FF"/>
                </a:solidFill>
              </a:rPr>
              <a:t>P(fork[</a:t>
            </a:r>
            <a:r>
              <a:rPr lang="en-US" altLang="zh-CN" sz="2000" b="1" dirty="0" err="1">
                <a:solidFill>
                  <a:srgbClr val="0000FF"/>
                </a:solidFill>
              </a:rPr>
              <a:t>i</a:t>
            </a:r>
            <a:r>
              <a:rPr lang="en-US" altLang="zh-CN" sz="2000" b="1" dirty="0">
                <a:solidFill>
                  <a:srgbClr val="0000FF"/>
                </a:solidFill>
              </a:rPr>
              <a:t>]);</a:t>
            </a:r>
          </a:p>
          <a:p>
            <a:pPr lvl="1"/>
            <a:r>
              <a:rPr lang="en-US" altLang="zh-CN" sz="2000" b="1" dirty="0">
                <a:solidFill>
                  <a:srgbClr val="0000FF"/>
                </a:solidFill>
              </a:rPr>
              <a:t>          P(fork[(i+1) mod 5</a:t>
            </a:r>
            <a:r>
              <a:rPr lang="en-US" altLang="zh-CN" sz="2000" b="1" dirty="0" smtClean="0">
                <a:solidFill>
                  <a:srgbClr val="0000FF"/>
                </a:solidFill>
              </a:rPr>
              <a:t>])</a:t>
            </a:r>
            <a:r>
              <a:rPr lang="en-US" altLang="zh-CN" sz="2000" b="1" dirty="0">
                <a:solidFill>
                  <a:srgbClr val="0000FF"/>
                </a:solidFill>
              </a:rPr>
              <a:t>;</a:t>
            </a:r>
          </a:p>
          <a:p>
            <a:pPr lvl="1"/>
            <a:r>
              <a:rPr lang="en-US" altLang="zh-CN" sz="2000" b="1" dirty="0"/>
              <a:t>          eating();</a:t>
            </a:r>
          </a:p>
          <a:p>
            <a:pPr lvl="1"/>
            <a:r>
              <a:rPr lang="en-US" altLang="zh-CN" sz="2000" b="1" dirty="0">
                <a:solidFill>
                  <a:srgbClr val="0000FF"/>
                </a:solidFill>
              </a:rPr>
              <a:t>          V(fork[</a:t>
            </a:r>
            <a:r>
              <a:rPr lang="en-US" altLang="zh-CN" sz="2000" b="1" dirty="0" err="1">
                <a:solidFill>
                  <a:srgbClr val="0000FF"/>
                </a:solidFill>
              </a:rPr>
              <a:t>i</a:t>
            </a:r>
            <a:r>
              <a:rPr lang="en-US" altLang="zh-CN" sz="2000" b="1" dirty="0">
                <a:solidFill>
                  <a:srgbClr val="0000FF"/>
                </a:solidFill>
              </a:rPr>
              <a:t>]);</a:t>
            </a:r>
          </a:p>
          <a:p>
            <a:pPr lvl="1"/>
            <a:r>
              <a:rPr lang="en-US" altLang="zh-CN" sz="2000" b="1" dirty="0">
                <a:solidFill>
                  <a:srgbClr val="0000FF"/>
                </a:solidFill>
              </a:rPr>
              <a:t>          V(fork[(i+1) mod 5</a:t>
            </a:r>
            <a:r>
              <a:rPr lang="en-US" altLang="zh-CN" sz="2000" b="1" dirty="0" smtClean="0">
                <a:solidFill>
                  <a:srgbClr val="0000FF"/>
                </a:solidFill>
              </a:rPr>
              <a:t>]);</a:t>
            </a:r>
            <a:endParaRPr lang="en-US" altLang="zh-CN" sz="2000" b="1" dirty="0">
              <a:solidFill>
                <a:srgbClr val="0000FF"/>
              </a:solidFill>
            </a:endParaRPr>
          </a:p>
          <a:p>
            <a:pPr lvl="1"/>
            <a:r>
              <a:rPr lang="en-US" altLang="zh-CN" sz="2000" b="1" dirty="0"/>
              <a:t>          </a:t>
            </a:r>
            <a:r>
              <a:rPr lang="en-US" altLang="zh-CN" sz="2000" b="1" dirty="0">
                <a:solidFill>
                  <a:srgbClr val="FF0000"/>
                </a:solidFill>
              </a:rPr>
              <a:t>V(room); </a:t>
            </a:r>
            <a:endParaRPr lang="en-US" altLang="zh-CN" sz="2000" b="1" dirty="0" smtClean="0">
              <a:solidFill>
                <a:srgbClr val="FF0000"/>
              </a:solidFill>
            </a:endParaRPr>
          </a:p>
          <a:p>
            <a:pPr lvl="1"/>
            <a:r>
              <a:rPr lang="en-US" altLang="zh-CN" sz="2000" b="1" dirty="0">
                <a:solidFill>
                  <a:srgbClr val="FF0000"/>
                </a:solidFill>
              </a:rPr>
              <a:t> </a:t>
            </a:r>
            <a:r>
              <a:rPr lang="en-US" altLang="zh-CN" sz="2000" b="1" dirty="0" smtClean="0">
                <a:solidFill>
                  <a:srgbClr val="FF0000"/>
                </a:solidFill>
              </a:rPr>
              <a:t>   </a:t>
            </a:r>
            <a:r>
              <a:rPr lang="en-US" altLang="zh-CN" sz="2000" b="1" dirty="0" smtClean="0"/>
              <a:t>}</a:t>
            </a:r>
            <a:endParaRPr lang="en-US" altLang="zh-CN" sz="2000" b="1" dirty="0"/>
          </a:p>
          <a:p>
            <a:pPr lvl="1"/>
            <a:r>
              <a:rPr lang="en-US" altLang="zh-CN" sz="2000" b="1" dirty="0" smtClean="0"/>
              <a:t>}</a:t>
            </a:r>
            <a:endParaRPr lang="en-US" altLang="zh-CN" sz="2000" b="1" dirty="0"/>
          </a:p>
        </p:txBody>
      </p:sp>
    </p:spTree>
    <p:extLst>
      <p:ext uri="{BB962C8B-B14F-4D97-AF65-F5344CB8AC3E}">
        <p14:creationId xmlns:p14="http://schemas.microsoft.com/office/powerpoint/2010/main" val="252843019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利用信号</a:t>
            </a:r>
            <a:r>
              <a:rPr lang="zh-CN" altLang="en-US" dirty="0" smtClean="0"/>
              <a:t>量实</a:t>
            </a:r>
            <a:r>
              <a:rPr lang="zh-CN" altLang="en-US" dirty="0"/>
              <a:t>现前趋关系</a:t>
            </a:r>
          </a:p>
        </p:txBody>
      </p:sp>
      <p:sp>
        <p:nvSpPr>
          <p:cNvPr id="3" name="Content Placeholder 2"/>
          <p:cNvSpPr>
            <a:spLocks noGrp="1"/>
          </p:cNvSpPr>
          <p:nvPr>
            <p:ph idx="1"/>
          </p:nvPr>
        </p:nvSpPr>
        <p:spPr/>
        <p:txBody>
          <a:bodyPr/>
          <a:lstStyle/>
          <a:p>
            <a:r>
              <a:rPr lang="zh-CN" altLang="en-US" dirty="0" smtClean="0"/>
              <a:t>前趋图</a:t>
            </a:r>
            <a:endParaRPr lang="en-US" altLang="zh-CN" dirty="0" smtClean="0"/>
          </a:p>
          <a:p>
            <a:pPr lvl="1"/>
            <a:r>
              <a:rPr lang="zh-CN" altLang="en-US" dirty="0"/>
              <a:t>一</a:t>
            </a:r>
            <a:r>
              <a:rPr lang="zh-CN" altLang="en-US" dirty="0" smtClean="0"/>
              <a:t>个</a:t>
            </a:r>
            <a:r>
              <a:rPr lang="zh-CN" altLang="en-US" dirty="0" smtClean="0">
                <a:solidFill>
                  <a:srgbClr val="0000FF"/>
                </a:solidFill>
              </a:rPr>
              <a:t>有向无环</a:t>
            </a:r>
            <a:r>
              <a:rPr lang="zh-CN" altLang="en-US" dirty="0" smtClean="0"/>
              <a:t>图，描述进程执行的前后关系</a:t>
            </a:r>
            <a:endParaRPr lang="en-US" altLang="zh-CN" dirty="0" smtClean="0"/>
          </a:p>
          <a:p>
            <a:pPr lvl="1"/>
            <a:r>
              <a:rPr lang="zh-CN" altLang="en-US" dirty="0"/>
              <a:t>每</a:t>
            </a:r>
            <a:r>
              <a:rPr lang="zh-CN" altLang="en-US" dirty="0" smtClean="0"/>
              <a:t>个节点表示一个进程，节点间的有向边表示前趋关系</a:t>
            </a:r>
            <a:endParaRPr lang="en-US" altLang="zh-CN" dirty="0" smtClean="0"/>
          </a:p>
          <a:p>
            <a:pPr lvl="1"/>
            <a:r>
              <a:rPr lang="en-US" altLang="zh-CN" dirty="0" smtClean="0">
                <a:solidFill>
                  <a:srgbClr val="0000FF"/>
                </a:solidFill>
              </a:rPr>
              <a:t>Pi </a:t>
            </a:r>
            <a:r>
              <a:rPr lang="en-US" altLang="zh-CN" dirty="0" smtClean="0">
                <a:solidFill>
                  <a:srgbClr val="0000FF"/>
                </a:solidFill>
                <a:sym typeface="Wingdings" panose="05000000000000000000" pitchFamily="2" charset="2"/>
              </a:rPr>
              <a:t> </a:t>
            </a:r>
            <a:r>
              <a:rPr lang="en-US" altLang="zh-CN" dirty="0" err="1" smtClean="0">
                <a:solidFill>
                  <a:srgbClr val="0000FF"/>
                </a:solidFill>
                <a:sym typeface="Wingdings" panose="05000000000000000000" pitchFamily="2" charset="2"/>
              </a:rPr>
              <a:t>Pj</a:t>
            </a:r>
            <a:r>
              <a:rPr lang="en-US" altLang="zh-CN" dirty="0" smtClean="0">
                <a:solidFill>
                  <a:srgbClr val="0000FF"/>
                </a:solidFill>
                <a:sym typeface="Wingdings" panose="05000000000000000000" pitchFamily="2" charset="2"/>
              </a:rPr>
              <a:t>    </a:t>
            </a:r>
            <a:r>
              <a:rPr lang="en-US" altLang="zh-CN" dirty="0" smtClean="0">
                <a:sym typeface="Wingdings" panose="05000000000000000000" pitchFamily="2" charset="2"/>
              </a:rPr>
              <a:t>Pi</a:t>
            </a:r>
            <a:r>
              <a:rPr lang="zh-CN" altLang="en-US" dirty="0" smtClean="0">
                <a:sym typeface="Wingdings" panose="05000000000000000000" pitchFamily="2" charset="2"/>
              </a:rPr>
              <a:t>是</a:t>
            </a:r>
            <a:r>
              <a:rPr lang="en-US" altLang="zh-CN" dirty="0" err="1" smtClean="0">
                <a:sym typeface="Wingdings" panose="05000000000000000000" pitchFamily="2" charset="2"/>
              </a:rPr>
              <a:t>Pj</a:t>
            </a:r>
            <a:r>
              <a:rPr lang="zh-CN" altLang="en-US" dirty="0" smtClean="0">
                <a:sym typeface="Wingdings" panose="05000000000000000000" pitchFamily="2" charset="2"/>
              </a:rPr>
              <a:t>的直接前趋，</a:t>
            </a:r>
            <a:r>
              <a:rPr lang="en-US" altLang="zh-CN" dirty="0" err="1" smtClean="0">
                <a:sym typeface="Wingdings" panose="05000000000000000000" pitchFamily="2" charset="2"/>
              </a:rPr>
              <a:t>Pj</a:t>
            </a:r>
            <a:r>
              <a:rPr lang="zh-CN" altLang="en-US" dirty="0" smtClean="0">
                <a:sym typeface="Wingdings" panose="05000000000000000000" pitchFamily="2" charset="2"/>
              </a:rPr>
              <a:t>是</a:t>
            </a:r>
            <a:r>
              <a:rPr lang="en-US" altLang="zh-CN" dirty="0" smtClean="0">
                <a:sym typeface="Wingdings" panose="05000000000000000000" pitchFamily="2" charset="2"/>
              </a:rPr>
              <a:t>Pi</a:t>
            </a:r>
            <a:r>
              <a:rPr lang="zh-CN" altLang="en-US" dirty="0" smtClean="0">
                <a:sym typeface="Wingdings" panose="05000000000000000000" pitchFamily="2" charset="2"/>
              </a:rPr>
              <a:t>的直接后继，表示在</a:t>
            </a:r>
            <a:r>
              <a:rPr lang="en-US" altLang="zh-CN" dirty="0" err="1" smtClean="0">
                <a:sym typeface="Wingdings" panose="05000000000000000000" pitchFamily="2" charset="2"/>
              </a:rPr>
              <a:t>Pj</a:t>
            </a:r>
            <a:r>
              <a:rPr lang="zh-CN" altLang="en-US" dirty="0" smtClean="0">
                <a:sym typeface="Wingdings" panose="05000000000000000000" pitchFamily="2" charset="2"/>
              </a:rPr>
              <a:t>启动前，</a:t>
            </a:r>
            <a:r>
              <a:rPr lang="en-US" altLang="zh-CN" dirty="0" smtClean="0">
                <a:sym typeface="Wingdings" panose="05000000000000000000" pitchFamily="2" charset="2"/>
              </a:rPr>
              <a:t>Pi</a:t>
            </a:r>
            <a:r>
              <a:rPr lang="zh-CN" altLang="en-US" dirty="0" smtClean="0">
                <a:sym typeface="Wingdings" panose="05000000000000000000" pitchFamily="2" charset="2"/>
              </a:rPr>
              <a:t>必须完成</a:t>
            </a:r>
            <a:endParaRPr lang="en-US" altLang="zh-CN" dirty="0" smtClean="0">
              <a:sym typeface="Wingdings" panose="05000000000000000000" pitchFamily="2" charset="2"/>
            </a:endParaRPr>
          </a:p>
          <a:p>
            <a:pPr lvl="1"/>
            <a:r>
              <a:rPr lang="zh-CN" altLang="en-US" dirty="0">
                <a:sym typeface="Wingdings" panose="05000000000000000000" pitchFamily="2" charset="2"/>
              </a:rPr>
              <a:t>前趋</a:t>
            </a:r>
            <a:r>
              <a:rPr lang="zh-CN" altLang="en-US" dirty="0" smtClean="0">
                <a:sym typeface="Wingdings" panose="05000000000000000000" pitchFamily="2" charset="2"/>
              </a:rPr>
              <a:t>图中</a:t>
            </a:r>
            <a:r>
              <a:rPr lang="zh-CN" altLang="en-US" dirty="0" smtClean="0">
                <a:solidFill>
                  <a:srgbClr val="0000FF"/>
                </a:solidFill>
                <a:sym typeface="Wingdings" panose="05000000000000000000" pitchFamily="2" charset="2"/>
              </a:rPr>
              <a:t>不能存在循环</a:t>
            </a:r>
            <a:endParaRPr lang="zh-CN" altLang="en-US" dirty="0">
              <a:solidFill>
                <a:srgbClr val="0000FF"/>
              </a:solidFill>
            </a:endParaRPr>
          </a:p>
        </p:txBody>
      </p:sp>
      <p:sp>
        <p:nvSpPr>
          <p:cNvPr id="4" name="Date Placeholder 3"/>
          <p:cNvSpPr>
            <a:spLocks noGrp="1"/>
          </p:cNvSpPr>
          <p:nvPr>
            <p:ph type="dt" sz="half" idx="10"/>
          </p:nvPr>
        </p:nvSpPr>
        <p:spPr/>
        <p:txBody>
          <a:bodyPr/>
          <a:lstStyle/>
          <a:p>
            <a:fld id="{82EB5A6F-2727-450D-8C44-65B6A3526E3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83</a:t>
            </a:fld>
            <a:endParaRPr lang="zh-CN" altLang="en-US" dirty="0"/>
          </a:p>
        </p:txBody>
      </p:sp>
      <p:grpSp>
        <p:nvGrpSpPr>
          <p:cNvPr id="7" name="Group 4"/>
          <p:cNvGrpSpPr>
            <a:grpSpLocks/>
          </p:cNvGrpSpPr>
          <p:nvPr/>
        </p:nvGrpSpPr>
        <p:grpSpPr bwMode="auto">
          <a:xfrm>
            <a:off x="4562382" y="3573016"/>
            <a:ext cx="2808288" cy="2663825"/>
            <a:chOff x="2426" y="1253"/>
            <a:chExt cx="1769" cy="1678"/>
          </a:xfrm>
        </p:grpSpPr>
        <p:sp>
          <p:nvSpPr>
            <p:cNvPr id="8" name="Oval 5"/>
            <p:cNvSpPr>
              <a:spLocks noChangeArrowheads="1"/>
            </p:cNvSpPr>
            <p:nvPr/>
          </p:nvSpPr>
          <p:spPr bwMode="auto">
            <a:xfrm>
              <a:off x="2426" y="1933"/>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P1</a:t>
              </a:r>
            </a:p>
          </p:txBody>
        </p:sp>
        <p:sp>
          <p:nvSpPr>
            <p:cNvPr id="9" name="Oval 6"/>
            <p:cNvSpPr>
              <a:spLocks noChangeArrowheads="1"/>
            </p:cNvSpPr>
            <p:nvPr/>
          </p:nvSpPr>
          <p:spPr bwMode="auto">
            <a:xfrm>
              <a:off x="2970" y="1933"/>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P3</a:t>
              </a:r>
            </a:p>
          </p:txBody>
        </p:sp>
        <p:sp>
          <p:nvSpPr>
            <p:cNvPr id="10" name="Line 7"/>
            <p:cNvSpPr>
              <a:spLocks noChangeShapeType="1"/>
            </p:cNvSpPr>
            <p:nvPr/>
          </p:nvSpPr>
          <p:spPr bwMode="auto">
            <a:xfrm>
              <a:off x="2653" y="2051"/>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11" name="Oval 8"/>
            <p:cNvSpPr>
              <a:spLocks noChangeArrowheads="1"/>
            </p:cNvSpPr>
            <p:nvPr/>
          </p:nvSpPr>
          <p:spPr bwMode="auto">
            <a:xfrm>
              <a:off x="2744" y="1253"/>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P2</a:t>
              </a:r>
            </a:p>
          </p:txBody>
        </p:sp>
        <p:sp>
          <p:nvSpPr>
            <p:cNvPr id="12" name="Line 9"/>
            <p:cNvSpPr>
              <a:spLocks noChangeShapeType="1"/>
            </p:cNvSpPr>
            <p:nvPr/>
          </p:nvSpPr>
          <p:spPr bwMode="auto">
            <a:xfrm flipV="1">
              <a:off x="2562" y="1480"/>
              <a:ext cx="227" cy="45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13" name="Oval 10"/>
            <p:cNvSpPr>
              <a:spLocks noChangeArrowheads="1"/>
            </p:cNvSpPr>
            <p:nvPr/>
          </p:nvSpPr>
          <p:spPr bwMode="auto">
            <a:xfrm>
              <a:off x="3243" y="1512"/>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P5</a:t>
              </a:r>
            </a:p>
          </p:txBody>
        </p:sp>
        <p:sp>
          <p:nvSpPr>
            <p:cNvPr id="14" name="Oval 11"/>
            <p:cNvSpPr>
              <a:spLocks noChangeArrowheads="1"/>
            </p:cNvSpPr>
            <p:nvPr/>
          </p:nvSpPr>
          <p:spPr bwMode="auto">
            <a:xfrm>
              <a:off x="3606" y="1753"/>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P8</a:t>
              </a:r>
            </a:p>
          </p:txBody>
        </p:sp>
        <p:sp>
          <p:nvSpPr>
            <p:cNvPr id="15" name="Oval 12"/>
            <p:cNvSpPr>
              <a:spLocks noChangeArrowheads="1"/>
            </p:cNvSpPr>
            <p:nvPr/>
          </p:nvSpPr>
          <p:spPr bwMode="auto">
            <a:xfrm>
              <a:off x="2925" y="2432"/>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P4</a:t>
              </a:r>
            </a:p>
          </p:txBody>
        </p:sp>
        <p:sp>
          <p:nvSpPr>
            <p:cNvPr id="16" name="Oval 13"/>
            <p:cNvSpPr>
              <a:spLocks noChangeArrowheads="1"/>
            </p:cNvSpPr>
            <p:nvPr/>
          </p:nvSpPr>
          <p:spPr bwMode="auto">
            <a:xfrm>
              <a:off x="3379" y="2705"/>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P7</a:t>
              </a:r>
            </a:p>
          </p:txBody>
        </p:sp>
        <p:sp>
          <p:nvSpPr>
            <p:cNvPr id="17" name="Oval 14"/>
            <p:cNvSpPr>
              <a:spLocks noChangeArrowheads="1"/>
            </p:cNvSpPr>
            <p:nvPr/>
          </p:nvSpPr>
          <p:spPr bwMode="auto">
            <a:xfrm>
              <a:off x="3295" y="2108"/>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P6</a:t>
              </a:r>
            </a:p>
          </p:txBody>
        </p:sp>
        <p:sp>
          <p:nvSpPr>
            <p:cNvPr id="18" name="Oval 15"/>
            <p:cNvSpPr>
              <a:spLocks noChangeArrowheads="1"/>
            </p:cNvSpPr>
            <p:nvPr/>
          </p:nvSpPr>
          <p:spPr bwMode="auto">
            <a:xfrm>
              <a:off x="3968" y="2025"/>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rPr>
                <a:t>P9</a:t>
              </a:r>
            </a:p>
          </p:txBody>
        </p:sp>
        <p:sp>
          <p:nvSpPr>
            <p:cNvPr id="19" name="Line 16"/>
            <p:cNvSpPr>
              <a:spLocks noChangeShapeType="1"/>
            </p:cNvSpPr>
            <p:nvPr/>
          </p:nvSpPr>
          <p:spPr bwMode="auto">
            <a:xfrm>
              <a:off x="2971" y="1389"/>
              <a:ext cx="272"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0" name="Line 17"/>
            <p:cNvSpPr>
              <a:spLocks noChangeShapeType="1"/>
            </p:cNvSpPr>
            <p:nvPr/>
          </p:nvSpPr>
          <p:spPr bwMode="auto">
            <a:xfrm>
              <a:off x="3456" y="1706"/>
              <a:ext cx="18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1" name="Line 18"/>
            <p:cNvSpPr>
              <a:spLocks noChangeShapeType="1"/>
            </p:cNvSpPr>
            <p:nvPr/>
          </p:nvSpPr>
          <p:spPr bwMode="auto">
            <a:xfrm>
              <a:off x="3812" y="1940"/>
              <a:ext cx="181"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2" name="Line 19"/>
            <p:cNvSpPr>
              <a:spLocks noChangeShapeType="1"/>
            </p:cNvSpPr>
            <p:nvPr/>
          </p:nvSpPr>
          <p:spPr bwMode="auto">
            <a:xfrm flipV="1">
              <a:off x="3107" y="1706"/>
              <a:ext cx="181"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3" name="Line 20"/>
            <p:cNvSpPr>
              <a:spLocks noChangeShapeType="1"/>
            </p:cNvSpPr>
            <p:nvPr/>
          </p:nvSpPr>
          <p:spPr bwMode="auto">
            <a:xfrm>
              <a:off x="2562" y="2160"/>
              <a:ext cx="409"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4" name="Line 21"/>
            <p:cNvSpPr>
              <a:spLocks noChangeShapeType="1"/>
            </p:cNvSpPr>
            <p:nvPr/>
          </p:nvSpPr>
          <p:spPr bwMode="auto">
            <a:xfrm flipV="1">
              <a:off x="3107" y="2250"/>
              <a:ext cx="226" cy="2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5" name="Line 22"/>
            <p:cNvSpPr>
              <a:spLocks noChangeShapeType="1"/>
            </p:cNvSpPr>
            <p:nvPr/>
          </p:nvSpPr>
          <p:spPr bwMode="auto">
            <a:xfrm flipV="1">
              <a:off x="3469" y="1933"/>
              <a:ext cx="182" cy="2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6" name="Line 23"/>
            <p:cNvSpPr>
              <a:spLocks noChangeShapeType="1"/>
            </p:cNvSpPr>
            <p:nvPr/>
          </p:nvSpPr>
          <p:spPr bwMode="auto">
            <a:xfrm>
              <a:off x="3107" y="2614"/>
              <a:ext cx="272"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sp>
          <p:nvSpPr>
            <p:cNvPr id="27" name="Line 24"/>
            <p:cNvSpPr>
              <a:spLocks noChangeShapeType="1"/>
            </p:cNvSpPr>
            <p:nvPr/>
          </p:nvSpPr>
          <p:spPr bwMode="auto">
            <a:xfrm flipV="1">
              <a:off x="3515" y="2205"/>
              <a:ext cx="499" cy="49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grpSp>
    </p:spTree>
    <p:extLst>
      <p:ext uri="{BB962C8B-B14F-4D97-AF65-F5344CB8AC3E}">
        <p14:creationId xmlns:p14="http://schemas.microsoft.com/office/powerpoint/2010/main" val="68298861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利用信号</a:t>
            </a:r>
            <a:r>
              <a:rPr lang="zh-CN" altLang="en-US" dirty="0" smtClean="0"/>
              <a:t>量实</a:t>
            </a:r>
            <a:r>
              <a:rPr lang="zh-CN" altLang="en-US" dirty="0"/>
              <a:t>现前趋关系</a:t>
            </a:r>
          </a:p>
        </p:txBody>
      </p:sp>
      <p:sp>
        <p:nvSpPr>
          <p:cNvPr id="3" name="Content Placeholder 2"/>
          <p:cNvSpPr>
            <a:spLocks noGrp="1"/>
          </p:cNvSpPr>
          <p:nvPr>
            <p:ph idx="1"/>
          </p:nvPr>
        </p:nvSpPr>
        <p:spPr/>
        <p:txBody>
          <a:bodyPr/>
          <a:lstStyle/>
          <a:p>
            <a:r>
              <a:rPr lang="zh-CN" altLang="en-US" dirty="0" smtClean="0"/>
              <a:t>利用信号量实现前趋关系</a:t>
            </a:r>
            <a:endParaRPr lang="zh-CN" altLang="en-US" dirty="0"/>
          </a:p>
        </p:txBody>
      </p:sp>
      <p:sp>
        <p:nvSpPr>
          <p:cNvPr id="4" name="Date Placeholder 3"/>
          <p:cNvSpPr>
            <a:spLocks noGrp="1"/>
          </p:cNvSpPr>
          <p:nvPr>
            <p:ph type="dt" sz="half" idx="10"/>
          </p:nvPr>
        </p:nvSpPr>
        <p:spPr/>
        <p:txBody>
          <a:bodyPr/>
          <a:lstStyle/>
          <a:p>
            <a:fld id="{D07BBD0D-DD68-41A8-84F3-8362F811CF8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84</a:t>
            </a:fld>
            <a:endParaRPr lang="zh-CN" altLang="en-US" dirty="0"/>
          </a:p>
        </p:txBody>
      </p:sp>
      <p:grpSp>
        <p:nvGrpSpPr>
          <p:cNvPr id="7" name="Group 34"/>
          <p:cNvGrpSpPr>
            <a:grpSpLocks/>
          </p:cNvGrpSpPr>
          <p:nvPr/>
        </p:nvGrpSpPr>
        <p:grpSpPr bwMode="auto">
          <a:xfrm>
            <a:off x="900113" y="2565400"/>
            <a:ext cx="382587" cy="1077913"/>
            <a:chOff x="5134" y="1162"/>
            <a:chExt cx="241" cy="679"/>
          </a:xfrm>
        </p:grpSpPr>
        <p:sp>
          <p:nvSpPr>
            <p:cNvPr id="8" name="Oval 35"/>
            <p:cNvSpPr>
              <a:spLocks noChangeArrowheads="1"/>
            </p:cNvSpPr>
            <p:nvPr/>
          </p:nvSpPr>
          <p:spPr bwMode="auto">
            <a:xfrm>
              <a:off x="5134" y="1162"/>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solidFill>
                    <a:schemeClr val="bg1"/>
                  </a:solidFill>
                  <a:ea typeface="华文新魏" pitchFamily="2" charset="-122"/>
                </a:rPr>
                <a:t>S1</a:t>
              </a:r>
            </a:p>
          </p:txBody>
        </p:sp>
        <p:sp>
          <p:nvSpPr>
            <p:cNvPr id="9" name="Oval 36"/>
            <p:cNvSpPr>
              <a:spLocks noChangeArrowheads="1"/>
            </p:cNvSpPr>
            <p:nvPr/>
          </p:nvSpPr>
          <p:spPr bwMode="auto">
            <a:xfrm>
              <a:off x="5148" y="1615"/>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chemeClr val="bg1"/>
                  </a:solidFill>
                  <a:ea typeface="华文新魏" pitchFamily="2" charset="-122"/>
                </a:rPr>
                <a:t>S2</a:t>
              </a:r>
            </a:p>
          </p:txBody>
        </p:sp>
        <p:sp>
          <p:nvSpPr>
            <p:cNvPr id="10" name="Line 37"/>
            <p:cNvSpPr>
              <a:spLocks noChangeShapeType="1"/>
            </p:cNvSpPr>
            <p:nvPr/>
          </p:nvSpPr>
          <p:spPr bwMode="auto">
            <a:xfrm>
              <a:off x="5246" y="1388"/>
              <a:ext cx="0"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chemeClr val="bg1"/>
                </a:solidFill>
              </a:endParaRPr>
            </a:p>
          </p:txBody>
        </p:sp>
      </p:grpSp>
      <p:sp>
        <p:nvSpPr>
          <p:cNvPr id="11" name="Text Box 38"/>
          <p:cNvSpPr txBox="1">
            <a:spLocks noChangeArrowheads="1"/>
          </p:cNvSpPr>
          <p:nvPr/>
        </p:nvSpPr>
        <p:spPr bwMode="auto">
          <a:xfrm>
            <a:off x="2268538" y="2420938"/>
            <a:ext cx="6048375"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20000"/>
              </a:spcBef>
            </a:pPr>
            <a:r>
              <a:rPr lang="zh-CN" altLang="en-US" sz="2000" b="1" dirty="0">
                <a:latin typeface="+mn-lt"/>
                <a:ea typeface="楷体" panose="02010609060101010101" pitchFamily="49" charset="-122"/>
              </a:rPr>
              <a:t>进程</a:t>
            </a:r>
            <a:r>
              <a:rPr lang="en-US" altLang="zh-CN" sz="2000" b="1" dirty="0">
                <a:latin typeface="+mn-lt"/>
                <a:ea typeface="楷体" panose="02010609060101010101" pitchFamily="49" charset="-122"/>
              </a:rPr>
              <a:t>P1</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 S1 …</a:t>
            </a:r>
          </a:p>
          <a:p>
            <a:pPr eaLnBrk="1" hangingPunct="1">
              <a:lnSpc>
                <a:spcPct val="110000"/>
              </a:lnSpc>
              <a:spcBef>
                <a:spcPct val="20000"/>
              </a:spcBef>
            </a:pPr>
            <a:r>
              <a:rPr lang="zh-CN" altLang="en-US" sz="2000" b="1" dirty="0">
                <a:latin typeface="+mn-lt"/>
                <a:ea typeface="楷体" panose="02010609060101010101" pitchFamily="49" charset="-122"/>
              </a:rPr>
              <a:t>进程</a:t>
            </a:r>
            <a:r>
              <a:rPr lang="en-US" altLang="zh-CN" sz="2000" b="1" dirty="0">
                <a:latin typeface="+mn-lt"/>
                <a:ea typeface="楷体" panose="02010609060101010101" pitchFamily="49" charset="-122"/>
              </a:rPr>
              <a:t>P2</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 S2 …</a:t>
            </a:r>
          </a:p>
          <a:p>
            <a:pPr eaLnBrk="1" hangingPunct="1">
              <a:lnSpc>
                <a:spcPct val="110000"/>
              </a:lnSpc>
              <a:spcBef>
                <a:spcPct val="20000"/>
              </a:spcBef>
            </a:pPr>
            <a:r>
              <a:rPr lang="zh-CN" altLang="en-US" sz="2000" b="1" dirty="0">
                <a:solidFill>
                  <a:srgbClr val="008000"/>
                </a:solidFill>
                <a:latin typeface="+mn-lt"/>
                <a:ea typeface="楷体" panose="02010609060101010101" pitchFamily="49" charset="-122"/>
              </a:rPr>
              <a:t>若希望在</a:t>
            </a:r>
            <a:r>
              <a:rPr lang="en-US" altLang="zh-CN" sz="2000" b="1" dirty="0">
                <a:solidFill>
                  <a:srgbClr val="008000"/>
                </a:solidFill>
                <a:latin typeface="+mn-lt"/>
                <a:ea typeface="楷体" panose="02010609060101010101" pitchFamily="49" charset="-122"/>
              </a:rPr>
              <a:t>S1</a:t>
            </a:r>
            <a:r>
              <a:rPr lang="zh-CN" altLang="en-US" sz="2000" b="1" dirty="0">
                <a:solidFill>
                  <a:srgbClr val="008000"/>
                </a:solidFill>
                <a:latin typeface="+mn-lt"/>
                <a:ea typeface="楷体" panose="02010609060101010101" pitchFamily="49" charset="-122"/>
              </a:rPr>
              <a:t>执行后再执行</a:t>
            </a:r>
            <a:r>
              <a:rPr lang="en-US" altLang="zh-CN" sz="2000" b="1" dirty="0">
                <a:solidFill>
                  <a:srgbClr val="008000"/>
                </a:solidFill>
                <a:latin typeface="+mn-lt"/>
                <a:ea typeface="楷体" panose="02010609060101010101" pitchFamily="49" charset="-122"/>
              </a:rPr>
              <a:t>S2</a:t>
            </a:r>
            <a:r>
              <a:rPr lang="zh-CN" altLang="en-US" sz="2000" b="1" dirty="0">
                <a:solidFill>
                  <a:srgbClr val="008000"/>
                </a:solidFill>
                <a:latin typeface="+mn-lt"/>
                <a:ea typeface="楷体" panose="02010609060101010101" pitchFamily="49" charset="-122"/>
              </a:rPr>
              <a:t>，只需使进程</a:t>
            </a:r>
            <a:r>
              <a:rPr lang="en-US" altLang="zh-CN" sz="2000" b="1" dirty="0">
                <a:solidFill>
                  <a:srgbClr val="008000"/>
                </a:solidFill>
                <a:latin typeface="+mn-lt"/>
                <a:ea typeface="楷体" panose="02010609060101010101" pitchFamily="49" charset="-122"/>
              </a:rPr>
              <a:t>P1</a:t>
            </a:r>
            <a:r>
              <a:rPr lang="zh-CN" altLang="en-US" sz="2000" b="1" dirty="0">
                <a:solidFill>
                  <a:srgbClr val="008000"/>
                </a:solidFill>
                <a:latin typeface="+mn-lt"/>
                <a:ea typeface="楷体" panose="02010609060101010101" pitchFamily="49" charset="-122"/>
              </a:rPr>
              <a:t>和</a:t>
            </a:r>
            <a:r>
              <a:rPr lang="en-US" altLang="zh-CN" sz="2000" b="1" dirty="0">
                <a:solidFill>
                  <a:srgbClr val="008000"/>
                </a:solidFill>
                <a:latin typeface="+mn-lt"/>
                <a:ea typeface="楷体" panose="02010609060101010101" pitchFamily="49" charset="-122"/>
              </a:rPr>
              <a:t>P2</a:t>
            </a:r>
            <a:r>
              <a:rPr lang="zh-CN" altLang="en-US" sz="2000" b="1" dirty="0">
                <a:solidFill>
                  <a:srgbClr val="008000"/>
                </a:solidFill>
                <a:latin typeface="+mn-lt"/>
                <a:ea typeface="楷体" panose="02010609060101010101" pitchFamily="49" charset="-122"/>
              </a:rPr>
              <a:t>共享一个公用信号量</a:t>
            </a:r>
            <a:r>
              <a:rPr lang="en-US" altLang="zh-CN" sz="2000" b="1" dirty="0">
                <a:solidFill>
                  <a:srgbClr val="008000"/>
                </a:solidFill>
                <a:latin typeface="+mn-lt"/>
                <a:ea typeface="楷体" panose="02010609060101010101" pitchFamily="49" charset="-122"/>
              </a:rPr>
              <a:t>S</a:t>
            </a:r>
            <a:r>
              <a:rPr lang="zh-CN" altLang="en-US" sz="2000" b="1" dirty="0">
                <a:solidFill>
                  <a:srgbClr val="008000"/>
                </a:solidFill>
                <a:latin typeface="+mn-lt"/>
                <a:ea typeface="楷体" panose="02010609060101010101" pitchFamily="49" charset="-122"/>
              </a:rPr>
              <a:t>，</a:t>
            </a:r>
            <a:r>
              <a:rPr lang="zh-CN" altLang="en-US" sz="2000" b="1" dirty="0">
                <a:solidFill>
                  <a:srgbClr val="FF0000"/>
                </a:solidFill>
                <a:latin typeface="+mn-lt"/>
                <a:ea typeface="楷体" panose="02010609060101010101" pitchFamily="49" charset="-122"/>
              </a:rPr>
              <a:t>并赋初值</a:t>
            </a:r>
            <a:r>
              <a:rPr lang="en-US" altLang="zh-CN" sz="2000" b="1" dirty="0">
                <a:solidFill>
                  <a:srgbClr val="FF0000"/>
                </a:solidFill>
                <a:latin typeface="+mn-lt"/>
                <a:ea typeface="楷体" panose="02010609060101010101" pitchFamily="49" charset="-122"/>
              </a:rPr>
              <a:t>0</a:t>
            </a:r>
          </a:p>
          <a:p>
            <a:pPr eaLnBrk="1" hangingPunct="1">
              <a:lnSpc>
                <a:spcPct val="110000"/>
              </a:lnSpc>
              <a:spcBef>
                <a:spcPct val="20000"/>
              </a:spcBef>
            </a:pPr>
            <a:r>
              <a:rPr lang="zh-CN" altLang="en-US" sz="2000" b="1" dirty="0">
                <a:latin typeface="+mn-lt"/>
                <a:ea typeface="楷体" panose="02010609060101010101" pitchFamily="49" charset="-122"/>
              </a:rPr>
              <a:t>进程</a:t>
            </a:r>
            <a:r>
              <a:rPr lang="en-US" altLang="zh-CN" sz="2000" b="1" dirty="0">
                <a:latin typeface="+mn-lt"/>
                <a:ea typeface="楷体" panose="02010609060101010101" pitchFamily="49" charset="-122"/>
              </a:rPr>
              <a:t>P1</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 S1</a:t>
            </a:r>
            <a:r>
              <a:rPr lang="zh-CN" altLang="en-US" sz="2000" b="1" dirty="0">
                <a:latin typeface="+mn-lt"/>
                <a:ea typeface="楷体" panose="02010609060101010101" pitchFamily="49" charset="-122"/>
              </a:rPr>
              <a:t>；</a:t>
            </a:r>
            <a:r>
              <a:rPr lang="en-US" altLang="zh-CN" sz="2000" b="1" dirty="0">
                <a:solidFill>
                  <a:srgbClr val="FF0000"/>
                </a:solidFill>
                <a:latin typeface="+mn-lt"/>
                <a:ea typeface="楷体" panose="02010609060101010101" pitchFamily="49" charset="-122"/>
              </a:rPr>
              <a:t>V(S)</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a:t>
            </a:r>
          </a:p>
          <a:p>
            <a:pPr eaLnBrk="1" hangingPunct="1">
              <a:lnSpc>
                <a:spcPct val="110000"/>
              </a:lnSpc>
              <a:spcBef>
                <a:spcPct val="20000"/>
              </a:spcBef>
            </a:pPr>
            <a:r>
              <a:rPr lang="zh-CN" altLang="en-US" sz="2000" b="1" dirty="0">
                <a:latin typeface="+mn-lt"/>
                <a:ea typeface="楷体" panose="02010609060101010101" pitchFamily="49" charset="-122"/>
              </a:rPr>
              <a:t>进程</a:t>
            </a:r>
            <a:r>
              <a:rPr lang="en-US" altLang="zh-CN" sz="2000" b="1" dirty="0">
                <a:latin typeface="+mn-lt"/>
                <a:ea typeface="楷体" panose="02010609060101010101" pitchFamily="49" charset="-122"/>
              </a:rPr>
              <a:t>P2</a:t>
            </a:r>
            <a:r>
              <a:rPr lang="zh-CN" altLang="en-US" sz="2000" b="1" dirty="0">
                <a:latin typeface="+mn-lt"/>
                <a:ea typeface="楷体" panose="02010609060101010101" pitchFamily="49" charset="-122"/>
              </a:rPr>
              <a:t>：</a:t>
            </a:r>
            <a:r>
              <a:rPr lang="en-US" altLang="zh-CN" sz="2000" b="1" dirty="0">
                <a:latin typeface="+mn-lt"/>
                <a:ea typeface="楷体" panose="02010609060101010101" pitchFamily="49" charset="-122"/>
              </a:rPr>
              <a:t>… </a:t>
            </a:r>
            <a:r>
              <a:rPr lang="en-US" altLang="zh-CN" sz="2000" b="1" dirty="0">
                <a:solidFill>
                  <a:srgbClr val="FF0000"/>
                </a:solidFill>
                <a:latin typeface="+mn-lt"/>
                <a:ea typeface="楷体" panose="02010609060101010101" pitchFamily="49" charset="-122"/>
              </a:rPr>
              <a:t>P(S)</a:t>
            </a: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S2 …</a:t>
            </a:r>
          </a:p>
        </p:txBody>
      </p:sp>
    </p:spTree>
    <p:extLst>
      <p:ext uri="{BB962C8B-B14F-4D97-AF65-F5344CB8AC3E}">
        <p14:creationId xmlns:p14="http://schemas.microsoft.com/office/powerpoint/2010/main" val="225159849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利用信号</a:t>
            </a:r>
            <a:r>
              <a:rPr lang="zh-CN" altLang="en-US" dirty="0" smtClean="0"/>
              <a:t>量实</a:t>
            </a:r>
            <a:r>
              <a:rPr lang="zh-CN" altLang="en-US" dirty="0"/>
              <a:t>现前趋关系</a:t>
            </a:r>
          </a:p>
        </p:txBody>
      </p:sp>
      <p:sp>
        <p:nvSpPr>
          <p:cNvPr id="3" name="Content Placeholder 2"/>
          <p:cNvSpPr>
            <a:spLocks noGrp="1"/>
          </p:cNvSpPr>
          <p:nvPr>
            <p:ph idx="1"/>
          </p:nvPr>
        </p:nvSpPr>
        <p:spPr/>
        <p:txBody>
          <a:bodyPr/>
          <a:lstStyle/>
          <a:p>
            <a:r>
              <a:rPr lang="zh-CN" altLang="en-US" dirty="0" smtClean="0"/>
              <a:t>举例</a:t>
            </a:r>
            <a:endParaRPr lang="zh-CN" altLang="en-US" dirty="0"/>
          </a:p>
        </p:txBody>
      </p:sp>
      <p:sp>
        <p:nvSpPr>
          <p:cNvPr id="4" name="Date Placeholder 3"/>
          <p:cNvSpPr>
            <a:spLocks noGrp="1"/>
          </p:cNvSpPr>
          <p:nvPr>
            <p:ph type="dt" sz="half" idx="10"/>
          </p:nvPr>
        </p:nvSpPr>
        <p:spPr/>
        <p:txBody>
          <a:bodyPr/>
          <a:lstStyle/>
          <a:p>
            <a:fld id="{1CAC5E59-E436-4565-9365-7FBD39208A1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85</a:t>
            </a:fld>
            <a:endParaRPr lang="zh-CN" altLang="en-US" dirty="0"/>
          </a:p>
        </p:txBody>
      </p:sp>
      <p:grpSp>
        <p:nvGrpSpPr>
          <p:cNvPr id="7" name="Group 9"/>
          <p:cNvGrpSpPr>
            <a:grpSpLocks/>
          </p:cNvGrpSpPr>
          <p:nvPr/>
        </p:nvGrpSpPr>
        <p:grpSpPr bwMode="auto">
          <a:xfrm>
            <a:off x="540469" y="2855317"/>
            <a:ext cx="2519363" cy="2301875"/>
            <a:chOff x="159" y="1526"/>
            <a:chExt cx="1587" cy="1450"/>
          </a:xfrm>
        </p:grpSpPr>
        <p:sp>
          <p:nvSpPr>
            <p:cNvPr id="8" name="Oval 10"/>
            <p:cNvSpPr>
              <a:spLocks noChangeArrowheads="1"/>
            </p:cNvSpPr>
            <p:nvPr/>
          </p:nvSpPr>
          <p:spPr bwMode="auto">
            <a:xfrm>
              <a:off x="885" y="1526"/>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chemeClr val="bg1"/>
                  </a:solidFill>
                  <a:ea typeface="华文新魏" pitchFamily="2" charset="-122"/>
                </a:rPr>
                <a:t>S1</a:t>
              </a:r>
            </a:p>
          </p:txBody>
        </p:sp>
        <p:sp>
          <p:nvSpPr>
            <p:cNvPr id="9" name="Oval 11"/>
            <p:cNvSpPr>
              <a:spLocks noChangeArrowheads="1"/>
            </p:cNvSpPr>
            <p:nvPr/>
          </p:nvSpPr>
          <p:spPr bwMode="auto">
            <a:xfrm>
              <a:off x="522" y="1934"/>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bg1"/>
                  </a:solidFill>
                  <a:ea typeface="华文新魏" pitchFamily="2" charset="-122"/>
                </a:rPr>
                <a:t>S2</a:t>
              </a:r>
            </a:p>
          </p:txBody>
        </p:sp>
        <p:sp>
          <p:nvSpPr>
            <p:cNvPr id="10" name="Oval 12"/>
            <p:cNvSpPr>
              <a:spLocks noChangeArrowheads="1"/>
            </p:cNvSpPr>
            <p:nvPr/>
          </p:nvSpPr>
          <p:spPr bwMode="auto">
            <a:xfrm>
              <a:off x="159" y="2387"/>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bg1"/>
                  </a:solidFill>
                  <a:ea typeface="华文新魏" pitchFamily="2" charset="-122"/>
                </a:rPr>
                <a:t>S4</a:t>
              </a:r>
            </a:p>
          </p:txBody>
        </p:sp>
        <p:sp>
          <p:nvSpPr>
            <p:cNvPr id="11" name="Oval 13"/>
            <p:cNvSpPr>
              <a:spLocks noChangeArrowheads="1"/>
            </p:cNvSpPr>
            <p:nvPr/>
          </p:nvSpPr>
          <p:spPr bwMode="auto">
            <a:xfrm>
              <a:off x="975" y="2251"/>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bg1"/>
                  </a:solidFill>
                  <a:ea typeface="华文新魏" pitchFamily="2" charset="-122"/>
                </a:rPr>
                <a:t>S5</a:t>
              </a:r>
            </a:p>
          </p:txBody>
        </p:sp>
        <p:sp>
          <p:nvSpPr>
            <p:cNvPr id="12" name="Oval 14"/>
            <p:cNvSpPr>
              <a:spLocks noChangeArrowheads="1"/>
            </p:cNvSpPr>
            <p:nvPr/>
          </p:nvSpPr>
          <p:spPr bwMode="auto">
            <a:xfrm>
              <a:off x="749" y="2750"/>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bg1"/>
                  </a:solidFill>
                  <a:ea typeface="华文新魏" pitchFamily="2" charset="-122"/>
                </a:rPr>
                <a:t>S6</a:t>
              </a:r>
            </a:p>
          </p:txBody>
        </p:sp>
        <p:sp>
          <p:nvSpPr>
            <p:cNvPr id="13" name="Oval 15"/>
            <p:cNvSpPr>
              <a:spLocks noChangeArrowheads="1"/>
            </p:cNvSpPr>
            <p:nvPr/>
          </p:nvSpPr>
          <p:spPr bwMode="auto">
            <a:xfrm>
              <a:off x="1519" y="2160"/>
              <a:ext cx="227" cy="22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solidFill>
                    <a:schemeClr val="bg1"/>
                  </a:solidFill>
                  <a:ea typeface="华文新魏" pitchFamily="2" charset="-122"/>
                </a:rPr>
                <a:t>S3</a:t>
              </a:r>
            </a:p>
          </p:txBody>
        </p:sp>
        <p:sp>
          <p:nvSpPr>
            <p:cNvPr id="14" name="Line 16"/>
            <p:cNvSpPr>
              <a:spLocks noChangeShapeType="1"/>
            </p:cNvSpPr>
            <p:nvPr/>
          </p:nvSpPr>
          <p:spPr bwMode="auto">
            <a:xfrm flipH="1">
              <a:off x="703" y="1706"/>
              <a:ext cx="227"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 name="Line 17"/>
            <p:cNvSpPr>
              <a:spLocks noChangeShapeType="1"/>
            </p:cNvSpPr>
            <p:nvPr/>
          </p:nvSpPr>
          <p:spPr bwMode="auto">
            <a:xfrm flipH="1">
              <a:off x="340" y="2160"/>
              <a:ext cx="227"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6" name="Line 18"/>
            <p:cNvSpPr>
              <a:spLocks noChangeShapeType="1"/>
            </p:cNvSpPr>
            <p:nvPr/>
          </p:nvSpPr>
          <p:spPr bwMode="auto">
            <a:xfrm>
              <a:off x="340" y="2614"/>
              <a:ext cx="409"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7" name="Line 19"/>
            <p:cNvSpPr>
              <a:spLocks noChangeShapeType="1"/>
            </p:cNvSpPr>
            <p:nvPr/>
          </p:nvSpPr>
          <p:spPr bwMode="auto">
            <a:xfrm flipH="1">
              <a:off x="885" y="2477"/>
              <a:ext cx="181"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8" name="Line 20"/>
            <p:cNvSpPr>
              <a:spLocks noChangeShapeType="1"/>
            </p:cNvSpPr>
            <p:nvPr/>
          </p:nvSpPr>
          <p:spPr bwMode="auto">
            <a:xfrm>
              <a:off x="742" y="2108"/>
              <a:ext cx="272" cy="1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9" name="Line 21"/>
            <p:cNvSpPr>
              <a:spLocks noChangeShapeType="1"/>
            </p:cNvSpPr>
            <p:nvPr/>
          </p:nvSpPr>
          <p:spPr bwMode="auto">
            <a:xfrm>
              <a:off x="1111" y="1706"/>
              <a:ext cx="454" cy="4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0" name="Line 22"/>
            <p:cNvSpPr>
              <a:spLocks noChangeShapeType="1"/>
            </p:cNvSpPr>
            <p:nvPr/>
          </p:nvSpPr>
          <p:spPr bwMode="auto">
            <a:xfrm flipH="1">
              <a:off x="975" y="2387"/>
              <a:ext cx="590" cy="4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1" name="Text Box 23"/>
            <p:cNvSpPr txBox="1">
              <a:spLocks noChangeArrowheads="1"/>
            </p:cNvSpPr>
            <p:nvPr/>
          </p:nvSpPr>
          <p:spPr bwMode="auto">
            <a:xfrm>
              <a:off x="624" y="1660"/>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a2</a:t>
              </a:r>
            </a:p>
          </p:txBody>
        </p:sp>
        <p:sp>
          <p:nvSpPr>
            <p:cNvPr id="22" name="Text Box 24"/>
            <p:cNvSpPr txBox="1">
              <a:spLocks noChangeArrowheads="1"/>
            </p:cNvSpPr>
            <p:nvPr/>
          </p:nvSpPr>
          <p:spPr bwMode="auto">
            <a:xfrm>
              <a:off x="1296" y="1756"/>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a3</a:t>
              </a:r>
            </a:p>
          </p:txBody>
        </p:sp>
        <p:sp>
          <p:nvSpPr>
            <p:cNvPr id="23" name="Text Box 25"/>
            <p:cNvSpPr txBox="1">
              <a:spLocks noChangeArrowheads="1"/>
            </p:cNvSpPr>
            <p:nvPr/>
          </p:nvSpPr>
          <p:spPr bwMode="auto">
            <a:xfrm>
              <a:off x="819" y="2016"/>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a5</a:t>
              </a:r>
            </a:p>
          </p:txBody>
        </p:sp>
        <p:sp>
          <p:nvSpPr>
            <p:cNvPr id="24" name="Text Box 26"/>
            <p:cNvSpPr txBox="1">
              <a:spLocks noChangeArrowheads="1"/>
            </p:cNvSpPr>
            <p:nvPr/>
          </p:nvSpPr>
          <p:spPr bwMode="auto">
            <a:xfrm>
              <a:off x="288" y="2092"/>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a4</a:t>
              </a:r>
            </a:p>
          </p:txBody>
        </p:sp>
        <p:sp>
          <p:nvSpPr>
            <p:cNvPr id="25" name="Text Box 27"/>
            <p:cNvSpPr txBox="1">
              <a:spLocks noChangeArrowheads="1"/>
            </p:cNvSpPr>
            <p:nvPr/>
          </p:nvSpPr>
          <p:spPr bwMode="auto">
            <a:xfrm>
              <a:off x="1263" y="2524"/>
              <a:ext cx="26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a63</a:t>
              </a:r>
            </a:p>
          </p:txBody>
        </p:sp>
        <p:sp>
          <p:nvSpPr>
            <p:cNvPr id="26" name="Text Box 28"/>
            <p:cNvSpPr txBox="1">
              <a:spLocks noChangeArrowheads="1"/>
            </p:cNvSpPr>
            <p:nvPr/>
          </p:nvSpPr>
          <p:spPr bwMode="auto">
            <a:xfrm>
              <a:off x="728" y="2448"/>
              <a:ext cx="26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a65</a:t>
              </a:r>
            </a:p>
          </p:txBody>
        </p:sp>
        <p:sp>
          <p:nvSpPr>
            <p:cNvPr id="27" name="Text Box 29"/>
            <p:cNvSpPr txBox="1">
              <a:spLocks noChangeArrowheads="1"/>
            </p:cNvSpPr>
            <p:nvPr/>
          </p:nvSpPr>
          <p:spPr bwMode="auto">
            <a:xfrm>
              <a:off x="336" y="2688"/>
              <a:ext cx="26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a:t>a64</a:t>
              </a:r>
            </a:p>
          </p:txBody>
        </p:sp>
      </p:grpSp>
      <p:sp>
        <p:nvSpPr>
          <p:cNvPr id="29" name="Rectangle 8"/>
          <p:cNvSpPr>
            <a:spLocks noChangeArrowheads="1"/>
          </p:cNvSpPr>
          <p:nvPr/>
        </p:nvSpPr>
        <p:spPr bwMode="auto">
          <a:xfrm>
            <a:off x="3475491" y="1905992"/>
            <a:ext cx="5329063"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1800" b="1" dirty="0" err="1">
                <a:latin typeface="+mn-lt"/>
              </a:rPr>
              <a:t>Var</a:t>
            </a:r>
            <a:r>
              <a:rPr lang="en-US" altLang="zh-CN" sz="1800" b="1" dirty="0">
                <a:latin typeface="+mn-lt"/>
              </a:rPr>
              <a:t> </a:t>
            </a:r>
            <a:endParaRPr lang="en-US" altLang="zh-CN" sz="1800" b="1" dirty="0" smtClean="0">
              <a:latin typeface="+mn-lt"/>
            </a:endParaRPr>
          </a:p>
          <a:p>
            <a:pPr eaLnBrk="1" hangingPunct="1">
              <a:spcBef>
                <a:spcPct val="20000"/>
              </a:spcBef>
            </a:pPr>
            <a:r>
              <a:rPr lang="en-US" altLang="zh-CN" sz="1800" b="1" dirty="0" smtClean="0">
                <a:latin typeface="+mn-lt"/>
              </a:rPr>
              <a:t>a2,a3,a4,a5,a63,a64,a65 :=0,0,0,0,0,0,0</a:t>
            </a:r>
            <a:r>
              <a:rPr lang="en-US" altLang="zh-CN" sz="1800" b="1" dirty="0">
                <a:latin typeface="+mn-lt"/>
              </a:rPr>
              <a:t>;</a:t>
            </a:r>
          </a:p>
          <a:p>
            <a:pPr eaLnBrk="1" hangingPunct="1">
              <a:spcBef>
                <a:spcPct val="20000"/>
              </a:spcBef>
            </a:pPr>
            <a:r>
              <a:rPr lang="en-US" altLang="zh-CN" sz="1800" b="1" dirty="0">
                <a:latin typeface="+mn-lt"/>
              </a:rPr>
              <a:t>Begin</a:t>
            </a:r>
          </a:p>
          <a:p>
            <a:pPr eaLnBrk="1" hangingPunct="1">
              <a:spcBef>
                <a:spcPct val="20000"/>
              </a:spcBef>
            </a:pPr>
            <a:r>
              <a:rPr lang="en-US" altLang="zh-CN" sz="1800" b="1" dirty="0">
                <a:latin typeface="+mn-lt"/>
              </a:rPr>
              <a:t>    </a:t>
            </a:r>
            <a:r>
              <a:rPr lang="en-US" altLang="zh-CN" sz="1800" b="1" dirty="0" err="1">
                <a:latin typeface="+mn-lt"/>
              </a:rPr>
              <a:t>Parbegin</a:t>
            </a:r>
            <a:endParaRPr lang="en-US" altLang="zh-CN" sz="1800" b="1" dirty="0">
              <a:latin typeface="+mn-lt"/>
            </a:endParaRPr>
          </a:p>
          <a:p>
            <a:pPr eaLnBrk="1" hangingPunct="1">
              <a:spcBef>
                <a:spcPct val="20000"/>
              </a:spcBef>
            </a:pPr>
            <a:r>
              <a:rPr lang="en-US" altLang="zh-CN" sz="1800" b="1" dirty="0">
                <a:latin typeface="+mn-lt"/>
              </a:rPr>
              <a:t>         Begin S1;V(a2);V(a3); End</a:t>
            </a:r>
          </a:p>
          <a:p>
            <a:pPr eaLnBrk="1" hangingPunct="1">
              <a:spcBef>
                <a:spcPct val="20000"/>
              </a:spcBef>
            </a:pPr>
            <a:r>
              <a:rPr lang="en-US" altLang="zh-CN" sz="1800" b="1" dirty="0">
                <a:latin typeface="+mn-lt"/>
              </a:rPr>
              <a:t>         Begin P(a2);S2;V(a4);V(a5); End</a:t>
            </a:r>
          </a:p>
          <a:p>
            <a:pPr eaLnBrk="1" hangingPunct="1">
              <a:spcBef>
                <a:spcPct val="20000"/>
              </a:spcBef>
            </a:pPr>
            <a:r>
              <a:rPr lang="en-US" altLang="zh-CN" sz="1800" b="1" dirty="0">
                <a:latin typeface="+mn-lt"/>
              </a:rPr>
              <a:t>         Begin P(a3);S3;V(a63); End</a:t>
            </a:r>
          </a:p>
          <a:p>
            <a:pPr eaLnBrk="1" hangingPunct="1">
              <a:spcBef>
                <a:spcPct val="20000"/>
              </a:spcBef>
            </a:pPr>
            <a:r>
              <a:rPr lang="en-US" altLang="zh-CN" sz="1800" b="1" dirty="0">
                <a:latin typeface="+mn-lt"/>
              </a:rPr>
              <a:t>         Begin P(a4);S4;V(a64); End</a:t>
            </a:r>
          </a:p>
          <a:p>
            <a:pPr eaLnBrk="1" hangingPunct="1">
              <a:spcBef>
                <a:spcPct val="20000"/>
              </a:spcBef>
            </a:pPr>
            <a:r>
              <a:rPr lang="en-US" altLang="zh-CN" sz="1800" b="1" dirty="0">
                <a:latin typeface="+mn-lt"/>
              </a:rPr>
              <a:t>         Begin P(a5);S5;V(a65); End</a:t>
            </a:r>
          </a:p>
          <a:p>
            <a:pPr eaLnBrk="1" hangingPunct="1">
              <a:spcBef>
                <a:spcPct val="20000"/>
              </a:spcBef>
            </a:pPr>
            <a:r>
              <a:rPr lang="en-US" altLang="zh-CN" sz="1800" b="1" dirty="0">
                <a:latin typeface="+mn-lt"/>
              </a:rPr>
              <a:t>         Begin P(a63); P(a64); P(a65); S6; End</a:t>
            </a:r>
          </a:p>
          <a:p>
            <a:pPr eaLnBrk="1" hangingPunct="1">
              <a:spcBef>
                <a:spcPct val="20000"/>
              </a:spcBef>
            </a:pPr>
            <a:r>
              <a:rPr lang="en-US" altLang="zh-CN" sz="1800" b="1" dirty="0">
                <a:latin typeface="+mn-lt"/>
              </a:rPr>
              <a:t>    </a:t>
            </a:r>
            <a:r>
              <a:rPr lang="en-US" altLang="zh-CN" sz="1800" b="1" dirty="0" err="1">
                <a:latin typeface="+mn-lt"/>
              </a:rPr>
              <a:t>Parend</a:t>
            </a:r>
            <a:endParaRPr lang="en-US" altLang="zh-CN" sz="1800" b="1" dirty="0">
              <a:latin typeface="+mn-lt"/>
            </a:endParaRPr>
          </a:p>
          <a:p>
            <a:pPr eaLnBrk="1" hangingPunct="1">
              <a:spcBef>
                <a:spcPct val="20000"/>
              </a:spcBef>
            </a:pPr>
            <a:r>
              <a:rPr lang="en-US" altLang="zh-CN" sz="1800" b="1" dirty="0">
                <a:latin typeface="+mn-lt"/>
              </a:rPr>
              <a:t>End </a:t>
            </a:r>
          </a:p>
        </p:txBody>
      </p:sp>
    </p:spTree>
    <p:extLst>
      <p:ext uri="{BB962C8B-B14F-4D97-AF65-F5344CB8AC3E}">
        <p14:creationId xmlns:p14="http://schemas.microsoft.com/office/powerpoint/2010/main" val="197446976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5"/>
          <p:cNvSpPr>
            <a:spLocks noGrp="1" noChangeArrowheads="1"/>
          </p:cNvSpPr>
          <p:nvPr>
            <p:ph type="body" idx="1"/>
          </p:nvPr>
        </p:nvSpPr>
        <p:spPr>
          <a:xfrm>
            <a:off x="682487" y="1288774"/>
            <a:ext cx="7924800" cy="4495800"/>
          </a:xfrm>
          <a:noFill/>
        </p:spPr>
        <p:txBody>
          <a:bodyPr>
            <a:noAutofit/>
          </a:bodyPr>
          <a:lstStyle/>
          <a:p>
            <a:pPr marL="228600" lvl="1">
              <a:spcBef>
                <a:spcPts val="1000"/>
              </a:spcBef>
            </a:pPr>
            <a:r>
              <a:rPr lang="zh-CN" altLang="en-US" sz="2400" dirty="0" smtClean="0"/>
              <a:t>使用</a:t>
            </a:r>
            <a:r>
              <a:rPr lang="en-US" altLang="zh-CN" sz="2400" dirty="0" smtClean="0"/>
              <a:t>PV</a:t>
            </a:r>
            <a:r>
              <a:rPr lang="zh-CN" altLang="en-US" sz="2400" dirty="0" smtClean="0"/>
              <a:t>原语实现以下读者写者问题，条件：</a:t>
            </a:r>
          </a:p>
          <a:p>
            <a:pPr marL="685800" lvl="2">
              <a:spcBef>
                <a:spcPts val="1000"/>
              </a:spcBef>
              <a:buFont typeface="Wingdings" pitchFamily="2" charset="2"/>
              <a:buChar char="p"/>
            </a:pPr>
            <a:r>
              <a:rPr lang="zh-CN" altLang="en-US" sz="2200" dirty="0" smtClean="0"/>
              <a:t>多个读者可以同时进行读</a:t>
            </a:r>
          </a:p>
          <a:p>
            <a:pPr marL="685800" lvl="2">
              <a:spcBef>
                <a:spcPts val="1000"/>
              </a:spcBef>
              <a:buFont typeface="Wingdings" pitchFamily="2" charset="2"/>
              <a:buChar char="p"/>
            </a:pPr>
            <a:r>
              <a:rPr lang="zh-CN" altLang="en-US" sz="2200" dirty="0" smtClean="0"/>
              <a:t>写者必须互斥（只允许一个写者写，也不能读者、写者同时进行）</a:t>
            </a:r>
          </a:p>
          <a:p>
            <a:pPr marL="685800" lvl="2">
              <a:spcBef>
                <a:spcPts val="1000"/>
              </a:spcBef>
              <a:buFont typeface="Wingdings" pitchFamily="2" charset="2"/>
              <a:buChar char="p"/>
            </a:pPr>
            <a:r>
              <a:rPr lang="zh-CN" altLang="en-US" sz="2200" dirty="0" smtClean="0"/>
              <a:t>写者优先于读者（一旦有写者，则后续读者必须   等待，唤醒时优先考虑写者）</a:t>
            </a:r>
          </a:p>
        </p:txBody>
      </p:sp>
      <p:sp>
        <p:nvSpPr>
          <p:cNvPr id="4" name="Title 1"/>
          <p:cNvSpPr>
            <a:spLocks noGrp="1"/>
          </p:cNvSpPr>
          <p:nvPr>
            <p:ph type="title"/>
          </p:nvPr>
        </p:nvSpPr>
        <p:spPr>
          <a:xfrm>
            <a:off x="628650" y="140676"/>
            <a:ext cx="7886700" cy="693274"/>
          </a:xfrm>
        </p:spPr>
        <p:txBody>
          <a:bodyPr/>
          <a:lstStyle/>
          <a:p>
            <a:r>
              <a:rPr lang="zh-CN" altLang="en-US" dirty="0" smtClean="0"/>
              <a:t>作业</a:t>
            </a:r>
            <a:endParaRPr lang="zh-CN" alt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zh-CN" altLang="en-US" dirty="0" smtClean="0"/>
              <a:t>给出哲学家进餐问题的另外一种解法，请分析其互斥过程。</a:t>
            </a:r>
            <a:endParaRPr lang="zh-CN" altLang="en-US" dirty="0"/>
          </a:p>
        </p:txBody>
      </p:sp>
      <p:sp>
        <p:nvSpPr>
          <p:cNvPr id="4" name="Date Placeholder 3"/>
          <p:cNvSpPr>
            <a:spLocks noGrp="1"/>
          </p:cNvSpPr>
          <p:nvPr>
            <p:ph type="dt" sz="half" idx="10"/>
          </p:nvPr>
        </p:nvSpPr>
        <p:spPr/>
        <p:txBody>
          <a:bodyPr/>
          <a:lstStyle/>
          <a:p>
            <a:fld id="{C68FE0FE-FBA7-49C7-B8FC-7BDFEAEF8E2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87</a:t>
            </a:fld>
            <a:endParaRPr lang="zh-CN" altLang="en-US" dirty="0"/>
          </a:p>
        </p:txBody>
      </p:sp>
      <p:sp>
        <p:nvSpPr>
          <p:cNvPr id="7" name="Rectangle 6"/>
          <p:cNvSpPr/>
          <p:nvPr/>
        </p:nvSpPr>
        <p:spPr>
          <a:xfrm>
            <a:off x="822216" y="2713659"/>
            <a:ext cx="4878288" cy="1785104"/>
          </a:xfrm>
          <a:prstGeom prst="rect">
            <a:avLst/>
          </a:prstGeom>
        </p:spPr>
        <p:txBody>
          <a:bodyPr wrap="square">
            <a:spAutoFit/>
          </a:bodyPr>
          <a:lstStyle/>
          <a:p>
            <a:pPr>
              <a:lnSpc>
                <a:spcPct val="110000"/>
              </a:lnSpc>
            </a:pPr>
            <a:r>
              <a:rPr lang="zh-CN" altLang="en-US" sz="2000" b="1" dirty="0" smtClean="0">
                <a:ea typeface="楷体" panose="02010609060101010101" pitchFamily="49" charset="-122"/>
              </a:rPr>
              <a:t>变量设置</a:t>
            </a:r>
            <a:endParaRPr lang="en-US" altLang="zh-CN" sz="2000" b="1" dirty="0" smtClean="0">
              <a:ea typeface="楷体" panose="02010609060101010101" pitchFamily="49" charset="-122"/>
            </a:endParaRPr>
          </a:p>
          <a:p>
            <a:pPr>
              <a:lnSpc>
                <a:spcPct val="110000"/>
              </a:lnSpc>
            </a:pPr>
            <a:r>
              <a:rPr lang="en-US" altLang="zh-CN" sz="2000" b="1" dirty="0" smtClean="0">
                <a:ea typeface="楷体" panose="02010609060101010101" pitchFamily="49" charset="-122"/>
              </a:rPr>
              <a:t>state</a:t>
            </a:r>
            <a:r>
              <a:rPr lang="en-US" altLang="zh-CN" sz="2000" b="1" dirty="0">
                <a:ea typeface="楷体" panose="02010609060101010101" pitchFamily="49" charset="-122"/>
              </a:rPr>
              <a:t>: array[0..4] of (</a:t>
            </a:r>
            <a:r>
              <a:rPr lang="zh-CN" altLang="zh-CN" sz="2000" b="1" dirty="0">
                <a:ea typeface="楷体" panose="02010609060101010101" pitchFamily="49" charset="-122"/>
              </a:rPr>
              <a:t>思考，饥饿，进食）；</a:t>
            </a:r>
            <a:br>
              <a:rPr lang="zh-CN" altLang="zh-CN" sz="2000" b="1" dirty="0">
                <a:ea typeface="楷体" panose="02010609060101010101" pitchFamily="49" charset="-122"/>
              </a:rPr>
            </a:br>
            <a:r>
              <a:rPr lang="en-US" altLang="zh-CN" sz="2000" b="1" dirty="0" err="1">
                <a:ea typeface="楷体" panose="02010609060101010101" pitchFamily="49" charset="-122"/>
              </a:rPr>
              <a:t>ph</a:t>
            </a:r>
            <a:r>
              <a:rPr lang="en-US" altLang="zh-CN" sz="2000" b="1" dirty="0">
                <a:ea typeface="楷体" panose="02010609060101010101" pitchFamily="49" charset="-122"/>
              </a:rPr>
              <a:t>: array[0..4] of semaphore;</a:t>
            </a:r>
            <a:br>
              <a:rPr lang="en-US" altLang="zh-CN" sz="2000" b="1" dirty="0">
                <a:ea typeface="楷体" panose="02010609060101010101" pitchFamily="49" charset="-122"/>
              </a:rPr>
            </a:br>
            <a:r>
              <a:rPr lang="en-US" altLang="zh-CN" sz="2000" b="1" dirty="0" err="1">
                <a:ea typeface="楷体" panose="02010609060101010101" pitchFamily="49" charset="-122"/>
              </a:rPr>
              <a:t>mutex</a:t>
            </a:r>
            <a:r>
              <a:rPr lang="en-US" altLang="zh-CN" sz="2000" b="1" dirty="0">
                <a:ea typeface="楷体" panose="02010609060101010101" pitchFamily="49" charset="-122"/>
              </a:rPr>
              <a:t>: semaphore;</a:t>
            </a:r>
            <a:br>
              <a:rPr lang="en-US" altLang="zh-CN" sz="2000" b="1" dirty="0">
                <a:ea typeface="楷体" panose="02010609060101010101" pitchFamily="49" charset="-122"/>
              </a:rPr>
            </a:br>
            <a:r>
              <a:rPr lang="en-US" altLang="zh-CN" sz="2000" b="1" dirty="0">
                <a:ea typeface="楷体" panose="02010609060101010101" pitchFamily="49" charset="-122"/>
              </a:rPr>
              <a:t>i: 0..4;</a:t>
            </a:r>
          </a:p>
        </p:txBody>
      </p:sp>
      <p:sp>
        <p:nvSpPr>
          <p:cNvPr id="8" name="Rectangle 7"/>
          <p:cNvSpPr/>
          <p:nvPr/>
        </p:nvSpPr>
        <p:spPr>
          <a:xfrm>
            <a:off x="5623560" y="2743476"/>
            <a:ext cx="4572000" cy="1089529"/>
          </a:xfrm>
          <a:prstGeom prst="rect">
            <a:avLst/>
          </a:prstGeom>
        </p:spPr>
        <p:txBody>
          <a:bodyPr>
            <a:spAutoFit/>
          </a:bodyPr>
          <a:lstStyle/>
          <a:p>
            <a:pPr>
              <a:lnSpc>
                <a:spcPct val="90000"/>
              </a:lnSpc>
            </a:pPr>
            <a:r>
              <a:rPr lang="zh-CN" altLang="en-US" b="1" dirty="0">
                <a:solidFill>
                  <a:srgbClr val="009900"/>
                </a:solidFill>
                <a:ea typeface="楷体" panose="02010609060101010101" pitchFamily="49" charset="-122"/>
              </a:rPr>
              <a:t>初始值：</a:t>
            </a:r>
          </a:p>
          <a:p>
            <a:pPr>
              <a:lnSpc>
                <a:spcPct val="90000"/>
              </a:lnSpc>
            </a:pPr>
            <a:r>
              <a:rPr lang="zh-CN" altLang="en-US" b="1" dirty="0">
                <a:solidFill>
                  <a:srgbClr val="009900"/>
                </a:solidFill>
                <a:ea typeface="楷体" panose="02010609060101010101" pitchFamily="49" charset="-122"/>
              </a:rPr>
              <a:t>     </a:t>
            </a:r>
            <a:r>
              <a:rPr lang="en-US" altLang="zh-CN" b="1" dirty="0">
                <a:solidFill>
                  <a:srgbClr val="009900"/>
                </a:solidFill>
                <a:ea typeface="楷体" panose="02010609060101010101" pitchFamily="49" charset="-122"/>
              </a:rPr>
              <a:t>state[ </a:t>
            </a:r>
            <a:r>
              <a:rPr lang="en-US" altLang="zh-CN" b="1" dirty="0" err="1">
                <a:solidFill>
                  <a:srgbClr val="009900"/>
                </a:solidFill>
                <a:ea typeface="楷体" panose="02010609060101010101" pitchFamily="49" charset="-122"/>
              </a:rPr>
              <a:t>i</a:t>
            </a:r>
            <a:r>
              <a:rPr lang="en-US" altLang="zh-CN" b="1" dirty="0">
                <a:solidFill>
                  <a:srgbClr val="009900"/>
                </a:solidFill>
                <a:ea typeface="楷体" panose="02010609060101010101" pitchFamily="49" charset="-122"/>
              </a:rPr>
              <a:t> ]=</a:t>
            </a:r>
            <a:r>
              <a:rPr lang="zh-CN" altLang="en-US" b="1" dirty="0">
                <a:solidFill>
                  <a:srgbClr val="009900"/>
                </a:solidFill>
                <a:ea typeface="楷体" panose="02010609060101010101" pitchFamily="49" charset="-122"/>
              </a:rPr>
              <a:t>思考</a:t>
            </a:r>
          </a:p>
          <a:p>
            <a:pPr>
              <a:lnSpc>
                <a:spcPct val="90000"/>
              </a:lnSpc>
            </a:pPr>
            <a:r>
              <a:rPr lang="zh-CN" altLang="en-US" b="1" dirty="0">
                <a:solidFill>
                  <a:srgbClr val="009900"/>
                </a:solidFill>
                <a:ea typeface="楷体" panose="02010609060101010101" pitchFamily="49" charset="-122"/>
              </a:rPr>
              <a:t>     </a:t>
            </a:r>
            <a:r>
              <a:rPr lang="en-US" altLang="zh-CN" b="1" dirty="0" err="1">
                <a:solidFill>
                  <a:srgbClr val="009900"/>
                </a:solidFill>
                <a:ea typeface="楷体" panose="02010609060101010101" pitchFamily="49" charset="-122"/>
              </a:rPr>
              <a:t>ph</a:t>
            </a:r>
            <a:r>
              <a:rPr lang="en-US" altLang="zh-CN" b="1" dirty="0">
                <a:solidFill>
                  <a:srgbClr val="009900"/>
                </a:solidFill>
                <a:ea typeface="楷体" panose="02010609060101010101" pitchFamily="49" charset="-122"/>
              </a:rPr>
              <a:t>[ </a:t>
            </a:r>
            <a:r>
              <a:rPr lang="en-US" altLang="zh-CN" b="1" dirty="0" err="1">
                <a:solidFill>
                  <a:srgbClr val="009900"/>
                </a:solidFill>
                <a:ea typeface="楷体" panose="02010609060101010101" pitchFamily="49" charset="-122"/>
              </a:rPr>
              <a:t>i</a:t>
            </a:r>
            <a:r>
              <a:rPr lang="en-US" altLang="zh-CN" b="1" dirty="0">
                <a:solidFill>
                  <a:srgbClr val="009900"/>
                </a:solidFill>
                <a:ea typeface="楷体" panose="02010609060101010101" pitchFamily="49" charset="-122"/>
              </a:rPr>
              <a:t> ]=0</a:t>
            </a:r>
          </a:p>
          <a:p>
            <a:pPr>
              <a:lnSpc>
                <a:spcPct val="90000"/>
              </a:lnSpc>
            </a:pPr>
            <a:r>
              <a:rPr lang="en-US" altLang="zh-CN" b="1" dirty="0">
                <a:solidFill>
                  <a:srgbClr val="009900"/>
                </a:solidFill>
                <a:ea typeface="楷体" panose="02010609060101010101" pitchFamily="49" charset="-122"/>
              </a:rPr>
              <a:t>     </a:t>
            </a:r>
            <a:r>
              <a:rPr lang="en-US" altLang="zh-CN" b="1" dirty="0" err="1">
                <a:solidFill>
                  <a:srgbClr val="009900"/>
                </a:solidFill>
                <a:ea typeface="楷体" panose="02010609060101010101" pitchFamily="49" charset="-122"/>
              </a:rPr>
              <a:t>Mutex</a:t>
            </a:r>
            <a:r>
              <a:rPr lang="en-US" altLang="zh-CN" b="1" dirty="0">
                <a:solidFill>
                  <a:srgbClr val="009900"/>
                </a:solidFill>
                <a:ea typeface="楷体" panose="02010609060101010101" pitchFamily="49" charset="-122"/>
              </a:rPr>
              <a:t>=1</a:t>
            </a:r>
          </a:p>
        </p:txBody>
      </p:sp>
      <p:sp>
        <p:nvSpPr>
          <p:cNvPr id="10" name="Title 1"/>
          <p:cNvSpPr>
            <a:spLocks noGrp="1"/>
          </p:cNvSpPr>
          <p:nvPr>
            <p:ph type="title"/>
          </p:nvPr>
        </p:nvSpPr>
        <p:spPr>
          <a:xfrm>
            <a:off x="628650" y="140676"/>
            <a:ext cx="7886700" cy="693274"/>
          </a:xfrm>
        </p:spPr>
        <p:txBody>
          <a:bodyPr/>
          <a:lstStyle/>
          <a:p>
            <a:r>
              <a:rPr lang="zh-CN" altLang="en-US" dirty="0" smtClean="0"/>
              <a:t>作业</a:t>
            </a:r>
            <a:endParaRPr lang="zh-CN" altLang="en-US" dirty="0"/>
          </a:p>
        </p:txBody>
      </p:sp>
    </p:spTree>
    <p:extLst>
      <p:ext uri="{BB962C8B-B14F-4D97-AF65-F5344CB8AC3E}">
        <p14:creationId xmlns:p14="http://schemas.microsoft.com/office/powerpoint/2010/main" val="76868763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作业</a:t>
            </a:r>
            <a:endParaRPr lang="zh-CN" altLang="en-US" dirty="0"/>
          </a:p>
        </p:txBody>
      </p:sp>
      <p:sp>
        <p:nvSpPr>
          <p:cNvPr id="4" name="Date Placeholder 3"/>
          <p:cNvSpPr>
            <a:spLocks noGrp="1"/>
          </p:cNvSpPr>
          <p:nvPr>
            <p:ph type="dt" sz="half" idx="10"/>
          </p:nvPr>
        </p:nvSpPr>
        <p:spPr/>
        <p:txBody>
          <a:bodyPr/>
          <a:lstStyle/>
          <a:p>
            <a:fld id="{FB1BD258-8541-4A83-88D1-3DB7BD979E6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88</a:t>
            </a:fld>
            <a:endParaRPr lang="zh-CN" altLang="en-US" dirty="0"/>
          </a:p>
        </p:txBody>
      </p:sp>
      <p:sp>
        <p:nvSpPr>
          <p:cNvPr id="7" name="Rectangle 7"/>
          <p:cNvSpPr>
            <a:spLocks noChangeArrowheads="1"/>
          </p:cNvSpPr>
          <p:nvPr/>
        </p:nvSpPr>
        <p:spPr bwMode="auto">
          <a:xfrm>
            <a:off x="1979712" y="2088056"/>
            <a:ext cx="5873396" cy="3552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Procedure test(</a:t>
            </a:r>
            <a:r>
              <a:rPr lang="en-US" altLang="zh-CN" sz="2000" b="1" dirty="0" err="1">
                <a:latin typeface="+mn-lt"/>
                <a:ea typeface="楷体" panose="02010609060101010101" pitchFamily="49" charset="-122"/>
              </a:rPr>
              <a:t>i</a:t>
            </a:r>
            <a:r>
              <a:rPr lang="en-US" altLang="zh-CN" sz="2000" b="1" dirty="0">
                <a:latin typeface="+mn-lt"/>
                <a:ea typeface="楷体" panose="02010609060101010101" pitchFamily="49" charset="-122"/>
              </a:rPr>
              <a:t>:=0…4);</a:t>
            </a:r>
          </a:p>
          <a:p>
            <a:pPr eaLnBrk="1" hangingPunct="1"/>
            <a:r>
              <a:rPr lang="en-US" altLang="zh-CN" sz="2000" b="1" dirty="0">
                <a:latin typeface="+mn-lt"/>
                <a:ea typeface="楷体" panose="02010609060101010101" pitchFamily="49" charset="-122"/>
              </a:rPr>
              <a:t>    begin</a:t>
            </a:r>
          </a:p>
          <a:p>
            <a:pPr eaLnBrk="1" hangingPunct="1"/>
            <a:r>
              <a:rPr lang="en-US" altLang="zh-CN" sz="2000" b="1" dirty="0">
                <a:latin typeface="+mn-lt"/>
                <a:ea typeface="楷体" panose="02010609060101010101" pitchFamily="49" charset="-122"/>
              </a:rPr>
              <a:t>       if (state[</a:t>
            </a:r>
            <a:r>
              <a:rPr lang="en-US" altLang="zh-CN" sz="2000" b="1" dirty="0" err="1">
                <a:latin typeface="+mn-lt"/>
                <a:ea typeface="楷体" panose="02010609060101010101" pitchFamily="49" charset="-122"/>
              </a:rPr>
              <a:t>i</a:t>
            </a:r>
            <a:r>
              <a:rPr lang="en-US" altLang="zh-CN" sz="2000" b="1" dirty="0">
                <a:latin typeface="+mn-lt"/>
                <a:ea typeface="楷体" panose="02010609060101010101" pitchFamily="49" charset="-122"/>
              </a:rPr>
              <a:t>] = </a:t>
            </a:r>
            <a:r>
              <a:rPr lang="zh-CN" altLang="en-US" sz="2000" b="1" dirty="0">
                <a:latin typeface="+mn-lt"/>
                <a:ea typeface="楷体" panose="02010609060101010101" pitchFamily="49" charset="-122"/>
              </a:rPr>
              <a:t>饥饿</a:t>
            </a:r>
            <a:r>
              <a:rPr lang="en-US" altLang="zh-CN" sz="2000" b="1" dirty="0">
                <a:latin typeface="+mn-lt"/>
                <a:ea typeface="楷体" panose="02010609060101010101" pitchFamily="49" charset="-122"/>
              </a:rPr>
              <a:t>) And</a:t>
            </a:r>
          </a:p>
          <a:p>
            <a:pPr eaLnBrk="1" hangingPunct="1"/>
            <a:r>
              <a:rPr lang="en-US" altLang="zh-CN" sz="2000" b="1" dirty="0">
                <a:latin typeface="+mn-lt"/>
                <a:ea typeface="楷体" panose="02010609060101010101" pitchFamily="49" charset="-122"/>
              </a:rPr>
              <a:t>          (state[(i-1)mod5]</a:t>
            </a:r>
            <a:r>
              <a:rPr lang="en-US" altLang="zh-CN" sz="2000" b="1" dirty="0">
                <a:latin typeface="+mn-lt"/>
                <a:ea typeface="楷体" panose="02010609060101010101" pitchFamily="49" charset="-122"/>
                <a:sym typeface="Math B"/>
              </a:rPr>
              <a:t>&lt;&gt;</a:t>
            </a:r>
            <a:r>
              <a:rPr lang="zh-CN" altLang="en-US" sz="2000" b="1" dirty="0">
                <a:latin typeface="+mn-lt"/>
                <a:ea typeface="楷体" panose="02010609060101010101" pitchFamily="49" charset="-122"/>
              </a:rPr>
              <a:t>进食</a:t>
            </a:r>
            <a:r>
              <a:rPr lang="en-US" altLang="zh-CN" sz="2000" b="1" dirty="0">
                <a:latin typeface="+mn-lt"/>
                <a:ea typeface="楷体" panose="02010609060101010101" pitchFamily="49" charset="-122"/>
              </a:rPr>
              <a:t>) And</a:t>
            </a:r>
          </a:p>
          <a:p>
            <a:pPr eaLnBrk="1" hangingPunct="1"/>
            <a:r>
              <a:rPr lang="en-US" altLang="zh-CN" sz="2000" b="1" dirty="0">
                <a:latin typeface="+mn-lt"/>
                <a:ea typeface="楷体" panose="02010609060101010101" pitchFamily="49" charset="-122"/>
              </a:rPr>
              <a:t>          (state[(i+1)mod5]&lt;&gt;</a:t>
            </a:r>
            <a:r>
              <a:rPr lang="zh-CN" altLang="en-US" sz="2000" b="1" dirty="0">
                <a:latin typeface="+mn-lt"/>
                <a:ea typeface="楷体" panose="02010609060101010101" pitchFamily="49" charset="-122"/>
              </a:rPr>
              <a:t>进食</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then begin</a:t>
            </a:r>
          </a:p>
          <a:p>
            <a:pPr eaLnBrk="1" hangingPunct="1"/>
            <a:r>
              <a:rPr lang="en-US" altLang="zh-CN" sz="2000" b="1" dirty="0">
                <a:latin typeface="+mn-lt"/>
                <a:ea typeface="楷体" panose="02010609060101010101" pitchFamily="49" charset="-122"/>
              </a:rPr>
              <a:t>                     state[</a:t>
            </a:r>
            <a:r>
              <a:rPr lang="en-US" altLang="zh-CN" sz="2000" b="1" dirty="0" err="1">
                <a:latin typeface="+mn-lt"/>
                <a:ea typeface="楷体" panose="02010609060101010101" pitchFamily="49" charset="-122"/>
              </a:rPr>
              <a:t>i</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进食</a:t>
            </a:r>
          </a:p>
          <a:p>
            <a:pPr eaLnBrk="1" hangingPunct="1"/>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V(</a:t>
            </a:r>
            <a:r>
              <a:rPr lang="en-US" altLang="zh-CN" sz="2000" b="1" dirty="0" err="1">
                <a:latin typeface="+mn-lt"/>
                <a:ea typeface="楷体" panose="02010609060101010101" pitchFamily="49" charset="-122"/>
              </a:rPr>
              <a:t>ph</a:t>
            </a:r>
            <a:r>
              <a:rPr lang="en-US" altLang="zh-CN" sz="2000" b="1" dirty="0">
                <a:latin typeface="+mn-lt"/>
                <a:ea typeface="楷体" panose="02010609060101010101" pitchFamily="49" charset="-122"/>
              </a:rPr>
              <a:t>[</a:t>
            </a:r>
            <a:r>
              <a:rPr lang="en-US" altLang="zh-CN" sz="2000" b="1" dirty="0" err="1">
                <a:latin typeface="+mn-lt"/>
                <a:ea typeface="楷体" panose="02010609060101010101" pitchFamily="49" charset="-122"/>
              </a:rPr>
              <a:t>i</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end</a:t>
            </a:r>
            <a:br>
              <a:rPr lang="en-US" altLang="zh-CN" sz="2000" b="1" dirty="0">
                <a:latin typeface="+mn-lt"/>
                <a:ea typeface="楷体" panose="02010609060101010101" pitchFamily="49" charset="-122"/>
              </a:rPr>
            </a:b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end</a:t>
            </a:r>
            <a:endParaRPr lang="en-US" altLang="zh-CN" sz="2000" b="1" dirty="0">
              <a:latin typeface="+mn-lt"/>
              <a:ea typeface="楷体" panose="02010609060101010101" pitchFamily="49" charset="-122"/>
            </a:endParaRPr>
          </a:p>
        </p:txBody>
      </p:sp>
    </p:spTree>
    <p:extLst>
      <p:ext uri="{BB962C8B-B14F-4D97-AF65-F5344CB8AC3E}">
        <p14:creationId xmlns:p14="http://schemas.microsoft.com/office/powerpoint/2010/main" val="53106176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作业</a:t>
            </a:r>
            <a:endParaRPr lang="zh-CN" altLang="en-US" dirty="0"/>
          </a:p>
        </p:txBody>
      </p:sp>
      <p:sp>
        <p:nvSpPr>
          <p:cNvPr id="4" name="Date Placeholder 3"/>
          <p:cNvSpPr>
            <a:spLocks noGrp="1"/>
          </p:cNvSpPr>
          <p:nvPr>
            <p:ph type="dt" sz="half" idx="10"/>
          </p:nvPr>
        </p:nvSpPr>
        <p:spPr/>
        <p:txBody>
          <a:bodyPr/>
          <a:lstStyle/>
          <a:p>
            <a:fld id="{104020BA-97AF-4E8A-9E95-DA7BC3054C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89</a:t>
            </a:fld>
            <a:endParaRPr lang="zh-CN" altLang="en-US" dirty="0"/>
          </a:p>
        </p:txBody>
      </p:sp>
      <p:sp>
        <p:nvSpPr>
          <p:cNvPr id="7" name="Rectangle 12"/>
          <p:cNvSpPr>
            <a:spLocks noChangeArrowheads="1"/>
          </p:cNvSpPr>
          <p:nvPr/>
        </p:nvSpPr>
        <p:spPr bwMode="auto">
          <a:xfrm>
            <a:off x="611560" y="1665467"/>
            <a:ext cx="3456288" cy="4463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Procedure philosopher(</a:t>
            </a:r>
            <a:r>
              <a:rPr lang="en-US" altLang="zh-CN" sz="2000" b="1" dirty="0" err="1">
                <a:solidFill>
                  <a:srgbClr val="000000"/>
                </a:solidFill>
                <a:latin typeface="+mn-lt"/>
                <a:ea typeface="楷体" panose="02010609060101010101" pitchFamily="49" charset="-122"/>
              </a:rPr>
              <a:t>i</a:t>
            </a:r>
            <a:r>
              <a:rPr lang="en-US" altLang="zh-CN" sz="2000" b="1" dirty="0">
                <a:solidFill>
                  <a:srgbClr val="000000"/>
                </a:solidFill>
                <a:latin typeface="+mn-lt"/>
                <a:ea typeface="楷体" panose="02010609060101010101" pitchFamily="49" charset="-122"/>
              </a:rPr>
              <a:t>: 0</a:t>
            </a:r>
            <a:r>
              <a:rPr lang="zh-CN" altLang="en-US" sz="2000" b="1" dirty="0">
                <a:solidFill>
                  <a:srgbClr val="000000"/>
                </a:solidFill>
                <a:latin typeface="+mn-lt"/>
                <a:ea typeface="楷体" panose="02010609060101010101" pitchFamily="49" charset="-122"/>
              </a:rPr>
              <a:t>～</a:t>
            </a:r>
            <a:r>
              <a:rPr lang="en-US" altLang="zh-CN" sz="2000" b="1" dirty="0">
                <a:solidFill>
                  <a:srgbClr val="000000"/>
                </a:solidFill>
                <a:latin typeface="+mn-lt"/>
                <a:ea typeface="楷体" panose="02010609060101010101" pitchFamily="49" charset="-122"/>
              </a:rPr>
              <a:t>4)</a:t>
            </a:r>
          </a:p>
          <a:p>
            <a:pPr eaLnBrk="1" hangingPunct="1"/>
            <a:r>
              <a:rPr lang="en-US" altLang="zh-CN" sz="2000" b="1" dirty="0">
                <a:solidFill>
                  <a:srgbClr val="000000"/>
                </a:solidFill>
                <a:latin typeface="+mn-lt"/>
                <a:ea typeface="楷体" panose="02010609060101010101" pitchFamily="49" charset="-122"/>
              </a:rPr>
              <a:t>    Begin</a:t>
            </a:r>
          </a:p>
          <a:p>
            <a:pPr eaLnBrk="1" hangingPunct="1"/>
            <a:r>
              <a:rPr lang="en-US" altLang="zh-CN" sz="2000" b="1" dirty="0">
                <a:solidFill>
                  <a:srgbClr val="000000"/>
                </a:solidFill>
                <a:latin typeface="+mn-lt"/>
                <a:ea typeface="楷体" panose="02010609060101010101" pitchFamily="49" charset="-122"/>
              </a:rPr>
              <a:t>        Repeat</a:t>
            </a:r>
          </a:p>
          <a:p>
            <a:pPr eaLnBrk="1" hangingPunct="1"/>
            <a:r>
              <a:rPr lang="en-US" altLang="zh-CN" sz="2000" b="1" dirty="0">
                <a:solidFill>
                  <a:srgbClr val="000000"/>
                </a:solidFill>
                <a:latin typeface="+mn-lt"/>
                <a:ea typeface="楷体" panose="02010609060101010101" pitchFamily="49" charset="-122"/>
              </a:rPr>
              <a:t>            </a:t>
            </a:r>
            <a:r>
              <a:rPr lang="zh-CN" altLang="en-US" sz="2000" b="1" dirty="0">
                <a:solidFill>
                  <a:srgbClr val="000000"/>
                </a:solidFill>
                <a:latin typeface="+mn-lt"/>
                <a:ea typeface="楷体" panose="02010609060101010101" pitchFamily="49" charset="-122"/>
              </a:rPr>
              <a:t>思考；</a:t>
            </a:r>
          </a:p>
          <a:p>
            <a:pPr eaLnBrk="1" hangingPunct="1"/>
            <a:r>
              <a:rPr lang="zh-CN" altLang="en-US" sz="2000" b="1" dirty="0">
                <a:solidFill>
                  <a:srgbClr val="000000"/>
                </a:solidFill>
                <a:latin typeface="+mn-lt"/>
                <a:ea typeface="楷体" panose="02010609060101010101" pitchFamily="49" charset="-122"/>
              </a:rPr>
              <a:t>             </a:t>
            </a:r>
            <a:r>
              <a:rPr lang="en-US" altLang="zh-CN" sz="2000" b="1" dirty="0">
                <a:solidFill>
                  <a:srgbClr val="000000"/>
                </a:solidFill>
                <a:latin typeface="+mn-lt"/>
                <a:ea typeface="楷体" panose="02010609060101010101" pitchFamily="49" charset="-122"/>
              </a:rPr>
              <a:t>state[</a:t>
            </a:r>
            <a:r>
              <a:rPr lang="en-US" altLang="zh-CN" sz="2000" b="1" dirty="0" err="1">
                <a:solidFill>
                  <a:srgbClr val="000000"/>
                </a:solidFill>
                <a:latin typeface="+mn-lt"/>
                <a:ea typeface="楷体" panose="02010609060101010101" pitchFamily="49" charset="-122"/>
              </a:rPr>
              <a:t>i</a:t>
            </a:r>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饥饿；</a:t>
            </a:r>
          </a:p>
          <a:p>
            <a:pPr eaLnBrk="1" hangingPunct="1"/>
            <a:r>
              <a:rPr lang="zh-CN" altLang="en-US" sz="2000" b="1" dirty="0">
                <a:solidFill>
                  <a:srgbClr val="000000"/>
                </a:solidFill>
                <a:latin typeface="+mn-lt"/>
                <a:ea typeface="楷体" panose="02010609060101010101" pitchFamily="49" charset="-122"/>
              </a:rPr>
              <a:t>             </a:t>
            </a:r>
            <a:r>
              <a:rPr lang="en-US" altLang="zh-CN" sz="2000" b="1" dirty="0">
                <a:solidFill>
                  <a:srgbClr val="000000"/>
                </a:solidFill>
                <a:latin typeface="+mn-lt"/>
                <a:ea typeface="楷体" panose="02010609060101010101" pitchFamily="49" charset="-122"/>
              </a:rPr>
              <a:t>P(</a:t>
            </a:r>
            <a:r>
              <a:rPr lang="en-US" altLang="zh-CN" sz="2000" b="1" dirty="0" err="1">
                <a:solidFill>
                  <a:srgbClr val="000000"/>
                </a:solidFill>
                <a:latin typeface="+mn-lt"/>
                <a:ea typeface="楷体" panose="02010609060101010101" pitchFamily="49" charset="-122"/>
              </a:rPr>
              <a:t>mutex</a:t>
            </a:r>
            <a:r>
              <a:rPr lang="en-US" altLang="zh-CN" sz="2000" b="1" dirty="0">
                <a:solidFill>
                  <a:srgbClr val="000000"/>
                </a:solidFill>
                <a:latin typeface="+mn-lt"/>
                <a:ea typeface="楷体" panose="02010609060101010101" pitchFamily="49" charset="-122"/>
              </a:rPr>
              <a:t>);</a:t>
            </a:r>
          </a:p>
          <a:p>
            <a:pPr eaLnBrk="1" hangingPunct="1"/>
            <a:r>
              <a:rPr lang="en-US" altLang="zh-CN" sz="2000" b="1" dirty="0">
                <a:solidFill>
                  <a:srgbClr val="000000"/>
                </a:solidFill>
                <a:latin typeface="+mn-lt"/>
                <a:ea typeface="楷体" panose="02010609060101010101" pitchFamily="49" charset="-122"/>
              </a:rPr>
              <a:t>             test(</a:t>
            </a:r>
            <a:r>
              <a:rPr lang="en-US" altLang="zh-CN" sz="2000" b="1" dirty="0" err="1">
                <a:solidFill>
                  <a:srgbClr val="000000"/>
                </a:solidFill>
                <a:latin typeface="+mn-lt"/>
                <a:ea typeface="楷体" panose="02010609060101010101" pitchFamily="49" charset="-122"/>
              </a:rPr>
              <a:t>i</a:t>
            </a:r>
            <a:r>
              <a:rPr lang="en-US" altLang="zh-CN" sz="2000" b="1" dirty="0">
                <a:solidFill>
                  <a:srgbClr val="000000"/>
                </a:solidFill>
                <a:latin typeface="+mn-lt"/>
                <a:ea typeface="楷体" panose="02010609060101010101" pitchFamily="49" charset="-122"/>
              </a:rPr>
              <a:t>);</a:t>
            </a:r>
          </a:p>
          <a:p>
            <a:pPr eaLnBrk="1" hangingPunct="1"/>
            <a:r>
              <a:rPr lang="en-US" altLang="zh-CN" sz="2000" b="1" dirty="0">
                <a:solidFill>
                  <a:srgbClr val="000000"/>
                </a:solidFill>
                <a:latin typeface="+mn-lt"/>
                <a:ea typeface="楷体" panose="02010609060101010101" pitchFamily="49" charset="-122"/>
              </a:rPr>
              <a:t>             V(</a:t>
            </a:r>
            <a:r>
              <a:rPr lang="en-US" altLang="zh-CN" sz="2000" b="1" dirty="0" err="1">
                <a:solidFill>
                  <a:srgbClr val="000000"/>
                </a:solidFill>
                <a:latin typeface="+mn-lt"/>
                <a:ea typeface="楷体" panose="02010609060101010101" pitchFamily="49" charset="-122"/>
              </a:rPr>
              <a:t>mutex</a:t>
            </a:r>
            <a:r>
              <a:rPr lang="en-US" altLang="zh-CN" sz="2000" b="1" dirty="0">
                <a:solidFill>
                  <a:srgbClr val="000000"/>
                </a:solidFill>
                <a:latin typeface="+mn-lt"/>
                <a:ea typeface="楷体" panose="02010609060101010101" pitchFamily="49" charset="-122"/>
              </a:rPr>
              <a:t>);</a:t>
            </a:r>
          </a:p>
          <a:p>
            <a:pPr eaLnBrk="1" hangingPunct="1"/>
            <a:r>
              <a:rPr lang="en-US" altLang="zh-CN" sz="2000" b="1" dirty="0">
                <a:solidFill>
                  <a:srgbClr val="000000"/>
                </a:solidFill>
                <a:latin typeface="+mn-lt"/>
                <a:ea typeface="楷体" panose="02010609060101010101" pitchFamily="49" charset="-122"/>
              </a:rPr>
              <a:t>             P(</a:t>
            </a:r>
            <a:r>
              <a:rPr lang="en-US" altLang="zh-CN" sz="2000" b="1" dirty="0" err="1">
                <a:solidFill>
                  <a:srgbClr val="000000"/>
                </a:solidFill>
                <a:latin typeface="+mn-lt"/>
                <a:ea typeface="楷体" panose="02010609060101010101" pitchFamily="49" charset="-122"/>
              </a:rPr>
              <a:t>ph</a:t>
            </a:r>
            <a:r>
              <a:rPr lang="en-US" altLang="zh-CN" sz="2000" b="1" dirty="0">
                <a:solidFill>
                  <a:srgbClr val="000000"/>
                </a:solidFill>
                <a:latin typeface="+mn-lt"/>
                <a:ea typeface="楷体" panose="02010609060101010101" pitchFamily="49" charset="-122"/>
              </a:rPr>
              <a:t>[ </a:t>
            </a:r>
            <a:r>
              <a:rPr lang="en-US" altLang="zh-CN" sz="2000" b="1" dirty="0" err="1">
                <a:solidFill>
                  <a:srgbClr val="000000"/>
                </a:solidFill>
                <a:latin typeface="+mn-lt"/>
                <a:ea typeface="楷体" panose="02010609060101010101" pitchFamily="49" charset="-122"/>
              </a:rPr>
              <a:t>i</a:t>
            </a:r>
            <a:r>
              <a:rPr lang="en-US" altLang="zh-CN" sz="2000" b="1" dirty="0">
                <a:solidFill>
                  <a:srgbClr val="000000"/>
                </a:solidFill>
                <a:latin typeface="+mn-lt"/>
                <a:ea typeface="楷体" panose="02010609060101010101" pitchFamily="49" charset="-122"/>
              </a:rPr>
              <a:t> ]);</a:t>
            </a:r>
          </a:p>
          <a:p>
            <a:pPr eaLnBrk="1" hangingPunct="1"/>
            <a:r>
              <a:rPr lang="en-US" altLang="zh-CN" sz="2000" b="1" dirty="0">
                <a:solidFill>
                  <a:srgbClr val="000000"/>
                </a:solidFill>
                <a:latin typeface="+mn-lt"/>
                <a:ea typeface="楷体" panose="02010609060101010101" pitchFamily="49" charset="-122"/>
              </a:rPr>
              <a:t>            </a:t>
            </a:r>
            <a:r>
              <a:rPr lang="zh-CN" altLang="en-US" sz="2000" b="1" dirty="0">
                <a:solidFill>
                  <a:srgbClr val="000000"/>
                </a:solidFill>
                <a:latin typeface="+mn-lt"/>
                <a:ea typeface="楷体" panose="02010609060101010101" pitchFamily="49" charset="-122"/>
              </a:rPr>
              <a:t>拿左筷子；</a:t>
            </a:r>
          </a:p>
          <a:p>
            <a:pPr eaLnBrk="1" hangingPunct="1"/>
            <a:r>
              <a:rPr lang="zh-CN" altLang="en-US" sz="2000" b="1" dirty="0">
                <a:solidFill>
                  <a:srgbClr val="000000"/>
                </a:solidFill>
                <a:latin typeface="+mn-lt"/>
                <a:ea typeface="楷体" panose="02010609060101010101" pitchFamily="49" charset="-122"/>
              </a:rPr>
              <a:t>            拿右筷子；</a:t>
            </a:r>
          </a:p>
          <a:p>
            <a:pPr eaLnBrk="1" hangingPunct="1"/>
            <a:r>
              <a:rPr lang="zh-CN" altLang="en-US" sz="2000" b="1" dirty="0">
                <a:solidFill>
                  <a:srgbClr val="000000"/>
                </a:solidFill>
                <a:latin typeface="+mn-lt"/>
                <a:ea typeface="楷体" panose="02010609060101010101" pitchFamily="49" charset="-122"/>
              </a:rPr>
              <a:t>            进食；</a:t>
            </a:r>
          </a:p>
          <a:p>
            <a:pPr eaLnBrk="1" hangingPunct="1"/>
            <a:r>
              <a:rPr lang="zh-CN" altLang="en-US" sz="2000" b="1" dirty="0">
                <a:solidFill>
                  <a:srgbClr val="000000"/>
                </a:solidFill>
                <a:latin typeface="+mn-lt"/>
                <a:ea typeface="楷体" panose="02010609060101010101" pitchFamily="49" charset="-122"/>
              </a:rPr>
              <a:t>            放左筷子；</a:t>
            </a:r>
          </a:p>
          <a:p>
            <a:pPr eaLnBrk="1" hangingPunct="1"/>
            <a:r>
              <a:rPr lang="zh-CN" altLang="en-US" sz="2000" b="1" dirty="0">
                <a:solidFill>
                  <a:srgbClr val="000000"/>
                </a:solidFill>
                <a:latin typeface="+mn-lt"/>
                <a:ea typeface="楷体" panose="02010609060101010101" pitchFamily="49" charset="-122"/>
              </a:rPr>
              <a:t>            放右筷子；</a:t>
            </a:r>
          </a:p>
        </p:txBody>
      </p:sp>
      <p:sp>
        <p:nvSpPr>
          <p:cNvPr id="9" name="Rectangle 15"/>
          <p:cNvSpPr>
            <a:spLocks noChangeArrowheads="1"/>
          </p:cNvSpPr>
          <p:nvPr/>
        </p:nvSpPr>
        <p:spPr bwMode="auto">
          <a:xfrm>
            <a:off x="4771643" y="1665467"/>
            <a:ext cx="3184733" cy="46059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288925" indent="-288925"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lang="en-US" altLang="zh-CN" sz="2000" b="1" dirty="0">
                <a:solidFill>
                  <a:srgbClr val="000000"/>
                </a:solidFill>
                <a:latin typeface="+mn-lt"/>
                <a:ea typeface="楷体" panose="02010609060101010101" pitchFamily="49" charset="-122"/>
              </a:rPr>
              <a:t>    P(</a:t>
            </a:r>
            <a:r>
              <a:rPr lang="en-US" altLang="zh-CN" sz="2000" b="1" dirty="0" err="1">
                <a:solidFill>
                  <a:srgbClr val="000000"/>
                </a:solidFill>
                <a:latin typeface="+mn-lt"/>
                <a:ea typeface="楷体" panose="02010609060101010101" pitchFamily="49" charset="-122"/>
              </a:rPr>
              <a:t>mutex</a:t>
            </a:r>
            <a:r>
              <a:rPr lang="en-US" altLang="zh-CN" sz="2000" b="1" dirty="0">
                <a:solidFill>
                  <a:srgbClr val="000000"/>
                </a:solidFill>
                <a:latin typeface="+mn-lt"/>
                <a:ea typeface="楷体" panose="02010609060101010101" pitchFamily="49" charset="-122"/>
              </a:rPr>
              <a:t>)</a:t>
            </a:r>
          </a:p>
          <a:p>
            <a:pPr algn="ctr" eaLnBrk="1" hangingPunct="1">
              <a:lnSpc>
                <a:spcPct val="90000"/>
              </a:lnSpc>
            </a:pPr>
            <a:r>
              <a:rPr lang="en-US" altLang="zh-CN" sz="2000" b="1" dirty="0">
                <a:solidFill>
                  <a:srgbClr val="000000"/>
                </a:solidFill>
                <a:latin typeface="+mn-lt"/>
                <a:ea typeface="楷体" panose="02010609060101010101" pitchFamily="49" charset="-122"/>
              </a:rPr>
              <a:t> state[</a:t>
            </a:r>
            <a:r>
              <a:rPr lang="en-US" altLang="zh-CN" sz="2000" b="1" dirty="0" err="1">
                <a:solidFill>
                  <a:srgbClr val="000000"/>
                </a:solidFill>
                <a:latin typeface="+mn-lt"/>
                <a:ea typeface="楷体" panose="02010609060101010101" pitchFamily="49" charset="-122"/>
              </a:rPr>
              <a:t>i</a:t>
            </a:r>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思考；</a:t>
            </a:r>
          </a:p>
          <a:p>
            <a:pPr algn="ctr" eaLnBrk="1" hangingPunct="1">
              <a:lnSpc>
                <a:spcPct val="90000"/>
              </a:lnSpc>
            </a:pPr>
            <a:r>
              <a:rPr lang="en-US" altLang="zh-CN" sz="2000" b="1" dirty="0">
                <a:solidFill>
                  <a:srgbClr val="000000"/>
                </a:solidFill>
                <a:latin typeface="+mn-lt"/>
                <a:ea typeface="楷体" panose="02010609060101010101" pitchFamily="49" charset="-122"/>
              </a:rPr>
              <a:t>test([i-1]mod5);</a:t>
            </a:r>
          </a:p>
          <a:p>
            <a:pPr algn="ctr" eaLnBrk="1" hangingPunct="1">
              <a:lnSpc>
                <a:spcPct val="90000"/>
              </a:lnSpc>
            </a:pPr>
            <a:r>
              <a:rPr lang="en-US" altLang="zh-CN" sz="2000" b="1" dirty="0">
                <a:solidFill>
                  <a:srgbClr val="000000"/>
                </a:solidFill>
                <a:latin typeface="+mn-lt"/>
                <a:ea typeface="楷体" panose="02010609060101010101" pitchFamily="49" charset="-122"/>
              </a:rPr>
              <a:t> </a:t>
            </a:r>
            <a:r>
              <a:rPr lang="en-US" altLang="zh-CN" sz="2000" b="1" dirty="0" smtClean="0">
                <a:solidFill>
                  <a:srgbClr val="000000"/>
                </a:solidFill>
                <a:latin typeface="+mn-lt"/>
                <a:ea typeface="楷体" panose="02010609060101010101" pitchFamily="49" charset="-122"/>
              </a:rPr>
              <a:t>test</a:t>
            </a:r>
            <a:r>
              <a:rPr lang="en-US" altLang="zh-CN" sz="2000" b="1" dirty="0">
                <a:solidFill>
                  <a:srgbClr val="000000"/>
                </a:solidFill>
                <a:latin typeface="+mn-lt"/>
                <a:ea typeface="楷体" panose="02010609060101010101" pitchFamily="49" charset="-122"/>
              </a:rPr>
              <a:t>([i+1]mod5);</a:t>
            </a:r>
          </a:p>
          <a:p>
            <a:pPr eaLnBrk="1" hangingPunct="1">
              <a:lnSpc>
                <a:spcPct val="90000"/>
              </a:lnSpc>
            </a:pPr>
            <a:r>
              <a:rPr lang="en-US" altLang="zh-CN" sz="2000" b="1" dirty="0">
                <a:solidFill>
                  <a:srgbClr val="000000"/>
                </a:solidFill>
                <a:latin typeface="+mn-lt"/>
                <a:ea typeface="楷体" panose="02010609060101010101" pitchFamily="49" charset="-122"/>
              </a:rPr>
              <a:t>    V(</a:t>
            </a:r>
            <a:r>
              <a:rPr lang="en-US" altLang="zh-CN" sz="2000" b="1" dirty="0" err="1">
                <a:solidFill>
                  <a:srgbClr val="000000"/>
                </a:solidFill>
                <a:latin typeface="+mn-lt"/>
                <a:ea typeface="楷体" panose="02010609060101010101" pitchFamily="49" charset="-122"/>
              </a:rPr>
              <a:t>mutex</a:t>
            </a:r>
            <a:r>
              <a:rPr lang="en-US" altLang="zh-CN" sz="2000" b="1" dirty="0">
                <a:solidFill>
                  <a:srgbClr val="000000"/>
                </a:solidFill>
                <a:latin typeface="+mn-lt"/>
                <a:ea typeface="楷体" panose="02010609060101010101" pitchFamily="49" charset="-122"/>
              </a:rPr>
              <a:t>);</a:t>
            </a:r>
          </a:p>
          <a:p>
            <a:pPr eaLnBrk="1" hangingPunct="1">
              <a:lnSpc>
                <a:spcPct val="90000"/>
              </a:lnSpc>
            </a:pPr>
            <a:r>
              <a:rPr lang="en-US" altLang="zh-CN" sz="2000" b="1" dirty="0">
                <a:solidFill>
                  <a:srgbClr val="000000"/>
                </a:solidFill>
                <a:latin typeface="+mn-lt"/>
                <a:ea typeface="楷体" panose="02010609060101010101" pitchFamily="49" charset="-122"/>
              </a:rPr>
              <a:t>  until </a:t>
            </a:r>
            <a:r>
              <a:rPr lang="en-US" altLang="zh-CN" sz="2000" b="1" dirty="0" err="1">
                <a:solidFill>
                  <a:srgbClr val="000000"/>
                </a:solidFill>
                <a:latin typeface="+mn-lt"/>
                <a:ea typeface="楷体" panose="02010609060101010101" pitchFamily="49" charset="-122"/>
              </a:rPr>
              <a:t>fales</a:t>
            </a:r>
            <a:endParaRPr lang="en-US" altLang="zh-CN" sz="2000" b="1" dirty="0">
              <a:solidFill>
                <a:srgbClr val="000000"/>
              </a:solidFill>
              <a:latin typeface="+mn-lt"/>
              <a:ea typeface="楷体" panose="02010609060101010101" pitchFamily="49" charset="-122"/>
            </a:endParaRPr>
          </a:p>
          <a:p>
            <a:pPr eaLnBrk="1" hangingPunct="1">
              <a:lnSpc>
                <a:spcPct val="90000"/>
              </a:lnSpc>
            </a:pPr>
            <a:r>
              <a:rPr lang="en-US" altLang="zh-CN" sz="2000" b="1" dirty="0">
                <a:solidFill>
                  <a:srgbClr val="000000"/>
                </a:solidFill>
                <a:latin typeface="+mn-lt"/>
                <a:ea typeface="楷体" panose="02010609060101010101" pitchFamily="49" charset="-122"/>
              </a:rPr>
              <a:t>End</a:t>
            </a:r>
          </a:p>
          <a:p>
            <a:pPr eaLnBrk="1" hangingPunct="1">
              <a:lnSpc>
                <a:spcPct val="90000"/>
              </a:lnSpc>
            </a:pPr>
            <a:r>
              <a:rPr lang="en-US" altLang="zh-CN" sz="2000" b="1" dirty="0">
                <a:solidFill>
                  <a:srgbClr val="000000"/>
                </a:solidFill>
                <a:latin typeface="+mn-lt"/>
                <a:ea typeface="楷体" panose="02010609060101010101" pitchFamily="49" charset="-122"/>
              </a:rPr>
              <a:t>  </a:t>
            </a:r>
            <a:endParaRPr lang="en-US" altLang="zh-CN" sz="2000" b="1" dirty="0">
              <a:solidFill>
                <a:srgbClr val="009900"/>
              </a:solidFill>
              <a:latin typeface="+mn-lt"/>
              <a:ea typeface="楷体" panose="02010609060101010101" pitchFamily="49" charset="-122"/>
            </a:endParaRPr>
          </a:p>
        </p:txBody>
      </p:sp>
    </p:spTree>
    <p:extLst>
      <p:ext uri="{BB962C8B-B14F-4D97-AF65-F5344CB8AC3E}">
        <p14:creationId xmlns:p14="http://schemas.microsoft.com/office/powerpoint/2010/main" val="43913418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smtClean="0">
                <a:solidFill>
                  <a:schemeClr val="bg1">
                    <a:lumMod val="75000"/>
                  </a:schemeClr>
                </a:solidFill>
              </a:rPr>
              <a:t>同步问题</a:t>
            </a:r>
            <a:r>
              <a:rPr lang="zh-CN" altLang="en-US" dirty="0">
                <a:solidFill>
                  <a:schemeClr val="bg1">
                    <a:lumMod val="75000"/>
                  </a:schemeClr>
                </a:solidFill>
              </a:rPr>
              <a:t>及其解决办法</a:t>
            </a:r>
            <a:endParaRPr lang="en-US" altLang="zh-CN" dirty="0">
              <a:solidFill>
                <a:schemeClr val="bg1">
                  <a:lumMod val="75000"/>
                </a:schemeClr>
              </a:solidFill>
            </a:endParaRPr>
          </a:p>
          <a:p>
            <a:r>
              <a:rPr lang="zh-CN" altLang="en-US" dirty="0" smtClean="0">
                <a:solidFill>
                  <a:srgbClr val="FF3300"/>
                </a:solidFill>
              </a:rPr>
              <a:t>信号量</a:t>
            </a:r>
            <a:endParaRPr lang="en-US" altLang="zh-CN" dirty="0" smtClean="0">
              <a:solidFill>
                <a:srgbClr val="FF3300"/>
              </a:solidFill>
            </a:endParaRPr>
          </a:p>
          <a:p>
            <a:pPr lvl="1"/>
            <a:r>
              <a:rPr lang="zh-CN" altLang="en-US" dirty="0">
                <a:solidFill>
                  <a:schemeClr val="bg1">
                    <a:lumMod val="75000"/>
                  </a:schemeClr>
                </a:solidFill>
              </a:rPr>
              <a:t>什么是信号量</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用信号量实现进程间互斥</a:t>
            </a:r>
            <a:endParaRPr lang="en-US" altLang="zh-CN" dirty="0">
              <a:solidFill>
                <a:schemeClr val="bg1">
                  <a:lumMod val="75000"/>
                </a:schemeClr>
              </a:solidFill>
            </a:endParaRPr>
          </a:p>
          <a:p>
            <a:pPr lvl="1"/>
            <a:r>
              <a:rPr lang="zh-CN" altLang="en-US" dirty="0">
                <a:solidFill>
                  <a:schemeClr val="bg1">
                    <a:lumMod val="75000"/>
                  </a:schemeClr>
                </a:solidFill>
              </a:rPr>
              <a:t>用信号量实现进程间同步</a:t>
            </a:r>
            <a:endParaRPr lang="en-US" altLang="zh-CN" dirty="0">
              <a:solidFill>
                <a:schemeClr val="bg1">
                  <a:lumMod val="75000"/>
                </a:schemeClr>
              </a:solidFill>
            </a:endParaRPr>
          </a:p>
          <a:p>
            <a:pPr lvl="1"/>
            <a:r>
              <a:rPr lang="zh-CN" altLang="en-US" dirty="0">
                <a:solidFill>
                  <a:schemeClr val="bg1">
                    <a:lumMod val="75000"/>
                  </a:schemeClr>
                </a:solidFill>
              </a:rPr>
              <a:t>信号量的实现</a:t>
            </a:r>
            <a:endParaRPr lang="en-US" altLang="zh-CN" dirty="0">
              <a:solidFill>
                <a:schemeClr val="bg1">
                  <a:lumMod val="75000"/>
                </a:schemeClr>
              </a:solidFill>
            </a:endParaRPr>
          </a:p>
          <a:p>
            <a:pPr lvl="1"/>
            <a:r>
              <a:rPr lang="zh-CN" altLang="en-US" dirty="0">
                <a:solidFill>
                  <a:schemeClr val="bg1">
                    <a:lumMod val="75000"/>
                  </a:schemeClr>
                </a:solidFill>
              </a:rPr>
              <a:t>经典进程同步问题</a:t>
            </a:r>
            <a:endParaRPr lang="en-US" altLang="zh-CN" dirty="0">
              <a:solidFill>
                <a:schemeClr val="bg1">
                  <a:lumMod val="75000"/>
                </a:schemeClr>
              </a:solidFill>
            </a:endParaRPr>
          </a:p>
          <a:p>
            <a:pPr lvl="1"/>
            <a:r>
              <a:rPr lang="zh-CN" altLang="en-US" dirty="0" smtClean="0">
                <a:solidFill>
                  <a:srgbClr val="FF3300"/>
                </a:solidFill>
              </a:rPr>
              <a:t>信号量集</a:t>
            </a:r>
            <a:endParaRPr lang="en-US" altLang="zh-CN" dirty="0" smtClean="0">
              <a:solidFill>
                <a:srgbClr val="FF3300"/>
              </a:solidFill>
            </a:endParaRPr>
          </a:p>
          <a:p>
            <a:r>
              <a:rPr lang="zh-CN" altLang="en-US" dirty="0" smtClean="0">
                <a:solidFill>
                  <a:schemeClr val="bg1">
                    <a:lumMod val="75000"/>
                  </a:schemeClr>
                </a:solidFill>
              </a:rPr>
              <a:t>管程</a:t>
            </a:r>
            <a:r>
              <a:rPr lang="en-US" altLang="zh-CN" dirty="0" smtClean="0">
                <a:solidFill>
                  <a:schemeClr val="bg1">
                    <a:lumMod val="75000"/>
                  </a:schemeClr>
                </a:solidFill>
              </a:rPr>
              <a:t>——</a:t>
            </a:r>
            <a:r>
              <a:rPr lang="zh-CN" altLang="en-US" dirty="0" smtClean="0">
                <a:solidFill>
                  <a:schemeClr val="bg1">
                    <a:lumMod val="75000"/>
                  </a:schemeClr>
                </a:solidFill>
              </a:rPr>
              <a:t>解决互斥与同步问题的新方法</a:t>
            </a:r>
            <a:endParaRPr lang="en-US" altLang="zh-CN" dirty="0">
              <a:solidFill>
                <a:schemeClr val="bg1">
                  <a:lumMod val="75000"/>
                </a:schemeClr>
              </a:solidFill>
            </a:endParaRPr>
          </a:p>
        </p:txBody>
      </p:sp>
      <p:sp>
        <p:nvSpPr>
          <p:cNvPr id="4" name="日期占位符 3"/>
          <p:cNvSpPr>
            <a:spLocks noGrp="1"/>
          </p:cNvSpPr>
          <p:nvPr>
            <p:ph type="dt" sz="half" idx="10"/>
          </p:nvPr>
        </p:nvSpPr>
        <p:spPr/>
        <p:txBody>
          <a:bodyPr/>
          <a:lstStyle/>
          <a:p>
            <a:fld id="{8ADBDAE8-7A8A-428C-B088-E6DF3125C70D}"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90</a:t>
            </a:fld>
            <a:endParaRPr lang="zh-CN" altLang="en-US" dirty="0"/>
          </a:p>
        </p:txBody>
      </p:sp>
    </p:spTree>
    <p:extLst>
      <p:ext uri="{BB962C8B-B14F-4D97-AF65-F5344CB8AC3E}">
        <p14:creationId xmlns:p14="http://schemas.microsoft.com/office/powerpoint/2010/main" val="165637925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信号量集</a:t>
            </a:r>
            <a:endParaRPr lang="zh-CN" altLang="en-US" dirty="0"/>
          </a:p>
        </p:txBody>
      </p:sp>
      <p:sp>
        <p:nvSpPr>
          <p:cNvPr id="3" name="Content Placeholder 2"/>
          <p:cNvSpPr>
            <a:spLocks noGrp="1"/>
          </p:cNvSpPr>
          <p:nvPr>
            <p:ph idx="1"/>
          </p:nvPr>
        </p:nvSpPr>
        <p:spPr/>
        <p:txBody>
          <a:bodyPr/>
          <a:lstStyle/>
          <a:p>
            <a:r>
              <a:rPr lang="zh-CN" altLang="en-US" dirty="0">
                <a:solidFill>
                  <a:srgbClr val="0000FF"/>
                </a:solidFill>
              </a:rPr>
              <a:t>能</a:t>
            </a:r>
            <a:r>
              <a:rPr lang="zh-CN" altLang="en-US" dirty="0" smtClean="0">
                <a:solidFill>
                  <a:srgbClr val="0000FF"/>
                </a:solidFill>
              </a:rPr>
              <a:t>够原子性的操作多个信号量</a:t>
            </a:r>
            <a:endParaRPr lang="en-US" altLang="zh-CN" dirty="0" smtClean="0">
              <a:solidFill>
                <a:srgbClr val="0000FF"/>
              </a:solidFill>
            </a:endParaRPr>
          </a:p>
          <a:p>
            <a:endParaRPr lang="en-US" altLang="zh-CN" dirty="0" smtClean="0"/>
          </a:p>
          <a:p>
            <a:r>
              <a:rPr lang="en-US" altLang="zh-CN" dirty="0" smtClean="0"/>
              <a:t>AND</a:t>
            </a:r>
            <a:r>
              <a:rPr lang="zh-CN" altLang="en-US" dirty="0" smtClean="0"/>
              <a:t>型信号量集</a:t>
            </a:r>
            <a:endParaRPr lang="en-US" altLang="zh-CN" dirty="0" smtClean="0"/>
          </a:p>
          <a:p>
            <a:pPr lvl="1"/>
            <a:r>
              <a:rPr lang="zh-CN" altLang="en-US" b="1" dirty="0">
                <a:solidFill>
                  <a:srgbClr val="0000FF"/>
                </a:solidFill>
              </a:rPr>
              <a:t>思</a:t>
            </a:r>
            <a:r>
              <a:rPr lang="zh-CN" altLang="en-US" b="1" dirty="0" smtClean="0">
                <a:solidFill>
                  <a:srgbClr val="0000FF"/>
                </a:solidFill>
              </a:rPr>
              <a:t>想</a:t>
            </a:r>
            <a:r>
              <a:rPr lang="zh-CN" altLang="en-US" dirty="0" smtClean="0"/>
              <a:t>：解决当进程需要申请多个信号量时造成的死锁问题</a:t>
            </a:r>
            <a:endParaRPr lang="en-US" altLang="zh-CN" dirty="0" smtClean="0"/>
          </a:p>
          <a:p>
            <a:pPr lvl="1"/>
            <a:r>
              <a:rPr lang="zh-CN" altLang="en-US" dirty="0">
                <a:solidFill>
                  <a:srgbClr val="FF0000"/>
                </a:solidFill>
              </a:rPr>
              <a:t>如</a:t>
            </a:r>
            <a:r>
              <a:rPr lang="zh-CN" altLang="en-US" dirty="0" smtClean="0">
                <a:solidFill>
                  <a:srgbClr val="FF0000"/>
                </a:solidFill>
              </a:rPr>
              <a:t>果一个进程需要多个资源，要么一次性给齐；要么一个都不给</a:t>
            </a:r>
            <a:endParaRPr lang="zh-CN" altLang="en-US" dirty="0">
              <a:solidFill>
                <a:srgbClr val="FF0000"/>
              </a:solidFill>
            </a:endParaRPr>
          </a:p>
        </p:txBody>
      </p:sp>
      <p:sp>
        <p:nvSpPr>
          <p:cNvPr id="4" name="Date Placeholder 3"/>
          <p:cNvSpPr>
            <a:spLocks noGrp="1"/>
          </p:cNvSpPr>
          <p:nvPr>
            <p:ph type="dt" sz="half" idx="10"/>
          </p:nvPr>
        </p:nvSpPr>
        <p:spPr/>
        <p:txBody>
          <a:bodyPr/>
          <a:lstStyle/>
          <a:p>
            <a:fld id="{A30AFFCE-59AF-404F-8546-290DB4AC1E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91</a:t>
            </a:fld>
            <a:endParaRPr lang="zh-CN" altLang="en-US" dirty="0"/>
          </a:p>
        </p:txBody>
      </p:sp>
    </p:spTree>
    <p:extLst>
      <p:ext uri="{BB962C8B-B14F-4D97-AF65-F5344CB8AC3E}">
        <p14:creationId xmlns:p14="http://schemas.microsoft.com/office/powerpoint/2010/main" val="209431469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AND</a:t>
            </a:r>
            <a:r>
              <a:rPr lang="zh-CN" altLang="en-US" dirty="0" smtClean="0"/>
              <a:t>型信号量集</a:t>
            </a:r>
            <a:endParaRPr lang="zh-CN" altLang="en-US" dirty="0"/>
          </a:p>
        </p:txBody>
      </p:sp>
      <p:sp>
        <p:nvSpPr>
          <p:cNvPr id="3" name="Content Placeholder 2"/>
          <p:cNvSpPr>
            <a:spLocks noGrp="1"/>
          </p:cNvSpPr>
          <p:nvPr>
            <p:ph idx="1"/>
          </p:nvPr>
        </p:nvSpPr>
        <p:spPr/>
        <p:txBody>
          <a:bodyPr/>
          <a:lstStyle/>
          <a:p>
            <a:r>
              <a:rPr lang="en-US" altLang="zh-CN" dirty="0" smtClean="0"/>
              <a:t>SP</a:t>
            </a:r>
            <a:r>
              <a:rPr lang="zh-CN" altLang="en-US" dirty="0" smtClean="0"/>
              <a:t>操作</a:t>
            </a:r>
            <a:r>
              <a:rPr lang="en-US" altLang="zh-CN" dirty="0" smtClean="0"/>
              <a:t>——</a:t>
            </a:r>
            <a:r>
              <a:rPr lang="zh-CN" altLang="en-US" dirty="0" smtClean="0"/>
              <a:t>相当于</a:t>
            </a:r>
            <a:r>
              <a:rPr lang="en-US" altLang="zh-CN" dirty="0" smtClean="0"/>
              <a:t>P</a:t>
            </a:r>
            <a:r>
              <a:rPr lang="zh-CN" altLang="en-US" dirty="0" smtClean="0"/>
              <a:t>操作</a:t>
            </a:r>
            <a:endParaRPr lang="zh-CN" altLang="en-US" dirty="0"/>
          </a:p>
        </p:txBody>
      </p:sp>
      <p:sp>
        <p:nvSpPr>
          <p:cNvPr id="4" name="Date Placeholder 3"/>
          <p:cNvSpPr>
            <a:spLocks noGrp="1"/>
          </p:cNvSpPr>
          <p:nvPr>
            <p:ph type="dt" sz="half" idx="10"/>
          </p:nvPr>
        </p:nvSpPr>
        <p:spPr/>
        <p:txBody>
          <a:bodyPr/>
          <a:lstStyle/>
          <a:p>
            <a:fld id="{8808FC9F-742C-4E3D-A0DE-478FAF44B1A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92</a:t>
            </a:fld>
            <a:endParaRPr lang="zh-CN" altLang="en-US" dirty="0"/>
          </a:p>
        </p:txBody>
      </p:sp>
      <p:sp>
        <p:nvSpPr>
          <p:cNvPr id="7" name="Rectangle 6"/>
          <p:cNvSpPr/>
          <p:nvPr/>
        </p:nvSpPr>
        <p:spPr>
          <a:xfrm>
            <a:off x="968176" y="2050970"/>
            <a:ext cx="7276232" cy="3970318"/>
          </a:xfrm>
          <a:prstGeom prst="rect">
            <a:avLst/>
          </a:prstGeom>
        </p:spPr>
        <p:txBody>
          <a:bodyPr wrap="square">
            <a:spAutoFit/>
          </a:bodyPr>
          <a:lstStyle/>
          <a:p>
            <a:pPr>
              <a:lnSpc>
                <a:spcPct val="105000"/>
              </a:lnSpc>
            </a:pPr>
            <a:r>
              <a:rPr lang="en-US" altLang="zh-CN" sz="2000" b="1" dirty="0" smtClean="0">
                <a:ea typeface="楷体" panose="02010609060101010101" pitchFamily="49" charset="-122"/>
              </a:rPr>
              <a:t>SP </a:t>
            </a:r>
            <a:r>
              <a:rPr lang="en-US" altLang="zh-CN" sz="2000" b="1" dirty="0">
                <a:ea typeface="楷体" panose="02010609060101010101" pitchFamily="49" charset="-122"/>
              </a:rPr>
              <a:t>(</a:t>
            </a:r>
            <a:r>
              <a:rPr lang="en-US" altLang="zh-CN" sz="2000" b="1" dirty="0">
                <a:solidFill>
                  <a:srgbClr val="0000FF"/>
                </a:solidFill>
                <a:ea typeface="楷体" panose="02010609060101010101" pitchFamily="49" charset="-122"/>
              </a:rPr>
              <a:t>S1,S2,…,</a:t>
            </a:r>
            <a:r>
              <a:rPr lang="en-US" altLang="zh-CN" sz="2000" b="1" dirty="0" err="1">
                <a:solidFill>
                  <a:srgbClr val="0000FF"/>
                </a:solidFill>
                <a:ea typeface="楷体" panose="02010609060101010101" pitchFamily="49" charset="-122"/>
              </a:rPr>
              <a:t>Sn</a:t>
            </a:r>
            <a:r>
              <a:rPr lang="en-US" altLang="zh-CN" sz="2000" b="1" dirty="0">
                <a:ea typeface="楷体" panose="02010609060101010101" pitchFamily="49" charset="-122"/>
              </a:rPr>
              <a:t>){</a:t>
            </a:r>
          </a:p>
          <a:p>
            <a:pPr>
              <a:lnSpc>
                <a:spcPct val="105000"/>
              </a:lnSpc>
            </a:pPr>
            <a:r>
              <a:rPr lang="en-US" altLang="zh-CN" sz="2000" b="1" dirty="0">
                <a:ea typeface="楷体" panose="02010609060101010101" pitchFamily="49" charset="-122"/>
              </a:rPr>
              <a:t>    while (true){</a:t>
            </a:r>
          </a:p>
          <a:p>
            <a:pPr>
              <a:lnSpc>
                <a:spcPct val="105000"/>
              </a:lnSpc>
            </a:pPr>
            <a:r>
              <a:rPr lang="en-US" altLang="zh-CN" sz="2000" b="1" dirty="0">
                <a:ea typeface="楷体" panose="02010609060101010101" pitchFamily="49" charset="-122"/>
              </a:rPr>
              <a:t>        if (S1&gt;=1 </a:t>
            </a:r>
            <a:r>
              <a:rPr lang="en-US" altLang="zh-CN" sz="2000" b="1" dirty="0">
                <a:solidFill>
                  <a:srgbClr val="FF0000"/>
                </a:solidFill>
                <a:ea typeface="楷体" panose="02010609060101010101" pitchFamily="49" charset="-122"/>
              </a:rPr>
              <a:t>&amp;&amp;</a:t>
            </a:r>
            <a:r>
              <a:rPr lang="en-US" altLang="zh-CN" sz="2000" b="1" dirty="0">
                <a:ea typeface="楷体" panose="02010609060101010101" pitchFamily="49" charset="-122"/>
              </a:rPr>
              <a:t> S2&gt;=1 </a:t>
            </a:r>
            <a:r>
              <a:rPr lang="en-US" altLang="zh-CN" sz="2000" b="1" dirty="0">
                <a:solidFill>
                  <a:srgbClr val="FF0000"/>
                </a:solidFill>
                <a:ea typeface="楷体" panose="02010609060101010101" pitchFamily="49" charset="-122"/>
              </a:rPr>
              <a:t>&amp;&amp;</a:t>
            </a:r>
            <a:r>
              <a:rPr lang="en-US" altLang="zh-CN" sz="2000" b="1" dirty="0">
                <a:ea typeface="楷体" panose="02010609060101010101" pitchFamily="49" charset="-122"/>
              </a:rPr>
              <a:t> … </a:t>
            </a:r>
            <a:r>
              <a:rPr lang="en-US" altLang="zh-CN" sz="2000" b="1" dirty="0">
                <a:solidFill>
                  <a:srgbClr val="FF0000"/>
                </a:solidFill>
                <a:ea typeface="楷体" panose="02010609060101010101" pitchFamily="49" charset="-122"/>
              </a:rPr>
              <a:t>&amp;&amp;</a:t>
            </a:r>
            <a:r>
              <a:rPr lang="en-US" altLang="zh-CN" sz="2000" b="1" dirty="0">
                <a:ea typeface="楷体" panose="02010609060101010101" pitchFamily="49" charset="-122"/>
              </a:rPr>
              <a:t> </a:t>
            </a:r>
            <a:r>
              <a:rPr lang="en-US" altLang="zh-CN" sz="2000" b="1" dirty="0" err="1">
                <a:ea typeface="楷体" panose="02010609060101010101" pitchFamily="49" charset="-122"/>
              </a:rPr>
              <a:t>Sn</a:t>
            </a:r>
            <a:r>
              <a:rPr lang="en-US" altLang="zh-CN" sz="2000" b="1" dirty="0">
                <a:ea typeface="楷体" panose="02010609060101010101" pitchFamily="49" charset="-122"/>
              </a:rPr>
              <a:t>&gt;=1){</a:t>
            </a:r>
          </a:p>
          <a:p>
            <a:pPr>
              <a:lnSpc>
                <a:spcPct val="105000"/>
              </a:lnSpc>
            </a:pPr>
            <a:r>
              <a:rPr lang="en-US" altLang="zh-CN" sz="2000" b="1" dirty="0">
                <a:ea typeface="楷体" panose="02010609060101010101" pitchFamily="49" charset="-122"/>
              </a:rPr>
              <a:t>            for (</a:t>
            </a:r>
            <a:r>
              <a:rPr lang="en-US" altLang="zh-CN" sz="2000" b="1" dirty="0" err="1">
                <a:ea typeface="楷体" panose="02010609060101010101" pitchFamily="49" charset="-122"/>
              </a:rPr>
              <a:t>i</a:t>
            </a:r>
            <a:r>
              <a:rPr lang="en-US" altLang="zh-CN" sz="2000" b="1" dirty="0">
                <a:ea typeface="楷体" panose="02010609060101010101" pitchFamily="49" charset="-122"/>
              </a:rPr>
              <a:t>=1; </a:t>
            </a:r>
            <a:r>
              <a:rPr lang="en-US" altLang="zh-CN" sz="2000" b="1" dirty="0" err="1">
                <a:ea typeface="楷体" panose="02010609060101010101" pitchFamily="49" charset="-122"/>
              </a:rPr>
              <a:t>i</a:t>
            </a:r>
            <a:r>
              <a:rPr lang="en-US" altLang="zh-CN" sz="2000" b="1" dirty="0">
                <a:ea typeface="楷体" panose="02010609060101010101" pitchFamily="49" charset="-122"/>
              </a:rPr>
              <a:t>&lt;=n; ++</a:t>
            </a:r>
            <a:r>
              <a:rPr lang="en-US" altLang="zh-CN" sz="2000" b="1" dirty="0" err="1">
                <a:ea typeface="楷体" panose="02010609060101010101" pitchFamily="49" charset="-122"/>
              </a:rPr>
              <a:t>i</a:t>
            </a:r>
            <a:r>
              <a:rPr lang="en-US" altLang="zh-CN" sz="2000" b="1" dirty="0">
                <a:ea typeface="楷体" panose="02010609060101010101" pitchFamily="49" charset="-122"/>
              </a:rPr>
              <a:t>)   --Si;</a:t>
            </a:r>
          </a:p>
          <a:p>
            <a:pPr>
              <a:lnSpc>
                <a:spcPct val="105000"/>
              </a:lnSpc>
            </a:pPr>
            <a:r>
              <a:rPr lang="en-US" altLang="zh-CN" sz="2000" b="1" dirty="0">
                <a:ea typeface="楷体" panose="02010609060101010101" pitchFamily="49" charset="-122"/>
              </a:rPr>
              <a:t>        </a:t>
            </a:r>
            <a:r>
              <a:rPr lang="en-US" altLang="zh-CN" sz="2000" b="1" dirty="0" smtClean="0">
                <a:ea typeface="楷体" panose="02010609060101010101" pitchFamily="49" charset="-122"/>
              </a:rPr>
              <a:t>    break;   </a:t>
            </a:r>
            <a:r>
              <a:rPr lang="en-US" altLang="zh-CN" sz="2000" b="1" dirty="0" smtClean="0">
                <a:solidFill>
                  <a:srgbClr val="0000FF"/>
                </a:solidFill>
                <a:ea typeface="楷体" panose="02010609060101010101" pitchFamily="49" charset="-122"/>
              </a:rPr>
              <a:t>// exit while</a:t>
            </a:r>
            <a:endParaRPr lang="en-US" altLang="zh-CN" sz="2000" b="1" dirty="0">
              <a:solidFill>
                <a:srgbClr val="0000FF"/>
              </a:solidFill>
              <a:ea typeface="楷体" panose="02010609060101010101" pitchFamily="49" charset="-122"/>
            </a:endParaRPr>
          </a:p>
          <a:p>
            <a:pPr>
              <a:lnSpc>
                <a:spcPct val="105000"/>
              </a:lnSpc>
            </a:pPr>
            <a:r>
              <a:rPr lang="en-US" altLang="zh-CN" sz="2000" b="1" dirty="0">
                <a:ea typeface="楷体" panose="02010609060101010101" pitchFamily="49" charset="-122"/>
              </a:rPr>
              <a:t>        }</a:t>
            </a:r>
          </a:p>
          <a:p>
            <a:pPr>
              <a:lnSpc>
                <a:spcPct val="105000"/>
              </a:lnSpc>
            </a:pPr>
            <a:r>
              <a:rPr lang="en-US" altLang="zh-CN" sz="2000" b="1" dirty="0">
                <a:ea typeface="楷体" panose="02010609060101010101" pitchFamily="49" charset="-122"/>
              </a:rPr>
              <a:t>        else{</a:t>
            </a:r>
          </a:p>
          <a:p>
            <a:pPr>
              <a:lnSpc>
                <a:spcPct val="105000"/>
              </a:lnSpc>
            </a:pPr>
            <a:r>
              <a:rPr lang="en-US" altLang="zh-CN" sz="2000" b="1" dirty="0">
                <a:ea typeface="楷体" panose="02010609060101010101" pitchFamily="49" charset="-122"/>
              </a:rPr>
              <a:t>            </a:t>
            </a:r>
            <a:r>
              <a:rPr lang="zh-CN" altLang="en-US" sz="2000" b="1" dirty="0">
                <a:ea typeface="楷体" panose="02010609060101010101" pitchFamily="49" charset="-122"/>
              </a:rPr>
              <a:t>调用进程进入第一个</a:t>
            </a:r>
            <a:r>
              <a:rPr lang="zh-CN" altLang="en-US" sz="2000" b="1" dirty="0">
                <a:solidFill>
                  <a:srgbClr val="0000FF"/>
                </a:solidFill>
                <a:ea typeface="楷体" panose="02010609060101010101" pitchFamily="49" charset="-122"/>
              </a:rPr>
              <a:t>小于</a:t>
            </a:r>
            <a:r>
              <a:rPr lang="en-US" altLang="zh-CN" sz="2000" b="1" dirty="0">
                <a:solidFill>
                  <a:srgbClr val="0000FF"/>
                </a:solidFill>
                <a:ea typeface="楷体" panose="02010609060101010101" pitchFamily="49" charset="-122"/>
              </a:rPr>
              <a:t>1</a:t>
            </a:r>
            <a:r>
              <a:rPr lang="zh-CN" altLang="en-US" sz="2000" b="1" dirty="0">
                <a:solidFill>
                  <a:srgbClr val="0000FF"/>
                </a:solidFill>
                <a:ea typeface="楷体" panose="02010609060101010101" pitchFamily="49" charset="-122"/>
              </a:rPr>
              <a:t>信号量的等待队列</a:t>
            </a:r>
            <a:r>
              <a:rPr lang="en-US" altLang="zh-CN" sz="2000" b="1" dirty="0" err="1">
                <a:ea typeface="楷体" panose="02010609060101010101" pitchFamily="49" charset="-122"/>
              </a:rPr>
              <a:t>Sj.queue</a:t>
            </a:r>
            <a:r>
              <a:rPr lang="en-US" altLang="zh-CN" sz="2000" b="1" dirty="0">
                <a:ea typeface="楷体" panose="02010609060101010101" pitchFamily="49" charset="-122"/>
              </a:rPr>
              <a:t>;</a:t>
            </a:r>
          </a:p>
          <a:p>
            <a:pPr>
              <a:lnSpc>
                <a:spcPct val="105000"/>
              </a:lnSpc>
            </a:pPr>
            <a:r>
              <a:rPr lang="en-US" altLang="zh-CN" sz="2000" b="1" dirty="0">
                <a:ea typeface="楷体" panose="02010609060101010101" pitchFamily="49" charset="-122"/>
              </a:rPr>
              <a:t>            </a:t>
            </a:r>
            <a:r>
              <a:rPr lang="zh-CN" altLang="en-US" sz="2000" b="1" dirty="0">
                <a:ea typeface="楷体" panose="02010609060101010101" pitchFamily="49" charset="-122"/>
              </a:rPr>
              <a:t>阻塞调用进程；</a:t>
            </a:r>
          </a:p>
          <a:p>
            <a:pPr>
              <a:lnSpc>
                <a:spcPct val="105000"/>
              </a:lnSpc>
            </a:pPr>
            <a:r>
              <a:rPr lang="zh-CN" altLang="en-US" sz="2000" b="1" dirty="0">
                <a:ea typeface="楷体" panose="02010609060101010101" pitchFamily="49" charset="-122"/>
              </a:rPr>
              <a:t>        </a:t>
            </a:r>
            <a:r>
              <a:rPr lang="en-US" altLang="zh-CN" sz="2000" b="1" dirty="0">
                <a:ea typeface="楷体" panose="02010609060101010101" pitchFamily="49" charset="-122"/>
              </a:rPr>
              <a:t>}</a:t>
            </a:r>
          </a:p>
          <a:p>
            <a:pPr>
              <a:lnSpc>
                <a:spcPct val="105000"/>
              </a:lnSpc>
            </a:pPr>
            <a:r>
              <a:rPr lang="en-US" altLang="zh-CN" sz="2000" b="1" dirty="0">
                <a:ea typeface="楷体" panose="02010609060101010101" pitchFamily="49" charset="-122"/>
              </a:rPr>
              <a:t>    }</a:t>
            </a:r>
          </a:p>
          <a:p>
            <a:pPr>
              <a:lnSpc>
                <a:spcPct val="105000"/>
              </a:lnSpc>
            </a:pPr>
            <a:r>
              <a:rPr lang="en-US" altLang="zh-CN" sz="2000" b="1" dirty="0">
                <a:ea typeface="楷体" panose="02010609060101010101" pitchFamily="49" charset="-122"/>
              </a:rPr>
              <a:t>}</a:t>
            </a:r>
          </a:p>
        </p:txBody>
      </p:sp>
    </p:spTree>
    <p:extLst>
      <p:ext uri="{BB962C8B-B14F-4D97-AF65-F5344CB8AC3E}">
        <p14:creationId xmlns:p14="http://schemas.microsoft.com/office/powerpoint/2010/main" val="121726237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AND</a:t>
            </a:r>
            <a:r>
              <a:rPr lang="zh-CN" altLang="en-US" dirty="0"/>
              <a:t>型信号量集</a:t>
            </a:r>
          </a:p>
        </p:txBody>
      </p:sp>
      <p:sp>
        <p:nvSpPr>
          <p:cNvPr id="3" name="Content Placeholder 2"/>
          <p:cNvSpPr>
            <a:spLocks noGrp="1"/>
          </p:cNvSpPr>
          <p:nvPr>
            <p:ph idx="1"/>
          </p:nvPr>
        </p:nvSpPr>
        <p:spPr/>
        <p:txBody>
          <a:bodyPr/>
          <a:lstStyle/>
          <a:p>
            <a:r>
              <a:rPr lang="en-US" altLang="zh-CN" dirty="0" smtClean="0"/>
              <a:t>SV</a:t>
            </a:r>
            <a:r>
              <a:rPr lang="zh-CN" altLang="en-US" dirty="0" smtClean="0"/>
              <a:t>操作</a:t>
            </a:r>
            <a:r>
              <a:rPr lang="en-US" altLang="zh-CN" dirty="0" smtClean="0"/>
              <a:t>——</a:t>
            </a:r>
            <a:r>
              <a:rPr lang="zh-CN" altLang="en-US" dirty="0" smtClean="0"/>
              <a:t>相当于</a:t>
            </a:r>
            <a:r>
              <a:rPr lang="en-US" altLang="zh-CN" dirty="0" smtClean="0"/>
              <a:t>V</a:t>
            </a:r>
            <a:r>
              <a:rPr lang="zh-CN" altLang="en-US" dirty="0" smtClean="0"/>
              <a:t>操作</a:t>
            </a:r>
            <a:endParaRPr lang="zh-CN" altLang="en-US" dirty="0"/>
          </a:p>
        </p:txBody>
      </p:sp>
      <p:sp>
        <p:nvSpPr>
          <p:cNvPr id="4" name="Date Placeholder 3"/>
          <p:cNvSpPr>
            <a:spLocks noGrp="1"/>
          </p:cNvSpPr>
          <p:nvPr>
            <p:ph type="dt" sz="half" idx="10"/>
          </p:nvPr>
        </p:nvSpPr>
        <p:spPr/>
        <p:txBody>
          <a:bodyPr/>
          <a:lstStyle/>
          <a:p>
            <a:fld id="{6B83A6BF-1898-4AD8-81EA-078E92DAF13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93</a:t>
            </a:fld>
            <a:endParaRPr lang="zh-CN" altLang="en-US" dirty="0"/>
          </a:p>
        </p:txBody>
      </p:sp>
      <p:sp>
        <p:nvSpPr>
          <p:cNvPr id="7" name="Rectangle 6"/>
          <p:cNvSpPr/>
          <p:nvPr/>
        </p:nvSpPr>
        <p:spPr>
          <a:xfrm>
            <a:off x="1619672" y="2138367"/>
            <a:ext cx="5904656" cy="2985433"/>
          </a:xfrm>
          <a:prstGeom prst="rect">
            <a:avLst/>
          </a:prstGeom>
        </p:spPr>
        <p:txBody>
          <a:bodyPr wrap="square">
            <a:spAutoFit/>
          </a:bodyPr>
          <a:lstStyle/>
          <a:p>
            <a:pPr>
              <a:spcBef>
                <a:spcPct val="5000"/>
              </a:spcBef>
            </a:pPr>
            <a:r>
              <a:rPr lang="en-US" altLang="zh-CN" sz="2000" b="1" dirty="0" smtClean="0">
                <a:ea typeface="楷体" panose="02010609060101010101" pitchFamily="49" charset="-122"/>
              </a:rPr>
              <a:t>SV </a:t>
            </a:r>
            <a:r>
              <a:rPr lang="en-US" altLang="zh-CN" sz="2000" b="1" dirty="0">
                <a:ea typeface="楷体" panose="02010609060101010101" pitchFamily="49" charset="-122"/>
              </a:rPr>
              <a:t>(</a:t>
            </a:r>
            <a:r>
              <a:rPr lang="en-US" altLang="zh-CN" sz="2000" b="1" dirty="0">
                <a:solidFill>
                  <a:srgbClr val="0000FF"/>
                </a:solidFill>
                <a:ea typeface="楷体" panose="02010609060101010101" pitchFamily="49" charset="-122"/>
              </a:rPr>
              <a:t>S1,S2,…,</a:t>
            </a:r>
            <a:r>
              <a:rPr lang="en-US" altLang="zh-CN" sz="2000" b="1" dirty="0" err="1">
                <a:solidFill>
                  <a:srgbClr val="0000FF"/>
                </a:solidFill>
                <a:ea typeface="楷体" panose="02010609060101010101" pitchFamily="49" charset="-122"/>
              </a:rPr>
              <a:t>Sn</a:t>
            </a:r>
            <a:r>
              <a:rPr lang="en-US" altLang="zh-CN" sz="2000" b="1" dirty="0">
                <a:ea typeface="楷体" panose="02010609060101010101" pitchFamily="49" charset="-122"/>
              </a:rPr>
              <a:t>){</a:t>
            </a:r>
          </a:p>
          <a:p>
            <a:pPr>
              <a:spcBef>
                <a:spcPct val="5000"/>
              </a:spcBef>
            </a:pPr>
            <a:r>
              <a:rPr lang="en-US" altLang="zh-CN" sz="2000" b="1" dirty="0">
                <a:ea typeface="楷体" panose="02010609060101010101" pitchFamily="49" charset="-122"/>
              </a:rPr>
              <a:t>        for (</a:t>
            </a:r>
            <a:r>
              <a:rPr lang="en-US" altLang="zh-CN" sz="2000" b="1" dirty="0" err="1">
                <a:ea typeface="楷体" panose="02010609060101010101" pitchFamily="49" charset="-122"/>
              </a:rPr>
              <a:t>i</a:t>
            </a:r>
            <a:r>
              <a:rPr lang="en-US" altLang="zh-CN" sz="2000" b="1" dirty="0">
                <a:ea typeface="楷体" panose="02010609060101010101" pitchFamily="49" charset="-122"/>
              </a:rPr>
              <a:t>=1; </a:t>
            </a:r>
            <a:r>
              <a:rPr lang="en-US" altLang="zh-CN" sz="2000" b="1" dirty="0" err="1">
                <a:ea typeface="楷体" panose="02010609060101010101" pitchFamily="49" charset="-122"/>
              </a:rPr>
              <a:t>i</a:t>
            </a:r>
            <a:r>
              <a:rPr lang="en-US" altLang="zh-CN" sz="2000" b="1" dirty="0">
                <a:ea typeface="楷体" panose="02010609060101010101" pitchFamily="49" charset="-122"/>
              </a:rPr>
              <a:t>&lt;=n; ++</a:t>
            </a:r>
            <a:r>
              <a:rPr lang="en-US" altLang="zh-CN" sz="2000" b="1" dirty="0" err="1">
                <a:ea typeface="楷体" panose="02010609060101010101" pitchFamily="49" charset="-122"/>
              </a:rPr>
              <a:t>i</a:t>
            </a:r>
            <a:r>
              <a:rPr lang="en-US" altLang="zh-CN" sz="2000" b="1" dirty="0">
                <a:ea typeface="楷体" panose="02010609060101010101" pitchFamily="49" charset="-122"/>
              </a:rPr>
              <a:t>){</a:t>
            </a:r>
          </a:p>
          <a:p>
            <a:pPr>
              <a:spcBef>
                <a:spcPct val="5000"/>
              </a:spcBef>
            </a:pPr>
            <a:r>
              <a:rPr lang="en-US" altLang="zh-CN" sz="2000" b="1" dirty="0">
                <a:ea typeface="楷体" panose="02010609060101010101" pitchFamily="49" charset="-122"/>
              </a:rPr>
              <a:t>             ++Si;</a:t>
            </a:r>
          </a:p>
          <a:p>
            <a:pPr>
              <a:spcBef>
                <a:spcPct val="5000"/>
              </a:spcBef>
            </a:pPr>
            <a:r>
              <a:rPr lang="en-US" altLang="zh-CN" sz="2000" b="1" dirty="0">
                <a:ea typeface="楷体" panose="02010609060101010101" pitchFamily="49" charset="-122"/>
              </a:rPr>
              <a:t>             for (each process P waiting in </a:t>
            </a:r>
            <a:r>
              <a:rPr lang="en-US" altLang="zh-CN" sz="2000" b="1" dirty="0" err="1">
                <a:ea typeface="楷体" panose="02010609060101010101" pitchFamily="49" charset="-122"/>
              </a:rPr>
              <a:t>Si.queue</a:t>
            </a:r>
            <a:r>
              <a:rPr lang="en-US" altLang="zh-CN" sz="2000" b="1" dirty="0">
                <a:ea typeface="楷体" panose="02010609060101010101" pitchFamily="49" charset="-122"/>
              </a:rPr>
              <a:t>){</a:t>
            </a:r>
          </a:p>
          <a:p>
            <a:pPr>
              <a:spcBef>
                <a:spcPct val="5000"/>
              </a:spcBef>
            </a:pPr>
            <a:r>
              <a:rPr lang="en-US" altLang="zh-CN" sz="2000" b="1" dirty="0">
                <a:ea typeface="楷体" panose="02010609060101010101" pitchFamily="49" charset="-122"/>
              </a:rPr>
              <a:t>                  </a:t>
            </a:r>
            <a:r>
              <a:rPr lang="zh-CN" altLang="en-US" sz="2000" b="1" dirty="0">
                <a:ea typeface="楷体" panose="02010609060101010101" pitchFamily="49" charset="-122"/>
              </a:rPr>
              <a:t>从等待队列</a:t>
            </a:r>
            <a:r>
              <a:rPr lang="en-US" altLang="zh-CN" sz="2000" b="1" dirty="0" err="1">
                <a:ea typeface="楷体" panose="02010609060101010101" pitchFamily="49" charset="-122"/>
              </a:rPr>
              <a:t>Sj.queue</a:t>
            </a:r>
            <a:r>
              <a:rPr lang="zh-CN" altLang="en-US" sz="2000" b="1" dirty="0">
                <a:ea typeface="楷体" panose="02010609060101010101" pitchFamily="49" charset="-122"/>
              </a:rPr>
              <a:t>中取出进程</a:t>
            </a:r>
            <a:r>
              <a:rPr lang="en-US" altLang="zh-CN" sz="2000" b="1" dirty="0">
                <a:ea typeface="楷体" panose="02010609060101010101" pitchFamily="49" charset="-122"/>
              </a:rPr>
              <a:t>P;</a:t>
            </a:r>
          </a:p>
          <a:p>
            <a:pPr>
              <a:spcBef>
                <a:spcPct val="5000"/>
              </a:spcBef>
            </a:pPr>
            <a:r>
              <a:rPr lang="en-US" altLang="zh-CN" sz="2000" b="1" dirty="0">
                <a:ea typeface="楷体" panose="02010609060101010101" pitchFamily="49" charset="-122"/>
              </a:rPr>
              <a:t>                  </a:t>
            </a:r>
            <a:r>
              <a:rPr lang="zh-CN" altLang="en-US" sz="2000" b="1" dirty="0" smtClean="0">
                <a:ea typeface="楷体" panose="02010609060101010101" pitchFamily="49" charset="-122"/>
              </a:rPr>
              <a:t>唤醒进程</a:t>
            </a:r>
            <a:r>
              <a:rPr lang="en-US" altLang="zh-CN" sz="2000" b="1" dirty="0" smtClean="0">
                <a:ea typeface="楷体" panose="02010609060101010101" pitchFamily="49" charset="-122"/>
              </a:rPr>
              <a:t>P</a:t>
            </a:r>
            <a:r>
              <a:rPr lang="zh-CN" altLang="en-US" sz="2000" b="1" dirty="0" smtClean="0">
                <a:ea typeface="楷体" panose="02010609060101010101" pitchFamily="49" charset="-122"/>
              </a:rPr>
              <a:t>；</a:t>
            </a:r>
            <a:endParaRPr lang="en-US" altLang="zh-CN" sz="2000" b="1" dirty="0" smtClean="0">
              <a:ea typeface="楷体" panose="02010609060101010101" pitchFamily="49" charset="-122"/>
            </a:endParaRPr>
          </a:p>
          <a:p>
            <a:pPr>
              <a:spcBef>
                <a:spcPct val="5000"/>
              </a:spcBef>
            </a:pPr>
            <a:r>
              <a:rPr lang="zh-CN" altLang="en-US" sz="2000" b="1" dirty="0" smtClean="0">
                <a:ea typeface="楷体" panose="02010609060101010101" pitchFamily="49" charset="-122"/>
              </a:rPr>
              <a:t>              </a:t>
            </a:r>
            <a:r>
              <a:rPr lang="en-US" altLang="zh-CN" sz="2000" b="1" dirty="0">
                <a:ea typeface="楷体" panose="02010609060101010101" pitchFamily="49" charset="-122"/>
              </a:rPr>
              <a:t>}</a:t>
            </a:r>
          </a:p>
          <a:p>
            <a:pPr>
              <a:spcBef>
                <a:spcPct val="5000"/>
              </a:spcBef>
            </a:pPr>
            <a:r>
              <a:rPr lang="en-US" altLang="zh-CN" sz="2000" b="1" dirty="0">
                <a:ea typeface="楷体" panose="02010609060101010101" pitchFamily="49" charset="-122"/>
              </a:rPr>
              <a:t>         }</a:t>
            </a:r>
          </a:p>
          <a:p>
            <a:pPr>
              <a:spcBef>
                <a:spcPct val="5000"/>
              </a:spcBef>
            </a:pPr>
            <a:r>
              <a:rPr lang="en-US" altLang="zh-CN" sz="2000" b="1" dirty="0">
                <a:ea typeface="楷体" panose="02010609060101010101" pitchFamily="49" charset="-122"/>
              </a:rPr>
              <a:t>}</a:t>
            </a:r>
          </a:p>
        </p:txBody>
      </p:sp>
    </p:spTree>
    <p:extLst>
      <p:ext uri="{BB962C8B-B14F-4D97-AF65-F5344CB8AC3E}">
        <p14:creationId xmlns:p14="http://schemas.microsoft.com/office/powerpoint/2010/main" val="82858943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一般信号量集</a:t>
            </a:r>
            <a:endParaRPr lang="zh-CN" altLang="en-US" dirty="0"/>
          </a:p>
        </p:txBody>
      </p:sp>
      <p:sp>
        <p:nvSpPr>
          <p:cNvPr id="3" name="Content Placeholder 2"/>
          <p:cNvSpPr>
            <a:spLocks noGrp="1"/>
          </p:cNvSpPr>
          <p:nvPr>
            <p:ph idx="1"/>
          </p:nvPr>
        </p:nvSpPr>
        <p:spPr/>
        <p:txBody>
          <a:bodyPr>
            <a:normAutofit fontScale="70000" lnSpcReduction="20000"/>
          </a:bodyPr>
          <a:lstStyle/>
          <a:p>
            <a:pPr>
              <a:lnSpc>
                <a:spcPct val="145000"/>
              </a:lnSpc>
            </a:pPr>
            <a:r>
              <a:rPr lang="zh-CN" altLang="en-US" sz="2800" dirty="0" smtClean="0"/>
              <a:t>用于同时需要多种资源、每种占用的数目不同、且可分配的资源还存在一个临界值时的处理；</a:t>
            </a:r>
          </a:p>
          <a:p>
            <a:pPr>
              <a:lnSpc>
                <a:spcPct val="145000"/>
              </a:lnSpc>
            </a:pPr>
            <a:r>
              <a:rPr lang="zh-CN" altLang="en-US" sz="2800" dirty="0" smtClean="0"/>
              <a:t>基本思想：在</a:t>
            </a:r>
            <a:r>
              <a:rPr lang="en-US" altLang="zh-CN" sz="2800" dirty="0" smtClean="0"/>
              <a:t>AND</a:t>
            </a:r>
            <a:r>
              <a:rPr lang="zh-CN" altLang="en-US" sz="2800" dirty="0" smtClean="0"/>
              <a:t>型信号量集的基础上进行扩充：进程对信号量</a:t>
            </a:r>
            <a:r>
              <a:rPr lang="en-US" altLang="zh-CN" sz="2800" dirty="0" smtClean="0"/>
              <a:t>Si</a:t>
            </a:r>
            <a:r>
              <a:rPr lang="zh-CN" altLang="en-US" sz="2800" dirty="0" smtClean="0"/>
              <a:t>的测试值为</a:t>
            </a:r>
            <a:r>
              <a:rPr lang="en-US" altLang="zh-CN" sz="2800" dirty="0" err="1" smtClean="0"/>
              <a:t>ti</a:t>
            </a:r>
            <a:r>
              <a:rPr lang="zh-CN" altLang="en-US" sz="2800" dirty="0" smtClean="0"/>
              <a:t>（</a:t>
            </a:r>
            <a:r>
              <a:rPr lang="en-US" altLang="zh-CN" sz="2800" dirty="0" err="1" smtClean="0"/>
              <a:t>ti</a:t>
            </a:r>
            <a:r>
              <a:rPr lang="zh-CN" altLang="en-US" sz="2800" dirty="0" smtClean="0"/>
              <a:t>为下限值），占用值为</a:t>
            </a:r>
            <a:r>
              <a:rPr lang="en-US" altLang="zh-CN" sz="2800" dirty="0" err="1" smtClean="0"/>
              <a:t>di</a:t>
            </a:r>
            <a:r>
              <a:rPr lang="zh-CN" altLang="en-US" sz="2800" dirty="0" smtClean="0"/>
              <a:t>（资源需求量）</a:t>
            </a:r>
            <a:endParaRPr lang="en-US" altLang="zh-CN" sz="2800" dirty="0" smtClean="0"/>
          </a:p>
          <a:p>
            <a:pPr marL="0" indent="0">
              <a:lnSpc>
                <a:spcPct val="115000"/>
              </a:lnSpc>
              <a:spcBef>
                <a:spcPct val="20000"/>
              </a:spcBef>
              <a:buNone/>
            </a:pPr>
            <a:endParaRPr lang="en-US" altLang="zh-CN" dirty="0" smtClean="0">
              <a:solidFill>
                <a:srgbClr val="0000FF"/>
              </a:solidFill>
            </a:endParaRPr>
          </a:p>
          <a:p>
            <a:pPr marL="0" indent="0">
              <a:lnSpc>
                <a:spcPct val="115000"/>
              </a:lnSpc>
              <a:spcBef>
                <a:spcPct val="20000"/>
              </a:spcBef>
              <a:buNone/>
            </a:pPr>
            <a:r>
              <a:rPr lang="en-US" altLang="zh-CN" dirty="0" smtClean="0">
                <a:solidFill>
                  <a:srgbClr val="0000FF"/>
                </a:solidFill>
              </a:rPr>
              <a:t>SP(S1</a:t>
            </a:r>
            <a:r>
              <a:rPr lang="zh-CN" altLang="en-US" dirty="0">
                <a:solidFill>
                  <a:srgbClr val="0000FF"/>
                </a:solidFill>
              </a:rPr>
              <a:t>，</a:t>
            </a:r>
            <a:r>
              <a:rPr lang="en-US" altLang="zh-CN" dirty="0">
                <a:solidFill>
                  <a:srgbClr val="0000FF"/>
                </a:solidFill>
              </a:rPr>
              <a:t>t1</a:t>
            </a:r>
            <a:r>
              <a:rPr lang="zh-CN" altLang="en-US" dirty="0">
                <a:solidFill>
                  <a:srgbClr val="0000FF"/>
                </a:solidFill>
              </a:rPr>
              <a:t>，</a:t>
            </a:r>
            <a:r>
              <a:rPr lang="en-US" altLang="zh-CN" dirty="0">
                <a:solidFill>
                  <a:srgbClr val="0000FF"/>
                </a:solidFill>
              </a:rPr>
              <a:t>d1</a:t>
            </a:r>
            <a:r>
              <a:rPr lang="zh-CN" altLang="en-US" dirty="0">
                <a:solidFill>
                  <a:srgbClr val="0000FF"/>
                </a:solidFill>
              </a:rPr>
              <a:t>；</a:t>
            </a:r>
            <a:r>
              <a:rPr lang="en-US" altLang="zh-CN" dirty="0">
                <a:solidFill>
                  <a:srgbClr val="0000FF"/>
                </a:solidFill>
              </a:rPr>
              <a:t>…</a:t>
            </a:r>
            <a:r>
              <a:rPr lang="zh-CN" altLang="en-US" dirty="0">
                <a:solidFill>
                  <a:srgbClr val="0000FF"/>
                </a:solidFill>
              </a:rPr>
              <a:t>；</a:t>
            </a:r>
            <a:r>
              <a:rPr lang="en-US" altLang="zh-CN" dirty="0" err="1">
                <a:solidFill>
                  <a:srgbClr val="0000FF"/>
                </a:solidFill>
              </a:rPr>
              <a:t>Sn</a:t>
            </a:r>
            <a:r>
              <a:rPr lang="zh-CN" altLang="en-US" dirty="0">
                <a:solidFill>
                  <a:srgbClr val="0000FF"/>
                </a:solidFill>
              </a:rPr>
              <a:t>，</a:t>
            </a:r>
            <a:r>
              <a:rPr lang="en-US" altLang="zh-CN" dirty="0" err="1">
                <a:solidFill>
                  <a:srgbClr val="0000FF"/>
                </a:solidFill>
              </a:rPr>
              <a:t>tn</a:t>
            </a:r>
            <a:r>
              <a:rPr lang="zh-CN" altLang="en-US" dirty="0">
                <a:solidFill>
                  <a:srgbClr val="0000FF"/>
                </a:solidFill>
              </a:rPr>
              <a:t>，</a:t>
            </a:r>
            <a:r>
              <a:rPr lang="en-US" altLang="zh-CN" dirty="0" err="1">
                <a:solidFill>
                  <a:srgbClr val="0000FF"/>
                </a:solidFill>
              </a:rPr>
              <a:t>dn</a:t>
            </a:r>
            <a:r>
              <a:rPr lang="en-US" altLang="zh-CN" dirty="0">
                <a:solidFill>
                  <a:srgbClr val="0000FF"/>
                </a:solidFill>
              </a:rPr>
              <a:t>) </a:t>
            </a:r>
          </a:p>
          <a:p>
            <a:pPr marL="400050" lvl="1" indent="0">
              <a:lnSpc>
                <a:spcPct val="115000"/>
              </a:lnSpc>
              <a:buNone/>
            </a:pPr>
            <a:r>
              <a:rPr lang="en-US" altLang="zh-CN" b="1" dirty="0" smtClean="0"/>
              <a:t>If </a:t>
            </a:r>
            <a:r>
              <a:rPr lang="en-US" altLang="zh-CN" b="1" dirty="0"/>
              <a:t>(s1&gt;=t1 and s2&gt;=t2 and … and </a:t>
            </a:r>
            <a:r>
              <a:rPr lang="en-US" altLang="zh-CN" b="1" dirty="0" err="1"/>
              <a:t>sn</a:t>
            </a:r>
            <a:r>
              <a:rPr lang="en-US" altLang="zh-CN" b="1" dirty="0"/>
              <a:t>&gt;=</a:t>
            </a:r>
            <a:r>
              <a:rPr lang="en-US" altLang="zh-CN" b="1" dirty="0" err="1"/>
              <a:t>tn</a:t>
            </a:r>
            <a:r>
              <a:rPr lang="en-US" altLang="zh-CN" b="1" dirty="0"/>
              <a:t>) then</a:t>
            </a:r>
          </a:p>
          <a:p>
            <a:pPr lvl="2">
              <a:lnSpc>
                <a:spcPct val="115000"/>
              </a:lnSpc>
              <a:spcBef>
                <a:spcPct val="10000"/>
              </a:spcBef>
            </a:pPr>
            <a:r>
              <a:rPr lang="en-US" altLang="zh-CN" b="1" dirty="0"/>
              <a:t>  For </a:t>
            </a:r>
            <a:r>
              <a:rPr lang="en-US" altLang="zh-CN" b="1" dirty="0" err="1"/>
              <a:t>i</a:t>
            </a:r>
            <a:r>
              <a:rPr lang="en-US" altLang="zh-CN" b="1" dirty="0"/>
              <a:t>=1 to n do </a:t>
            </a:r>
            <a:r>
              <a:rPr lang="en-US" altLang="zh-CN" b="1" dirty="0" err="1" smtClean="0"/>
              <a:t>si</a:t>
            </a:r>
            <a:r>
              <a:rPr lang="en-US" altLang="zh-CN" b="1" dirty="0" smtClean="0"/>
              <a:t> := </a:t>
            </a:r>
            <a:r>
              <a:rPr lang="en-US" altLang="zh-CN" b="1" dirty="0" err="1" smtClean="0"/>
              <a:t>si</a:t>
            </a:r>
            <a:r>
              <a:rPr lang="en-US" altLang="zh-CN" b="1" dirty="0" smtClean="0"/>
              <a:t> - di</a:t>
            </a:r>
          </a:p>
          <a:p>
            <a:pPr marL="457200" lvl="1" indent="0">
              <a:lnSpc>
                <a:spcPct val="115000"/>
              </a:lnSpc>
              <a:spcBef>
                <a:spcPct val="10000"/>
              </a:spcBef>
              <a:buNone/>
            </a:pPr>
            <a:r>
              <a:rPr lang="en-US" altLang="zh-CN" b="1" dirty="0" smtClean="0"/>
              <a:t>Else </a:t>
            </a:r>
            <a:r>
              <a:rPr lang="zh-CN" altLang="en-US" b="1" dirty="0" smtClean="0"/>
              <a:t>阻塞进程；</a:t>
            </a:r>
          </a:p>
          <a:p>
            <a:pPr marL="0" indent="0">
              <a:lnSpc>
                <a:spcPct val="115000"/>
              </a:lnSpc>
              <a:spcBef>
                <a:spcPct val="20000"/>
              </a:spcBef>
              <a:buNone/>
            </a:pPr>
            <a:endParaRPr lang="en-US" altLang="zh-CN" dirty="0" smtClean="0">
              <a:solidFill>
                <a:srgbClr val="0000FF"/>
              </a:solidFill>
            </a:endParaRPr>
          </a:p>
          <a:p>
            <a:pPr marL="0" indent="0">
              <a:lnSpc>
                <a:spcPct val="115000"/>
              </a:lnSpc>
              <a:spcBef>
                <a:spcPct val="20000"/>
              </a:spcBef>
              <a:buNone/>
            </a:pPr>
            <a:r>
              <a:rPr lang="en-US" altLang="zh-CN" dirty="0" smtClean="0">
                <a:solidFill>
                  <a:srgbClr val="0000FF"/>
                </a:solidFill>
              </a:rPr>
              <a:t>SV(S1</a:t>
            </a:r>
            <a:r>
              <a:rPr lang="zh-CN" altLang="en-US" dirty="0">
                <a:solidFill>
                  <a:srgbClr val="0000FF"/>
                </a:solidFill>
              </a:rPr>
              <a:t>，</a:t>
            </a:r>
            <a:r>
              <a:rPr lang="en-US" altLang="zh-CN" dirty="0">
                <a:solidFill>
                  <a:srgbClr val="0000FF"/>
                </a:solidFill>
              </a:rPr>
              <a:t>d1</a:t>
            </a:r>
            <a:r>
              <a:rPr lang="zh-CN" altLang="en-US" dirty="0">
                <a:solidFill>
                  <a:srgbClr val="0000FF"/>
                </a:solidFill>
              </a:rPr>
              <a:t>；</a:t>
            </a:r>
            <a:r>
              <a:rPr lang="en-US" altLang="zh-CN" dirty="0">
                <a:solidFill>
                  <a:srgbClr val="0000FF"/>
                </a:solidFill>
              </a:rPr>
              <a:t>…</a:t>
            </a:r>
            <a:r>
              <a:rPr lang="zh-CN" altLang="en-US" dirty="0">
                <a:solidFill>
                  <a:srgbClr val="0000FF"/>
                </a:solidFill>
              </a:rPr>
              <a:t>；</a:t>
            </a:r>
            <a:r>
              <a:rPr lang="en-US" altLang="zh-CN" dirty="0" err="1">
                <a:solidFill>
                  <a:srgbClr val="0000FF"/>
                </a:solidFill>
              </a:rPr>
              <a:t>Sn</a:t>
            </a:r>
            <a:r>
              <a:rPr lang="zh-CN" altLang="en-US" dirty="0">
                <a:solidFill>
                  <a:srgbClr val="0000FF"/>
                </a:solidFill>
              </a:rPr>
              <a:t>，</a:t>
            </a:r>
            <a:r>
              <a:rPr lang="en-US" altLang="zh-CN" dirty="0" err="1">
                <a:solidFill>
                  <a:srgbClr val="0000FF"/>
                </a:solidFill>
              </a:rPr>
              <a:t>dn</a:t>
            </a:r>
            <a:r>
              <a:rPr lang="en-US" altLang="zh-CN" dirty="0">
                <a:solidFill>
                  <a:srgbClr val="0000FF"/>
                </a:solidFill>
              </a:rPr>
              <a:t>) </a:t>
            </a:r>
          </a:p>
          <a:p>
            <a:pPr marL="457200" lvl="1" indent="0">
              <a:lnSpc>
                <a:spcPct val="115000"/>
              </a:lnSpc>
              <a:spcBef>
                <a:spcPct val="10000"/>
              </a:spcBef>
              <a:buNone/>
            </a:pPr>
            <a:r>
              <a:rPr lang="en-US" altLang="zh-CN" b="1" dirty="0"/>
              <a:t>For </a:t>
            </a:r>
            <a:r>
              <a:rPr lang="en-US" altLang="zh-CN" b="1" dirty="0" err="1"/>
              <a:t>i</a:t>
            </a:r>
            <a:r>
              <a:rPr lang="en-US" altLang="zh-CN" b="1" dirty="0"/>
              <a:t>=1 to n do </a:t>
            </a:r>
          </a:p>
          <a:p>
            <a:pPr marL="457200" lvl="1" indent="0">
              <a:lnSpc>
                <a:spcPct val="115000"/>
              </a:lnSpc>
              <a:spcBef>
                <a:spcPct val="10000"/>
              </a:spcBef>
              <a:buNone/>
            </a:pPr>
            <a:r>
              <a:rPr lang="en-US" altLang="zh-CN" b="1" dirty="0"/>
              <a:t>Begin</a:t>
            </a:r>
          </a:p>
          <a:p>
            <a:pPr marL="457200" lvl="1" indent="0">
              <a:lnSpc>
                <a:spcPct val="115000"/>
              </a:lnSpc>
              <a:spcBef>
                <a:spcPct val="10000"/>
              </a:spcBef>
              <a:buNone/>
            </a:pPr>
            <a:r>
              <a:rPr lang="en-US" altLang="zh-CN" b="1" dirty="0"/>
              <a:t>  </a:t>
            </a:r>
            <a:r>
              <a:rPr lang="en-US" altLang="zh-CN" b="1" dirty="0" err="1"/>
              <a:t>si</a:t>
            </a:r>
            <a:r>
              <a:rPr lang="en-US" altLang="zh-CN" b="1" dirty="0"/>
              <a:t>:=</a:t>
            </a:r>
            <a:r>
              <a:rPr lang="en-US" altLang="zh-CN" b="1" dirty="0" err="1"/>
              <a:t>si+di</a:t>
            </a:r>
            <a:r>
              <a:rPr lang="en-US" altLang="zh-CN" b="1" dirty="0"/>
              <a:t>; For all </a:t>
            </a:r>
            <a:r>
              <a:rPr lang="zh-CN" altLang="en-US" b="1" dirty="0"/>
              <a:t>被阻塞的</a:t>
            </a:r>
            <a:r>
              <a:rPr lang="en-US" altLang="zh-CN" b="1" dirty="0"/>
              <a:t>Pi do </a:t>
            </a:r>
            <a:r>
              <a:rPr lang="zh-CN" altLang="en-US" b="1" dirty="0"/>
              <a:t>唤醒进程；</a:t>
            </a:r>
          </a:p>
          <a:p>
            <a:pPr marL="457200" lvl="1" indent="0">
              <a:lnSpc>
                <a:spcPct val="115000"/>
              </a:lnSpc>
              <a:spcBef>
                <a:spcPct val="10000"/>
              </a:spcBef>
              <a:buNone/>
            </a:pPr>
            <a:r>
              <a:rPr lang="en-US" altLang="zh-CN" b="1" dirty="0"/>
              <a:t>End</a:t>
            </a:r>
            <a:r>
              <a:rPr lang="zh-CN" altLang="en-US" b="1" dirty="0"/>
              <a:t>；</a:t>
            </a:r>
          </a:p>
          <a:p>
            <a:endParaRPr lang="zh-CN" altLang="en-US" dirty="0"/>
          </a:p>
        </p:txBody>
      </p:sp>
      <p:sp>
        <p:nvSpPr>
          <p:cNvPr id="4" name="Date Placeholder 3"/>
          <p:cNvSpPr>
            <a:spLocks noGrp="1"/>
          </p:cNvSpPr>
          <p:nvPr>
            <p:ph type="dt" sz="half" idx="10"/>
          </p:nvPr>
        </p:nvSpPr>
        <p:spPr/>
        <p:txBody>
          <a:bodyPr/>
          <a:lstStyle/>
          <a:p>
            <a:fld id="{8C4D237E-6A3E-4C07-8BE8-889FF5230C4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94</a:t>
            </a:fld>
            <a:endParaRPr lang="zh-CN" altLang="en-US" dirty="0"/>
          </a:p>
        </p:txBody>
      </p:sp>
    </p:spTree>
    <p:extLst>
      <p:ext uri="{BB962C8B-B14F-4D97-AF65-F5344CB8AC3E}">
        <p14:creationId xmlns:p14="http://schemas.microsoft.com/office/powerpoint/2010/main" val="239487343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一般信号量集</a:t>
            </a:r>
          </a:p>
        </p:txBody>
      </p:sp>
      <p:sp>
        <p:nvSpPr>
          <p:cNvPr id="3" name="Content Placeholder 2"/>
          <p:cNvSpPr>
            <a:spLocks noGrp="1"/>
          </p:cNvSpPr>
          <p:nvPr>
            <p:ph idx="1"/>
          </p:nvPr>
        </p:nvSpPr>
        <p:spPr/>
        <p:txBody>
          <a:bodyPr/>
          <a:lstStyle/>
          <a:p>
            <a:r>
              <a:rPr lang="zh-CN" altLang="en-US" dirty="0" smtClean="0"/>
              <a:t>几种特殊情况</a:t>
            </a:r>
            <a:endParaRPr lang="en-US" altLang="zh-CN" dirty="0" smtClean="0"/>
          </a:p>
          <a:p>
            <a:pPr lvl="1"/>
            <a:endParaRPr lang="en-US" altLang="zh-CN" b="1" dirty="0" smtClean="0"/>
          </a:p>
          <a:p>
            <a:pPr lvl="1"/>
            <a:r>
              <a:rPr lang="en-US" altLang="zh-CN" b="1" dirty="0" smtClean="0"/>
              <a:t>SP(</a:t>
            </a:r>
            <a:r>
              <a:rPr lang="en-US" altLang="zh-CN" b="1" dirty="0" err="1" smtClean="0"/>
              <a:t>S,d,d</a:t>
            </a:r>
            <a:r>
              <a:rPr lang="en-US" altLang="zh-CN" b="1" dirty="0"/>
              <a:t>)</a:t>
            </a:r>
            <a:r>
              <a:rPr lang="zh-CN" altLang="en-US" b="1" dirty="0"/>
              <a:t>表示每次申请</a:t>
            </a:r>
            <a:r>
              <a:rPr lang="en-US" altLang="zh-CN" b="1" dirty="0"/>
              <a:t>d</a:t>
            </a:r>
            <a:r>
              <a:rPr lang="zh-CN" altLang="en-US" b="1" dirty="0"/>
              <a:t>个资源，当少于</a:t>
            </a:r>
            <a:r>
              <a:rPr lang="en-US" altLang="zh-CN" b="1" dirty="0"/>
              <a:t>d</a:t>
            </a:r>
            <a:r>
              <a:rPr lang="zh-CN" altLang="en-US" b="1" dirty="0"/>
              <a:t>个时，便不分</a:t>
            </a:r>
            <a:r>
              <a:rPr lang="zh-CN" altLang="en-US" b="1" dirty="0" smtClean="0"/>
              <a:t>配</a:t>
            </a:r>
            <a:endParaRPr lang="en-US" altLang="zh-CN" b="1" dirty="0" smtClean="0"/>
          </a:p>
          <a:p>
            <a:pPr lvl="1"/>
            <a:endParaRPr lang="en-US" altLang="zh-CN" b="1" dirty="0" smtClean="0"/>
          </a:p>
          <a:p>
            <a:pPr lvl="1"/>
            <a:r>
              <a:rPr lang="en-US" altLang="zh-CN" b="1" dirty="0" smtClean="0"/>
              <a:t>SP(S,1,1</a:t>
            </a:r>
            <a:r>
              <a:rPr lang="en-US" altLang="zh-CN" b="1" dirty="0"/>
              <a:t>)</a:t>
            </a:r>
            <a:r>
              <a:rPr lang="zh-CN" altLang="en-US" b="1" dirty="0"/>
              <a:t>表示一般的记录型信号量或互斥信号</a:t>
            </a:r>
            <a:r>
              <a:rPr lang="zh-CN" altLang="en-US" b="1" dirty="0" smtClean="0"/>
              <a:t>量</a:t>
            </a:r>
            <a:endParaRPr lang="en-US" altLang="zh-CN" b="1" dirty="0" smtClean="0"/>
          </a:p>
          <a:p>
            <a:pPr lvl="1"/>
            <a:endParaRPr lang="en-US" altLang="zh-CN" b="1" dirty="0" smtClean="0"/>
          </a:p>
          <a:p>
            <a:pPr lvl="1"/>
            <a:r>
              <a:rPr lang="en-US" altLang="zh-CN" b="1" dirty="0" smtClean="0"/>
              <a:t>SP(S,1,0</a:t>
            </a:r>
            <a:r>
              <a:rPr lang="en-US" altLang="zh-CN" b="1" dirty="0"/>
              <a:t>)</a:t>
            </a:r>
            <a:r>
              <a:rPr lang="zh-CN" altLang="en-US" b="1" dirty="0"/>
              <a:t>作为一个可控开</a:t>
            </a:r>
            <a:r>
              <a:rPr lang="zh-CN" altLang="en-US" b="1" dirty="0" smtClean="0"/>
              <a:t>关</a:t>
            </a:r>
            <a:endParaRPr lang="en-US" altLang="zh-CN" b="1" dirty="0" smtClean="0"/>
          </a:p>
          <a:p>
            <a:pPr lvl="2"/>
            <a:r>
              <a:rPr lang="zh-CN" altLang="en-US" b="1" dirty="0"/>
              <a:t>当</a:t>
            </a:r>
            <a:r>
              <a:rPr lang="en-US" altLang="zh-CN" b="1" dirty="0"/>
              <a:t>S&gt;=1</a:t>
            </a:r>
            <a:r>
              <a:rPr lang="zh-CN" altLang="en-US" b="1" dirty="0"/>
              <a:t>时，允许多个进程进入临界</a:t>
            </a:r>
            <a:r>
              <a:rPr lang="zh-CN" altLang="en-US" b="1" dirty="0" smtClean="0"/>
              <a:t>区</a:t>
            </a:r>
            <a:endParaRPr lang="en-US" altLang="zh-CN" b="1" dirty="0" smtClean="0"/>
          </a:p>
          <a:p>
            <a:pPr lvl="2"/>
            <a:r>
              <a:rPr lang="zh-CN" altLang="en-US" b="1" dirty="0"/>
              <a:t>当</a:t>
            </a:r>
            <a:r>
              <a:rPr lang="en-US" altLang="zh-CN" b="1" dirty="0"/>
              <a:t>S=0</a:t>
            </a:r>
            <a:r>
              <a:rPr lang="zh-CN" altLang="en-US" b="1" dirty="0"/>
              <a:t>时，禁止任何进程进入临界区</a:t>
            </a:r>
          </a:p>
          <a:p>
            <a:pPr lvl="2"/>
            <a:endParaRPr lang="zh-CN" altLang="en-US" dirty="0"/>
          </a:p>
        </p:txBody>
      </p:sp>
      <p:sp>
        <p:nvSpPr>
          <p:cNvPr id="4" name="Date Placeholder 3"/>
          <p:cNvSpPr>
            <a:spLocks noGrp="1"/>
          </p:cNvSpPr>
          <p:nvPr>
            <p:ph type="dt" sz="half" idx="10"/>
          </p:nvPr>
        </p:nvSpPr>
        <p:spPr/>
        <p:txBody>
          <a:bodyPr/>
          <a:lstStyle/>
          <a:p>
            <a:fld id="{F0BF5158-F30B-4780-9379-86E90E88BB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95</a:t>
            </a:fld>
            <a:endParaRPr lang="zh-CN" altLang="en-US" dirty="0"/>
          </a:p>
        </p:txBody>
      </p:sp>
    </p:spTree>
    <p:extLst>
      <p:ext uri="{BB962C8B-B14F-4D97-AF65-F5344CB8AC3E}">
        <p14:creationId xmlns:p14="http://schemas.microsoft.com/office/powerpoint/2010/main" val="342555998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生产者</a:t>
            </a:r>
            <a:r>
              <a:rPr lang="en-US" altLang="zh-CN" dirty="0" smtClean="0"/>
              <a:t>-</a:t>
            </a:r>
            <a:r>
              <a:rPr lang="zh-CN" altLang="en-US" dirty="0" smtClean="0"/>
              <a:t>消费者问题</a:t>
            </a:r>
            <a:endParaRPr lang="zh-CN" altLang="en-US" dirty="0"/>
          </a:p>
        </p:txBody>
      </p:sp>
      <p:sp>
        <p:nvSpPr>
          <p:cNvPr id="3" name="Content Placeholder 2"/>
          <p:cNvSpPr>
            <a:spLocks noGrp="1"/>
          </p:cNvSpPr>
          <p:nvPr>
            <p:ph idx="1"/>
          </p:nvPr>
        </p:nvSpPr>
        <p:spPr/>
        <p:txBody>
          <a:bodyPr/>
          <a:lstStyle/>
          <a:p>
            <a:r>
              <a:rPr lang="zh-CN" altLang="en-US" dirty="0" smtClean="0">
                <a:solidFill>
                  <a:srgbClr val="0000FF"/>
                </a:solidFill>
              </a:rPr>
              <a:t>不使用信号量集的解法</a:t>
            </a:r>
            <a:endParaRPr lang="en-US" altLang="zh-CN" dirty="0" smtClean="0">
              <a:solidFill>
                <a:srgbClr val="0000FF"/>
              </a:solidFill>
            </a:endParaRPr>
          </a:p>
          <a:p>
            <a:r>
              <a:rPr lang="zh-CN" altLang="en-US" dirty="0"/>
              <a:t>信号量的设计</a:t>
            </a:r>
            <a:endParaRPr lang="en-US" altLang="zh-CN" dirty="0"/>
          </a:p>
          <a:p>
            <a:pPr lvl="1"/>
            <a:r>
              <a:rPr lang="zh-CN" altLang="en-US" dirty="0"/>
              <a:t>用</a:t>
            </a:r>
            <a:r>
              <a:rPr lang="en-US" altLang="zh-CN" dirty="0" err="1"/>
              <a:t>mutex</a:t>
            </a:r>
            <a:r>
              <a:rPr lang="zh-CN" altLang="en-US" dirty="0"/>
              <a:t>控制对缓冲区的互斥访问，初值为</a:t>
            </a:r>
            <a:r>
              <a:rPr lang="en-US" altLang="zh-CN" dirty="0"/>
              <a:t>1</a:t>
            </a:r>
          </a:p>
          <a:p>
            <a:pPr lvl="1"/>
            <a:r>
              <a:rPr lang="zh-CN" altLang="en-US" dirty="0"/>
              <a:t>用</a:t>
            </a:r>
            <a:r>
              <a:rPr lang="en-US" altLang="zh-CN" dirty="0"/>
              <a:t>full</a:t>
            </a:r>
            <a:r>
              <a:rPr lang="zh-CN" altLang="en-US" dirty="0"/>
              <a:t>表示“满”的数目，初值为</a:t>
            </a:r>
            <a:r>
              <a:rPr lang="en-US" altLang="zh-CN" dirty="0"/>
              <a:t>0</a:t>
            </a:r>
          </a:p>
          <a:p>
            <a:pPr lvl="1"/>
            <a:r>
              <a:rPr lang="zh-CN" altLang="en-US" dirty="0"/>
              <a:t>用</a:t>
            </a:r>
            <a:r>
              <a:rPr lang="en-US" altLang="zh-CN" dirty="0"/>
              <a:t>empty</a:t>
            </a:r>
            <a:r>
              <a:rPr lang="zh-CN" altLang="en-US" dirty="0"/>
              <a:t>表示“空”的数目，初值为</a:t>
            </a:r>
            <a:r>
              <a:rPr lang="en-US" altLang="zh-CN" dirty="0" smtClean="0"/>
              <a:t>N</a:t>
            </a:r>
            <a:endParaRPr lang="en-US" altLang="zh-CN" dirty="0"/>
          </a:p>
        </p:txBody>
      </p:sp>
      <p:sp>
        <p:nvSpPr>
          <p:cNvPr id="4" name="Date Placeholder 3"/>
          <p:cNvSpPr>
            <a:spLocks noGrp="1"/>
          </p:cNvSpPr>
          <p:nvPr>
            <p:ph type="dt" sz="half" idx="10"/>
          </p:nvPr>
        </p:nvSpPr>
        <p:spPr/>
        <p:txBody>
          <a:bodyPr/>
          <a:lstStyle/>
          <a:p>
            <a:fld id="{AE6006BA-284E-4D4B-8924-B60EC709353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96</a:t>
            </a:fld>
            <a:endParaRPr lang="zh-CN" altLang="en-US" dirty="0"/>
          </a:p>
        </p:txBody>
      </p:sp>
      <p:grpSp>
        <p:nvGrpSpPr>
          <p:cNvPr id="7" name="Group 5"/>
          <p:cNvGrpSpPr>
            <a:grpSpLocks/>
          </p:cNvGrpSpPr>
          <p:nvPr/>
        </p:nvGrpSpPr>
        <p:grpSpPr bwMode="auto">
          <a:xfrm>
            <a:off x="850900" y="3707978"/>
            <a:ext cx="2932113" cy="2673350"/>
            <a:chOff x="376" y="1584"/>
            <a:chExt cx="1847" cy="1684"/>
          </a:xfrm>
        </p:grpSpPr>
        <p:sp>
          <p:nvSpPr>
            <p:cNvPr id="8" name="Rectangle 6"/>
            <p:cNvSpPr>
              <a:spLocks noChangeArrowheads="1"/>
            </p:cNvSpPr>
            <p:nvPr/>
          </p:nvSpPr>
          <p:spPr bwMode="auto">
            <a:xfrm>
              <a:off x="951" y="1584"/>
              <a:ext cx="60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latin typeface="+mn-lt"/>
                  <a:ea typeface="楷体" panose="02010609060101010101" pitchFamily="49" charset="-122"/>
                </a:rPr>
                <a:t>Producer</a:t>
              </a:r>
            </a:p>
          </p:txBody>
        </p:sp>
        <p:sp>
          <p:nvSpPr>
            <p:cNvPr id="9" name="Rectangle 7"/>
            <p:cNvSpPr>
              <a:spLocks noChangeArrowheads="1"/>
            </p:cNvSpPr>
            <p:nvPr/>
          </p:nvSpPr>
          <p:spPr bwMode="auto">
            <a:xfrm>
              <a:off x="376" y="1888"/>
              <a:ext cx="66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P(empty);</a:t>
              </a:r>
              <a:endParaRPr lang="en-US" altLang="zh-CN" sz="2000" b="1" dirty="0">
                <a:latin typeface="+mn-lt"/>
                <a:ea typeface="楷体" panose="02010609060101010101" pitchFamily="49" charset="-122"/>
              </a:endParaRPr>
            </a:p>
          </p:txBody>
        </p:sp>
        <p:sp>
          <p:nvSpPr>
            <p:cNvPr id="10" name="Rectangle 8"/>
            <p:cNvSpPr>
              <a:spLocks noChangeArrowheads="1"/>
            </p:cNvSpPr>
            <p:nvPr/>
          </p:nvSpPr>
          <p:spPr bwMode="auto">
            <a:xfrm>
              <a:off x="376" y="2175"/>
              <a:ext cx="65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P(mutex);</a:t>
              </a:r>
              <a:endParaRPr lang="en-US" altLang="zh-CN" sz="2000" b="1">
                <a:latin typeface="+mn-lt"/>
                <a:ea typeface="楷体" panose="02010609060101010101" pitchFamily="49" charset="-122"/>
              </a:endParaRPr>
            </a:p>
          </p:txBody>
        </p:sp>
        <p:sp>
          <p:nvSpPr>
            <p:cNvPr id="11" name="Rectangle 9"/>
            <p:cNvSpPr>
              <a:spLocks noChangeArrowheads="1"/>
            </p:cNvSpPr>
            <p:nvPr/>
          </p:nvSpPr>
          <p:spPr bwMode="auto">
            <a:xfrm>
              <a:off x="1572" y="2175"/>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a:t>
              </a:r>
              <a:r>
                <a:rPr lang="zh-CN" altLang="en-US" sz="2000" b="1">
                  <a:solidFill>
                    <a:srgbClr val="000000"/>
                  </a:solidFill>
                  <a:latin typeface="+mn-lt"/>
                  <a:ea typeface="楷体" panose="02010609060101010101" pitchFamily="49" charset="-122"/>
                </a:rPr>
                <a:t>进入区</a:t>
              </a:r>
              <a:endParaRPr lang="zh-CN" altLang="en-US" sz="2000" b="1">
                <a:latin typeface="+mn-lt"/>
                <a:ea typeface="楷体" panose="02010609060101010101" pitchFamily="49" charset="-122"/>
              </a:endParaRPr>
            </a:p>
          </p:txBody>
        </p:sp>
        <p:sp>
          <p:nvSpPr>
            <p:cNvPr id="12" name="Rectangle 10"/>
            <p:cNvSpPr>
              <a:spLocks noChangeArrowheads="1"/>
            </p:cNvSpPr>
            <p:nvPr/>
          </p:nvSpPr>
          <p:spPr bwMode="auto">
            <a:xfrm>
              <a:off x="376" y="2483"/>
              <a:ext cx="1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  one unit</a:t>
              </a:r>
              <a:r>
                <a:rPr lang="en-US" altLang="zh-CN" sz="2000" b="1">
                  <a:solidFill>
                    <a:srgbClr val="000000"/>
                  </a:solidFill>
                  <a:latin typeface="+mn-lt"/>
                  <a:ea typeface="楷体" panose="02010609060101010101" pitchFamily="49" charset="-122"/>
                  <a:sym typeface="Symbol" panose="05050102010706020507" pitchFamily="18" charset="2"/>
                </a:rPr>
                <a:t></a:t>
              </a:r>
              <a:r>
                <a:rPr lang="en-US" altLang="zh-CN" sz="2000" b="1">
                  <a:solidFill>
                    <a:srgbClr val="000000"/>
                  </a:solidFill>
                  <a:latin typeface="+mn-lt"/>
                  <a:ea typeface="楷体" panose="02010609060101010101" pitchFamily="49" charset="-122"/>
                </a:rPr>
                <a:t> buffer;</a:t>
              </a:r>
              <a:endParaRPr lang="en-US" altLang="zh-CN" sz="2000" b="1">
                <a:latin typeface="+mn-lt"/>
                <a:ea typeface="楷体" panose="02010609060101010101" pitchFamily="49" charset="-122"/>
              </a:endParaRPr>
            </a:p>
          </p:txBody>
        </p:sp>
        <p:sp>
          <p:nvSpPr>
            <p:cNvPr id="13" name="Rectangle 11"/>
            <p:cNvSpPr>
              <a:spLocks noChangeArrowheads="1"/>
            </p:cNvSpPr>
            <p:nvPr/>
          </p:nvSpPr>
          <p:spPr bwMode="auto">
            <a:xfrm>
              <a:off x="376" y="2786"/>
              <a:ext cx="6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V(mutex);</a:t>
              </a:r>
              <a:endParaRPr lang="en-US" altLang="zh-CN" sz="2000" b="1">
                <a:latin typeface="+mn-lt"/>
                <a:ea typeface="楷体" panose="02010609060101010101" pitchFamily="49" charset="-122"/>
              </a:endParaRPr>
            </a:p>
          </p:txBody>
        </p:sp>
        <p:sp>
          <p:nvSpPr>
            <p:cNvPr id="14" name="Rectangle 12"/>
            <p:cNvSpPr>
              <a:spLocks noChangeArrowheads="1"/>
            </p:cNvSpPr>
            <p:nvPr/>
          </p:nvSpPr>
          <p:spPr bwMode="auto">
            <a:xfrm>
              <a:off x="376" y="3074"/>
              <a:ext cx="45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V(full);</a:t>
              </a:r>
              <a:endParaRPr lang="en-US" altLang="zh-CN" sz="2000" b="1">
                <a:latin typeface="+mn-lt"/>
                <a:ea typeface="楷体" panose="02010609060101010101" pitchFamily="49" charset="-122"/>
              </a:endParaRPr>
            </a:p>
          </p:txBody>
        </p:sp>
        <p:sp>
          <p:nvSpPr>
            <p:cNvPr id="15" name="Rectangle 13"/>
            <p:cNvSpPr>
              <a:spLocks noChangeArrowheads="1"/>
            </p:cNvSpPr>
            <p:nvPr/>
          </p:nvSpPr>
          <p:spPr bwMode="auto">
            <a:xfrm>
              <a:off x="1560" y="2796"/>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退出区</a:t>
              </a:r>
              <a:endParaRPr lang="zh-CN" altLang="en-US" sz="2000" b="1" dirty="0">
                <a:latin typeface="+mn-lt"/>
                <a:ea typeface="楷体" panose="02010609060101010101" pitchFamily="49" charset="-122"/>
              </a:endParaRPr>
            </a:p>
          </p:txBody>
        </p:sp>
      </p:grpSp>
      <p:grpSp>
        <p:nvGrpSpPr>
          <p:cNvPr id="16" name="Group 14"/>
          <p:cNvGrpSpPr>
            <a:grpSpLocks/>
          </p:cNvGrpSpPr>
          <p:nvPr/>
        </p:nvGrpSpPr>
        <p:grpSpPr bwMode="auto">
          <a:xfrm>
            <a:off x="5362575" y="3707978"/>
            <a:ext cx="2932113" cy="2673350"/>
            <a:chOff x="3218" y="1584"/>
            <a:chExt cx="1847" cy="1684"/>
          </a:xfrm>
        </p:grpSpPr>
        <p:sp>
          <p:nvSpPr>
            <p:cNvPr id="17" name="Rectangle 15"/>
            <p:cNvSpPr>
              <a:spLocks noChangeArrowheads="1"/>
            </p:cNvSpPr>
            <p:nvPr/>
          </p:nvSpPr>
          <p:spPr bwMode="auto">
            <a:xfrm>
              <a:off x="3854" y="1584"/>
              <a:ext cx="68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FF"/>
                  </a:solidFill>
                  <a:latin typeface="+mn-lt"/>
                  <a:ea typeface="楷体" panose="02010609060101010101" pitchFamily="49" charset="-122"/>
                </a:rPr>
                <a:t>Consumer</a:t>
              </a:r>
            </a:p>
          </p:txBody>
        </p:sp>
        <p:sp>
          <p:nvSpPr>
            <p:cNvPr id="18" name="Rectangle 16"/>
            <p:cNvSpPr>
              <a:spLocks noChangeArrowheads="1"/>
            </p:cNvSpPr>
            <p:nvPr/>
          </p:nvSpPr>
          <p:spPr bwMode="auto">
            <a:xfrm>
              <a:off x="3218" y="1888"/>
              <a:ext cx="44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P(full);</a:t>
              </a:r>
              <a:endParaRPr lang="en-US" altLang="zh-CN" sz="2000" b="1">
                <a:latin typeface="+mn-lt"/>
                <a:ea typeface="楷体" panose="02010609060101010101" pitchFamily="49" charset="-122"/>
              </a:endParaRPr>
            </a:p>
          </p:txBody>
        </p:sp>
        <p:sp>
          <p:nvSpPr>
            <p:cNvPr id="19" name="Rectangle 17"/>
            <p:cNvSpPr>
              <a:spLocks noChangeArrowheads="1"/>
            </p:cNvSpPr>
            <p:nvPr/>
          </p:nvSpPr>
          <p:spPr bwMode="auto">
            <a:xfrm>
              <a:off x="3218" y="2175"/>
              <a:ext cx="65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P(mutex);</a:t>
              </a:r>
              <a:endParaRPr lang="en-US" altLang="zh-CN" sz="2000" b="1">
                <a:latin typeface="+mn-lt"/>
                <a:ea typeface="楷体" panose="02010609060101010101" pitchFamily="49" charset="-122"/>
              </a:endParaRPr>
            </a:p>
          </p:txBody>
        </p:sp>
        <p:sp>
          <p:nvSpPr>
            <p:cNvPr id="20" name="Rectangle 18"/>
            <p:cNvSpPr>
              <a:spLocks noChangeArrowheads="1"/>
            </p:cNvSpPr>
            <p:nvPr/>
          </p:nvSpPr>
          <p:spPr bwMode="auto">
            <a:xfrm>
              <a:off x="4414" y="2175"/>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a:t>
              </a:r>
              <a:r>
                <a:rPr lang="zh-CN" altLang="en-US" sz="2000" b="1">
                  <a:solidFill>
                    <a:srgbClr val="000000"/>
                  </a:solidFill>
                  <a:latin typeface="+mn-lt"/>
                  <a:ea typeface="楷体" panose="02010609060101010101" pitchFamily="49" charset="-122"/>
                </a:rPr>
                <a:t>进入区</a:t>
              </a:r>
              <a:endParaRPr lang="zh-CN" altLang="en-US" sz="2000" b="1">
                <a:latin typeface="+mn-lt"/>
                <a:ea typeface="楷体" panose="02010609060101010101" pitchFamily="49" charset="-122"/>
              </a:endParaRPr>
            </a:p>
          </p:txBody>
        </p:sp>
        <p:sp>
          <p:nvSpPr>
            <p:cNvPr id="21" name="Rectangle 19"/>
            <p:cNvSpPr>
              <a:spLocks noChangeArrowheads="1"/>
            </p:cNvSpPr>
            <p:nvPr/>
          </p:nvSpPr>
          <p:spPr bwMode="auto">
            <a:xfrm>
              <a:off x="3218" y="2483"/>
              <a:ext cx="128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  one unit </a:t>
              </a:r>
              <a:r>
                <a:rPr lang="en-US" altLang="zh-CN" sz="2000" b="1">
                  <a:solidFill>
                    <a:srgbClr val="000000"/>
                  </a:solidFill>
                  <a:latin typeface="+mn-lt"/>
                  <a:ea typeface="楷体" panose="02010609060101010101" pitchFamily="49" charset="-122"/>
                  <a:sym typeface="Symbol" panose="05050102010706020507" pitchFamily="18" charset="2"/>
                </a:rPr>
                <a:t></a:t>
              </a:r>
              <a:r>
                <a:rPr lang="en-US" altLang="zh-CN" sz="2000" b="1">
                  <a:solidFill>
                    <a:srgbClr val="000000"/>
                  </a:solidFill>
                  <a:latin typeface="+mn-lt"/>
                  <a:ea typeface="楷体" panose="02010609060101010101" pitchFamily="49" charset="-122"/>
                </a:rPr>
                <a:t>buffer;</a:t>
              </a:r>
              <a:endParaRPr lang="en-US" altLang="zh-CN" sz="2000" b="1">
                <a:latin typeface="+mn-lt"/>
                <a:ea typeface="楷体" panose="02010609060101010101" pitchFamily="49" charset="-122"/>
              </a:endParaRPr>
            </a:p>
          </p:txBody>
        </p:sp>
        <p:sp>
          <p:nvSpPr>
            <p:cNvPr id="22" name="Rectangle 20"/>
            <p:cNvSpPr>
              <a:spLocks noChangeArrowheads="1"/>
            </p:cNvSpPr>
            <p:nvPr/>
          </p:nvSpPr>
          <p:spPr bwMode="auto">
            <a:xfrm>
              <a:off x="3218" y="2786"/>
              <a:ext cx="66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V(mutex);</a:t>
              </a:r>
              <a:endParaRPr lang="en-US" altLang="zh-CN" sz="2000" b="1">
                <a:latin typeface="+mn-lt"/>
                <a:ea typeface="楷体" panose="02010609060101010101" pitchFamily="49" charset="-122"/>
              </a:endParaRPr>
            </a:p>
          </p:txBody>
        </p:sp>
        <p:sp>
          <p:nvSpPr>
            <p:cNvPr id="23" name="Rectangle 21"/>
            <p:cNvSpPr>
              <a:spLocks noChangeArrowheads="1"/>
            </p:cNvSpPr>
            <p:nvPr/>
          </p:nvSpPr>
          <p:spPr bwMode="auto">
            <a:xfrm>
              <a:off x="3218" y="3074"/>
              <a:ext cx="6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00"/>
                  </a:solidFill>
                  <a:latin typeface="+mn-lt"/>
                  <a:ea typeface="楷体" panose="02010609060101010101" pitchFamily="49" charset="-122"/>
                </a:rPr>
                <a:t>V(empty);</a:t>
              </a:r>
              <a:endParaRPr lang="en-US" altLang="zh-CN" sz="2000" b="1">
                <a:latin typeface="+mn-lt"/>
                <a:ea typeface="楷体" panose="02010609060101010101" pitchFamily="49" charset="-122"/>
              </a:endParaRPr>
            </a:p>
          </p:txBody>
        </p:sp>
        <p:sp>
          <p:nvSpPr>
            <p:cNvPr id="24" name="Rectangle 22"/>
            <p:cNvSpPr>
              <a:spLocks noChangeArrowheads="1"/>
            </p:cNvSpPr>
            <p:nvPr/>
          </p:nvSpPr>
          <p:spPr bwMode="auto">
            <a:xfrm>
              <a:off x="4414" y="2802"/>
              <a:ext cx="65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mn-lt"/>
                  <a:ea typeface="楷体" panose="02010609060101010101" pitchFamily="49" charset="-122"/>
                </a:rPr>
                <a:t>//</a:t>
              </a:r>
              <a:r>
                <a:rPr lang="zh-CN" altLang="en-US" sz="2000" b="1" dirty="0">
                  <a:solidFill>
                    <a:srgbClr val="000000"/>
                  </a:solidFill>
                  <a:latin typeface="+mn-lt"/>
                  <a:ea typeface="楷体" panose="02010609060101010101" pitchFamily="49" charset="-122"/>
                </a:rPr>
                <a:t>退出区</a:t>
              </a:r>
              <a:endParaRPr lang="zh-CN" altLang="en-US" sz="2000" b="1" dirty="0">
                <a:latin typeface="+mn-lt"/>
                <a:ea typeface="楷体" panose="02010609060101010101" pitchFamily="49" charset="-122"/>
              </a:endParaRPr>
            </a:p>
          </p:txBody>
        </p:sp>
      </p:grpSp>
    </p:spTree>
    <p:extLst>
      <p:ext uri="{BB962C8B-B14F-4D97-AF65-F5344CB8AC3E}">
        <p14:creationId xmlns:p14="http://schemas.microsoft.com/office/powerpoint/2010/main" val="401657161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生产者</a:t>
            </a:r>
            <a:r>
              <a:rPr lang="en-US" altLang="zh-CN" dirty="0"/>
              <a:t>-</a:t>
            </a:r>
            <a:r>
              <a:rPr lang="zh-CN" altLang="en-US" dirty="0"/>
              <a:t>消费者问题</a:t>
            </a:r>
          </a:p>
        </p:txBody>
      </p:sp>
      <p:sp>
        <p:nvSpPr>
          <p:cNvPr id="3" name="Content Placeholder 2"/>
          <p:cNvSpPr>
            <a:spLocks noGrp="1"/>
          </p:cNvSpPr>
          <p:nvPr>
            <p:ph idx="1"/>
          </p:nvPr>
        </p:nvSpPr>
        <p:spPr/>
        <p:txBody>
          <a:bodyPr/>
          <a:lstStyle/>
          <a:p>
            <a:r>
              <a:rPr lang="zh-CN" altLang="en-US" dirty="0" smtClean="0">
                <a:solidFill>
                  <a:srgbClr val="0000FF"/>
                </a:solidFill>
              </a:rPr>
              <a:t>使用</a:t>
            </a:r>
            <a:r>
              <a:rPr lang="en-US" altLang="zh-CN" dirty="0" smtClean="0">
                <a:solidFill>
                  <a:srgbClr val="0000FF"/>
                </a:solidFill>
              </a:rPr>
              <a:t>AND</a:t>
            </a:r>
            <a:r>
              <a:rPr lang="zh-CN" altLang="en-US" dirty="0" smtClean="0">
                <a:solidFill>
                  <a:srgbClr val="0000FF"/>
                </a:solidFill>
              </a:rPr>
              <a:t>型信号量集的解法</a:t>
            </a:r>
            <a:endParaRPr lang="zh-CN" altLang="en-US" dirty="0">
              <a:solidFill>
                <a:srgbClr val="0000FF"/>
              </a:solidFill>
            </a:endParaRPr>
          </a:p>
        </p:txBody>
      </p:sp>
      <p:sp>
        <p:nvSpPr>
          <p:cNvPr id="4" name="Date Placeholder 3"/>
          <p:cNvSpPr>
            <a:spLocks noGrp="1"/>
          </p:cNvSpPr>
          <p:nvPr>
            <p:ph type="dt" sz="half" idx="10"/>
          </p:nvPr>
        </p:nvSpPr>
        <p:spPr/>
        <p:txBody>
          <a:bodyPr/>
          <a:lstStyle/>
          <a:p>
            <a:fld id="{1FDE434D-DD3E-47B3-AFB4-70BB2D4E767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97</a:t>
            </a:fld>
            <a:endParaRPr lang="zh-CN" altLang="en-US" dirty="0"/>
          </a:p>
        </p:txBody>
      </p:sp>
      <p:grpSp>
        <p:nvGrpSpPr>
          <p:cNvPr id="7" name="Group 10"/>
          <p:cNvGrpSpPr>
            <a:grpSpLocks/>
          </p:cNvGrpSpPr>
          <p:nvPr/>
        </p:nvGrpSpPr>
        <p:grpSpPr bwMode="auto">
          <a:xfrm>
            <a:off x="4573588" y="2780928"/>
            <a:ext cx="3382962" cy="2041525"/>
            <a:chOff x="2881" y="2568"/>
            <a:chExt cx="2131" cy="1286"/>
          </a:xfrm>
        </p:grpSpPr>
        <p:sp>
          <p:nvSpPr>
            <p:cNvPr id="8" name="Text Box 5"/>
            <p:cNvSpPr txBox="1">
              <a:spLocks noChangeArrowheads="1"/>
            </p:cNvSpPr>
            <p:nvPr/>
          </p:nvSpPr>
          <p:spPr bwMode="auto">
            <a:xfrm>
              <a:off x="2881" y="2795"/>
              <a:ext cx="2131" cy="1059"/>
            </a:xfrm>
            <a:prstGeom prst="rect">
              <a:avLst/>
            </a:prstGeom>
            <a:solidFill>
              <a:srgbClr val="66FFFF"/>
            </a:solidFill>
            <a:ln w="9525">
              <a:solidFill>
                <a:srgbClr val="FF0000"/>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zh-CN" altLang="en-US" b="1">
                  <a:latin typeface="+mn-lt"/>
                  <a:ea typeface="楷体" panose="02010609060101010101" pitchFamily="49" charset="-122"/>
                </a:rPr>
                <a:t>消费者：</a:t>
              </a:r>
            </a:p>
            <a:p>
              <a:pPr eaLnBrk="1" hangingPunct="1">
                <a:spcBef>
                  <a:spcPct val="10000"/>
                </a:spcBef>
              </a:pPr>
              <a:r>
                <a:rPr lang="zh-CN" altLang="en-US" b="1">
                  <a:latin typeface="+mn-lt"/>
                  <a:ea typeface="楷体" panose="02010609060101010101" pitchFamily="49" charset="-122"/>
                </a:rPr>
                <a:t>    </a:t>
              </a:r>
              <a:r>
                <a:rPr lang="en-US" altLang="zh-CN" b="1">
                  <a:latin typeface="+mn-lt"/>
                  <a:ea typeface="楷体" panose="02010609060101010101" pitchFamily="49" charset="-122"/>
                </a:rPr>
                <a:t>SP(full, mutex)</a:t>
              </a:r>
            </a:p>
            <a:p>
              <a:pPr eaLnBrk="1" hangingPunct="1">
                <a:spcBef>
                  <a:spcPct val="10000"/>
                </a:spcBef>
              </a:pPr>
              <a:r>
                <a:rPr lang="en-US" altLang="zh-CN" b="1">
                  <a:latin typeface="+mn-lt"/>
                  <a:ea typeface="楷体" panose="02010609060101010101" pitchFamily="49" charset="-122"/>
                </a:rPr>
                <a:t>    One unit</a:t>
              </a:r>
              <a:r>
                <a:rPr lang="en-US" altLang="zh-CN" b="1">
                  <a:latin typeface="+mn-lt"/>
                  <a:ea typeface="楷体" panose="02010609060101010101" pitchFamily="49" charset="-122"/>
                  <a:sym typeface="Symbol" panose="05050102010706020507" pitchFamily="18" charset="2"/>
                </a:rPr>
                <a:t>buffer</a:t>
              </a:r>
            </a:p>
            <a:p>
              <a:pPr eaLnBrk="1" hangingPunct="1">
                <a:spcBef>
                  <a:spcPct val="10000"/>
                </a:spcBef>
              </a:pPr>
              <a:r>
                <a:rPr lang="en-US" altLang="zh-CN" b="1">
                  <a:latin typeface="+mn-lt"/>
                  <a:ea typeface="楷体" panose="02010609060101010101" pitchFamily="49" charset="-122"/>
                  <a:sym typeface="Symbol" panose="05050102010706020507" pitchFamily="18" charset="2"/>
                </a:rPr>
                <a:t>    SV(mutex, empty)</a:t>
              </a:r>
            </a:p>
          </p:txBody>
        </p:sp>
        <p:pic>
          <p:nvPicPr>
            <p:cNvPr id="9" name="Picture 7" descr="PHARMAC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5" y="2568"/>
              <a:ext cx="572"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9"/>
          <p:cNvGrpSpPr>
            <a:grpSpLocks/>
          </p:cNvGrpSpPr>
          <p:nvPr/>
        </p:nvGrpSpPr>
        <p:grpSpPr bwMode="auto">
          <a:xfrm>
            <a:off x="1189038" y="2780928"/>
            <a:ext cx="3384550" cy="2041525"/>
            <a:chOff x="749" y="2568"/>
            <a:chExt cx="2132" cy="1286"/>
          </a:xfrm>
        </p:grpSpPr>
        <p:sp>
          <p:nvSpPr>
            <p:cNvPr id="11" name="Text Box 4"/>
            <p:cNvSpPr txBox="1">
              <a:spLocks noChangeArrowheads="1"/>
            </p:cNvSpPr>
            <p:nvPr/>
          </p:nvSpPr>
          <p:spPr bwMode="auto">
            <a:xfrm>
              <a:off x="749" y="2795"/>
              <a:ext cx="2132" cy="1059"/>
            </a:xfrm>
            <a:prstGeom prst="rect">
              <a:avLst/>
            </a:prstGeom>
            <a:solidFill>
              <a:srgbClr val="FFFF00"/>
            </a:solidFill>
            <a:ln w="9525">
              <a:solidFill>
                <a:srgbClr val="FF0000"/>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zh-CN" altLang="en-US" b="1">
                  <a:latin typeface="+mn-lt"/>
                  <a:ea typeface="楷体" panose="02010609060101010101" pitchFamily="49" charset="-122"/>
                </a:rPr>
                <a:t>生产者：</a:t>
              </a:r>
            </a:p>
            <a:p>
              <a:pPr eaLnBrk="1" hangingPunct="1">
                <a:spcBef>
                  <a:spcPct val="10000"/>
                </a:spcBef>
              </a:pPr>
              <a:r>
                <a:rPr lang="zh-CN" altLang="en-US" b="1">
                  <a:latin typeface="+mn-lt"/>
                  <a:ea typeface="楷体" panose="02010609060101010101" pitchFamily="49" charset="-122"/>
                </a:rPr>
                <a:t>    </a:t>
              </a:r>
              <a:r>
                <a:rPr lang="en-US" altLang="zh-CN" b="1">
                  <a:latin typeface="+mn-lt"/>
                  <a:ea typeface="楷体" panose="02010609060101010101" pitchFamily="49" charset="-122"/>
                </a:rPr>
                <a:t>SP(empty, mutex)</a:t>
              </a:r>
            </a:p>
            <a:p>
              <a:pPr eaLnBrk="1" hangingPunct="1">
                <a:spcBef>
                  <a:spcPct val="10000"/>
                </a:spcBef>
              </a:pPr>
              <a:r>
                <a:rPr lang="en-US" altLang="zh-CN" b="1">
                  <a:latin typeface="+mn-lt"/>
                  <a:ea typeface="楷体" panose="02010609060101010101" pitchFamily="49" charset="-122"/>
                </a:rPr>
                <a:t>    One unit</a:t>
              </a:r>
              <a:r>
                <a:rPr lang="en-US" altLang="zh-CN" b="1">
                  <a:latin typeface="+mn-lt"/>
                  <a:ea typeface="楷体" panose="02010609060101010101" pitchFamily="49" charset="-122"/>
                  <a:sym typeface="Symbol" panose="05050102010706020507" pitchFamily="18" charset="2"/>
                </a:rPr>
                <a:t>buffer</a:t>
              </a:r>
            </a:p>
            <a:p>
              <a:pPr eaLnBrk="1" hangingPunct="1">
                <a:spcBef>
                  <a:spcPct val="10000"/>
                </a:spcBef>
              </a:pPr>
              <a:r>
                <a:rPr lang="en-US" altLang="zh-CN" b="1">
                  <a:latin typeface="+mn-lt"/>
                  <a:ea typeface="楷体" panose="02010609060101010101" pitchFamily="49" charset="-122"/>
                  <a:sym typeface="Symbol" panose="05050102010706020507" pitchFamily="18" charset="2"/>
                </a:rPr>
                <a:t>    SV(mutex, full)</a:t>
              </a:r>
            </a:p>
          </p:txBody>
        </p:sp>
        <p:pic>
          <p:nvPicPr>
            <p:cNvPr id="12" name="Picture 8" descr="CARPENT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0" y="2568"/>
              <a:ext cx="539"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7495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读者</a:t>
            </a:r>
            <a:r>
              <a:rPr lang="en-US" altLang="zh-CN" dirty="0" smtClean="0"/>
              <a:t>-</a:t>
            </a:r>
            <a:r>
              <a:rPr lang="zh-CN" altLang="en-US" dirty="0" smtClean="0"/>
              <a:t>写者问题</a:t>
            </a:r>
            <a:endParaRPr lang="zh-CN" altLang="en-US" dirty="0"/>
          </a:p>
        </p:txBody>
      </p:sp>
      <p:sp>
        <p:nvSpPr>
          <p:cNvPr id="3" name="Content Placeholder 2"/>
          <p:cNvSpPr>
            <a:spLocks noGrp="1"/>
          </p:cNvSpPr>
          <p:nvPr>
            <p:ph idx="1"/>
          </p:nvPr>
        </p:nvSpPr>
        <p:spPr/>
        <p:txBody>
          <a:bodyPr/>
          <a:lstStyle/>
          <a:p>
            <a:r>
              <a:rPr lang="zh-CN" altLang="en-US" dirty="0" smtClean="0">
                <a:solidFill>
                  <a:srgbClr val="0000FF"/>
                </a:solidFill>
              </a:rPr>
              <a:t>不使用信号量集的方法</a:t>
            </a:r>
            <a:endParaRPr lang="zh-CN" altLang="en-US" dirty="0">
              <a:solidFill>
                <a:srgbClr val="0000FF"/>
              </a:solidFill>
            </a:endParaRPr>
          </a:p>
        </p:txBody>
      </p:sp>
      <p:sp>
        <p:nvSpPr>
          <p:cNvPr id="4" name="Date Placeholder 3"/>
          <p:cNvSpPr>
            <a:spLocks noGrp="1"/>
          </p:cNvSpPr>
          <p:nvPr>
            <p:ph type="dt" sz="half" idx="10"/>
          </p:nvPr>
        </p:nvSpPr>
        <p:spPr/>
        <p:txBody>
          <a:bodyPr/>
          <a:lstStyle/>
          <a:p>
            <a:fld id="{51F5016B-3595-4EE2-A701-B784530E0AF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98</a:t>
            </a:fld>
            <a:endParaRPr lang="zh-CN" altLang="en-US" dirty="0"/>
          </a:p>
        </p:txBody>
      </p:sp>
      <p:sp>
        <p:nvSpPr>
          <p:cNvPr id="7" name="TextBox 6"/>
          <p:cNvSpPr txBox="1"/>
          <p:nvPr/>
        </p:nvSpPr>
        <p:spPr>
          <a:xfrm>
            <a:off x="1187624" y="2524834"/>
            <a:ext cx="1872208" cy="400110"/>
          </a:xfrm>
          <a:prstGeom prst="rect">
            <a:avLst/>
          </a:prstGeom>
          <a:noFill/>
        </p:spPr>
        <p:txBody>
          <a:bodyPr wrap="square" rtlCol="0">
            <a:spAutoFit/>
          </a:bodyPr>
          <a:lstStyle/>
          <a:p>
            <a:pPr algn="ctr"/>
            <a:r>
              <a:rPr lang="zh-CN" altLang="en-US" sz="2000" b="1" dirty="0" smtClean="0">
                <a:solidFill>
                  <a:srgbClr val="0000FF"/>
                </a:solidFill>
                <a:latin typeface="楷体" panose="02010609060101010101" pitchFamily="49" charset="-122"/>
                <a:ea typeface="楷体" panose="02010609060101010101" pitchFamily="49" charset="-122"/>
              </a:rPr>
              <a:t>写者进程</a:t>
            </a:r>
            <a:endParaRPr lang="zh-CN" altLang="en-US" sz="2000" b="1" dirty="0">
              <a:solidFill>
                <a:srgbClr val="0000FF"/>
              </a:solidFill>
              <a:latin typeface="楷体" panose="02010609060101010101" pitchFamily="49" charset="-122"/>
              <a:ea typeface="楷体" panose="02010609060101010101" pitchFamily="49" charset="-122"/>
            </a:endParaRPr>
          </a:p>
        </p:txBody>
      </p:sp>
      <p:sp>
        <p:nvSpPr>
          <p:cNvPr id="8" name="TextBox 7"/>
          <p:cNvSpPr txBox="1"/>
          <p:nvPr/>
        </p:nvSpPr>
        <p:spPr>
          <a:xfrm>
            <a:off x="5652120" y="1628800"/>
            <a:ext cx="1872208" cy="400110"/>
          </a:xfrm>
          <a:prstGeom prst="rect">
            <a:avLst/>
          </a:prstGeom>
          <a:noFill/>
        </p:spPr>
        <p:txBody>
          <a:bodyPr wrap="square" rtlCol="0">
            <a:spAutoFit/>
          </a:bodyPr>
          <a:lstStyle/>
          <a:p>
            <a:pPr algn="ctr"/>
            <a:r>
              <a:rPr lang="zh-CN" altLang="en-US" sz="2000" b="1" dirty="0">
                <a:solidFill>
                  <a:srgbClr val="0000FF"/>
                </a:solidFill>
                <a:latin typeface="楷体" panose="02010609060101010101" pitchFamily="49" charset="-122"/>
                <a:ea typeface="楷体" panose="02010609060101010101" pitchFamily="49" charset="-122"/>
              </a:rPr>
              <a:t>读者</a:t>
            </a:r>
            <a:r>
              <a:rPr lang="zh-CN" altLang="en-US" sz="2000" b="1" dirty="0" smtClean="0">
                <a:solidFill>
                  <a:srgbClr val="0000FF"/>
                </a:solidFill>
                <a:latin typeface="楷体" panose="02010609060101010101" pitchFamily="49" charset="-122"/>
                <a:ea typeface="楷体" panose="02010609060101010101" pitchFamily="49" charset="-122"/>
              </a:rPr>
              <a:t>进程</a:t>
            </a:r>
            <a:endParaRPr lang="zh-CN" altLang="en-US" sz="2000" b="1" dirty="0">
              <a:solidFill>
                <a:srgbClr val="0000FF"/>
              </a:solidFill>
              <a:latin typeface="楷体" panose="02010609060101010101" pitchFamily="49" charset="-122"/>
              <a:ea typeface="楷体" panose="02010609060101010101" pitchFamily="49" charset="-122"/>
            </a:endParaRPr>
          </a:p>
        </p:txBody>
      </p:sp>
      <p:sp>
        <p:nvSpPr>
          <p:cNvPr id="11" name="TextBox 10"/>
          <p:cNvSpPr txBox="1"/>
          <p:nvPr/>
        </p:nvSpPr>
        <p:spPr>
          <a:xfrm>
            <a:off x="827584" y="3316922"/>
            <a:ext cx="2592288" cy="1631216"/>
          </a:xfrm>
          <a:prstGeom prst="rect">
            <a:avLst/>
          </a:prstGeom>
          <a:noFill/>
          <a:ln>
            <a:solidFill>
              <a:srgbClr val="0000FF"/>
            </a:solidFill>
          </a:ln>
        </p:spPr>
        <p:txBody>
          <a:bodyPr wrap="square" rtlCol="0">
            <a:spAutoFit/>
          </a:bodyPr>
          <a:lstStyle/>
          <a:p>
            <a:r>
              <a:rPr lang="en-US" altLang="zh-CN" sz="2000" b="1" dirty="0" smtClean="0"/>
              <a:t>While (TRUE) {</a:t>
            </a:r>
          </a:p>
          <a:p>
            <a:r>
              <a:rPr lang="en-US" altLang="zh-CN" sz="2000" b="1" dirty="0" smtClean="0"/>
              <a:t>      P(</a:t>
            </a:r>
            <a:r>
              <a:rPr lang="en-US" altLang="zh-CN" sz="2000" b="1" dirty="0" err="1" smtClean="0"/>
              <a:t>Wmutex</a:t>
            </a:r>
            <a:r>
              <a:rPr lang="en-US" altLang="zh-CN" sz="2000" b="1" dirty="0" smtClean="0"/>
              <a:t>);</a:t>
            </a:r>
          </a:p>
          <a:p>
            <a:r>
              <a:rPr lang="en-US" altLang="zh-CN" sz="2000" b="1" dirty="0" smtClean="0"/>
              <a:t>      Write;</a:t>
            </a:r>
          </a:p>
          <a:p>
            <a:r>
              <a:rPr lang="en-US" altLang="zh-CN" sz="2000" b="1" dirty="0" smtClean="0"/>
              <a:t>      V(</a:t>
            </a:r>
            <a:r>
              <a:rPr lang="en-US" altLang="zh-CN" sz="2000" b="1" dirty="0" err="1" smtClean="0"/>
              <a:t>Wmutex</a:t>
            </a:r>
            <a:r>
              <a:rPr lang="en-US" altLang="zh-CN" sz="2000" b="1" dirty="0" smtClean="0"/>
              <a:t>);</a:t>
            </a:r>
          </a:p>
          <a:p>
            <a:r>
              <a:rPr lang="en-US" altLang="zh-CN" sz="2000" b="1" dirty="0"/>
              <a:t>}</a:t>
            </a:r>
            <a:r>
              <a:rPr lang="en-US" altLang="zh-CN" sz="2000" b="1" dirty="0" smtClean="0"/>
              <a:t>  </a:t>
            </a:r>
            <a:endParaRPr lang="zh-CN" altLang="en-US" sz="2000" b="1" dirty="0"/>
          </a:p>
        </p:txBody>
      </p:sp>
      <p:sp>
        <p:nvSpPr>
          <p:cNvPr id="12" name="TextBox 11"/>
          <p:cNvSpPr txBox="1"/>
          <p:nvPr/>
        </p:nvSpPr>
        <p:spPr>
          <a:xfrm>
            <a:off x="4942657" y="2276872"/>
            <a:ext cx="3301751" cy="4247317"/>
          </a:xfrm>
          <a:prstGeom prst="rect">
            <a:avLst/>
          </a:prstGeom>
          <a:noFill/>
          <a:ln>
            <a:solidFill>
              <a:srgbClr val="0000FF"/>
            </a:solidFill>
          </a:ln>
        </p:spPr>
        <p:txBody>
          <a:bodyPr wrap="square" rtlCol="0">
            <a:spAutoFit/>
          </a:bodyPr>
          <a:lstStyle/>
          <a:p>
            <a:r>
              <a:rPr lang="en-US" altLang="zh-CN" b="1" dirty="0" smtClean="0"/>
              <a:t>While (TRUE) {</a:t>
            </a:r>
          </a:p>
          <a:p>
            <a:pPr lvl="1"/>
            <a:r>
              <a:rPr lang="en-US" altLang="zh-CN" b="1" dirty="0" smtClean="0">
                <a:solidFill>
                  <a:srgbClr val="0000FF"/>
                </a:solidFill>
              </a:rPr>
              <a:t>P(</a:t>
            </a:r>
            <a:r>
              <a:rPr lang="en-US" altLang="zh-CN" b="1" dirty="0" err="1" smtClean="0">
                <a:solidFill>
                  <a:srgbClr val="0000FF"/>
                </a:solidFill>
              </a:rPr>
              <a:t>Rmutex</a:t>
            </a:r>
            <a:r>
              <a:rPr lang="en-US" altLang="zh-CN" b="1" dirty="0" smtClean="0">
                <a:solidFill>
                  <a:srgbClr val="0000FF"/>
                </a:solidFill>
              </a:rPr>
              <a:t>);</a:t>
            </a:r>
          </a:p>
          <a:p>
            <a:pPr lvl="1"/>
            <a:r>
              <a:rPr lang="en-US" altLang="zh-CN" b="1" dirty="0" smtClean="0"/>
              <a:t>if (</a:t>
            </a:r>
            <a:r>
              <a:rPr lang="en-US" altLang="zh-CN" b="1" dirty="0" err="1" smtClean="0"/>
              <a:t>Rcount</a:t>
            </a:r>
            <a:r>
              <a:rPr lang="en-US" altLang="zh-CN" b="1" dirty="0" smtClean="0"/>
              <a:t> == 0)</a:t>
            </a:r>
          </a:p>
          <a:p>
            <a:pPr lvl="1"/>
            <a:r>
              <a:rPr lang="en-US" altLang="zh-CN" b="1" dirty="0" smtClean="0"/>
              <a:t>      </a:t>
            </a:r>
            <a:r>
              <a:rPr lang="en-US" altLang="zh-CN" b="1" dirty="0" smtClean="0">
                <a:solidFill>
                  <a:srgbClr val="FF0000"/>
                </a:solidFill>
              </a:rPr>
              <a:t>P(</a:t>
            </a:r>
            <a:r>
              <a:rPr lang="en-US" altLang="zh-CN" b="1" dirty="0" err="1" smtClean="0">
                <a:solidFill>
                  <a:srgbClr val="FF0000"/>
                </a:solidFill>
              </a:rPr>
              <a:t>Wmutex</a:t>
            </a:r>
            <a:r>
              <a:rPr lang="en-US" altLang="zh-CN" b="1" dirty="0" smtClean="0">
                <a:solidFill>
                  <a:srgbClr val="FF0000"/>
                </a:solidFill>
              </a:rPr>
              <a:t>);</a:t>
            </a:r>
          </a:p>
          <a:p>
            <a:pPr lvl="1"/>
            <a:r>
              <a:rPr lang="en-US" altLang="zh-CN" b="1" dirty="0" smtClean="0"/>
              <a:t>++</a:t>
            </a:r>
            <a:r>
              <a:rPr lang="en-US" altLang="zh-CN" b="1" dirty="0" err="1" smtClean="0"/>
              <a:t>Rcount</a:t>
            </a:r>
            <a:r>
              <a:rPr lang="en-US" altLang="zh-CN" b="1" dirty="0" smtClean="0"/>
              <a:t>;</a:t>
            </a:r>
          </a:p>
          <a:p>
            <a:pPr lvl="1"/>
            <a:r>
              <a:rPr lang="en-US" altLang="zh-CN" b="1" dirty="0" smtClean="0">
                <a:solidFill>
                  <a:srgbClr val="0000FF"/>
                </a:solidFill>
              </a:rPr>
              <a:t>V(</a:t>
            </a:r>
            <a:r>
              <a:rPr lang="en-US" altLang="zh-CN" b="1" dirty="0" err="1" smtClean="0">
                <a:solidFill>
                  <a:srgbClr val="0000FF"/>
                </a:solidFill>
              </a:rPr>
              <a:t>Rmutex</a:t>
            </a:r>
            <a:r>
              <a:rPr lang="en-US" altLang="zh-CN" b="1" dirty="0" smtClean="0">
                <a:solidFill>
                  <a:srgbClr val="0000FF"/>
                </a:solidFill>
              </a:rPr>
              <a:t>);</a:t>
            </a:r>
          </a:p>
          <a:p>
            <a:pPr lvl="1"/>
            <a:endParaRPr lang="en-US" altLang="zh-CN" b="1" dirty="0" smtClean="0">
              <a:solidFill>
                <a:srgbClr val="0000FF"/>
              </a:solidFill>
            </a:endParaRPr>
          </a:p>
          <a:p>
            <a:pPr lvl="1"/>
            <a:r>
              <a:rPr lang="en-US" altLang="zh-CN" b="1" dirty="0" smtClean="0"/>
              <a:t>Read;</a:t>
            </a:r>
          </a:p>
          <a:p>
            <a:pPr lvl="1"/>
            <a:endParaRPr lang="en-US" altLang="zh-CN" b="1" dirty="0" smtClean="0"/>
          </a:p>
          <a:p>
            <a:pPr lvl="1"/>
            <a:r>
              <a:rPr lang="en-US" altLang="zh-CN" b="1" dirty="0" smtClean="0">
                <a:solidFill>
                  <a:srgbClr val="0000FF"/>
                </a:solidFill>
              </a:rPr>
              <a:t>P(</a:t>
            </a:r>
            <a:r>
              <a:rPr lang="en-US" altLang="zh-CN" b="1" dirty="0" err="1" smtClean="0">
                <a:solidFill>
                  <a:srgbClr val="0000FF"/>
                </a:solidFill>
              </a:rPr>
              <a:t>Rmutex</a:t>
            </a:r>
            <a:r>
              <a:rPr lang="en-US" altLang="zh-CN" b="1" dirty="0" smtClean="0">
                <a:solidFill>
                  <a:srgbClr val="0000FF"/>
                </a:solidFill>
              </a:rPr>
              <a:t>);</a:t>
            </a:r>
          </a:p>
          <a:p>
            <a:pPr lvl="1"/>
            <a:r>
              <a:rPr lang="en-US" altLang="zh-CN" b="1" dirty="0" smtClean="0"/>
              <a:t>If (</a:t>
            </a:r>
            <a:r>
              <a:rPr lang="en-US" altLang="zh-CN" b="1" dirty="0" err="1" smtClean="0"/>
              <a:t>Rcount</a:t>
            </a:r>
            <a:r>
              <a:rPr lang="en-US" altLang="zh-CN" b="1" dirty="0" smtClean="0"/>
              <a:t> == 1)</a:t>
            </a:r>
          </a:p>
          <a:p>
            <a:pPr lvl="1"/>
            <a:r>
              <a:rPr lang="en-US" altLang="zh-CN" b="1" dirty="0"/>
              <a:t> </a:t>
            </a:r>
            <a:r>
              <a:rPr lang="en-US" altLang="zh-CN" b="1" dirty="0" smtClean="0"/>
              <a:t>     </a:t>
            </a:r>
            <a:r>
              <a:rPr lang="en-US" altLang="zh-CN" b="1" dirty="0" smtClean="0">
                <a:solidFill>
                  <a:srgbClr val="FF0000"/>
                </a:solidFill>
              </a:rPr>
              <a:t>V(</a:t>
            </a:r>
            <a:r>
              <a:rPr lang="en-US" altLang="zh-CN" b="1" dirty="0" err="1" smtClean="0">
                <a:solidFill>
                  <a:srgbClr val="FF0000"/>
                </a:solidFill>
              </a:rPr>
              <a:t>Wmutex</a:t>
            </a:r>
            <a:r>
              <a:rPr lang="en-US" altLang="zh-CN" b="1" dirty="0" smtClean="0">
                <a:solidFill>
                  <a:srgbClr val="FF0000"/>
                </a:solidFill>
              </a:rPr>
              <a:t>);</a:t>
            </a:r>
          </a:p>
          <a:p>
            <a:pPr lvl="1"/>
            <a:r>
              <a:rPr lang="en-US" altLang="zh-CN" b="1" dirty="0" smtClean="0"/>
              <a:t>--</a:t>
            </a:r>
            <a:r>
              <a:rPr lang="en-US" altLang="zh-CN" b="1" dirty="0" err="1" smtClean="0"/>
              <a:t>Rcount</a:t>
            </a:r>
            <a:r>
              <a:rPr lang="en-US" altLang="zh-CN" b="1" dirty="0" smtClean="0"/>
              <a:t>;</a:t>
            </a:r>
          </a:p>
          <a:p>
            <a:pPr lvl="1"/>
            <a:r>
              <a:rPr lang="en-US" altLang="zh-CN" b="1" dirty="0" smtClean="0">
                <a:solidFill>
                  <a:srgbClr val="0000FF"/>
                </a:solidFill>
              </a:rPr>
              <a:t>V(</a:t>
            </a:r>
            <a:r>
              <a:rPr lang="en-US" altLang="zh-CN" b="1" dirty="0" err="1" smtClean="0">
                <a:solidFill>
                  <a:srgbClr val="0000FF"/>
                </a:solidFill>
              </a:rPr>
              <a:t>Rmutex</a:t>
            </a:r>
            <a:r>
              <a:rPr lang="en-US" altLang="zh-CN" b="1" dirty="0" smtClean="0">
                <a:solidFill>
                  <a:srgbClr val="0000FF"/>
                </a:solidFill>
              </a:rPr>
              <a:t>);</a:t>
            </a:r>
          </a:p>
          <a:p>
            <a:r>
              <a:rPr lang="en-US" altLang="zh-CN" b="1" dirty="0" smtClean="0"/>
              <a:t>}</a:t>
            </a:r>
            <a:endParaRPr lang="zh-CN" altLang="en-US" b="1" dirty="0"/>
          </a:p>
        </p:txBody>
      </p:sp>
    </p:spTree>
    <p:extLst>
      <p:ext uri="{BB962C8B-B14F-4D97-AF65-F5344CB8AC3E}">
        <p14:creationId xmlns:p14="http://schemas.microsoft.com/office/powerpoint/2010/main" val="219089818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读者</a:t>
            </a:r>
            <a:r>
              <a:rPr lang="en-US" altLang="zh-CN" dirty="0"/>
              <a:t>-</a:t>
            </a:r>
            <a:r>
              <a:rPr lang="zh-CN" altLang="en-US" dirty="0"/>
              <a:t>写者问题</a:t>
            </a:r>
          </a:p>
        </p:txBody>
      </p:sp>
      <p:sp>
        <p:nvSpPr>
          <p:cNvPr id="3" name="Content Placeholder 2"/>
          <p:cNvSpPr>
            <a:spLocks noGrp="1"/>
          </p:cNvSpPr>
          <p:nvPr>
            <p:ph idx="1"/>
          </p:nvPr>
        </p:nvSpPr>
        <p:spPr/>
        <p:txBody>
          <a:bodyPr/>
          <a:lstStyle/>
          <a:p>
            <a:r>
              <a:rPr lang="zh-CN" altLang="en-US" dirty="0"/>
              <a:t>使</a:t>
            </a:r>
            <a:r>
              <a:rPr lang="zh-CN" altLang="en-US" dirty="0" smtClean="0"/>
              <a:t>用一般信号量集的解决办法</a:t>
            </a:r>
            <a:endParaRPr lang="en-US" altLang="zh-CN" dirty="0" smtClean="0"/>
          </a:p>
          <a:p>
            <a:pPr lvl="1"/>
            <a:r>
              <a:rPr lang="zh-CN" altLang="en-US" dirty="0"/>
              <a:t>增</a:t>
            </a:r>
            <a:r>
              <a:rPr lang="zh-CN" altLang="en-US" dirty="0" smtClean="0"/>
              <a:t>加一个限制，最多允许</a:t>
            </a:r>
            <a:r>
              <a:rPr lang="en-US" altLang="zh-CN" dirty="0" smtClean="0"/>
              <a:t>N</a:t>
            </a:r>
            <a:r>
              <a:rPr lang="zh-CN" altLang="en-US" dirty="0"/>
              <a:t>个</a:t>
            </a:r>
            <a:r>
              <a:rPr lang="zh-CN" altLang="en-US" dirty="0" smtClean="0"/>
              <a:t>读者进入，引入信号量</a:t>
            </a:r>
            <a:r>
              <a:rPr lang="en-US" altLang="zh-CN" dirty="0" smtClean="0"/>
              <a:t>L</a:t>
            </a:r>
            <a:r>
              <a:rPr lang="zh-CN" altLang="en-US" dirty="0" smtClean="0"/>
              <a:t>，其初始值为</a:t>
            </a:r>
            <a:r>
              <a:rPr lang="en-US" altLang="zh-CN" dirty="0" smtClean="0"/>
              <a:t>N</a:t>
            </a:r>
            <a:endParaRPr lang="zh-CN" altLang="en-US" dirty="0"/>
          </a:p>
        </p:txBody>
      </p:sp>
      <p:sp>
        <p:nvSpPr>
          <p:cNvPr id="4" name="Date Placeholder 3"/>
          <p:cNvSpPr>
            <a:spLocks noGrp="1"/>
          </p:cNvSpPr>
          <p:nvPr>
            <p:ph type="dt" sz="half" idx="10"/>
          </p:nvPr>
        </p:nvSpPr>
        <p:spPr/>
        <p:txBody>
          <a:bodyPr/>
          <a:lstStyle/>
          <a:p>
            <a:fld id="{A9B0D259-4584-44F5-B9FD-2A455326753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99</a:t>
            </a:fld>
            <a:endParaRPr lang="zh-CN" altLang="en-US" dirty="0"/>
          </a:p>
        </p:txBody>
      </p:sp>
      <p:grpSp>
        <p:nvGrpSpPr>
          <p:cNvPr id="7" name="Group 8"/>
          <p:cNvGrpSpPr>
            <a:grpSpLocks/>
          </p:cNvGrpSpPr>
          <p:nvPr/>
        </p:nvGrpSpPr>
        <p:grpSpPr bwMode="auto">
          <a:xfrm>
            <a:off x="683568" y="2996952"/>
            <a:ext cx="3600450" cy="2736850"/>
            <a:chOff x="476" y="2341"/>
            <a:chExt cx="2268" cy="1724"/>
          </a:xfrm>
        </p:grpSpPr>
        <p:sp>
          <p:nvSpPr>
            <p:cNvPr id="8" name="Text Box 4"/>
            <p:cNvSpPr txBox="1">
              <a:spLocks noChangeArrowheads="1"/>
            </p:cNvSpPr>
            <p:nvPr/>
          </p:nvSpPr>
          <p:spPr bwMode="auto">
            <a:xfrm>
              <a:off x="476" y="2341"/>
              <a:ext cx="2268" cy="1059"/>
            </a:xfrm>
            <a:prstGeom prst="rect">
              <a:avLst/>
            </a:prstGeom>
            <a:solidFill>
              <a:srgbClr val="FFFF00"/>
            </a:solidFill>
            <a:ln w="9525">
              <a:solidFill>
                <a:srgbClr val="FF0000"/>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zh-CN" altLang="en-US" b="1" dirty="0">
                  <a:latin typeface="+mn-lt"/>
                  <a:ea typeface="楷体" panose="02010609060101010101" pitchFamily="49" charset="-122"/>
                </a:rPr>
                <a:t>读者：</a:t>
              </a:r>
            </a:p>
            <a:p>
              <a:pPr eaLnBrk="1" hangingPunct="1">
                <a:spcBef>
                  <a:spcPct val="10000"/>
                </a:spcBef>
              </a:pP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SP(L,1,1; </a:t>
              </a:r>
              <a:r>
                <a:rPr lang="en-US" altLang="zh-CN" b="1" dirty="0" smtClean="0">
                  <a:latin typeface="+mn-lt"/>
                  <a:ea typeface="楷体" panose="02010609060101010101" pitchFamily="49" charset="-122"/>
                </a:rPr>
                <a:t>Wmutex,1,0</a:t>
              </a:r>
              <a:r>
                <a:rPr lang="en-US" altLang="zh-CN" b="1" dirty="0">
                  <a:latin typeface="+mn-lt"/>
                  <a:ea typeface="楷体" panose="02010609060101010101" pitchFamily="49" charset="-122"/>
                </a:rPr>
                <a:t>)</a:t>
              </a:r>
            </a:p>
            <a:p>
              <a:pPr eaLnBrk="1" hangingPunct="1">
                <a:spcBef>
                  <a:spcPct val="10000"/>
                </a:spcBef>
              </a:pPr>
              <a:r>
                <a:rPr lang="en-US" altLang="zh-CN" b="1" dirty="0">
                  <a:latin typeface="+mn-lt"/>
                  <a:ea typeface="楷体" panose="02010609060101010101" pitchFamily="49" charset="-122"/>
                </a:rPr>
                <a:t>    read</a:t>
              </a:r>
              <a:endParaRPr lang="en-US" altLang="zh-CN" b="1" dirty="0">
                <a:latin typeface="+mn-lt"/>
                <a:ea typeface="楷体" panose="02010609060101010101" pitchFamily="49" charset="-122"/>
                <a:sym typeface="Symbol" panose="05050102010706020507" pitchFamily="18" charset="2"/>
              </a:endParaRPr>
            </a:p>
            <a:p>
              <a:pPr eaLnBrk="1" hangingPunct="1">
                <a:spcBef>
                  <a:spcPct val="10000"/>
                </a:spcBef>
              </a:pPr>
              <a:r>
                <a:rPr lang="en-US" altLang="zh-CN" b="1" dirty="0">
                  <a:latin typeface="+mn-lt"/>
                  <a:ea typeface="楷体" panose="02010609060101010101" pitchFamily="49" charset="-122"/>
                  <a:sym typeface="Symbol" panose="05050102010706020507" pitchFamily="18" charset="2"/>
                </a:rPr>
                <a:t>    SV(L,1)</a:t>
              </a:r>
            </a:p>
          </p:txBody>
        </p:sp>
        <p:pic>
          <p:nvPicPr>
            <p:cNvPr id="9" name="Picture 6" descr="RE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4" y="3294"/>
              <a:ext cx="555" cy="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9"/>
          <p:cNvGrpSpPr>
            <a:grpSpLocks/>
          </p:cNvGrpSpPr>
          <p:nvPr/>
        </p:nvGrpSpPr>
        <p:grpSpPr bwMode="auto">
          <a:xfrm>
            <a:off x="4717406" y="2996952"/>
            <a:ext cx="3797300" cy="2733675"/>
            <a:chOff x="3017" y="2341"/>
            <a:chExt cx="2392" cy="1722"/>
          </a:xfrm>
        </p:grpSpPr>
        <p:sp>
          <p:nvSpPr>
            <p:cNvPr id="11" name="Text Box 5"/>
            <p:cNvSpPr txBox="1">
              <a:spLocks noChangeArrowheads="1"/>
            </p:cNvSpPr>
            <p:nvPr/>
          </p:nvSpPr>
          <p:spPr bwMode="auto">
            <a:xfrm>
              <a:off x="3017" y="2341"/>
              <a:ext cx="2312" cy="1059"/>
            </a:xfrm>
            <a:prstGeom prst="rect">
              <a:avLst/>
            </a:prstGeom>
            <a:solidFill>
              <a:srgbClr val="FFCCFF"/>
            </a:solidFill>
            <a:ln w="9525">
              <a:solidFill>
                <a:srgbClr val="FF0000"/>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zh-CN" altLang="en-US" b="1" dirty="0">
                  <a:latin typeface="+mn-lt"/>
                  <a:ea typeface="楷体" panose="02010609060101010101" pitchFamily="49" charset="-122"/>
                </a:rPr>
                <a:t>写者：</a:t>
              </a:r>
            </a:p>
            <a:p>
              <a:pPr eaLnBrk="1" hangingPunct="1">
                <a:spcBef>
                  <a:spcPct val="10000"/>
                </a:spcBef>
              </a:pPr>
              <a:r>
                <a:rPr lang="zh-CN" altLang="en-US" b="1" dirty="0">
                  <a:latin typeface="+mn-lt"/>
                  <a:ea typeface="楷体" panose="02010609060101010101" pitchFamily="49" charset="-122"/>
                </a:rPr>
                <a:t>    </a:t>
              </a:r>
              <a:r>
                <a:rPr lang="en-US" altLang="zh-CN" b="1" dirty="0" smtClean="0">
                  <a:latin typeface="+mn-lt"/>
                  <a:ea typeface="楷体" panose="02010609060101010101" pitchFamily="49" charset="-122"/>
                </a:rPr>
                <a:t>SP(Wmutex,1,1</a:t>
              </a:r>
              <a:r>
                <a:rPr lang="en-US" altLang="zh-CN" b="1" dirty="0">
                  <a:latin typeface="+mn-lt"/>
                  <a:ea typeface="楷体" panose="02010609060101010101" pitchFamily="49" charset="-122"/>
                </a:rPr>
                <a:t>; </a:t>
              </a:r>
              <a:r>
                <a:rPr lang="en-US" altLang="zh-CN" b="1" dirty="0" smtClean="0">
                  <a:latin typeface="+mn-lt"/>
                  <a:ea typeface="楷体" panose="02010609060101010101" pitchFamily="49" charset="-122"/>
                </a:rPr>
                <a:t>L,N,0</a:t>
              </a:r>
              <a:r>
                <a:rPr lang="en-US" altLang="zh-CN" b="1" dirty="0">
                  <a:latin typeface="+mn-lt"/>
                  <a:ea typeface="楷体" panose="02010609060101010101" pitchFamily="49" charset="-122"/>
                </a:rPr>
                <a:t>)</a:t>
              </a:r>
            </a:p>
            <a:p>
              <a:pPr eaLnBrk="1" hangingPunct="1">
                <a:spcBef>
                  <a:spcPct val="10000"/>
                </a:spcBef>
              </a:pPr>
              <a:r>
                <a:rPr lang="en-US" altLang="zh-CN" b="1" dirty="0">
                  <a:latin typeface="+mn-lt"/>
                  <a:ea typeface="楷体" panose="02010609060101010101" pitchFamily="49" charset="-122"/>
                </a:rPr>
                <a:t>    write</a:t>
              </a:r>
              <a:endParaRPr lang="en-US" altLang="zh-CN" b="1" dirty="0">
                <a:latin typeface="+mn-lt"/>
                <a:ea typeface="楷体" panose="02010609060101010101" pitchFamily="49" charset="-122"/>
                <a:sym typeface="Symbol" panose="05050102010706020507" pitchFamily="18" charset="2"/>
              </a:endParaRPr>
            </a:p>
            <a:p>
              <a:pPr eaLnBrk="1" hangingPunct="1">
                <a:spcBef>
                  <a:spcPct val="10000"/>
                </a:spcBef>
              </a:pPr>
              <a:r>
                <a:rPr lang="en-US" altLang="zh-CN" b="1" dirty="0">
                  <a:latin typeface="+mn-lt"/>
                  <a:ea typeface="楷体" panose="02010609060101010101" pitchFamily="49" charset="-122"/>
                  <a:sym typeface="Symbol" panose="05050102010706020507" pitchFamily="18" charset="2"/>
                </a:rPr>
                <a:t>    </a:t>
              </a:r>
              <a:r>
                <a:rPr lang="en-US" altLang="zh-CN" b="1" dirty="0" smtClean="0">
                  <a:latin typeface="+mn-lt"/>
                  <a:ea typeface="楷体" panose="02010609060101010101" pitchFamily="49" charset="-122"/>
                  <a:sym typeface="Symbol" panose="05050102010706020507" pitchFamily="18" charset="2"/>
                </a:rPr>
                <a:t>SV(</a:t>
              </a:r>
              <a:r>
                <a:rPr lang="en-US" altLang="zh-CN" b="1" dirty="0" smtClean="0">
                  <a:latin typeface="+mn-lt"/>
                  <a:ea typeface="楷体" panose="02010609060101010101" pitchFamily="49" charset="-122"/>
                </a:rPr>
                <a:t>Wmutex</a:t>
              </a:r>
              <a:r>
                <a:rPr lang="en-US" altLang="zh-CN" b="1" dirty="0" smtClean="0">
                  <a:latin typeface="+mn-lt"/>
                  <a:ea typeface="楷体" panose="02010609060101010101" pitchFamily="49" charset="-122"/>
                  <a:sym typeface="Symbol" panose="05050102010706020507" pitchFamily="18" charset="2"/>
                </a:rPr>
                <a:t>,1</a:t>
              </a:r>
              <a:r>
                <a:rPr lang="en-US" altLang="zh-CN" b="1" dirty="0">
                  <a:latin typeface="+mn-lt"/>
                  <a:ea typeface="楷体" panose="02010609060101010101" pitchFamily="49" charset="-122"/>
                  <a:sym typeface="Symbol" panose="05050102010706020507" pitchFamily="18" charset="2"/>
                </a:rPr>
                <a:t>)</a:t>
              </a:r>
            </a:p>
          </p:txBody>
        </p:sp>
        <p:pic>
          <p:nvPicPr>
            <p:cNvPr id="12" name="Picture 7" descr="WR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5" y="3294"/>
              <a:ext cx="624"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6099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内容概述</a:t>
            </a:r>
            <a:endParaRPr lang="zh-CN" altLang="en-US" dirty="0"/>
          </a:p>
        </p:txBody>
      </p:sp>
      <p:sp>
        <p:nvSpPr>
          <p:cNvPr id="3" name="内容占位符 2"/>
          <p:cNvSpPr>
            <a:spLocks noGrp="1"/>
          </p:cNvSpPr>
          <p:nvPr>
            <p:ph idx="1"/>
          </p:nvPr>
        </p:nvSpPr>
        <p:spPr/>
        <p:txBody>
          <a:bodyPr>
            <a:normAutofit/>
          </a:bodyPr>
          <a:lstStyle/>
          <a:p>
            <a:r>
              <a:rPr lang="zh-CN" altLang="en-US" dirty="0">
                <a:solidFill>
                  <a:schemeClr val="bg1">
                    <a:lumMod val="75000"/>
                  </a:schemeClr>
                </a:solidFill>
              </a:rPr>
              <a:t>进程间关系概述</a:t>
            </a:r>
            <a:endParaRPr lang="en-US" altLang="zh-CN" dirty="0">
              <a:solidFill>
                <a:schemeClr val="bg1">
                  <a:lumMod val="75000"/>
                </a:schemeClr>
              </a:solidFill>
            </a:endParaRPr>
          </a:p>
          <a:p>
            <a:r>
              <a:rPr lang="zh-CN" altLang="en-US" dirty="0">
                <a:solidFill>
                  <a:schemeClr val="bg1">
                    <a:lumMod val="75000"/>
                  </a:schemeClr>
                </a:solidFill>
              </a:rPr>
              <a:t>互斥问题及其解决办法</a:t>
            </a:r>
            <a:endParaRPr lang="en-US" altLang="zh-CN" dirty="0">
              <a:solidFill>
                <a:schemeClr val="bg1">
                  <a:lumMod val="75000"/>
                </a:schemeClr>
              </a:solidFill>
            </a:endParaRPr>
          </a:p>
          <a:p>
            <a:r>
              <a:rPr lang="zh-CN" altLang="en-US" dirty="0">
                <a:solidFill>
                  <a:schemeClr val="bg1">
                    <a:lumMod val="75000"/>
                  </a:schemeClr>
                </a:solidFill>
              </a:rPr>
              <a:t>信号量</a:t>
            </a:r>
            <a:endParaRPr lang="en-US" altLang="zh-CN" dirty="0">
              <a:solidFill>
                <a:schemeClr val="bg1">
                  <a:lumMod val="75000"/>
                </a:schemeClr>
              </a:solidFill>
            </a:endParaRPr>
          </a:p>
          <a:p>
            <a:r>
              <a:rPr lang="zh-CN" altLang="en-US" dirty="0" smtClean="0">
                <a:solidFill>
                  <a:srgbClr val="FF3300"/>
                </a:solidFill>
              </a:rPr>
              <a:t>管程</a:t>
            </a:r>
            <a:r>
              <a:rPr lang="en-US" altLang="zh-CN" dirty="0" smtClean="0">
                <a:solidFill>
                  <a:srgbClr val="FF3300"/>
                </a:solidFill>
              </a:rPr>
              <a:t>——</a:t>
            </a:r>
            <a:r>
              <a:rPr lang="zh-CN" altLang="en-US" dirty="0" smtClean="0">
                <a:solidFill>
                  <a:srgbClr val="FF3300"/>
                </a:solidFill>
              </a:rPr>
              <a:t>解决互斥与同步问题的新方法</a:t>
            </a:r>
            <a:endParaRPr lang="en-US" altLang="zh-CN" dirty="0">
              <a:solidFill>
                <a:srgbClr val="FF3300"/>
              </a:solidFill>
            </a:endParaRPr>
          </a:p>
        </p:txBody>
      </p:sp>
      <p:sp>
        <p:nvSpPr>
          <p:cNvPr id="4" name="日期占位符 3"/>
          <p:cNvSpPr>
            <a:spLocks noGrp="1"/>
          </p:cNvSpPr>
          <p:nvPr>
            <p:ph type="dt" sz="half" idx="10"/>
          </p:nvPr>
        </p:nvSpPr>
        <p:spPr/>
        <p:txBody>
          <a:bodyPr/>
          <a:lstStyle/>
          <a:p>
            <a:fld id="{58EDE0B7-4182-4D3E-889B-B0B17D687450}" type="datetime1">
              <a:rPr lang="zh-CN" altLang="en-US" smtClean="0"/>
              <a:pPr/>
              <a:t>2018/8/3</a:t>
            </a:fld>
            <a:endParaRPr lang="zh-CN" altLang="en-US" dirty="0"/>
          </a:p>
        </p:txBody>
      </p:sp>
      <p:sp>
        <p:nvSpPr>
          <p:cNvPr id="5" name="页脚占位符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灯片编号占位符 5"/>
          <p:cNvSpPr>
            <a:spLocks noGrp="1"/>
          </p:cNvSpPr>
          <p:nvPr>
            <p:ph type="sldNum" sz="quarter" idx="12"/>
          </p:nvPr>
        </p:nvSpPr>
        <p:spPr/>
        <p:txBody>
          <a:bodyPr/>
          <a:lstStyle/>
          <a:p>
            <a:fld id="{EC83B811-08A7-493A-864A-0A97D48BC524}" type="slidenum">
              <a:rPr lang="zh-CN" altLang="en-US" smtClean="0"/>
              <a:pPr/>
              <a:t>100</a:t>
            </a:fld>
            <a:endParaRPr lang="zh-CN" altLang="en-US" dirty="0"/>
          </a:p>
        </p:txBody>
      </p:sp>
    </p:spTree>
    <p:extLst>
      <p:ext uri="{BB962C8B-B14F-4D97-AF65-F5344CB8AC3E}">
        <p14:creationId xmlns:p14="http://schemas.microsoft.com/office/powerpoint/2010/main" val="335302939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信号量实现互斥和同步的问题</a:t>
            </a:r>
            <a:endParaRPr lang="zh-CN" altLang="en-US" dirty="0"/>
          </a:p>
        </p:txBody>
      </p:sp>
      <p:sp>
        <p:nvSpPr>
          <p:cNvPr id="3" name="Content Placeholder 2"/>
          <p:cNvSpPr>
            <a:spLocks noGrp="1"/>
          </p:cNvSpPr>
          <p:nvPr>
            <p:ph idx="1"/>
          </p:nvPr>
        </p:nvSpPr>
        <p:spPr/>
        <p:txBody>
          <a:bodyPr/>
          <a:lstStyle/>
          <a:p>
            <a:r>
              <a:rPr lang="zh-CN" altLang="en-US" dirty="0" smtClean="0"/>
              <a:t>根本问题：</a:t>
            </a:r>
            <a:r>
              <a:rPr lang="zh-CN" altLang="en-US" dirty="0" smtClean="0">
                <a:solidFill>
                  <a:srgbClr val="FF0000"/>
                </a:solidFill>
              </a:rPr>
              <a:t>程序员负担太重，正确性难以保证</a:t>
            </a:r>
            <a:endParaRPr lang="en-US" altLang="zh-CN" dirty="0" smtClean="0">
              <a:solidFill>
                <a:srgbClr val="FF0000"/>
              </a:solidFill>
            </a:endParaRPr>
          </a:p>
          <a:p>
            <a:pPr lvl="1"/>
            <a:endParaRPr lang="en-US" altLang="zh-CN" dirty="0" smtClean="0"/>
          </a:p>
          <a:p>
            <a:pPr lvl="1"/>
            <a:r>
              <a:rPr lang="zh-CN" altLang="en-US" b="1" dirty="0" smtClean="0">
                <a:solidFill>
                  <a:srgbClr val="FF0000"/>
                </a:solidFill>
              </a:rPr>
              <a:t>同步操作分散</a:t>
            </a:r>
            <a:r>
              <a:rPr lang="zh-CN" altLang="en-US" dirty="0" smtClean="0"/>
              <a:t>：</a:t>
            </a:r>
            <a:r>
              <a:rPr lang="zh-CN" altLang="en-US" dirty="0"/>
              <a:t>同步操作分散在各个进程中，使用不</a:t>
            </a:r>
            <a:r>
              <a:rPr lang="zh-CN" altLang="en-US" dirty="0" smtClean="0"/>
              <a:t>当可</a:t>
            </a:r>
            <a:r>
              <a:rPr lang="zh-CN" altLang="en-US" dirty="0"/>
              <a:t>能导致各进程死锁（如</a:t>
            </a:r>
            <a:r>
              <a:rPr lang="en-US" altLang="zh-CN" dirty="0"/>
              <a:t>P</a:t>
            </a:r>
            <a:r>
              <a:rPr lang="zh-CN" altLang="en-US" dirty="0"/>
              <a:t>、</a:t>
            </a:r>
            <a:r>
              <a:rPr lang="en-US" altLang="zh-CN" dirty="0"/>
              <a:t>V</a:t>
            </a:r>
            <a:r>
              <a:rPr lang="zh-CN" altLang="en-US" dirty="0"/>
              <a:t>操作的次序错误、重复或遗</a:t>
            </a:r>
            <a:r>
              <a:rPr lang="zh-CN" altLang="en-US" dirty="0" smtClean="0"/>
              <a:t>漏）</a:t>
            </a:r>
            <a:endParaRPr lang="en-US" altLang="zh-CN" dirty="0" smtClean="0"/>
          </a:p>
          <a:p>
            <a:pPr lvl="1"/>
            <a:endParaRPr lang="en-US" altLang="zh-CN" dirty="0" smtClean="0"/>
          </a:p>
          <a:p>
            <a:pPr lvl="1"/>
            <a:r>
              <a:rPr lang="zh-CN" altLang="en-US" b="1" dirty="0">
                <a:solidFill>
                  <a:srgbClr val="FF0000"/>
                </a:solidFill>
              </a:rPr>
              <a:t>易读性差</a:t>
            </a:r>
            <a:r>
              <a:rPr lang="zh-CN" altLang="en-US" dirty="0"/>
              <a:t>：要了解对于一组共享变量及信号量的操作是否正确，必须通读整个系统或者并发程序</a:t>
            </a:r>
            <a:endParaRPr lang="en-US" altLang="zh-CN" dirty="0"/>
          </a:p>
          <a:p>
            <a:pPr lvl="1"/>
            <a:endParaRPr lang="en-US" altLang="zh-CN" dirty="0"/>
          </a:p>
          <a:p>
            <a:pPr lvl="1"/>
            <a:r>
              <a:rPr lang="zh-CN" altLang="en-US" b="1" dirty="0">
                <a:solidFill>
                  <a:srgbClr val="FF0000"/>
                </a:solidFill>
              </a:rPr>
              <a:t>修改和维护难</a:t>
            </a:r>
            <a:r>
              <a:rPr lang="zh-CN" altLang="en-US" dirty="0"/>
              <a:t>：各模块的独立性差，任一组变量或一段代码的修改都可能影响全局</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8B9CE850-189C-484A-BF7A-8A10F6CC3F3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101</a:t>
            </a:fld>
            <a:endParaRPr lang="zh-CN" altLang="en-US" dirty="0"/>
          </a:p>
        </p:txBody>
      </p:sp>
    </p:spTree>
    <p:extLst>
      <p:ext uri="{BB962C8B-B14F-4D97-AF65-F5344CB8AC3E}">
        <p14:creationId xmlns:p14="http://schemas.microsoft.com/office/powerpoint/2010/main" val="186488655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a:t>
            </a:r>
            <a:r>
              <a:rPr lang="zh-CN" altLang="en-US" dirty="0" smtClean="0"/>
              <a:t>们的期望</a:t>
            </a:r>
            <a:endParaRPr lang="zh-CN" altLang="en-US" dirty="0"/>
          </a:p>
        </p:txBody>
      </p:sp>
      <p:sp>
        <p:nvSpPr>
          <p:cNvPr id="4" name="Date Placeholder 3"/>
          <p:cNvSpPr>
            <a:spLocks noGrp="1"/>
          </p:cNvSpPr>
          <p:nvPr>
            <p:ph type="dt" sz="half" idx="10"/>
          </p:nvPr>
        </p:nvSpPr>
        <p:spPr/>
        <p:txBody>
          <a:bodyPr/>
          <a:lstStyle/>
          <a:p>
            <a:fld id="{0C991988-4E64-4DDF-A378-DF35CB5AB5F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102</a:t>
            </a:fld>
            <a:endParaRPr lang="zh-CN" altLang="en-US" dirty="0"/>
          </a:p>
        </p:txBody>
      </p:sp>
      <p:grpSp>
        <p:nvGrpSpPr>
          <p:cNvPr id="7" name="Group 26"/>
          <p:cNvGrpSpPr>
            <a:grpSpLocks/>
          </p:cNvGrpSpPr>
          <p:nvPr/>
        </p:nvGrpSpPr>
        <p:grpSpPr bwMode="auto">
          <a:xfrm>
            <a:off x="1619672" y="1340768"/>
            <a:ext cx="5699264" cy="2448272"/>
            <a:chOff x="958" y="646"/>
            <a:chExt cx="3946" cy="1769"/>
          </a:xfrm>
        </p:grpSpPr>
        <p:grpSp>
          <p:nvGrpSpPr>
            <p:cNvPr id="8" name="Group 25"/>
            <p:cNvGrpSpPr>
              <a:grpSpLocks/>
            </p:cNvGrpSpPr>
            <p:nvPr/>
          </p:nvGrpSpPr>
          <p:grpSpPr bwMode="auto">
            <a:xfrm>
              <a:off x="958" y="646"/>
              <a:ext cx="1950" cy="1769"/>
              <a:chOff x="657" y="709"/>
              <a:chExt cx="1950" cy="1769"/>
            </a:xfrm>
          </p:grpSpPr>
          <p:sp>
            <p:nvSpPr>
              <p:cNvPr id="20" name="Rectangle 24"/>
              <p:cNvSpPr>
                <a:spLocks noChangeArrowheads="1"/>
              </p:cNvSpPr>
              <p:nvPr/>
            </p:nvSpPr>
            <p:spPr bwMode="auto">
              <a:xfrm>
                <a:off x="657" y="709"/>
                <a:ext cx="1950" cy="1769"/>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p>
            </p:txBody>
          </p:sp>
          <p:grpSp>
            <p:nvGrpSpPr>
              <p:cNvPr id="21" name="Group 3"/>
              <p:cNvGrpSpPr>
                <a:grpSpLocks/>
              </p:cNvGrpSpPr>
              <p:nvPr/>
            </p:nvGrpSpPr>
            <p:grpSpPr bwMode="auto">
              <a:xfrm>
                <a:off x="703" y="709"/>
                <a:ext cx="1598" cy="1626"/>
                <a:chOff x="376" y="1584"/>
                <a:chExt cx="1598" cy="1626"/>
              </a:xfrm>
            </p:grpSpPr>
            <p:sp>
              <p:nvSpPr>
                <p:cNvPr id="22" name="Rectangle 4"/>
                <p:cNvSpPr>
                  <a:spLocks noChangeArrowheads="1"/>
                </p:cNvSpPr>
                <p:nvPr/>
              </p:nvSpPr>
              <p:spPr bwMode="auto">
                <a:xfrm>
                  <a:off x="1107" y="1584"/>
                  <a:ext cx="45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chemeClr val="accent2"/>
                      </a:solidFill>
                    </a:rPr>
                    <a:t>Producer</a:t>
                  </a:r>
                </a:p>
              </p:txBody>
            </p:sp>
            <p:sp>
              <p:nvSpPr>
                <p:cNvPr id="23" name="Rectangle 5"/>
                <p:cNvSpPr>
                  <a:spLocks noChangeArrowheads="1"/>
                </p:cNvSpPr>
                <p:nvPr/>
              </p:nvSpPr>
              <p:spPr bwMode="auto">
                <a:xfrm>
                  <a:off x="376" y="1888"/>
                  <a:ext cx="48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P(empty);</a:t>
                  </a:r>
                  <a:endParaRPr lang="en-US" altLang="zh-CN" sz="1400" b="1"/>
                </a:p>
              </p:txBody>
            </p:sp>
            <p:sp>
              <p:nvSpPr>
                <p:cNvPr id="24" name="Rectangle 6"/>
                <p:cNvSpPr>
                  <a:spLocks noChangeArrowheads="1"/>
                </p:cNvSpPr>
                <p:nvPr/>
              </p:nvSpPr>
              <p:spPr bwMode="auto">
                <a:xfrm>
                  <a:off x="376" y="2175"/>
                  <a:ext cx="48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P(mutex);</a:t>
                  </a:r>
                  <a:endParaRPr lang="en-US" altLang="zh-CN" sz="1400" b="1"/>
                </a:p>
              </p:txBody>
            </p:sp>
            <p:sp>
              <p:nvSpPr>
                <p:cNvPr id="25" name="Rectangle 7"/>
                <p:cNvSpPr>
                  <a:spLocks noChangeArrowheads="1"/>
                </p:cNvSpPr>
                <p:nvPr/>
              </p:nvSpPr>
              <p:spPr bwMode="auto">
                <a:xfrm>
                  <a:off x="1572" y="2175"/>
                  <a:ext cx="40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a:t>
                  </a:r>
                  <a:r>
                    <a:rPr lang="zh-CN" altLang="en-US" sz="1400" b="1">
                      <a:solidFill>
                        <a:srgbClr val="000000"/>
                      </a:solidFill>
                    </a:rPr>
                    <a:t>进入区</a:t>
                  </a:r>
                  <a:endParaRPr lang="zh-CN" altLang="en-US" sz="1400" b="1"/>
                </a:p>
              </p:txBody>
            </p:sp>
            <p:sp>
              <p:nvSpPr>
                <p:cNvPr id="26" name="Rectangle 8"/>
                <p:cNvSpPr>
                  <a:spLocks noChangeArrowheads="1"/>
                </p:cNvSpPr>
                <p:nvPr/>
              </p:nvSpPr>
              <p:spPr bwMode="auto">
                <a:xfrm>
                  <a:off x="376" y="2483"/>
                  <a:ext cx="95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  one unit </a:t>
                  </a:r>
                  <a:r>
                    <a:rPr lang="en-US" altLang="zh-CN" sz="1400" b="1">
                      <a:solidFill>
                        <a:srgbClr val="000000"/>
                      </a:solidFill>
                      <a:sym typeface="Symbol" panose="05050102010706020507" pitchFamily="18" charset="2"/>
                    </a:rPr>
                    <a:t></a:t>
                  </a:r>
                  <a:r>
                    <a:rPr lang="en-US" altLang="zh-CN" sz="1400" b="1">
                      <a:solidFill>
                        <a:srgbClr val="000000"/>
                      </a:solidFill>
                    </a:rPr>
                    <a:t> buffer;</a:t>
                  </a:r>
                  <a:endParaRPr lang="en-US" altLang="zh-CN" sz="1400" b="1"/>
                </a:p>
              </p:txBody>
            </p:sp>
            <p:sp>
              <p:nvSpPr>
                <p:cNvPr id="27" name="Rectangle 9"/>
                <p:cNvSpPr>
                  <a:spLocks noChangeArrowheads="1"/>
                </p:cNvSpPr>
                <p:nvPr/>
              </p:nvSpPr>
              <p:spPr bwMode="auto">
                <a:xfrm>
                  <a:off x="376" y="2786"/>
                  <a:ext cx="4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V(mutex);</a:t>
                  </a:r>
                  <a:endParaRPr lang="en-US" altLang="zh-CN" sz="1400" b="1"/>
                </a:p>
              </p:txBody>
            </p:sp>
            <p:sp>
              <p:nvSpPr>
                <p:cNvPr id="28" name="Rectangle 10"/>
                <p:cNvSpPr>
                  <a:spLocks noChangeArrowheads="1"/>
                </p:cNvSpPr>
                <p:nvPr/>
              </p:nvSpPr>
              <p:spPr bwMode="auto">
                <a:xfrm>
                  <a:off x="376" y="3074"/>
                  <a:ext cx="35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V(full);</a:t>
                  </a:r>
                  <a:endParaRPr lang="en-US" altLang="zh-CN" sz="1400" b="1"/>
                </a:p>
              </p:txBody>
            </p:sp>
            <p:sp>
              <p:nvSpPr>
                <p:cNvPr id="29" name="Rectangle 11"/>
                <p:cNvSpPr>
                  <a:spLocks noChangeArrowheads="1"/>
                </p:cNvSpPr>
                <p:nvPr/>
              </p:nvSpPr>
              <p:spPr bwMode="auto">
                <a:xfrm>
                  <a:off x="1572" y="3074"/>
                  <a:ext cx="40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a:t>
                  </a:r>
                  <a:r>
                    <a:rPr lang="zh-CN" altLang="en-US" sz="1400" b="1">
                      <a:solidFill>
                        <a:srgbClr val="000000"/>
                      </a:solidFill>
                    </a:rPr>
                    <a:t>退出区</a:t>
                  </a:r>
                  <a:endParaRPr lang="zh-CN" altLang="en-US" sz="1400" b="1"/>
                </a:p>
              </p:txBody>
            </p:sp>
          </p:grpSp>
        </p:grpSp>
        <p:grpSp>
          <p:nvGrpSpPr>
            <p:cNvPr id="9" name="Group 23"/>
            <p:cNvGrpSpPr>
              <a:grpSpLocks/>
            </p:cNvGrpSpPr>
            <p:nvPr/>
          </p:nvGrpSpPr>
          <p:grpSpPr bwMode="auto">
            <a:xfrm>
              <a:off x="2908" y="646"/>
              <a:ext cx="1996" cy="1769"/>
              <a:chOff x="3152" y="709"/>
              <a:chExt cx="1996" cy="1769"/>
            </a:xfrm>
          </p:grpSpPr>
          <p:sp>
            <p:nvSpPr>
              <p:cNvPr id="10" name="Rectangle 22"/>
              <p:cNvSpPr>
                <a:spLocks noChangeArrowheads="1"/>
              </p:cNvSpPr>
              <p:nvPr/>
            </p:nvSpPr>
            <p:spPr bwMode="auto">
              <a:xfrm>
                <a:off x="3152" y="709"/>
                <a:ext cx="1996" cy="1769"/>
              </a:xfrm>
              <a:prstGeom prst="rect">
                <a:avLst/>
              </a:prstGeom>
              <a:solidFill>
                <a:srgbClr val="00FFFF"/>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p>
            </p:txBody>
          </p:sp>
          <p:grpSp>
            <p:nvGrpSpPr>
              <p:cNvPr id="11" name="Group 12"/>
              <p:cNvGrpSpPr>
                <a:grpSpLocks/>
              </p:cNvGrpSpPr>
              <p:nvPr/>
            </p:nvGrpSpPr>
            <p:grpSpPr bwMode="auto">
              <a:xfrm>
                <a:off x="3198" y="712"/>
                <a:ext cx="1598" cy="1626"/>
                <a:chOff x="3218" y="1584"/>
                <a:chExt cx="1598" cy="1626"/>
              </a:xfrm>
            </p:grpSpPr>
            <p:sp>
              <p:nvSpPr>
                <p:cNvPr id="12" name="Rectangle 13"/>
                <p:cNvSpPr>
                  <a:spLocks noChangeArrowheads="1"/>
                </p:cNvSpPr>
                <p:nvPr/>
              </p:nvSpPr>
              <p:spPr bwMode="auto">
                <a:xfrm>
                  <a:off x="3985" y="1584"/>
                  <a:ext cx="50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chemeClr val="accent2"/>
                      </a:solidFill>
                    </a:rPr>
                    <a:t>Consumer</a:t>
                  </a:r>
                </a:p>
              </p:txBody>
            </p:sp>
            <p:sp>
              <p:nvSpPr>
                <p:cNvPr id="13" name="Rectangle 14"/>
                <p:cNvSpPr>
                  <a:spLocks noChangeArrowheads="1"/>
                </p:cNvSpPr>
                <p:nvPr/>
              </p:nvSpPr>
              <p:spPr bwMode="auto">
                <a:xfrm>
                  <a:off x="3218" y="1888"/>
                  <a:ext cx="34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P(full);</a:t>
                  </a:r>
                  <a:endParaRPr lang="en-US" altLang="zh-CN" sz="1400" b="1"/>
                </a:p>
              </p:txBody>
            </p:sp>
            <p:sp>
              <p:nvSpPr>
                <p:cNvPr id="14" name="Rectangle 15"/>
                <p:cNvSpPr>
                  <a:spLocks noChangeArrowheads="1"/>
                </p:cNvSpPr>
                <p:nvPr/>
              </p:nvSpPr>
              <p:spPr bwMode="auto">
                <a:xfrm>
                  <a:off x="3218" y="2175"/>
                  <a:ext cx="48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P(mutex);</a:t>
                  </a:r>
                  <a:endParaRPr lang="en-US" altLang="zh-CN" sz="1400" b="1"/>
                </a:p>
              </p:txBody>
            </p:sp>
            <p:sp>
              <p:nvSpPr>
                <p:cNvPr id="15" name="Rectangle 16"/>
                <p:cNvSpPr>
                  <a:spLocks noChangeArrowheads="1"/>
                </p:cNvSpPr>
                <p:nvPr/>
              </p:nvSpPr>
              <p:spPr bwMode="auto">
                <a:xfrm>
                  <a:off x="4414" y="2175"/>
                  <a:ext cx="40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a:t>
                  </a:r>
                  <a:r>
                    <a:rPr lang="zh-CN" altLang="en-US" sz="1400" b="1">
                      <a:solidFill>
                        <a:srgbClr val="000000"/>
                      </a:solidFill>
                    </a:rPr>
                    <a:t>进入区</a:t>
                  </a:r>
                  <a:endParaRPr lang="zh-CN" altLang="en-US" sz="1400" b="1"/>
                </a:p>
              </p:txBody>
            </p:sp>
            <p:sp>
              <p:nvSpPr>
                <p:cNvPr id="16" name="Rectangle 17"/>
                <p:cNvSpPr>
                  <a:spLocks noChangeArrowheads="1"/>
                </p:cNvSpPr>
                <p:nvPr/>
              </p:nvSpPr>
              <p:spPr bwMode="auto">
                <a:xfrm>
                  <a:off x="3218" y="2483"/>
                  <a:ext cx="95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  one unit </a:t>
                  </a:r>
                  <a:r>
                    <a:rPr lang="en-US" altLang="zh-CN" sz="1400" b="1">
                      <a:solidFill>
                        <a:srgbClr val="000000"/>
                      </a:solidFill>
                      <a:sym typeface="Symbol" panose="05050102010706020507" pitchFamily="18" charset="2"/>
                    </a:rPr>
                    <a:t></a:t>
                  </a:r>
                  <a:r>
                    <a:rPr lang="en-US" altLang="zh-CN" sz="1400" b="1">
                      <a:solidFill>
                        <a:srgbClr val="000000"/>
                      </a:solidFill>
                    </a:rPr>
                    <a:t> buffer;</a:t>
                  </a:r>
                  <a:endParaRPr lang="en-US" altLang="zh-CN" sz="1400" b="1"/>
                </a:p>
              </p:txBody>
            </p:sp>
            <p:sp>
              <p:nvSpPr>
                <p:cNvPr id="17" name="Rectangle 18"/>
                <p:cNvSpPr>
                  <a:spLocks noChangeArrowheads="1"/>
                </p:cNvSpPr>
                <p:nvPr/>
              </p:nvSpPr>
              <p:spPr bwMode="auto">
                <a:xfrm>
                  <a:off x="3218" y="2786"/>
                  <a:ext cx="4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V(mutex);</a:t>
                  </a:r>
                  <a:endParaRPr lang="en-US" altLang="zh-CN" sz="1400" b="1"/>
                </a:p>
              </p:txBody>
            </p:sp>
            <p:sp>
              <p:nvSpPr>
                <p:cNvPr id="18" name="Rectangle 19"/>
                <p:cNvSpPr>
                  <a:spLocks noChangeArrowheads="1"/>
                </p:cNvSpPr>
                <p:nvPr/>
              </p:nvSpPr>
              <p:spPr bwMode="auto">
                <a:xfrm>
                  <a:off x="3218" y="3074"/>
                  <a:ext cx="4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V(empty);</a:t>
                  </a:r>
                  <a:endParaRPr lang="en-US" altLang="zh-CN" sz="1400" b="1"/>
                </a:p>
              </p:txBody>
            </p:sp>
            <p:sp>
              <p:nvSpPr>
                <p:cNvPr id="19" name="Rectangle 20"/>
                <p:cNvSpPr>
                  <a:spLocks noChangeArrowheads="1"/>
                </p:cNvSpPr>
                <p:nvPr/>
              </p:nvSpPr>
              <p:spPr bwMode="auto">
                <a:xfrm>
                  <a:off x="4414" y="3074"/>
                  <a:ext cx="40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solidFill>
                        <a:srgbClr val="000000"/>
                      </a:solidFill>
                    </a:rPr>
                    <a:t>//</a:t>
                  </a:r>
                  <a:r>
                    <a:rPr lang="zh-CN" altLang="en-US" sz="1400" b="1">
                      <a:solidFill>
                        <a:srgbClr val="000000"/>
                      </a:solidFill>
                    </a:rPr>
                    <a:t>退出区</a:t>
                  </a:r>
                  <a:endParaRPr lang="zh-CN" altLang="en-US" sz="1400" b="1"/>
                </a:p>
              </p:txBody>
            </p:sp>
          </p:grpSp>
        </p:grpSp>
      </p:grpSp>
      <p:grpSp>
        <p:nvGrpSpPr>
          <p:cNvPr id="36" name="Group 35"/>
          <p:cNvGrpSpPr/>
          <p:nvPr/>
        </p:nvGrpSpPr>
        <p:grpSpPr>
          <a:xfrm>
            <a:off x="899592" y="4709243"/>
            <a:ext cx="7345363" cy="1816100"/>
            <a:chOff x="899592" y="4339833"/>
            <a:chExt cx="7345363" cy="1816100"/>
          </a:xfrm>
        </p:grpSpPr>
        <p:sp>
          <p:nvSpPr>
            <p:cNvPr id="31" name="Text Box 5"/>
            <p:cNvSpPr txBox="1">
              <a:spLocks noChangeArrowheads="1"/>
            </p:cNvSpPr>
            <p:nvPr/>
          </p:nvSpPr>
          <p:spPr bwMode="auto">
            <a:xfrm>
              <a:off x="4644505" y="4339833"/>
              <a:ext cx="3600450" cy="1816100"/>
            </a:xfrm>
            <a:prstGeom prst="rect">
              <a:avLst/>
            </a:prstGeom>
            <a:solidFill>
              <a:srgbClr val="66FFFF"/>
            </a:solidFill>
            <a:ln w="9525">
              <a:no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消费者进程：</a:t>
              </a:r>
            </a:p>
            <a:p>
              <a:pPr eaLnBrk="1" hangingPunct="1"/>
              <a:r>
                <a:rPr lang="en-US" altLang="zh-CN" sz="1600" b="1" dirty="0"/>
                <a:t>begin</a:t>
              </a:r>
            </a:p>
            <a:p>
              <a:pPr eaLnBrk="1" hangingPunct="1"/>
              <a:r>
                <a:rPr lang="en-US" altLang="zh-CN" sz="1600" b="1" dirty="0"/>
                <a:t>    repeat</a:t>
              </a:r>
            </a:p>
            <a:p>
              <a:pPr eaLnBrk="1" hangingPunct="1"/>
              <a:r>
                <a:rPr lang="en-US" altLang="zh-CN" sz="1600" b="1" dirty="0"/>
                <a:t>       </a:t>
              </a:r>
              <a:r>
                <a:rPr lang="en-US" altLang="zh-CN" sz="1600" b="1" dirty="0" smtClean="0">
                  <a:solidFill>
                    <a:srgbClr val="FF0000"/>
                  </a:solidFill>
                </a:rPr>
                <a:t>get(item</a:t>
              </a:r>
              <a:r>
                <a:rPr lang="en-US" altLang="zh-CN" sz="1600" b="1" dirty="0">
                  <a:solidFill>
                    <a:srgbClr val="FF0000"/>
                  </a:solidFill>
                </a:rPr>
                <a:t>);</a:t>
              </a:r>
            </a:p>
            <a:p>
              <a:pPr eaLnBrk="1" hangingPunct="1"/>
              <a:r>
                <a:rPr lang="en-US" altLang="zh-CN" sz="1600" b="1" dirty="0"/>
                <a:t>       consume the item;</a:t>
              </a:r>
            </a:p>
            <a:p>
              <a:pPr eaLnBrk="1" hangingPunct="1"/>
              <a:r>
                <a:rPr lang="en-US" altLang="zh-CN" sz="1600" b="1" dirty="0"/>
                <a:t>       until false;</a:t>
              </a:r>
            </a:p>
            <a:p>
              <a:pPr eaLnBrk="1" hangingPunct="1"/>
              <a:r>
                <a:rPr lang="en-US" altLang="zh-CN" sz="1600" b="1" dirty="0"/>
                <a:t>end</a:t>
              </a:r>
              <a:endParaRPr lang="en-US" altLang="zh-CN" sz="1600" dirty="0"/>
            </a:p>
          </p:txBody>
        </p:sp>
        <p:sp>
          <p:nvSpPr>
            <p:cNvPr id="34" name="Text Box 4"/>
            <p:cNvSpPr txBox="1">
              <a:spLocks noChangeArrowheads="1"/>
            </p:cNvSpPr>
            <p:nvPr/>
          </p:nvSpPr>
          <p:spPr bwMode="auto">
            <a:xfrm>
              <a:off x="899592" y="4339833"/>
              <a:ext cx="3455988" cy="1816100"/>
            </a:xfrm>
            <a:prstGeom prst="rect">
              <a:avLst/>
            </a:prstGeom>
            <a:solidFill>
              <a:srgbClr val="FFFF00"/>
            </a:solidFill>
            <a:ln w="9525">
              <a:no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t>生产者进程：</a:t>
              </a:r>
            </a:p>
            <a:p>
              <a:pPr eaLnBrk="1" hangingPunct="1"/>
              <a:r>
                <a:rPr lang="en-US" altLang="zh-CN" sz="1600" b="1" dirty="0"/>
                <a:t>begin</a:t>
              </a:r>
            </a:p>
            <a:p>
              <a:pPr eaLnBrk="1" hangingPunct="1"/>
              <a:r>
                <a:rPr lang="en-US" altLang="zh-CN" sz="1600" b="1" dirty="0"/>
                <a:t>    repeat</a:t>
              </a:r>
            </a:p>
            <a:p>
              <a:pPr eaLnBrk="1" hangingPunct="1"/>
              <a:r>
                <a:rPr lang="en-US" altLang="zh-CN" sz="1600" b="1" dirty="0"/>
                <a:t>       produce an item;</a:t>
              </a:r>
            </a:p>
            <a:p>
              <a:pPr eaLnBrk="1" hangingPunct="1"/>
              <a:r>
                <a:rPr lang="en-US" altLang="zh-CN" sz="1600" b="1" dirty="0"/>
                <a:t>       </a:t>
              </a:r>
              <a:r>
                <a:rPr lang="en-US" altLang="zh-CN" sz="1600" b="1" dirty="0" smtClean="0">
                  <a:solidFill>
                    <a:srgbClr val="FF0000"/>
                  </a:solidFill>
                </a:rPr>
                <a:t>put(item</a:t>
              </a:r>
              <a:r>
                <a:rPr lang="en-US" altLang="zh-CN" sz="1600" b="1" dirty="0">
                  <a:solidFill>
                    <a:srgbClr val="FF0000"/>
                  </a:solidFill>
                </a:rPr>
                <a:t>);</a:t>
              </a:r>
            </a:p>
            <a:p>
              <a:pPr eaLnBrk="1" hangingPunct="1"/>
              <a:r>
                <a:rPr lang="en-US" altLang="zh-CN" sz="1600" b="1" dirty="0"/>
                <a:t>     until false;</a:t>
              </a:r>
            </a:p>
            <a:p>
              <a:pPr eaLnBrk="1" hangingPunct="1"/>
              <a:r>
                <a:rPr lang="en-US" altLang="zh-CN" sz="1600" b="1" dirty="0"/>
                <a:t>end</a:t>
              </a:r>
              <a:endParaRPr lang="en-US" altLang="zh-CN" sz="1600" dirty="0"/>
            </a:p>
          </p:txBody>
        </p:sp>
      </p:grpSp>
      <p:sp>
        <p:nvSpPr>
          <p:cNvPr id="37" name="Down Arrow 36"/>
          <p:cNvSpPr/>
          <p:nvPr/>
        </p:nvSpPr>
        <p:spPr>
          <a:xfrm>
            <a:off x="4139952" y="3933056"/>
            <a:ext cx="720080" cy="648072"/>
          </a:xfrm>
          <a:prstGeom prst="downArrow">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640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管程（</a:t>
            </a:r>
            <a:r>
              <a:rPr lang="en-US" altLang="zh-CN" dirty="0" smtClean="0"/>
              <a:t>Monitor</a:t>
            </a:r>
            <a:r>
              <a:rPr lang="zh-CN" altLang="en-US" dirty="0" smtClean="0"/>
              <a:t>）</a:t>
            </a:r>
            <a:endParaRPr lang="zh-CN" altLang="en-US" dirty="0"/>
          </a:p>
        </p:txBody>
      </p:sp>
      <p:sp>
        <p:nvSpPr>
          <p:cNvPr id="3" name="Content Placeholder 2"/>
          <p:cNvSpPr>
            <a:spLocks noGrp="1"/>
          </p:cNvSpPr>
          <p:nvPr>
            <p:ph idx="1"/>
          </p:nvPr>
        </p:nvSpPr>
        <p:spPr/>
        <p:txBody>
          <a:bodyPr>
            <a:normAutofit fontScale="92500" lnSpcReduction="10000"/>
          </a:bodyPr>
          <a:lstStyle/>
          <a:p>
            <a:r>
              <a:rPr lang="en-US" altLang="zh-CN" dirty="0"/>
              <a:t>1973</a:t>
            </a:r>
            <a:r>
              <a:rPr lang="zh-CN" altLang="en-US" dirty="0"/>
              <a:t>年，</a:t>
            </a:r>
            <a:r>
              <a:rPr lang="en-US" altLang="zh-CN" dirty="0"/>
              <a:t>Hoare</a:t>
            </a:r>
            <a:r>
              <a:rPr lang="zh-CN" altLang="en-US" dirty="0"/>
              <a:t>和</a:t>
            </a:r>
            <a:r>
              <a:rPr lang="en-US" altLang="zh-CN" dirty="0"/>
              <a:t>Hanson</a:t>
            </a:r>
            <a:r>
              <a:rPr lang="zh-CN" altLang="en-US" dirty="0"/>
              <a:t>所提</a:t>
            </a:r>
            <a:r>
              <a:rPr lang="zh-CN" altLang="en-US" dirty="0" smtClean="0"/>
              <a:t>出，其</a:t>
            </a:r>
            <a:r>
              <a:rPr lang="zh-CN" altLang="en-US" dirty="0"/>
              <a:t>基本思想是把信号量及其操作原语</a:t>
            </a:r>
            <a:r>
              <a:rPr lang="zh-CN" altLang="en-US" dirty="0">
                <a:solidFill>
                  <a:srgbClr val="0000FF"/>
                </a:solidFill>
              </a:rPr>
              <a:t>封装在一个对象内部</a:t>
            </a:r>
            <a:r>
              <a:rPr lang="zh-CN" altLang="en-US" dirty="0"/>
              <a:t>。即：将共享变量以及对共享变量能够进行的所有操作集中在一个模块</a:t>
            </a:r>
            <a:r>
              <a:rPr lang="zh-CN" altLang="en-US" dirty="0" smtClean="0"/>
              <a:t>中</a:t>
            </a:r>
            <a:endParaRPr lang="en-US" altLang="zh-CN" dirty="0" smtClean="0"/>
          </a:p>
          <a:p>
            <a:endParaRPr lang="en-US" altLang="zh-CN" dirty="0" smtClean="0"/>
          </a:p>
          <a:p>
            <a:r>
              <a:rPr lang="zh-CN" altLang="en-US" dirty="0" smtClean="0">
                <a:solidFill>
                  <a:srgbClr val="0000FF"/>
                </a:solidFill>
              </a:rPr>
              <a:t>管</a:t>
            </a:r>
            <a:r>
              <a:rPr lang="zh-CN" altLang="en-US" dirty="0">
                <a:solidFill>
                  <a:srgbClr val="0000FF"/>
                </a:solidFill>
              </a:rPr>
              <a:t>程的定义</a:t>
            </a:r>
            <a:r>
              <a:rPr lang="zh-CN" altLang="en-US" dirty="0"/>
              <a:t>：管程是关于共享资源的数据结构及一组针对该资源的操作过程所构成的</a:t>
            </a:r>
            <a:r>
              <a:rPr lang="zh-CN" altLang="en-US" dirty="0">
                <a:solidFill>
                  <a:srgbClr val="0000FF"/>
                </a:solidFill>
              </a:rPr>
              <a:t>软件模</a:t>
            </a:r>
            <a:r>
              <a:rPr lang="zh-CN" altLang="en-US" dirty="0" smtClean="0">
                <a:solidFill>
                  <a:srgbClr val="0000FF"/>
                </a:solidFill>
              </a:rPr>
              <a:t>块</a:t>
            </a:r>
            <a:r>
              <a:rPr lang="zh-CN" altLang="en-US" dirty="0"/>
              <a:t>。</a:t>
            </a:r>
            <a:r>
              <a:rPr lang="zh-CN" altLang="en-US" dirty="0" smtClean="0"/>
              <a:t>管</a:t>
            </a:r>
            <a:r>
              <a:rPr lang="zh-CN" altLang="en-US" dirty="0"/>
              <a:t>程是管理进程间同步的机制，它保证进程互斥地访问共享变量，并方便地阻塞和唤醒进程</a:t>
            </a:r>
            <a:endParaRPr lang="en-US" altLang="zh-CN" dirty="0" smtClean="0"/>
          </a:p>
          <a:p>
            <a:endParaRPr lang="en-US" altLang="zh-CN" dirty="0" smtClean="0"/>
          </a:p>
          <a:p>
            <a:r>
              <a:rPr lang="zh-CN" altLang="en-US" dirty="0" smtClean="0">
                <a:solidFill>
                  <a:srgbClr val="0000FF"/>
                </a:solidFill>
              </a:rPr>
              <a:t>管</a:t>
            </a:r>
            <a:r>
              <a:rPr lang="zh-CN" altLang="en-US" dirty="0">
                <a:solidFill>
                  <a:srgbClr val="0000FF"/>
                </a:solidFill>
              </a:rPr>
              <a:t>程是一个程序设计语言结构，提供了与信号量同样的功能，但更易于控制</a:t>
            </a:r>
            <a:r>
              <a:rPr lang="zh-CN" altLang="en-US" dirty="0"/>
              <a:t>。在并发</a:t>
            </a:r>
            <a:r>
              <a:rPr lang="en-US" altLang="zh-CN" dirty="0"/>
              <a:t>Pascal</a:t>
            </a:r>
            <a:r>
              <a:rPr lang="zh-CN" altLang="en-US" dirty="0"/>
              <a:t>、</a:t>
            </a:r>
            <a:r>
              <a:rPr lang="en-US" altLang="zh-CN" dirty="0"/>
              <a:t>Modula2</a:t>
            </a:r>
            <a:r>
              <a:rPr lang="zh-CN" altLang="en-US" dirty="0"/>
              <a:t>、</a:t>
            </a:r>
            <a:r>
              <a:rPr lang="en-US" altLang="zh-CN" dirty="0"/>
              <a:t>Java</a:t>
            </a:r>
            <a:r>
              <a:rPr lang="zh-CN" altLang="en-US" dirty="0"/>
              <a:t>中得以实</a:t>
            </a:r>
            <a:r>
              <a:rPr lang="zh-CN" altLang="en-US" dirty="0" smtClean="0"/>
              <a:t>现</a:t>
            </a:r>
            <a:endParaRPr lang="en-US" altLang="zh-CN" dirty="0" smtClean="0"/>
          </a:p>
          <a:p>
            <a:endParaRPr lang="zh-CN" altLang="en-US" dirty="0"/>
          </a:p>
        </p:txBody>
      </p:sp>
      <p:sp>
        <p:nvSpPr>
          <p:cNvPr id="4" name="Date Placeholder 3"/>
          <p:cNvSpPr>
            <a:spLocks noGrp="1"/>
          </p:cNvSpPr>
          <p:nvPr>
            <p:ph type="dt" sz="half" idx="10"/>
          </p:nvPr>
        </p:nvSpPr>
        <p:spPr/>
        <p:txBody>
          <a:bodyPr/>
          <a:lstStyle/>
          <a:p>
            <a:fld id="{E7FD3B07-7FF0-472A-84A2-3BD6CEBAD78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103</a:t>
            </a:fld>
            <a:endParaRPr lang="zh-CN" altLang="en-US" dirty="0"/>
          </a:p>
        </p:txBody>
      </p:sp>
    </p:spTree>
    <p:extLst>
      <p:ext uri="{BB962C8B-B14F-4D97-AF65-F5344CB8AC3E}">
        <p14:creationId xmlns:p14="http://schemas.microsoft.com/office/powerpoint/2010/main" val="200953995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body" idx="1"/>
          </p:nvPr>
        </p:nvSpPr>
        <p:spPr>
          <a:xfrm>
            <a:off x="579507" y="1494735"/>
            <a:ext cx="4360241" cy="3019425"/>
          </a:xfrm>
          <a:noFill/>
        </p:spPr>
        <p:txBody>
          <a:bodyPr>
            <a:normAutofit/>
          </a:bodyPr>
          <a:lstStyle/>
          <a:p>
            <a:pPr>
              <a:lnSpc>
                <a:spcPct val="115000"/>
              </a:lnSpc>
            </a:pPr>
            <a:r>
              <a:rPr lang="zh-CN" altLang="en-US" sz="2200" dirty="0" smtClean="0"/>
              <a:t>入口等待队列：因为管程是互斥进入的，所以当一个进程试图进入一个已被占用的管程时它应当在管程的入口处等待，因而在管程的入口处应当有一个进程等待队列，称作入口等待队列。</a:t>
            </a:r>
          </a:p>
        </p:txBody>
      </p:sp>
      <p:grpSp>
        <p:nvGrpSpPr>
          <p:cNvPr id="2" name="Group 4"/>
          <p:cNvGrpSpPr>
            <a:grpSpLocks/>
          </p:cNvGrpSpPr>
          <p:nvPr/>
        </p:nvGrpSpPr>
        <p:grpSpPr bwMode="auto">
          <a:xfrm>
            <a:off x="1521999" y="4871209"/>
            <a:ext cx="2592387" cy="817562"/>
            <a:chOff x="2155" y="3294"/>
            <a:chExt cx="1633" cy="515"/>
          </a:xfrm>
        </p:grpSpPr>
        <p:sp>
          <p:nvSpPr>
            <p:cNvPr id="121861" name="Rectangle 5"/>
            <p:cNvSpPr>
              <a:spLocks noChangeArrowheads="1"/>
            </p:cNvSpPr>
            <p:nvPr/>
          </p:nvSpPr>
          <p:spPr bwMode="auto">
            <a:xfrm>
              <a:off x="2336" y="3583"/>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1862" name="Line 6"/>
            <p:cNvSpPr>
              <a:spLocks noChangeShapeType="1"/>
            </p:cNvSpPr>
            <p:nvPr/>
          </p:nvSpPr>
          <p:spPr bwMode="auto">
            <a:xfrm>
              <a:off x="2518" y="3691"/>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1863" name="Rectangle 7"/>
            <p:cNvSpPr>
              <a:spLocks noChangeArrowheads="1"/>
            </p:cNvSpPr>
            <p:nvPr/>
          </p:nvSpPr>
          <p:spPr bwMode="auto">
            <a:xfrm>
              <a:off x="2699" y="3574"/>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1864" name="Line 8"/>
            <p:cNvSpPr>
              <a:spLocks noChangeShapeType="1"/>
            </p:cNvSpPr>
            <p:nvPr/>
          </p:nvSpPr>
          <p:spPr bwMode="auto">
            <a:xfrm>
              <a:off x="2881" y="3682"/>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1865" name="Rectangle 9"/>
            <p:cNvSpPr>
              <a:spLocks noChangeArrowheads="1"/>
            </p:cNvSpPr>
            <p:nvPr/>
          </p:nvSpPr>
          <p:spPr bwMode="auto">
            <a:xfrm>
              <a:off x="3062" y="3565"/>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1866" name="Line 10"/>
            <p:cNvSpPr>
              <a:spLocks noChangeShapeType="1"/>
            </p:cNvSpPr>
            <p:nvPr/>
          </p:nvSpPr>
          <p:spPr bwMode="auto">
            <a:xfrm>
              <a:off x="3244" y="3673"/>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1867" name="Rectangle 11"/>
            <p:cNvSpPr>
              <a:spLocks noChangeArrowheads="1"/>
            </p:cNvSpPr>
            <p:nvPr/>
          </p:nvSpPr>
          <p:spPr bwMode="auto">
            <a:xfrm>
              <a:off x="3424" y="3566"/>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1868" name="Line 12"/>
            <p:cNvSpPr>
              <a:spLocks noChangeShapeType="1"/>
            </p:cNvSpPr>
            <p:nvPr/>
          </p:nvSpPr>
          <p:spPr bwMode="auto">
            <a:xfrm>
              <a:off x="3607" y="3664"/>
              <a:ext cx="181" cy="0"/>
            </a:xfrm>
            <a:prstGeom prst="line">
              <a:avLst/>
            </a:prstGeom>
            <a:noFill/>
            <a:ln w="9525">
              <a:solidFill>
                <a:schemeClr val="tx1"/>
              </a:solidFill>
              <a:round/>
              <a:headEnd/>
              <a:tailEnd/>
            </a:ln>
            <a:effectLst/>
          </p:spPr>
          <p:txBody>
            <a:bodyPr/>
            <a:lstStyle/>
            <a:p>
              <a:endParaRPr lang="zh-CN" altLang="en-US"/>
            </a:p>
          </p:txBody>
        </p:sp>
        <p:sp>
          <p:nvSpPr>
            <p:cNvPr id="121869" name="Line 13"/>
            <p:cNvSpPr>
              <a:spLocks noChangeShapeType="1"/>
            </p:cNvSpPr>
            <p:nvPr/>
          </p:nvSpPr>
          <p:spPr bwMode="auto">
            <a:xfrm>
              <a:off x="3788" y="3673"/>
              <a:ext cx="0" cy="91"/>
            </a:xfrm>
            <a:prstGeom prst="line">
              <a:avLst/>
            </a:prstGeom>
            <a:noFill/>
            <a:ln w="9525">
              <a:solidFill>
                <a:schemeClr val="tx1"/>
              </a:solidFill>
              <a:round/>
              <a:headEnd/>
              <a:tailEnd/>
            </a:ln>
            <a:effectLst/>
          </p:spPr>
          <p:txBody>
            <a:bodyPr/>
            <a:lstStyle/>
            <a:p>
              <a:endParaRPr lang="zh-CN" altLang="en-US"/>
            </a:p>
          </p:txBody>
        </p:sp>
        <p:sp>
          <p:nvSpPr>
            <p:cNvPr id="121870" name="Freeform 14"/>
            <p:cNvSpPr>
              <a:spLocks/>
            </p:cNvSpPr>
            <p:nvPr/>
          </p:nvSpPr>
          <p:spPr bwMode="auto">
            <a:xfrm>
              <a:off x="2155" y="3673"/>
              <a:ext cx="181" cy="136"/>
            </a:xfrm>
            <a:custGeom>
              <a:avLst/>
              <a:gdLst>
                <a:gd name="T0" fmla="*/ 0 w 181"/>
                <a:gd name="T1" fmla="*/ 136 h 136"/>
                <a:gd name="T2" fmla="*/ 45 w 181"/>
                <a:gd name="T3" fmla="*/ 46 h 136"/>
                <a:gd name="T4" fmla="*/ 181 w 181"/>
                <a:gd name="T5" fmla="*/ 0 h 136"/>
                <a:gd name="T6" fmla="*/ 0 60000 65536"/>
                <a:gd name="T7" fmla="*/ 0 60000 65536"/>
                <a:gd name="T8" fmla="*/ 0 60000 65536"/>
              </a:gdLst>
              <a:ahLst/>
              <a:cxnLst>
                <a:cxn ang="T6">
                  <a:pos x="T0" y="T1"/>
                </a:cxn>
                <a:cxn ang="T7">
                  <a:pos x="T2" y="T3"/>
                </a:cxn>
                <a:cxn ang="T8">
                  <a:pos x="T4" y="T5"/>
                </a:cxn>
              </a:cxnLst>
              <a:rect l="0" t="0" r="r" b="b"/>
              <a:pathLst>
                <a:path w="181" h="136">
                  <a:moveTo>
                    <a:pt x="0" y="136"/>
                  </a:moveTo>
                  <a:cubicBezTo>
                    <a:pt x="7" y="102"/>
                    <a:pt x="15" y="69"/>
                    <a:pt x="45" y="46"/>
                  </a:cubicBezTo>
                  <a:cubicBezTo>
                    <a:pt x="75" y="23"/>
                    <a:pt x="158" y="8"/>
                    <a:pt x="181" y="0"/>
                  </a:cubicBezTo>
                </a:path>
              </a:pathLst>
            </a:custGeom>
            <a:noFill/>
            <a:ln w="9525">
              <a:solidFill>
                <a:schemeClr val="tx1"/>
              </a:solidFill>
              <a:round/>
              <a:headEnd/>
              <a:tailEnd/>
            </a:ln>
            <a:effectLst/>
          </p:spPr>
          <p:txBody>
            <a:bodyPr/>
            <a:lstStyle/>
            <a:p>
              <a:endParaRPr lang="zh-CN" altLang="en-US"/>
            </a:p>
          </p:txBody>
        </p:sp>
        <p:sp>
          <p:nvSpPr>
            <p:cNvPr id="121871" name="Text Box 15"/>
            <p:cNvSpPr txBox="1">
              <a:spLocks noChangeArrowheads="1"/>
            </p:cNvSpPr>
            <p:nvPr/>
          </p:nvSpPr>
          <p:spPr bwMode="auto">
            <a:xfrm>
              <a:off x="2508" y="3294"/>
              <a:ext cx="953" cy="288"/>
            </a:xfrm>
            <a:prstGeom prst="rect">
              <a:avLst/>
            </a:prstGeom>
            <a:noFill/>
            <a:ln w="9525">
              <a:noFill/>
              <a:miter lim="800000"/>
              <a:headEnd/>
              <a:tailEnd/>
            </a:ln>
            <a:effectLst/>
          </p:spPr>
          <p:txBody>
            <a:bodyPr>
              <a:spAutoFit/>
            </a:bodyPr>
            <a:lstStyle/>
            <a:p>
              <a:pPr>
                <a:spcBef>
                  <a:spcPct val="50000"/>
                </a:spcBef>
              </a:pPr>
              <a:r>
                <a:rPr lang="zh-CN" altLang="en-US" b="1" dirty="0"/>
                <a:t>进入队列</a:t>
              </a:r>
            </a:p>
          </p:txBody>
        </p:sp>
      </p:grpSp>
      <p:sp>
        <p:nvSpPr>
          <p:cNvPr id="16" name="Title 1"/>
          <p:cNvSpPr>
            <a:spLocks noGrp="1"/>
          </p:cNvSpPr>
          <p:nvPr>
            <p:ph type="title"/>
          </p:nvPr>
        </p:nvSpPr>
        <p:spPr>
          <a:xfrm>
            <a:off x="628650" y="140676"/>
            <a:ext cx="7886700" cy="693274"/>
          </a:xfrm>
        </p:spPr>
        <p:txBody>
          <a:bodyPr/>
          <a:lstStyle/>
          <a:p>
            <a:r>
              <a:rPr lang="zh-CN" altLang="en-US" dirty="0" smtClean="0"/>
              <a:t>管程（</a:t>
            </a:r>
            <a:r>
              <a:rPr lang="en-US" altLang="zh-CN" dirty="0" smtClean="0"/>
              <a:t>Monitor</a:t>
            </a:r>
            <a:r>
              <a:rPr lang="zh-CN" altLang="en-US" dirty="0" smtClean="0"/>
              <a:t>）</a:t>
            </a:r>
            <a:endParaRPr lang="zh-CN" altLang="en-US" dirty="0"/>
          </a:p>
        </p:txBody>
      </p:sp>
      <p:pic>
        <p:nvPicPr>
          <p:cNvPr id="17" name="Picture 2"/>
          <p:cNvPicPr>
            <a:picLocks noChangeAspect="1" noChangeArrowheads="1"/>
          </p:cNvPicPr>
          <p:nvPr/>
        </p:nvPicPr>
        <p:blipFill>
          <a:blip r:embed="rId3"/>
          <a:srcRect/>
          <a:stretch>
            <a:fillRect/>
          </a:stretch>
        </p:blipFill>
        <p:spPr>
          <a:xfrm>
            <a:off x="5123623" y="1381539"/>
            <a:ext cx="3662568" cy="5243614"/>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管程的基本结构</a:t>
            </a:r>
          </a:p>
        </p:txBody>
      </p:sp>
      <p:sp>
        <p:nvSpPr>
          <p:cNvPr id="3" name="Content Placeholder 2"/>
          <p:cNvSpPr>
            <a:spLocks noGrp="1"/>
          </p:cNvSpPr>
          <p:nvPr>
            <p:ph idx="1"/>
          </p:nvPr>
        </p:nvSpPr>
        <p:spPr>
          <a:xfrm>
            <a:off x="457200" y="1268760"/>
            <a:ext cx="4042792" cy="5256584"/>
          </a:xfrm>
        </p:spPr>
        <p:txBody>
          <a:bodyPr/>
          <a:lstStyle/>
          <a:p>
            <a:r>
              <a:rPr lang="zh-CN" altLang="en-US" dirty="0" smtClean="0"/>
              <a:t>局部变量与过程</a:t>
            </a:r>
            <a:endParaRPr lang="en-US" altLang="zh-CN" dirty="0" smtClean="0"/>
          </a:p>
          <a:p>
            <a:pPr lvl="1"/>
            <a:r>
              <a:rPr lang="zh-CN" altLang="en-US" dirty="0"/>
              <a:t>管</a:t>
            </a:r>
            <a:r>
              <a:rPr lang="zh-CN" altLang="en-US" dirty="0" smtClean="0"/>
              <a:t>程内部的变量，只能被管程所定义的过程访问，不能被任何外部函数或过程访问</a:t>
            </a:r>
            <a:endParaRPr lang="en-US" altLang="zh-CN" dirty="0" smtClean="0"/>
          </a:p>
          <a:p>
            <a:pPr lvl="1"/>
            <a:r>
              <a:rPr lang="zh-CN" altLang="en-US" dirty="0"/>
              <a:t>进</a:t>
            </a:r>
            <a:r>
              <a:rPr lang="zh-CN" altLang="en-US" dirty="0" smtClean="0"/>
              <a:t>程通过调用管程的任何一个过程而进入管程</a:t>
            </a:r>
            <a:endParaRPr lang="en-US" altLang="zh-CN" dirty="0" smtClean="0"/>
          </a:p>
          <a:p>
            <a:pPr lvl="1"/>
            <a:r>
              <a:rPr lang="zh-CN" altLang="en-US" dirty="0"/>
              <a:t>一</a:t>
            </a:r>
            <a:r>
              <a:rPr lang="zh-CN" altLang="en-US" dirty="0" smtClean="0"/>
              <a:t>次最多一个进程在管程上执行，其它调用该管程的进程必须等待（入口等待队列）</a:t>
            </a:r>
            <a:endParaRPr lang="en-US" altLang="zh-CN" dirty="0" smtClean="0"/>
          </a:p>
          <a:p>
            <a:pPr lvl="1"/>
            <a:r>
              <a:rPr lang="zh-CN" altLang="en-US" dirty="0"/>
              <a:t>管</a:t>
            </a:r>
            <a:r>
              <a:rPr lang="zh-CN" altLang="en-US" dirty="0" smtClean="0"/>
              <a:t>程的提供者设计互斥访问机制</a:t>
            </a:r>
            <a:endParaRPr lang="zh-CN" altLang="en-US" dirty="0"/>
          </a:p>
        </p:txBody>
      </p:sp>
      <p:sp>
        <p:nvSpPr>
          <p:cNvPr id="4" name="Date Placeholder 3"/>
          <p:cNvSpPr>
            <a:spLocks noGrp="1"/>
          </p:cNvSpPr>
          <p:nvPr>
            <p:ph type="dt" sz="half" idx="10"/>
          </p:nvPr>
        </p:nvSpPr>
        <p:spPr/>
        <p:txBody>
          <a:bodyPr/>
          <a:lstStyle/>
          <a:p>
            <a:fld id="{E53E04C0-A12D-4BF7-84AC-FC60DCF9196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105</a:t>
            </a:fld>
            <a:endParaRPr lang="zh-CN" altLang="en-US" dirty="0"/>
          </a:p>
        </p:txBody>
      </p:sp>
      <p:grpSp>
        <p:nvGrpSpPr>
          <p:cNvPr id="7" name="Group 6"/>
          <p:cNvGrpSpPr/>
          <p:nvPr/>
        </p:nvGrpSpPr>
        <p:grpSpPr>
          <a:xfrm>
            <a:off x="5004049" y="1556792"/>
            <a:ext cx="3682752" cy="4775343"/>
            <a:chOff x="3528596" y="2042154"/>
            <a:chExt cx="3025521" cy="4331568"/>
          </a:xfrm>
        </p:grpSpPr>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528596" y="2042154"/>
              <a:ext cx="3025521" cy="4331568"/>
            </a:xfrm>
            <a:prstGeom prst="rect">
              <a:avLst/>
            </a:prstGeom>
            <a:noFill/>
          </p:spPr>
        </p:pic>
        <p:sp>
          <p:nvSpPr>
            <p:cNvPr id="9" name="圆角矩形 3"/>
            <p:cNvSpPr>
              <a:spLocks noChangeArrowheads="1"/>
            </p:cNvSpPr>
            <p:nvPr/>
          </p:nvSpPr>
          <p:spPr bwMode="auto">
            <a:xfrm>
              <a:off x="5007528" y="3936326"/>
              <a:ext cx="1213519" cy="2155437"/>
            </a:xfrm>
            <a:prstGeom prst="roundRect">
              <a:avLst>
                <a:gd name="adj" fmla="val 2153"/>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0" name="圆角矩形 3"/>
          <p:cNvSpPr>
            <a:spLocks noChangeArrowheads="1"/>
          </p:cNvSpPr>
          <p:nvPr/>
        </p:nvSpPr>
        <p:spPr bwMode="auto">
          <a:xfrm>
            <a:off x="6804247" y="2780928"/>
            <a:ext cx="1477131" cy="384637"/>
          </a:xfrm>
          <a:prstGeom prst="roundRect">
            <a:avLst>
              <a:gd name="adj" fmla="val 8047"/>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圆角矩形 3"/>
          <p:cNvSpPr>
            <a:spLocks noChangeArrowheads="1"/>
          </p:cNvSpPr>
          <p:nvPr/>
        </p:nvSpPr>
        <p:spPr bwMode="auto">
          <a:xfrm>
            <a:off x="6804246" y="1544494"/>
            <a:ext cx="1477131" cy="925587"/>
          </a:xfrm>
          <a:prstGeom prst="roundRect">
            <a:avLst>
              <a:gd name="adj" fmla="val 8047"/>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40773668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Text Box 101"/>
          <p:cNvSpPr txBox="1">
            <a:spLocks noChangeArrowheads="1"/>
          </p:cNvSpPr>
          <p:nvPr/>
        </p:nvSpPr>
        <p:spPr bwMode="auto">
          <a:xfrm>
            <a:off x="430420" y="1380297"/>
            <a:ext cx="4752975" cy="3981090"/>
          </a:xfrm>
          <a:prstGeom prst="rect">
            <a:avLst/>
          </a:prstGeom>
          <a:noFill/>
          <a:ln w="9525">
            <a:noFill/>
            <a:miter lim="800000"/>
            <a:headEnd/>
            <a:tailEnd/>
          </a:ln>
          <a:effectLst/>
        </p:spPr>
        <p:txBody>
          <a:bodyPr>
            <a:spAutoFit/>
          </a:bodyPr>
          <a:lstStyle/>
          <a:p>
            <a:pPr marL="228600" indent="-228600">
              <a:lnSpc>
                <a:spcPct val="115000"/>
              </a:lnSpc>
              <a:spcBef>
                <a:spcPts val="1000"/>
              </a:spcBef>
              <a:buFont typeface="Arial" panose="020B0604020202020204" pitchFamily="34" charset="0"/>
              <a:buChar char="•"/>
            </a:pPr>
            <a:r>
              <a:rPr lang="zh-CN" altLang="en-US" sz="2200" dirty="0" smtClean="0">
                <a:latin typeface="微软雅黑" pitchFamily="34" charset="-122"/>
                <a:ea typeface="微软雅黑" pitchFamily="34" charset="-122"/>
                <a:cs typeface="华文黑体" panose="02010600040101010101" pitchFamily="2" charset="-122"/>
              </a:rPr>
              <a:t>条件变量</a:t>
            </a:r>
          </a:p>
          <a:p>
            <a:pPr marL="685800" lvl="1" indent="-228600">
              <a:lnSpc>
                <a:spcPct val="115000"/>
              </a:lnSpc>
              <a:spcBef>
                <a:spcPts val="1000"/>
              </a:spcBef>
              <a:buFont typeface="Arial" panose="020B0604020202020204" pitchFamily="34" charset="0"/>
              <a:buChar char="•"/>
            </a:pPr>
            <a:r>
              <a:rPr lang="zh-CN" altLang="en-US" sz="2200" dirty="0" smtClean="0">
                <a:latin typeface="微软雅黑" pitchFamily="34" charset="-122"/>
                <a:ea typeface="微软雅黑" pitchFamily="34" charset="-122"/>
                <a:cs typeface="华文黑体" panose="02010600040101010101" pitchFamily="2" charset="-122"/>
              </a:rPr>
              <a:t>条件变量包含在管程内，且只能在管程内对它进行访问；</a:t>
            </a:r>
          </a:p>
          <a:p>
            <a:pPr marL="685800" lvl="1" indent="-228600">
              <a:lnSpc>
                <a:spcPct val="115000"/>
              </a:lnSpc>
              <a:spcBef>
                <a:spcPts val="1000"/>
              </a:spcBef>
              <a:buFont typeface="Arial" panose="020B0604020202020204" pitchFamily="34" charset="0"/>
              <a:buChar char="•"/>
            </a:pPr>
            <a:r>
              <a:rPr lang="en-US" altLang="zh-CN" sz="2200" dirty="0" smtClean="0">
                <a:latin typeface="微软雅黑" pitchFamily="34" charset="-122"/>
                <a:ea typeface="微软雅黑" pitchFamily="34" charset="-122"/>
                <a:cs typeface="华文黑体" panose="02010600040101010101" pitchFamily="2" charset="-122"/>
              </a:rPr>
              <a:t>Wait(x)</a:t>
            </a:r>
            <a:r>
              <a:rPr lang="zh-CN" altLang="en-US" sz="2200" dirty="0" smtClean="0">
                <a:latin typeface="微软雅黑" pitchFamily="34" charset="-122"/>
                <a:ea typeface="微软雅黑" pitchFamily="34" charset="-122"/>
                <a:cs typeface="华文黑体" panose="02010600040101010101" pitchFamily="2" charset="-122"/>
              </a:rPr>
              <a:t>：挂起等待条件</a:t>
            </a:r>
            <a:r>
              <a:rPr lang="en-US" altLang="zh-CN" sz="2200" dirty="0" smtClean="0">
                <a:latin typeface="微软雅黑" pitchFamily="34" charset="-122"/>
                <a:ea typeface="微软雅黑" pitchFamily="34" charset="-122"/>
                <a:cs typeface="华文黑体" panose="02010600040101010101" pitchFamily="2" charset="-122"/>
              </a:rPr>
              <a:t>x</a:t>
            </a:r>
            <a:r>
              <a:rPr lang="zh-CN" altLang="en-US" sz="2200" dirty="0" smtClean="0">
                <a:latin typeface="微软雅黑" pitchFamily="34" charset="-122"/>
                <a:ea typeface="微软雅黑" pitchFamily="34" charset="-122"/>
                <a:cs typeface="华文黑体" panose="02010600040101010101" pitchFamily="2" charset="-122"/>
              </a:rPr>
              <a:t>的调用进程，释放相应的管程，以便其它进程使用；</a:t>
            </a:r>
          </a:p>
          <a:p>
            <a:pPr marL="685800" lvl="1" indent="-228600">
              <a:lnSpc>
                <a:spcPct val="115000"/>
              </a:lnSpc>
              <a:spcBef>
                <a:spcPts val="1000"/>
              </a:spcBef>
              <a:buFont typeface="Arial" panose="020B0604020202020204" pitchFamily="34" charset="0"/>
              <a:buChar char="•"/>
            </a:pPr>
            <a:r>
              <a:rPr lang="en-US" altLang="zh-CN" sz="2200" dirty="0" smtClean="0">
                <a:latin typeface="微软雅黑" pitchFamily="34" charset="-122"/>
                <a:ea typeface="微软雅黑" pitchFamily="34" charset="-122"/>
                <a:cs typeface="华文黑体" panose="02010600040101010101" pitchFamily="2" charset="-122"/>
              </a:rPr>
              <a:t>Signal(x)</a:t>
            </a:r>
            <a:r>
              <a:rPr lang="zh-CN" altLang="en-US" sz="2200" dirty="0" smtClean="0">
                <a:latin typeface="微软雅黑" pitchFamily="34" charset="-122"/>
                <a:ea typeface="微软雅黑" pitchFamily="34" charset="-122"/>
                <a:cs typeface="华文黑体" panose="02010600040101010101" pitchFamily="2" charset="-122"/>
              </a:rPr>
              <a:t>：恢复执行先前因在条件</a:t>
            </a:r>
            <a:r>
              <a:rPr lang="en-US" altLang="zh-CN" sz="2200" dirty="0" smtClean="0">
                <a:latin typeface="微软雅黑" pitchFamily="34" charset="-122"/>
                <a:ea typeface="微软雅黑" pitchFamily="34" charset="-122"/>
                <a:cs typeface="华文黑体" panose="02010600040101010101" pitchFamily="2" charset="-122"/>
              </a:rPr>
              <a:t>x</a:t>
            </a:r>
            <a:r>
              <a:rPr lang="zh-CN" altLang="en-US" sz="2200" dirty="0" smtClean="0">
                <a:latin typeface="微软雅黑" pitchFamily="34" charset="-122"/>
                <a:ea typeface="微软雅黑" pitchFamily="34" charset="-122"/>
                <a:cs typeface="华文黑体" panose="02010600040101010101" pitchFamily="2" charset="-122"/>
              </a:rPr>
              <a:t>上执行</a:t>
            </a:r>
            <a:r>
              <a:rPr lang="en-US" altLang="zh-CN" sz="2200" dirty="0" smtClean="0">
                <a:latin typeface="微软雅黑" pitchFamily="34" charset="-122"/>
                <a:ea typeface="微软雅黑" pitchFamily="34" charset="-122"/>
                <a:cs typeface="华文黑体" panose="02010600040101010101" pitchFamily="2" charset="-122"/>
              </a:rPr>
              <a:t>wait</a:t>
            </a:r>
            <a:r>
              <a:rPr lang="zh-CN" altLang="en-US" sz="2200" dirty="0" smtClean="0">
                <a:latin typeface="微软雅黑" pitchFamily="34" charset="-122"/>
                <a:ea typeface="微软雅黑" pitchFamily="34" charset="-122"/>
                <a:cs typeface="华文黑体" panose="02010600040101010101" pitchFamily="2" charset="-122"/>
              </a:rPr>
              <a:t>而挂起的那个进程。</a:t>
            </a:r>
          </a:p>
        </p:txBody>
      </p:sp>
      <p:grpSp>
        <p:nvGrpSpPr>
          <p:cNvPr id="2" name="Group 104"/>
          <p:cNvGrpSpPr>
            <a:grpSpLocks/>
          </p:cNvGrpSpPr>
          <p:nvPr/>
        </p:nvGrpSpPr>
        <p:grpSpPr bwMode="auto">
          <a:xfrm>
            <a:off x="5433737" y="1438275"/>
            <a:ext cx="3095625" cy="4257675"/>
            <a:chOff x="3061" y="1290"/>
            <a:chExt cx="2223" cy="2861"/>
          </a:xfrm>
        </p:grpSpPr>
        <p:sp>
          <p:nvSpPr>
            <p:cNvPr id="123909" name="Rectangle 34"/>
            <p:cNvSpPr>
              <a:spLocks noChangeArrowheads="1"/>
            </p:cNvSpPr>
            <p:nvPr/>
          </p:nvSpPr>
          <p:spPr bwMode="auto">
            <a:xfrm>
              <a:off x="3651" y="1579"/>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3910" name="Line 35"/>
            <p:cNvSpPr>
              <a:spLocks noChangeShapeType="1"/>
            </p:cNvSpPr>
            <p:nvPr/>
          </p:nvSpPr>
          <p:spPr bwMode="auto">
            <a:xfrm>
              <a:off x="3833" y="1687"/>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3911" name="Rectangle 36"/>
            <p:cNvSpPr>
              <a:spLocks noChangeArrowheads="1"/>
            </p:cNvSpPr>
            <p:nvPr/>
          </p:nvSpPr>
          <p:spPr bwMode="auto">
            <a:xfrm>
              <a:off x="4014" y="1570"/>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3912" name="Line 37"/>
            <p:cNvSpPr>
              <a:spLocks noChangeShapeType="1"/>
            </p:cNvSpPr>
            <p:nvPr/>
          </p:nvSpPr>
          <p:spPr bwMode="auto">
            <a:xfrm>
              <a:off x="4196" y="1678"/>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3913" name="Rectangle 38"/>
            <p:cNvSpPr>
              <a:spLocks noChangeArrowheads="1"/>
            </p:cNvSpPr>
            <p:nvPr/>
          </p:nvSpPr>
          <p:spPr bwMode="auto">
            <a:xfrm>
              <a:off x="4377" y="1561"/>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3914" name="Line 39"/>
            <p:cNvSpPr>
              <a:spLocks noChangeShapeType="1"/>
            </p:cNvSpPr>
            <p:nvPr/>
          </p:nvSpPr>
          <p:spPr bwMode="auto">
            <a:xfrm>
              <a:off x="4559" y="1669"/>
              <a:ext cx="181" cy="0"/>
            </a:xfrm>
            <a:prstGeom prst="line">
              <a:avLst/>
            </a:prstGeom>
            <a:noFill/>
            <a:ln w="9525">
              <a:solidFill>
                <a:schemeClr val="tx1"/>
              </a:solidFill>
              <a:round/>
              <a:headEnd/>
              <a:tailEnd type="triangle" w="med" len="med"/>
            </a:ln>
            <a:effectLst/>
          </p:spPr>
          <p:txBody>
            <a:bodyPr/>
            <a:lstStyle/>
            <a:p>
              <a:endParaRPr lang="zh-CN" altLang="en-US"/>
            </a:p>
          </p:txBody>
        </p:sp>
        <p:sp>
          <p:nvSpPr>
            <p:cNvPr id="123915" name="Rectangle 40"/>
            <p:cNvSpPr>
              <a:spLocks noChangeArrowheads="1"/>
            </p:cNvSpPr>
            <p:nvPr/>
          </p:nvSpPr>
          <p:spPr bwMode="auto">
            <a:xfrm>
              <a:off x="4740" y="1552"/>
              <a:ext cx="182" cy="226"/>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3916" name="Line 41"/>
            <p:cNvSpPr>
              <a:spLocks noChangeShapeType="1"/>
            </p:cNvSpPr>
            <p:nvPr/>
          </p:nvSpPr>
          <p:spPr bwMode="auto">
            <a:xfrm>
              <a:off x="4922" y="1660"/>
              <a:ext cx="181" cy="0"/>
            </a:xfrm>
            <a:prstGeom prst="line">
              <a:avLst/>
            </a:prstGeom>
            <a:noFill/>
            <a:ln w="9525">
              <a:solidFill>
                <a:schemeClr val="tx1"/>
              </a:solidFill>
              <a:round/>
              <a:headEnd/>
              <a:tailEnd/>
            </a:ln>
            <a:effectLst/>
          </p:spPr>
          <p:txBody>
            <a:bodyPr/>
            <a:lstStyle/>
            <a:p>
              <a:endParaRPr lang="zh-CN" altLang="en-US"/>
            </a:p>
          </p:txBody>
        </p:sp>
        <p:sp>
          <p:nvSpPr>
            <p:cNvPr id="123917" name="Line 42"/>
            <p:cNvSpPr>
              <a:spLocks noChangeShapeType="1"/>
            </p:cNvSpPr>
            <p:nvPr/>
          </p:nvSpPr>
          <p:spPr bwMode="auto">
            <a:xfrm>
              <a:off x="5103" y="1669"/>
              <a:ext cx="0" cy="91"/>
            </a:xfrm>
            <a:prstGeom prst="line">
              <a:avLst/>
            </a:prstGeom>
            <a:noFill/>
            <a:ln w="9525">
              <a:solidFill>
                <a:schemeClr val="tx1"/>
              </a:solidFill>
              <a:round/>
              <a:headEnd/>
              <a:tailEnd/>
            </a:ln>
            <a:effectLst/>
          </p:spPr>
          <p:txBody>
            <a:bodyPr/>
            <a:lstStyle/>
            <a:p>
              <a:endParaRPr lang="zh-CN" altLang="en-US"/>
            </a:p>
          </p:txBody>
        </p:sp>
        <p:sp>
          <p:nvSpPr>
            <p:cNvPr id="123918" name="Line 43"/>
            <p:cNvSpPr>
              <a:spLocks noChangeShapeType="1"/>
            </p:cNvSpPr>
            <p:nvPr/>
          </p:nvSpPr>
          <p:spPr bwMode="auto">
            <a:xfrm>
              <a:off x="5048" y="1760"/>
              <a:ext cx="91" cy="0"/>
            </a:xfrm>
            <a:prstGeom prst="line">
              <a:avLst/>
            </a:prstGeom>
            <a:noFill/>
            <a:ln w="9525">
              <a:solidFill>
                <a:schemeClr val="tx1"/>
              </a:solidFill>
              <a:round/>
              <a:headEnd/>
              <a:tailEnd/>
            </a:ln>
            <a:effectLst/>
          </p:spPr>
          <p:txBody>
            <a:bodyPr/>
            <a:lstStyle/>
            <a:p>
              <a:endParaRPr lang="zh-CN" altLang="en-US"/>
            </a:p>
          </p:txBody>
        </p:sp>
        <p:sp>
          <p:nvSpPr>
            <p:cNvPr id="123919" name="Freeform 44"/>
            <p:cNvSpPr>
              <a:spLocks/>
            </p:cNvSpPr>
            <p:nvPr/>
          </p:nvSpPr>
          <p:spPr bwMode="auto">
            <a:xfrm>
              <a:off x="3470" y="1669"/>
              <a:ext cx="181" cy="136"/>
            </a:xfrm>
            <a:custGeom>
              <a:avLst/>
              <a:gdLst>
                <a:gd name="T0" fmla="*/ 0 w 181"/>
                <a:gd name="T1" fmla="*/ 136 h 136"/>
                <a:gd name="T2" fmla="*/ 45 w 181"/>
                <a:gd name="T3" fmla="*/ 46 h 136"/>
                <a:gd name="T4" fmla="*/ 181 w 181"/>
                <a:gd name="T5" fmla="*/ 0 h 136"/>
                <a:gd name="T6" fmla="*/ 0 60000 65536"/>
                <a:gd name="T7" fmla="*/ 0 60000 65536"/>
                <a:gd name="T8" fmla="*/ 0 60000 65536"/>
              </a:gdLst>
              <a:ahLst/>
              <a:cxnLst>
                <a:cxn ang="T6">
                  <a:pos x="T0" y="T1"/>
                </a:cxn>
                <a:cxn ang="T7">
                  <a:pos x="T2" y="T3"/>
                </a:cxn>
                <a:cxn ang="T8">
                  <a:pos x="T4" y="T5"/>
                </a:cxn>
              </a:cxnLst>
              <a:rect l="0" t="0" r="r" b="b"/>
              <a:pathLst>
                <a:path w="181" h="136">
                  <a:moveTo>
                    <a:pt x="0" y="136"/>
                  </a:moveTo>
                  <a:cubicBezTo>
                    <a:pt x="7" y="102"/>
                    <a:pt x="15" y="69"/>
                    <a:pt x="45" y="46"/>
                  </a:cubicBezTo>
                  <a:cubicBezTo>
                    <a:pt x="75" y="23"/>
                    <a:pt x="158" y="8"/>
                    <a:pt x="181" y="0"/>
                  </a:cubicBezTo>
                </a:path>
              </a:pathLst>
            </a:custGeom>
            <a:noFill/>
            <a:ln w="9525">
              <a:solidFill>
                <a:schemeClr val="tx1"/>
              </a:solidFill>
              <a:round/>
              <a:headEnd/>
              <a:tailEnd/>
            </a:ln>
            <a:effectLst/>
          </p:spPr>
          <p:txBody>
            <a:bodyPr/>
            <a:lstStyle/>
            <a:p>
              <a:endParaRPr lang="zh-CN" altLang="en-US"/>
            </a:p>
          </p:txBody>
        </p:sp>
        <p:sp>
          <p:nvSpPr>
            <p:cNvPr id="123920" name="Line 45"/>
            <p:cNvSpPr>
              <a:spLocks noChangeShapeType="1"/>
            </p:cNvSpPr>
            <p:nvPr/>
          </p:nvSpPr>
          <p:spPr bwMode="auto">
            <a:xfrm>
              <a:off x="3061" y="1851"/>
              <a:ext cx="363" cy="0"/>
            </a:xfrm>
            <a:prstGeom prst="line">
              <a:avLst/>
            </a:prstGeom>
            <a:noFill/>
            <a:ln w="9525">
              <a:solidFill>
                <a:schemeClr val="tx1"/>
              </a:solidFill>
              <a:round/>
              <a:headEnd/>
              <a:tailEnd/>
            </a:ln>
            <a:effectLst/>
          </p:spPr>
          <p:txBody>
            <a:bodyPr/>
            <a:lstStyle/>
            <a:p>
              <a:endParaRPr lang="zh-CN" altLang="en-US"/>
            </a:p>
          </p:txBody>
        </p:sp>
        <p:sp>
          <p:nvSpPr>
            <p:cNvPr id="123921" name="Line 46"/>
            <p:cNvSpPr>
              <a:spLocks noChangeShapeType="1"/>
            </p:cNvSpPr>
            <p:nvPr/>
          </p:nvSpPr>
          <p:spPr bwMode="auto">
            <a:xfrm flipH="1">
              <a:off x="3470" y="1851"/>
              <a:ext cx="90" cy="91"/>
            </a:xfrm>
            <a:prstGeom prst="line">
              <a:avLst/>
            </a:prstGeom>
            <a:noFill/>
            <a:ln w="9525">
              <a:solidFill>
                <a:schemeClr val="tx1"/>
              </a:solidFill>
              <a:round/>
              <a:headEnd/>
              <a:tailEnd/>
            </a:ln>
            <a:effectLst/>
          </p:spPr>
          <p:txBody>
            <a:bodyPr/>
            <a:lstStyle/>
            <a:p>
              <a:endParaRPr lang="zh-CN" altLang="en-US"/>
            </a:p>
          </p:txBody>
        </p:sp>
        <p:sp>
          <p:nvSpPr>
            <p:cNvPr id="123922" name="Line 47"/>
            <p:cNvSpPr>
              <a:spLocks noChangeShapeType="1"/>
            </p:cNvSpPr>
            <p:nvPr/>
          </p:nvSpPr>
          <p:spPr bwMode="auto">
            <a:xfrm>
              <a:off x="3560" y="1851"/>
              <a:ext cx="1724" cy="0"/>
            </a:xfrm>
            <a:prstGeom prst="line">
              <a:avLst/>
            </a:prstGeom>
            <a:noFill/>
            <a:ln w="9525">
              <a:solidFill>
                <a:schemeClr val="tx1"/>
              </a:solidFill>
              <a:round/>
              <a:headEnd/>
              <a:tailEnd/>
            </a:ln>
            <a:effectLst/>
          </p:spPr>
          <p:txBody>
            <a:bodyPr/>
            <a:lstStyle/>
            <a:p>
              <a:endParaRPr lang="zh-CN" altLang="en-US"/>
            </a:p>
          </p:txBody>
        </p:sp>
        <p:sp>
          <p:nvSpPr>
            <p:cNvPr id="123923" name="Rectangle 48"/>
            <p:cNvSpPr>
              <a:spLocks noChangeArrowheads="1"/>
            </p:cNvSpPr>
            <p:nvPr/>
          </p:nvSpPr>
          <p:spPr bwMode="auto">
            <a:xfrm>
              <a:off x="3061" y="3412"/>
              <a:ext cx="2223" cy="471"/>
            </a:xfrm>
            <a:prstGeom prst="rect">
              <a:avLst/>
            </a:prstGeom>
            <a:noFill/>
            <a:ln w="9525">
              <a:solidFill>
                <a:schemeClr val="tx1"/>
              </a:solidFill>
              <a:miter lim="800000"/>
              <a:headEnd/>
              <a:tailEnd/>
            </a:ln>
            <a:effectLst/>
          </p:spPr>
          <p:txBody>
            <a:bodyPr wrap="none" anchor="ctr"/>
            <a:lstStyle/>
            <a:p>
              <a:endParaRPr lang="zh-CN" altLang="en-US"/>
            </a:p>
          </p:txBody>
        </p:sp>
        <p:sp>
          <p:nvSpPr>
            <p:cNvPr id="123924" name="Line 49"/>
            <p:cNvSpPr>
              <a:spLocks noChangeShapeType="1"/>
            </p:cNvSpPr>
            <p:nvPr/>
          </p:nvSpPr>
          <p:spPr bwMode="auto">
            <a:xfrm>
              <a:off x="3061" y="3647"/>
              <a:ext cx="2223" cy="0"/>
            </a:xfrm>
            <a:prstGeom prst="line">
              <a:avLst/>
            </a:prstGeom>
            <a:noFill/>
            <a:ln w="9525">
              <a:solidFill>
                <a:schemeClr val="tx1"/>
              </a:solidFill>
              <a:round/>
              <a:headEnd/>
              <a:tailEnd/>
            </a:ln>
            <a:effectLst/>
          </p:spPr>
          <p:txBody>
            <a:bodyPr/>
            <a:lstStyle/>
            <a:p>
              <a:endParaRPr lang="zh-CN" altLang="en-US"/>
            </a:p>
          </p:txBody>
        </p:sp>
        <p:sp>
          <p:nvSpPr>
            <p:cNvPr id="123925" name="Line 50"/>
            <p:cNvSpPr>
              <a:spLocks noChangeShapeType="1"/>
            </p:cNvSpPr>
            <p:nvPr/>
          </p:nvSpPr>
          <p:spPr bwMode="auto">
            <a:xfrm>
              <a:off x="3061" y="1851"/>
              <a:ext cx="0" cy="272"/>
            </a:xfrm>
            <a:prstGeom prst="line">
              <a:avLst/>
            </a:prstGeom>
            <a:noFill/>
            <a:ln w="9525">
              <a:solidFill>
                <a:schemeClr val="tx1"/>
              </a:solidFill>
              <a:round/>
              <a:headEnd/>
              <a:tailEnd/>
            </a:ln>
            <a:effectLst/>
          </p:spPr>
          <p:txBody>
            <a:bodyPr/>
            <a:lstStyle/>
            <a:p>
              <a:endParaRPr lang="zh-CN" altLang="en-US"/>
            </a:p>
          </p:txBody>
        </p:sp>
        <p:sp>
          <p:nvSpPr>
            <p:cNvPr id="123926" name="Line 51"/>
            <p:cNvSpPr>
              <a:spLocks noChangeShapeType="1"/>
            </p:cNvSpPr>
            <p:nvPr/>
          </p:nvSpPr>
          <p:spPr bwMode="auto">
            <a:xfrm>
              <a:off x="5284" y="1851"/>
              <a:ext cx="0" cy="272"/>
            </a:xfrm>
            <a:prstGeom prst="line">
              <a:avLst/>
            </a:prstGeom>
            <a:noFill/>
            <a:ln w="9525">
              <a:solidFill>
                <a:schemeClr val="tx1"/>
              </a:solidFill>
              <a:round/>
              <a:headEnd/>
              <a:tailEnd/>
            </a:ln>
            <a:effectLst/>
          </p:spPr>
          <p:txBody>
            <a:bodyPr/>
            <a:lstStyle/>
            <a:p>
              <a:endParaRPr lang="zh-CN" altLang="en-US"/>
            </a:p>
          </p:txBody>
        </p:sp>
        <p:sp>
          <p:nvSpPr>
            <p:cNvPr id="123927" name="Text Box 52"/>
            <p:cNvSpPr txBox="1">
              <a:spLocks noChangeArrowheads="1"/>
            </p:cNvSpPr>
            <p:nvPr/>
          </p:nvSpPr>
          <p:spPr bwMode="auto">
            <a:xfrm>
              <a:off x="3777" y="3375"/>
              <a:ext cx="999" cy="267"/>
            </a:xfrm>
            <a:prstGeom prst="rect">
              <a:avLst/>
            </a:prstGeom>
            <a:noFill/>
            <a:ln w="9525">
              <a:noFill/>
              <a:miter lim="800000"/>
              <a:headEnd/>
              <a:tailEnd/>
            </a:ln>
            <a:effectLst/>
          </p:spPr>
          <p:txBody>
            <a:bodyPr>
              <a:spAutoFit/>
            </a:bodyPr>
            <a:lstStyle/>
            <a:p>
              <a:pPr>
                <a:spcBef>
                  <a:spcPct val="50000"/>
                </a:spcBef>
              </a:pPr>
              <a:r>
                <a:rPr lang="zh-CN" altLang="en-US" sz="2000" b="1"/>
                <a:t>共享数据</a:t>
              </a:r>
            </a:p>
          </p:txBody>
        </p:sp>
        <p:sp>
          <p:nvSpPr>
            <p:cNvPr id="123928" name="Text Box 53"/>
            <p:cNvSpPr txBox="1">
              <a:spLocks noChangeArrowheads="1"/>
            </p:cNvSpPr>
            <p:nvPr/>
          </p:nvSpPr>
          <p:spPr bwMode="auto">
            <a:xfrm>
              <a:off x="3714" y="3605"/>
              <a:ext cx="1116" cy="267"/>
            </a:xfrm>
            <a:prstGeom prst="rect">
              <a:avLst/>
            </a:prstGeom>
            <a:noFill/>
            <a:ln w="9525">
              <a:noFill/>
              <a:miter lim="800000"/>
              <a:headEnd/>
              <a:tailEnd/>
            </a:ln>
            <a:effectLst/>
          </p:spPr>
          <p:txBody>
            <a:bodyPr>
              <a:spAutoFit/>
            </a:bodyPr>
            <a:lstStyle/>
            <a:p>
              <a:pPr>
                <a:spcBef>
                  <a:spcPct val="50000"/>
                </a:spcBef>
              </a:pPr>
              <a:r>
                <a:rPr lang="zh-CN" altLang="en-US" sz="2000" b="1"/>
                <a:t>初始化代码</a:t>
              </a:r>
            </a:p>
          </p:txBody>
        </p:sp>
        <p:sp>
          <p:nvSpPr>
            <p:cNvPr id="123929" name="Text Box 54"/>
            <p:cNvSpPr txBox="1">
              <a:spLocks noChangeArrowheads="1"/>
            </p:cNvSpPr>
            <p:nvPr/>
          </p:nvSpPr>
          <p:spPr bwMode="auto">
            <a:xfrm>
              <a:off x="3823" y="1290"/>
              <a:ext cx="953" cy="267"/>
            </a:xfrm>
            <a:prstGeom prst="rect">
              <a:avLst/>
            </a:prstGeom>
            <a:noFill/>
            <a:ln w="9525">
              <a:noFill/>
              <a:miter lim="800000"/>
              <a:headEnd/>
              <a:tailEnd/>
            </a:ln>
            <a:effectLst/>
          </p:spPr>
          <p:txBody>
            <a:bodyPr>
              <a:spAutoFit/>
            </a:bodyPr>
            <a:lstStyle/>
            <a:p>
              <a:pPr>
                <a:spcBef>
                  <a:spcPct val="50000"/>
                </a:spcBef>
              </a:pPr>
              <a:r>
                <a:rPr lang="zh-CN" altLang="en-US" sz="2000" b="1"/>
                <a:t>进入队列</a:t>
              </a:r>
            </a:p>
          </p:txBody>
        </p:sp>
        <p:sp>
          <p:nvSpPr>
            <p:cNvPr id="123930" name="Text Box 55"/>
            <p:cNvSpPr txBox="1">
              <a:spLocks noChangeArrowheads="1"/>
            </p:cNvSpPr>
            <p:nvPr/>
          </p:nvSpPr>
          <p:spPr bwMode="auto">
            <a:xfrm>
              <a:off x="3227" y="3884"/>
              <a:ext cx="1932" cy="267"/>
            </a:xfrm>
            <a:prstGeom prst="rect">
              <a:avLst/>
            </a:prstGeom>
            <a:noFill/>
            <a:ln w="9525">
              <a:noFill/>
              <a:miter lim="800000"/>
              <a:headEnd/>
              <a:tailEnd/>
            </a:ln>
            <a:effectLst/>
          </p:spPr>
          <p:txBody>
            <a:bodyPr>
              <a:spAutoFit/>
            </a:bodyPr>
            <a:lstStyle/>
            <a:p>
              <a:pPr algn="ctr">
                <a:spcBef>
                  <a:spcPct val="50000"/>
                </a:spcBef>
              </a:pPr>
              <a:r>
                <a:rPr lang="zh-CN" altLang="en-US" sz="2000" b="1"/>
                <a:t>带条件变量的管程</a:t>
              </a:r>
            </a:p>
          </p:txBody>
        </p:sp>
        <p:sp>
          <p:nvSpPr>
            <p:cNvPr id="123931" name="Rectangle 56"/>
            <p:cNvSpPr>
              <a:spLocks noChangeArrowheads="1"/>
            </p:cNvSpPr>
            <p:nvPr/>
          </p:nvSpPr>
          <p:spPr bwMode="auto">
            <a:xfrm>
              <a:off x="3515" y="20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32" name="Line 57"/>
            <p:cNvSpPr>
              <a:spLocks noChangeShapeType="1"/>
            </p:cNvSpPr>
            <p:nvPr/>
          </p:nvSpPr>
          <p:spPr bwMode="auto">
            <a:xfrm flipV="1">
              <a:off x="3579" y="21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33" name="Rectangle 58"/>
            <p:cNvSpPr>
              <a:spLocks noChangeArrowheads="1"/>
            </p:cNvSpPr>
            <p:nvPr/>
          </p:nvSpPr>
          <p:spPr bwMode="auto">
            <a:xfrm>
              <a:off x="3515" y="2280"/>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34" name="Line 59"/>
            <p:cNvSpPr>
              <a:spLocks noChangeShapeType="1"/>
            </p:cNvSpPr>
            <p:nvPr/>
          </p:nvSpPr>
          <p:spPr bwMode="auto">
            <a:xfrm flipV="1">
              <a:off x="3579" y="2371"/>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35" name="Rectangle 60"/>
            <p:cNvSpPr>
              <a:spLocks noChangeArrowheads="1"/>
            </p:cNvSpPr>
            <p:nvPr/>
          </p:nvSpPr>
          <p:spPr bwMode="auto">
            <a:xfrm>
              <a:off x="3515" y="2471"/>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36" name="Line 61"/>
            <p:cNvSpPr>
              <a:spLocks noChangeShapeType="1"/>
            </p:cNvSpPr>
            <p:nvPr/>
          </p:nvSpPr>
          <p:spPr bwMode="auto">
            <a:xfrm flipV="1">
              <a:off x="3579" y="2562"/>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37" name="Rectangle 62"/>
            <p:cNvSpPr>
              <a:spLocks noChangeArrowheads="1"/>
            </p:cNvSpPr>
            <p:nvPr/>
          </p:nvSpPr>
          <p:spPr bwMode="auto">
            <a:xfrm>
              <a:off x="4195" y="20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38" name="Line 63"/>
            <p:cNvSpPr>
              <a:spLocks noChangeShapeType="1"/>
            </p:cNvSpPr>
            <p:nvPr/>
          </p:nvSpPr>
          <p:spPr bwMode="auto">
            <a:xfrm flipV="1">
              <a:off x="4259" y="21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39" name="Rectangle 64"/>
            <p:cNvSpPr>
              <a:spLocks noChangeArrowheads="1"/>
            </p:cNvSpPr>
            <p:nvPr/>
          </p:nvSpPr>
          <p:spPr bwMode="auto">
            <a:xfrm>
              <a:off x="4195" y="2280"/>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40" name="Line 65"/>
            <p:cNvSpPr>
              <a:spLocks noChangeShapeType="1"/>
            </p:cNvSpPr>
            <p:nvPr/>
          </p:nvSpPr>
          <p:spPr bwMode="auto">
            <a:xfrm flipV="1">
              <a:off x="4259" y="2371"/>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41" name="Rectangle 66"/>
            <p:cNvSpPr>
              <a:spLocks noChangeArrowheads="1"/>
            </p:cNvSpPr>
            <p:nvPr/>
          </p:nvSpPr>
          <p:spPr bwMode="auto">
            <a:xfrm>
              <a:off x="4195" y="2471"/>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42" name="Line 67"/>
            <p:cNvSpPr>
              <a:spLocks noChangeShapeType="1"/>
            </p:cNvSpPr>
            <p:nvPr/>
          </p:nvSpPr>
          <p:spPr bwMode="auto">
            <a:xfrm flipV="1">
              <a:off x="4259" y="2562"/>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43" name="Rectangle 68"/>
            <p:cNvSpPr>
              <a:spLocks noChangeArrowheads="1"/>
            </p:cNvSpPr>
            <p:nvPr/>
          </p:nvSpPr>
          <p:spPr bwMode="auto">
            <a:xfrm>
              <a:off x="4830" y="20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44" name="Line 69"/>
            <p:cNvSpPr>
              <a:spLocks noChangeShapeType="1"/>
            </p:cNvSpPr>
            <p:nvPr/>
          </p:nvSpPr>
          <p:spPr bwMode="auto">
            <a:xfrm flipV="1">
              <a:off x="4894" y="21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45" name="Rectangle 70"/>
            <p:cNvSpPr>
              <a:spLocks noChangeArrowheads="1"/>
            </p:cNvSpPr>
            <p:nvPr/>
          </p:nvSpPr>
          <p:spPr bwMode="auto">
            <a:xfrm>
              <a:off x="4830" y="2280"/>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46" name="Line 71"/>
            <p:cNvSpPr>
              <a:spLocks noChangeShapeType="1"/>
            </p:cNvSpPr>
            <p:nvPr/>
          </p:nvSpPr>
          <p:spPr bwMode="auto">
            <a:xfrm flipV="1">
              <a:off x="4894" y="2371"/>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47" name="Rectangle 72"/>
            <p:cNvSpPr>
              <a:spLocks noChangeArrowheads="1"/>
            </p:cNvSpPr>
            <p:nvPr/>
          </p:nvSpPr>
          <p:spPr bwMode="auto">
            <a:xfrm>
              <a:off x="4830" y="2471"/>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3948" name="Line 73"/>
            <p:cNvSpPr>
              <a:spLocks noChangeShapeType="1"/>
            </p:cNvSpPr>
            <p:nvPr/>
          </p:nvSpPr>
          <p:spPr bwMode="auto">
            <a:xfrm flipV="1">
              <a:off x="4894" y="2562"/>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3949" name="Line 74"/>
            <p:cNvSpPr>
              <a:spLocks noChangeShapeType="1"/>
            </p:cNvSpPr>
            <p:nvPr/>
          </p:nvSpPr>
          <p:spPr bwMode="auto">
            <a:xfrm>
              <a:off x="3651" y="2134"/>
              <a:ext cx="91" cy="0"/>
            </a:xfrm>
            <a:prstGeom prst="line">
              <a:avLst/>
            </a:prstGeom>
            <a:noFill/>
            <a:ln w="9525">
              <a:solidFill>
                <a:schemeClr val="tx1"/>
              </a:solidFill>
              <a:round/>
              <a:headEnd/>
              <a:tailEnd/>
            </a:ln>
            <a:effectLst/>
          </p:spPr>
          <p:txBody>
            <a:bodyPr/>
            <a:lstStyle/>
            <a:p>
              <a:endParaRPr lang="zh-CN" altLang="en-US"/>
            </a:p>
          </p:txBody>
        </p:sp>
        <p:sp>
          <p:nvSpPr>
            <p:cNvPr id="123950" name="Line 75"/>
            <p:cNvSpPr>
              <a:spLocks noChangeShapeType="1"/>
            </p:cNvSpPr>
            <p:nvPr/>
          </p:nvSpPr>
          <p:spPr bwMode="auto">
            <a:xfrm>
              <a:off x="3751" y="2134"/>
              <a:ext cx="0" cy="91"/>
            </a:xfrm>
            <a:prstGeom prst="line">
              <a:avLst/>
            </a:prstGeom>
            <a:noFill/>
            <a:ln w="9525">
              <a:solidFill>
                <a:schemeClr val="tx1"/>
              </a:solidFill>
              <a:round/>
              <a:headEnd/>
              <a:tailEnd/>
            </a:ln>
            <a:effectLst/>
          </p:spPr>
          <p:txBody>
            <a:bodyPr/>
            <a:lstStyle/>
            <a:p>
              <a:endParaRPr lang="zh-CN" altLang="en-US"/>
            </a:p>
          </p:txBody>
        </p:sp>
        <p:sp>
          <p:nvSpPr>
            <p:cNvPr id="123951" name="Line 76"/>
            <p:cNvSpPr>
              <a:spLocks noChangeShapeType="1"/>
            </p:cNvSpPr>
            <p:nvPr/>
          </p:nvSpPr>
          <p:spPr bwMode="auto">
            <a:xfrm>
              <a:off x="3706" y="2225"/>
              <a:ext cx="91" cy="0"/>
            </a:xfrm>
            <a:prstGeom prst="line">
              <a:avLst/>
            </a:prstGeom>
            <a:noFill/>
            <a:ln w="9525">
              <a:solidFill>
                <a:schemeClr val="tx1"/>
              </a:solidFill>
              <a:round/>
              <a:headEnd/>
              <a:tailEnd/>
            </a:ln>
            <a:effectLst/>
          </p:spPr>
          <p:txBody>
            <a:bodyPr/>
            <a:lstStyle/>
            <a:p>
              <a:endParaRPr lang="zh-CN" altLang="en-US"/>
            </a:p>
          </p:txBody>
        </p:sp>
        <p:sp>
          <p:nvSpPr>
            <p:cNvPr id="123952" name="Line 77"/>
            <p:cNvSpPr>
              <a:spLocks noChangeShapeType="1"/>
            </p:cNvSpPr>
            <p:nvPr/>
          </p:nvSpPr>
          <p:spPr bwMode="auto">
            <a:xfrm>
              <a:off x="4331" y="2126"/>
              <a:ext cx="91" cy="0"/>
            </a:xfrm>
            <a:prstGeom prst="line">
              <a:avLst/>
            </a:prstGeom>
            <a:noFill/>
            <a:ln w="9525">
              <a:solidFill>
                <a:schemeClr val="tx1"/>
              </a:solidFill>
              <a:round/>
              <a:headEnd/>
              <a:tailEnd/>
            </a:ln>
            <a:effectLst/>
          </p:spPr>
          <p:txBody>
            <a:bodyPr/>
            <a:lstStyle/>
            <a:p>
              <a:endParaRPr lang="zh-CN" altLang="en-US"/>
            </a:p>
          </p:txBody>
        </p:sp>
        <p:sp>
          <p:nvSpPr>
            <p:cNvPr id="123953" name="Line 78"/>
            <p:cNvSpPr>
              <a:spLocks noChangeShapeType="1"/>
            </p:cNvSpPr>
            <p:nvPr/>
          </p:nvSpPr>
          <p:spPr bwMode="auto">
            <a:xfrm>
              <a:off x="4422" y="2126"/>
              <a:ext cx="0" cy="91"/>
            </a:xfrm>
            <a:prstGeom prst="line">
              <a:avLst/>
            </a:prstGeom>
            <a:noFill/>
            <a:ln w="9525">
              <a:solidFill>
                <a:schemeClr val="tx1"/>
              </a:solidFill>
              <a:round/>
              <a:headEnd/>
              <a:tailEnd/>
            </a:ln>
            <a:effectLst/>
          </p:spPr>
          <p:txBody>
            <a:bodyPr/>
            <a:lstStyle/>
            <a:p>
              <a:endParaRPr lang="zh-CN" altLang="en-US"/>
            </a:p>
          </p:txBody>
        </p:sp>
        <p:sp>
          <p:nvSpPr>
            <p:cNvPr id="123954" name="Line 79"/>
            <p:cNvSpPr>
              <a:spLocks noChangeShapeType="1"/>
            </p:cNvSpPr>
            <p:nvPr/>
          </p:nvSpPr>
          <p:spPr bwMode="auto">
            <a:xfrm>
              <a:off x="4377" y="2217"/>
              <a:ext cx="91" cy="0"/>
            </a:xfrm>
            <a:prstGeom prst="line">
              <a:avLst/>
            </a:prstGeom>
            <a:noFill/>
            <a:ln w="9525">
              <a:solidFill>
                <a:schemeClr val="tx1"/>
              </a:solidFill>
              <a:round/>
              <a:headEnd/>
              <a:tailEnd/>
            </a:ln>
            <a:effectLst/>
          </p:spPr>
          <p:txBody>
            <a:bodyPr/>
            <a:lstStyle/>
            <a:p>
              <a:endParaRPr lang="zh-CN" altLang="en-US"/>
            </a:p>
          </p:txBody>
        </p:sp>
        <p:sp>
          <p:nvSpPr>
            <p:cNvPr id="123955" name="Line 80"/>
            <p:cNvSpPr>
              <a:spLocks noChangeShapeType="1"/>
            </p:cNvSpPr>
            <p:nvPr/>
          </p:nvSpPr>
          <p:spPr bwMode="auto">
            <a:xfrm>
              <a:off x="4966" y="2125"/>
              <a:ext cx="91" cy="0"/>
            </a:xfrm>
            <a:prstGeom prst="line">
              <a:avLst/>
            </a:prstGeom>
            <a:noFill/>
            <a:ln w="9525">
              <a:solidFill>
                <a:schemeClr val="tx1"/>
              </a:solidFill>
              <a:round/>
              <a:headEnd/>
              <a:tailEnd/>
            </a:ln>
            <a:effectLst/>
          </p:spPr>
          <p:txBody>
            <a:bodyPr/>
            <a:lstStyle/>
            <a:p>
              <a:endParaRPr lang="zh-CN" altLang="en-US"/>
            </a:p>
          </p:txBody>
        </p:sp>
        <p:sp>
          <p:nvSpPr>
            <p:cNvPr id="123956" name="Line 81"/>
            <p:cNvSpPr>
              <a:spLocks noChangeShapeType="1"/>
            </p:cNvSpPr>
            <p:nvPr/>
          </p:nvSpPr>
          <p:spPr bwMode="auto">
            <a:xfrm>
              <a:off x="5057" y="2125"/>
              <a:ext cx="0" cy="91"/>
            </a:xfrm>
            <a:prstGeom prst="line">
              <a:avLst/>
            </a:prstGeom>
            <a:noFill/>
            <a:ln w="9525">
              <a:solidFill>
                <a:schemeClr val="tx1"/>
              </a:solidFill>
              <a:round/>
              <a:headEnd/>
              <a:tailEnd/>
            </a:ln>
            <a:effectLst/>
          </p:spPr>
          <p:txBody>
            <a:bodyPr/>
            <a:lstStyle/>
            <a:p>
              <a:endParaRPr lang="zh-CN" altLang="en-US"/>
            </a:p>
          </p:txBody>
        </p:sp>
        <p:sp>
          <p:nvSpPr>
            <p:cNvPr id="123957" name="Line 82"/>
            <p:cNvSpPr>
              <a:spLocks noChangeShapeType="1"/>
            </p:cNvSpPr>
            <p:nvPr/>
          </p:nvSpPr>
          <p:spPr bwMode="auto">
            <a:xfrm>
              <a:off x="5012" y="2216"/>
              <a:ext cx="91" cy="0"/>
            </a:xfrm>
            <a:prstGeom prst="line">
              <a:avLst/>
            </a:prstGeom>
            <a:noFill/>
            <a:ln w="9525">
              <a:solidFill>
                <a:schemeClr val="tx1"/>
              </a:solidFill>
              <a:round/>
              <a:headEnd/>
              <a:tailEnd/>
            </a:ln>
            <a:effectLst/>
          </p:spPr>
          <p:txBody>
            <a:bodyPr/>
            <a:lstStyle/>
            <a:p>
              <a:endParaRPr lang="zh-CN" altLang="en-US"/>
            </a:p>
          </p:txBody>
        </p:sp>
        <p:sp>
          <p:nvSpPr>
            <p:cNvPr id="123958" name="Rectangle 83"/>
            <p:cNvSpPr>
              <a:spLocks noChangeArrowheads="1"/>
            </p:cNvSpPr>
            <p:nvPr/>
          </p:nvSpPr>
          <p:spPr bwMode="auto">
            <a:xfrm>
              <a:off x="3388" y="2886"/>
              <a:ext cx="181" cy="194"/>
            </a:xfrm>
            <a:prstGeom prst="rect">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123959" name="Rectangle 84"/>
            <p:cNvSpPr>
              <a:spLocks noChangeArrowheads="1"/>
            </p:cNvSpPr>
            <p:nvPr/>
          </p:nvSpPr>
          <p:spPr bwMode="auto">
            <a:xfrm>
              <a:off x="3887" y="2886"/>
              <a:ext cx="181" cy="194"/>
            </a:xfrm>
            <a:prstGeom prst="rect">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123960" name="Rectangle 85"/>
            <p:cNvSpPr>
              <a:spLocks noChangeArrowheads="1"/>
            </p:cNvSpPr>
            <p:nvPr/>
          </p:nvSpPr>
          <p:spPr bwMode="auto">
            <a:xfrm>
              <a:off x="4831" y="2886"/>
              <a:ext cx="181" cy="193"/>
            </a:xfrm>
            <a:prstGeom prst="rect">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123961" name="Text Box 86"/>
            <p:cNvSpPr txBox="1">
              <a:spLocks noChangeArrowheads="1"/>
            </p:cNvSpPr>
            <p:nvPr/>
          </p:nvSpPr>
          <p:spPr bwMode="auto">
            <a:xfrm>
              <a:off x="4313" y="2752"/>
              <a:ext cx="363" cy="267"/>
            </a:xfrm>
            <a:prstGeom prst="rect">
              <a:avLst/>
            </a:prstGeom>
            <a:noFill/>
            <a:ln w="9525">
              <a:noFill/>
              <a:miter lim="800000"/>
              <a:headEnd/>
              <a:tailEnd/>
            </a:ln>
            <a:effectLst/>
          </p:spPr>
          <p:txBody>
            <a:bodyPr>
              <a:spAutoFit/>
            </a:bodyPr>
            <a:lstStyle/>
            <a:p>
              <a:pPr>
                <a:spcBef>
                  <a:spcPct val="50000"/>
                </a:spcBef>
              </a:pPr>
              <a:r>
                <a:rPr lang="en-US" altLang="zh-CN" sz="2000"/>
                <a:t>…</a:t>
              </a:r>
            </a:p>
          </p:txBody>
        </p:sp>
        <p:sp>
          <p:nvSpPr>
            <p:cNvPr id="123962" name="Text Box 87"/>
            <p:cNvSpPr txBox="1">
              <a:spLocks noChangeArrowheads="1"/>
            </p:cNvSpPr>
            <p:nvPr/>
          </p:nvSpPr>
          <p:spPr bwMode="auto">
            <a:xfrm>
              <a:off x="3978" y="3143"/>
              <a:ext cx="544" cy="267"/>
            </a:xfrm>
            <a:prstGeom prst="rect">
              <a:avLst/>
            </a:prstGeom>
            <a:noFill/>
            <a:ln w="9525">
              <a:noFill/>
              <a:miter lim="800000"/>
              <a:headEnd/>
              <a:tailEnd/>
            </a:ln>
            <a:effectLst/>
          </p:spPr>
          <p:txBody>
            <a:bodyPr>
              <a:spAutoFit/>
            </a:bodyPr>
            <a:lstStyle/>
            <a:p>
              <a:pPr>
                <a:spcBef>
                  <a:spcPct val="50000"/>
                </a:spcBef>
              </a:pPr>
              <a:r>
                <a:rPr lang="zh-CN" altLang="en-US" sz="2000" b="1"/>
                <a:t>操作</a:t>
              </a:r>
            </a:p>
          </p:txBody>
        </p:sp>
        <p:sp>
          <p:nvSpPr>
            <p:cNvPr id="123963" name="AutoShape 88"/>
            <p:cNvSpPr>
              <a:spLocks/>
            </p:cNvSpPr>
            <p:nvPr/>
          </p:nvSpPr>
          <p:spPr bwMode="auto">
            <a:xfrm rot="5400000">
              <a:off x="4137" y="2493"/>
              <a:ext cx="136" cy="1361"/>
            </a:xfrm>
            <a:prstGeom prst="rightBrace">
              <a:avLst>
                <a:gd name="adj1" fmla="val 83395"/>
                <a:gd name="adj2" fmla="val 50000"/>
              </a:avLst>
            </a:prstGeom>
            <a:noFill/>
            <a:ln w="9525">
              <a:solidFill>
                <a:schemeClr val="tx1"/>
              </a:solidFill>
              <a:round/>
              <a:headEnd/>
              <a:tailEnd/>
            </a:ln>
            <a:effectLst/>
          </p:spPr>
          <p:txBody>
            <a:bodyPr wrap="none" anchor="ctr"/>
            <a:lstStyle/>
            <a:p>
              <a:endParaRPr lang="zh-CN" altLang="en-US"/>
            </a:p>
          </p:txBody>
        </p:sp>
        <p:sp>
          <p:nvSpPr>
            <p:cNvPr id="123964" name="Line 89"/>
            <p:cNvSpPr>
              <a:spLocks noChangeShapeType="1"/>
            </p:cNvSpPr>
            <p:nvPr/>
          </p:nvSpPr>
          <p:spPr bwMode="auto">
            <a:xfrm>
              <a:off x="3070" y="2725"/>
              <a:ext cx="408" cy="0"/>
            </a:xfrm>
            <a:prstGeom prst="line">
              <a:avLst/>
            </a:prstGeom>
            <a:noFill/>
            <a:ln w="9525">
              <a:solidFill>
                <a:schemeClr val="tx1"/>
              </a:solidFill>
              <a:round/>
              <a:headEnd/>
              <a:tailEnd/>
            </a:ln>
            <a:effectLst/>
          </p:spPr>
          <p:txBody>
            <a:bodyPr/>
            <a:lstStyle/>
            <a:p>
              <a:endParaRPr lang="zh-CN" altLang="en-US"/>
            </a:p>
          </p:txBody>
        </p:sp>
        <p:sp>
          <p:nvSpPr>
            <p:cNvPr id="123965" name="Line 90"/>
            <p:cNvSpPr>
              <a:spLocks noChangeShapeType="1"/>
            </p:cNvSpPr>
            <p:nvPr/>
          </p:nvSpPr>
          <p:spPr bwMode="auto">
            <a:xfrm flipH="1">
              <a:off x="3534" y="2725"/>
              <a:ext cx="90" cy="91"/>
            </a:xfrm>
            <a:prstGeom prst="line">
              <a:avLst/>
            </a:prstGeom>
            <a:noFill/>
            <a:ln w="9525">
              <a:solidFill>
                <a:schemeClr val="tx1"/>
              </a:solidFill>
              <a:round/>
              <a:headEnd/>
              <a:tailEnd/>
            </a:ln>
            <a:effectLst/>
          </p:spPr>
          <p:txBody>
            <a:bodyPr/>
            <a:lstStyle/>
            <a:p>
              <a:endParaRPr lang="zh-CN" altLang="en-US"/>
            </a:p>
          </p:txBody>
        </p:sp>
        <p:sp>
          <p:nvSpPr>
            <p:cNvPr id="123966" name="Line 91"/>
            <p:cNvSpPr>
              <a:spLocks noChangeShapeType="1"/>
            </p:cNvSpPr>
            <p:nvPr/>
          </p:nvSpPr>
          <p:spPr bwMode="auto">
            <a:xfrm>
              <a:off x="3624" y="2725"/>
              <a:ext cx="544" cy="0"/>
            </a:xfrm>
            <a:prstGeom prst="line">
              <a:avLst/>
            </a:prstGeom>
            <a:noFill/>
            <a:ln w="9525">
              <a:solidFill>
                <a:schemeClr val="tx1"/>
              </a:solidFill>
              <a:round/>
              <a:headEnd/>
              <a:tailEnd/>
            </a:ln>
            <a:effectLst/>
          </p:spPr>
          <p:txBody>
            <a:bodyPr/>
            <a:lstStyle/>
            <a:p>
              <a:endParaRPr lang="zh-CN" altLang="en-US"/>
            </a:p>
          </p:txBody>
        </p:sp>
        <p:sp>
          <p:nvSpPr>
            <p:cNvPr id="123967" name="Line 92"/>
            <p:cNvSpPr>
              <a:spLocks noChangeShapeType="1"/>
            </p:cNvSpPr>
            <p:nvPr/>
          </p:nvSpPr>
          <p:spPr bwMode="auto">
            <a:xfrm flipH="1">
              <a:off x="4224" y="2734"/>
              <a:ext cx="90" cy="91"/>
            </a:xfrm>
            <a:prstGeom prst="line">
              <a:avLst/>
            </a:prstGeom>
            <a:noFill/>
            <a:ln w="9525">
              <a:solidFill>
                <a:schemeClr val="tx1"/>
              </a:solidFill>
              <a:round/>
              <a:headEnd/>
              <a:tailEnd/>
            </a:ln>
            <a:effectLst/>
          </p:spPr>
          <p:txBody>
            <a:bodyPr/>
            <a:lstStyle/>
            <a:p>
              <a:endParaRPr lang="zh-CN" altLang="en-US"/>
            </a:p>
          </p:txBody>
        </p:sp>
        <p:sp>
          <p:nvSpPr>
            <p:cNvPr id="123968" name="Line 93"/>
            <p:cNvSpPr>
              <a:spLocks noChangeShapeType="1"/>
            </p:cNvSpPr>
            <p:nvPr/>
          </p:nvSpPr>
          <p:spPr bwMode="auto">
            <a:xfrm>
              <a:off x="4314" y="2734"/>
              <a:ext cx="544" cy="0"/>
            </a:xfrm>
            <a:prstGeom prst="line">
              <a:avLst/>
            </a:prstGeom>
            <a:noFill/>
            <a:ln w="9525">
              <a:solidFill>
                <a:schemeClr val="tx1"/>
              </a:solidFill>
              <a:round/>
              <a:headEnd/>
              <a:tailEnd/>
            </a:ln>
            <a:effectLst/>
          </p:spPr>
          <p:txBody>
            <a:bodyPr/>
            <a:lstStyle/>
            <a:p>
              <a:endParaRPr lang="zh-CN" altLang="en-US"/>
            </a:p>
          </p:txBody>
        </p:sp>
        <p:sp>
          <p:nvSpPr>
            <p:cNvPr id="123969" name="Line 94"/>
            <p:cNvSpPr>
              <a:spLocks noChangeShapeType="1"/>
            </p:cNvSpPr>
            <p:nvPr/>
          </p:nvSpPr>
          <p:spPr bwMode="auto">
            <a:xfrm flipH="1">
              <a:off x="4877" y="2734"/>
              <a:ext cx="90" cy="91"/>
            </a:xfrm>
            <a:prstGeom prst="line">
              <a:avLst/>
            </a:prstGeom>
            <a:noFill/>
            <a:ln w="9525">
              <a:solidFill>
                <a:schemeClr val="tx1"/>
              </a:solidFill>
              <a:round/>
              <a:headEnd/>
              <a:tailEnd/>
            </a:ln>
            <a:effectLst/>
          </p:spPr>
          <p:txBody>
            <a:bodyPr/>
            <a:lstStyle/>
            <a:p>
              <a:endParaRPr lang="zh-CN" altLang="en-US"/>
            </a:p>
          </p:txBody>
        </p:sp>
        <p:sp>
          <p:nvSpPr>
            <p:cNvPr id="123970" name="Line 95"/>
            <p:cNvSpPr>
              <a:spLocks noChangeShapeType="1"/>
            </p:cNvSpPr>
            <p:nvPr/>
          </p:nvSpPr>
          <p:spPr bwMode="auto">
            <a:xfrm>
              <a:off x="3061" y="2024"/>
              <a:ext cx="0" cy="1388"/>
            </a:xfrm>
            <a:prstGeom prst="line">
              <a:avLst/>
            </a:prstGeom>
            <a:noFill/>
            <a:ln w="9525">
              <a:solidFill>
                <a:schemeClr val="tx1"/>
              </a:solidFill>
              <a:round/>
              <a:headEnd/>
              <a:tailEnd/>
            </a:ln>
            <a:effectLst/>
          </p:spPr>
          <p:txBody>
            <a:bodyPr/>
            <a:lstStyle/>
            <a:p>
              <a:endParaRPr lang="zh-CN" altLang="en-US"/>
            </a:p>
          </p:txBody>
        </p:sp>
        <p:sp>
          <p:nvSpPr>
            <p:cNvPr id="123971" name="Line 96"/>
            <p:cNvSpPr>
              <a:spLocks noChangeShapeType="1"/>
            </p:cNvSpPr>
            <p:nvPr/>
          </p:nvSpPr>
          <p:spPr bwMode="auto">
            <a:xfrm>
              <a:off x="5284" y="2024"/>
              <a:ext cx="0" cy="1388"/>
            </a:xfrm>
            <a:prstGeom prst="line">
              <a:avLst/>
            </a:prstGeom>
            <a:noFill/>
            <a:ln w="9525">
              <a:solidFill>
                <a:schemeClr val="tx1"/>
              </a:solidFill>
              <a:round/>
              <a:headEnd/>
              <a:tailEnd/>
            </a:ln>
            <a:effectLst/>
          </p:spPr>
          <p:txBody>
            <a:bodyPr/>
            <a:lstStyle/>
            <a:p>
              <a:endParaRPr lang="zh-CN" altLang="en-US"/>
            </a:p>
          </p:txBody>
        </p:sp>
        <p:sp>
          <p:nvSpPr>
            <p:cNvPr id="123972" name="Line 97"/>
            <p:cNvSpPr>
              <a:spLocks noChangeShapeType="1"/>
            </p:cNvSpPr>
            <p:nvPr/>
          </p:nvSpPr>
          <p:spPr bwMode="auto">
            <a:xfrm>
              <a:off x="4967" y="2735"/>
              <a:ext cx="317" cy="0"/>
            </a:xfrm>
            <a:prstGeom prst="line">
              <a:avLst/>
            </a:prstGeom>
            <a:noFill/>
            <a:ln w="9525">
              <a:solidFill>
                <a:schemeClr val="tx1"/>
              </a:solidFill>
              <a:round/>
              <a:headEnd/>
              <a:tailEnd/>
            </a:ln>
            <a:effectLst/>
          </p:spPr>
          <p:txBody>
            <a:bodyPr/>
            <a:lstStyle/>
            <a:p>
              <a:endParaRPr lang="zh-CN" altLang="en-US"/>
            </a:p>
          </p:txBody>
        </p:sp>
        <p:sp>
          <p:nvSpPr>
            <p:cNvPr id="123973" name="Text Box 98"/>
            <p:cNvSpPr txBox="1">
              <a:spLocks noChangeArrowheads="1"/>
            </p:cNvSpPr>
            <p:nvPr/>
          </p:nvSpPr>
          <p:spPr bwMode="auto">
            <a:xfrm>
              <a:off x="3297" y="2460"/>
              <a:ext cx="272" cy="267"/>
            </a:xfrm>
            <a:prstGeom prst="rect">
              <a:avLst/>
            </a:prstGeom>
            <a:noFill/>
            <a:ln w="9525">
              <a:noFill/>
              <a:miter lim="800000"/>
              <a:headEnd/>
              <a:tailEnd/>
            </a:ln>
            <a:effectLst/>
          </p:spPr>
          <p:txBody>
            <a:bodyPr>
              <a:spAutoFit/>
            </a:bodyPr>
            <a:lstStyle/>
            <a:p>
              <a:pPr>
                <a:spcBef>
                  <a:spcPct val="50000"/>
                </a:spcBef>
              </a:pPr>
              <a:r>
                <a:rPr lang="en-US" altLang="zh-CN" sz="2000" b="1"/>
                <a:t>X</a:t>
              </a:r>
            </a:p>
          </p:txBody>
        </p:sp>
        <p:sp>
          <p:nvSpPr>
            <p:cNvPr id="123974" name="Text Box 99"/>
            <p:cNvSpPr txBox="1">
              <a:spLocks noChangeArrowheads="1"/>
            </p:cNvSpPr>
            <p:nvPr/>
          </p:nvSpPr>
          <p:spPr bwMode="auto">
            <a:xfrm>
              <a:off x="3978" y="2451"/>
              <a:ext cx="272" cy="266"/>
            </a:xfrm>
            <a:prstGeom prst="rect">
              <a:avLst/>
            </a:prstGeom>
            <a:noFill/>
            <a:ln w="9525">
              <a:noFill/>
              <a:miter lim="800000"/>
              <a:headEnd/>
              <a:tailEnd/>
            </a:ln>
            <a:effectLst/>
          </p:spPr>
          <p:txBody>
            <a:bodyPr>
              <a:spAutoFit/>
            </a:bodyPr>
            <a:lstStyle/>
            <a:p>
              <a:pPr>
                <a:spcBef>
                  <a:spcPct val="50000"/>
                </a:spcBef>
              </a:pPr>
              <a:r>
                <a:rPr lang="en-US" altLang="zh-CN" sz="2000" b="1"/>
                <a:t>Y</a:t>
              </a:r>
            </a:p>
          </p:txBody>
        </p:sp>
        <p:sp>
          <p:nvSpPr>
            <p:cNvPr id="123975" name="Text Box 100"/>
            <p:cNvSpPr txBox="1">
              <a:spLocks noChangeArrowheads="1"/>
            </p:cNvSpPr>
            <p:nvPr/>
          </p:nvSpPr>
          <p:spPr bwMode="auto">
            <a:xfrm>
              <a:off x="4396" y="2443"/>
              <a:ext cx="589" cy="267"/>
            </a:xfrm>
            <a:prstGeom prst="rect">
              <a:avLst/>
            </a:prstGeom>
            <a:noFill/>
            <a:ln w="9525">
              <a:noFill/>
              <a:miter lim="800000"/>
              <a:headEnd/>
              <a:tailEnd/>
            </a:ln>
            <a:effectLst/>
          </p:spPr>
          <p:txBody>
            <a:bodyPr>
              <a:spAutoFit/>
            </a:bodyPr>
            <a:lstStyle/>
            <a:p>
              <a:pPr>
                <a:spcBef>
                  <a:spcPct val="50000"/>
                </a:spcBef>
              </a:pPr>
              <a:r>
                <a:rPr lang="en-US" altLang="zh-CN" sz="2000" b="1"/>
                <a:t>Next</a:t>
              </a:r>
            </a:p>
          </p:txBody>
        </p:sp>
        <p:sp>
          <p:nvSpPr>
            <p:cNvPr id="123976" name="Text Box 102"/>
            <p:cNvSpPr txBox="1">
              <a:spLocks noChangeArrowheads="1"/>
            </p:cNvSpPr>
            <p:nvPr/>
          </p:nvSpPr>
          <p:spPr bwMode="auto">
            <a:xfrm>
              <a:off x="3696" y="1829"/>
              <a:ext cx="1135" cy="266"/>
            </a:xfrm>
            <a:prstGeom prst="rect">
              <a:avLst/>
            </a:prstGeom>
            <a:noFill/>
            <a:ln w="9525">
              <a:noFill/>
              <a:miter lim="800000"/>
              <a:headEnd/>
              <a:tailEnd/>
            </a:ln>
            <a:effectLst/>
          </p:spPr>
          <p:txBody>
            <a:bodyPr>
              <a:spAutoFit/>
            </a:bodyPr>
            <a:lstStyle/>
            <a:p>
              <a:pPr algn="ctr">
                <a:spcBef>
                  <a:spcPct val="20000"/>
                </a:spcBef>
              </a:pPr>
              <a:r>
                <a:rPr lang="zh-CN" altLang="en-US" sz="2000" b="1"/>
                <a:t>条件队列</a:t>
              </a:r>
            </a:p>
          </p:txBody>
        </p:sp>
      </p:grpSp>
      <p:sp>
        <p:nvSpPr>
          <p:cNvPr id="73" name="Title 1"/>
          <p:cNvSpPr>
            <a:spLocks noGrp="1"/>
          </p:cNvSpPr>
          <p:nvPr>
            <p:ph type="title"/>
          </p:nvPr>
        </p:nvSpPr>
        <p:spPr>
          <a:xfrm>
            <a:off x="628650" y="140676"/>
            <a:ext cx="7886700" cy="693274"/>
          </a:xfrm>
        </p:spPr>
        <p:txBody>
          <a:bodyPr/>
          <a:lstStyle/>
          <a:p>
            <a:r>
              <a:rPr lang="zh-CN" altLang="en-US" dirty="0" smtClean="0"/>
              <a:t>管程（</a:t>
            </a:r>
            <a:r>
              <a:rPr lang="en-US" altLang="zh-CN" dirty="0" smtClean="0"/>
              <a:t>Monitor</a:t>
            </a:r>
            <a:r>
              <a:rPr lang="zh-CN" altLang="en-US"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a:xfrm>
            <a:off x="415166" y="1464227"/>
            <a:ext cx="8424862" cy="4608513"/>
          </a:xfrm>
          <a:noFill/>
        </p:spPr>
        <p:txBody>
          <a:bodyPr>
            <a:normAutofit/>
          </a:bodyPr>
          <a:lstStyle/>
          <a:p>
            <a:pPr>
              <a:lnSpc>
                <a:spcPct val="115000"/>
              </a:lnSpc>
            </a:pPr>
            <a:r>
              <a:rPr lang="zh-CN" altLang="en-US" sz="2200" dirty="0" smtClean="0"/>
              <a:t>条件变量</a:t>
            </a:r>
          </a:p>
          <a:p>
            <a:pPr lvl="1">
              <a:lnSpc>
                <a:spcPct val="115000"/>
              </a:lnSpc>
            </a:pPr>
            <a:r>
              <a:rPr lang="zh-CN" altLang="en-US" sz="1600" dirty="0" smtClean="0"/>
              <a:t>每个条件变量表示一种等待原因，并不取具体数值</a:t>
            </a:r>
            <a:r>
              <a:rPr lang="en-US" altLang="zh-CN" sz="1600" dirty="0" smtClean="0"/>
              <a:t>——</a:t>
            </a:r>
            <a:r>
              <a:rPr lang="zh-CN" altLang="en-US" sz="1600" dirty="0" smtClean="0"/>
              <a:t>相当于每个原因对应一个队列。条件变量实际上是一个指针，它可以指向空，或者指向由进程控制块所构成队列的头部，初始时它指向空 </a:t>
            </a:r>
            <a:r>
              <a:rPr lang="en-US" altLang="zh-CN" sz="1600" dirty="0" smtClean="0"/>
              <a:t>(X</a:t>
            </a:r>
            <a:r>
              <a:rPr lang="zh-CN" altLang="en-US" sz="1600" dirty="0" smtClean="0"/>
              <a:t>、</a:t>
            </a:r>
            <a:r>
              <a:rPr lang="en-US" altLang="zh-CN" sz="1600" dirty="0" smtClean="0"/>
              <a:t>Y</a:t>
            </a:r>
            <a:r>
              <a:rPr lang="zh-CN" altLang="en-US" sz="1600" dirty="0" smtClean="0"/>
              <a:t>、</a:t>
            </a:r>
            <a:r>
              <a:rPr lang="en-US" altLang="zh-CN" sz="1600" dirty="0" smtClean="0"/>
              <a:t>Next)</a:t>
            </a:r>
            <a:r>
              <a:rPr lang="zh-CN" altLang="en-US" sz="1600" dirty="0" smtClean="0"/>
              <a:t>。</a:t>
            </a:r>
          </a:p>
          <a:p>
            <a:pPr lvl="1">
              <a:lnSpc>
                <a:spcPct val="115000"/>
              </a:lnSpc>
            </a:pPr>
            <a:r>
              <a:rPr lang="zh-CN" altLang="en-US" sz="1600" dirty="0" smtClean="0"/>
              <a:t>对于条件型变量，可以执行</a:t>
            </a:r>
            <a:r>
              <a:rPr lang="en-US" altLang="zh-CN" sz="1600" dirty="0" smtClean="0"/>
              <a:t>wait</a:t>
            </a:r>
            <a:r>
              <a:rPr lang="zh-CN" altLang="en-US" sz="1600" dirty="0" smtClean="0"/>
              <a:t>和</a:t>
            </a:r>
            <a:r>
              <a:rPr lang="en-US" altLang="zh-CN" sz="1600" dirty="0" smtClean="0"/>
              <a:t>signal</a:t>
            </a:r>
            <a:r>
              <a:rPr lang="zh-CN" altLang="en-US" sz="1600" dirty="0" smtClean="0"/>
              <a:t>操作。 </a:t>
            </a:r>
            <a:r>
              <a:rPr lang="en-US" altLang="zh-CN" sz="1600" dirty="0" smtClean="0"/>
              <a:t>wait(x)</a:t>
            </a:r>
            <a:r>
              <a:rPr lang="zh-CN" altLang="en-US" sz="1600" dirty="0" smtClean="0"/>
              <a:t>将自己阻塞在</a:t>
            </a:r>
            <a:r>
              <a:rPr lang="en-US" altLang="zh-CN" sz="1600" dirty="0" smtClean="0"/>
              <a:t>x</a:t>
            </a:r>
            <a:r>
              <a:rPr lang="zh-CN" altLang="en-US" sz="1600" dirty="0" smtClean="0"/>
              <a:t>队列中，</a:t>
            </a:r>
            <a:r>
              <a:rPr lang="en-US" altLang="zh-CN" sz="1600" dirty="0" smtClean="0"/>
              <a:t>signal(x)</a:t>
            </a:r>
            <a:r>
              <a:rPr lang="zh-CN" altLang="en-US" sz="1600" dirty="0" smtClean="0"/>
              <a:t>将</a:t>
            </a:r>
            <a:r>
              <a:rPr lang="en-US" altLang="zh-CN" sz="1600" dirty="0" smtClean="0"/>
              <a:t>x</a:t>
            </a:r>
            <a:r>
              <a:rPr lang="zh-CN" altLang="en-US" sz="1600" dirty="0" smtClean="0"/>
              <a:t>队列中的一个进程唤醒。</a:t>
            </a:r>
          </a:p>
        </p:txBody>
      </p:sp>
      <p:grpSp>
        <p:nvGrpSpPr>
          <p:cNvPr id="2" name="Group 4"/>
          <p:cNvGrpSpPr>
            <a:grpSpLocks/>
          </p:cNvGrpSpPr>
          <p:nvPr/>
        </p:nvGrpSpPr>
        <p:grpSpPr bwMode="auto">
          <a:xfrm>
            <a:off x="2855843" y="4292255"/>
            <a:ext cx="2867025" cy="1609725"/>
            <a:chOff x="3750" y="1253"/>
            <a:chExt cx="1806" cy="1014"/>
          </a:xfrm>
        </p:grpSpPr>
        <p:sp>
          <p:nvSpPr>
            <p:cNvPr id="124933" name="Rectangle 5"/>
            <p:cNvSpPr>
              <a:spLocks noChangeArrowheads="1"/>
            </p:cNvSpPr>
            <p:nvPr/>
          </p:nvSpPr>
          <p:spPr bwMode="auto">
            <a:xfrm>
              <a:off x="3968" y="1607"/>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34" name="Line 6"/>
            <p:cNvSpPr>
              <a:spLocks noChangeShapeType="1"/>
            </p:cNvSpPr>
            <p:nvPr/>
          </p:nvSpPr>
          <p:spPr bwMode="auto">
            <a:xfrm flipV="1">
              <a:off x="4032" y="1698"/>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35" name="Rectangle 7"/>
            <p:cNvSpPr>
              <a:spLocks noChangeArrowheads="1"/>
            </p:cNvSpPr>
            <p:nvPr/>
          </p:nvSpPr>
          <p:spPr bwMode="auto">
            <a:xfrm>
              <a:off x="3968" y="1798"/>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36" name="Line 8"/>
            <p:cNvSpPr>
              <a:spLocks noChangeShapeType="1"/>
            </p:cNvSpPr>
            <p:nvPr/>
          </p:nvSpPr>
          <p:spPr bwMode="auto">
            <a:xfrm flipV="1">
              <a:off x="4032" y="1889"/>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37" name="Rectangle 9"/>
            <p:cNvSpPr>
              <a:spLocks noChangeArrowheads="1"/>
            </p:cNvSpPr>
            <p:nvPr/>
          </p:nvSpPr>
          <p:spPr bwMode="auto">
            <a:xfrm>
              <a:off x="3968" y="19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38" name="Line 10"/>
            <p:cNvSpPr>
              <a:spLocks noChangeShapeType="1"/>
            </p:cNvSpPr>
            <p:nvPr/>
          </p:nvSpPr>
          <p:spPr bwMode="auto">
            <a:xfrm flipV="1">
              <a:off x="4032" y="20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39" name="Rectangle 11"/>
            <p:cNvSpPr>
              <a:spLocks noChangeArrowheads="1"/>
            </p:cNvSpPr>
            <p:nvPr/>
          </p:nvSpPr>
          <p:spPr bwMode="auto">
            <a:xfrm>
              <a:off x="4648" y="1607"/>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40" name="Line 12"/>
            <p:cNvSpPr>
              <a:spLocks noChangeShapeType="1"/>
            </p:cNvSpPr>
            <p:nvPr/>
          </p:nvSpPr>
          <p:spPr bwMode="auto">
            <a:xfrm flipV="1">
              <a:off x="4712" y="1698"/>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41" name="Rectangle 13"/>
            <p:cNvSpPr>
              <a:spLocks noChangeArrowheads="1"/>
            </p:cNvSpPr>
            <p:nvPr/>
          </p:nvSpPr>
          <p:spPr bwMode="auto">
            <a:xfrm>
              <a:off x="4648" y="1798"/>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42" name="Line 14"/>
            <p:cNvSpPr>
              <a:spLocks noChangeShapeType="1"/>
            </p:cNvSpPr>
            <p:nvPr/>
          </p:nvSpPr>
          <p:spPr bwMode="auto">
            <a:xfrm flipV="1">
              <a:off x="4712" y="1889"/>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43" name="Rectangle 15"/>
            <p:cNvSpPr>
              <a:spLocks noChangeArrowheads="1"/>
            </p:cNvSpPr>
            <p:nvPr/>
          </p:nvSpPr>
          <p:spPr bwMode="auto">
            <a:xfrm>
              <a:off x="4648" y="19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44" name="Line 16"/>
            <p:cNvSpPr>
              <a:spLocks noChangeShapeType="1"/>
            </p:cNvSpPr>
            <p:nvPr/>
          </p:nvSpPr>
          <p:spPr bwMode="auto">
            <a:xfrm flipV="1">
              <a:off x="4712" y="20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45" name="Rectangle 17"/>
            <p:cNvSpPr>
              <a:spLocks noChangeArrowheads="1"/>
            </p:cNvSpPr>
            <p:nvPr/>
          </p:nvSpPr>
          <p:spPr bwMode="auto">
            <a:xfrm>
              <a:off x="5283" y="1607"/>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46" name="Line 18"/>
            <p:cNvSpPr>
              <a:spLocks noChangeShapeType="1"/>
            </p:cNvSpPr>
            <p:nvPr/>
          </p:nvSpPr>
          <p:spPr bwMode="auto">
            <a:xfrm flipV="1">
              <a:off x="5347" y="1698"/>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47" name="Rectangle 19"/>
            <p:cNvSpPr>
              <a:spLocks noChangeArrowheads="1"/>
            </p:cNvSpPr>
            <p:nvPr/>
          </p:nvSpPr>
          <p:spPr bwMode="auto">
            <a:xfrm>
              <a:off x="5283" y="1798"/>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48" name="Line 20"/>
            <p:cNvSpPr>
              <a:spLocks noChangeShapeType="1"/>
            </p:cNvSpPr>
            <p:nvPr/>
          </p:nvSpPr>
          <p:spPr bwMode="auto">
            <a:xfrm flipV="1">
              <a:off x="5347" y="1889"/>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49" name="Rectangle 21"/>
            <p:cNvSpPr>
              <a:spLocks noChangeArrowheads="1"/>
            </p:cNvSpPr>
            <p:nvPr/>
          </p:nvSpPr>
          <p:spPr bwMode="auto">
            <a:xfrm>
              <a:off x="5283" y="1989"/>
              <a:ext cx="136" cy="91"/>
            </a:xfrm>
            <a:prstGeom prst="rect">
              <a:avLst/>
            </a:prstGeom>
            <a:solidFill>
              <a:srgbClr val="FFCCFF"/>
            </a:solidFill>
            <a:ln w="9525">
              <a:solidFill>
                <a:schemeClr val="tx1"/>
              </a:solidFill>
              <a:miter lim="800000"/>
              <a:headEnd/>
              <a:tailEnd/>
            </a:ln>
            <a:effectLst/>
          </p:spPr>
          <p:txBody>
            <a:bodyPr wrap="none" anchor="ctr"/>
            <a:lstStyle/>
            <a:p>
              <a:endParaRPr lang="zh-CN" altLang="en-US"/>
            </a:p>
          </p:txBody>
        </p:sp>
        <p:sp>
          <p:nvSpPr>
            <p:cNvPr id="124950" name="Line 22"/>
            <p:cNvSpPr>
              <a:spLocks noChangeShapeType="1"/>
            </p:cNvSpPr>
            <p:nvPr/>
          </p:nvSpPr>
          <p:spPr bwMode="auto">
            <a:xfrm flipV="1">
              <a:off x="5347" y="2080"/>
              <a:ext cx="0" cy="90"/>
            </a:xfrm>
            <a:prstGeom prst="line">
              <a:avLst/>
            </a:prstGeom>
            <a:noFill/>
            <a:ln w="9525">
              <a:solidFill>
                <a:schemeClr val="tx1"/>
              </a:solidFill>
              <a:round/>
              <a:headEnd/>
              <a:tailEnd type="triangle" w="med" len="med"/>
            </a:ln>
            <a:effectLst/>
          </p:spPr>
          <p:txBody>
            <a:bodyPr/>
            <a:lstStyle/>
            <a:p>
              <a:endParaRPr lang="zh-CN" altLang="en-US"/>
            </a:p>
          </p:txBody>
        </p:sp>
        <p:sp>
          <p:nvSpPr>
            <p:cNvPr id="124951" name="Line 23"/>
            <p:cNvSpPr>
              <a:spLocks noChangeShapeType="1"/>
            </p:cNvSpPr>
            <p:nvPr/>
          </p:nvSpPr>
          <p:spPr bwMode="auto">
            <a:xfrm>
              <a:off x="4104" y="1652"/>
              <a:ext cx="91" cy="0"/>
            </a:xfrm>
            <a:prstGeom prst="line">
              <a:avLst/>
            </a:prstGeom>
            <a:noFill/>
            <a:ln w="9525">
              <a:solidFill>
                <a:schemeClr val="tx1"/>
              </a:solidFill>
              <a:round/>
              <a:headEnd/>
              <a:tailEnd/>
            </a:ln>
            <a:effectLst/>
          </p:spPr>
          <p:txBody>
            <a:bodyPr/>
            <a:lstStyle/>
            <a:p>
              <a:endParaRPr lang="zh-CN" altLang="en-US"/>
            </a:p>
          </p:txBody>
        </p:sp>
        <p:sp>
          <p:nvSpPr>
            <p:cNvPr id="124952" name="Line 24"/>
            <p:cNvSpPr>
              <a:spLocks noChangeShapeType="1"/>
            </p:cNvSpPr>
            <p:nvPr/>
          </p:nvSpPr>
          <p:spPr bwMode="auto">
            <a:xfrm>
              <a:off x="4204" y="1652"/>
              <a:ext cx="0" cy="91"/>
            </a:xfrm>
            <a:prstGeom prst="line">
              <a:avLst/>
            </a:prstGeom>
            <a:noFill/>
            <a:ln w="9525">
              <a:solidFill>
                <a:schemeClr val="tx1"/>
              </a:solidFill>
              <a:round/>
              <a:headEnd/>
              <a:tailEnd/>
            </a:ln>
            <a:effectLst/>
          </p:spPr>
          <p:txBody>
            <a:bodyPr/>
            <a:lstStyle/>
            <a:p>
              <a:endParaRPr lang="zh-CN" altLang="en-US"/>
            </a:p>
          </p:txBody>
        </p:sp>
        <p:sp>
          <p:nvSpPr>
            <p:cNvPr id="124953" name="Line 25"/>
            <p:cNvSpPr>
              <a:spLocks noChangeShapeType="1"/>
            </p:cNvSpPr>
            <p:nvPr/>
          </p:nvSpPr>
          <p:spPr bwMode="auto">
            <a:xfrm>
              <a:off x="4159" y="1743"/>
              <a:ext cx="91" cy="0"/>
            </a:xfrm>
            <a:prstGeom prst="line">
              <a:avLst/>
            </a:prstGeom>
            <a:noFill/>
            <a:ln w="9525">
              <a:solidFill>
                <a:schemeClr val="tx1"/>
              </a:solidFill>
              <a:round/>
              <a:headEnd/>
              <a:tailEnd/>
            </a:ln>
            <a:effectLst/>
          </p:spPr>
          <p:txBody>
            <a:bodyPr/>
            <a:lstStyle/>
            <a:p>
              <a:endParaRPr lang="zh-CN" altLang="en-US"/>
            </a:p>
          </p:txBody>
        </p:sp>
        <p:sp>
          <p:nvSpPr>
            <p:cNvPr id="124954" name="Line 26"/>
            <p:cNvSpPr>
              <a:spLocks noChangeShapeType="1"/>
            </p:cNvSpPr>
            <p:nvPr/>
          </p:nvSpPr>
          <p:spPr bwMode="auto">
            <a:xfrm>
              <a:off x="4784" y="1644"/>
              <a:ext cx="91" cy="0"/>
            </a:xfrm>
            <a:prstGeom prst="line">
              <a:avLst/>
            </a:prstGeom>
            <a:noFill/>
            <a:ln w="9525">
              <a:solidFill>
                <a:schemeClr val="tx1"/>
              </a:solidFill>
              <a:round/>
              <a:headEnd/>
              <a:tailEnd/>
            </a:ln>
            <a:effectLst/>
          </p:spPr>
          <p:txBody>
            <a:bodyPr/>
            <a:lstStyle/>
            <a:p>
              <a:endParaRPr lang="zh-CN" altLang="en-US"/>
            </a:p>
          </p:txBody>
        </p:sp>
        <p:sp>
          <p:nvSpPr>
            <p:cNvPr id="124955" name="Line 27"/>
            <p:cNvSpPr>
              <a:spLocks noChangeShapeType="1"/>
            </p:cNvSpPr>
            <p:nvPr/>
          </p:nvSpPr>
          <p:spPr bwMode="auto">
            <a:xfrm>
              <a:off x="4875" y="1644"/>
              <a:ext cx="0" cy="91"/>
            </a:xfrm>
            <a:prstGeom prst="line">
              <a:avLst/>
            </a:prstGeom>
            <a:noFill/>
            <a:ln w="9525">
              <a:solidFill>
                <a:schemeClr val="tx1"/>
              </a:solidFill>
              <a:round/>
              <a:headEnd/>
              <a:tailEnd/>
            </a:ln>
            <a:effectLst/>
          </p:spPr>
          <p:txBody>
            <a:bodyPr/>
            <a:lstStyle/>
            <a:p>
              <a:endParaRPr lang="zh-CN" altLang="en-US"/>
            </a:p>
          </p:txBody>
        </p:sp>
        <p:sp>
          <p:nvSpPr>
            <p:cNvPr id="124956" name="Line 28"/>
            <p:cNvSpPr>
              <a:spLocks noChangeShapeType="1"/>
            </p:cNvSpPr>
            <p:nvPr/>
          </p:nvSpPr>
          <p:spPr bwMode="auto">
            <a:xfrm>
              <a:off x="4830" y="1735"/>
              <a:ext cx="91" cy="0"/>
            </a:xfrm>
            <a:prstGeom prst="line">
              <a:avLst/>
            </a:prstGeom>
            <a:noFill/>
            <a:ln w="9525">
              <a:solidFill>
                <a:schemeClr val="tx1"/>
              </a:solidFill>
              <a:round/>
              <a:headEnd/>
              <a:tailEnd/>
            </a:ln>
            <a:effectLst/>
          </p:spPr>
          <p:txBody>
            <a:bodyPr/>
            <a:lstStyle/>
            <a:p>
              <a:endParaRPr lang="zh-CN" altLang="en-US"/>
            </a:p>
          </p:txBody>
        </p:sp>
        <p:sp>
          <p:nvSpPr>
            <p:cNvPr id="124957" name="Line 29"/>
            <p:cNvSpPr>
              <a:spLocks noChangeShapeType="1"/>
            </p:cNvSpPr>
            <p:nvPr/>
          </p:nvSpPr>
          <p:spPr bwMode="auto">
            <a:xfrm>
              <a:off x="5419" y="1643"/>
              <a:ext cx="91" cy="0"/>
            </a:xfrm>
            <a:prstGeom prst="line">
              <a:avLst/>
            </a:prstGeom>
            <a:noFill/>
            <a:ln w="9525">
              <a:solidFill>
                <a:schemeClr val="tx1"/>
              </a:solidFill>
              <a:round/>
              <a:headEnd/>
              <a:tailEnd/>
            </a:ln>
            <a:effectLst/>
          </p:spPr>
          <p:txBody>
            <a:bodyPr/>
            <a:lstStyle/>
            <a:p>
              <a:endParaRPr lang="zh-CN" altLang="en-US"/>
            </a:p>
          </p:txBody>
        </p:sp>
        <p:sp>
          <p:nvSpPr>
            <p:cNvPr id="124958" name="Line 30"/>
            <p:cNvSpPr>
              <a:spLocks noChangeShapeType="1"/>
            </p:cNvSpPr>
            <p:nvPr/>
          </p:nvSpPr>
          <p:spPr bwMode="auto">
            <a:xfrm>
              <a:off x="5510" y="1643"/>
              <a:ext cx="0" cy="91"/>
            </a:xfrm>
            <a:prstGeom prst="line">
              <a:avLst/>
            </a:prstGeom>
            <a:noFill/>
            <a:ln w="9525">
              <a:solidFill>
                <a:schemeClr val="tx1"/>
              </a:solidFill>
              <a:round/>
              <a:headEnd/>
              <a:tailEnd/>
            </a:ln>
            <a:effectLst/>
          </p:spPr>
          <p:txBody>
            <a:bodyPr/>
            <a:lstStyle/>
            <a:p>
              <a:endParaRPr lang="zh-CN" altLang="en-US"/>
            </a:p>
          </p:txBody>
        </p:sp>
        <p:sp>
          <p:nvSpPr>
            <p:cNvPr id="124959" name="Line 31"/>
            <p:cNvSpPr>
              <a:spLocks noChangeShapeType="1"/>
            </p:cNvSpPr>
            <p:nvPr/>
          </p:nvSpPr>
          <p:spPr bwMode="auto">
            <a:xfrm>
              <a:off x="5465" y="1734"/>
              <a:ext cx="91" cy="0"/>
            </a:xfrm>
            <a:prstGeom prst="line">
              <a:avLst/>
            </a:prstGeom>
            <a:noFill/>
            <a:ln w="9525">
              <a:solidFill>
                <a:schemeClr val="tx1"/>
              </a:solidFill>
              <a:round/>
              <a:headEnd/>
              <a:tailEnd/>
            </a:ln>
            <a:effectLst/>
          </p:spPr>
          <p:txBody>
            <a:bodyPr/>
            <a:lstStyle/>
            <a:p>
              <a:endParaRPr lang="zh-CN" altLang="en-US"/>
            </a:p>
          </p:txBody>
        </p:sp>
        <p:sp>
          <p:nvSpPr>
            <p:cNvPr id="124960" name="Text Box 32"/>
            <p:cNvSpPr txBox="1">
              <a:spLocks noChangeArrowheads="1"/>
            </p:cNvSpPr>
            <p:nvPr/>
          </p:nvSpPr>
          <p:spPr bwMode="auto">
            <a:xfrm>
              <a:off x="3750" y="1978"/>
              <a:ext cx="272" cy="288"/>
            </a:xfrm>
            <a:prstGeom prst="rect">
              <a:avLst/>
            </a:prstGeom>
            <a:noFill/>
            <a:ln w="9525">
              <a:noFill/>
              <a:miter lim="800000"/>
              <a:headEnd/>
              <a:tailEnd/>
            </a:ln>
            <a:effectLst/>
          </p:spPr>
          <p:txBody>
            <a:bodyPr>
              <a:spAutoFit/>
            </a:bodyPr>
            <a:lstStyle/>
            <a:p>
              <a:pPr>
                <a:spcBef>
                  <a:spcPct val="50000"/>
                </a:spcBef>
              </a:pPr>
              <a:r>
                <a:rPr lang="en-US" altLang="zh-CN" b="1"/>
                <a:t>X</a:t>
              </a:r>
            </a:p>
          </p:txBody>
        </p:sp>
        <p:sp>
          <p:nvSpPr>
            <p:cNvPr id="124961" name="Text Box 33"/>
            <p:cNvSpPr txBox="1">
              <a:spLocks noChangeArrowheads="1"/>
            </p:cNvSpPr>
            <p:nvPr/>
          </p:nvSpPr>
          <p:spPr bwMode="auto">
            <a:xfrm>
              <a:off x="4431" y="1969"/>
              <a:ext cx="272" cy="288"/>
            </a:xfrm>
            <a:prstGeom prst="rect">
              <a:avLst/>
            </a:prstGeom>
            <a:noFill/>
            <a:ln w="9525">
              <a:noFill/>
              <a:miter lim="800000"/>
              <a:headEnd/>
              <a:tailEnd/>
            </a:ln>
            <a:effectLst/>
          </p:spPr>
          <p:txBody>
            <a:bodyPr>
              <a:spAutoFit/>
            </a:bodyPr>
            <a:lstStyle/>
            <a:p>
              <a:pPr>
                <a:spcBef>
                  <a:spcPct val="50000"/>
                </a:spcBef>
              </a:pPr>
              <a:r>
                <a:rPr lang="en-US" altLang="zh-CN" b="1"/>
                <a:t>Y</a:t>
              </a:r>
            </a:p>
          </p:txBody>
        </p:sp>
        <p:sp>
          <p:nvSpPr>
            <p:cNvPr id="124962" name="Text Box 34"/>
            <p:cNvSpPr txBox="1">
              <a:spLocks noChangeArrowheads="1"/>
            </p:cNvSpPr>
            <p:nvPr/>
          </p:nvSpPr>
          <p:spPr bwMode="auto">
            <a:xfrm>
              <a:off x="4830" y="1979"/>
              <a:ext cx="589" cy="288"/>
            </a:xfrm>
            <a:prstGeom prst="rect">
              <a:avLst/>
            </a:prstGeom>
            <a:noFill/>
            <a:ln w="9525">
              <a:noFill/>
              <a:miter lim="800000"/>
              <a:headEnd/>
              <a:tailEnd/>
            </a:ln>
            <a:effectLst/>
          </p:spPr>
          <p:txBody>
            <a:bodyPr>
              <a:spAutoFit/>
            </a:bodyPr>
            <a:lstStyle/>
            <a:p>
              <a:pPr>
                <a:spcBef>
                  <a:spcPct val="50000"/>
                </a:spcBef>
              </a:pPr>
              <a:r>
                <a:rPr lang="en-US" altLang="zh-CN" b="1"/>
                <a:t>Next</a:t>
              </a:r>
            </a:p>
          </p:txBody>
        </p:sp>
        <p:sp>
          <p:nvSpPr>
            <p:cNvPr id="124963" name="Text Box 35"/>
            <p:cNvSpPr txBox="1">
              <a:spLocks noChangeArrowheads="1"/>
            </p:cNvSpPr>
            <p:nvPr/>
          </p:nvSpPr>
          <p:spPr bwMode="auto">
            <a:xfrm>
              <a:off x="4059" y="1253"/>
              <a:ext cx="1135" cy="288"/>
            </a:xfrm>
            <a:prstGeom prst="rect">
              <a:avLst/>
            </a:prstGeom>
            <a:noFill/>
            <a:ln w="9525">
              <a:noFill/>
              <a:miter lim="800000"/>
              <a:headEnd/>
              <a:tailEnd/>
            </a:ln>
            <a:effectLst/>
          </p:spPr>
          <p:txBody>
            <a:bodyPr>
              <a:spAutoFit/>
            </a:bodyPr>
            <a:lstStyle/>
            <a:p>
              <a:pPr algn="ctr">
                <a:spcBef>
                  <a:spcPct val="20000"/>
                </a:spcBef>
              </a:pPr>
              <a:r>
                <a:rPr lang="zh-CN" altLang="en-US" b="1"/>
                <a:t>条件队列</a:t>
              </a:r>
            </a:p>
          </p:txBody>
        </p:sp>
      </p:grpSp>
      <p:sp>
        <p:nvSpPr>
          <p:cNvPr id="36" name="Title 1"/>
          <p:cNvSpPr>
            <a:spLocks noGrp="1"/>
          </p:cNvSpPr>
          <p:nvPr>
            <p:ph type="title"/>
          </p:nvPr>
        </p:nvSpPr>
        <p:spPr>
          <a:xfrm>
            <a:off x="628650" y="140676"/>
            <a:ext cx="7886700" cy="693274"/>
          </a:xfrm>
        </p:spPr>
        <p:txBody>
          <a:bodyPr/>
          <a:lstStyle/>
          <a:p>
            <a:r>
              <a:rPr lang="zh-CN" altLang="en-US" dirty="0" smtClean="0"/>
              <a:t>管程（</a:t>
            </a:r>
            <a:r>
              <a:rPr lang="en-US" altLang="zh-CN" dirty="0" smtClean="0"/>
              <a:t>Monitor</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管程的基本结构</a:t>
            </a:r>
          </a:p>
        </p:txBody>
      </p:sp>
      <p:sp>
        <p:nvSpPr>
          <p:cNvPr id="3" name="Content Placeholder 2"/>
          <p:cNvSpPr>
            <a:spLocks noGrp="1"/>
          </p:cNvSpPr>
          <p:nvPr>
            <p:ph idx="1"/>
          </p:nvPr>
        </p:nvSpPr>
        <p:spPr>
          <a:xfrm>
            <a:off x="457200" y="1268760"/>
            <a:ext cx="4121731" cy="5256584"/>
          </a:xfrm>
        </p:spPr>
        <p:txBody>
          <a:bodyPr/>
          <a:lstStyle/>
          <a:p>
            <a:r>
              <a:rPr lang="zh-CN" altLang="en-US" dirty="0" smtClean="0"/>
              <a:t>条件变量的</a:t>
            </a:r>
            <a:r>
              <a:rPr lang="en-US" altLang="zh-CN" dirty="0" smtClean="0"/>
              <a:t>wait()</a:t>
            </a:r>
            <a:r>
              <a:rPr lang="zh-CN" altLang="en-US" dirty="0" smtClean="0"/>
              <a:t>操作</a:t>
            </a:r>
            <a:endParaRPr lang="en-US" altLang="zh-CN" dirty="0" smtClean="0"/>
          </a:p>
          <a:p>
            <a:pPr lvl="1"/>
            <a:endParaRPr lang="en-US" altLang="zh-CN" dirty="0" smtClean="0"/>
          </a:p>
          <a:p>
            <a:pPr lvl="1"/>
            <a:r>
              <a:rPr lang="zh-CN" altLang="en-US" dirty="0" smtClean="0"/>
              <a:t>执行</a:t>
            </a:r>
            <a:r>
              <a:rPr lang="en-US" altLang="zh-CN" dirty="0" smtClean="0"/>
              <a:t>wait()</a:t>
            </a:r>
            <a:r>
              <a:rPr lang="zh-CN" altLang="en-US" dirty="0" smtClean="0"/>
              <a:t>操作可能将调用进程阻塞到该条件变量对应的等待队列中</a:t>
            </a:r>
            <a:endParaRPr lang="en-US" altLang="zh-CN" dirty="0" smtClean="0"/>
          </a:p>
          <a:p>
            <a:pPr lvl="1"/>
            <a:endParaRPr lang="en-US" altLang="zh-CN" dirty="0"/>
          </a:p>
          <a:p>
            <a:pPr lvl="1"/>
            <a:r>
              <a:rPr lang="zh-CN" altLang="en-US" dirty="0" smtClean="0"/>
              <a:t>可能立即发生进程调度，调度第一个正在等待该条件的进程执行</a:t>
            </a:r>
            <a:endParaRPr lang="zh-CN" altLang="en-US" dirty="0"/>
          </a:p>
        </p:txBody>
      </p:sp>
      <p:sp>
        <p:nvSpPr>
          <p:cNvPr id="4" name="Date Placeholder 3"/>
          <p:cNvSpPr>
            <a:spLocks noGrp="1"/>
          </p:cNvSpPr>
          <p:nvPr>
            <p:ph type="dt" sz="half" idx="10"/>
          </p:nvPr>
        </p:nvSpPr>
        <p:spPr/>
        <p:txBody>
          <a:bodyPr/>
          <a:lstStyle/>
          <a:p>
            <a:fld id="{2F33C04E-1F00-4F57-9219-C7B1CE41A7C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108</a:t>
            </a:fld>
            <a:endParaRPr lang="zh-CN" altLang="en-US" dirty="0"/>
          </a:p>
        </p:txBody>
      </p:sp>
      <p:grpSp>
        <p:nvGrpSpPr>
          <p:cNvPr id="7" name="Group 6"/>
          <p:cNvGrpSpPr/>
          <p:nvPr/>
        </p:nvGrpSpPr>
        <p:grpSpPr>
          <a:xfrm>
            <a:off x="5004049" y="1556792"/>
            <a:ext cx="3682752" cy="4775343"/>
            <a:chOff x="3528596" y="2042154"/>
            <a:chExt cx="3025521" cy="4331568"/>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528596" y="2042154"/>
              <a:ext cx="3025521" cy="4331568"/>
            </a:xfrm>
            <a:prstGeom prst="rect">
              <a:avLst/>
            </a:prstGeom>
            <a:noFill/>
          </p:spPr>
        </p:pic>
        <p:sp>
          <p:nvSpPr>
            <p:cNvPr id="9" name="圆角矩形 2"/>
            <p:cNvSpPr>
              <a:spLocks noChangeArrowheads="1"/>
            </p:cNvSpPr>
            <p:nvPr/>
          </p:nvSpPr>
          <p:spPr bwMode="auto">
            <a:xfrm>
              <a:off x="5015873" y="3555136"/>
              <a:ext cx="1188993" cy="341916"/>
            </a:xfrm>
            <a:prstGeom prst="roundRect">
              <a:avLst>
                <a:gd name="adj" fmla="val 16667"/>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圆角矩形 3"/>
            <p:cNvSpPr>
              <a:spLocks noChangeArrowheads="1"/>
            </p:cNvSpPr>
            <p:nvPr/>
          </p:nvSpPr>
          <p:spPr bwMode="auto">
            <a:xfrm>
              <a:off x="3635896" y="2996952"/>
              <a:ext cx="1272677" cy="2069811"/>
            </a:xfrm>
            <a:prstGeom prst="roundRect">
              <a:avLst>
                <a:gd name="adj" fmla="val 2153"/>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63931112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管程的基本结构</a:t>
            </a:r>
          </a:p>
        </p:txBody>
      </p:sp>
      <p:sp>
        <p:nvSpPr>
          <p:cNvPr id="3" name="Content Placeholder 2"/>
          <p:cNvSpPr>
            <a:spLocks noGrp="1"/>
          </p:cNvSpPr>
          <p:nvPr>
            <p:ph idx="1"/>
          </p:nvPr>
        </p:nvSpPr>
        <p:spPr>
          <a:xfrm>
            <a:off x="457200" y="1268760"/>
            <a:ext cx="4121731" cy="5256584"/>
          </a:xfrm>
        </p:spPr>
        <p:txBody>
          <a:bodyPr>
            <a:normAutofit fontScale="92500" lnSpcReduction="10000"/>
          </a:bodyPr>
          <a:lstStyle/>
          <a:p>
            <a:r>
              <a:rPr lang="zh-CN" altLang="en-US" dirty="0" smtClean="0"/>
              <a:t>条件变量的</a:t>
            </a:r>
            <a:r>
              <a:rPr lang="en-US" altLang="zh-CN" dirty="0" smtClean="0"/>
              <a:t>signal()</a:t>
            </a:r>
            <a:r>
              <a:rPr lang="zh-CN" altLang="en-US" dirty="0" smtClean="0"/>
              <a:t>操作</a:t>
            </a:r>
            <a:endParaRPr lang="en-US" altLang="zh-CN" dirty="0" smtClean="0"/>
          </a:p>
          <a:p>
            <a:pPr lvl="1"/>
            <a:endParaRPr lang="en-US" altLang="zh-CN" dirty="0" smtClean="0"/>
          </a:p>
          <a:p>
            <a:pPr lvl="1"/>
            <a:r>
              <a:rPr lang="zh-CN" altLang="en-US" dirty="0" smtClean="0"/>
              <a:t>如果该条件变量的等待队列为空，执行</a:t>
            </a:r>
            <a:r>
              <a:rPr lang="en-US" altLang="zh-CN" dirty="0" smtClean="0"/>
              <a:t>signal()</a:t>
            </a:r>
            <a:r>
              <a:rPr lang="zh-CN" altLang="en-US" dirty="0" smtClean="0"/>
              <a:t>操作相当于空操作；否则，唤醒第一个等待者</a:t>
            </a:r>
            <a:endParaRPr lang="en-US" altLang="zh-CN" dirty="0" smtClean="0"/>
          </a:p>
          <a:p>
            <a:pPr lvl="1"/>
            <a:endParaRPr lang="en-US" altLang="zh-CN" dirty="0"/>
          </a:p>
          <a:p>
            <a:pPr lvl="1"/>
            <a:r>
              <a:rPr lang="zh-CN" altLang="en-US" dirty="0" smtClean="0"/>
              <a:t>可能立即发生进程调度，调度第一个正在等待该条件的进程执行</a:t>
            </a:r>
            <a:endParaRPr lang="en-US" altLang="zh-CN" dirty="0" smtClean="0"/>
          </a:p>
          <a:p>
            <a:pPr lvl="1"/>
            <a:endParaRPr lang="en-US" altLang="zh-CN" dirty="0"/>
          </a:p>
          <a:p>
            <a:pPr lvl="1"/>
            <a:r>
              <a:rPr lang="zh-CN" altLang="en-US" dirty="0" smtClean="0"/>
              <a:t>若</a:t>
            </a:r>
            <a:r>
              <a:rPr lang="en-US" altLang="zh-CN" dirty="0" smtClean="0"/>
              <a:t>P</a:t>
            </a:r>
            <a:r>
              <a:rPr lang="zh-CN" altLang="en-US" dirty="0" smtClean="0"/>
              <a:t>唤醒</a:t>
            </a:r>
            <a:r>
              <a:rPr lang="en-US" altLang="zh-CN" dirty="0" smtClean="0"/>
              <a:t>Q</a:t>
            </a:r>
          </a:p>
          <a:p>
            <a:pPr lvl="2"/>
            <a:r>
              <a:rPr lang="en-US" altLang="zh-CN" dirty="0" smtClean="0"/>
              <a:t>Hoare</a:t>
            </a:r>
            <a:r>
              <a:rPr lang="zh-CN" altLang="en-US" dirty="0" smtClean="0"/>
              <a:t>实现方法</a:t>
            </a:r>
            <a:endParaRPr lang="en-US" altLang="zh-CN" dirty="0" smtClean="0"/>
          </a:p>
          <a:p>
            <a:pPr lvl="2"/>
            <a:r>
              <a:rPr lang="en-US" altLang="zh-CN" dirty="0" smtClean="0"/>
              <a:t>Lampson &amp; </a:t>
            </a:r>
            <a:r>
              <a:rPr lang="en-US" altLang="zh-CN" dirty="0" err="1" smtClean="0"/>
              <a:t>Redell</a:t>
            </a:r>
            <a:r>
              <a:rPr lang="zh-CN" altLang="en-US" dirty="0" smtClean="0"/>
              <a:t>实现方法</a:t>
            </a:r>
            <a:endParaRPr lang="zh-CN" altLang="en-US" dirty="0"/>
          </a:p>
        </p:txBody>
      </p:sp>
      <p:sp>
        <p:nvSpPr>
          <p:cNvPr id="4" name="Date Placeholder 3"/>
          <p:cNvSpPr>
            <a:spLocks noGrp="1"/>
          </p:cNvSpPr>
          <p:nvPr>
            <p:ph type="dt" sz="half" idx="10"/>
          </p:nvPr>
        </p:nvSpPr>
        <p:spPr/>
        <p:txBody>
          <a:bodyPr/>
          <a:lstStyle/>
          <a:p>
            <a:fld id="{09BB2C67-D166-4D91-8D3D-9F3A83FC6E1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109</a:t>
            </a:fld>
            <a:endParaRPr lang="zh-CN" altLang="en-US" dirty="0"/>
          </a:p>
        </p:txBody>
      </p:sp>
      <p:grpSp>
        <p:nvGrpSpPr>
          <p:cNvPr id="7" name="Group 6"/>
          <p:cNvGrpSpPr/>
          <p:nvPr/>
        </p:nvGrpSpPr>
        <p:grpSpPr>
          <a:xfrm>
            <a:off x="5004049" y="1556792"/>
            <a:ext cx="3682752" cy="4775343"/>
            <a:chOff x="3528596" y="2042154"/>
            <a:chExt cx="3025521" cy="4331568"/>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528596" y="2042154"/>
              <a:ext cx="3025521" cy="4331568"/>
            </a:xfrm>
            <a:prstGeom prst="rect">
              <a:avLst/>
            </a:prstGeom>
            <a:noFill/>
          </p:spPr>
        </p:pic>
        <p:sp>
          <p:nvSpPr>
            <p:cNvPr id="9" name="圆角矩形 2"/>
            <p:cNvSpPr>
              <a:spLocks noChangeArrowheads="1"/>
            </p:cNvSpPr>
            <p:nvPr/>
          </p:nvSpPr>
          <p:spPr bwMode="auto">
            <a:xfrm>
              <a:off x="5015873" y="3555136"/>
              <a:ext cx="1188993" cy="341916"/>
            </a:xfrm>
            <a:prstGeom prst="roundRect">
              <a:avLst>
                <a:gd name="adj" fmla="val 16667"/>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圆角矩形 3"/>
            <p:cNvSpPr>
              <a:spLocks noChangeArrowheads="1"/>
            </p:cNvSpPr>
            <p:nvPr/>
          </p:nvSpPr>
          <p:spPr bwMode="auto">
            <a:xfrm>
              <a:off x="3635896" y="2996952"/>
              <a:ext cx="1272677" cy="2069811"/>
            </a:xfrm>
            <a:prstGeom prst="roundRect">
              <a:avLst>
                <a:gd name="adj" fmla="val 2153"/>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423908697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管程的基本结构</a:t>
            </a:r>
            <a:endParaRPr lang="zh-CN" altLang="en-US" dirty="0"/>
          </a:p>
        </p:txBody>
      </p:sp>
      <p:sp>
        <p:nvSpPr>
          <p:cNvPr id="3" name="Content Placeholder 2"/>
          <p:cNvSpPr>
            <a:spLocks noGrp="1"/>
          </p:cNvSpPr>
          <p:nvPr>
            <p:ph idx="1"/>
          </p:nvPr>
        </p:nvSpPr>
        <p:spPr>
          <a:xfrm>
            <a:off x="457200" y="1268760"/>
            <a:ext cx="4186808" cy="5256584"/>
          </a:xfrm>
        </p:spPr>
        <p:txBody>
          <a:bodyPr/>
          <a:lstStyle/>
          <a:p>
            <a:r>
              <a:rPr lang="zh-CN" altLang="en-US" dirty="0" smtClean="0"/>
              <a:t>紧急队列</a:t>
            </a:r>
            <a:endParaRPr lang="en-US" altLang="zh-CN" dirty="0" smtClean="0"/>
          </a:p>
          <a:p>
            <a:pPr lvl="1"/>
            <a:endParaRPr lang="en-US" altLang="zh-CN" dirty="0" smtClean="0"/>
          </a:p>
          <a:p>
            <a:pPr lvl="1"/>
            <a:r>
              <a:rPr lang="zh-CN" altLang="en-US" dirty="0" smtClean="0"/>
              <a:t>在</a:t>
            </a:r>
            <a:r>
              <a:rPr lang="zh-CN" altLang="en-US" dirty="0"/>
              <a:t>管程内部，由于执行唤醒操作，可能会出现多个等待进</a:t>
            </a:r>
            <a:r>
              <a:rPr lang="zh-CN" altLang="en-US" dirty="0" smtClean="0"/>
              <a:t>程，</a:t>
            </a:r>
            <a:r>
              <a:rPr lang="zh-CN" altLang="en-US" dirty="0"/>
              <a:t>因</a:t>
            </a:r>
            <a:r>
              <a:rPr lang="zh-CN" altLang="en-US" dirty="0" smtClean="0"/>
              <a:t>而设计一个额外的进</a:t>
            </a:r>
            <a:r>
              <a:rPr lang="zh-CN" altLang="en-US" dirty="0"/>
              <a:t>程等待队列，这个等待队列被称为紧急等待队</a:t>
            </a:r>
            <a:r>
              <a:rPr lang="zh-CN" altLang="en-US" dirty="0" smtClean="0"/>
              <a:t>列，它</a:t>
            </a:r>
            <a:r>
              <a:rPr lang="zh-CN" altLang="en-US" dirty="0"/>
              <a:t>的优先级应当高于入口等待队列的优先级</a:t>
            </a:r>
          </a:p>
        </p:txBody>
      </p:sp>
      <p:sp>
        <p:nvSpPr>
          <p:cNvPr id="4" name="Date Placeholder 3"/>
          <p:cNvSpPr>
            <a:spLocks noGrp="1"/>
          </p:cNvSpPr>
          <p:nvPr>
            <p:ph type="dt" sz="half" idx="10"/>
          </p:nvPr>
        </p:nvSpPr>
        <p:spPr/>
        <p:txBody>
          <a:bodyPr/>
          <a:lstStyle/>
          <a:p>
            <a:fld id="{3E4967FB-3A1B-4C65-9306-0F7FF1889E6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110</a:t>
            </a:fld>
            <a:endParaRPr lang="zh-CN" altLang="en-US" dirty="0"/>
          </a:p>
        </p:txBody>
      </p:sp>
      <p:grpSp>
        <p:nvGrpSpPr>
          <p:cNvPr id="7" name="Group 6"/>
          <p:cNvGrpSpPr/>
          <p:nvPr/>
        </p:nvGrpSpPr>
        <p:grpSpPr>
          <a:xfrm>
            <a:off x="5004049" y="1556792"/>
            <a:ext cx="3682752" cy="4775343"/>
            <a:chOff x="3528596" y="2042154"/>
            <a:chExt cx="3025521" cy="4331568"/>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528596" y="2042154"/>
              <a:ext cx="3025521" cy="4331568"/>
            </a:xfrm>
            <a:prstGeom prst="rect">
              <a:avLst/>
            </a:prstGeom>
            <a:noFill/>
          </p:spPr>
        </p:pic>
        <p:sp>
          <p:nvSpPr>
            <p:cNvPr id="10" name="圆角矩形 3"/>
            <p:cNvSpPr>
              <a:spLocks noChangeArrowheads="1"/>
            </p:cNvSpPr>
            <p:nvPr/>
          </p:nvSpPr>
          <p:spPr bwMode="auto">
            <a:xfrm>
              <a:off x="3767565" y="5112018"/>
              <a:ext cx="1239964" cy="914428"/>
            </a:xfrm>
            <a:prstGeom prst="roundRect">
              <a:avLst>
                <a:gd name="adj" fmla="val 2153"/>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78562004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Hoare</a:t>
            </a:r>
            <a:r>
              <a:rPr lang="zh-CN" altLang="en-US" dirty="0" smtClean="0"/>
              <a:t>的管程定义</a:t>
            </a:r>
            <a:endParaRPr lang="zh-CN" altLang="en-US" dirty="0"/>
          </a:p>
        </p:txBody>
      </p:sp>
      <p:sp>
        <p:nvSpPr>
          <p:cNvPr id="3" name="Content Placeholder 2"/>
          <p:cNvSpPr>
            <a:spLocks noGrp="1"/>
          </p:cNvSpPr>
          <p:nvPr>
            <p:ph idx="1"/>
          </p:nvPr>
        </p:nvSpPr>
        <p:spPr/>
        <p:txBody>
          <a:bodyPr/>
          <a:lstStyle/>
          <a:p>
            <a:r>
              <a:rPr lang="zh-CN" altLang="en-US" dirty="0" smtClean="0"/>
              <a:t>以“生产者</a:t>
            </a:r>
            <a:r>
              <a:rPr lang="en-US" altLang="zh-CN" dirty="0" smtClean="0"/>
              <a:t>-</a:t>
            </a:r>
            <a:r>
              <a:rPr lang="zh-CN" altLang="en-US" dirty="0" smtClean="0"/>
              <a:t>消费者问题”为例</a:t>
            </a:r>
            <a:endParaRPr lang="zh-CN" altLang="en-US" dirty="0"/>
          </a:p>
        </p:txBody>
      </p:sp>
      <p:sp>
        <p:nvSpPr>
          <p:cNvPr id="4" name="Date Placeholder 3"/>
          <p:cNvSpPr>
            <a:spLocks noGrp="1"/>
          </p:cNvSpPr>
          <p:nvPr>
            <p:ph type="dt" sz="half" idx="10"/>
          </p:nvPr>
        </p:nvSpPr>
        <p:spPr/>
        <p:txBody>
          <a:bodyPr/>
          <a:lstStyle/>
          <a:p>
            <a:fld id="{B5A460B6-44F3-4BF9-9DA8-48D3B9293C9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111</a:t>
            </a:fld>
            <a:endParaRPr lang="zh-CN" altLang="en-US" dirty="0"/>
          </a:p>
        </p:txBody>
      </p:sp>
      <p:pic>
        <p:nvPicPr>
          <p:cNvPr id="7" name="Picture 6"/>
          <p:cNvPicPr>
            <a:picLocks noChangeAspect="1"/>
          </p:cNvPicPr>
          <p:nvPr/>
        </p:nvPicPr>
        <p:blipFill>
          <a:blip r:embed="rId2"/>
          <a:stretch>
            <a:fillRect/>
          </a:stretch>
        </p:blipFill>
        <p:spPr>
          <a:xfrm>
            <a:off x="1331640" y="1859632"/>
            <a:ext cx="6505826" cy="4521696"/>
          </a:xfrm>
          <a:prstGeom prst="rect">
            <a:avLst/>
          </a:prstGeom>
        </p:spPr>
      </p:pic>
      <p:sp>
        <p:nvSpPr>
          <p:cNvPr id="8" name="圆角矩形 3"/>
          <p:cNvSpPr>
            <a:spLocks noChangeArrowheads="1"/>
          </p:cNvSpPr>
          <p:nvPr/>
        </p:nvSpPr>
        <p:spPr bwMode="auto">
          <a:xfrm>
            <a:off x="1835696" y="3356992"/>
            <a:ext cx="2520280"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圆角矩形 3"/>
          <p:cNvSpPr>
            <a:spLocks noChangeArrowheads="1"/>
          </p:cNvSpPr>
          <p:nvPr/>
        </p:nvSpPr>
        <p:spPr bwMode="auto">
          <a:xfrm>
            <a:off x="1835696" y="4163888"/>
            <a:ext cx="2520280" cy="201216"/>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圆角矩形 3"/>
          <p:cNvSpPr>
            <a:spLocks noChangeArrowheads="1"/>
          </p:cNvSpPr>
          <p:nvPr/>
        </p:nvSpPr>
        <p:spPr bwMode="auto">
          <a:xfrm>
            <a:off x="1835696" y="4797152"/>
            <a:ext cx="2520280"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圆角矩形 3"/>
          <p:cNvSpPr>
            <a:spLocks noChangeArrowheads="1"/>
          </p:cNvSpPr>
          <p:nvPr/>
        </p:nvSpPr>
        <p:spPr bwMode="auto">
          <a:xfrm>
            <a:off x="1835696" y="5445224"/>
            <a:ext cx="2520280"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43613280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Hoare</a:t>
            </a:r>
            <a:r>
              <a:rPr lang="zh-CN" altLang="en-US" dirty="0"/>
              <a:t>的管程定义</a:t>
            </a:r>
          </a:p>
        </p:txBody>
      </p:sp>
      <p:sp>
        <p:nvSpPr>
          <p:cNvPr id="3" name="Content Placeholder 2"/>
          <p:cNvSpPr>
            <a:spLocks noGrp="1"/>
          </p:cNvSpPr>
          <p:nvPr>
            <p:ph idx="1"/>
          </p:nvPr>
        </p:nvSpPr>
        <p:spPr/>
        <p:txBody>
          <a:bodyPr/>
          <a:lstStyle/>
          <a:p>
            <a:r>
              <a:rPr lang="zh-CN" altLang="en-US" dirty="0"/>
              <a:t>以“生产者</a:t>
            </a:r>
            <a:r>
              <a:rPr lang="en-US" altLang="zh-CN" dirty="0"/>
              <a:t>-</a:t>
            </a:r>
            <a:r>
              <a:rPr lang="zh-CN" altLang="en-US" dirty="0"/>
              <a:t>消费者问题”为</a:t>
            </a:r>
            <a:r>
              <a:rPr lang="zh-CN" altLang="en-US" dirty="0" smtClean="0"/>
              <a:t>例</a:t>
            </a:r>
            <a:endParaRPr lang="zh-CN" altLang="en-US" dirty="0"/>
          </a:p>
        </p:txBody>
      </p:sp>
      <p:sp>
        <p:nvSpPr>
          <p:cNvPr id="4" name="Date Placeholder 3"/>
          <p:cNvSpPr>
            <a:spLocks noGrp="1"/>
          </p:cNvSpPr>
          <p:nvPr>
            <p:ph type="dt" sz="half" idx="10"/>
          </p:nvPr>
        </p:nvSpPr>
        <p:spPr/>
        <p:txBody>
          <a:bodyPr/>
          <a:lstStyle/>
          <a:p>
            <a:fld id="{A3BEC1BB-51A9-4191-8B40-E6A54D01928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112</a:t>
            </a:fld>
            <a:endParaRPr lang="zh-CN" altLang="en-US" dirty="0"/>
          </a:p>
        </p:txBody>
      </p:sp>
      <p:pic>
        <p:nvPicPr>
          <p:cNvPr id="7" name="Picture 6"/>
          <p:cNvPicPr>
            <a:picLocks noChangeAspect="1"/>
          </p:cNvPicPr>
          <p:nvPr/>
        </p:nvPicPr>
        <p:blipFill>
          <a:blip r:embed="rId2"/>
          <a:stretch>
            <a:fillRect/>
          </a:stretch>
        </p:blipFill>
        <p:spPr>
          <a:xfrm>
            <a:off x="1459686" y="2280568"/>
            <a:ext cx="6245891" cy="3232968"/>
          </a:xfrm>
          <a:prstGeom prst="rect">
            <a:avLst/>
          </a:prstGeom>
        </p:spPr>
      </p:pic>
      <p:sp>
        <p:nvSpPr>
          <p:cNvPr id="8" name="圆角矩形 3"/>
          <p:cNvSpPr>
            <a:spLocks noChangeArrowheads="1"/>
          </p:cNvSpPr>
          <p:nvPr/>
        </p:nvSpPr>
        <p:spPr bwMode="auto">
          <a:xfrm>
            <a:off x="1979712" y="3140968"/>
            <a:ext cx="1368152" cy="144016"/>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圆角矩形 3"/>
          <p:cNvSpPr>
            <a:spLocks noChangeArrowheads="1"/>
          </p:cNvSpPr>
          <p:nvPr/>
        </p:nvSpPr>
        <p:spPr bwMode="auto">
          <a:xfrm>
            <a:off x="1979712" y="4221088"/>
            <a:ext cx="1368152" cy="144016"/>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8312952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Hoare</a:t>
            </a:r>
            <a:r>
              <a:rPr lang="zh-CN" altLang="en-US" dirty="0"/>
              <a:t>的管程定义</a:t>
            </a:r>
          </a:p>
        </p:txBody>
      </p:sp>
      <p:sp>
        <p:nvSpPr>
          <p:cNvPr id="3" name="Content Placeholder 2"/>
          <p:cNvSpPr>
            <a:spLocks noGrp="1"/>
          </p:cNvSpPr>
          <p:nvPr>
            <p:ph idx="1"/>
          </p:nvPr>
        </p:nvSpPr>
        <p:spPr/>
        <p:txBody>
          <a:bodyPr/>
          <a:lstStyle/>
          <a:p>
            <a:r>
              <a:rPr lang="en-US" altLang="zh-CN" dirty="0" smtClean="0"/>
              <a:t>Hoare</a:t>
            </a:r>
            <a:r>
              <a:rPr lang="zh-CN" altLang="en-US" dirty="0" smtClean="0"/>
              <a:t>管程定义的特点</a:t>
            </a:r>
            <a:endParaRPr lang="en-US" altLang="zh-CN" dirty="0" smtClean="0"/>
          </a:p>
          <a:p>
            <a:pPr lvl="1"/>
            <a:r>
              <a:rPr lang="zh-CN" altLang="en-US" dirty="0"/>
              <a:t>如</a:t>
            </a:r>
            <a:r>
              <a:rPr lang="zh-CN" altLang="en-US" dirty="0" smtClean="0"/>
              <a:t>果等待队列中有等待进程，那么执行</a:t>
            </a:r>
            <a:r>
              <a:rPr lang="en-US" altLang="zh-CN" dirty="0" smtClean="0"/>
              <a:t>signal()</a:t>
            </a:r>
            <a:r>
              <a:rPr lang="zh-CN" altLang="en-US" dirty="0" smtClean="0"/>
              <a:t>函数将导致立即发生进程切换</a:t>
            </a:r>
            <a:endParaRPr lang="en-US" altLang="zh-CN" dirty="0" smtClean="0"/>
          </a:p>
          <a:p>
            <a:endParaRPr lang="en-US" altLang="zh-CN" dirty="0"/>
          </a:p>
          <a:p>
            <a:r>
              <a:rPr lang="zh-CN" altLang="en-US" dirty="0" smtClean="0">
                <a:solidFill>
                  <a:srgbClr val="FF0000"/>
                </a:solidFill>
              </a:rPr>
              <a:t>由此带来的问题</a:t>
            </a:r>
            <a:endParaRPr lang="en-US" altLang="zh-CN" dirty="0" smtClean="0">
              <a:solidFill>
                <a:srgbClr val="FF0000"/>
              </a:solidFill>
            </a:endParaRPr>
          </a:p>
          <a:p>
            <a:pPr lvl="1"/>
            <a:r>
              <a:rPr lang="zh-CN" altLang="en-US" dirty="0"/>
              <a:t>过</a:t>
            </a:r>
            <a:r>
              <a:rPr lang="zh-CN" altLang="en-US" dirty="0" smtClean="0"/>
              <a:t>多的进程切换 </a:t>
            </a:r>
            <a:r>
              <a:rPr lang="en-US" altLang="zh-CN" dirty="0" smtClean="0">
                <a:sym typeface="Wingdings" panose="05000000000000000000" pitchFamily="2" charset="2"/>
              </a:rPr>
              <a:t> </a:t>
            </a:r>
            <a:r>
              <a:rPr lang="zh-CN" altLang="en-US" dirty="0" smtClean="0">
                <a:sym typeface="Wingdings" panose="05000000000000000000" pitchFamily="2" charset="2"/>
              </a:rPr>
              <a:t>开销</a:t>
            </a:r>
            <a:endParaRPr lang="en-US" altLang="zh-CN" dirty="0" smtClean="0">
              <a:sym typeface="Wingdings" panose="05000000000000000000" pitchFamily="2" charset="2"/>
            </a:endParaRPr>
          </a:p>
          <a:p>
            <a:pPr lvl="1"/>
            <a:r>
              <a:rPr lang="zh-CN" altLang="en-US" dirty="0">
                <a:sym typeface="Wingdings" panose="05000000000000000000" pitchFamily="2" charset="2"/>
              </a:rPr>
              <a:t>管</a:t>
            </a:r>
            <a:r>
              <a:rPr lang="zh-CN" altLang="en-US" dirty="0" smtClean="0">
                <a:sym typeface="Wingdings" panose="05000000000000000000" pitchFamily="2" charset="2"/>
              </a:rPr>
              <a:t>程内部的调度必须十分小心：在新进程被调度执行之前，如果其它进程被允许执行，将可能导致条件变量被修改</a:t>
            </a:r>
            <a:endParaRPr lang="zh-CN" altLang="en-US" dirty="0"/>
          </a:p>
        </p:txBody>
      </p:sp>
      <p:sp>
        <p:nvSpPr>
          <p:cNvPr id="4" name="Date Placeholder 3"/>
          <p:cNvSpPr>
            <a:spLocks noGrp="1"/>
          </p:cNvSpPr>
          <p:nvPr>
            <p:ph type="dt" sz="half" idx="10"/>
          </p:nvPr>
        </p:nvSpPr>
        <p:spPr/>
        <p:txBody>
          <a:bodyPr/>
          <a:lstStyle/>
          <a:p>
            <a:fld id="{6775552C-9D24-4B95-964E-458C55615A3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113</a:t>
            </a:fld>
            <a:endParaRPr lang="zh-CN" altLang="en-US" dirty="0"/>
          </a:p>
        </p:txBody>
      </p:sp>
    </p:spTree>
    <p:extLst>
      <p:ext uri="{BB962C8B-B14F-4D97-AF65-F5344CB8AC3E}">
        <p14:creationId xmlns:p14="http://schemas.microsoft.com/office/powerpoint/2010/main" val="239064882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Lampson &amp; </a:t>
            </a:r>
            <a:r>
              <a:rPr lang="en-US" altLang="zh-CN" dirty="0" err="1" smtClean="0"/>
              <a:t>Redell</a:t>
            </a:r>
            <a:r>
              <a:rPr lang="zh-CN" altLang="en-US" dirty="0" smtClean="0"/>
              <a:t>管程定义</a:t>
            </a:r>
            <a:endParaRPr lang="zh-CN" altLang="en-US" dirty="0"/>
          </a:p>
        </p:txBody>
      </p:sp>
      <p:sp>
        <p:nvSpPr>
          <p:cNvPr id="3" name="Content Placeholder 2"/>
          <p:cNvSpPr>
            <a:spLocks noGrp="1"/>
          </p:cNvSpPr>
          <p:nvPr>
            <p:ph idx="1"/>
          </p:nvPr>
        </p:nvSpPr>
        <p:spPr/>
        <p:txBody>
          <a:bodyPr>
            <a:normAutofit fontScale="92500" lnSpcReduction="10000"/>
          </a:bodyPr>
          <a:lstStyle/>
          <a:p>
            <a:r>
              <a:rPr lang="zh-CN" altLang="en-US" dirty="0" smtClean="0"/>
              <a:t>延迟切换 </a:t>
            </a:r>
            <a:r>
              <a:rPr lang="en-US" altLang="zh-CN" dirty="0" smtClean="0"/>
              <a:t>+ </a:t>
            </a:r>
            <a:r>
              <a:rPr lang="zh-CN" altLang="en-US" dirty="0"/>
              <a:t>重</a:t>
            </a:r>
            <a:r>
              <a:rPr lang="zh-CN" altLang="en-US" dirty="0" smtClean="0"/>
              <a:t>复检测</a:t>
            </a:r>
            <a:endParaRPr lang="en-US" altLang="zh-CN" dirty="0" smtClean="0"/>
          </a:p>
          <a:p>
            <a:pPr lvl="1"/>
            <a:r>
              <a:rPr lang="zh-CN" altLang="en-US" dirty="0"/>
              <a:t>使</a:t>
            </a:r>
            <a:r>
              <a:rPr lang="zh-CN" altLang="en-US" dirty="0" smtClean="0"/>
              <a:t>用</a:t>
            </a:r>
            <a:r>
              <a:rPr lang="en-US" altLang="zh-CN" dirty="0" smtClean="0"/>
              <a:t>notify()</a:t>
            </a:r>
            <a:r>
              <a:rPr lang="zh-CN" altLang="en-US" dirty="0" smtClean="0"/>
              <a:t>替换</a:t>
            </a:r>
            <a:r>
              <a:rPr lang="en-US" altLang="zh-CN" dirty="0" smtClean="0"/>
              <a:t>signal()</a:t>
            </a:r>
            <a:r>
              <a:rPr lang="zh-CN" altLang="en-US" dirty="0" smtClean="0"/>
              <a:t>，在调用</a:t>
            </a:r>
            <a:r>
              <a:rPr lang="en-US" altLang="zh-CN" dirty="0" smtClean="0"/>
              <a:t>notify()</a:t>
            </a:r>
            <a:r>
              <a:rPr lang="zh-CN" altLang="en-US" dirty="0" smtClean="0"/>
              <a:t>的时候不马上发生进程切换，而是先“提醒”管程，当当前调用退出后，再进行相应的切换</a:t>
            </a:r>
            <a:endParaRPr lang="en-US" altLang="zh-CN" dirty="0" smtClean="0"/>
          </a:p>
          <a:p>
            <a:endParaRPr lang="en-US" altLang="zh-CN" dirty="0"/>
          </a:p>
          <a:p>
            <a:r>
              <a:rPr lang="zh-CN" altLang="en-US" dirty="0" smtClean="0"/>
              <a:t>计时器（</a:t>
            </a:r>
            <a:r>
              <a:rPr lang="en-US" altLang="zh-CN" dirty="0" smtClean="0"/>
              <a:t>Timer Watchdog</a:t>
            </a:r>
            <a:r>
              <a:rPr lang="zh-CN" altLang="en-US" dirty="0" smtClean="0"/>
              <a:t>）</a:t>
            </a:r>
            <a:endParaRPr lang="en-US" altLang="zh-CN" dirty="0" smtClean="0"/>
          </a:p>
          <a:p>
            <a:pPr lvl="1"/>
            <a:r>
              <a:rPr lang="zh-CN" altLang="en-US" dirty="0" smtClean="0"/>
              <a:t>为进程设置计时器，如果一个进程等待超时，将重新进入就绪队列</a:t>
            </a:r>
            <a:endParaRPr lang="en-US" altLang="zh-CN" dirty="0" smtClean="0"/>
          </a:p>
          <a:p>
            <a:endParaRPr lang="en-US" altLang="zh-CN" dirty="0"/>
          </a:p>
          <a:p>
            <a:r>
              <a:rPr lang="zh-CN" altLang="en-US" dirty="0" smtClean="0"/>
              <a:t>广播机制</a:t>
            </a:r>
            <a:endParaRPr lang="en-US" altLang="zh-CN" dirty="0" smtClean="0"/>
          </a:p>
          <a:p>
            <a:pPr lvl="1"/>
            <a:r>
              <a:rPr lang="zh-CN" altLang="en-US" dirty="0" smtClean="0"/>
              <a:t>在不确定应该激活哪个进程的情况下，广播机制配合“重复检测”，实现灵活的激活策略</a:t>
            </a:r>
            <a:endParaRPr lang="zh-CN" altLang="en-US" dirty="0"/>
          </a:p>
        </p:txBody>
      </p:sp>
      <p:sp>
        <p:nvSpPr>
          <p:cNvPr id="4" name="Date Placeholder 3"/>
          <p:cNvSpPr>
            <a:spLocks noGrp="1"/>
          </p:cNvSpPr>
          <p:nvPr>
            <p:ph type="dt" sz="half" idx="10"/>
          </p:nvPr>
        </p:nvSpPr>
        <p:spPr/>
        <p:txBody>
          <a:bodyPr/>
          <a:lstStyle/>
          <a:p>
            <a:fld id="{41A53667-EAAB-436A-AC50-E50C3EB5351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114</a:t>
            </a:fld>
            <a:endParaRPr lang="zh-CN" altLang="en-US" dirty="0"/>
          </a:p>
        </p:txBody>
      </p:sp>
    </p:spTree>
    <p:extLst>
      <p:ext uri="{BB962C8B-B14F-4D97-AF65-F5344CB8AC3E}">
        <p14:creationId xmlns:p14="http://schemas.microsoft.com/office/powerpoint/2010/main" val="246132654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Lampson &amp; </a:t>
            </a:r>
            <a:r>
              <a:rPr lang="en-US" altLang="zh-CN" dirty="0" err="1"/>
              <a:t>Redell</a:t>
            </a:r>
            <a:r>
              <a:rPr lang="zh-CN" altLang="en-US" dirty="0"/>
              <a:t>管程定义</a:t>
            </a:r>
          </a:p>
        </p:txBody>
      </p:sp>
      <p:sp>
        <p:nvSpPr>
          <p:cNvPr id="4" name="Date Placeholder 3"/>
          <p:cNvSpPr>
            <a:spLocks noGrp="1"/>
          </p:cNvSpPr>
          <p:nvPr>
            <p:ph type="dt" sz="half" idx="10"/>
          </p:nvPr>
        </p:nvSpPr>
        <p:spPr/>
        <p:txBody>
          <a:bodyPr/>
          <a:lstStyle/>
          <a:p>
            <a:fld id="{2C35A434-9D38-495A-BF1E-E57068B6B81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115</a:t>
            </a:fld>
            <a:endParaRPr lang="zh-CN" altLang="en-US" dirty="0"/>
          </a:p>
        </p:txBody>
      </p:sp>
      <p:pic>
        <p:nvPicPr>
          <p:cNvPr id="7" name="Picture 6"/>
          <p:cNvPicPr>
            <a:picLocks noChangeAspect="1"/>
          </p:cNvPicPr>
          <p:nvPr/>
        </p:nvPicPr>
        <p:blipFill>
          <a:blip r:embed="rId2"/>
          <a:stretch>
            <a:fillRect/>
          </a:stretch>
        </p:blipFill>
        <p:spPr>
          <a:xfrm>
            <a:off x="971600" y="2132856"/>
            <a:ext cx="7203244" cy="3231058"/>
          </a:xfrm>
          <a:prstGeom prst="rect">
            <a:avLst/>
          </a:prstGeom>
        </p:spPr>
      </p:pic>
      <p:sp>
        <p:nvSpPr>
          <p:cNvPr id="8" name="圆角矩形 3"/>
          <p:cNvSpPr>
            <a:spLocks noChangeArrowheads="1"/>
          </p:cNvSpPr>
          <p:nvPr/>
        </p:nvSpPr>
        <p:spPr bwMode="auto">
          <a:xfrm>
            <a:off x="1537032" y="2564904"/>
            <a:ext cx="2962960"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 name="圆角矩形 3"/>
          <p:cNvSpPr>
            <a:spLocks noChangeArrowheads="1"/>
          </p:cNvSpPr>
          <p:nvPr/>
        </p:nvSpPr>
        <p:spPr bwMode="auto">
          <a:xfrm>
            <a:off x="1537032" y="4149080"/>
            <a:ext cx="2962960"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圆角矩形 3"/>
          <p:cNvSpPr>
            <a:spLocks noChangeArrowheads="1"/>
          </p:cNvSpPr>
          <p:nvPr/>
        </p:nvSpPr>
        <p:spPr bwMode="auto">
          <a:xfrm>
            <a:off x="1578352" y="3280333"/>
            <a:ext cx="1697504"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圆角矩形 3"/>
          <p:cNvSpPr>
            <a:spLocks noChangeArrowheads="1"/>
          </p:cNvSpPr>
          <p:nvPr/>
        </p:nvSpPr>
        <p:spPr bwMode="auto">
          <a:xfrm>
            <a:off x="1537032" y="4870177"/>
            <a:ext cx="1697504" cy="216024"/>
          </a:xfrm>
          <a:prstGeom prst="roundRect">
            <a:avLst>
              <a:gd name="adj" fmla="val 19644"/>
            </a:avLst>
          </a:prstGeom>
          <a:solidFill>
            <a:srgbClr val="FF3300">
              <a:alpha val="39999"/>
            </a:srgbClr>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95011564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管程的例子</a:t>
            </a:r>
            <a:r>
              <a:rPr lang="en-US" altLang="zh-CN" dirty="0" smtClean="0"/>
              <a:t>——</a:t>
            </a:r>
            <a:r>
              <a:rPr lang="zh-CN" altLang="en-US" dirty="0" smtClean="0"/>
              <a:t>“读者</a:t>
            </a:r>
            <a:r>
              <a:rPr lang="en-US" altLang="zh-CN" dirty="0" smtClean="0"/>
              <a:t>-</a:t>
            </a:r>
            <a:r>
              <a:rPr lang="zh-CN" altLang="en-US" dirty="0" smtClean="0"/>
              <a:t>写者”问题</a:t>
            </a:r>
            <a:endParaRPr lang="zh-CN" altLang="en-US" dirty="0"/>
          </a:p>
        </p:txBody>
      </p:sp>
      <p:sp>
        <p:nvSpPr>
          <p:cNvPr id="4" name="Date Placeholder 3"/>
          <p:cNvSpPr>
            <a:spLocks noGrp="1"/>
          </p:cNvSpPr>
          <p:nvPr>
            <p:ph type="dt" sz="half" idx="10"/>
          </p:nvPr>
        </p:nvSpPr>
        <p:spPr/>
        <p:txBody>
          <a:bodyPr/>
          <a:lstStyle/>
          <a:p>
            <a:fld id="{22200400-FF3C-4F03-AB92-1DF9AEE8AC6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116</a:t>
            </a:fld>
            <a:endParaRPr lang="zh-CN" altLang="en-US" dirty="0"/>
          </a:p>
        </p:txBody>
      </p:sp>
      <p:sp>
        <p:nvSpPr>
          <p:cNvPr id="7" name="Rectangle 8"/>
          <p:cNvSpPr>
            <a:spLocks noChangeArrowheads="1"/>
          </p:cNvSpPr>
          <p:nvPr/>
        </p:nvSpPr>
        <p:spPr bwMode="auto">
          <a:xfrm>
            <a:off x="1507108" y="2275037"/>
            <a:ext cx="252412" cy="336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 name="Line 9"/>
          <p:cNvSpPr>
            <a:spLocks noChangeShapeType="1"/>
          </p:cNvSpPr>
          <p:nvPr/>
        </p:nvSpPr>
        <p:spPr bwMode="auto">
          <a:xfrm>
            <a:off x="1759520" y="2435374"/>
            <a:ext cx="2524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Rectangle 10"/>
          <p:cNvSpPr>
            <a:spLocks noChangeArrowheads="1"/>
          </p:cNvSpPr>
          <p:nvPr/>
        </p:nvSpPr>
        <p:spPr bwMode="auto">
          <a:xfrm>
            <a:off x="2011933" y="2260749"/>
            <a:ext cx="254000" cy="336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Line 11"/>
          <p:cNvSpPr>
            <a:spLocks noChangeShapeType="1"/>
          </p:cNvSpPr>
          <p:nvPr/>
        </p:nvSpPr>
        <p:spPr bwMode="auto">
          <a:xfrm>
            <a:off x="2265933" y="2422674"/>
            <a:ext cx="2508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Rectangle 12"/>
          <p:cNvSpPr>
            <a:spLocks noChangeArrowheads="1"/>
          </p:cNvSpPr>
          <p:nvPr/>
        </p:nvSpPr>
        <p:spPr bwMode="auto">
          <a:xfrm>
            <a:off x="2516758" y="2248049"/>
            <a:ext cx="254000" cy="336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Line 13"/>
          <p:cNvSpPr>
            <a:spLocks noChangeShapeType="1"/>
          </p:cNvSpPr>
          <p:nvPr/>
        </p:nvSpPr>
        <p:spPr bwMode="auto">
          <a:xfrm>
            <a:off x="2770758" y="2408387"/>
            <a:ext cx="2524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14"/>
          <p:cNvSpPr>
            <a:spLocks noChangeArrowheads="1"/>
          </p:cNvSpPr>
          <p:nvPr/>
        </p:nvSpPr>
        <p:spPr bwMode="auto">
          <a:xfrm>
            <a:off x="3023170" y="2235349"/>
            <a:ext cx="252413" cy="3349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Line 15"/>
          <p:cNvSpPr>
            <a:spLocks noChangeShapeType="1"/>
          </p:cNvSpPr>
          <p:nvPr/>
        </p:nvSpPr>
        <p:spPr bwMode="auto">
          <a:xfrm>
            <a:off x="3275583" y="2395687"/>
            <a:ext cx="2524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6"/>
          <p:cNvSpPr>
            <a:spLocks noChangeShapeType="1"/>
          </p:cNvSpPr>
          <p:nvPr/>
        </p:nvSpPr>
        <p:spPr bwMode="auto">
          <a:xfrm>
            <a:off x="3527995" y="2408387"/>
            <a:ext cx="0" cy="136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7"/>
          <p:cNvSpPr>
            <a:spLocks noChangeShapeType="1"/>
          </p:cNvSpPr>
          <p:nvPr/>
        </p:nvSpPr>
        <p:spPr bwMode="auto">
          <a:xfrm>
            <a:off x="3451795" y="2544912"/>
            <a:ext cx="127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Freeform 18"/>
          <p:cNvSpPr>
            <a:spLocks/>
          </p:cNvSpPr>
          <p:nvPr/>
        </p:nvSpPr>
        <p:spPr bwMode="auto">
          <a:xfrm>
            <a:off x="1254695" y="2408387"/>
            <a:ext cx="252413" cy="203200"/>
          </a:xfrm>
          <a:custGeom>
            <a:avLst/>
            <a:gdLst>
              <a:gd name="T0" fmla="*/ 0 w 181"/>
              <a:gd name="T1" fmla="*/ 2147483647 h 136"/>
              <a:gd name="T2" fmla="*/ 2147483647 w 181"/>
              <a:gd name="T3" fmla="*/ 2147483647 h 136"/>
              <a:gd name="T4" fmla="*/ 2147483647 w 181"/>
              <a:gd name="T5" fmla="*/ 0 h 136"/>
              <a:gd name="T6" fmla="*/ 0 60000 65536"/>
              <a:gd name="T7" fmla="*/ 0 60000 65536"/>
              <a:gd name="T8" fmla="*/ 0 60000 65536"/>
            </a:gdLst>
            <a:ahLst/>
            <a:cxnLst>
              <a:cxn ang="T6">
                <a:pos x="T0" y="T1"/>
              </a:cxn>
              <a:cxn ang="T7">
                <a:pos x="T2" y="T3"/>
              </a:cxn>
              <a:cxn ang="T8">
                <a:pos x="T4" y="T5"/>
              </a:cxn>
            </a:cxnLst>
            <a:rect l="0" t="0" r="r" b="b"/>
            <a:pathLst>
              <a:path w="181" h="136">
                <a:moveTo>
                  <a:pt x="0" y="136"/>
                </a:moveTo>
                <a:cubicBezTo>
                  <a:pt x="7" y="102"/>
                  <a:pt x="15" y="69"/>
                  <a:pt x="45" y="46"/>
                </a:cubicBezTo>
                <a:cubicBezTo>
                  <a:pt x="75" y="23"/>
                  <a:pt x="158" y="8"/>
                  <a:pt x="181"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26"/>
          <p:cNvSpPr txBox="1">
            <a:spLocks noChangeArrowheads="1"/>
          </p:cNvSpPr>
          <p:nvPr/>
        </p:nvSpPr>
        <p:spPr bwMode="auto">
          <a:xfrm>
            <a:off x="467295" y="4892824"/>
            <a:ext cx="40338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共享数据 </a:t>
            </a:r>
          </a:p>
          <a:p>
            <a:pPr eaLnBrk="1" hangingPunct="1"/>
            <a:r>
              <a:rPr lang="en-US" altLang="zh-CN" sz="1600" b="1"/>
              <a:t>r_count, w_count, read_count, write_count</a:t>
            </a:r>
          </a:p>
        </p:txBody>
      </p:sp>
      <p:sp>
        <p:nvSpPr>
          <p:cNvPr id="19" name="Text Box 27"/>
          <p:cNvSpPr txBox="1">
            <a:spLocks noChangeArrowheads="1"/>
          </p:cNvSpPr>
          <p:nvPr/>
        </p:nvSpPr>
        <p:spPr bwMode="auto">
          <a:xfrm>
            <a:off x="1913508" y="5464324"/>
            <a:ext cx="1554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初始化代码</a:t>
            </a:r>
          </a:p>
        </p:txBody>
      </p:sp>
      <p:sp>
        <p:nvSpPr>
          <p:cNvPr id="20" name="Text Box 28"/>
          <p:cNvSpPr txBox="1">
            <a:spLocks noChangeArrowheads="1"/>
          </p:cNvSpPr>
          <p:nvPr/>
        </p:nvSpPr>
        <p:spPr bwMode="auto">
          <a:xfrm>
            <a:off x="1745233" y="1844824"/>
            <a:ext cx="1327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进入队列</a:t>
            </a:r>
          </a:p>
        </p:txBody>
      </p:sp>
      <p:sp>
        <p:nvSpPr>
          <p:cNvPr id="21" name="Rectangle 46"/>
          <p:cNvSpPr>
            <a:spLocks noChangeArrowheads="1"/>
          </p:cNvSpPr>
          <p:nvPr/>
        </p:nvSpPr>
        <p:spPr bwMode="auto">
          <a:xfrm>
            <a:off x="3431158" y="3602187"/>
            <a:ext cx="249237" cy="14605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Line 51"/>
          <p:cNvSpPr>
            <a:spLocks noChangeShapeType="1"/>
          </p:cNvSpPr>
          <p:nvPr/>
        </p:nvSpPr>
        <p:spPr bwMode="auto">
          <a:xfrm>
            <a:off x="1691258" y="3086249"/>
            <a:ext cx="1936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Rectangle 57"/>
          <p:cNvSpPr>
            <a:spLocks noChangeArrowheads="1"/>
          </p:cNvSpPr>
          <p:nvPr/>
        </p:nvSpPr>
        <p:spPr bwMode="auto">
          <a:xfrm>
            <a:off x="476820" y="4219724"/>
            <a:ext cx="936625" cy="2889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t>start_read</a:t>
            </a:r>
          </a:p>
        </p:txBody>
      </p:sp>
      <p:sp>
        <p:nvSpPr>
          <p:cNvPr id="24" name="Rectangle 58"/>
          <p:cNvSpPr>
            <a:spLocks noChangeArrowheads="1"/>
          </p:cNvSpPr>
          <p:nvPr/>
        </p:nvSpPr>
        <p:spPr bwMode="auto">
          <a:xfrm>
            <a:off x="1459483" y="4229249"/>
            <a:ext cx="1001712" cy="2889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t>finish_read</a:t>
            </a:r>
          </a:p>
        </p:txBody>
      </p:sp>
      <p:sp>
        <p:nvSpPr>
          <p:cNvPr id="25" name="Rectangle 59"/>
          <p:cNvSpPr>
            <a:spLocks noChangeArrowheads="1"/>
          </p:cNvSpPr>
          <p:nvPr/>
        </p:nvSpPr>
        <p:spPr bwMode="auto">
          <a:xfrm>
            <a:off x="2499295" y="4219724"/>
            <a:ext cx="1001713" cy="287338"/>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t>start_write</a:t>
            </a:r>
          </a:p>
        </p:txBody>
      </p:sp>
      <p:sp>
        <p:nvSpPr>
          <p:cNvPr id="26" name="Text Box 61"/>
          <p:cNvSpPr txBox="1">
            <a:spLocks noChangeArrowheads="1"/>
          </p:cNvSpPr>
          <p:nvPr/>
        </p:nvSpPr>
        <p:spPr bwMode="auto">
          <a:xfrm>
            <a:off x="2229420" y="4553099"/>
            <a:ext cx="758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t>操作</a:t>
            </a:r>
          </a:p>
        </p:txBody>
      </p:sp>
      <p:sp>
        <p:nvSpPr>
          <p:cNvPr id="27" name="AutoShape 62"/>
          <p:cNvSpPr>
            <a:spLocks/>
          </p:cNvSpPr>
          <p:nvPr/>
        </p:nvSpPr>
        <p:spPr bwMode="auto">
          <a:xfrm rot="5400000">
            <a:off x="2538982" y="3051325"/>
            <a:ext cx="106363" cy="3097212"/>
          </a:xfrm>
          <a:prstGeom prst="rightBrace">
            <a:avLst>
              <a:gd name="adj1" fmla="val 2426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Line 19"/>
          <p:cNvSpPr>
            <a:spLocks noChangeShapeType="1"/>
          </p:cNvSpPr>
          <p:nvPr/>
        </p:nvSpPr>
        <p:spPr bwMode="auto">
          <a:xfrm>
            <a:off x="467295" y="2679849"/>
            <a:ext cx="6810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0"/>
          <p:cNvSpPr>
            <a:spLocks noChangeShapeType="1"/>
          </p:cNvSpPr>
          <p:nvPr/>
        </p:nvSpPr>
        <p:spPr bwMode="auto">
          <a:xfrm flipH="1">
            <a:off x="1235645" y="2679849"/>
            <a:ext cx="169863" cy="134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1"/>
          <p:cNvSpPr>
            <a:spLocks noChangeShapeType="1"/>
          </p:cNvSpPr>
          <p:nvPr/>
        </p:nvSpPr>
        <p:spPr bwMode="auto">
          <a:xfrm>
            <a:off x="1405508" y="2679849"/>
            <a:ext cx="3238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Rectangle 22"/>
          <p:cNvSpPr>
            <a:spLocks noChangeArrowheads="1"/>
          </p:cNvSpPr>
          <p:nvPr/>
        </p:nvSpPr>
        <p:spPr bwMode="auto">
          <a:xfrm>
            <a:off x="467295" y="4940449"/>
            <a:ext cx="4176713" cy="936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 name="Line 23"/>
          <p:cNvSpPr>
            <a:spLocks noChangeShapeType="1"/>
          </p:cNvSpPr>
          <p:nvPr/>
        </p:nvSpPr>
        <p:spPr bwMode="auto">
          <a:xfrm>
            <a:off x="467295" y="5527824"/>
            <a:ext cx="41767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4"/>
          <p:cNvSpPr>
            <a:spLocks noChangeShapeType="1"/>
          </p:cNvSpPr>
          <p:nvPr/>
        </p:nvSpPr>
        <p:spPr bwMode="auto">
          <a:xfrm>
            <a:off x="467295" y="2679849"/>
            <a:ext cx="0" cy="404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25"/>
          <p:cNvSpPr>
            <a:spLocks noChangeShapeType="1"/>
          </p:cNvSpPr>
          <p:nvPr/>
        </p:nvSpPr>
        <p:spPr bwMode="auto">
          <a:xfrm>
            <a:off x="4644008" y="2679849"/>
            <a:ext cx="0" cy="404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Rectangle 36"/>
          <p:cNvSpPr>
            <a:spLocks noChangeArrowheads="1"/>
          </p:cNvSpPr>
          <p:nvPr/>
        </p:nvSpPr>
        <p:spPr bwMode="auto">
          <a:xfrm>
            <a:off x="1451545" y="3033862"/>
            <a:ext cx="255588" cy="1349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 name="Line 37"/>
          <p:cNvSpPr>
            <a:spLocks noChangeShapeType="1"/>
          </p:cNvSpPr>
          <p:nvPr/>
        </p:nvSpPr>
        <p:spPr bwMode="auto">
          <a:xfrm flipV="1">
            <a:off x="1576958" y="3168799"/>
            <a:ext cx="0" cy="134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Rectangle 38"/>
          <p:cNvSpPr>
            <a:spLocks noChangeArrowheads="1"/>
          </p:cNvSpPr>
          <p:nvPr/>
        </p:nvSpPr>
        <p:spPr bwMode="auto">
          <a:xfrm>
            <a:off x="1456308" y="3318024"/>
            <a:ext cx="255587" cy="1349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8" name="Line 39"/>
          <p:cNvSpPr>
            <a:spLocks noChangeShapeType="1"/>
          </p:cNvSpPr>
          <p:nvPr/>
        </p:nvSpPr>
        <p:spPr bwMode="auto">
          <a:xfrm flipV="1">
            <a:off x="1576958" y="3452962"/>
            <a:ext cx="0" cy="1349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Rectangle 40"/>
          <p:cNvSpPr>
            <a:spLocks noChangeArrowheads="1"/>
          </p:cNvSpPr>
          <p:nvPr/>
        </p:nvSpPr>
        <p:spPr bwMode="auto">
          <a:xfrm>
            <a:off x="1456308" y="3602187"/>
            <a:ext cx="255587" cy="1349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 name="Line 41"/>
          <p:cNvSpPr>
            <a:spLocks noChangeShapeType="1"/>
          </p:cNvSpPr>
          <p:nvPr/>
        </p:nvSpPr>
        <p:spPr bwMode="auto">
          <a:xfrm flipV="1">
            <a:off x="1576958" y="3737124"/>
            <a:ext cx="0" cy="134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42"/>
          <p:cNvSpPr>
            <a:spLocks noChangeArrowheads="1"/>
          </p:cNvSpPr>
          <p:nvPr/>
        </p:nvSpPr>
        <p:spPr bwMode="auto">
          <a:xfrm>
            <a:off x="3418458" y="3033862"/>
            <a:ext cx="255587" cy="1349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2" name="Line 43"/>
          <p:cNvSpPr>
            <a:spLocks noChangeShapeType="1"/>
          </p:cNvSpPr>
          <p:nvPr/>
        </p:nvSpPr>
        <p:spPr bwMode="auto">
          <a:xfrm flipV="1">
            <a:off x="3539108" y="3168799"/>
            <a:ext cx="0" cy="134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Rectangle 44"/>
          <p:cNvSpPr>
            <a:spLocks noChangeArrowheads="1"/>
          </p:cNvSpPr>
          <p:nvPr/>
        </p:nvSpPr>
        <p:spPr bwMode="auto">
          <a:xfrm>
            <a:off x="3418458" y="3318024"/>
            <a:ext cx="255587" cy="1349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4" name="Line 45"/>
          <p:cNvSpPr>
            <a:spLocks noChangeShapeType="1"/>
          </p:cNvSpPr>
          <p:nvPr/>
        </p:nvSpPr>
        <p:spPr bwMode="auto">
          <a:xfrm flipV="1">
            <a:off x="3539108" y="3452962"/>
            <a:ext cx="0" cy="1349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47"/>
          <p:cNvSpPr>
            <a:spLocks noChangeShapeType="1"/>
          </p:cNvSpPr>
          <p:nvPr/>
        </p:nvSpPr>
        <p:spPr bwMode="auto">
          <a:xfrm flipV="1">
            <a:off x="3539108" y="3737124"/>
            <a:ext cx="0" cy="134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52"/>
          <p:cNvSpPr>
            <a:spLocks noChangeShapeType="1"/>
          </p:cNvSpPr>
          <p:nvPr/>
        </p:nvSpPr>
        <p:spPr bwMode="auto">
          <a:xfrm>
            <a:off x="1875408" y="3089424"/>
            <a:ext cx="0" cy="134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53"/>
          <p:cNvSpPr>
            <a:spLocks noChangeShapeType="1"/>
          </p:cNvSpPr>
          <p:nvPr/>
        </p:nvSpPr>
        <p:spPr bwMode="auto">
          <a:xfrm>
            <a:off x="1789683" y="3224362"/>
            <a:ext cx="17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54"/>
          <p:cNvSpPr>
            <a:spLocks noChangeShapeType="1"/>
          </p:cNvSpPr>
          <p:nvPr/>
        </p:nvSpPr>
        <p:spPr bwMode="auto">
          <a:xfrm>
            <a:off x="3674045" y="3087837"/>
            <a:ext cx="17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55"/>
          <p:cNvSpPr>
            <a:spLocks noChangeShapeType="1"/>
          </p:cNvSpPr>
          <p:nvPr/>
        </p:nvSpPr>
        <p:spPr bwMode="auto">
          <a:xfrm>
            <a:off x="3845495" y="3087837"/>
            <a:ext cx="0" cy="1349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56"/>
          <p:cNvSpPr>
            <a:spLocks noChangeShapeType="1"/>
          </p:cNvSpPr>
          <p:nvPr/>
        </p:nvSpPr>
        <p:spPr bwMode="auto">
          <a:xfrm>
            <a:off x="3759770" y="3222774"/>
            <a:ext cx="17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63"/>
          <p:cNvSpPr>
            <a:spLocks noChangeShapeType="1"/>
          </p:cNvSpPr>
          <p:nvPr/>
        </p:nvSpPr>
        <p:spPr bwMode="auto">
          <a:xfrm>
            <a:off x="484758" y="3980012"/>
            <a:ext cx="766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64"/>
          <p:cNvSpPr>
            <a:spLocks noChangeShapeType="1"/>
          </p:cNvSpPr>
          <p:nvPr/>
        </p:nvSpPr>
        <p:spPr bwMode="auto">
          <a:xfrm flipH="1">
            <a:off x="1356295" y="3980012"/>
            <a:ext cx="169863" cy="136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65"/>
          <p:cNvSpPr>
            <a:spLocks noChangeShapeType="1"/>
          </p:cNvSpPr>
          <p:nvPr/>
        </p:nvSpPr>
        <p:spPr bwMode="auto">
          <a:xfrm>
            <a:off x="1526158" y="3980012"/>
            <a:ext cx="1020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6"/>
          <p:cNvSpPr>
            <a:spLocks noChangeShapeType="1"/>
          </p:cNvSpPr>
          <p:nvPr/>
        </p:nvSpPr>
        <p:spPr bwMode="auto">
          <a:xfrm flipH="1">
            <a:off x="2651695" y="3994299"/>
            <a:ext cx="169863" cy="134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67"/>
          <p:cNvSpPr>
            <a:spLocks noChangeShapeType="1"/>
          </p:cNvSpPr>
          <p:nvPr/>
        </p:nvSpPr>
        <p:spPr bwMode="auto">
          <a:xfrm>
            <a:off x="2821558" y="3994299"/>
            <a:ext cx="1020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68"/>
          <p:cNvSpPr>
            <a:spLocks noChangeShapeType="1"/>
          </p:cNvSpPr>
          <p:nvPr/>
        </p:nvSpPr>
        <p:spPr bwMode="auto">
          <a:xfrm flipH="1">
            <a:off x="3878833" y="3994299"/>
            <a:ext cx="169862" cy="1349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69"/>
          <p:cNvSpPr>
            <a:spLocks noChangeShapeType="1"/>
          </p:cNvSpPr>
          <p:nvPr/>
        </p:nvSpPr>
        <p:spPr bwMode="auto">
          <a:xfrm>
            <a:off x="467295" y="2937024"/>
            <a:ext cx="0" cy="2065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70"/>
          <p:cNvSpPr>
            <a:spLocks noChangeShapeType="1"/>
          </p:cNvSpPr>
          <p:nvPr/>
        </p:nvSpPr>
        <p:spPr bwMode="auto">
          <a:xfrm>
            <a:off x="4644008" y="2937024"/>
            <a:ext cx="0" cy="20843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71"/>
          <p:cNvSpPr>
            <a:spLocks noChangeShapeType="1"/>
          </p:cNvSpPr>
          <p:nvPr/>
        </p:nvSpPr>
        <p:spPr bwMode="auto">
          <a:xfrm>
            <a:off x="4048695" y="3995887"/>
            <a:ext cx="5953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Text Box 73"/>
          <p:cNvSpPr txBox="1">
            <a:spLocks noChangeArrowheads="1"/>
          </p:cNvSpPr>
          <p:nvPr/>
        </p:nvSpPr>
        <p:spPr bwMode="auto">
          <a:xfrm>
            <a:off x="972120" y="3572024"/>
            <a:ext cx="522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rq</a:t>
            </a:r>
          </a:p>
        </p:txBody>
      </p:sp>
      <p:sp>
        <p:nvSpPr>
          <p:cNvPr id="61" name="Text Box 74"/>
          <p:cNvSpPr txBox="1">
            <a:spLocks noChangeArrowheads="1"/>
          </p:cNvSpPr>
          <p:nvPr/>
        </p:nvSpPr>
        <p:spPr bwMode="auto">
          <a:xfrm>
            <a:off x="2988245" y="3581549"/>
            <a:ext cx="576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wq</a:t>
            </a:r>
          </a:p>
        </p:txBody>
      </p:sp>
      <p:sp>
        <p:nvSpPr>
          <p:cNvPr id="62" name="Text Box 75"/>
          <p:cNvSpPr txBox="1">
            <a:spLocks noChangeArrowheads="1"/>
          </p:cNvSpPr>
          <p:nvPr/>
        </p:nvSpPr>
        <p:spPr bwMode="auto">
          <a:xfrm>
            <a:off x="1569020" y="2646512"/>
            <a:ext cx="14192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000" b="1"/>
              <a:t>条件队列</a:t>
            </a:r>
          </a:p>
        </p:txBody>
      </p:sp>
      <p:sp>
        <p:nvSpPr>
          <p:cNvPr id="63" name="Rectangle 77"/>
          <p:cNvSpPr>
            <a:spLocks noChangeArrowheads="1"/>
          </p:cNvSpPr>
          <p:nvPr/>
        </p:nvSpPr>
        <p:spPr bwMode="auto">
          <a:xfrm>
            <a:off x="3540695" y="4229249"/>
            <a:ext cx="1087438" cy="287338"/>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t>finish_write</a:t>
            </a:r>
          </a:p>
        </p:txBody>
      </p:sp>
      <p:sp>
        <p:nvSpPr>
          <p:cNvPr id="65" name="Rectangle 5"/>
          <p:cNvSpPr>
            <a:spLocks noChangeArrowheads="1"/>
          </p:cNvSpPr>
          <p:nvPr/>
        </p:nvSpPr>
        <p:spPr bwMode="auto">
          <a:xfrm>
            <a:off x="5490145" y="2887699"/>
            <a:ext cx="291623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BEGIN    // </a:t>
            </a:r>
            <a:r>
              <a:rPr lang="zh-CN" altLang="en-US" sz="2000" b="1" dirty="0">
                <a:latin typeface="+mn-lt"/>
                <a:ea typeface="楷体" panose="02010609060101010101" pitchFamily="49" charset="-122"/>
              </a:rPr>
              <a:t>初始化部分</a:t>
            </a:r>
          </a:p>
          <a:p>
            <a:pPr eaLnBrk="1" hangingPunct="1">
              <a:spcBef>
                <a:spcPct val="20000"/>
              </a:spcBef>
            </a:pPr>
            <a:r>
              <a:rPr lang="zh-CN" altLang="en-US" sz="2000" b="1" dirty="0">
                <a:latin typeface="+mn-lt"/>
                <a:ea typeface="楷体" panose="02010609060101010101" pitchFamily="49" charset="-122"/>
              </a:rPr>
              <a:t>      </a:t>
            </a:r>
            <a:r>
              <a:rPr lang="en-US" altLang="zh-CN" sz="2000" b="1" dirty="0" err="1">
                <a:latin typeface="+mn-lt"/>
                <a:ea typeface="楷体" panose="02010609060101010101" pitchFamily="49" charset="-122"/>
              </a:rPr>
              <a:t>reading_count</a:t>
            </a:r>
            <a:r>
              <a:rPr lang="en-US" altLang="zh-CN" sz="2000" b="1" dirty="0">
                <a:latin typeface="+mn-lt"/>
                <a:ea typeface="楷体" panose="02010609060101010101" pitchFamily="49" charset="-122"/>
              </a:rPr>
              <a:t>:=0;</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:=0;</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r_count</a:t>
            </a:r>
            <a:r>
              <a:rPr lang="en-US" altLang="zh-CN" sz="2000" b="1" dirty="0">
                <a:latin typeface="+mn-lt"/>
                <a:ea typeface="楷体" panose="02010609060101010101" pitchFamily="49" charset="-122"/>
              </a:rPr>
              <a:t>:=0;</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w_count</a:t>
            </a:r>
            <a:r>
              <a:rPr lang="en-US" altLang="zh-CN" sz="2000" b="1" dirty="0">
                <a:latin typeface="+mn-lt"/>
                <a:ea typeface="楷体" panose="02010609060101010101" pitchFamily="49" charset="-122"/>
              </a:rPr>
              <a:t>:=0;</a:t>
            </a:r>
          </a:p>
          <a:p>
            <a:pPr eaLnBrk="1" hangingPunct="1">
              <a:spcBef>
                <a:spcPct val="20000"/>
              </a:spcBef>
            </a:pPr>
            <a:r>
              <a:rPr lang="en-US" altLang="zh-CN" sz="2000" b="1" dirty="0">
                <a:latin typeface="+mn-lt"/>
                <a:ea typeface="楷体" panose="02010609060101010101" pitchFamily="49" charset="-122"/>
              </a:rPr>
              <a:t>END;</a:t>
            </a:r>
          </a:p>
        </p:txBody>
      </p:sp>
    </p:spTree>
    <p:extLst>
      <p:ext uri="{BB962C8B-B14F-4D97-AF65-F5344CB8AC3E}">
        <p14:creationId xmlns:p14="http://schemas.microsoft.com/office/powerpoint/2010/main" val="295730143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E2620F10-5C1E-4077-92D7-2F0FB839525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117</a:t>
            </a:fld>
            <a:endParaRPr lang="zh-CN" altLang="en-US" dirty="0"/>
          </a:p>
        </p:txBody>
      </p:sp>
      <p:sp>
        <p:nvSpPr>
          <p:cNvPr id="7" name="Rectangle 5"/>
          <p:cNvSpPr>
            <a:spLocks noChangeArrowheads="1"/>
          </p:cNvSpPr>
          <p:nvPr/>
        </p:nvSpPr>
        <p:spPr bwMode="auto">
          <a:xfrm>
            <a:off x="1043608" y="1916832"/>
            <a:ext cx="7128792"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TYPE </a:t>
            </a:r>
            <a:r>
              <a:rPr lang="en-US" altLang="zh-CN" sz="2000" b="1" dirty="0" err="1">
                <a:latin typeface="+mn-lt"/>
                <a:ea typeface="楷体" panose="02010609060101010101" pitchFamily="49" charset="-122"/>
              </a:rPr>
              <a:t>r_and_w</a:t>
            </a:r>
            <a:r>
              <a:rPr lang="en-US" altLang="zh-CN" sz="2000" b="1" dirty="0">
                <a:latin typeface="+mn-lt"/>
                <a:ea typeface="楷体" panose="02010609060101010101" pitchFamily="49" charset="-122"/>
              </a:rPr>
              <a:t>=</a:t>
            </a:r>
            <a:r>
              <a:rPr lang="en-US" altLang="zh-CN" sz="2000" b="1" dirty="0">
                <a:solidFill>
                  <a:srgbClr val="FF0000"/>
                </a:solidFill>
                <a:latin typeface="+mn-lt"/>
                <a:ea typeface="楷体" panose="02010609060101010101" pitchFamily="49" charset="-122"/>
              </a:rPr>
              <a:t>MONITOR</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VAR instance : </a:t>
            </a:r>
            <a:r>
              <a:rPr lang="en-US" altLang="zh-CN" sz="2000" b="1" dirty="0" err="1">
                <a:latin typeface="+mn-lt"/>
                <a:ea typeface="楷体" panose="02010609060101010101" pitchFamily="49" charset="-122"/>
              </a:rPr>
              <a:t>one_instance</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rq,wq</a:t>
            </a:r>
            <a:r>
              <a:rPr lang="en-US" altLang="zh-CN" sz="2000" b="1" dirty="0">
                <a:latin typeface="+mn-lt"/>
                <a:ea typeface="楷体" panose="02010609060101010101" pitchFamily="49" charset="-122"/>
              </a:rPr>
              <a:t> : semaphore;		//</a:t>
            </a:r>
            <a:r>
              <a:rPr lang="zh-CN" altLang="en-US" sz="2000" b="1" dirty="0">
                <a:latin typeface="+mn-lt"/>
                <a:ea typeface="楷体" panose="02010609060101010101" pitchFamily="49" charset="-122"/>
              </a:rPr>
              <a:t>读写等待队</a:t>
            </a:r>
            <a:r>
              <a:rPr lang="zh-CN" altLang="en-US" sz="2000" b="1" dirty="0" smtClean="0">
                <a:latin typeface="+mn-lt"/>
                <a:ea typeface="楷体" panose="02010609060101010101" pitchFamily="49" charset="-122"/>
              </a:rPr>
              <a:t>列，条件变量</a:t>
            </a:r>
            <a:endParaRPr lang="zh-CN" altLang="en-US" sz="2000" b="1" dirty="0">
              <a:latin typeface="+mn-lt"/>
              <a:ea typeface="楷体" panose="02010609060101010101" pitchFamily="49" charset="-122"/>
            </a:endParaRPr>
          </a:p>
          <a:p>
            <a:pPr eaLnBrk="1" hangingPunct="1">
              <a:spcBef>
                <a:spcPct val="20000"/>
              </a:spcBef>
            </a:pPr>
            <a:r>
              <a:rPr lang="zh-CN" altLang="en-US" sz="2000" b="1" dirty="0">
                <a:latin typeface="+mn-lt"/>
                <a:ea typeface="楷体" panose="02010609060101010101" pitchFamily="49" charset="-122"/>
              </a:rPr>
              <a:t> </a:t>
            </a:r>
            <a:r>
              <a:rPr lang="en-US" altLang="zh-CN" sz="2000" b="1" dirty="0" err="1">
                <a:latin typeface="+mn-lt"/>
                <a:ea typeface="楷体" panose="02010609060101010101" pitchFamily="49" charset="-122"/>
              </a:rPr>
              <a:t>r_count,w_count</a:t>
            </a:r>
            <a:r>
              <a:rPr lang="en-US" altLang="zh-CN" sz="2000" b="1" dirty="0">
                <a:latin typeface="+mn-lt"/>
                <a:ea typeface="楷体" panose="02010609060101010101" pitchFamily="49" charset="-122"/>
              </a:rPr>
              <a:t> : integer;	//</a:t>
            </a:r>
            <a:r>
              <a:rPr lang="zh-CN" altLang="en-US" sz="2000" b="1" dirty="0">
                <a:latin typeface="+mn-lt"/>
                <a:ea typeface="楷体" panose="02010609060101010101" pitchFamily="49" charset="-122"/>
              </a:rPr>
              <a:t>读写等待计数</a:t>
            </a:r>
          </a:p>
          <a:p>
            <a:pPr eaLnBrk="1" hangingPunct="1">
              <a:spcBef>
                <a:spcPct val="20000"/>
              </a:spcBef>
            </a:pPr>
            <a:r>
              <a:rPr lang="zh-CN" altLang="en-US" sz="2000" b="1" dirty="0">
                <a:latin typeface="+mn-lt"/>
                <a:ea typeface="楷体" panose="02010609060101010101" pitchFamily="49" charset="-122"/>
              </a:rPr>
              <a:t> </a:t>
            </a:r>
            <a:r>
              <a:rPr lang="en-US" altLang="zh-CN" sz="2000" b="1" dirty="0" err="1">
                <a:latin typeface="+mn-lt"/>
                <a:ea typeface="楷体" panose="02010609060101010101" pitchFamily="49" charset="-122"/>
              </a:rPr>
              <a:t>reading_count,write_count</a:t>
            </a:r>
            <a:r>
              <a:rPr lang="en-US" altLang="zh-CN" sz="2000" b="1" dirty="0">
                <a:latin typeface="+mn-lt"/>
                <a:ea typeface="楷体" panose="02010609060101010101" pitchFamily="49" charset="-122"/>
              </a:rPr>
              <a:t> : integer;//</a:t>
            </a:r>
            <a:r>
              <a:rPr lang="zh-CN" altLang="en-US" sz="2000" b="1" dirty="0">
                <a:latin typeface="+mn-lt"/>
                <a:ea typeface="楷体" panose="02010609060101010101" pitchFamily="49" charset="-122"/>
              </a:rPr>
              <a:t>正在读写进程计数</a:t>
            </a:r>
          </a:p>
          <a:p>
            <a:pPr eaLnBrk="1" hangingPunct="1">
              <a:spcBef>
                <a:spcPct val="20000"/>
              </a:spcBef>
            </a:pPr>
            <a:r>
              <a:rPr lang="zh-CN" altLang="en-US" sz="2000" b="1" dirty="0">
                <a:latin typeface="+mn-lt"/>
                <a:ea typeface="楷体" panose="02010609060101010101" pitchFamily="49" charset="-122"/>
              </a:rPr>
              <a:t> </a:t>
            </a:r>
            <a:r>
              <a:rPr lang="en-US" altLang="zh-CN" sz="2000" b="1" dirty="0">
                <a:solidFill>
                  <a:srgbClr val="0000FF"/>
                </a:solidFill>
                <a:latin typeface="+mn-lt"/>
                <a:ea typeface="楷体" panose="02010609060101010101" pitchFamily="49" charset="-122"/>
              </a:rPr>
              <a:t>define  </a:t>
            </a:r>
            <a:r>
              <a:rPr lang="en-US" altLang="zh-CN" sz="2000" b="1" dirty="0" err="1">
                <a:solidFill>
                  <a:srgbClr val="0000FF"/>
                </a:solidFill>
                <a:latin typeface="+mn-lt"/>
                <a:ea typeface="楷体" panose="02010609060101010101" pitchFamily="49" charset="-122"/>
              </a:rPr>
              <a:t>start_read,finish_read,start_write,finish_write</a:t>
            </a:r>
            <a:r>
              <a:rPr lang="en-US" altLang="zh-CN" sz="2000" b="1" dirty="0" smtClean="0">
                <a:solidFill>
                  <a:srgbClr val="0000FF"/>
                </a:solidFill>
                <a:latin typeface="+mn-lt"/>
                <a:ea typeface="楷体" panose="02010609060101010101" pitchFamily="49" charset="-122"/>
              </a:rPr>
              <a:t>;</a:t>
            </a:r>
          </a:p>
          <a:p>
            <a:pPr eaLnBrk="1" hangingPunct="1">
              <a:spcBef>
                <a:spcPct val="20000"/>
              </a:spcBef>
            </a:pPr>
            <a:r>
              <a:rPr lang="en-US" altLang="zh-CN" sz="2000" b="1" dirty="0" smtClean="0">
                <a:solidFill>
                  <a:srgbClr val="0000FF"/>
                </a:solidFill>
                <a:latin typeface="+mn-lt"/>
                <a:ea typeface="楷体" panose="02010609060101010101" pitchFamily="49" charset="-122"/>
              </a:rPr>
              <a:t>// </a:t>
            </a:r>
            <a:r>
              <a:rPr lang="zh-CN" altLang="en-US" sz="2000" b="1" dirty="0" smtClean="0">
                <a:solidFill>
                  <a:srgbClr val="0000FF"/>
                </a:solidFill>
                <a:latin typeface="+mn-lt"/>
                <a:ea typeface="楷体" panose="02010609060101010101" pitchFamily="49" charset="-122"/>
              </a:rPr>
              <a:t>蓝色部分代码为外部调用</a:t>
            </a:r>
            <a:endParaRPr lang="en-US" altLang="zh-CN" sz="2000" b="1" dirty="0">
              <a:solidFill>
                <a:srgbClr val="0000FF"/>
              </a:solidFill>
              <a:latin typeface="+mn-lt"/>
              <a:ea typeface="楷体" panose="02010609060101010101" pitchFamily="49" charset="-122"/>
            </a:endParaRPr>
          </a:p>
          <a:p>
            <a:pPr eaLnBrk="1" hangingPunct="1">
              <a:spcBef>
                <a:spcPct val="20000"/>
              </a:spcBef>
            </a:pPr>
            <a:r>
              <a:rPr lang="en-US" altLang="zh-CN" sz="2000" b="1" dirty="0">
                <a:latin typeface="+mn-lt"/>
                <a:ea typeface="楷体" panose="02010609060101010101" pitchFamily="49" charset="-122"/>
              </a:rPr>
              <a:t> use       </a:t>
            </a:r>
            <a:r>
              <a:rPr lang="en-US" altLang="zh-CN" sz="2000" b="1" dirty="0" err="1">
                <a:latin typeface="+mn-lt"/>
                <a:ea typeface="楷体" panose="02010609060101010101" pitchFamily="49" charset="-122"/>
              </a:rPr>
              <a:t>monitor_elements.enter</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monitor_elements.leave</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monitor_elements.wait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monitor_elements.signal</a:t>
            </a:r>
            <a:r>
              <a:rPr lang="en-US" altLang="zh-CN" sz="2000" b="1" dirty="0">
                <a:latin typeface="+mn-lt"/>
                <a:ea typeface="楷体" panose="02010609060101010101" pitchFamily="49" charset="-122"/>
              </a:rPr>
              <a:t>; </a:t>
            </a:r>
          </a:p>
        </p:txBody>
      </p:sp>
    </p:spTree>
    <p:extLst>
      <p:ext uri="{BB962C8B-B14F-4D97-AF65-F5344CB8AC3E}">
        <p14:creationId xmlns:p14="http://schemas.microsoft.com/office/powerpoint/2010/main" val="2662577419"/>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BEF61B9E-037F-4CF0-9DAF-F6E80585462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118</a:t>
            </a:fld>
            <a:endParaRPr lang="zh-CN" altLang="en-US" dirty="0"/>
          </a:p>
        </p:txBody>
      </p:sp>
      <p:sp>
        <p:nvSpPr>
          <p:cNvPr id="7" name="Rectangle 5"/>
          <p:cNvSpPr>
            <a:spLocks noChangeArrowheads="1"/>
          </p:cNvSpPr>
          <p:nvPr/>
        </p:nvSpPr>
        <p:spPr bwMode="auto">
          <a:xfrm>
            <a:off x="1554088" y="2209800"/>
            <a:ext cx="5898232"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PROCEDURE </a:t>
            </a:r>
            <a:r>
              <a:rPr lang="en-US" altLang="zh-CN" sz="2000" b="1" dirty="0" err="1" smtClean="0">
                <a:solidFill>
                  <a:srgbClr val="0000FF"/>
                </a:solidFill>
                <a:latin typeface="+mn-lt"/>
                <a:ea typeface="楷体" panose="02010609060101010101" pitchFamily="49" charset="-122"/>
              </a:rPr>
              <a:t>start_read</a:t>
            </a:r>
            <a:endParaRPr lang="en-US" altLang="zh-CN" sz="2000" b="1" dirty="0">
              <a:latin typeface="+mn-lt"/>
              <a:ea typeface="楷体" panose="02010609060101010101" pitchFamily="49" charset="-122"/>
            </a:endParaRPr>
          </a:p>
          <a:p>
            <a:pPr eaLnBrk="1" hangingPunct="1">
              <a:spcBef>
                <a:spcPct val="20000"/>
              </a:spcBef>
            </a:pPr>
            <a:r>
              <a:rPr lang="en-US" altLang="zh-CN" sz="2000" b="1" dirty="0">
                <a:latin typeface="+mn-lt"/>
                <a:ea typeface="楷体" panose="02010609060101010101" pitchFamily="49" charset="-122"/>
              </a:rPr>
              <a:t>BEGIN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monitor_elements.enter</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&gt;0 THEN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monitor_elements.wait</a:t>
            </a:r>
            <a:r>
              <a:rPr lang="en-US" altLang="zh-CN" sz="2000" b="1" dirty="0">
                <a:latin typeface="+mn-lt"/>
                <a:ea typeface="楷体" panose="02010609060101010101" pitchFamily="49" charset="-122"/>
              </a:rPr>
              <a:t>(instance</a:t>
            </a:r>
            <a:r>
              <a:rPr lang="en-US" altLang="zh-CN" sz="2000" b="1" dirty="0" smtClean="0">
                <a:latin typeface="+mn-lt"/>
                <a:ea typeface="楷体" panose="02010609060101010101" pitchFamily="49" charset="-122"/>
              </a:rPr>
              <a:t>, </a:t>
            </a:r>
            <a:r>
              <a:rPr lang="en-US" altLang="zh-CN" sz="2000" b="1" dirty="0" err="1" smtClean="0">
                <a:latin typeface="+mn-lt"/>
                <a:ea typeface="楷体" panose="02010609060101010101" pitchFamily="49" charset="-122"/>
              </a:rPr>
              <a:t>rq</a:t>
            </a:r>
            <a:r>
              <a:rPr lang="en-US" altLang="zh-CN" sz="2000" b="1" dirty="0" smtClean="0">
                <a:latin typeface="+mn-lt"/>
                <a:ea typeface="楷体" panose="02010609060101010101" pitchFamily="49" charset="-122"/>
              </a:rPr>
              <a:t>, </a:t>
            </a:r>
            <a:r>
              <a:rPr lang="en-US" altLang="zh-CN" sz="2000" b="1" dirty="0" err="1" smtClean="0">
                <a:latin typeface="+mn-lt"/>
                <a:ea typeface="楷体" panose="02010609060101010101" pitchFamily="49" charset="-122"/>
              </a:rPr>
              <a:t>r_count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reading_count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monitor_elements.leave</a:t>
            </a:r>
            <a:r>
              <a:rPr lang="en-US" altLang="zh-CN" sz="2000" b="1" dirty="0">
                <a:latin typeface="+mn-lt"/>
                <a:ea typeface="楷体" panose="02010609060101010101" pitchFamily="49" charset="-122"/>
              </a:rPr>
              <a:t>(instance); </a:t>
            </a:r>
          </a:p>
          <a:p>
            <a:pPr eaLnBrk="1" hangingPunct="1">
              <a:spcBef>
                <a:spcPct val="20000"/>
              </a:spcBef>
            </a:pPr>
            <a:r>
              <a:rPr lang="en-US" altLang="zh-CN" sz="2000" b="1" dirty="0">
                <a:latin typeface="+mn-lt"/>
                <a:ea typeface="楷体" panose="02010609060101010101" pitchFamily="49" charset="-122"/>
              </a:rPr>
              <a:t>                  // </a:t>
            </a:r>
            <a:r>
              <a:rPr lang="zh-CN" altLang="en-US" sz="2000" b="1" dirty="0">
                <a:latin typeface="+mn-lt"/>
                <a:ea typeface="楷体" panose="02010609060101010101" pitchFamily="49" charset="-122"/>
              </a:rPr>
              <a:t>保证管程中只有一个进程</a:t>
            </a:r>
          </a:p>
          <a:p>
            <a:pPr eaLnBrk="1" hangingPunct="1">
              <a:spcBef>
                <a:spcPct val="20000"/>
              </a:spcBef>
            </a:pPr>
            <a:r>
              <a:rPr lang="en-US" altLang="zh-CN" sz="2000" b="1" dirty="0" smtClean="0">
                <a:latin typeface="+mn-lt"/>
                <a:ea typeface="楷体" panose="02010609060101010101" pitchFamily="49" charset="-122"/>
              </a:rPr>
              <a:t>END</a:t>
            </a:r>
            <a:endParaRPr lang="en-US" altLang="zh-CN" sz="2000" b="1" dirty="0">
              <a:latin typeface="+mn-lt"/>
              <a:ea typeface="楷体" panose="02010609060101010101" pitchFamily="49" charset="-122"/>
            </a:endParaRPr>
          </a:p>
        </p:txBody>
      </p:sp>
    </p:spTree>
    <p:extLst>
      <p:ext uri="{BB962C8B-B14F-4D97-AF65-F5344CB8AC3E}">
        <p14:creationId xmlns:p14="http://schemas.microsoft.com/office/powerpoint/2010/main" val="55239832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DBE1C339-848B-4F5F-8BCB-9CA98174AE4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119</a:t>
            </a:fld>
            <a:endParaRPr lang="zh-CN" altLang="en-US" dirty="0"/>
          </a:p>
        </p:txBody>
      </p:sp>
      <p:sp>
        <p:nvSpPr>
          <p:cNvPr id="7" name="Rectangle 5"/>
          <p:cNvSpPr>
            <a:spLocks noChangeArrowheads="1"/>
          </p:cNvSpPr>
          <p:nvPr/>
        </p:nvSpPr>
        <p:spPr bwMode="auto">
          <a:xfrm>
            <a:off x="1558280" y="2244725"/>
            <a:ext cx="5894040" cy="305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PROCEDURE </a:t>
            </a:r>
            <a:r>
              <a:rPr lang="en-US" altLang="zh-CN" sz="2000" b="1" dirty="0" err="1" smtClean="0">
                <a:solidFill>
                  <a:srgbClr val="0000FF"/>
                </a:solidFill>
                <a:latin typeface="+mn-lt"/>
                <a:ea typeface="楷体" panose="02010609060101010101" pitchFamily="49" charset="-122"/>
              </a:rPr>
              <a:t>finish_read</a:t>
            </a:r>
            <a:endParaRPr lang="en-US" altLang="zh-CN" sz="2000" b="1" dirty="0">
              <a:solidFill>
                <a:srgbClr val="0000FF"/>
              </a:solidFill>
              <a:latin typeface="+mn-lt"/>
              <a:ea typeface="楷体" panose="02010609060101010101" pitchFamily="49" charset="-122"/>
            </a:endParaRPr>
          </a:p>
          <a:p>
            <a:pPr eaLnBrk="1" hangingPunct="1">
              <a:spcBef>
                <a:spcPct val="20000"/>
              </a:spcBef>
            </a:pPr>
            <a:r>
              <a:rPr lang="en-US" altLang="zh-CN" sz="2000" b="1" dirty="0">
                <a:latin typeface="+mn-lt"/>
                <a:ea typeface="楷体" panose="02010609060101010101" pitchFamily="49" charset="-122"/>
              </a:rPr>
              <a:t>BEGIN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monitor_elements.enter</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reading_count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reading_count</a:t>
            </a:r>
            <a:r>
              <a:rPr lang="en-US" altLang="zh-CN" sz="2000" b="1" dirty="0">
                <a:latin typeface="+mn-lt"/>
                <a:ea typeface="楷体" panose="02010609060101010101" pitchFamily="49" charset="-122"/>
              </a:rPr>
              <a:t>=0 THEN            </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monitor_elements.signal</a:t>
            </a:r>
            <a:r>
              <a:rPr lang="en-US" altLang="zh-CN" sz="2000" b="1" dirty="0">
                <a:latin typeface="+mn-lt"/>
                <a:ea typeface="楷体" panose="02010609060101010101" pitchFamily="49" charset="-122"/>
              </a:rPr>
              <a:t>(</a:t>
            </a:r>
            <a:r>
              <a:rPr lang="en-US" altLang="zh-CN" sz="2000" b="1" dirty="0" err="1">
                <a:latin typeface="+mn-lt"/>
                <a:ea typeface="楷体" panose="02010609060101010101" pitchFamily="49" charset="-122"/>
              </a:rPr>
              <a:t>instance,wq,w_count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monitor_elements.leave</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smtClean="0">
                <a:latin typeface="+mn-lt"/>
                <a:ea typeface="楷体" panose="02010609060101010101" pitchFamily="49" charset="-122"/>
              </a:rPr>
              <a:t>END</a:t>
            </a:r>
            <a:endParaRPr lang="en-US" altLang="zh-CN" sz="2000" b="1" dirty="0">
              <a:latin typeface="+mn-lt"/>
              <a:ea typeface="楷体" panose="02010609060101010101" pitchFamily="49" charset="-122"/>
            </a:endParaRPr>
          </a:p>
        </p:txBody>
      </p:sp>
    </p:spTree>
    <p:extLst>
      <p:ext uri="{BB962C8B-B14F-4D97-AF65-F5344CB8AC3E}">
        <p14:creationId xmlns:p14="http://schemas.microsoft.com/office/powerpoint/2010/main" val="129179219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DAD81158-5689-4595-A8D4-4094E5E94C3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120</a:t>
            </a:fld>
            <a:endParaRPr lang="zh-CN" altLang="en-US" dirty="0"/>
          </a:p>
        </p:txBody>
      </p:sp>
      <p:sp>
        <p:nvSpPr>
          <p:cNvPr id="7" name="Rectangle 5"/>
          <p:cNvSpPr>
            <a:spLocks noChangeArrowheads="1"/>
          </p:cNvSpPr>
          <p:nvPr/>
        </p:nvSpPr>
        <p:spPr bwMode="auto">
          <a:xfrm>
            <a:off x="1414264" y="2190750"/>
            <a:ext cx="6254080" cy="305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PROCEDURE </a:t>
            </a:r>
            <a:r>
              <a:rPr lang="en-US" altLang="zh-CN" sz="2000" b="1" dirty="0" err="1" smtClean="0">
                <a:solidFill>
                  <a:srgbClr val="0033CC"/>
                </a:solidFill>
                <a:latin typeface="+mn-lt"/>
                <a:ea typeface="楷体" panose="02010609060101010101" pitchFamily="49" charset="-122"/>
              </a:rPr>
              <a:t>start_write</a:t>
            </a:r>
            <a:endParaRPr lang="en-US" altLang="zh-CN" sz="2000" b="1" dirty="0">
              <a:solidFill>
                <a:srgbClr val="0033CC"/>
              </a:solidFill>
              <a:latin typeface="+mn-lt"/>
              <a:ea typeface="楷体" panose="02010609060101010101" pitchFamily="49" charset="-122"/>
            </a:endParaRPr>
          </a:p>
          <a:p>
            <a:pPr eaLnBrk="1" hangingPunct="1">
              <a:spcBef>
                <a:spcPct val="20000"/>
              </a:spcBef>
            </a:pPr>
            <a:r>
              <a:rPr lang="en-US" altLang="zh-CN" sz="2000" b="1" dirty="0">
                <a:latin typeface="+mn-lt"/>
                <a:ea typeface="楷体" panose="02010609060101010101" pitchFamily="49" charset="-122"/>
              </a:rPr>
              <a:t>BEGIN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monitor_elements.enter</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&gt;1) OR (</a:t>
            </a:r>
            <a:r>
              <a:rPr lang="en-US" altLang="zh-CN" sz="2000" b="1" dirty="0" err="1">
                <a:latin typeface="+mn-lt"/>
                <a:ea typeface="楷体" panose="02010609060101010101" pitchFamily="49" charset="-122"/>
              </a:rPr>
              <a:t>reading_count</a:t>
            </a:r>
            <a:r>
              <a:rPr lang="en-US" altLang="zh-CN" sz="2000" b="1" dirty="0">
                <a:latin typeface="+mn-lt"/>
                <a:ea typeface="楷体" panose="02010609060101010101" pitchFamily="49" charset="-122"/>
              </a:rPr>
              <a:t>&gt;0) </a:t>
            </a:r>
          </a:p>
          <a:p>
            <a:pPr eaLnBrk="1" hangingPunct="1">
              <a:spcBef>
                <a:spcPct val="20000"/>
              </a:spcBef>
            </a:pPr>
            <a:r>
              <a:rPr lang="en-US" altLang="zh-CN" sz="2000" b="1" dirty="0">
                <a:latin typeface="+mn-lt"/>
                <a:ea typeface="楷体" panose="02010609060101010101" pitchFamily="49" charset="-122"/>
              </a:rPr>
              <a:t>    THEN  </a:t>
            </a:r>
            <a:r>
              <a:rPr lang="en-US" altLang="zh-CN" sz="2000" b="1" dirty="0" err="1">
                <a:latin typeface="+mn-lt"/>
                <a:ea typeface="楷体" panose="02010609060101010101" pitchFamily="49" charset="-122"/>
              </a:rPr>
              <a:t>monitor_elements.wait</a:t>
            </a:r>
            <a:r>
              <a:rPr lang="en-US" altLang="zh-CN" sz="2000" b="1" dirty="0">
                <a:latin typeface="+mn-lt"/>
                <a:ea typeface="楷体" panose="02010609060101010101" pitchFamily="49" charset="-122"/>
              </a:rPr>
              <a:t>(</a:t>
            </a:r>
            <a:r>
              <a:rPr lang="en-US" altLang="zh-CN" sz="2000" b="1" dirty="0" err="1">
                <a:latin typeface="+mn-lt"/>
                <a:ea typeface="楷体" panose="02010609060101010101" pitchFamily="49" charset="-122"/>
              </a:rPr>
              <a:t>instance,wq,w_count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monitor_elements.leave</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a:latin typeface="+mn-lt"/>
                <a:ea typeface="楷体" panose="02010609060101010101" pitchFamily="49" charset="-122"/>
              </a:rPr>
              <a:t>END;</a:t>
            </a:r>
          </a:p>
        </p:txBody>
      </p:sp>
    </p:spTree>
    <p:extLst>
      <p:ext uri="{BB962C8B-B14F-4D97-AF65-F5344CB8AC3E}">
        <p14:creationId xmlns:p14="http://schemas.microsoft.com/office/powerpoint/2010/main" val="125037041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C7C62728-CACB-43FB-9609-5741282DC40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121</a:t>
            </a:fld>
            <a:endParaRPr lang="zh-CN" altLang="en-US" dirty="0"/>
          </a:p>
        </p:txBody>
      </p:sp>
      <p:sp>
        <p:nvSpPr>
          <p:cNvPr id="7" name="Text Box 5"/>
          <p:cNvSpPr txBox="1">
            <a:spLocks noChangeArrowheads="1"/>
          </p:cNvSpPr>
          <p:nvPr/>
        </p:nvSpPr>
        <p:spPr bwMode="auto">
          <a:xfrm>
            <a:off x="1547664" y="1916832"/>
            <a:ext cx="5864362" cy="387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dirty="0">
                <a:latin typeface="+mn-lt"/>
                <a:ea typeface="楷体" panose="02010609060101010101" pitchFamily="49" charset="-122"/>
              </a:rPr>
              <a:t>PROCEDURE </a:t>
            </a:r>
            <a:r>
              <a:rPr lang="en-US" altLang="zh-CN" sz="2000" b="1" dirty="0" err="1" smtClean="0">
                <a:solidFill>
                  <a:srgbClr val="0033CC"/>
                </a:solidFill>
                <a:latin typeface="+mn-lt"/>
                <a:ea typeface="楷体" panose="02010609060101010101" pitchFamily="49" charset="-122"/>
              </a:rPr>
              <a:t>finish_write</a:t>
            </a:r>
            <a:endParaRPr lang="zh-CN" altLang="en-US" sz="2000" b="1" dirty="0">
              <a:latin typeface="+mn-lt"/>
              <a:ea typeface="楷体" panose="02010609060101010101" pitchFamily="49" charset="-122"/>
            </a:endParaRPr>
          </a:p>
          <a:p>
            <a:pPr eaLnBrk="1" hangingPunct="1">
              <a:spcBef>
                <a:spcPct val="20000"/>
              </a:spcBef>
            </a:pPr>
            <a:r>
              <a:rPr lang="en-US" altLang="zh-CN" sz="2000" b="1" dirty="0">
                <a:latin typeface="+mn-lt"/>
                <a:ea typeface="楷体" panose="02010609060101010101" pitchFamily="49" charset="-122"/>
              </a:rPr>
              <a:t>BEGIN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monitor_elements.enter</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write_count</a:t>
            </a:r>
            <a:r>
              <a:rPr lang="en-US" altLang="zh-CN" sz="2000" b="1" dirty="0">
                <a:latin typeface="+mn-lt"/>
                <a:ea typeface="楷体" panose="02010609060101010101" pitchFamily="49" charset="-122"/>
              </a:rPr>
              <a:t>&gt;0 THEN</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monitor_elements.signal</a:t>
            </a:r>
            <a:r>
              <a:rPr lang="en-US" altLang="zh-CN" sz="2000" b="1" dirty="0">
                <a:latin typeface="+mn-lt"/>
                <a:ea typeface="楷体" panose="02010609060101010101" pitchFamily="49" charset="-122"/>
              </a:rPr>
              <a:t>(</a:t>
            </a:r>
            <a:r>
              <a:rPr lang="en-US" altLang="zh-CN" sz="2000" b="1" dirty="0" err="1">
                <a:latin typeface="+mn-lt"/>
                <a:ea typeface="楷体" panose="02010609060101010101" pitchFamily="49" charset="-122"/>
              </a:rPr>
              <a:t>instance,wq,w_count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ELSE </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monitor_elements.signal</a:t>
            </a:r>
            <a:r>
              <a:rPr lang="en-US" altLang="zh-CN" sz="2000" b="1" dirty="0">
                <a:latin typeface="+mn-lt"/>
                <a:ea typeface="楷体" panose="02010609060101010101" pitchFamily="49" charset="-122"/>
              </a:rPr>
              <a:t>(</a:t>
            </a:r>
            <a:r>
              <a:rPr lang="en-US" altLang="zh-CN" sz="2000" b="1" dirty="0" err="1">
                <a:latin typeface="+mn-lt"/>
                <a:ea typeface="楷体" panose="02010609060101010101" pitchFamily="49" charset="-122"/>
              </a:rPr>
              <a:t>instance,rq,r_count</a:t>
            </a:r>
            <a:r>
              <a:rPr lang="en-US" altLang="zh-CN" sz="2000" b="1" dirty="0">
                <a:latin typeface="+mn-lt"/>
                <a:ea typeface="楷体" panose="02010609060101010101" pitchFamily="49" charset="-122"/>
              </a:rPr>
              <a:t>);</a:t>
            </a:r>
          </a:p>
          <a:p>
            <a:pPr eaLnBrk="1" hangingPunct="1">
              <a:spcBef>
                <a:spcPct val="20000"/>
              </a:spcBef>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monitor_elements.leave</a:t>
            </a:r>
            <a:r>
              <a:rPr lang="en-US" altLang="zh-CN" sz="2000" b="1" dirty="0">
                <a:latin typeface="+mn-lt"/>
                <a:ea typeface="楷体" panose="02010609060101010101" pitchFamily="49" charset="-122"/>
              </a:rPr>
              <a:t>(instance);</a:t>
            </a:r>
          </a:p>
          <a:p>
            <a:pPr eaLnBrk="1" hangingPunct="1">
              <a:spcBef>
                <a:spcPct val="20000"/>
              </a:spcBef>
            </a:pPr>
            <a:r>
              <a:rPr lang="en-US" altLang="zh-CN" sz="2000" b="1" dirty="0" smtClean="0">
                <a:latin typeface="+mn-lt"/>
                <a:ea typeface="楷体" panose="02010609060101010101" pitchFamily="49" charset="-122"/>
              </a:rPr>
              <a:t>END</a:t>
            </a:r>
            <a:endParaRPr lang="en-US" altLang="zh-CN" sz="2000" b="1" dirty="0">
              <a:latin typeface="+mn-lt"/>
              <a:ea typeface="楷体" panose="02010609060101010101" pitchFamily="49" charset="-122"/>
            </a:endParaRPr>
          </a:p>
        </p:txBody>
      </p:sp>
    </p:spTree>
    <p:extLst>
      <p:ext uri="{BB962C8B-B14F-4D97-AF65-F5344CB8AC3E}">
        <p14:creationId xmlns:p14="http://schemas.microsoft.com/office/powerpoint/2010/main" val="416140996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管程的例子</a:t>
            </a:r>
            <a:r>
              <a:rPr lang="en-US" altLang="zh-CN" dirty="0"/>
              <a:t>——</a:t>
            </a:r>
            <a:r>
              <a:rPr lang="zh-CN" altLang="en-US" dirty="0"/>
              <a:t>“读者</a:t>
            </a:r>
            <a:r>
              <a:rPr lang="en-US" altLang="zh-CN" dirty="0"/>
              <a:t>-</a:t>
            </a:r>
            <a:r>
              <a:rPr lang="zh-CN" altLang="en-US" dirty="0"/>
              <a:t>写者”问题</a:t>
            </a:r>
          </a:p>
        </p:txBody>
      </p:sp>
      <p:sp>
        <p:nvSpPr>
          <p:cNvPr id="4" name="Date Placeholder 3"/>
          <p:cNvSpPr>
            <a:spLocks noGrp="1"/>
          </p:cNvSpPr>
          <p:nvPr>
            <p:ph type="dt" sz="half" idx="10"/>
          </p:nvPr>
        </p:nvSpPr>
        <p:spPr/>
        <p:txBody>
          <a:bodyPr/>
          <a:lstStyle/>
          <a:p>
            <a:fld id="{E7BDB209-DFB2-43C4-B6ED-310C350028A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122</a:t>
            </a:fld>
            <a:endParaRPr lang="zh-CN" altLang="en-US" dirty="0"/>
          </a:p>
        </p:txBody>
      </p:sp>
      <p:grpSp>
        <p:nvGrpSpPr>
          <p:cNvPr id="7" name="Group 12"/>
          <p:cNvGrpSpPr>
            <a:grpSpLocks/>
          </p:cNvGrpSpPr>
          <p:nvPr/>
        </p:nvGrpSpPr>
        <p:grpSpPr bwMode="auto">
          <a:xfrm>
            <a:off x="539552" y="1844575"/>
            <a:ext cx="3962400" cy="4176713"/>
            <a:chOff x="356" y="1434"/>
            <a:chExt cx="2496" cy="2631"/>
          </a:xfrm>
        </p:grpSpPr>
        <p:sp>
          <p:nvSpPr>
            <p:cNvPr id="8" name="Rectangle 5"/>
            <p:cNvSpPr>
              <a:spLocks noChangeArrowheads="1"/>
            </p:cNvSpPr>
            <p:nvPr/>
          </p:nvSpPr>
          <p:spPr bwMode="auto">
            <a:xfrm>
              <a:off x="356" y="1434"/>
              <a:ext cx="2496" cy="1966"/>
            </a:xfrm>
            <a:prstGeom prst="rect">
              <a:avLst/>
            </a:prstGeom>
            <a:solidFill>
              <a:srgbClr val="FFFF00"/>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dirty="0">
                  <a:latin typeface="+mn-lt"/>
                  <a:ea typeface="楷体" panose="02010609060101010101" pitchFamily="49" charset="-122"/>
                </a:rPr>
                <a:t>读者进程的活动：</a:t>
              </a:r>
            </a:p>
            <a:p>
              <a:pPr eaLnBrk="1" hangingPunct="1">
                <a:spcBef>
                  <a:spcPct val="20000"/>
                </a:spcBef>
              </a:pP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r>
                <a:rPr lang="en-US" altLang="zh-CN" b="1" dirty="0" err="1" smtClean="0">
                  <a:solidFill>
                    <a:srgbClr val="0000FF"/>
                  </a:solidFill>
                  <a:latin typeface="+mn-lt"/>
                  <a:ea typeface="楷体" panose="02010609060101010101" pitchFamily="49" charset="-122"/>
                </a:rPr>
                <a:t>r.start_read</a:t>
              </a:r>
              <a:r>
                <a:rPr lang="en-US" altLang="zh-CN" b="1" dirty="0">
                  <a:solidFill>
                    <a:srgbClr val="0000FF"/>
                  </a:solidFill>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r>
                <a:rPr lang="zh-CN" altLang="en-US" b="1" dirty="0">
                  <a:latin typeface="+mn-lt"/>
                  <a:ea typeface="楷体" panose="02010609060101010101" pitchFamily="49" charset="-122"/>
                </a:rPr>
                <a:t>读操作；</a:t>
              </a:r>
            </a:p>
            <a:p>
              <a:pPr eaLnBrk="1" hangingPunct="1">
                <a:spcBef>
                  <a:spcPct val="20000"/>
                </a:spcBef>
              </a:pPr>
              <a:r>
                <a:rPr lang="zh-CN" altLang="en-US" b="1" dirty="0">
                  <a:latin typeface="+mn-lt"/>
                  <a:ea typeface="楷体" panose="02010609060101010101" pitchFamily="49" charset="-122"/>
                </a:rPr>
                <a:t>    </a:t>
              </a:r>
              <a:r>
                <a:rPr lang="en-US" altLang="zh-CN" b="1" dirty="0" err="1" smtClean="0">
                  <a:solidFill>
                    <a:srgbClr val="0000FF"/>
                  </a:solidFill>
                  <a:latin typeface="+mn-lt"/>
                  <a:ea typeface="楷体" panose="02010609060101010101" pitchFamily="49" charset="-122"/>
                </a:rPr>
                <a:t>r.finish_read</a:t>
              </a:r>
              <a:r>
                <a:rPr lang="en-US" altLang="zh-CN" b="1" dirty="0">
                  <a:solidFill>
                    <a:srgbClr val="0000FF"/>
                  </a:solidFill>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p>
            <a:p>
              <a:pPr eaLnBrk="1" hangingPunct="1">
                <a:spcBef>
                  <a:spcPct val="20000"/>
                </a:spcBef>
              </a:pPr>
              <a:endParaRPr lang="en-US" altLang="zh-CN" b="1" dirty="0">
                <a:latin typeface="+mn-lt"/>
                <a:ea typeface="楷体" panose="02010609060101010101" pitchFamily="49" charset="-122"/>
              </a:endParaRPr>
            </a:p>
          </p:txBody>
        </p:sp>
        <p:pic>
          <p:nvPicPr>
            <p:cNvPr id="9" name="Picture 10" descr="RE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4" y="3294"/>
              <a:ext cx="555" cy="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13"/>
          <p:cNvGrpSpPr>
            <a:grpSpLocks/>
          </p:cNvGrpSpPr>
          <p:nvPr/>
        </p:nvGrpSpPr>
        <p:grpSpPr bwMode="auto">
          <a:xfrm>
            <a:off x="4730552" y="1850925"/>
            <a:ext cx="3830638" cy="4167188"/>
            <a:chOff x="2996" y="1438"/>
            <a:chExt cx="2413" cy="2625"/>
          </a:xfrm>
        </p:grpSpPr>
        <p:sp>
          <p:nvSpPr>
            <p:cNvPr id="11" name="Text Box 8"/>
            <p:cNvSpPr txBox="1">
              <a:spLocks noChangeArrowheads="1"/>
            </p:cNvSpPr>
            <p:nvPr/>
          </p:nvSpPr>
          <p:spPr bwMode="auto">
            <a:xfrm>
              <a:off x="2996" y="1438"/>
              <a:ext cx="2413" cy="1966"/>
            </a:xfrm>
            <a:prstGeom prst="rect">
              <a:avLst/>
            </a:prstGeom>
            <a:solidFill>
              <a:srgbClr val="FFCCFF"/>
            </a:solidFill>
            <a:ln w="9525">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dirty="0">
                  <a:latin typeface="+mn-lt"/>
                  <a:ea typeface="楷体" panose="02010609060101010101" pitchFamily="49" charset="-122"/>
                </a:rPr>
                <a:t>写者进程的活动：</a:t>
              </a:r>
            </a:p>
            <a:p>
              <a:pPr eaLnBrk="1" hangingPunct="1">
                <a:spcBef>
                  <a:spcPct val="20000"/>
                </a:spcBef>
              </a:pP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r>
                <a:rPr lang="en-US" altLang="zh-CN" b="1" dirty="0" err="1" smtClean="0">
                  <a:solidFill>
                    <a:srgbClr val="0000FF"/>
                  </a:solidFill>
                  <a:latin typeface="+mn-lt"/>
                  <a:ea typeface="楷体" panose="02010609060101010101" pitchFamily="49" charset="-122"/>
                </a:rPr>
                <a:t>w.start_write</a:t>
              </a:r>
              <a:r>
                <a:rPr lang="en-US" altLang="zh-CN" b="1" dirty="0">
                  <a:solidFill>
                    <a:srgbClr val="0000FF"/>
                  </a:solidFill>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r>
                <a:rPr lang="zh-CN" altLang="en-US" b="1" dirty="0">
                  <a:latin typeface="+mn-lt"/>
                  <a:ea typeface="楷体" panose="02010609060101010101" pitchFamily="49" charset="-122"/>
                </a:rPr>
                <a:t>写操作；</a:t>
              </a:r>
            </a:p>
            <a:p>
              <a:pPr eaLnBrk="1" hangingPunct="1">
                <a:spcBef>
                  <a:spcPct val="20000"/>
                </a:spcBef>
              </a:pPr>
              <a:r>
                <a:rPr lang="zh-CN" altLang="en-US" b="1" dirty="0">
                  <a:latin typeface="+mn-lt"/>
                  <a:ea typeface="楷体" panose="02010609060101010101" pitchFamily="49" charset="-122"/>
                </a:rPr>
                <a:t>    </a:t>
              </a:r>
              <a:r>
                <a:rPr lang="en-US" altLang="zh-CN" b="1" dirty="0" err="1" smtClean="0">
                  <a:solidFill>
                    <a:srgbClr val="0000FF"/>
                  </a:solidFill>
                  <a:latin typeface="+mn-lt"/>
                  <a:ea typeface="楷体" panose="02010609060101010101" pitchFamily="49" charset="-122"/>
                </a:rPr>
                <a:t>w.finish_write</a:t>
              </a:r>
              <a:r>
                <a:rPr lang="en-US" altLang="zh-CN" b="1" dirty="0">
                  <a:solidFill>
                    <a:srgbClr val="0000FF"/>
                  </a:solidFill>
                  <a:latin typeface="+mn-lt"/>
                  <a:ea typeface="楷体" panose="02010609060101010101" pitchFamily="49" charset="-122"/>
                </a:rPr>
                <a:t>;</a:t>
              </a:r>
            </a:p>
            <a:p>
              <a:pPr eaLnBrk="1" hangingPunct="1">
                <a:spcBef>
                  <a:spcPct val="20000"/>
                </a:spcBef>
              </a:pPr>
              <a:r>
                <a:rPr lang="en-US" altLang="zh-CN" b="1" dirty="0">
                  <a:latin typeface="+mn-lt"/>
                  <a:ea typeface="楷体" panose="02010609060101010101" pitchFamily="49" charset="-122"/>
                </a:rPr>
                <a:t>    ......</a:t>
              </a:r>
            </a:p>
            <a:p>
              <a:pPr eaLnBrk="1" hangingPunct="1">
                <a:spcBef>
                  <a:spcPct val="20000"/>
                </a:spcBef>
              </a:pPr>
              <a:endParaRPr lang="en-US" altLang="zh-CN" b="1" dirty="0">
                <a:latin typeface="+mn-lt"/>
                <a:ea typeface="楷体" panose="02010609060101010101" pitchFamily="49" charset="-122"/>
              </a:endParaRPr>
            </a:p>
          </p:txBody>
        </p:sp>
        <p:pic>
          <p:nvPicPr>
            <p:cNvPr id="12" name="Picture 11" descr="WRIT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5" y="3294"/>
              <a:ext cx="624" cy="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1849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管程的实现</a:t>
            </a:r>
            <a:endParaRPr lang="zh-CN" altLang="en-US" dirty="0"/>
          </a:p>
        </p:txBody>
      </p:sp>
      <p:sp>
        <p:nvSpPr>
          <p:cNvPr id="3" name="Content Placeholder 2"/>
          <p:cNvSpPr>
            <a:spLocks noGrp="1"/>
          </p:cNvSpPr>
          <p:nvPr>
            <p:ph idx="1"/>
          </p:nvPr>
        </p:nvSpPr>
        <p:spPr/>
        <p:txBody>
          <a:bodyPr/>
          <a:lstStyle/>
          <a:p>
            <a:r>
              <a:rPr lang="zh-CN" altLang="en-US" dirty="0" smtClean="0"/>
              <a:t>管程访问需要保证互斥</a:t>
            </a:r>
            <a:endParaRPr lang="en-US" altLang="zh-CN" dirty="0" smtClean="0"/>
          </a:p>
          <a:p>
            <a:pPr lvl="1"/>
            <a:r>
              <a:rPr lang="zh-CN" altLang="en-US" dirty="0" smtClean="0">
                <a:solidFill>
                  <a:srgbClr val="0000FF"/>
                </a:solidFill>
              </a:rPr>
              <a:t>可以利用操作系统提供的信号量机制来实现</a:t>
            </a:r>
            <a:endParaRPr lang="zh-CN" altLang="en-US" dirty="0">
              <a:solidFill>
                <a:srgbClr val="0000FF"/>
              </a:solidFill>
            </a:endParaRPr>
          </a:p>
        </p:txBody>
      </p:sp>
      <p:sp>
        <p:nvSpPr>
          <p:cNvPr id="4" name="Date Placeholder 3"/>
          <p:cNvSpPr>
            <a:spLocks noGrp="1"/>
          </p:cNvSpPr>
          <p:nvPr>
            <p:ph type="dt" sz="half" idx="10"/>
          </p:nvPr>
        </p:nvSpPr>
        <p:spPr/>
        <p:txBody>
          <a:bodyPr/>
          <a:lstStyle/>
          <a:p>
            <a:fld id="{B38EF5B9-7E8C-406C-BA2B-A2784899B1F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123</a:t>
            </a:fld>
            <a:endParaRPr lang="zh-CN" altLang="en-US" dirty="0"/>
          </a:p>
        </p:txBody>
      </p:sp>
      <p:sp>
        <p:nvSpPr>
          <p:cNvPr id="7" name="Rectangle 2"/>
          <p:cNvSpPr>
            <a:spLocks noChangeArrowheads="1"/>
          </p:cNvSpPr>
          <p:nvPr/>
        </p:nvSpPr>
        <p:spPr bwMode="auto">
          <a:xfrm>
            <a:off x="899790" y="2446016"/>
            <a:ext cx="7416626" cy="37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en-US" altLang="zh-CN" b="1" dirty="0">
                <a:latin typeface="+mn-lt"/>
                <a:ea typeface="楷体" panose="02010609060101010101" pitchFamily="49" charset="-122"/>
              </a:rPr>
              <a:t>TYPE </a:t>
            </a:r>
            <a:r>
              <a:rPr lang="en-US" altLang="zh-CN" b="1" dirty="0" err="1">
                <a:latin typeface="+mn-lt"/>
                <a:ea typeface="楷体" panose="02010609060101010101" pitchFamily="49" charset="-122"/>
              </a:rPr>
              <a:t>one_instance</a:t>
            </a:r>
            <a:r>
              <a:rPr lang="en-US" altLang="zh-CN" b="1" dirty="0">
                <a:latin typeface="+mn-lt"/>
                <a:ea typeface="楷体" panose="02010609060101010101" pitchFamily="49" charset="-122"/>
              </a:rPr>
              <a:t>=RECORD</a:t>
            </a:r>
          </a:p>
          <a:p>
            <a:pPr eaLnBrk="1" hangingPunct="1">
              <a:lnSpc>
                <a:spcPct val="110000"/>
              </a:lnSpc>
            </a:pPr>
            <a:r>
              <a:rPr lang="en-US" altLang="zh-CN" b="1" dirty="0">
                <a:latin typeface="+mn-lt"/>
                <a:ea typeface="楷体" panose="02010609060101010101" pitchFamily="49" charset="-122"/>
              </a:rPr>
              <a:t>    </a:t>
            </a:r>
            <a:r>
              <a:rPr lang="en-US" altLang="zh-CN" b="1" dirty="0" err="1">
                <a:latin typeface="+mn-lt"/>
                <a:ea typeface="楷体" panose="02010609060101010101" pitchFamily="49" charset="-122"/>
              </a:rPr>
              <a:t>mutex</a:t>
            </a:r>
            <a:r>
              <a:rPr lang="en-US" altLang="zh-CN" b="1" dirty="0">
                <a:latin typeface="+mn-lt"/>
                <a:ea typeface="楷体" panose="02010609060101010101" pitchFamily="49" charset="-122"/>
              </a:rPr>
              <a:t> : semaphore;     </a:t>
            </a:r>
            <a:r>
              <a:rPr lang="zh-CN" altLang="en-US" b="1" dirty="0">
                <a:latin typeface="+mn-lt"/>
                <a:ea typeface="楷体" panose="02010609060101010101" pitchFamily="49" charset="-122"/>
              </a:rPr>
              <a:t>（入口互斥队列，初值</a:t>
            </a:r>
            <a:r>
              <a:rPr lang="en-US" altLang="zh-CN" b="1" dirty="0">
                <a:latin typeface="+mn-lt"/>
                <a:ea typeface="楷体" panose="02010609060101010101" pitchFamily="49" charset="-122"/>
              </a:rPr>
              <a:t>1</a:t>
            </a:r>
            <a:r>
              <a:rPr lang="zh-CN" altLang="en-US" b="1" dirty="0">
                <a:latin typeface="+mn-lt"/>
                <a:ea typeface="楷体" panose="02010609060101010101" pitchFamily="49" charset="-122"/>
              </a:rPr>
              <a:t>）</a:t>
            </a:r>
          </a:p>
          <a:p>
            <a:pPr eaLnBrk="1" hangingPunct="1">
              <a:lnSpc>
                <a:spcPct val="110000"/>
              </a:lnSpc>
            </a:pP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urgent : semaphore;    </a:t>
            </a:r>
            <a:r>
              <a:rPr lang="zh-CN" altLang="en-US" b="1" dirty="0">
                <a:latin typeface="+mn-lt"/>
                <a:ea typeface="楷体" panose="02010609060101010101" pitchFamily="49" charset="-122"/>
              </a:rPr>
              <a:t>（紧急等待队列，初值</a:t>
            </a:r>
            <a:r>
              <a:rPr lang="en-US" altLang="zh-CN" b="1" dirty="0">
                <a:latin typeface="+mn-lt"/>
                <a:ea typeface="楷体" panose="02010609060101010101" pitchFamily="49" charset="-122"/>
              </a:rPr>
              <a:t>0</a:t>
            </a:r>
            <a:r>
              <a:rPr lang="zh-CN" altLang="en-US" b="1" dirty="0">
                <a:latin typeface="+mn-lt"/>
                <a:ea typeface="楷体" panose="02010609060101010101" pitchFamily="49" charset="-122"/>
              </a:rPr>
              <a:t>）</a:t>
            </a:r>
          </a:p>
          <a:p>
            <a:pPr eaLnBrk="1" hangingPunct="1">
              <a:lnSpc>
                <a:spcPct val="110000"/>
              </a:lnSpc>
            </a:pPr>
            <a:r>
              <a:rPr lang="zh-CN" altLang="en-US" b="1" dirty="0">
                <a:latin typeface="+mn-lt"/>
                <a:ea typeface="楷体" panose="02010609060101010101" pitchFamily="49" charset="-122"/>
              </a:rPr>
              <a:t>    </a:t>
            </a:r>
            <a:r>
              <a:rPr lang="en-US" altLang="zh-CN" b="1" dirty="0" err="1">
                <a:latin typeface="+mn-lt"/>
                <a:ea typeface="楷体" panose="02010609060101010101" pitchFamily="49" charset="-122"/>
              </a:rPr>
              <a:t>urgent_count</a:t>
            </a:r>
            <a:r>
              <a:rPr lang="en-US" altLang="zh-CN" b="1" dirty="0">
                <a:latin typeface="+mn-lt"/>
                <a:ea typeface="楷体" panose="02010609060101010101" pitchFamily="49" charset="-122"/>
              </a:rPr>
              <a:t> : integer;</a:t>
            </a:r>
            <a:r>
              <a:rPr lang="zh-CN" altLang="en-US" b="1" dirty="0">
                <a:latin typeface="+mn-lt"/>
                <a:ea typeface="楷体" panose="02010609060101010101" pitchFamily="49" charset="-122"/>
              </a:rPr>
              <a:t>（紧急等待计数，初值</a:t>
            </a:r>
            <a:r>
              <a:rPr lang="en-US" altLang="zh-CN" b="1" dirty="0">
                <a:latin typeface="+mn-lt"/>
                <a:ea typeface="楷体" panose="02010609060101010101" pitchFamily="49" charset="-122"/>
              </a:rPr>
              <a:t>0</a:t>
            </a:r>
            <a:r>
              <a:rPr lang="zh-CN" altLang="en-US" b="1" dirty="0">
                <a:latin typeface="+mn-lt"/>
                <a:ea typeface="楷体" panose="02010609060101010101" pitchFamily="49" charset="-122"/>
              </a:rPr>
              <a:t>）</a:t>
            </a:r>
          </a:p>
          <a:p>
            <a:pPr eaLnBrk="1" hangingPunct="1">
              <a:lnSpc>
                <a:spcPct val="110000"/>
              </a:lnSpc>
            </a:pPr>
            <a:r>
              <a:rPr lang="en-US" altLang="zh-CN" b="1" dirty="0">
                <a:latin typeface="+mn-lt"/>
                <a:ea typeface="楷体" panose="02010609060101010101" pitchFamily="49" charset="-122"/>
              </a:rPr>
              <a:t>END;</a:t>
            </a:r>
          </a:p>
          <a:p>
            <a:pPr eaLnBrk="1" hangingPunct="1">
              <a:lnSpc>
                <a:spcPct val="110000"/>
              </a:lnSpc>
            </a:pPr>
            <a:endParaRPr lang="en-US" altLang="zh-CN" b="1" dirty="0">
              <a:latin typeface="+mn-lt"/>
              <a:ea typeface="楷体" panose="02010609060101010101" pitchFamily="49" charset="-122"/>
            </a:endParaRPr>
          </a:p>
          <a:p>
            <a:pPr eaLnBrk="1" hangingPunct="1">
              <a:lnSpc>
                <a:spcPct val="110000"/>
              </a:lnSpc>
            </a:pPr>
            <a:r>
              <a:rPr lang="en-US" altLang="zh-CN" b="1" dirty="0">
                <a:latin typeface="+mn-lt"/>
                <a:ea typeface="楷体" panose="02010609060101010101" pitchFamily="49" charset="-122"/>
              </a:rPr>
              <a:t>TYPE</a:t>
            </a:r>
          </a:p>
          <a:p>
            <a:pPr eaLnBrk="1" hangingPunct="1">
              <a:lnSpc>
                <a:spcPct val="110000"/>
              </a:lnSpc>
            </a:pPr>
            <a:r>
              <a:rPr lang="en-US" altLang="zh-CN" b="1" dirty="0" err="1">
                <a:latin typeface="+mn-lt"/>
                <a:ea typeface="楷体" panose="02010609060101010101" pitchFamily="49" charset="-122"/>
              </a:rPr>
              <a:t>monitor_elements</a:t>
            </a:r>
            <a:r>
              <a:rPr lang="en-US" altLang="zh-CN" b="1" dirty="0">
                <a:latin typeface="+mn-lt"/>
                <a:ea typeface="楷体" panose="02010609060101010101" pitchFamily="49" charset="-122"/>
              </a:rPr>
              <a:t>=MODULE;</a:t>
            </a:r>
          </a:p>
          <a:p>
            <a:pPr eaLnBrk="1" hangingPunct="1">
              <a:lnSpc>
                <a:spcPct val="110000"/>
              </a:lnSpc>
            </a:pPr>
            <a:r>
              <a:rPr lang="en-US" altLang="zh-CN" b="1" dirty="0">
                <a:latin typeface="+mn-lt"/>
                <a:ea typeface="楷体" panose="02010609060101010101" pitchFamily="49" charset="-122"/>
              </a:rPr>
              <a:t>define enter, leave, wait, signal;</a:t>
            </a:r>
          </a:p>
        </p:txBody>
      </p:sp>
    </p:spTree>
    <p:extLst>
      <p:ext uri="{BB962C8B-B14F-4D97-AF65-F5344CB8AC3E}">
        <p14:creationId xmlns:p14="http://schemas.microsoft.com/office/powerpoint/2010/main" val="336330628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管程的实现</a:t>
            </a:r>
          </a:p>
        </p:txBody>
      </p:sp>
      <p:sp>
        <p:nvSpPr>
          <p:cNvPr id="4" name="Date Placeholder 3"/>
          <p:cNvSpPr>
            <a:spLocks noGrp="1"/>
          </p:cNvSpPr>
          <p:nvPr>
            <p:ph type="dt" sz="half" idx="10"/>
          </p:nvPr>
        </p:nvSpPr>
        <p:spPr/>
        <p:txBody>
          <a:bodyPr/>
          <a:lstStyle/>
          <a:p>
            <a:fld id="{7F78EF90-307C-47F0-931E-116CB03B40C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124</a:t>
            </a:fld>
            <a:endParaRPr lang="zh-CN" altLang="en-US" dirty="0"/>
          </a:p>
        </p:txBody>
      </p:sp>
      <p:sp>
        <p:nvSpPr>
          <p:cNvPr id="7" name="Rectangle 2"/>
          <p:cNvSpPr>
            <a:spLocks noChangeArrowheads="1"/>
          </p:cNvSpPr>
          <p:nvPr/>
        </p:nvSpPr>
        <p:spPr bwMode="auto">
          <a:xfrm>
            <a:off x="1403648" y="1340768"/>
            <a:ext cx="6084986" cy="185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en-US" altLang="zh-CN" sz="2000" b="1" dirty="0">
                <a:latin typeface="+mn-lt"/>
                <a:ea typeface="楷体" panose="02010609060101010101" pitchFamily="49" charset="-122"/>
              </a:rPr>
              <a:t>PROCEDURE </a:t>
            </a:r>
            <a:r>
              <a:rPr lang="en-US" altLang="zh-CN" sz="2000" b="1" dirty="0" smtClean="0">
                <a:solidFill>
                  <a:srgbClr val="0000FF"/>
                </a:solidFill>
                <a:latin typeface="+mn-lt"/>
                <a:ea typeface="楷体" panose="02010609060101010101" pitchFamily="49" charset="-122"/>
              </a:rPr>
              <a:t>enter </a:t>
            </a:r>
            <a:r>
              <a:rPr lang="en-US" altLang="zh-CN" sz="2000" b="1" dirty="0" smtClean="0">
                <a:latin typeface="+mn-lt"/>
                <a:ea typeface="楷体" panose="02010609060101010101" pitchFamily="49" charset="-122"/>
              </a:rPr>
              <a:t>(</a:t>
            </a:r>
            <a:r>
              <a:rPr lang="en-US" altLang="zh-CN" sz="2000" b="1" dirty="0">
                <a:latin typeface="+mn-lt"/>
                <a:ea typeface="楷体" panose="02010609060101010101" pitchFamily="49" charset="-122"/>
              </a:rPr>
              <a:t>VAR </a:t>
            </a:r>
            <a:r>
              <a:rPr lang="en-US" altLang="zh-CN" sz="2000" b="1" dirty="0" err="1">
                <a:latin typeface="+mn-lt"/>
                <a:ea typeface="楷体" panose="02010609060101010101" pitchFamily="49" charset="-122"/>
              </a:rPr>
              <a:t>instance:one_instance</a:t>
            </a:r>
            <a:r>
              <a:rPr lang="en-US" altLang="zh-CN" sz="2000" b="1" dirty="0">
                <a:latin typeface="+mn-lt"/>
                <a:ea typeface="楷体" panose="02010609060101010101" pitchFamily="49" charset="-122"/>
              </a:rPr>
              <a:t>);</a:t>
            </a:r>
          </a:p>
          <a:p>
            <a:pPr eaLnBrk="1" hangingPunct="1">
              <a:lnSpc>
                <a:spcPct val="110000"/>
              </a:lnSpc>
            </a:pPr>
            <a:r>
              <a:rPr lang="en-US" altLang="zh-CN" sz="2000" b="1" dirty="0">
                <a:latin typeface="+mn-lt"/>
                <a:ea typeface="楷体" panose="02010609060101010101" pitchFamily="49" charset="-122"/>
              </a:rPr>
              <a:t>     // </a:t>
            </a:r>
            <a:r>
              <a:rPr lang="zh-CN" altLang="en-US" sz="2000" b="1" dirty="0">
                <a:latin typeface="+mn-lt"/>
                <a:ea typeface="楷体" panose="02010609060101010101" pitchFamily="49" charset="-122"/>
              </a:rPr>
              <a:t>进入管程时执行该操作，申请管程的互斥权</a:t>
            </a:r>
          </a:p>
          <a:p>
            <a:pPr eaLnBrk="1" hangingPunct="1">
              <a:lnSpc>
                <a:spcPct val="110000"/>
              </a:lnSpc>
            </a:pPr>
            <a:r>
              <a:rPr lang="en-US" altLang="zh-CN" sz="2000" b="1" dirty="0">
                <a:latin typeface="+mn-lt"/>
                <a:ea typeface="楷体" panose="02010609060101010101" pitchFamily="49" charset="-122"/>
              </a:rPr>
              <a:t>BEGIN</a:t>
            </a:r>
          </a:p>
          <a:p>
            <a:pPr eaLnBrk="1" hangingPunct="1">
              <a:lnSpc>
                <a:spcPct val="110000"/>
              </a:lnSpc>
            </a:pPr>
            <a:r>
              <a:rPr lang="en-US" altLang="zh-CN" sz="2000" b="1" dirty="0">
                <a:latin typeface="+mn-lt"/>
                <a:ea typeface="楷体" panose="02010609060101010101" pitchFamily="49" charset="-122"/>
              </a:rPr>
              <a:t>   P(</a:t>
            </a:r>
            <a:r>
              <a:rPr lang="en-US" altLang="zh-CN" sz="2000" b="1" dirty="0" err="1">
                <a:latin typeface="+mn-lt"/>
                <a:ea typeface="楷体" panose="02010609060101010101" pitchFamily="49" charset="-122"/>
              </a:rPr>
              <a:t>instance.mutex</a:t>
            </a:r>
            <a:r>
              <a:rPr lang="en-US" altLang="zh-CN" sz="2000" b="1" dirty="0">
                <a:latin typeface="+mn-lt"/>
                <a:ea typeface="楷体" panose="02010609060101010101" pitchFamily="49" charset="-122"/>
              </a:rPr>
              <a:t>)</a:t>
            </a:r>
          </a:p>
          <a:p>
            <a:pPr eaLnBrk="1" hangingPunct="1">
              <a:lnSpc>
                <a:spcPct val="110000"/>
              </a:lnSpc>
            </a:pPr>
            <a:r>
              <a:rPr lang="en-US" altLang="zh-CN" sz="2000" b="1" dirty="0">
                <a:latin typeface="+mn-lt"/>
                <a:ea typeface="楷体" panose="02010609060101010101" pitchFamily="49" charset="-122"/>
              </a:rPr>
              <a:t>END;</a:t>
            </a:r>
          </a:p>
        </p:txBody>
      </p:sp>
      <p:sp>
        <p:nvSpPr>
          <p:cNvPr id="8" name="Rectangle 2"/>
          <p:cNvSpPr>
            <a:spLocks noChangeArrowheads="1"/>
          </p:cNvSpPr>
          <p:nvPr/>
        </p:nvSpPr>
        <p:spPr bwMode="auto">
          <a:xfrm>
            <a:off x="1421357" y="3437706"/>
            <a:ext cx="592827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PROCEDURE </a:t>
            </a:r>
            <a:r>
              <a:rPr lang="en-US" altLang="zh-CN" sz="2000" b="1" dirty="0">
                <a:solidFill>
                  <a:srgbClr val="0000FF"/>
                </a:solidFill>
                <a:latin typeface="+mn-lt"/>
                <a:ea typeface="楷体" panose="02010609060101010101" pitchFamily="49" charset="-122"/>
              </a:rPr>
              <a:t>leave</a:t>
            </a:r>
            <a:r>
              <a:rPr lang="en-US" altLang="zh-CN" sz="2000" b="1" dirty="0">
                <a:latin typeface="+mn-lt"/>
                <a:ea typeface="楷体" panose="02010609060101010101" pitchFamily="49" charset="-122"/>
              </a:rPr>
              <a:t>(VAR </a:t>
            </a:r>
            <a:r>
              <a:rPr lang="en-US" altLang="zh-CN" sz="2000" b="1" dirty="0" err="1">
                <a:latin typeface="+mn-lt"/>
                <a:ea typeface="楷体" panose="02010609060101010101" pitchFamily="49" charset="-122"/>
              </a:rPr>
              <a:t>instance:one_instance</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 </a:t>
            </a:r>
            <a:r>
              <a:rPr lang="zh-CN" altLang="en-US" sz="2000" b="1" dirty="0">
                <a:latin typeface="+mn-lt"/>
                <a:ea typeface="楷体" panose="02010609060101010101" pitchFamily="49" charset="-122"/>
              </a:rPr>
              <a:t>离开管程时执行， 唤醒紧急进程或释放互斥权</a:t>
            </a:r>
          </a:p>
          <a:p>
            <a:pPr eaLnBrk="1" hangingPunct="1"/>
            <a:r>
              <a:rPr lang="en-US" altLang="zh-CN" sz="2000" b="1" dirty="0">
                <a:latin typeface="+mn-lt"/>
                <a:ea typeface="楷体" panose="02010609060101010101" pitchFamily="49" charset="-122"/>
              </a:rPr>
              <a:t>BEGIN</a:t>
            </a:r>
          </a:p>
          <a:p>
            <a:pPr eaLnBrk="1" hangingPunct="1"/>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instance.urgent_count</a:t>
            </a:r>
            <a:r>
              <a:rPr lang="en-US" altLang="zh-CN" sz="2000" b="1" dirty="0">
                <a:latin typeface="+mn-lt"/>
                <a:ea typeface="楷体" panose="02010609060101010101" pitchFamily="49" charset="-122"/>
              </a:rPr>
              <a:t> &gt;0 THEN</a:t>
            </a:r>
          </a:p>
          <a:p>
            <a:pPr eaLnBrk="1" hangingPunct="1"/>
            <a:r>
              <a:rPr lang="en-US" altLang="zh-CN" sz="2000" b="1" dirty="0">
                <a:latin typeface="+mn-lt"/>
                <a:ea typeface="楷体" panose="02010609060101010101" pitchFamily="49" charset="-122"/>
              </a:rPr>
              <a:t>       BEGIN   </a:t>
            </a:r>
            <a:r>
              <a:rPr lang="en-US" altLang="zh-CN" sz="2000" b="1" dirty="0" err="1">
                <a:latin typeface="+mn-lt"/>
                <a:ea typeface="楷体" panose="02010609060101010101" pitchFamily="49" charset="-122"/>
              </a:rPr>
              <a:t>instance.urgent</a:t>
            </a:r>
            <a:r>
              <a:rPr lang="en-US" altLang="zh-CN" sz="2000" b="1" dirty="0">
                <a:latin typeface="+mn-lt"/>
                <a:ea typeface="楷体" panose="02010609060101010101" pitchFamily="49" charset="-122"/>
              </a:rPr>
              <a:t> _count - -;</a:t>
            </a:r>
          </a:p>
          <a:p>
            <a:pPr eaLnBrk="1" hangingPunct="1"/>
            <a:r>
              <a:rPr lang="en-US" altLang="zh-CN" sz="2000" b="1" dirty="0">
                <a:latin typeface="+mn-lt"/>
                <a:ea typeface="楷体" panose="02010609060101010101" pitchFamily="49" charset="-122"/>
              </a:rPr>
              <a:t>                       V(</a:t>
            </a:r>
            <a:r>
              <a:rPr lang="en-US" altLang="zh-CN" sz="2000" b="1" dirty="0" err="1">
                <a:latin typeface="+mn-lt"/>
                <a:ea typeface="楷体" panose="02010609060101010101" pitchFamily="49" charset="-122"/>
              </a:rPr>
              <a:t>instance.urgent</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END</a:t>
            </a:r>
          </a:p>
          <a:p>
            <a:pPr eaLnBrk="1" hangingPunct="1"/>
            <a:r>
              <a:rPr lang="en-US" altLang="zh-CN" sz="2000" b="1" dirty="0">
                <a:latin typeface="+mn-lt"/>
                <a:ea typeface="楷体" panose="02010609060101010101" pitchFamily="49" charset="-122"/>
              </a:rPr>
              <a:t>   ELSE</a:t>
            </a:r>
          </a:p>
          <a:p>
            <a:pPr eaLnBrk="1" hangingPunct="1"/>
            <a:r>
              <a:rPr lang="en-US" altLang="zh-CN" sz="2000" b="1" dirty="0">
                <a:latin typeface="+mn-lt"/>
                <a:ea typeface="楷体" panose="02010609060101010101" pitchFamily="49" charset="-122"/>
              </a:rPr>
              <a:t>       V(</a:t>
            </a:r>
            <a:r>
              <a:rPr lang="en-US" altLang="zh-CN" sz="2000" b="1" dirty="0" err="1">
                <a:latin typeface="+mn-lt"/>
                <a:ea typeface="楷体" panose="02010609060101010101" pitchFamily="49" charset="-122"/>
              </a:rPr>
              <a:t>instance.mutex</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END;</a:t>
            </a:r>
          </a:p>
        </p:txBody>
      </p:sp>
    </p:spTree>
    <p:extLst>
      <p:ext uri="{BB962C8B-B14F-4D97-AF65-F5344CB8AC3E}">
        <p14:creationId xmlns:p14="http://schemas.microsoft.com/office/powerpoint/2010/main" val="418362917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管程的实现</a:t>
            </a:r>
          </a:p>
        </p:txBody>
      </p:sp>
      <p:sp>
        <p:nvSpPr>
          <p:cNvPr id="4" name="Date Placeholder 3"/>
          <p:cNvSpPr>
            <a:spLocks noGrp="1"/>
          </p:cNvSpPr>
          <p:nvPr>
            <p:ph type="dt" sz="half" idx="10"/>
          </p:nvPr>
        </p:nvSpPr>
        <p:spPr/>
        <p:txBody>
          <a:bodyPr/>
          <a:lstStyle/>
          <a:p>
            <a:fld id="{0DD96434-C4EF-4939-A269-21B69BB6E49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125</a:t>
            </a:fld>
            <a:endParaRPr lang="zh-CN" altLang="en-US" dirty="0"/>
          </a:p>
        </p:txBody>
      </p:sp>
      <p:sp>
        <p:nvSpPr>
          <p:cNvPr id="7" name="Rectangle 2"/>
          <p:cNvSpPr>
            <a:spLocks noChangeArrowheads="1"/>
          </p:cNvSpPr>
          <p:nvPr/>
        </p:nvSpPr>
        <p:spPr bwMode="auto">
          <a:xfrm>
            <a:off x="857650" y="1844824"/>
            <a:ext cx="744996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lang="en-US" altLang="zh-CN" sz="2000" b="1" dirty="0">
                <a:latin typeface="+mn-lt"/>
                <a:ea typeface="楷体" panose="02010609060101010101" pitchFamily="49" charset="-122"/>
              </a:rPr>
              <a:t>PROCEDURE </a:t>
            </a:r>
            <a:r>
              <a:rPr lang="en-US" altLang="zh-CN" sz="2000" b="1" dirty="0">
                <a:solidFill>
                  <a:srgbClr val="0000FF"/>
                </a:solidFill>
                <a:latin typeface="+mn-lt"/>
                <a:ea typeface="楷体" panose="02010609060101010101" pitchFamily="49" charset="-122"/>
              </a:rPr>
              <a:t>wait</a:t>
            </a:r>
            <a:r>
              <a:rPr lang="en-US" altLang="zh-CN" sz="2000" b="1" dirty="0">
                <a:latin typeface="+mn-lt"/>
                <a:ea typeface="楷体" panose="02010609060101010101" pitchFamily="49" charset="-122"/>
              </a:rPr>
              <a:t>(VAR instance : </a:t>
            </a:r>
            <a:r>
              <a:rPr lang="en-US" altLang="zh-CN" sz="2000" b="1" dirty="0" err="1">
                <a:latin typeface="+mn-lt"/>
                <a:ea typeface="楷体" panose="02010609060101010101" pitchFamily="49" charset="-122"/>
              </a:rPr>
              <a:t>one_instance</a:t>
            </a:r>
            <a:r>
              <a:rPr lang="en-US" altLang="zh-CN" sz="2000" b="1" dirty="0">
                <a:latin typeface="+mn-lt"/>
                <a:ea typeface="楷体" panose="02010609060101010101" pitchFamily="49" charset="-122"/>
              </a:rPr>
              <a:t>;</a:t>
            </a:r>
          </a:p>
          <a:p>
            <a:pPr eaLnBrk="1" hangingPunct="1">
              <a:lnSpc>
                <a:spcPct val="90000"/>
              </a:lnSpc>
            </a:pPr>
            <a:r>
              <a:rPr lang="en-US" altLang="zh-CN" sz="2000" b="1" dirty="0">
                <a:latin typeface="+mn-lt"/>
                <a:ea typeface="楷体" panose="02010609060101010101" pitchFamily="49" charset="-122"/>
              </a:rPr>
              <a:t>         VAR s : semaphore;     //</a:t>
            </a:r>
            <a:r>
              <a:rPr lang="zh-CN" altLang="en-US" sz="2000" b="1" dirty="0">
                <a:latin typeface="+mn-lt"/>
                <a:ea typeface="楷体" panose="02010609060101010101" pitchFamily="49" charset="-122"/>
              </a:rPr>
              <a:t>条件变量</a:t>
            </a:r>
          </a:p>
          <a:p>
            <a:pPr eaLnBrk="1" hangingPunct="1">
              <a:lnSpc>
                <a:spcPct val="90000"/>
              </a:lnSpc>
            </a:pP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VAR count : integer);  // </a:t>
            </a:r>
            <a:r>
              <a:rPr lang="zh-CN" altLang="en-US" sz="2000" b="1" dirty="0">
                <a:latin typeface="+mn-lt"/>
                <a:ea typeface="楷体" panose="02010609060101010101" pitchFamily="49" charset="-122"/>
              </a:rPr>
              <a:t>在条件变量队列中等待的进程数目</a:t>
            </a:r>
          </a:p>
          <a:p>
            <a:pPr eaLnBrk="1" hangingPunct="1">
              <a:lnSpc>
                <a:spcPct val="90000"/>
              </a:lnSpc>
            </a:pPr>
            <a:endParaRPr lang="en-US" altLang="zh-CN" sz="2000" b="1" dirty="0" smtClean="0">
              <a:latin typeface="+mn-lt"/>
              <a:ea typeface="楷体" panose="02010609060101010101" pitchFamily="49" charset="-122"/>
            </a:endParaRPr>
          </a:p>
          <a:p>
            <a:pPr eaLnBrk="1" hangingPunct="1">
              <a:lnSpc>
                <a:spcPct val="90000"/>
              </a:lnSpc>
            </a:pPr>
            <a:r>
              <a:rPr lang="en-US" altLang="zh-CN" sz="2000" b="1" dirty="0" smtClean="0">
                <a:latin typeface="+mn-lt"/>
                <a:ea typeface="楷体" panose="02010609060101010101" pitchFamily="49" charset="-122"/>
              </a:rPr>
              <a:t>BEGIN </a:t>
            </a:r>
            <a:endParaRPr lang="en-US" altLang="zh-CN" sz="2000" b="1" dirty="0">
              <a:latin typeface="+mn-lt"/>
              <a:ea typeface="楷体" panose="02010609060101010101" pitchFamily="49" charset="-122"/>
            </a:endParaRPr>
          </a:p>
          <a:p>
            <a:pPr eaLnBrk="1" hangingPunct="1">
              <a:lnSpc>
                <a:spcPct val="90000"/>
              </a:lnSpc>
            </a:pPr>
            <a:r>
              <a:rPr lang="en-US" altLang="zh-CN" sz="2000" b="1" dirty="0">
                <a:latin typeface="+mn-lt"/>
                <a:ea typeface="楷体" panose="02010609060101010101" pitchFamily="49" charset="-122"/>
              </a:rPr>
              <a:t>   </a:t>
            </a:r>
            <a:r>
              <a:rPr lang="en-US" altLang="zh-CN" sz="2000" b="1" dirty="0">
                <a:solidFill>
                  <a:srgbClr val="FF0000"/>
                </a:solidFill>
                <a:latin typeface="+mn-lt"/>
                <a:ea typeface="楷体" panose="02010609060101010101" pitchFamily="49" charset="-122"/>
              </a:rPr>
              <a:t>count++</a:t>
            </a:r>
            <a:r>
              <a:rPr lang="en-US" altLang="zh-CN" sz="2000" b="1" dirty="0">
                <a:latin typeface="+mn-lt"/>
                <a:ea typeface="楷体" panose="02010609060101010101" pitchFamily="49" charset="-122"/>
              </a:rPr>
              <a:t>;                                 //</a:t>
            </a:r>
            <a:r>
              <a:rPr lang="zh-CN" altLang="en-US" sz="2000" b="1" dirty="0">
                <a:latin typeface="+mn-lt"/>
                <a:ea typeface="楷体" panose="02010609060101010101" pitchFamily="49" charset="-122"/>
              </a:rPr>
              <a:t>等待的进程数目加</a:t>
            </a:r>
            <a:r>
              <a:rPr lang="en-US" altLang="zh-CN" sz="2000" b="1" dirty="0">
                <a:latin typeface="+mn-lt"/>
                <a:ea typeface="楷体" panose="02010609060101010101" pitchFamily="49" charset="-122"/>
              </a:rPr>
              <a:t>1</a:t>
            </a:r>
          </a:p>
          <a:p>
            <a:pPr eaLnBrk="1" hangingPunct="1">
              <a:lnSpc>
                <a:spcPct val="90000"/>
              </a:lnSpc>
            </a:pPr>
            <a:r>
              <a:rPr lang="en-US" altLang="zh-CN" sz="2000" b="1" dirty="0">
                <a:latin typeface="+mn-lt"/>
                <a:ea typeface="楷体" panose="02010609060101010101" pitchFamily="49" charset="-122"/>
              </a:rPr>
              <a:t>   IF </a:t>
            </a:r>
            <a:r>
              <a:rPr lang="en-US" altLang="zh-CN" sz="2000" b="1" dirty="0" err="1">
                <a:latin typeface="+mn-lt"/>
                <a:ea typeface="楷体" panose="02010609060101010101" pitchFamily="49" charset="-122"/>
              </a:rPr>
              <a:t>instance.urgent_count</a:t>
            </a:r>
            <a:r>
              <a:rPr lang="en-US" altLang="zh-CN" sz="2000" b="1" dirty="0">
                <a:latin typeface="+mn-lt"/>
                <a:ea typeface="楷体" panose="02010609060101010101" pitchFamily="49" charset="-122"/>
              </a:rPr>
              <a:t>&gt;0 THEN</a:t>
            </a:r>
          </a:p>
          <a:p>
            <a:pPr eaLnBrk="1" hangingPunct="1">
              <a:lnSpc>
                <a:spcPct val="90000"/>
              </a:lnSpc>
            </a:pPr>
            <a:r>
              <a:rPr lang="en-US" altLang="zh-CN" sz="2000" b="1" dirty="0">
                <a:latin typeface="+mn-lt"/>
                <a:ea typeface="楷体" panose="02010609060101010101" pitchFamily="49" charset="-122"/>
              </a:rPr>
              <a:t>       BEGIN</a:t>
            </a:r>
          </a:p>
          <a:p>
            <a:pPr eaLnBrk="1" hangingPunct="1">
              <a:lnSpc>
                <a:spcPct val="90000"/>
              </a:lnSpc>
            </a:pPr>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instance.urgent_count</a:t>
            </a:r>
            <a:r>
              <a:rPr lang="en-US" altLang="zh-CN" sz="2000" b="1" dirty="0">
                <a:latin typeface="+mn-lt"/>
                <a:ea typeface="楷体" panose="02010609060101010101" pitchFamily="49" charset="-122"/>
              </a:rPr>
              <a:t>--;   //</a:t>
            </a:r>
            <a:r>
              <a:rPr lang="zh-CN" altLang="en-US" sz="2000" b="1" dirty="0">
                <a:latin typeface="+mn-lt"/>
                <a:ea typeface="楷体" panose="02010609060101010101" pitchFamily="49" charset="-122"/>
              </a:rPr>
              <a:t>如果</a:t>
            </a:r>
            <a:r>
              <a:rPr lang="zh-CN" altLang="en-US" sz="2000" b="1" dirty="0">
                <a:solidFill>
                  <a:srgbClr val="0000FF"/>
                </a:solidFill>
                <a:latin typeface="+mn-lt"/>
                <a:ea typeface="楷体" panose="02010609060101010101" pitchFamily="49" charset="-122"/>
              </a:rPr>
              <a:t>紧急等待队列</a:t>
            </a:r>
            <a:r>
              <a:rPr lang="zh-CN" altLang="en-US" sz="2000" b="1" dirty="0">
                <a:latin typeface="+mn-lt"/>
                <a:ea typeface="楷体" panose="02010609060101010101" pitchFamily="49" charset="-122"/>
              </a:rPr>
              <a:t>非空，</a:t>
            </a:r>
          </a:p>
          <a:p>
            <a:pPr eaLnBrk="1" hangingPunct="1">
              <a:lnSpc>
                <a:spcPct val="90000"/>
              </a:lnSpc>
            </a:pP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V(</a:t>
            </a:r>
            <a:r>
              <a:rPr lang="en-US" altLang="zh-CN" sz="2000" b="1" dirty="0" err="1">
                <a:latin typeface="+mn-lt"/>
                <a:ea typeface="楷体" panose="02010609060101010101" pitchFamily="49" charset="-122"/>
              </a:rPr>
              <a:t>instance.urgent</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则唤醒第一个等待者；</a:t>
            </a:r>
          </a:p>
          <a:p>
            <a:pPr eaLnBrk="1" hangingPunct="1">
              <a:lnSpc>
                <a:spcPct val="90000"/>
              </a:lnSpc>
            </a:pP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END</a:t>
            </a:r>
          </a:p>
          <a:p>
            <a:pPr eaLnBrk="1" hangingPunct="1">
              <a:lnSpc>
                <a:spcPct val="90000"/>
              </a:lnSpc>
            </a:pPr>
            <a:r>
              <a:rPr lang="en-US" altLang="zh-CN" sz="2000" b="1" dirty="0">
                <a:latin typeface="+mn-lt"/>
                <a:ea typeface="楷体" panose="02010609060101010101" pitchFamily="49" charset="-122"/>
              </a:rPr>
              <a:t>   ELSE     V(instance. </a:t>
            </a:r>
            <a:r>
              <a:rPr lang="en-US" altLang="zh-CN" sz="2000" b="1" dirty="0" err="1">
                <a:latin typeface="+mn-lt"/>
                <a:ea typeface="楷体" panose="02010609060101010101" pitchFamily="49" charset="-122"/>
              </a:rPr>
              <a:t>mutex</a:t>
            </a:r>
            <a:r>
              <a:rPr lang="en-US" altLang="zh-CN" sz="2000" b="1" dirty="0">
                <a:latin typeface="+mn-lt"/>
                <a:ea typeface="楷体" panose="02010609060101010101" pitchFamily="49" charset="-122"/>
              </a:rPr>
              <a:t>);      </a:t>
            </a:r>
            <a:r>
              <a:rPr lang="en-US" altLang="zh-CN" sz="2000" b="1" dirty="0" smtClean="0">
                <a:latin typeface="+mn-lt"/>
                <a:ea typeface="楷体" panose="02010609060101010101" pitchFamily="49" charset="-122"/>
              </a:rPr>
              <a:t> </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否则释放</a:t>
            </a:r>
            <a:r>
              <a:rPr lang="zh-CN" altLang="en-US" sz="2000" b="1" dirty="0">
                <a:solidFill>
                  <a:srgbClr val="0000FF"/>
                </a:solidFill>
                <a:latin typeface="+mn-lt"/>
                <a:ea typeface="楷体" panose="02010609060101010101" pitchFamily="49" charset="-122"/>
              </a:rPr>
              <a:t>管程的互斥</a:t>
            </a:r>
            <a:r>
              <a:rPr lang="zh-CN" altLang="en-US" sz="2000" b="1" dirty="0" smtClean="0">
                <a:solidFill>
                  <a:srgbClr val="0000FF"/>
                </a:solidFill>
                <a:latin typeface="+mn-lt"/>
                <a:ea typeface="楷体" panose="02010609060101010101" pitchFamily="49" charset="-122"/>
              </a:rPr>
              <a:t>权</a:t>
            </a:r>
            <a:endParaRPr lang="zh-CN" altLang="en-US" sz="2000" b="1" dirty="0">
              <a:latin typeface="+mn-lt"/>
              <a:ea typeface="楷体" panose="02010609060101010101" pitchFamily="49" charset="-122"/>
            </a:endParaRPr>
          </a:p>
          <a:p>
            <a:pPr eaLnBrk="1" hangingPunct="1">
              <a:lnSpc>
                <a:spcPct val="90000"/>
              </a:lnSpc>
            </a:pPr>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P(s);                                      </a:t>
            </a:r>
            <a:r>
              <a:rPr lang="en-US" altLang="zh-CN" sz="2000" b="1" dirty="0" smtClean="0">
                <a:latin typeface="+mn-lt"/>
                <a:ea typeface="楷体" panose="02010609060101010101" pitchFamily="49" charset="-122"/>
              </a:rPr>
              <a:t>         //</a:t>
            </a:r>
            <a:r>
              <a:rPr lang="zh-CN" altLang="en-US" sz="2000" b="1" dirty="0">
                <a:latin typeface="+mn-lt"/>
                <a:ea typeface="楷体" panose="02010609060101010101" pitchFamily="49" charset="-122"/>
              </a:rPr>
              <a:t>执行此操作的进程</a:t>
            </a:r>
            <a:r>
              <a:rPr lang="zh-CN" altLang="en-US" sz="2000" b="1" dirty="0">
                <a:solidFill>
                  <a:srgbClr val="0000FF"/>
                </a:solidFill>
                <a:latin typeface="+mn-lt"/>
                <a:ea typeface="楷体" panose="02010609060101010101" pitchFamily="49" charset="-122"/>
              </a:rPr>
              <a:t>排入</a:t>
            </a:r>
            <a:r>
              <a:rPr lang="en-US" altLang="zh-CN" sz="2000" b="1" dirty="0">
                <a:solidFill>
                  <a:srgbClr val="0000FF"/>
                </a:solidFill>
                <a:latin typeface="+mn-lt"/>
                <a:ea typeface="楷体" panose="02010609060101010101" pitchFamily="49" charset="-122"/>
              </a:rPr>
              <a:t>s</a:t>
            </a:r>
            <a:r>
              <a:rPr lang="zh-CN" altLang="en-US" sz="2000" b="1" dirty="0">
                <a:solidFill>
                  <a:srgbClr val="0000FF"/>
                </a:solidFill>
                <a:latin typeface="+mn-lt"/>
                <a:ea typeface="楷体" panose="02010609060101010101" pitchFamily="49" charset="-122"/>
              </a:rPr>
              <a:t>队列尾部</a:t>
            </a:r>
          </a:p>
          <a:p>
            <a:pPr eaLnBrk="1" hangingPunct="1">
              <a:lnSpc>
                <a:spcPct val="90000"/>
              </a:lnSpc>
            </a:pPr>
            <a:r>
              <a:rPr lang="en-US" altLang="zh-CN" sz="2000" b="1" dirty="0" smtClean="0">
                <a:latin typeface="+mn-lt"/>
                <a:ea typeface="楷体" panose="02010609060101010101" pitchFamily="49" charset="-122"/>
              </a:rPr>
              <a:t>END</a:t>
            </a:r>
            <a:endParaRPr lang="en-US" altLang="zh-CN" sz="2000" b="1" dirty="0">
              <a:latin typeface="+mn-lt"/>
              <a:ea typeface="楷体" panose="02010609060101010101" pitchFamily="49" charset="-122"/>
            </a:endParaRPr>
          </a:p>
        </p:txBody>
      </p:sp>
    </p:spTree>
    <p:extLst>
      <p:ext uri="{BB962C8B-B14F-4D97-AF65-F5344CB8AC3E}">
        <p14:creationId xmlns:p14="http://schemas.microsoft.com/office/powerpoint/2010/main" val="379643701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管程的实现</a:t>
            </a:r>
          </a:p>
        </p:txBody>
      </p:sp>
      <p:sp>
        <p:nvSpPr>
          <p:cNvPr id="4" name="Date Placeholder 3"/>
          <p:cNvSpPr>
            <a:spLocks noGrp="1"/>
          </p:cNvSpPr>
          <p:nvPr>
            <p:ph type="dt" sz="half" idx="10"/>
          </p:nvPr>
        </p:nvSpPr>
        <p:spPr/>
        <p:txBody>
          <a:bodyPr/>
          <a:lstStyle/>
          <a:p>
            <a:fld id="{1F83C1BA-270F-4E1C-89C8-39A699E6BB4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126</a:t>
            </a:fld>
            <a:endParaRPr lang="zh-CN" altLang="en-US" dirty="0"/>
          </a:p>
        </p:txBody>
      </p:sp>
      <p:sp>
        <p:nvSpPr>
          <p:cNvPr id="7" name="Rectangle 2"/>
          <p:cNvSpPr>
            <a:spLocks noChangeArrowheads="1"/>
          </p:cNvSpPr>
          <p:nvPr/>
        </p:nvSpPr>
        <p:spPr bwMode="auto">
          <a:xfrm>
            <a:off x="467544" y="1844824"/>
            <a:ext cx="818197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mn-lt"/>
                <a:ea typeface="楷体" panose="02010609060101010101" pitchFamily="49" charset="-122"/>
              </a:rPr>
              <a:t>PROCEDURE </a:t>
            </a:r>
            <a:r>
              <a:rPr lang="en-US" altLang="zh-CN" sz="2000" b="1" dirty="0" smtClean="0">
                <a:solidFill>
                  <a:srgbClr val="0000FF"/>
                </a:solidFill>
                <a:latin typeface="+mn-lt"/>
                <a:ea typeface="楷体" panose="02010609060101010101" pitchFamily="49" charset="-122"/>
              </a:rPr>
              <a:t>signal </a:t>
            </a:r>
            <a:r>
              <a:rPr lang="en-US" altLang="zh-CN" sz="2000" b="1" dirty="0" smtClean="0">
                <a:latin typeface="+mn-lt"/>
                <a:ea typeface="楷体" panose="02010609060101010101" pitchFamily="49" charset="-122"/>
              </a:rPr>
              <a:t>(</a:t>
            </a:r>
            <a:r>
              <a:rPr lang="en-US" altLang="zh-CN" sz="2000" b="1" dirty="0">
                <a:latin typeface="+mn-lt"/>
                <a:ea typeface="楷体" panose="02010609060101010101" pitchFamily="49" charset="-122"/>
              </a:rPr>
              <a:t>VAR </a:t>
            </a:r>
            <a:r>
              <a:rPr lang="en-US" altLang="zh-CN" sz="2000" b="1" dirty="0" err="1">
                <a:latin typeface="+mn-lt"/>
                <a:ea typeface="楷体" panose="02010609060101010101" pitchFamily="49" charset="-122"/>
              </a:rPr>
              <a:t>instance:one_instance</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VAR s:semaphore;        //</a:t>
            </a:r>
            <a:r>
              <a:rPr lang="zh-CN" altLang="en-US" sz="2000" b="1" dirty="0">
                <a:latin typeface="+mn-lt"/>
                <a:ea typeface="楷体" panose="02010609060101010101" pitchFamily="49" charset="-122"/>
              </a:rPr>
              <a:t>条件变量</a:t>
            </a:r>
          </a:p>
          <a:p>
            <a:pPr eaLnBrk="1" hangingPunct="1"/>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VAR </a:t>
            </a:r>
            <a:r>
              <a:rPr lang="en-US" altLang="zh-CN" sz="2000" b="1" dirty="0" err="1">
                <a:latin typeface="+mn-lt"/>
                <a:ea typeface="楷体" panose="02010609060101010101" pitchFamily="49" charset="-122"/>
              </a:rPr>
              <a:t>count:integer</a:t>
            </a:r>
            <a:r>
              <a:rPr lang="en-US" altLang="zh-CN" sz="2000" b="1" dirty="0">
                <a:latin typeface="+mn-lt"/>
                <a:ea typeface="楷体" panose="02010609060101010101" pitchFamily="49" charset="-122"/>
              </a:rPr>
              <a:t>);      // </a:t>
            </a:r>
            <a:r>
              <a:rPr lang="zh-CN" altLang="en-US" sz="2000" b="1" dirty="0">
                <a:latin typeface="+mn-lt"/>
                <a:ea typeface="楷体" panose="02010609060101010101" pitchFamily="49" charset="-122"/>
              </a:rPr>
              <a:t>在条件变量队列中等待的进程数目</a:t>
            </a:r>
          </a:p>
          <a:p>
            <a:pPr eaLnBrk="1" hangingPunct="1"/>
            <a:r>
              <a:rPr lang="en-US" altLang="zh-CN" sz="2000" b="1" dirty="0">
                <a:latin typeface="+mn-lt"/>
                <a:ea typeface="楷体" panose="02010609060101010101" pitchFamily="49" charset="-122"/>
              </a:rPr>
              <a:t>BEGIN</a:t>
            </a:r>
          </a:p>
          <a:p>
            <a:pPr eaLnBrk="1" hangingPunct="1"/>
            <a:r>
              <a:rPr lang="en-US" altLang="zh-CN" sz="2000" b="1" dirty="0">
                <a:latin typeface="+mn-lt"/>
                <a:ea typeface="楷体" panose="02010609060101010101" pitchFamily="49" charset="-122"/>
              </a:rPr>
              <a:t>   IF count&gt;0 THEN</a:t>
            </a:r>
          </a:p>
          <a:p>
            <a:pPr eaLnBrk="1" hangingPunct="1"/>
            <a:r>
              <a:rPr lang="en-US" altLang="zh-CN" sz="2000" b="1" dirty="0">
                <a:latin typeface="+mn-lt"/>
                <a:ea typeface="楷体" panose="02010609060101010101" pitchFamily="49" charset="-122"/>
              </a:rPr>
              <a:t>       BEGIN</a:t>
            </a:r>
          </a:p>
          <a:p>
            <a:pPr eaLnBrk="1" hangingPunct="1"/>
            <a:r>
              <a:rPr lang="en-US" altLang="zh-CN" sz="2000" b="1" dirty="0">
                <a:latin typeface="+mn-lt"/>
                <a:ea typeface="楷体" panose="02010609060101010101" pitchFamily="49" charset="-122"/>
              </a:rPr>
              <a:t>            count- -; </a:t>
            </a:r>
          </a:p>
          <a:p>
            <a:pPr eaLnBrk="1" hangingPunct="1"/>
            <a:r>
              <a:rPr lang="en-US" altLang="zh-CN" sz="2000" b="1" dirty="0">
                <a:latin typeface="+mn-lt"/>
                <a:ea typeface="楷体" panose="02010609060101010101" pitchFamily="49" charset="-122"/>
              </a:rPr>
              <a:t>            </a:t>
            </a:r>
            <a:r>
              <a:rPr lang="en-US" altLang="zh-CN" sz="2000" b="1" dirty="0" err="1">
                <a:latin typeface="+mn-lt"/>
                <a:ea typeface="楷体" panose="02010609060101010101" pitchFamily="49" charset="-122"/>
              </a:rPr>
              <a:t>instance.urgent_count</a:t>
            </a:r>
            <a:r>
              <a:rPr lang="en-US" altLang="zh-CN" sz="2000" b="1" dirty="0">
                <a:latin typeface="+mn-lt"/>
                <a:ea typeface="楷体" panose="02010609060101010101" pitchFamily="49" charset="-122"/>
              </a:rPr>
              <a:t>++;</a:t>
            </a:r>
          </a:p>
          <a:p>
            <a:pPr eaLnBrk="1" hangingPunct="1"/>
            <a:r>
              <a:rPr lang="en-US" altLang="zh-CN" sz="2000" b="1" dirty="0">
                <a:latin typeface="+mn-lt"/>
                <a:ea typeface="楷体" panose="02010609060101010101" pitchFamily="49" charset="-122"/>
              </a:rPr>
              <a:t>            V(s);                           // s</a:t>
            </a:r>
            <a:r>
              <a:rPr lang="zh-CN" altLang="en-US" sz="2000" b="1" dirty="0">
                <a:latin typeface="+mn-lt"/>
                <a:ea typeface="楷体" panose="02010609060101010101" pitchFamily="49" charset="-122"/>
              </a:rPr>
              <a:t>队列非空，唤醒第一个等待者</a:t>
            </a:r>
          </a:p>
          <a:p>
            <a:pPr eaLnBrk="1" hangingPunct="1"/>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P(</a:t>
            </a:r>
            <a:r>
              <a:rPr lang="en-US" altLang="zh-CN" sz="2000" b="1" dirty="0" err="1">
                <a:latin typeface="+mn-lt"/>
                <a:ea typeface="楷体" panose="02010609060101010101" pitchFamily="49" charset="-122"/>
              </a:rPr>
              <a:t>instance.urgent</a:t>
            </a:r>
            <a:r>
              <a:rPr lang="en-US" altLang="zh-CN" sz="2000" b="1" dirty="0">
                <a:latin typeface="+mn-lt"/>
                <a:ea typeface="楷体" panose="02010609060101010101" pitchFamily="49" charset="-122"/>
              </a:rPr>
              <a:t>)   //</a:t>
            </a:r>
            <a:r>
              <a:rPr lang="zh-CN" altLang="en-US" sz="2000" b="1" dirty="0">
                <a:latin typeface="+mn-lt"/>
                <a:ea typeface="楷体" panose="02010609060101010101" pitchFamily="49" charset="-122"/>
              </a:rPr>
              <a:t>执行此操作的进程排入紧急等待队列的尾部</a:t>
            </a:r>
          </a:p>
          <a:p>
            <a:pPr eaLnBrk="1" hangingPunct="1"/>
            <a:r>
              <a:rPr lang="zh-CN" altLang="en-US" sz="2000" b="1" dirty="0">
                <a:latin typeface="+mn-lt"/>
                <a:ea typeface="楷体" panose="02010609060101010101" pitchFamily="49" charset="-122"/>
              </a:rPr>
              <a:t>       </a:t>
            </a:r>
            <a:r>
              <a:rPr lang="en-US" altLang="zh-CN" sz="2000" b="1" dirty="0">
                <a:latin typeface="+mn-lt"/>
                <a:ea typeface="楷体" panose="02010609060101010101" pitchFamily="49" charset="-122"/>
              </a:rPr>
              <a:t>END</a:t>
            </a:r>
          </a:p>
          <a:p>
            <a:pPr eaLnBrk="1" hangingPunct="1"/>
            <a:r>
              <a:rPr lang="en-US" altLang="zh-CN" sz="2000" b="1" dirty="0" smtClean="0">
                <a:latin typeface="+mn-lt"/>
                <a:ea typeface="楷体" panose="02010609060101010101" pitchFamily="49" charset="-122"/>
              </a:rPr>
              <a:t>END          </a:t>
            </a:r>
            <a:r>
              <a:rPr lang="en-US" altLang="zh-CN" sz="2000" b="1" dirty="0">
                <a:latin typeface="+mn-lt"/>
                <a:ea typeface="楷体" panose="02010609060101010101" pitchFamily="49" charset="-122"/>
              </a:rPr>
              <a:t>//</a:t>
            </a:r>
            <a:r>
              <a:rPr lang="zh-CN" altLang="en-US" sz="2000" b="1" dirty="0">
                <a:latin typeface="+mn-lt"/>
                <a:ea typeface="楷体" panose="02010609060101010101" pitchFamily="49" charset="-122"/>
              </a:rPr>
              <a:t>如果</a:t>
            </a:r>
            <a:r>
              <a:rPr lang="en-US" altLang="zh-CN" sz="2000" b="1" dirty="0">
                <a:latin typeface="+mn-lt"/>
                <a:ea typeface="楷体" panose="02010609060101010101" pitchFamily="49" charset="-122"/>
              </a:rPr>
              <a:t>s</a:t>
            </a:r>
            <a:r>
              <a:rPr lang="zh-CN" altLang="en-US" sz="2000" b="1" dirty="0">
                <a:latin typeface="+mn-lt"/>
                <a:ea typeface="楷体" panose="02010609060101010101" pitchFamily="49" charset="-122"/>
              </a:rPr>
              <a:t>队列为空，则相当于空操作，执行此操作的进程继</a:t>
            </a:r>
            <a:r>
              <a:rPr lang="zh-CN" altLang="en-US" sz="2000" b="1" dirty="0" smtClean="0">
                <a:latin typeface="+mn-lt"/>
                <a:ea typeface="楷体" panose="02010609060101010101" pitchFamily="49" charset="-122"/>
              </a:rPr>
              <a:t>续</a:t>
            </a:r>
            <a:endParaRPr lang="zh-CN" altLang="en-US" sz="2000" b="1" dirty="0">
              <a:latin typeface="+mn-lt"/>
              <a:ea typeface="楷体" panose="02010609060101010101" pitchFamily="49" charset="-122"/>
            </a:endParaRPr>
          </a:p>
        </p:txBody>
      </p:sp>
    </p:spTree>
    <p:extLst>
      <p:ext uri="{BB962C8B-B14F-4D97-AF65-F5344CB8AC3E}">
        <p14:creationId xmlns:p14="http://schemas.microsoft.com/office/powerpoint/2010/main" val="1944442577"/>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管</a:t>
            </a:r>
            <a:r>
              <a:rPr lang="zh-CN" altLang="en-US" dirty="0" smtClean="0"/>
              <a:t>程的优点</a:t>
            </a:r>
            <a:endParaRPr lang="zh-CN" altLang="en-US" dirty="0"/>
          </a:p>
        </p:txBody>
      </p:sp>
      <p:sp>
        <p:nvSpPr>
          <p:cNvPr id="3" name="Content Placeholder 2"/>
          <p:cNvSpPr>
            <a:spLocks noGrp="1"/>
          </p:cNvSpPr>
          <p:nvPr>
            <p:ph idx="1"/>
          </p:nvPr>
        </p:nvSpPr>
        <p:spPr/>
        <p:txBody>
          <a:bodyPr/>
          <a:lstStyle/>
          <a:p>
            <a:r>
              <a:rPr lang="zh-CN" altLang="en-US" dirty="0" smtClean="0">
                <a:solidFill>
                  <a:srgbClr val="00B050"/>
                </a:solidFill>
              </a:rPr>
              <a:t>可</a:t>
            </a:r>
            <a:r>
              <a:rPr lang="zh-CN" altLang="en-US" dirty="0">
                <a:solidFill>
                  <a:srgbClr val="00B050"/>
                </a:solidFill>
              </a:rPr>
              <a:t>增强模块的独立性</a:t>
            </a:r>
            <a:r>
              <a:rPr lang="zh-CN" altLang="en-US" dirty="0"/>
              <a:t>：系统按资源管理的观点分解成若干模块，用数据表示抽象系统资源，同时分析了共享资源和专用资源在管理上的差别，按不同的管理方式定义模块的类型和结构，</a:t>
            </a:r>
            <a:r>
              <a:rPr lang="zh-CN" altLang="en-US" dirty="0">
                <a:solidFill>
                  <a:srgbClr val="0000FF"/>
                </a:solidFill>
              </a:rPr>
              <a:t>使同步操作相对集中，从而增加了模块的相对独立</a:t>
            </a:r>
            <a:r>
              <a:rPr lang="zh-CN" altLang="en-US" dirty="0" smtClean="0">
                <a:solidFill>
                  <a:srgbClr val="0000FF"/>
                </a:solidFill>
              </a:rPr>
              <a:t>性</a:t>
            </a:r>
            <a:endParaRPr lang="en-US" altLang="zh-CN" dirty="0" smtClean="0">
              <a:solidFill>
                <a:srgbClr val="0000FF"/>
              </a:solidFill>
            </a:endParaRPr>
          </a:p>
          <a:p>
            <a:endParaRPr lang="en-US" altLang="zh-CN" dirty="0"/>
          </a:p>
          <a:p>
            <a:r>
              <a:rPr lang="zh-CN" altLang="en-US" dirty="0" smtClean="0">
                <a:solidFill>
                  <a:srgbClr val="00B050"/>
                </a:solidFill>
              </a:rPr>
              <a:t>可</a:t>
            </a:r>
            <a:r>
              <a:rPr lang="zh-CN" altLang="en-US" dirty="0">
                <a:solidFill>
                  <a:srgbClr val="00B050"/>
                </a:solidFill>
              </a:rPr>
              <a:t>提高代码的可读性，便于修改和维护，正确性易于保证</a:t>
            </a:r>
            <a:r>
              <a:rPr lang="zh-CN" altLang="en-US" dirty="0"/>
              <a:t>：采用集中式同步机制。一个操作系统或并发程序由若干个这样的模块所构成，一个模块通常较短，模块之间关系清晰</a:t>
            </a:r>
          </a:p>
        </p:txBody>
      </p:sp>
      <p:sp>
        <p:nvSpPr>
          <p:cNvPr id="4" name="Date Placeholder 3"/>
          <p:cNvSpPr>
            <a:spLocks noGrp="1"/>
          </p:cNvSpPr>
          <p:nvPr>
            <p:ph type="dt" sz="half" idx="10"/>
          </p:nvPr>
        </p:nvSpPr>
        <p:spPr/>
        <p:txBody>
          <a:bodyPr/>
          <a:lstStyle/>
          <a:p>
            <a:fld id="{5A6F0685-DB88-4B7A-97CE-E68CF7DEB8C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smtClean="0"/>
              <a:t>CH03 - Synchronization &amp; Mutual Exclusion</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127</a:t>
            </a:fld>
            <a:endParaRPr lang="zh-CN" altLang="en-US" dirty="0"/>
          </a:p>
        </p:txBody>
      </p:sp>
    </p:spTree>
    <p:extLst>
      <p:ext uri="{BB962C8B-B14F-4D97-AF65-F5344CB8AC3E}">
        <p14:creationId xmlns:p14="http://schemas.microsoft.com/office/powerpoint/2010/main" val="305180294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normAutofit/>
          </a:bodyPr>
          <a:lstStyle/>
          <a:p>
            <a:pPr>
              <a:defRPr/>
            </a:pPr>
            <a:fld id="{F1D89CC5-1E91-4B07-A49D-F0591162D17E}" type="slidenum">
              <a:rPr lang="zh-CN" altLang="en-US" smtClean="0"/>
              <a:pPr>
                <a:defRPr/>
              </a:pPr>
              <a:t>128</a:t>
            </a:fld>
            <a:endParaRPr lang="en-US" altLang="zh-CN"/>
          </a:p>
        </p:txBody>
      </p:sp>
      <p:sp>
        <p:nvSpPr>
          <p:cNvPr id="293890" name="Text Box 15"/>
          <p:cNvSpPr txBox="1">
            <a:spLocks noChangeArrowheads="1"/>
          </p:cNvSpPr>
          <p:nvPr/>
        </p:nvSpPr>
        <p:spPr bwMode="auto">
          <a:xfrm>
            <a:off x="304800" y="2781300"/>
            <a:ext cx="8839200" cy="1016000"/>
          </a:xfrm>
          <a:prstGeom prst="rect">
            <a:avLst/>
          </a:prstGeom>
          <a:noFill/>
          <a:ln w="9525">
            <a:noFill/>
            <a:miter lim="800000"/>
          </a:ln>
        </p:spPr>
        <p:txBody>
          <a:bodyPr>
            <a:spAutoFit/>
          </a:bodyPr>
          <a:lstStyle/>
          <a:p>
            <a:pPr algn="ctr"/>
            <a:r>
              <a:rPr lang="zh-CN" altLang="en-US" sz="6000">
                <a:solidFill>
                  <a:srgbClr val="3737C3"/>
                </a:solidFill>
                <a:latin typeface="华文新魏" panose="02010800040101010101" charset="-122"/>
                <a:ea typeface="华文新魏" panose="02010800040101010101" charset="-122"/>
                <a:cs typeface="华文新魏" panose="02010800040101010101" charset="-122"/>
              </a:rPr>
              <a:t>谢谢！</a:t>
            </a:r>
            <a:endParaRPr lang="en-US" altLang="zh-CN" sz="6000">
              <a:solidFill>
                <a:srgbClr val="3737C3"/>
              </a:solidFill>
              <a:latin typeface="华文新魏" panose="02010800040101010101" charset="-122"/>
              <a:ea typeface="华文新魏" panose="02010800040101010101" charset="-122"/>
              <a:cs typeface="华文新魏" panose="02010800040101010101" charset="-122"/>
            </a:endParaRPr>
          </a:p>
        </p:txBody>
      </p:sp>
      <p:sp>
        <p:nvSpPr>
          <p:cNvPr id="6" name="Rectangle 5"/>
          <p:cNvSpPr/>
          <p:nvPr/>
        </p:nvSpPr>
        <p:spPr>
          <a:xfrm>
            <a:off x="8172450" y="-26988"/>
            <a:ext cx="958850"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93892" name="Picture 6"/>
          <p:cNvPicPr>
            <a:picLocks noChangeAspect="1"/>
          </p:cNvPicPr>
          <p:nvPr/>
        </p:nvPicPr>
        <p:blipFill>
          <a:blip r:embed="rId3" cstate="print"/>
          <a:srcRect/>
          <a:stretch>
            <a:fillRect/>
          </a:stretch>
        </p:blipFill>
        <p:spPr bwMode="auto">
          <a:xfrm>
            <a:off x="6372225" y="188913"/>
            <a:ext cx="2622550" cy="646112"/>
          </a:xfrm>
          <a:prstGeom prst="rect">
            <a:avLst/>
          </a:prstGeom>
          <a:noFill/>
          <a:ln w="9525">
            <a:noFill/>
            <a:miter lim="800000"/>
            <a:headEnd/>
            <a:tailEnd/>
          </a:ln>
        </p:spPr>
      </p:pic>
    </p:spTree>
    <p:extLst>
      <p:ext uri="{BB962C8B-B14F-4D97-AF65-F5344CB8AC3E}">
        <p14:creationId xmlns:p14="http://schemas.microsoft.com/office/powerpoint/2010/main" val="472647593"/>
      </p:ext>
    </p:extLst>
  </p:cSld>
  <p:clrMapOvr>
    <a:masterClrMapping/>
  </p:clrMapOvr>
  <p:transition advTm="3985"/>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3487</TotalTime>
  <Words>10115</Words>
  <Application>Microsoft Office PowerPoint</Application>
  <PresentationFormat>全屏显示(4:3)</PresentationFormat>
  <Paragraphs>2321</Paragraphs>
  <Slides>128</Slides>
  <Notes>43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128</vt:i4>
      </vt:variant>
    </vt:vector>
  </HeadingPairs>
  <TitlesOfParts>
    <vt:vector size="145" baseType="lpstr">
      <vt:lpstr>Arial Unicode MS</vt:lpstr>
      <vt:lpstr>Math B</vt:lpstr>
      <vt:lpstr>黑体</vt:lpstr>
      <vt:lpstr>华文仿宋</vt:lpstr>
      <vt:lpstr>华文黑体</vt:lpstr>
      <vt:lpstr>华文新魏</vt:lpstr>
      <vt:lpstr>楷体</vt:lpstr>
      <vt:lpstr>宋体</vt:lpstr>
      <vt:lpstr>微软雅黑</vt:lpstr>
      <vt:lpstr>Arial</vt:lpstr>
      <vt:lpstr>Calibri</vt:lpstr>
      <vt:lpstr>Courier New</vt:lpstr>
      <vt:lpstr>Segoe UI Symbol</vt:lpstr>
      <vt:lpstr>Symbol</vt:lpstr>
      <vt:lpstr>Times New Roman</vt:lpstr>
      <vt:lpstr>Wingdings</vt:lpstr>
      <vt:lpstr>Office Theme</vt:lpstr>
      <vt:lpstr>第3章  进程间互斥与同步</vt:lpstr>
      <vt:lpstr>本章主要内容</vt:lpstr>
      <vt:lpstr>内容概述</vt:lpstr>
      <vt:lpstr>回顾操作系统的主要特性</vt:lpstr>
      <vt:lpstr>并发访问全局数据造成的错误</vt:lpstr>
      <vt:lpstr>并发访问全局数据造成的错误</vt:lpstr>
      <vt:lpstr>Race Condition</vt:lpstr>
      <vt:lpstr>进程间的制约关系</vt:lpstr>
      <vt:lpstr>需要解决的问题</vt:lpstr>
      <vt:lpstr>同步关系举例</vt:lpstr>
      <vt:lpstr>内容概述</vt:lpstr>
      <vt:lpstr>同步问题与临界区</vt:lpstr>
      <vt:lpstr>临界区</vt:lpstr>
      <vt:lpstr>使用临界区应遵循的准则</vt:lpstr>
      <vt:lpstr>解决同步问题的软件办法</vt:lpstr>
      <vt:lpstr>软件方法——单标识法</vt:lpstr>
      <vt:lpstr>软件方法——单标识法</vt:lpstr>
      <vt:lpstr>软件方法——双标识、先检验</vt:lpstr>
      <vt:lpstr>软件方法——双标识、先检验</vt:lpstr>
      <vt:lpstr>软件方法——双标识、后检验</vt:lpstr>
      <vt:lpstr>软件方法——双标识、后检验</vt:lpstr>
      <vt:lpstr>软件方法——Peterson’s Solution</vt:lpstr>
      <vt:lpstr>软件方法——Peterson’s Solution</vt:lpstr>
      <vt:lpstr>软件方法——Peterson’s Solution</vt:lpstr>
      <vt:lpstr>软件方法——Peterson’s Solution</vt:lpstr>
      <vt:lpstr>软件方法总结</vt:lpstr>
      <vt:lpstr>内容概述</vt:lpstr>
      <vt:lpstr>回顾软件方法的问题</vt:lpstr>
      <vt:lpstr>硬件方法——屏蔽中断</vt:lpstr>
      <vt:lpstr>硬件方法——TS指令</vt:lpstr>
      <vt:lpstr>硬件方法——SWAP指令</vt:lpstr>
      <vt:lpstr>硬件方法——Swap指令</vt:lpstr>
      <vt:lpstr>采用上述特殊指令的问题</vt:lpstr>
      <vt:lpstr>硬件方法的优缺点</vt:lpstr>
      <vt:lpstr>对软硬件方法的总结</vt:lpstr>
      <vt:lpstr>内容概述</vt:lpstr>
      <vt:lpstr>为什么引入信号量</vt:lpstr>
      <vt:lpstr>信号量</vt:lpstr>
      <vt:lpstr>信号量</vt:lpstr>
      <vt:lpstr>用信号量实现互斥</vt:lpstr>
      <vt:lpstr>用信号量实现互斥</vt:lpstr>
      <vt:lpstr>信号量的操作——P、V原语</vt:lpstr>
      <vt:lpstr>信号量的操作——P、V原语</vt:lpstr>
      <vt:lpstr>信号量</vt:lpstr>
      <vt:lpstr>用信号量实现互斥</vt:lpstr>
      <vt:lpstr>用信号量实现互斥</vt:lpstr>
      <vt:lpstr>用信号量实现互斥</vt:lpstr>
      <vt:lpstr>用信号量实现同步</vt:lpstr>
      <vt:lpstr>用信号量实现同步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P、V原语的次序</vt:lpstr>
      <vt:lpstr>内容概述</vt:lpstr>
      <vt:lpstr>P原语的实现</vt:lpstr>
      <vt:lpstr>V原语的实现</vt:lpstr>
      <vt:lpstr>P、V原语的实现</vt:lpstr>
      <vt:lpstr>P、V原语的实现</vt:lpstr>
      <vt:lpstr>内容概述</vt:lpstr>
      <vt:lpstr>读者-写者问题</vt:lpstr>
      <vt:lpstr>读者-写者问题</vt:lpstr>
      <vt:lpstr>读者-写者问题</vt:lpstr>
      <vt:lpstr>读者-写者问题</vt:lpstr>
      <vt:lpstr>哲学家进餐问题</vt:lpstr>
      <vt:lpstr>哲学家进餐问题</vt:lpstr>
      <vt:lpstr>哲学家进餐问题</vt:lpstr>
      <vt:lpstr>哲学家进餐问题</vt:lpstr>
      <vt:lpstr>利用信号量实现前趋关系</vt:lpstr>
      <vt:lpstr>利用信号量实现前趋关系</vt:lpstr>
      <vt:lpstr>利用信号量实现前趋关系</vt:lpstr>
      <vt:lpstr>作业</vt:lpstr>
      <vt:lpstr>作业</vt:lpstr>
      <vt:lpstr>作业</vt:lpstr>
      <vt:lpstr>作业</vt:lpstr>
      <vt:lpstr>内容概述</vt:lpstr>
      <vt:lpstr>信号量集</vt:lpstr>
      <vt:lpstr>AND型信号量集</vt:lpstr>
      <vt:lpstr>AND型信号量集</vt:lpstr>
      <vt:lpstr>一般信号量集</vt:lpstr>
      <vt:lpstr>一般信号量集</vt:lpstr>
      <vt:lpstr>生产者-消费者问题</vt:lpstr>
      <vt:lpstr>生产者-消费者问题</vt:lpstr>
      <vt:lpstr>读者-写者问题</vt:lpstr>
      <vt:lpstr>读者-写者问题</vt:lpstr>
      <vt:lpstr>内容概述</vt:lpstr>
      <vt:lpstr>信号量实现互斥和同步的问题</vt:lpstr>
      <vt:lpstr>我们的期望</vt:lpstr>
      <vt:lpstr>管程（Monitor）</vt:lpstr>
      <vt:lpstr>管程（Monitor）</vt:lpstr>
      <vt:lpstr>管程的基本结构</vt:lpstr>
      <vt:lpstr>管程（Monitor）</vt:lpstr>
      <vt:lpstr>管程（Monitor）</vt:lpstr>
      <vt:lpstr>管程的基本结构</vt:lpstr>
      <vt:lpstr>管程的基本结构</vt:lpstr>
      <vt:lpstr>管程的基本结构</vt:lpstr>
      <vt:lpstr>Hoare的管程定义</vt:lpstr>
      <vt:lpstr>Hoare的管程定义</vt:lpstr>
      <vt:lpstr>Hoare的管程定义</vt:lpstr>
      <vt:lpstr>Lampson &amp; Redell管程定义</vt:lpstr>
      <vt:lpstr>Lampson &amp; Redell管程定义</vt:lpstr>
      <vt:lpstr>管程的例子——“读者-写者”问题</vt:lpstr>
      <vt:lpstr>管程的例子——“读者-写者”问题</vt:lpstr>
      <vt:lpstr>管程的例子——“读者-写者”问题</vt:lpstr>
      <vt:lpstr>管程的例子——“读者-写者”问题</vt:lpstr>
      <vt:lpstr>管程的例子——“读者-写者”问题</vt:lpstr>
      <vt:lpstr>管程的例子——“读者-写者”问题</vt:lpstr>
      <vt:lpstr>管程的例子——“读者-写者”问题</vt:lpstr>
      <vt:lpstr>管程的实现</vt:lpstr>
      <vt:lpstr>管程的实现</vt:lpstr>
      <vt:lpstr>管程的实现</vt:lpstr>
      <vt:lpstr>管程的实现</vt:lpstr>
      <vt:lpstr>管程的优点</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第0章  课程简介</dc:title>
  <dc:creator>Mingsong Lu</dc:creator>
  <cp:lastModifiedBy>zhuzongwei1988@outlook.com</cp:lastModifiedBy>
  <cp:revision>474</cp:revision>
  <cp:lastPrinted>2015-04-07T12:55:28Z</cp:lastPrinted>
  <dcterms:created xsi:type="dcterms:W3CDTF">2015-03-10T09:46:44Z</dcterms:created>
  <dcterms:modified xsi:type="dcterms:W3CDTF">2018-08-03T04:42:10Z</dcterms:modified>
</cp:coreProperties>
</file>