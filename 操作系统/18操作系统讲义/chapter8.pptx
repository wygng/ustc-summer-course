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43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82BA1-E2D1-46E6-8340-747B43510923}" type="datetimeFigureOut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F40E8-B080-4069-9916-BB6BA31401C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25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40E8-B080-4069-9916-BB6BA31401C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598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40E8-B080-4069-9916-BB6BA31401C1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65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40E8-B080-4069-9916-BB6BA31401C1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804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40E8-B080-4069-9916-BB6BA31401C1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234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49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9491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AAA4A30-F643-404A-80F4-58BF81F7EE2C}" type="slidenum">
              <a:rPr lang="zh-CN" altLang="en-US">
                <a:cs typeface="华文仿宋" panose="02010600040101010101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82</a:t>
            </a:fld>
            <a:endParaRPr lang="en-US" altLang="zh-CN">
              <a:cs typeface="华文仿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8309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6DB9-9310-4772-B704-0B1DA9F75FE0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041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B2BE6-D592-465A-96B3-E590CE483757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20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7686-49B4-4934-A187-5666749CBA96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900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070F2-6EC0-4361-8787-70B7F1D2CFF6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087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87D76-CC48-4F2F-A4BA-5FE839A9ED38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91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64A50-F80D-4922-9B55-0DFD44F2AF9C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D45D-1C89-4CC3-B28C-BCAFC6AD51FD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81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412B-DB39-4D1C-8262-3A6328685E2F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89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CDBF-B471-4AB2-99D8-47215ABB8163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7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2CCD-EFBA-447D-9155-873995B8F739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77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4B40-F036-43B7-B36E-E9226AF90149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85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2148" y="124058"/>
            <a:ext cx="7886700" cy="693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7600"/>
            <a:ext cx="7886700" cy="491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Segoe UI Symbol" panose="020B0502040204020203" pitchFamily="34" charset="0"/>
              </a:defRPr>
            </a:lvl1pPr>
          </a:lstStyle>
          <a:p>
            <a:fld id="{FF9E3189-892E-403E-9850-16A056C9C6D3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Segoe UI Symbol" panose="020B0502040204020203" pitchFamily="34" charset="0"/>
              </a:defRPr>
            </a:lvl1pPr>
          </a:lstStyle>
          <a:p>
            <a:r>
              <a:rPr lang="en-US" altLang="zh-CN" smtClean="0">
                <a:ea typeface="Segoe UI Symbol" panose="020B0502040204020203" pitchFamily="34" charset="0"/>
              </a:rPr>
              <a:t>CH08 - File System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Segoe UI Symbol" panose="020B0502040204020203" pitchFamily="34" charset="0"/>
              </a:defRPr>
            </a:lvl1pPr>
          </a:lstStyle>
          <a:p>
            <a:fld id="{56BAEEBF-3716-487D-AE7C-1F66A971DC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29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微软雅黑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024697"/>
          </a:xfrm>
        </p:spPr>
        <p:txBody>
          <a:bodyPr>
            <a:normAutofit/>
          </a:bodyPr>
          <a:lstStyle/>
          <a:p>
            <a:r>
              <a:rPr lang="zh-CN" altLang="en-US" sz="4800" dirty="0" smtClean="0"/>
              <a:t>第</a:t>
            </a:r>
            <a:r>
              <a:rPr lang="en-US" altLang="zh-CN" sz="4800" dirty="0"/>
              <a:t>8</a:t>
            </a:r>
            <a:r>
              <a:rPr lang="zh-CN" altLang="en-US" sz="4800" dirty="0" smtClean="0"/>
              <a:t>章  文件系统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15398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朱宗卫</a:t>
            </a:r>
            <a:endParaRPr lang="en-US" altLang="zh-CN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中国科学技术大学   软件学院</a:t>
            </a:r>
            <a:endParaRPr lang="en-US" altLang="zh-CN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205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什么是文件与文件系统</a:t>
            </a:r>
            <a:endParaRPr lang="en-US" altLang="zh-CN" dirty="0" smtClean="0"/>
          </a:p>
          <a:p>
            <a:r>
              <a:rPr lang="zh-CN" altLang="en-US" dirty="0"/>
              <a:t>文</a:t>
            </a:r>
            <a:r>
              <a:rPr lang="zh-CN" altLang="en-US" dirty="0" smtClean="0"/>
              <a:t>件的逻辑结构</a:t>
            </a:r>
            <a:endParaRPr lang="en-US" altLang="zh-CN" dirty="0" smtClean="0"/>
          </a:p>
          <a:p>
            <a:r>
              <a:rPr lang="zh-CN" altLang="en-US" dirty="0"/>
              <a:t>外</a:t>
            </a:r>
            <a:r>
              <a:rPr lang="zh-CN" altLang="en-US" dirty="0" smtClean="0"/>
              <a:t>存分配方式</a:t>
            </a:r>
            <a:endParaRPr lang="en-US" altLang="zh-CN" dirty="0" smtClean="0"/>
          </a:p>
          <a:p>
            <a:r>
              <a:rPr lang="zh-CN" altLang="en-US" dirty="0"/>
              <a:t>目</a:t>
            </a:r>
            <a:r>
              <a:rPr lang="zh-CN" altLang="en-US" dirty="0" smtClean="0"/>
              <a:t>录管理</a:t>
            </a:r>
            <a:endParaRPr lang="en-US" altLang="zh-CN" dirty="0" smtClean="0"/>
          </a:p>
          <a:p>
            <a:r>
              <a:rPr lang="zh-CN" altLang="en-US" dirty="0"/>
              <a:t>文</a:t>
            </a:r>
            <a:r>
              <a:rPr lang="zh-CN" altLang="en-US" dirty="0" smtClean="0"/>
              <a:t>件存储空间的管理</a:t>
            </a:r>
            <a:endParaRPr lang="en-US" altLang="zh-CN" dirty="0" smtClean="0"/>
          </a:p>
          <a:p>
            <a:r>
              <a:rPr lang="zh-CN" altLang="en-US" dirty="0"/>
              <a:t>文</a:t>
            </a:r>
            <a:r>
              <a:rPr lang="zh-CN" altLang="en-US" dirty="0" smtClean="0"/>
              <a:t>件的共享与保护</a:t>
            </a:r>
            <a:endParaRPr lang="en-US" altLang="zh-CN" dirty="0" smtClean="0"/>
          </a:p>
          <a:p>
            <a:r>
              <a:rPr lang="zh-CN" altLang="en-US" dirty="0"/>
              <a:t>数</a:t>
            </a:r>
            <a:r>
              <a:rPr lang="zh-CN" altLang="en-US" dirty="0" smtClean="0"/>
              <a:t>据一致性检查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9E866-0853-4BF1-AEB1-A774713DCCB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554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C000"/>
                </a:solidFill>
              </a:rPr>
              <a:t>什么是文件与文件系统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件的逻辑结构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外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存分配方式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目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录管理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件存储空间的管理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件的共享与保护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数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据一致性检查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945B4-9D05-40DA-850E-1AA3CCD2855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438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文件、记录与数据项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数据项：是最低级的数据组织形式</a:t>
            </a:r>
            <a:endParaRPr lang="en-US" altLang="zh-CN" dirty="0" smtClean="0"/>
          </a:p>
          <a:p>
            <a:pPr lvl="1"/>
            <a:r>
              <a:rPr lang="zh-CN" altLang="en-US" dirty="0"/>
              <a:t>基</a:t>
            </a:r>
            <a:r>
              <a:rPr lang="zh-CN" altLang="en-US" dirty="0" smtClean="0"/>
              <a:t>本数据项：用于描述一个对象的某种属性的字符集，又称数据元素或字段</a:t>
            </a:r>
            <a:endParaRPr lang="en-US" altLang="zh-CN" dirty="0" smtClean="0"/>
          </a:p>
          <a:p>
            <a:pPr lvl="1"/>
            <a:r>
              <a:rPr lang="zh-CN" altLang="en-US" dirty="0"/>
              <a:t>组</a:t>
            </a:r>
            <a:r>
              <a:rPr lang="zh-CN" altLang="en-US" dirty="0" smtClean="0"/>
              <a:t>合数据项：由若干个基本数据项组成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记录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是一组相关数据项的集合，描述一个对象在某方面的属性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由创建者所定义的、具有文件名的一组相关元素的有序集合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C33F-E223-415E-BF89-7A5243E9A7C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928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文件、记录与数据项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4042792" cy="5256584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文件是具有名字的数据项的集合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文</a:t>
            </a:r>
            <a:r>
              <a:rPr lang="zh-CN" altLang="en-US" dirty="0" smtClean="0"/>
              <a:t>件名：文件的标志符号</a:t>
            </a:r>
            <a:endParaRPr lang="en-US" altLang="zh-CN" dirty="0" smtClean="0"/>
          </a:p>
          <a:p>
            <a:pPr lvl="1"/>
            <a:r>
              <a:rPr lang="zh-CN" altLang="en-US" dirty="0"/>
              <a:t>文件</a:t>
            </a:r>
            <a:r>
              <a:rPr lang="zh-CN" altLang="en-US" dirty="0" smtClean="0"/>
              <a:t>体：文件本身的信息</a:t>
            </a:r>
            <a:endParaRPr lang="en-US" altLang="zh-CN" dirty="0" smtClean="0"/>
          </a:p>
          <a:p>
            <a:pPr lvl="1"/>
            <a:r>
              <a:rPr lang="zh-CN" altLang="en-US" dirty="0"/>
              <a:t>文</a:t>
            </a:r>
            <a:r>
              <a:rPr lang="zh-CN" altLang="en-US" dirty="0" smtClean="0"/>
              <a:t>件说明：文件存储和管理信息，如：文件名、文件内部标识、文件的存储地址、访问权限、访问时间等</a:t>
            </a:r>
            <a:endParaRPr lang="en-US" altLang="zh-CN" dirty="0" smtClean="0"/>
          </a:p>
          <a:p>
            <a:pPr lvl="1"/>
            <a:r>
              <a:rPr lang="zh-CN" altLang="en-US" dirty="0"/>
              <a:t>文</a:t>
            </a:r>
            <a:r>
              <a:rPr lang="zh-CN" altLang="en-US" dirty="0" smtClean="0"/>
              <a:t>件的属性：文件类型、文件长度、文件的物理位置、文件的建立时间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38EB-5850-48EB-8DF7-C5CB596E9E0F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780" y="1344352"/>
            <a:ext cx="3829050" cy="2552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780" y="1344352"/>
            <a:ext cx="3590925" cy="49149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780" y="1347867"/>
            <a:ext cx="3590925" cy="4914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780" y="1351382"/>
            <a:ext cx="35909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1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文件、记录与数据项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三者的关系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A563-0A24-4685-A042-FA84FC71D90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2051720" y="2492896"/>
            <a:ext cx="4752975" cy="2490788"/>
            <a:chOff x="839" y="1752"/>
            <a:chExt cx="2994" cy="1569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290" y="1752"/>
              <a:ext cx="635" cy="2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文件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111" y="2387"/>
              <a:ext cx="635" cy="29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记录</a:t>
              </a:r>
              <a:r>
                <a:rPr lang="en-US" altLang="zh-CN" sz="2400" b="1"/>
                <a:t>1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1882" y="2387"/>
              <a:ext cx="635" cy="29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记录</a:t>
              </a:r>
              <a:r>
                <a:rPr lang="en-US" altLang="zh-CN" sz="2400" b="1"/>
                <a:t>2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152" y="2387"/>
              <a:ext cx="681" cy="29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记录</a:t>
              </a:r>
              <a:r>
                <a:rPr lang="en-US" altLang="zh-CN" sz="2400" b="1"/>
                <a:t>m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653" y="238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…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839" y="3027"/>
              <a:ext cx="816" cy="294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数据项</a:t>
              </a:r>
              <a:r>
                <a:rPr lang="en-US" altLang="zh-CN" sz="2400" b="1"/>
                <a:t>1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1791" y="3027"/>
              <a:ext cx="816" cy="294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数据项</a:t>
              </a:r>
              <a:r>
                <a:rPr lang="en-US" altLang="zh-CN" sz="2400" b="1"/>
                <a:t>2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2925" y="3027"/>
              <a:ext cx="816" cy="294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/>
                <a:t>数据项</a:t>
              </a:r>
              <a:r>
                <a:rPr lang="en-US" altLang="zh-CN" sz="2400" b="1"/>
                <a:t>n</a:t>
              </a: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2608" y="302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…</a:t>
              </a: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1449" y="2205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1449" y="2205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3490" y="220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2215" y="220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2608" y="2044"/>
              <a:ext cx="0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2205" y="2684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1282" y="2845"/>
              <a:ext cx="20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277" y="2845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3319" y="284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Oval 23"/>
            <p:cNvSpPr>
              <a:spLocks noChangeArrowheads="1"/>
            </p:cNvSpPr>
            <p:nvPr/>
          </p:nvSpPr>
          <p:spPr bwMode="auto">
            <a:xfrm>
              <a:off x="2190" y="2830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292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文件类型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按用途分</a:t>
            </a:r>
            <a:endParaRPr lang="en-US" altLang="zh-CN" dirty="0" smtClean="0"/>
          </a:p>
          <a:p>
            <a:pPr lvl="1"/>
            <a:r>
              <a:rPr lang="zh-CN" altLang="en-US" dirty="0"/>
              <a:t>系</a:t>
            </a:r>
            <a:r>
              <a:rPr lang="zh-CN" altLang="en-US" dirty="0" smtClean="0"/>
              <a:t>统文件、用户文件、库文件</a:t>
            </a:r>
            <a:endParaRPr lang="en-US" altLang="zh-CN" dirty="0" smtClean="0"/>
          </a:p>
          <a:p>
            <a:r>
              <a:rPr lang="zh-CN" altLang="en-US" dirty="0" smtClean="0"/>
              <a:t>按数据形式分</a:t>
            </a:r>
            <a:endParaRPr lang="en-US" altLang="zh-CN" dirty="0" smtClean="0"/>
          </a:p>
          <a:p>
            <a:pPr lvl="1"/>
            <a:r>
              <a:rPr lang="zh-CN" altLang="en-US" dirty="0"/>
              <a:t>源文</a:t>
            </a:r>
            <a:r>
              <a:rPr lang="zh-CN" altLang="en-US" dirty="0" smtClean="0"/>
              <a:t>件、目标文件、可执行文件</a:t>
            </a:r>
            <a:endParaRPr lang="en-US" altLang="zh-CN" dirty="0" smtClean="0"/>
          </a:p>
          <a:p>
            <a:r>
              <a:rPr lang="zh-CN" altLang="en-US" dirty="0" smtClean="0"/>
              <a:t>按存取控制属性分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只执行文件、只读文件、读写文件</a:t>
            </a:r>
            <a:endParaRPr lang="en-US" altLang="zh-CN" dirty="0" smtClean="0"/>
          </a:p>
          <a:p>
            <a:r>
              <a:rPr lang="zh-CN" altLang="en-US" dirty="0" smtClean="0"/>
              <a:t>按组织形式和处理方式分</a:t>
            </a:r>
            <a:endParaRPr lang="en-US" altLang="zh-CN" dirty="0" smtClean="0"/>
          </a:p>
          <a:p>
            <a:pPr lvl="1"/>
            <a:r>
              <a:rPr lang="zh-CN" altLang="en-US" dirty="0"/>
              <a:t>普</a:t>
            </a:r>
            <a:r>
              <a:rPr lang="zh-CN" altLang="en-US" dirty="0" smtClean="0"/>
              <a:t>通文件：</a:t>
            </a:r>
            <a:r>
              <a:rPr lang="en-US" altLang="zh-CN" dirty="0" smtClean="0"/>
              <a:t>ASCII</a:t>
            </a:r>
            <a:r>
              <a:rPr lang="zh-CN" altLang="en-US" dirty="0" smtClean="0"/>
              <a:t>码或二进制码组成的字符文件</a:t>
            </a:r>
            <a:endParaRPr lang="en-US" altLang="zh-CN" dirty="0" smtClean="0"/>
          </a:p>
          <a:p>
            <a:pPr lvl="1"/>
            <a:r>
              <a:rPr lang="zh-CN" altLang="en-US" dirty="0"/>
              <a:t>目</a:t>
            </a:r>
            <a:r>
              <a:rPr lang="zh-CN" altLang="en-US" dirty="0" smtClean="0"/>
              <a:t>录文件：由文件目录组成</a:t>
            </a:r>
            <a:endParaRPr lang="en-US" altLang="zh-CN" dirty="0" smtClean="0"/>
          </a:p>
          <a:p>
            <a:pPr lvl="1"/>
            <a:r>
              <a:rPr lang="zh-CN" altLang="en-US" dirty="0"/>
              <a:t>特</a:t>
            </a:r>
            <a:r>
              <a:rPr lang="zh-CN" altLang="en-US" dirty="0" smtClean="0"/>
              <a:t>殊文件：系统中各类</a:t>
            </a:r>
            <a:r>
              <a:rPr lang="en-US" altLang="zh-CN" dirty="0" smtClean="0"/>
              <a:t>I/O</a:t>
            </a:r>
            <a:r>
              <a:rPr lang="zh-CN" altLang="en-US" dirty="0" smtClean="0"/>
              <a:t>设备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84FB7-AA47-4606-BCC5-315D92FCCB5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864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文件系统模型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42F1-A930-4337-8283-43AB91973728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250825" y="1988841"/>
            <a:ext cx="5040313" cy="2740027"/>
            <a:chOff x="793" y="1979"/>
            <a:chExt cx="3175" cy="1726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793" y="2561"/>
              <a:ext cx="3175" cy="11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ea typeface="楷体" panose="02010609060101010101" pitchFamily="49" charset="-122"/>
                </a:rPr>
                <a:t>文件系统接口</a:t>
              </a:r>
            </a:p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ea typeface="楷体" panose="02010609060101010101" pitchFamily="49" charset="-122"/>
                </a:rPr>
                <a:t>对对象操纵和管理的软件集合</a:t>
              </a:r>
            </a:p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ea typeface="楷体" panose="02010609060101010101" pitchFamily="49" charset="-122"/>
                </a:rPr>
                <a:t>对象及其属性</a:t>
              </a:r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793" y="2939"/>
              <a:ext cx="3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ea typeface="楷体" panose="02010609060101010101" pitchFamily="49" charset="-122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793" y="3332"/>
              <a:ext cx="3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ea typeface="楷体" panose="02010609060101010101" pitchFamily="49" charset="-122"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1701" y="1979"/>
              <a:ext cx="15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ea typeface="楷体" panose="02010609060101010101" pitchFamily="49" charset="-122"/>
                </a:rPr>
                <a:t>用户（程序）</a:t>
              </a: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1807" y="229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ea typeface="楷体" panose="02010609060101010101" pitchFamily="49" charset="-122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2169" y="229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ea typeface="楷体" panose="02010609060101010101" pitchFamily="49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2533" y="229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ea typeface="楷体" panose="02010609060101010101" pitchFamily="49" charset="-122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2895" y="229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ea typeface="楷体" panose="02010609060101010101" pitchFamily="49" charset="-122"/>
              </a:endParaRPr>
            </a:p>
          </p:txBody>
        </p:sp>
      </p:grpSp>
      <p:sp>
        <p:nvSpPr>
          <p:cNvPr id="16" name="AutoShape 13"/>
          <p:cNvSpPr>
            <a:spLocks noChangeArrowheads="1"/>
          </p:cNvSpPr>
          <p:nvPr/>
        </p:nvSpPr>
        <p:spPr bwMode="auto">
          <a:xfrm>
            <a:off x="5867401" y="2565103"/>
            <a:ext cx="2819400" cy="576262"/>
          </a:xfrm>
          <a:prstGeom prst="wedgeRoundRectCallout">
            <a:avLst>
              <a:gd name="adj1" fmla="val -83417"/>
              <a:gd name="adj2" fmla="val 70111"/>
              <a:gd name="adj3" fmla="val 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000" rIns="18000"/>
          <a:lstStyle/>
          <a:p>
            <a:pPr algn="ctr"/>
            <a:r>
              <a:rPr lang="zh-CN" altLang="en-US" sz="2000" b="1" dirty="0">
                <a:solidFill>
                  <a:srgbClr val="FFFF00"/>
                </a:solidFill>
                <a:ea typeface="楷体" panose="02010609060101010101" pitchFamily="49" charset="-122"/>
              </a:rPr>
              <a:t>命令接口、程序接口</a:t>
            </a:r>
          </a:p>
        </p:txBody>
      </p:sp>
      <p:sp>
        <p:nvSpPr>
          <p:cNvPr id="17" name="AutoShape 14"/>
          <p:cNvSpPr>
            <a:spLocks noChangeArrowheads="1"/>
          </p:cNvSpPr>
          <p:nvPr/>
        </p:nvSpPr>
        <p:spPr bwMode="auto">
          <a:xfrm>
            <a:off x="5364163" y="3430291"/>
            <a:ext cx="3322637" cy="1870918"/>
          </a:xfrm>
          <a:prstGeom prst="wedgeRoundRectCallout">
            <a:avLst>
              <a:gd name="adj1" fmla="val -64556"/>
              <a:gd name="adj2" fmla="val -36995"/>
              <a:gd name="adj3" fmla="val 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000" rIns="18000"/>
          <a:lstStyle/>
          <a:p>
            <a:r>
              <a:rPr lang="zh-CN" altLang="en-US" sz="2000" b="1" dirty="0">
                <a:solidFill>
                  <a:srgbClr val="FFFF00"/>
                </a:solidFill>
                <a:ea typeface="楷体" panose="02010609060101010101" pitchFamily="49" charset="-122"/>
              </a:rPr>
              <a:t>对文件存储空间的管理</a:t>
            </a:r>
          </a:p>
          <a:p>
            <a:r>
              <a:rPr lang="zh-CN" altLang="en-US" sz="2000" b="1" dirty="0">
                <a:solidFill>
                  <a:srgbClr val="FFFF00"/>
                </a:solidFill>
                <a:ea typeface="楷体" panose="02010609060101010101" pitchFamily="49" charset="-122"/>
              </a:rPr>
              <a:t>对文件目录的管理</a:t>
            </a:r>
          </a:p>
          <a:p>
            <a:r>
              <a:rPr lang="zh-CN" altLang="en-US" sz="2000" b="1" dirty="0">
                <a:solidFill>
                  <a:srgbClr val="FFFF00"/>
                </a:solidFill>
                <a:ea typeface="楷体" panose="02010609060101010101" pitchFamily="49" charset="-122"/>
              </a:rPr>
              <a:t>逻辑、物理地址转换机制</a:t>
            </a:r>
          </a:p>
          <a:p>
            <a:r>
              <a:rPr lang="zh-CN" altLang="en-US" sz="2000" b="1" dirty="0">
                <a:solidFill>
                  <a:srgbClr val="FFFF00"/>
                </a:solidFill>
                <a:ea typeface="楷体" panose="02010609060101010101" pitchFamily="49" charset="-122"/>
              </a:rPr>
              <a:t>文件读写管理</a:t>
            </a:r>
          </a:p>
          <a:p>
            <a:r>
              <a:rPr lang="zh-CN" altLang="en-US" sz="2000" b="1" dirty="0">
                <a:solidFill>
                  <a:srgbClr val="FFFF00"/>
                </a:solidFill>
                <a:ea typeface="楷体" panose="02010609060101010101" pitchFamily="49" charset="-122"/>
              </a:rPr>
              <a:t>文件共享与保护</a:t>
            </a: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476375" y="5014615"/>
            <a:ext cx="2736850" cy="863600"/>
          </a:xfrm>
          <a:prstGeom prst="wedgeRoundRectCallout">
            <a:avLst>
              <a:gd name="adj1" fmla="val 42343"/>
              <a:gd name="adj2" fmla="val -107171"/>
              <a:gd name="adj3" fmla="val 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 b="1">
                <a:solidFill>
                  <a:srgbClr val="FFFF00"/>
                </a:solidFill>
                <a:ea typeface="楷体" panose="02010609060101010101" pitchFamily="49" charset="-122"/>
              </a:rPr>
              <a:t>文件、目录、</a:t>
            </a:r>
          </a:p>
          <a:p>
            <a:pPr algn="ctr"/>
            <a:r>
              <a:rPr lang="zh-CN" altLang="en-US" sz="2400" b="1">
                <a:solidFill>
                  <a:srgbClr val="FFFF00"/>
                </a:solidFill>
                <a:ea typeface="楷体" panose="02010609060101010101" pitchFamily="49" charset="-122"/>
              </a:rPr>
              <a:t>磁盘存储空间</a:t>
            </a:r>
          </a:p>
        </p:txBody>
      </p:sp>
    </p:spTree>
    <p:extLst>
      <p:ext uri="{BB962C8B-B14F-4D97-AF65-F5344CB8AC3E}">
        <p14:creationId xmlns:p14="http://schemas.microsoft.com/office/powerpoint/2010/main" val="85151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文件系统层次结构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2D8C-DFB1-4F3B-920A-A25877562A1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250825" y="1916832"/>
            <a:ext cx="5029200" cy="3843338"/>
            <a:chOff x="1073" y="1699"/>
            <a:chExt cx="3168" cy="2421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073" y="3767"/>
              <a:ext cx="1624" cy="3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ea typeface="楷体" panose="02010609060101010101" pitchFamily="49" charset="-122"/>
                </a:rPr>
                <a:t>磁盘设备驱动程序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697" y="3767"/>
              <a:ext cx="1544" cy="3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磁带设备驱动程序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073" y="3413"/>
              <a:ext cx="3168" cy="3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基本文件系统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1073" y="3060"/>
              <a:ext cx="3168" cy="3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基本</a:t>
              </a:r>
              <a:r>
                <a:rPr lang="en-US" altLang="zh-CN" sz="2000" b="1">
                  <a:ea typeface="楷体" panose="02010609060101010101" pitchFamily="49" charset="-122"/>
                </a:rPr>
                <a:t>I/O</a:t>
              </a:r>
              <a:r>
                <a:rPr lang="zh-CN" altLang="en-US" sz="2000" b="1">
                  <a:ea typeface="楷体" panose="02010609060101010101" pitchFamily="49" charset="-122"/>
                </a:rPr>
                <a:t>管理程序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1073" y="2706"/>
              <a:ext cx="3168" cy="3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逻辑</a:t>
              </a:r>
              <a:r>
                <a:rPr lang="en-US" altLang="zh-CN" sz="2000" b="1">
                  <a:ea typeface="楷体" panose="02010609060101010101" pitchFamily="49" charset="-122"/>
                </a:rPr>
                <a:t>I/O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073" y="2353"/>
              <a:ext cx="634" cy="3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堆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707" y="2353"/>
              <a:ext cx="554" cy="3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顺序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2261" y="2353"/>
              <a:ext cx="673" cy="3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索引顺序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2934" y="2353"/>
              <a:ext cx="634" cy="3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索引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568" y="2353"/>
              <a:ext cx="673" cy="3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哈希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1837" y="1699"/>
              <a:ext cx="1623" cy="3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ea typeface="楷体" panose="02010609060101010101" pitchFamily="49" charset="-122"/>
                </a:rPr>
                <a:t>用户程序</a:t>
              </a: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2657" y="2060"/>
              <a:ext cx="0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  <p:sp>
        <p:nvSpPr>
          <p:cNvPr id="20" name="AutoShape 18"/>
          <p:cNvSpPr>
            <a:spLocks noChangeArrowheads="1"/>
          </p:cNvSpPr>
          <p:nvPr/>
        </p:nvSpPr>
        <p:spPr bwMode="auto">
          <a:xfrm>
            <a:off x="5508625" y="5301382"/>
            <a:ext cx="3240088" cy="719138"/>
          </a:xfrm>
          <a:prstGeom prst="wedgeRoundRectCallout">
            <a:avLst>
              <a:gd name="adj1" fmla="val -134028"/>
              <a:gd name="adj2" fmla="val -3199"/>
              <a:gd name="adj3" fmla="val 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000" rIns="18000"/>
          <a:lstStyle/>
          <a:p>
            <a:r>
              <a:rPr lang="zh-CN" altLang="en-US" sz="2000" b="1">
                <a:solidFill>
                  <a:srgbClr val="FFFF00"/>
                </a:solidFill>
                <a:ea typeface="楷体" panose="02010609060101010101" pitchFamily="49" charset="-122"/>
              </a:rPr>
              <a:t>负责启动该设备上的</a:t>
            </a:r>
            <a:r>
              <a:rPr lang="en-US" altLang="zh-CN" sz="2000" b="1">
                <a:solidFill>
                  <a:srgbClr val="FFFF00"/>
                </a:solidFill>
                <a:ea typeface="楷体" panose="02010609060101010101" pitchFamily="49" charset="-122"/>
              </a:rPr>
              <a:t>I/O</a:t>
            </a:r>
            <a:r>
              <a:rPr lang="zh-CN" altLang="en-US" sz="2000" b="1">
                <a:solidFill>
                  <a:srgbClr val="FFFF00"/>
                </a:solidFill>
                <a:ea typeface="楷体" panose="02010609060101010101" pitchFamily="49" charset="-122"/>
              </a:rPr>
              <a:t>操作，处理</a:t>
            </a:r>
            <a:r>
              <a:rPr lang="en-US" altLang="zh-CN" sz="2000" b="1">
                <a:solidFill>
                  <a:srgbClr val="FFFF00"/>
                </a:solidFill>
                <a:ea typeface="楷体" panose="02010609060101010101" pitchFamily="49" charset="-122"/>
              </a:rPr>
              <a:t>I/O</a:t>
            </a:r>
            <a:r>
              <a:rPr lang="zh-CN" altLang="en-US" sz="2000" b="1">
                <a:solidFill>
                  <a:srgbClr val="FFFF00"/>
                </a:solidFill>
                <a:ea typeface="楷体" panose="02010609060101010101" pitchFamily="49" charset="-122"/>
              </a:rPr>
              <a:t>请求的完成</a:t>
            </a:r>
          </a:p>
        </p:txBody>
      </p:sp>
      <p:sp>
        <p:nvSpPr>
          <p:cNvPr id="21" name="AutoShape 19"/>
          <p:cNvSpPr>
            <a:spLocks noChangeArrowheads="1"/>
          </p:cNvSpPr>
          <p:nvPr/>
        </p:nvSpPr>
        <p:spPr bwMode="auto">
          <a:xfrm>
            <a:off x="5003800" y="4652095"/>
            <a:ext cx="3960813" cy="504825"/>
          </a:xfrm>
          <a:prstGeom prst="wedgeRoundRectCallout">
            <a:avLst>
              <a:gd name="adj1" fmla="val -64671"/>
              <a:gd name="adj2" fmla="val 8176"/>
              <a:gd name="adj3" fmla="val 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000" rIns="18000"/>
          <a:lstStyle/>
          <a:p>
            <a:r>
              <a:rPr lang="zh-CN" altLang="en-US" sz="2000" b="1">
                <a:solidFill>
                  <a:srgbClr val="FFFF00"/>
                </a:solidFill>
                <a:ea typeface="楷体" panose="02010609060101010101" pitchFamily="49" charset="-122"/>
              </a:rPr>
              <a:t>处理与磁盘或磁带交换的数据块</a:t>
            </a:r>
          </a:p>
        </p:txBody>
      </p:sp>
      <p:sp>
        <p:nvSpPr>
          <p:cNvPr id="22" name="AutoShape 20"/>
          <p:cNvSpPr>
            <a:spLocks noChangeArrowheads="1"/>
          </p:cNvSpPr>
          <p:nvPr/>
        </p:nvSpPr>
        <p:spPr bwMode="auto">
          <a:xfrm>
            <a:off x="5148263" y="4004395"/>
            <a:ext cx="3816350" cy="431800"/>
          </a:xfrm>
          <a:prstGeom prst="wedgeRoundRectCallout">
            <a:avLst>
              <a:gd name="adj1" fmla="val -66056"/>
              <a:gd name="adj2" fmla="val 37500"/>
              <a:gd name="adj3" fmla="val 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000" rIns="18000"/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anose="02010609060101010101" pitchFamily="49" charset="-122"/>
              </a:rPr>
              <a:t>负责所有文件</a:t>
            </a:r>
            <a:r>
              <a:rPr lang="en-US" altLang="zh-CN" sz="2000" b="1">
                <a:solidFill>
                  <a:srgbClr val="FFFF00"/>
                </a:solidFill>
                <a:ea typeface="楷体" panose="02010609060101010101" pitchFamily="49" charset="-122"/>
              </a:rPr>
              <a:t>I/O</a:t>
            </a:r>
            <a:r>
              <a:rPr lang="zh-CN" altLang="en-US" sz="2000" b="1">
                <a:solidFill>
                  <a:srgbClr val="FFFF00"/>
                </a:solidFill>
                <a:ea typeface="楷体" panose="02010609060101010101" pitchFamily="49" charset="-122"/>
              </a:rPr>
              <a:t>的开始或结束</a:t>
            </a:r>
          </a:p>
        </p:txBody>
      </p:sp>
      <p:sp>
        <p:nvSpPr>
          <p:cNvPr id="23" name="AutoShape 21"/>
          <p:cNvSpPr>
            <a:spLocks noChangeArrowheads="1"/>
          </p:cNvSpPr>
          <p:nvPr/>
        </p:nvSpPr>
        <p:spPr bwMode="auto">
          <a:xfrm>
            <a:off x="4787900" y="3285257"/>
            <a:ext cx="4248150" cy="504825"/>
          </a:xfrm>
          <a:prstGeom prst="wedgeRoundRectCallout">
            <a:avLst>
              <a:gd name="adj1" fmla="val -64088"/>
              <a:gd name="adj2" fmla="val 67611"/>
              <a:gd name="adj3" fmla="val 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000" rIns="18000"/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ea typeface="楷体" panose="02010609060101010101" pitchFamily="49" charset="-122"/>
              </a:rPr>
              <a:t>使用户和应用程序能够访问到记录</a:t>
            </a:r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4643438" y="2132732"/>
            <a:ext cx="4321175" cy="720725"/>
          </a:xfrm>
          <a:prstGeom prst="wedgeRoundRectCallout">
            <a:avLst>
              <a:gd name="adj1" fmla="val -81301"/>
              <a:gd name="adj2" fmla="val 91190"/>
              <a:gd name="adj3" fmla="val 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000" rIns="18000"/>
          <a:lstStyle/>
          <a:p>
            <a:r>
              <a:rPr lang="zh-CN" altLang="en-US" sz="2000" b="1" dirty="0">
                <a:solidFill>
                  <a:srgbClr val="FFFF00"/>
                </a:solidFill>
                <a:ea typeface="楷体" panose="02010609060101010101" pitchFamily="49" charset="-122"/>
              </a:rPr>
              <a:t>在应用程序和文件系统及保存数据的设备之间提供了一种标准接口</a:t>
            </a:r>
          </a:p>
        </p:txBody>
      </p:sp>
      <p:sp>
        <p:nvSpPr>
          <p:cNvPr id="25" name="AutoShape 24"/>
          <p:cNvSpPr>
            <a:spLocks noChangeArrowheads="1"/>
          </p:cNvSpPr>
          <p:nvPr/>
        </p:nvSpPr>
        <p:spPr bwMode="auto">
          <a:xfrm>
            <a:off x="250825" y="4075832"/>
            <a:ext cx="1079500" cy="1728788"/>
          </a:xfrm>
          <a:prstGeom prst="star32">
            <a:avLst>
              <a:gd name="adj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>
                <a:ea typeface="楷体" panose="02010609060101010101" pitchFamily="49" charset="-122"/>
              </a:rPr>
              <a:t>数</a:t>
            </a:r>
          </a:p>
          <a:p>
            <a:pPr algn="ctr"/>
            <a:r>
              <a:rPr lang="zh-CN" altLang="en-US" sz="2400" b="1">
                <a:ea typeface="楷体" panose="02010609060101010101" pitchFamily="49" charset="-122"/>
              </a:rPr>
              <a:t>据</a:t>
            </a:r>
          </a:p>
          <a:p>
            <a:pPr algn="ctr"/>
            <a:r>
              <a:rPr lang="zh-CN" altLang="en-US" sz="2400" b="1">
                <a:ea typeface="楷体" panose="02010609060101010101" pitchFamily="49" charset="-122"/>
              </a:rPr>
              <a:t>块</a:t>
            </a:r>
          </a:p>
        </p:txBody>
      </p:sp>
      <p:sp>
        <p:nvSpPr>
          <p:cNvPr id="26" name="AutoShape 25"/>
          <p:cNvSpPr>
            <a:spLocks noChangeArrowheads="1"/>
          </p:cNvSpPr>
          <p:nvPr/>
        </p:nvSpPr>
        <p:spPr bwMode="auto">
          <a:xfrm>
            <a:off x="900113" y="2996332"/>
            <a:ext cx="935037" cy="1152525"/>
          </a:xfrm>
          <a:prstGeom prst="star32">
            <a:avLst>
              <a:gd name="adj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>
                <a:ea typeface="楷体" panose="02010609060101010101" pitchFamily="49" charset="-122"/>
              </a:rPr>
              <a:t>记</a:t>
            </a:r>
          </a:p>
          <a:p>
            <a:pPr algn="ctr"/>
            <a:r>
              <a:rPr lang="zh-CN" altLang="en-US" sz="2400" b="1">
                <a:ea typeface="楷体" panose="02010609060101010101" pitchFamily="49" charset="-122"/>
              </a:rPr>
              <a:t>录</a:t>
            </a:r>
          </a:p>
        </p:txBody>
      </p:sp>
    </p:spTree>
    <p:extLst>
      <p:ext uri="{BB962C8B-B14F-4D97-AF65-F5344CB8AC3E}">
        <p14:creationId xmlns:p14="http://schemas.microsoft.com/office/powerpoint/2010/main" val="244146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文件系统层次结构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FE7F-E3A9-486F-81F2-573C2B53546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grpSp>
        <p:nvGrpSpPr>
          <p:cNvPr id="7" name="Group 73"/>
          <p:cNvGrpSpPr>
            <a:grpSpLocks/>
          </p:cNvGrpSpPr>
          <p:nvPr/>
        </p:nvGrpSpPr>
        <p:grpSpPr bwMode="auto">
          <a:xfrm>
            <a:off x="2096931" y="2063520"/>
            <a:ext cx="792163" cy="2600325"/>
            <a:chOff x="1322" y="1016"/>
            <a:chExt cx="499" cy="1638"/>
          </a:xfrm>
        </p:grpSpPr>
        <p:sp>
          <p:nvSpPr>
            <p:cNvPr id="8" name="Rectangle 74"/>
            <p:cNvSpPr>
              <a:spLocks noChangeArrowheads="1"/>
            </p:cNvSpPr>
            <p:nvPr/>
          </p:nvSpPr>
          <p:spPr bwMode="auto">
            <a:xfrm>
              <a:off x="1403" y="1429"/>
              <a:ext cx="363" cy="122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" name="Text Box 75"/>
            <p:cNvSpPr txBox="1">
              <a:spLocks noChangeArrowheads="1"/>
            </p:cNvSpPr>
            <p:nvPr/>
          </p:nvSpPr>
          <p:spPr bwMode="auto">
            <a:xfrm>
              <a:off x="1322" y="1016"/>
              <a:ext cx="499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文件结构</a:t>
              </a:r>
            </a:p>
          </p:txBody>
        </p:sp>
      </p:grpSp>
      <p:sp>
        <p:nvSpPr>
          <p:cNvPr id="10" name="Text Box 76"/>
          <p:cNvSpPr txBox="1">
            <a:spLocks noChangeArrowheads="1"/>
          </p:cNvSpPr>
          <p:nvPr/>
        </p:nvSpPr>
        <p:spPr bwMode="auto">
          <a:xfrm>
            <a:off x="122081" y="3335108"/>
            <a:ext cx="15843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2000" b="1">
                <a:ea typeface="楷体" panose="02010609060101010101" pitchFamily="49" charset="-122"/>
              </a:rPr>
              <a:t>用户和程序命令</a:t>
            </a:r>
          </a:p>
        </p:txBody>
      </p:sp>
      <p:grpSp>
        <p:nvGrpSpPr>
          <p:cNvPr id="11" name="Group 77"/>
          <p:cNvGrpSpPr>
            <a:grpSpLocks/>
          </p:cNvGrpSpPr>
          <p:nvPr/>
        </p:nvGrpSpPr>
        <p:grpSpPr bwMode="auto">
          <a:xfrm>
            <a:off x="914244" y="2687408"/>
            <a:ext cx="1728787" cy="2640012"/>
            <a:chOff x="577" y="1409"/>
            <a:chExt cx="1089" cy="1663"/>
          </a:xfrm>
        </p:grpSpPr>
        <p:sp>
          <p:nvSpPr>
            <p:cNvPr id="12" name="Text Box 78"/>
            <p:cNvSpPr txBox="1">
              <a:spLocks noChangeArrowheads="1"/>
            </p:cNvSpPr>
            <p:nvPr/>
          </p:nvSpPr>
          <p:spPr bwMode="auto">
            <a:xfrm>
              <a:off x="819" y="2049"/>
              <a:ext cx="68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操作，文件名</a:t>
              </a:r>
            </a:p>
          </p:txBody>
        </p:sp>
        <p:sp>
          <p:nvSpPr>
            <p:cNvPr id="13" name="Text Box 79"/>
            <p:cNvSpPr txBox="1">
              <a:spLocks noChangeArrowheads="1"/>
            </p:cNvSpPr>
            <p:nvPr/>
          </p:nvSpPr>
          <p:spPr bwMode="auto">
            <a:xfrm>
              <a:off x="667" y="1409"/>
              <a:ext cx="8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目录管理</a:t>
              </a:r>
            </a:p>
          </p:txBody>
        </p:sp>
        <p:sp>
          <p:nvSpPr>
            <p:cNvPr id="14" name="Text Box 80"/>
            <p:cNvSpPr txBox="1">
              <a:spLocks noChangeArrowheads="1"/>
            </p:cNvSpPr>
            <p:nvPr/>
          </p:nvSpPr>
          <p:spPr bwMode="auto">
            <a:xfrm>
              <a:off x="577" y="2860"/>
              <a:ext cx="108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用户访问控制</a:t>
              </a:r>
            </a:p>
          </p:txBody>
        </p:sp>
        <p:sp>
          <p:nvSpPr>
            <p:cNvPr id="15" name="Line 81"/>
            <p:cNvSpPr>
              <a:spLocks noChangeShapeType="1"/>
            </p:cNvSpPr>
            <p:nvPr/>
          </p:nvSpPr>
          <p:spPr bwMode="auto">
            <a:xfrm>
              <a:off x="940" y="2044"/>
              <a:ext cx="4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82"/>
            <p:cNvSpPr>
              <a:spLocks noChangeShapeType="1"/>
            </p:cNvSpPr>
            <p:nvPr/>
          </p:nvSpPr>
          <p:spPr bwMode="auto">
            <a:xfrm>
              <a:off x="1121" y="1590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83"/>
            <p:cNvSpPr>
              <a:spLocks noChangeShapeType="1"/>
            </p:cNvSpPr>
            <p:nvPr/>
          </p:nvSpPr>
          <p:spPr bwMode="auto">
            <a:xfrm flipV="1">
              <a:off x="1126" y="2361"/>
              <a:ext cx="0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  <p:grpSp>
        <p:nvGrpSpPr>
          <p:cNvPr id="18" name="Group 84"/>
          <p:cNvGrpSpPr>
            <a:grpSpLocks/>
          </p:cNvGrpSpPr>
          <p:nvPr/>
        </p:nvGrpSpPr>
        <p:grpSpPr bwMode="auto">
          <a:xfrm>
            <a:off x="2625569" y="2461983"/>
            <a:ext cx="1296987" cy="1854200"/>
            <a:chOff x="1655" y="1267"/>
            <a:chExt cx="817" cy="1168"/>
          </a:xfrm>
        </p:grpSpPr>
        <p:sp>
          <p:nvSpPr>
            <p:cNvPr id="19" name="Text Box 85"/>
            <p:cNvSpPr txBox="1">
              <a:spLocks noChangeArrowheads="1"/>
            </p:cNvSpPr>
            <p:nvPr/>
          </p:nvSpPr>
          <p:spPr bwMode="auto">
            <a:xfrm>
              <a:off x="1781" y="1267"/>
              <a:ext cx="499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访问方法</a:t>
              </a:r>
            </a:p>
          </p:txBody>
        </p:sp>
        <p:sp>
          <p:nvSpPr>
            <p:cNvPr id="20" name="Text Box 86"/>
            <p:cNvSpPr txBox="1">
              <a:spLocks noChangeArrowheads="1"/>
            </p:cNvSpPr>
            <p:nvPr/>
          </p:nvSpPr>
          <p:spPr bwMode="auto">
            <a:xfrm>
              <a:off x="1655" y="2069"/>
              <a:ext cx="81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文件操作函数</a:t>
              </a:r>
            </a:p>
          </p:txBody>
        </p:sp>
        <p:sp>
          <p:nvSpPr>
            <p:cNvPr id="21" name="Line 87"/>
            <p:cNvSpPr>
              <a:spLocks noChangeShapeType="1"/>
            </p:cNvSpPr>
            <p:nvPr/>
          </p:nvSpPr>
          <p:spPr bwMode="auto">
            <a:xfrm>
              <a:off x="1756" y="2044"/>
              <a:ext cx="6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2" name="Line 88"/>
            <p:cNvSpPr>
              <a:spLocks noChangeShapeType="1"/>
            </p:cNvSpPr>
            <p:nvPr/>
          </p:nvSpPr>
          <p:spPr bwMode="auto">
            <a:xfrm>
              <a:off x="2028" y="1590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  <p:grpSp>
        <p:nvGrpSpPr>
          <p:cNvPr id="23" name="Group 89"/>
          <p:cNvGrpSpPr>
            <a:grpSpLocks/>
          </p:cNvGrpSpPr>
          <p:nvPr/>
        </p:nvGrpSpPr>
        <p:grpSpPr bwMode="auto">
          <a:xfrm>
            <a:off x="3714594" y="2071458"/>
            <a:ext cx="792162" cy="2840037"/>
            <a:chOff x="2341" y="1021"/>
            <a:chExt cx="499" cy="1789"/>
          </a:xfrm>
        </p:grpSpPr>
        <p:sp>
          <p:nvSpPr>
            <p:cNvPr id="24" name="Text Box 90"/>
            <p:cNvSpPr txBox="1">
              <a:spLocks noChangeArrowheads="1"/>
            </p:cNvSpPr>
            <p:nvPr/>
          </p:nvSpPr>
          <p:spPr bwMode="auto">
            <a:xfrm>
              <a:off x="2341" y="1021"/>
              <a:ext cx="49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记录</a:t>
              </a:r>
            </a:p>
          </p:txBody>
        </p:sp>
        <p:sp>
          <p:nvSpPr>
            <p:cNvPr id="25" name="Rectangle 91"/>
            <p:cNvSpPr>
              <a:spLocks noChangeArrowheads="1"/>
            </p:cNvSpPr>
            <p:nvPr/>
          </p:nvSpPr>
          <p:spPr bwMode="auto">
            <a:xfrm>
              <a:off x="2432" y="1269"/>
              <a:ext cx="317" cy="1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6" name="Rectangle 92"/>
            <p:cNvSpPr>
              <a:spLocks noChangeArrowheads="1"/>
            </p:cNvSpPr>
            <p:nvPr/>
          </p:nvSpPr>
          <p:spPr bwMode="auto">
            <a:xfrm>
              <a:off x="2432" y="1541"/>
              <a:ext cx="317" cy="1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Rectangle 93"/>
            <p:cNvSpPr>
              <a:spLocks noChangeArrowheads="1"/>
            </p:cNvSpPr>
            <p:nvPr/>
          </p:nvSpPr>
          <p:spPr bwMode="auto">
            <a:xfrm>
              <a:off x="2432" y="1813"/>
              <a:ext cx="317" cy="1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Rectangle 94"/>
            <p:cNvSpPr>
              <a:spLocks noChangeArrowheads="1"/>
            </p:cNvSpPr>
            <p:nvPr/>
          </p:nvSpPr>
          <p:spPr bwMode="auto">
            <a:xfrm>
              <a:off x="2432" y="2085"/>
              <a:ext cx="317" cy="1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Rectangle 95"/>
            <p:cNvSpPr>
              <a:spLocks noChangeArrowheads="1"/>
            </p:cNvSpPr>
            <p:nvPr/>
          </p:nvSpPr>
          <p:spPr bwMode="auto">
            <a:xfrm>
              <a:off x="2432" y="2357"/>
              <a:ext cx="317" cy="1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Rectangle 96"/>
            <p:cNvSpPr>
              <a:spLocks noChangeArrowheads="1"/>
            </p:cNvSpPr>
            <p:nvPr/>
          </p:nvSpPr>
          <p:spPr bwMode="auto">
            <a:xfrm>
              <a:off x="2432" y="2629"/>
              <a:ext cx="317" cy="1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  <p:grpSp>
        <p:nvGrpSpPr>
          <p:cNvPr id="31" name="Group 97"/>
          <p:cNvGrpSpPr>
            <a:grpSpLocks/>
          </p:cNvGrpSpPr>
          <p:nvPr/>
        </p:nvGrpSpPr>
        <p:grpSpPr bwMode="auto">
          <a:xfrm>
            <a:off x="4594069" y="2885845"/>
            <a:ext cx="792162" cy="762000"/>
            <a:chOff x="2895" y="1534"/>
            <a:chExt cx="499" cy="480"/>
          </a:xfrm>
        </p:grpSpPr>
        <p:sp>
          <p:nvSpPr>
            <p:cNvPr id="32" name="Text Box 98"/>
            <p:cNvSpPr txBox="1">
              <a:spLocks noChangeArrowheads="1"/>
            </p:cNvSpPr>
            <p:nvPr/>
          </p:nvSpPr>
          <p:spPr bwMode="auto">
            <a:xfrm>
              <a:off x="2895" y="1534"/>
              <a:ext cx="49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组块</a:t>
              </a:r>
            </a:p>
          </p:txBody>
        </p:sp>
        <p:sp>
          <p:nvSpPr>
            <p:cNvPr id="33" name="Line 99"/>
            <p:cNvSpPr>
              <a:spLocks noChangeShapeType="1"/>
            </p:cNvSpPr>
            <p:nvPr/>
          </p:nvSpPr>
          <p:spPr bwMode="auto">
            <a:xfrm>
              <a:off x="3162" y="1742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  <p:grpSp>
        <p:nvGrpSpPr>
          <p:cNvPr id="34" name="Group 100"/>
          <p:cNvGrpSpPr>
            <a:grpSpLocks/>
          </p:cNvGrpSpPr>
          <p:nvPr/>
        </p:nvGrpSpPr>
        <p:grpSpPr bwMode="auto">
          <a:xfrm>
            <a:off x="5162394" y="2039708"/>
            <a:ext cx="3713162" cy="2919412"/>
            <a:chOff x="3253" y="1001"/>
            <a:chExt cx="2339" cy="1839"/>
          </a:xfrm>
        </p:grpSpPr>
        <p:sp>
          <p:nvSpPr>
            <p:cNvPr id="35" name="Text Box 101"/>
            <p:cNvSpPr txBox="1">
              <a:spLocks noChangeArrowheads="1"/>
            </p:cNvSpPr>
            <p:nvPr/>
          </p:nvSpPr>
          <p:spPr bwMode="auto">
            <a:xfrm>
              <a:off x="3253" y="1001"/>
              <a:ext cx="104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主存缓冲区中的物理快</a:t>
              </a:r>
            </a:p>
          </p:txBody>
        </p:sp>
        <p:sp>
          <p:nvSpPr>
            <p:cNvPr id="36" name="Text Box 102"/>
            <p:cNvSpPr txBox="1">
              <a:spLocks noChangeArrowheads="1"/>
            </p:cNvSpPr>
            <p:nvPr/>
          </p:nvSpPr>
          <p:spPr bwMode="auto">
            <a:xfrm>
              <a:off x="4182" y="1001"/>
              <a:ext cx="104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辅存 </a:t>
              </a:r>
              <a:r>
                <a:rPr lang="en-US" altLang="zh-CN" sz="2000" b="1">
                  <a:ea typeface="楷体" panose="02010609060101010101" pitchFamily="49" charset="-122"/>
                </a:rPr>
                <a:t>(</a:t>
              </a:r>
              <a:r>
                <a:rPr lang="zh-CN" altLang="en-US" sz="2000" b="1">
                  <a:ea typeface="楷体" panose="02010609060101010101" pitchFamily="49" charset="-122"/>
                </a:rPr>
                <a:t>磁盘</a:t>
              </a:r>
              <a:r>
                <a:rPr lang="en-US" altLang="zh-CN" sz="2000" b="1">
                  <a:ea typeface="楷体" panose="02010609060101010101" pitchFamily="49" charset="-122"/>
                </a:rPr>
                <a:t>)</a:t>
              </a:r>
              <a:r>
                <a:rPr lang="zh-CN" altLang="en-US" sz="2000" b="1">
                  <a:ea typeface="楷体" panose="02010609060101010101" pitchFamily="49" charset="-122"/>
                </a:rPr>
                <a:t>中的物理快</a:t>
              </a:r>
            </a:p>
          </p:txBody>
        </p:sp>
        <p:sp>
          <p:nvSpPr>
            <p:cNvPr id="37" name="Text Box 103"/>
            <p:cNvSpPr txBox="1">
              <a:spLocks noChangeArrowheads="1"/>
            </p:cNvSpPr>
            <p:nvPr/>
          </p:nvSpPr>
          <p:spPr bwMode="auto">
            <a:xfrm>
              <a:off x="3843" y="1570"/>
              <a:ext cx="8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磁盘调度</a:t>
              </a:r>
            </a:p>
          </p:txBody>
        </p:sp>
        <p:sp>
          <p:nvSpPr>
            <p:cNvPr id="38" name="Text Box 104"/>
            <p:cNvSpPr txBox="1">
              <a:spLocks noChangeArrowheads="1"/>
            </p:cNvSpPr>
            <p:nvPr/>
          </p:nvSpPr>
          <p:spPr bwMode="auto">
            <a:xfrm>
              <a:off x="3848" y="2458"/>
              <a:ext cx="8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文件分配</a:t>
              </a:r>
            </a:p>
          </p:txBody>
        </p:sp>
        <p:sp>
          <p:nvSpPr>
            <p:cNvPr id="39" name="Text Box 105"/>
            <p:cNvSpPr txBox="1">
              <a:spLocks noChangeArrowheads="1"/>
            </p:cNvSpPr>
            <p:nvPr/>
          </p:nvSpPr>
          <p:spPr bwMode="auto">
            <a:xfrm>
              <a:off x="4775" y="2095"/>
              <a:ext cx="81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000" b="1">
                  <a:ea typeface="楷体" panose="02010609060101010101" pitchFamily="49" charset="-122"/>
                </a:rPr>
                <a:t>自由空间管理</a:t>
              </a:r>
            </a:p>
          </p:txBody>
        </p:sp>
        <p:sp>
          <p:nvSpPr>
            <p:cNvPr id="40" name="Rectangle 106"/>
            <p:cNvSpPr>
              <a:spLocks noChangeArrowheads="1"/>
            </p:cNvSpPr>
            <p:nvPr/>
          </p:nvSpPr>
          <p:spPr bwMode="auto">
            <a:xfrm>
              <a:off x="3666" y="1364"/>
              <a:ext cx="272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Rectangle 107"/>
            <p:cNvSpPr>
              <a:spLocks noChangeArrowheads="1"/>
            </p:cNvSpPr>
            <p:nvPr/>
          </p:nvSpPr>
          <p:spPr bwMode="auto">
            <a:xfrm>
              <a:off x="4590" y="1364"/>
              <a:ext cx="272" cy="272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2" name="Rectangle 108"/>
            <p:cNvSpPr>
              <a:spLocks noChangeArrowheads="1"/>
            </p:cNvSpPr>
            <p:nvPr/>
          </p:nvSpPr>
          <p:spPr bwMode="auto">
            <a:xfrm>
              <a:off x="3671" y="1948"/>
              <a:ext cx="272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3" name="Rectangle 109"/>
            <p:cNvSpPr>
              <a:spLocks noChangeArrowheads="1"/>
            </p:cNvSpPr>
            <p:nvPr/>
          </p:nvSpPr>
          <p:spPr bwMode="auto">
            <a:xfrm>
              <a:off x="4595" y="1948"/>
              <a:ext cx="272" cy="272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4" name="Rectangle 110"/>
            <p:cNvSpPr>
              <a:spLocks noChangeArrowheads="1"/>
            </p:cNvSpPr>
            <p:nvPr/>
          </p:nvSpPr>
          <p:spPr bwMode="auto">
            <a:xfrm>
              <a:off x="3681" y="2568"/>
              <a:ext cx="272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5" name="Rectangle 111"/>
            <p:cNvSpPr>
              <a:spLocks noChangeArrowheads="1"/>
            </p:cNvSpPr>
            <p:nvPr/>
          </p:nvSpPr>
          <p:spPr bwMode="auto">
            <a:xfrm>
              <a:off x="4605" y="2568"/>
              <a:ext cx="272" cy="272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6" name="Line 112"/>
            <p:cNvSpPr>
              <a:spLocks noChangeShapeType="1"/>
            </p:cNvSpPr>
            <p:nvPr/>
          </p:nvSpPr>
          <p:spPr bwMode="auto">
            <a:xfrm>
              <a:off x="3943" y="2079"/>
              <a:ext cx="6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7" name="Line 113"/>
            <p:cNvSpPr>
              <a:spLocks noChangeShapeType="1"/>
            </p:cNvSpPr>
            <p:nvPr/>
          </p:nvSpPr>
          <p:spPr bwMode="auto">
            <a:xfrm>
              <a:off x="4251" y="1726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Text Box 114"/>
            <p:cNvSpPr txBox="1">
              <a:spLocks noChangeArrowheads="1"/>
            </p:cNvSpPr>
            <p:nvPr/>
          </p:nvSpPr>
          <p:spPr bwMode="auto">
            <a:xfrm>
              <a:off x="4024" y="2069"/>
              <a:ext cx="49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2000" b="1">
                  <a:ea typeface="楷体" panose="02010609060101010101" pitchFamily="49" charset="-122"/>
                </a:rPr>
                <a:t>I/O</a:t>
              </a:r>
            </a:p>
          </p:txBody>
        </p:sp>
        <p:sp>
          <p:nvSpPr>
            <p:cNvPr id="49" name="Line 115"/>
            <p:cNvSpPr>
              <a:spLocks noChangeShapeType="1"/>
            </p:cNvSpPr>
            <p:nvPr/>
          </p:nvSpPr>
          <p:spPr bwMode="auto">
            <a:xfrm flipV="1">
              <a:off x="4261" y="2225"/>
              <a:ext cx="0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0" name="Line 116"/>
            <p:cNvSpPr>
              <a:spLocks noChangeShapeType="1"/>
            </p:cNvSpPr>
            <p:nvPr/>
          </p:nvSpPr>
          <p:spPr bwMode="auto">
            <a:xfrm flipH="1">
              <a:off x="4870" y="2074"/>
              <a:ext cx="6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892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什么是文件与文件系统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FFC000"/>
                </a:solidFill>
              </a:rPr>
              <a:t>文件的逻辑结构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外存分配方式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目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录管理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件存储空间的管理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件的共享与保护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数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据一致性检查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DEB31-E225-453C-8570-DAD3B9A464CC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933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逻辑结构与物理结构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按文件的组织结构分类</a:t>
            </a:r>
            <a:endParaRPr lang="en-US" altLang="zh-CN" dirty="0" smtClean="0"/>
          </a:p>
          <a:p>
            <a:pPr lvl="1"/>
            <a:r>
              <a:rPr lang="zh-CN" altLang="en-US" dirty="0"/>
              <a:t>逻</a:t>
            </a:r>
            <a:r>
              <a:rPr lang="zh-CN" altLang="en-US" dirty="0" smtClean="0"/>
              <a:t>辑结构：从用户观点出发观察到的文件组织</a:t>
            </a:r>
            <a:endParaRPr lang="en-US" altLang="zh-CN" dirty="0" smtClean="0"/>
          </a:p>
          <a:p>
            <a:pPr lvl="1"/>
            <a:r>
              <a:rPr lang="zh-CN" altLang="en-US" dirty="0"/>
              <a:t>物</a:t>
            </a:r>
            <a:r>
              <a:rPr lang="zh-CN" altLang="en-US" dirty="0" smtClean="0"/>
              <a:t>理结构：文件的存储结构，即文件在外存的存储组织形式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A8F4-2493-4607-8658-098A55DB524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56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逻辑结构与物理结构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8A8C-F104-4186-A69B-1A5207E75D9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250825" y="1628800"/>
            <a:ext cx="8569325" cy="4476749"/>
            <a:chOff x="22" y="1344"/>
            <a:chExt cx="5398" cy="2820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22" y="2786"/>
              <a:ext cx="154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文件组织结构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497" y="2063"/>
              <a:ext cx="10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逻辑结构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1519" y="3530"/>
              <a:ext cx="10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物理结构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2564" y="1711"/>
              <a:ext cx="12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有结构文件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571" y="2398"/>
              <a:ext cx="1270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无结构文件</a:t>
              </a:r>
            </a:p>
            <a:p>
              <a:pPr>
                <a:spcBef>
                  <a:spcPct val="50000"/>
                </a:spcBef>
              </a:pP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累积文件</a:t>
              </a:r>
            </a:p>
          </p:txBody>
        </p:sp>
        <p:sp>
          <p:nvSpPr>
            <p:cNvPr id="13" name="AutoShape 11"/>
            <p:cNvSpPr>
              <a:spLocks/>
            </p:cNvSpPr>
            <p:nvPr/>
          </p:nvSpPr>
          <p:spPr bwMode="auto">
            <a:xfrm>
              <a:off x="1429" y="2302"/>
              <a:ext cx="111" cy="1355"/>
            </a:xfrm>
            <a:prstGeom prst="leftBrace">
              <a:avLst>
                <a:gd name="adj1" fmla="val 10172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3884" y="1344"/>
              <a:ext cx="10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顺序文件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884" y="1719"/>
              <a:ext cx="15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索引顺序文件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3887" y="2051"/>
              <a:ext cx="10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索引文件</a:t>
              </a:r>
            </a:p>
          </p:txBody>
        </p:sp>
        <p:sp>
          <p:nvSpPr>
            <p:cNvPr id="17" name="AutoShape 15"/>
            <p:cNvSpPr>
              <a:spLocks/>
            </p:cNvSpPr>
            <p:nvPr/>
          </p:nvSpPr>
          <p:spPr bwMode="auto">
            <a:xfrm>
              <a:off x="3813" y="1518"/>
              <a:ext cx="123" cy="776"/>
            </a:xfrm>
            <a:prstGeom prst="leftBrace">
              <a:avLst>
                <a:gd name="adj1" fmla="val 5257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AutoShape 16"/>
            <p:cNvSpPr>
              <a:spLocks/>
            </p:cNvSpPr>
            <p:nvPr/>
          </p:nvSpPr>
          <p:spPr bwMode="auto">
            <a:xfrm>
              <a:off x="2513" y="1907"/>
              <a:ext cx="140" cy="1069"/>
            </a:xfrm>
            <a:prstGeom prst="leftBrace">
              <a:avLst>
                <a:gd name="adj1" fmla="val 6363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2595" y="3873"/>
              <a:ext cx="10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索引结构</a:t>
              </a: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595" y="3198"/>
              <a:ext cx="10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连续结构</a:t>
              </a:r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2595" y="3542"/>
              <a:ext cx="10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链接</a:t>
              </a:r>
              <a:r>
                <a:rPr kumimoji="0" lang="zh-CN" altLang="en-US" sz="2400" b="1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结</a:t>
              </a: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构</a:t>
              </a:r>
            </a:p>
          </p:txBody>
        </p:sp>
        <p:sp>
          <p:nvSpPr>
            <p:cNvPr id="22" name="AutoShape 20"/>
            <p:cNvSpPr>
              <a:spLocks/>
            </p:cNvSpPr>
            <p:nvPr/>
          </p:nvSpPr>
          <p:spPr bwMode="auto">
            <a:xfrm>
              <a:off x="2524" y="3342"/>
              <a:ext cx="124" cy="776"/>
            </a:xfrm>
            <a:prstGeom prst="leftBrace">
              <a:avLst>
                <a:gd name="adj1" fmla="val 5215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921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无结构文件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b="1" dirty="0"/>
              <a:t>文件体为</a:t>
            </a:r>
            <a:r>
              <a:rPr lang="zh-CN" altLang="en-US" sz="2400" b="1" dirty="0">
                <a:solidFill>
                  <a:srgbClr val="0000FF"/>
                </a:solidFill>
              </a:rPr>
              <a:t>字节流</a:t>
            </a:r>
            <a:r>
              <a:rPr lang="zh-CN" altLang="en-US" sz="2400" b="1" dirty="0"/>
              <a:t>，不划分记录，顺序访问，每次读写访问可以指定任意数据长度</a:t>
            </a:r>
          </a:p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b="1" dirty="0"/>
              <a:t>当前操作系统中常用的文件组</a:t>
            </a:r>
            <a:r>
              <a:rPr lang="zh-CN" altLang="en-US" sz="2400" b="1" dirty="0" smtClean="0"/>
              <a:t>织</a:t>
            </a:r>
            <a:endParaRPr lang="en-US" altLang="zh-CN" sz="2400" b="1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2324-450E-4BEE-8C79-13F220FB7B5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104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累</a:t>
            </a:r>
            <a:r>
              <a:rPr lang="zh-CN" altLang="en-US" dirty="0" smtClean="0"/>
              <a:t>积文件（</a:t>
            </a:r>
            <a:r>
              <a:rPr lang="en-US" altLang="zh-CN" dirty="0" smtClean="0"/>
              <a:t>Pile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3970784" cy="5256584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b="1" dirty="0"/>
              <a:t>文件体为</a:t>
            </a:r>
            <a:r>
              <a:rPr lang="zh-CN" altLang="en-US" sz="2400" b="1" dirty="0">
                <a:solidFill>
                  <a:srgbClr val="0000FF"/>
                </a:solidFill>
              </a:rPr>
              <a:t>无结构记录序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列</a:t>
            </a:r>
            <a:endParaRPr lang="en-US" altLang="zh-CN" sz="2400" b="1" dirty="0" smtClean="0"/>
          </a:p>
          <a:p>
            <a:pPr marL="742950" lvl="2" indent="-342900">
              <a:spcBef>
                <a:spcPts val="1200"/>
              </a:spcBef>
            </a:pPr>
            <a:r>
              <a:rPr lang="zh-CN" altLang="en-US" b="1" dirty="0" smtClean="0"/>
              <a:t>通</a:t>
            </a:r>
            <a:r>
              <a:rPr lang="zh-CN" altLang="en-US" b="1" dirty="0"/>
              <a:t>过分隔符来划分记</a:t>
            </a:r>
            <a:r>
              <a:rPr lang="zh-CN" altLang="en-US" b="1" dirty="0" smtClean="0"/>
              <a:t>录</a:t>
            </a:r>
            <a:endParaRPr lang="en-US" altLang="zh-CN" b="1" dirty="0" smtClean="0"/>
          </a:p>
          <a:p>
            <a:pPr marL="742950" lvl="2" indent="-342900">
              <a:spcBef>
                <a:spcPts val="1200"/>
              </a:spcBef>
            </a:pPr>
            <a:r>
              <a:rPr lang="zh-CN" altLang="en-US" b="1" dirty="0" smtClean="0"/>
              <a:t>各</a:t>
            </a:r>
            <a:r>
              <a:rPr lang="zh-CN" altLang="en-US" b="1" dirty="0"/>
              <a:t>记录大小和组成可</a:t>
            </a:r>
            <a:r>
              <a:rPr lang="zh-CN" altLang="en-US" b="1" dirty="0" smtClean="0"/>
              <a:t>变</a:t>
            </a:r>
            <a:endParaRPr lang="en-US" altLang="zh-CN" b="1" dirty="0" smtClean="0"/>
          </a:p>
          <a:p>
            <a:pPr marL="742950" lvl="2" indent="-342900">
              <a:spcBef>
                <a:spcPts val="1200"/>
              </a:spcBef>
            </a:pPr>
            <a:r>
              <a:rPr lang="zh-CN" altLang="en-US" b="1" dirty="0" smtClean="0"/>
              <a:t>新</a:t>
            </a:r>
            <a:r>
              <a:rPr lang="zh-CN" altLang="en-US" b="1" dirty="0"/>
              <a:t>记录总是添加到文件末</a:t>
            </a:r>
            <a:r>
              <a:rPr lang="zh-CN" altLang="en-US" b="1" dirty="0" smtClean="0"/>
              <a:t>尾，如</a:t>
            </a:r>
            <a:r>
              <a:rPr lang="zh-CN" altLang="en-US" b="1" dirty="0"/>
              <a:t>日志</a:t>
            </a:r>
            <a:r>
              <a:rPr lang="en-US" altLang="zh-CN" b="1" dirty="0"/>
              <a:t>log</a:t>
            </a:r>
            <a:r>
              <a:rPr lang="zh-CN" altLang="en-US" b="1" dirty="0"/>
              <a:t>，或电子邮件的邮</a:t>
            </a:r>
            <a:r>
              <a:rPr lang="zh-CN" altLang="en-US" b="1" dirty="0" smtClean="0"/>
              <a:t>箱</a:t>
            </a:r>
            <a:endParaRPr lang="en-US" altLang="zh-CN" b="1" dirty="0"/>
          </a:p>
          <a:p>
            <a:pPr marL="742950" lvl="2" indent="-342900">
              <a:spcBef>
                <a:spcPts val="1200"/>
              </a:spcBef>
            </a:pPr>
            <a:r>
              <a:rPr lang="zh-CN" altLang="en-US" b="1" dirty="0" smtClean="0"/>
              <a:t>检</a:t>
            </a:r>
            <a:r>
              <a:rPr lang="zh-CN" altLang="en-US" b="1" dirty="0"/>
              <a:t>索必须从头开始</a:t>
            </a:r>
          </a:p>
          <a:p>
            <a:pPr marL="342900" lvl="1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b="1" dirty="0"/>
              <a:t>是一种简单的文件组织方式，当数据难以组织时使</a:t>
            </a:r>
            <a:r>
              <a:rPr lang="zh-CN" altLang="en-US" sz="2400" b="1" dirty="0" smtClean="0"/>
              <a:t>用</a:t>
            </a:r>
            <a:endParaRPr lang="zh-CN" alt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3A4E-9AE7-4941-B894-753F07263EFC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7" name="Picture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772816"/>
            <a:ext cx="3286125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33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顺序文件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文件体由大小相同、格式固定的排序记录序列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 smtClean="0"/>
              <a:t>由一个主文件和一个临时文件组成</a:t>
            </a:r>
            <a:endParaRPr lang="en-US" altLang="zh-CN" dirty="0" smtClean="0"/>
          </a:p>
          <a:p>
            <a:pPr lvl="1"/>
            <a:r>
              <a:rPr lang="zh-CN" altLang="en-US" dirty="0"/>
              <a:t>记</a:t>
            </a:r>
            <a:r>
              <a:rPr lang="zh-CN" altLang="en-US" dirty="0" smtClean="0"/>
              <a:t>录按某个</a:t>
            </a:r>
            <a:r>
              <a:rPr lang="zh-CN" altLang="en-US" dirty="0" smtClean="0">
                <a:solidFill>
                  <a:srgbClr val="0000FF"/>
                </a:solidFill>
              </a:rPr>
              <a:t>关键字域排序</a:t>
            </a:r>
            <a:r>
              <a:rPr lang="zh-CN" altLang="en-US" dirty="0" smtClean="0"/>
              <a:t>，存放在主文件中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新记录暂时保存在临时文件中，定期归并入主文件，并</a:t>
            </a:r>
            <a:r>
              <a:rPr lang="zh-CN" altLang="en-US" dirty="0" smtClean="0">
                <a:solidFill>
                  <a:srgbClr val="0000FF"/>
                </a:solidFill>
              </a:rPr>
              <a:t>按正确顺序产生一个新文件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访</a:t>
            </a:r>
            <a:r>
              <a:rPr lang="zh-CN" altLang="en-US" dirty="0" smtClean="0"/>
              <a:t>问时需要</a:t>
            </a:r>
            <a:r>
              <a:rPr lang="zh-CN" altLang="en-US" dirty="0" smtClean="0">
                <a:solidFill>
                  <a:srgbClr val="0000FF"/>
                </a:solidFill>
              </a:rPr>
              <a:t>顺序搜索</a:t>
            </a:r>
            <a:r>
              <a:rPr lang="en-US" altLang="zh-CN" dirty="0" smtClean="0">
                <a:solidFill>
                  <a:srgbClr val="0000FF"/>
                </a:solidFill>
              </a:rPr>
              <a:t>——</a:t>
            </a:r>
            <a:r>
              <a:rPr lang="zh-CN" altLang="en-US" dirty="0" smtClean="0">
                <a:solidFill>
                  <a:srgbClr val="0000FF"/>
                </a:solidFill>
              </a:rPr>
              <a:t>慢</a:t>
            </a:r>
            <a:endParaRPr lang="en-US" altLang="zh-CN" dirty="0" smtClean="0">
              <a:solidFill>
                <a:srgbClr val="0000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597E-DBAC-4323-8017-60C23659E7B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933056"/>
            <a:ext cx="2289015" cy="2193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31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索引顺序文件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在顺序文件基础上，另外建立索引和溢出文件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在索引文件中，可将关键字域中的取值划分若干个区间，每个区间对应一个索引项，后者指向该区间的开头记录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新记录暂存于溢出文件中，定期归入主文件，需调整索引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2B94-BDFC-42CE-BD6A-C42BCB9E53F2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212976"/>
            <a:ext cx="3264836" cy="317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4139877" y="3571751"/>
            <a:ext cx="4392490" cy="2781437"/>
            <a:chOff x="816" y="1632"/>
            <a:chExt cx="4008" cy="2578"/>
          </a:xfrm>
        </p:grpSpPr>
        <p:grpSp>
          <p:nvGrpSpPr>
            <p:cNvPr id="9" name="Group 6"/>
            <p:cNvGrpSpPr>
              <a:grpSpLocks/>
            </p:cNvGrpSpPr>
            <p:nvPr/>
          </p:nvGrpSpPr>
          <p:grpSpPr bwMode="auto">
            <a:xfrm>
              <a:off x="816" y="1862"/>
              <a:ext cx="1643" cy="1887"/>
              <a:chOff x="816" y="1862"/>
              <a:chExt cx="1643" cy="1887"/>
            </a:xfrm>
          </p:grpSpPr>
          <p:sp>
            <p:nvSpPr>
              <p:cNvPr id="45" name="Rectangle 7"/>
              <p:cNvSpPr>
                <a:spLocks noChangeArrowheads="1"/>
              </p:cNvSpPr>
              <p:nvPr/>
            </p:nvSpPr>
            <p:spPr bwMode="auto">
              <a:xfrm>
                <a:off x="816" y="1862"/>
                <a:ext cx="716" cy="231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6" name="Rectangle 8"/>
              <p:cNvSpPr>
                <a:spLocks noChangeArrowheads="1"/>
              </p:cNvSpPr>
              <p:nvPr/>
            </p:nvSpPr>
            <p:spPr bwMode="auto">
              <a:xfrm>
                <a:off x="890" y="1895"/>
                <a:ext cx="566" cy="228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en-US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关键字</a:t>
                </a:r>
                <a:endParaRPr lang="zh-CN" altLang="en-US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47" name="Rectangle 9"/>
              <p:cNvSpPr>
                <a:spLocks noChangeArrowheads="1"/>
              </p:cNvSpPr>
              <p:nvPr/>
            </p:nvSpPr>
            <p:spPr bwMode="auto">
              <a:xfrm>
                <a:off x="1532" y="1862"/>
                <a:ext cx="927" cy="231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8" name="Rectangle 10"/>
              <p:cNvSpPr>
                <a:spLocks noChangeArrowheads="1"/>
              </p:cNvSpPr>
              <p:nvPr/>
            </p:nvSpPr>
            <p:spPr bwMode="auto">
              <a:xfrm>
                <a:off x="1617" y="1895"/>
                <a:ext cx="755" cy="228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en-US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逻辑地址</a:t>
                </a:r>
                <a:endParaRPr lang="zh-CN" altLang="en-US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49" name="Rectangle 11"/>
              <p:cNvSpPr>
                <a:spLocks noChangeArrowheads="1"/>
              </p:cNvSpPr>
              <p:nvPr/>
            </p:nvSpPr>
            <p:spPr bwMode="auto">
              <a:xfrm>
                <a:off x="816" y="2093"/>
                <a:ext cx="716" cy="23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0" name="Rectangle 12"/>
              <p:cNvSpPr>
                <a:spLocks noChangeArrowheads="1"/>
              </p:cNvSpPr>
              <p:nvPr/>
            </p:nvSpPr>
            <p:spPr bwMode="auto">
              <a:xfrm>
                <a:off x="1125" y="2125"/>
                <a:ext cx="114" cy="228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A</a:t>
                </a:r>
                <a:endParaRPr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51" name="Rectangle 13"/>
              <p:cNvSpPr>
                <a:spLocks noChangeArrowheads="1"/>
              </p:cNvSpPr>
              <p:nvPr/>
            </p:nvSpPr>
            <p:spPr bwMode="auto">
              <a:xfrm>
                <a:off x="1532" y="2093"/>
                <a:ext cx="927" cy="23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2" name="Rectangle 14"/>
              <p:cNvSpPr>
                <a:spLocks noChangeArrowheads="1"/>
              </p:cNvSpPr>
              <p:nvPr/>
            </p:nvSpPr>
            <p:spPr bwMode="auto">
              <a:xfrm>
                <a:off x="816" y="2323"/>
                <a:ext cx="716" cy="235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3" name="Rectangle 15"/>
              <p:cNvSpPr>
                <a:spLocks noChangeArrowheads="1"/>
              </p:cNvSpPr>
              <p:nvPr/>
            </p:nvSpPr>
            <p:spPr bwMode="auto">
              <a:xfrm>
                <a:off x="1125" y="2360"/>
                <a:ext cx="105" cy="228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B</a:t>
                </a:r>
                <a:endParaRPr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54" name="Rectangle 16"/>
              <p:cNvSpPr>
                <a:spLocks noChangeArrowheads="1"/>
              </p:cNvSpPr>
              <p:nvPr/>
            </p:nvSpPr>
            <p:spPr bwMode="auto">
              <a:xfrm>
                <a:off x="1532" y="2323"/>
                <a:ext cx="927" cy="235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5" name="Rectangle 17"/>
              <p:cNvSpPr>
                <a:spLocks noChangeArrowheads="1"/>
              </p:cNvSpPr>
              <p:nvPr/>
            </p:nvSpPr>
            <p:spPr bwMode="auto">
              <a:xfrm>
                <a:off x="816" y="2558"/>
                <a:ext cx="716" cy="691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6" name="Rectangle 18"/>
              <p:cNvSpPr>
                <a:spLocks noChangeArrowheads="1"/>
              </p:cNvSpPr>
              <p:nvPr/>
            </p:nvSpPr>
            <p:spPr bwMode="auto">
              <a:xfrm>
                <a:off x="1532" y="2558"/>
                <a:ext cx="927" cy="691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7" name="Rectangle 19"/>
              <p:cNvSpPr>
                <a:spLocks noChangeArrowheads="1"/>
              </p:cNvSpPr>
              <p:nvPr/>
            </p:nvSpPr>
            <p:spPr bwMode="auto">
              <a:xfrm>
                <a:off x="816" y="3249"/>
                <a:ext cx="716" cy="231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8" name="Rectangle 20"/>
              <p:cNvSpPr>
                <a:spLocks noChangeArrowheads="1"/>
              </p:cNvSpPr>
              <p:nvPr/>
            </p:nvSpPr>
            <p:spPr bwMode="auto">
              <a:xfrm>
                <a:off x="1125" y="3282"/>
                <a:ext cx="89" cy="228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Z</a:t>
                </a:r>
                <a:endParaRPr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59" name="Rectangle 21"/>
              <p:cNvSpPr>
                <a:spLocks noChangeArrowheads="1"/>
              </p:cNvSpPr>
              <p:nvPr/>
            </p:nvSpPr>
            <p:spPr bwMode="auto">
              <a:xfrm>
                <a:off x="1532" y="3249"/>
                <a:ext cx="927" cy="231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60" name="Rectangle 22"/>
              <p:cNvSpPr>
                <a:spLocks noChangeArrowheads="1"/>
              </p:cNvSpPr>
              <p:nvPr/>
            </p:nvSpPr>
            <p:spPr bwMode="auto">
              <a:xfrm>
                <a:off x="1211" y="3521"/>
                <a:ext cx="755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en-US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索引文件</a:t>
                </a:r>
                <a:endParaRPr lang="zh-CN" altLang="en-US" sz="1600" b="1"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0" name="Group 23"/>
            <p:cNvGrpSpPr>
              <a:grpSpLocks/>
            </p:cNvGrpSpPr>
            <p:nvPr/>
          </p:nvGrpSpPr>
          <p:grpSpPr bwMode="auto">
            <a:xfrm>
              <a:off x="1942" y="1960"/>
              <a:ext cx="968" cy="732"/>
              <a:chOff x="1942" y="1960"/>
              <a:chExt cx="968" cy="732"/>
            </a:xfrm>
          </p:grpSpPr>
          <p:sp>
            <p:nvSpPr>
              <p:cNvPr id="37" name="Freeform 24"/>
              <p:cNvSpPr>
                <a:spLocks noEditPoints="1"/>
              </p:cNvSpPr>
              <p:nvPr/>
            </p:nvSpPr>
            <p:spPr bwMode="auto">
              <a:xfrm>
                <a:off x="1942" y="1960"/>
                <a:ext cx="968" cy="308"/>
              </a:xfrm>
              <a:custGeom>
                <a:avLst/>
                <a:gdLst>
                  <a:gd name="T0" fmla="*/ 0 w 1066"/>
                  <a:gd name="T1" fmla="*/ 327 h 378"/>
                  <a:gd name="T2" fmla="*/ 25 w 1066"/>
                  <a:gd name="T3" fmla="*/ 361 h 378"/>
                  <a:gd name="T4" fmla="*/ 63 w 1066"/>
                  <a:gd name="T5" fmla="*/ 378 h 378"/>
                  <a:gd name="T6" fmla="*/ 101 w 1066"/>
                  <a:gd name="T7" fmla="*/ 372 h 378"/>
                  <a:gd name="T8" fmla="*/ 132 w 1066"/>
                  <a:gd name="T9" fmla="*/ 355 h 378"/>
                  <a:gd name="T10" fmla="*/ 151 w 1066"/>
                  <a:gd name="T11" fmla="*/ 321 h 378"/>
                  <a:gd name="T12" fmla="*/ 151 w 1066"/>
                  <a:gd name="T13" fmla="*/ 287 h 378"/>
                  <a:gd name="T14" fmla="*/ 132 w 1066"/>
                  <a:gd name="T15" fmla="*/ 253 h 378"/>
                  <a:gd name="T16" fmla="*/ 94 w 1066"/>
                  <a:gd name="T17" fmla="*/ 237 h 378"/>
                  <a:gd name="T18" fmla="*/ 50 w 1066"/>
                  <a:gd name="T19" fmla="*/ 242 h 378"/>
                  <a:gd name="T20" fmla="*/ 19 w 1066"/>
                  <a:gd name="T21" fmla="*/ 259 h 378"/>
                  <a:gd name="T22" fmla="*/ 0 w 1066"/>
                  <a:gd name="T23" fmla="*/ 293 h 378"/>
                  <a:gd name="T24" fmla="*/ 0 w 1066"/>
                  <a:gd name="T25" fmla="*/ 327 h 378"/>
                  <a:gd name="T26" fmla="*/ 889 w 1066"/>
                  <a:gd name="T27" fmla="*/ 0 h 378"/>
                  <a:gd name="T28" fmla="*/ 933 w 1066"/>
                  <a:gd name="T29" fmla="*/ 135 h 378"/>
                  <a:gd name="T30" fmla="*/ 1066 w 1066"/>
                  <a:gd name="T31" fmla="*/ 22 h 378"/>
                  <a:gd name="T32" fmla="*/ 889 w 1066"/>
                  <a:gd name="T33" fmla="*/ 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66" h="378">
                    <a:moveTo>
                      <a:pt x="0" y="327"/>
                    </a:moveTo>
                    <a:lnTo>
                      <a:pt x="25" y="361"/>
                    </a:lnTo>
                    <a:lnTo>
                      <a:pt x="63" y="378"/>
                    </a:lnTo>
                    <a:lnTo>
                      <a:pt x="101" y="372"/>
                    </a:lnTo>
                    <a:lnTo>
                      <a:pt x="132" y="355"/>
                    </a:lnTo>
                    <a:lnTo>
                      <a:pt x="151" y="321"/>
                    </a:lnTo>
                    <a:lnTo>
                      <a:pt x="151" y="287"/>
                    </a:lnTo>
                    <a:lnTo>
                      <a:pt x="132" y="253"/>
                    </a:lnTo>
                    <a:lnTo>
                      <a:pt x="94" y="237"/>
                    </a:lnTo>
                    <a:lnTo>
                      <a:pt x="50" y="242"/>
                    </a:lnTo>
                    <a:lnTo>
                      <a:pt x="19" y="259"/>
                    </a:lnTo>
                    <a:lnTo>
                      <a:pt x="0" y="293"/>
                    </a:lnTo>
                    <a:lnTo>
                      <a:pt x="0" y="327"/>
                    </a:lnTo>
                    <a:close/>
                    <a:moveTo>
                      <a:pt x="889" y="0"/>
                    </a:moveTo>
                    <a:lnTo>
                      <a:pt x="933" y="135"/>
                    </a:lnTo>
                    <a:lnTo>
                      <a:pt x="1066" y="22"/>
                    </a:lnTo>
                    <a:lnTo>
                      <a:pt x="8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8" name="Freeform 25"/>
              <p:cNvSpPr>
                <a:spLocks/>
              </p:cNvSpPr>
              <p:nvPr/>
            </p:nvSpPr>
            <p:spPr bwMode="auto">
              <a:xfrm>
                <a:off x="1942" y="2153"/>
                <a:ext cx="137" cy="115"/>
              </a:xfrm>
              <a:custGeom>
                <a:avLst/>
                <a:gdLst>
                  <a:gd name="T0" fmla="*/ 0 w 151"/>
                  <a:gd name="T1" fmla="*/ 90 h 141"/>
                  <a:gd name="T2" fmla="*/ 25 w 151"/>
                  <a:gd name="T3" fmla="*/ 124 h 141"/>
                  <a:gd name="T4" fmla="*/ 63 w 151"/>
                  <a:gd name="T5" fmla="*/ 141 h 141"/>
                  <a:gd name="T6" fmla="*/ 101 w 151"/>
                  <a:gd name="T7" fmla="*/ 135 h 141"/>
                  <a:gd name="T8" fmla="*/ 132 w 151"/>
                  <a:gd name="T9" fmla="*/ 118 h 141"/>
                  <a:gd name="T10" fmla="*/ 151 w 151"/>
                  <a:gd name="T11" fmla="*/ 84 h 141"/>
                  <a:gd name="T12" fmla="*/ 151 w 151"/>
                  <a:gd name="T13" fmla="*/ 50 h 141"/>
                  <a:gd name="T14" fmla="*/ 132 w 151"/>
                  <a:gd name="T15" fmla="*/ 16 h 141"/>
                  <a:gd name="T16" fmla="*/ 94 w 151"/>
                  <a:gd name="T17" fmla="*/ 0 h 141"/>
                  <a:gd name="T18" fmla="*/ 50 w 151"/>
                  <a:gd name="T19" fmla="*/ 5 h 141"/>
                  <a:gd name="T20" fmla="*/ 19 w 151"/>
                  <a:gd name="T21" fmla="*/ 22 h 141"/>
                  <a:gd name="T22" fmla="*/ 0 w 151"/>
                  <a:gd name="T23" fmla="*/ 56 h 141"/>
                  <a:gd name="T24" fmla="*/ 0 w 151"/>
                  <a:gd name="T25" fmla="*/ 9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1" h="141">
                    <a:moveTo>
                      <a:pt x="0" y="90"/>
                    </a:moveTo>
                    <a:lnTo>
                      <a:pt x="25" y="124"/>
                    </a:lnTo>
                    <a:lnTo>
                      <a:pt x="63" y="141"/>
                    </a:lnTo>
                    <a:lnTo>
                      <a:pt x="101" y="135"/>
                    </a:lnTo>
                    <a:lnTo>
                      <a:pt x="132" y="118"/>
                    </a:lnTo>
                    <a:lnTo>
                      <a:pt x="151" y="84"/>
                    </a:lnTo>
                    <a:lnTo>
                      <a:pt x="151" y="50"/>
                    </a:lnTo>
                    <a:lnTo>
                      <a:pt x="132" y="16"/>
                    </a:lnTo>
                    <a:lnTo>
                      <a:pt x="94" y="0"/>
                    </a:lnTo>
                    <a:lnTo>
                      <a:pt x="50" y="5"/>
                    </a:lnTo>
                    <a:lnTo>
                      <a:pt x="19" y="22"/>
                    </a:lnTo>
                    <a:lnTo>
                      <a:pt x="0" y="56"/>
                    </a:lnTo>
                    <a:lnTo>
                      <a:pt x="0" y="9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9" name="Freeform 26"/>
              <p:cNvSpPr>
                <a:spLocks/>
              </p:cNvSpPr>
              <p:nvPr/>
            </p:nvSpPr>
            <p:spPr bwMode="auto">
              <a:xfrm>
                <a:off x="2749" y="1960"/>
                <a:ext cx="161" cy="109"/>
              </a:xfrm>
              <a:custGeom>
                <a:avLst/>
                <a:gdLst>
                  <a:gd name="T0" fmla="*/ 0 w 177"/>
                  <a:gd name="T1" fmla="*/ 0 h 135"/>
                  <a:gd name="T2" fmla="*/ 44 w 177"/>
                  <a:gd name="T3" fmla="*/ 135 h 135"/>
                  <a:gd name="T4" fmla="*/ 177 w 177"/>
                  <a:gd name="T5" fmla="*/ 22 h 135"/>
                  <a:gd name="T6" fmla="*/ 0 w 177"/>
                  <a:gd name="T7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7" h="135">
                    <a:moveTo>
                      <a:pt x="0" y="0"/>
                    </a:moveTo>
                    <a:lnTo>
                      <a:pt x="44" y="135"/>
                    </a:lnTo>
                    <a:lnTo>
                      <a:pt x="177" y="22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Line 27"/>
              <p:cNvSpPr>
                <a:spLocks noChangeShapeType="1"/>
              </p:cNvSpPr>
              <p:nvPr/>
            </p:nvSpPr>
            <p:spPr bwMode="auto">
              <a:xfrm flipV="1">
                <a:off x="2079" y="2015"/>
                <a:ext cx="693" cy="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1" name="Freeform 28"/>
              <p:cNvSpPr>
                <a:spLocks noEditPoints="1"/>
              </p:cNvSpPr>
              <p:nvPr/>
            </p:nvSpPr>
            <p:spPr bwMode="auto">
              <a:xfrm>
                <a:off x="1942" y="2384"/>
                <a:ext cx="968" cy="308"/>
              </a:xfrm>
              <a:custGeom>
                <a:avLst/>
                <a:gdLst>
                  <a:gd name="T0" fmla="*/ 0 w 1066"/>
                  <a:gd name="T1" fmla="*/ 50 h 378"/>
                  <a:gd name="T2" fmla="*/ 0 w 1066"/>
                  <a:gd name="T3" fmla="*/ 84 h 378"/>
                  <a:gd name="T4" fmla="*/ 19 w 1066"/>
                  <a:gd name="T5" fmla="*/ 118 h 378"/>
                  <a:gd name="T6" fmla="*/ 50 w 1066"/>
                  <a:gd name="T7" fmla="*/ 135 h 378"/>
                  <a:gd name="T8" fmla="*/ 94 w 1066"/>
                  <a:gd name="T9" fmla="*/ 141 h 378"/>
                  <a:gd name="T10" fmla="*/ 132 w 1066"/>
                  <a:gd name="T11" fmla="*/ 124 h 378"/>
                  <a:gd name="T12" fmla="*/ 151 w 1066"/>
                  <a:gd name="T13" fmla="*/ 90 h 378"/>
                  <a:gd name="T14" fmla="*/ 151 w 1066"/>
                  <a:gd name="T15" fmla="*/ 56 h 378"/>
                  <a:gd name="T16" fmla="*/ 132 w 1066"/>
                  <a:gd name="T17" fmla="*/ 22 h 378"/>
                  <a:gd name="T18" fmla="*/ 101 w 1066"/>
                  <a:gd name="T19" fmla="*/ 5 h 378"/>
                  <a:gd name="T20" fmla="*/ 63 w 1066"/>
                  <a:gd name="T21" fmla="*/ 0 h 378"/>
                  <a:gd name="T22" fmla="*/ 25 w 1066"/>
                  <a:gd name="T23" fmla="*/ 17 h 378"/>
                  <a:gd name="T24" fmla="*/ 0 w 1066"/>
                  <a:gd name="T25" fmla="*/ 50 h 378"/>
                  <a:gd name="T26" fmla="*/ 933 w 1066"/>
                  <a:gd name="T27" fmla="*/ 242 h 378"/>
                  <a:gd name="T28" fmla="*/ 889 w 1066"/>
                  <a:gd name="T29" fmla="*/ 378 h 378"/>
                  <a:gd name="T30" fmla="*/ 1066 w 1066"/>
                  <a:gd name="T31" fmla="*/ 355 h 378"/>
                  <a:gd name="T32" fmla="*/ 933 w 1066"/>
                  <a:gd name="T33" fmla="*/ 242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66" h="378">
                    <a:moveTo>
                      <a:pt x="0" y="50"/>
                    </a:moveTo>
                    <a:lnTo>
                      <a:pt x="0" y="84"/>
                    </a:lnTo>
                    <a:lnTo>
                      <a:pt x="19" y="118"/>
                    </a:lnTo>
                    <a:lnTo>
                      <a:pt x="50" y="135"/>
                    </a:lnTo>
                    <a:lnTo>
                      <a:pt x="94" y="141"/>
                    </a:lnTo>
                    <a:lnTo>
                      <a:pt x="132" y="124"/>
                    </a:lnTo>
                    <a:lnTo>
                      <a:pt x="151" y="90"/>
                    </a:lnTo>
                    <a:lnTo>
                      <a:pt x="151" y="56"/>
                    </a:lnTo>
                    <a:lnTo>
                      <a:pt x="132" y="22"/>
                    </a:lnTo>
                    <a:lnTo>
                      <a:pt x="101" y="5"/>
                    </a:lnTo>
                    <a:lnTo>
                      <a:pt x="63" y="0"/>
                    </a:lnTo>
                    <a:lnTo>
                      <a:pt x="25" y="17"/>
                    </a:lnTo>
                    <a:lnTo>
                      <a:pt x="0" y="50"/>
                    </a:lnTo>
                    <a:close/>
                    <a:moveTo>
                      <a:pt x="933" y="242"/>
                    </a:moveTo>
                    <a:lnTo>
                      <a:pt x="889" y="378"/>
                    </a:lnTo>
                    <a:lnTo>
                      <a:pt x="1066" y="355"/>
                    </a:lnTo>
                    <a:lnTo>
                      <a:pt x="933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2" name="Freeform 29"/>
              <p:cNvSpPr>
                <a:spLocks/>
              </p:cNvSpPr>
              <p:nvPr/>
            </p:nvSpPr>
            <p:spPr bwMode="auto">
              <a:xfrm>
                <a:off x="1942" y="2384"/>
                <a:ext cx="137" cy="114"/>
              </a:xfrm>
              <a:custGeom>
                <a:avLst/>
                <a:gdLst>
                  <a:gd name="T0" fmla="*/ 0 w 151"/>
                  <a:gd name="T1" fmla="*/ 50 h 141"/>
                  <a:gd name="T2" fmla="*/ 0 w 151"/>
                  <a:gd name="T3" fmla="*/ 84 h 141"/>
                  <a:gd name="T4" fmla="*/ 19 w 151"/>
                  <a:gd name="T5" fmla="*/ 118 h 141"/>
                  <a:gd name="T6" fmla="*/ 50 w 151"/>
                  <a:gd name="T7" fmla="*/ 135 h 141"/>
                  <a:gd name="T8" fmla="*/ 94 w 151"/>
                  <a:gd name="T9" fmla="*/ 141 h 141"/>
                  <a:gd name="T10" fmla="*/ 132 w 151"/>
                  <a:gd name="T11" fmla="*/ 124 h 141"/>
                  <a:gd name="T12" fmla="*/ 151 w 151"/>
                  <a:gd name="T13" fmla="*/ 90 h 141"/>
                  <a:gd name="T14" fmla="*/ 151 w 151"/>
                  <a:gd name="T15" fmla="*/ 56 h 141"/>
                  <a:gd name="T16" fmla="*/ 132 w 151"/>
                  <a:gd name="T17" fmla="*/ 22 h 141"/>
                  <a:gd name="T18" fmla="*/ 101 w 151"/>
                  <a:gd name="T19" fmla="*/ 5 h 141"/>
                  <a:gd name="T20" fmla="*/ 63 w 151"/>
                  <a:gd name="T21" fmla="*/ 0 h 141"/>
                  <a:gd name="T22" fmla="*/ 25 w 151"/>
                  <a:gd name="T23" fmla="*/ 17 h 141"/>
                  <a:gd name="T24" fmla="*/ 0 w 151"/>
                  <a:gd name="T25" fmla="*/ 5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1" h="141">
                    <a:moveTo>
                      <a:pt x="0" y="50"/>
                    </a:moveTo>
                    <a:lnTo>
                      <a:pt x="0" y="84"/>
                    </a:lnTo>
                    <a:lnTo>
                      <a:pt x="19" y="118"/>
                    </a:lnTo>
                    <a:lnTo>
                      <a:pt x="50" y="135"/>
                    </a:lnTo>
                    <a:lnTo>
                      <a:pt x="94" y="141"/>
                    </a:lnTo>
                    <a:lnTo>
                      <a:pt x="132" y="124"/>
                    </a:lnTo>
                    <a:lnTo>
                      <a:pt x="151" y="90"/>
                    </a:lnTo>
                    <a:lnTo>
                      <a:pt x="151" y="56"/>
                    </a:lnTo>
                    <a:lnTo>
                      <a:pt x="132" y="22"/>
                    </a:lnTo>
                    <a:lnTo>
                      <a:pt x="101" y="5"/>
                    </a:lnTo>
                    <a:lnTo>
                      <a:pt x="63" y="0"/>
                    </a:lnTo>
                    <a:lnTo>
                      <a:pt x="25" y="17"/>
                    </a:lnTo>
                    <a:lnTo>
                      <a:pt x="0" y="5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3" name="Freeform 30"/>
              <p:cNvSpPr>
                <a:spLocks/>
              </p:cNvSpPr>
              <p:nvPr/>
            </p:nvSpPr>
            <p:spPr bwMode="auto">
              <a:xfrm>
                <a:off x="2749" y="2581"/>
                <a:ext cx="161" cy="111"/>
              </a:xfrm>
              <a:custGeom>
                <a:avLst/>
                <a:gdLst>
                  <a:gd name="T0" fmla="*/ 44 w 177"/>
                  <a:gd name="T1" fmla="*/ 0 h 136"/>
                  <a:gd name="T2" fmla="*/ 0 w 177"/>
                  <a:gd name="T3" fmla="*/ 136 h 136"/>
                  <a:gd name="T4" fmla="*/ 177 w 177"/>
                  <a:gd name="T5" fmla="*/ 113 h 136"/>
                  <a:gd name="T6" fmla="*/ 44 w 177"/>
                  <a:gd name="T7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7" h="136">
                    <a:moveTo>
                      <a:pt x="44" y="0"/>
                    </a:moveTo>
                    <a:lnTo>
                      <a:pt x="0" y="136"/>
                    </a:lnTo>
                    <a:lnTo>
                      <a:pt x="177" y="113"/>
                    </a:lnTo>
                    <a:lnTo>
                      <a:pt x="44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4" name="Line 31"/>
              <p:cNvSpPr>
                <a:spLocks noChangeShapeType="1"/>
              </p:cNvSpPr>
              <p:nvPr/>
            </p:nvSpPr>
            <p:spPr bwMode="auto">
              <a:xfrm>
                <a:off x="2079" y="2457"/>
                <a:ext cx="693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1" name="Group 32"/>
            <p:cNvGrpSpPr>
              <a:grpSpLocks/>
            </p:cNvGrpSpPr>
            <p:nvPr/>
          </p:nvGrpSpPr>
          <p:grpSpPr bwMode="auto">
            <a:xfrm>
              <a:off x="2895" y="1632"/>
              <a:ext cx="1929" cy="2578"/>
              <a:chOff x="2895" y="1632"/>
              <a:chExt cx="1929" cy="2578"/>
            </a:xfrm>
          </p:grpSpPr>
          <p:sp>
            <p:nvSpPr>
              <p:cNvPr id="12" name="Rectangle 33"/>
              <p:cNvSpPr>
                <a:spLocks noChangeArrowheads="1"/>
              </p:cNvSpPr>
              <p:nvPr/>
            </p:nvSpPr>
            <p:spPr bwMode="auto">
              <a:xfrm>
                <a:off x="2895" y="1632"/>
                <a:ext cx="1002" cy="23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3" name="Rectangle 34"/>
              <p:cNvSpPr>
                <a:spLocks noChangeArrowheads="1"/>
              </p:cNvSpPr>
              <p:nvPr/>
            </p:nvSpPr>
            <p:spPr bwMode="auto">
              <a:xfrm>
                <a:off x="3203" y="1665"/>
                <a:ext cx="377" cy="22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en-US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姓名</a:t>
                </a:r>
                <a:endParaRPr lang="zh-CN" altLang="en-US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14" name="Rectangle 35"/>
              <p:cNvSpPr>
                <a:spLocks noChangeArrowheads="1"/>
              </p:cNvSpPr>
              <p:nvPr/>
            </p:nvSpPr>
            <p:spPr bwMode="auto">
              <a:xfrm>
                <a:off x="3897" y="1632"/>
                <a:ext cx="927" cy="23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Rectangle 36"/>
              <p:cNvSpPr>
                <a:spLocks noChangeArrowheads="1"/>
              </p:cNvSpPr>
              <p:nvPr/>
            </p:nvSpPr>
            <p:spPr bwMode="auto">
              <a:xfrm>
                <a:off x="4047" y="1665"/>
                <a:ext cx="755" cy="22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en-US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其它属性</a:t>
                </a:r>
                <a:endParaRPr lang="zh-CN" altLang="en-US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Rectangle 37"/>
              <p:cNvSpPr>
                <a:spLocks noChangeArrowheads="1"/>
              </p:cNvSpPr>
              <p:nvPr/>
            </p:nvSpPr>
            <p:spPr bwMode="auto">
              <a:xfrm>
                <a:off x="2895" y="1862"/>
                <a:ext cx="1002" cy="231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Rectangle 38"/>
              <p:cNvSpPr>
                <a:spLocks noChangeArrowheads="1"/>
              </p:cNvSpPr>
              <p:nvPr/>
            </p:nvSpPr>
            <p:spPr bwMode="auto">
              <a:xfrm>
                <a:off x="3050" y="1895"/>
                <a:ext cx="598" cy="22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An Bing</a:t>
                </a:r>
                <a:endParaRPr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Rectangle 39"/>
              <p:cNvSpPr>
                <a:spLocks noChangeArrowheads="1"/>
              </p:cNvSpPr>
              <p:nvPr/>
            </p:nvSpPr>
            <p:spPr bwMode="auto">
              <a:xfrm>
                <a:off x="3897" y="1862"/>
                <a:ext cx="927" cy="231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Rectangle 40"/>
              <p:cNvSpPr>
                <a:spLocks noChangeArrowheads="1"/>
              </p:cNvSpPr>
              <p:nvPr/>
            </p:nvSpPr>
            <p:spPr bwMode="auto">
              <a:xfrm>
                <a:off x="2895" y="2093"/>
                <a:ext cx="1002" cy="23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3050" y="2125"/>
                <a:ext cx="640" cy="22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An Kang</a:t>
                </a:r>
                <a:endParaRPr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21" name="Rectangle 42"/>
              <p:cNvSpPr>
                <a:spLocks noChangeArrowheads="1"/>
              </p:cNvSpPr>
              <p:nvPr/>
            </p:nvSpPr>
            <p:spPr bwMode="auto">
              <a:xfrm>
                <a:off x="3897" y="2093"/>
                <a:ext cx="927" cy="23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2" name="Rectangle 43"/>
              <p:cNvSpPr>
                <a:spLocks noChangeArrowheads="1"/>
              </p:cNvSpPr>
              <p:nvPr/>
            </p:nvSpPr>
            <p:spPr bwMode="auto">
              <a:xfrm>
                <a:off x="2895" y="2323"/>
                <a:ext cx="1002" cy="23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3" name="Rectangle 44"/>
              <p:cNvSpPr>
                <a:spLocks noChangeArrowheads="1"/>
              </p:cNvSpPr>
              <p:nvPr/>
            </p:nvSpPr>
            <p:spPr bwMode="auto">
              <a:xfrm>
                <a:off x="3050" y="2360"/>
                <a:ext cx="622" cy="22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An Qing</a:t>
                </a:r>
                <a:endParaRPr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Rectangle 45"/>
              <p:cNvSpPr>
                <a:spLocks noChangeArrowheads="1"/>
              </p:cNvSpPr>
              <p:nvPr/>
            </p:nvSpPr>
            <p:spPr bwMode="auto">
              <a:xfrm>
                <a:off x="3897" y="2323"/>
                <a:ext cx="927" cy="23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Rectangle 46"/>
              <p:cNvSpPr>
                <a:spLocks noChangeArrowheads="1"/>
              </p:cNvSpPr>
              <p:nvPr/>
            </p:nvSpPr>
            <p:spPr bwMode="auto">
              <a:xfrm>
                <a:off x="2895" y="2558"/>
                <a:ext cx="1002" cy="23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Rectangle 47"/>
              <p:cNvSpPr>
                <a:spLocks noChangeArrowheads="1"/>
              </p:cNvSpPr>
              <p:nvPr/>
            </p:nvSpPr>
            <p:spPr bwMode="auto">
              <a:xfrm>
                <a:off x="3003" y="2592"/>
                <a:ext cx="761" cy="22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Bao Rong</a:t>
                </a:r>
                <a:endParaRPr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27" name="Rectangle 48"/>
              <p:cNvSpPr>
                <a:spLocks noChangeArrowheads="1"/>
              </p:cNvSpPr>
              <p:nvPr/>
            </p:nvSpPr>
            <p:spPr bwMode="auto">
              <a:xfrm>
                <a:off x="3897" y="2558"/>
                <a:ext cx="927" cy="23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8" name="Rectangle 49"/>
              <p:cNvSpPr>
                <a:spLocks noChangeArrowheads="1"/>
              </p:cNvSpPr>
              <p:nvPr/>
            </p:nvSpPr>
            <p:spPr bwMode="auto">
              <a:xfrm>
                <a:off x="2895" y="2788"/>
                <a:ext cx="1002" cy="231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9" name="Rectangle 50"/>
              <p:cNvSpPr>
                <a:spLocks noChangeArrowheads="1"/>
              </p:cNvSpPr>
              <p:nvPr/>
            </p:nvSpPr>
            <p:spPr bwMode="auto">
              <a:xfrm>
                <a:off x="3050" y="2822"/>
                <a:ext cx="490" cy="22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Bi Jing</a:t>
                </a:r>
                <a:endParaRPr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30" name="Rectangle 51"/>
              <p:cNvSpPr>
                <a:spLocks noChangeArrowheads="1"/>
              </p:cNvSpPr>
              <p:nvPr/>
            </p:nvSpPr>
            <p:spPr bwMode="auto">
              <a:xfrm>
                <a:off x="3897" y="2788"/>
                <a:ext cx="927" cy="231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1" name="Rectangle 52"/>
              <p:cNvSpPr>
                <a:spLocks noChangeArrowheads="1"/>
              </p:cNvSpPr>
              <p:nvPr/>
            </p:nvSpPr>
            <p:spPr bwMode="auto">
              <a:xfrm>
                <a:off x="2895" y="3019"/>
                <a:ext cx="1002" cy="23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2" name="Rectangle 53"/>
              <p:cNvSpPr>
                <a:spLocks noChangeArrowheads="1"/>
              </p:cNvSpPr>
              <p:nvPr/>
            </p:nvSpPr>
            <p:spPr bwMode="auto">
              <a:xfrm>
                <a:off x="3003" y="3050"/>
                <a:ext cx="720" cy="22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600" b="1">
                    <a:solidFill>
                      <a:srgbClr val="000000"/>
                    </a:solidFill>
                    <a:ea typeface="楷体" panose="02010609060101010101" pitchFamily="49" charset="-122"/>
                  </a:rPr>
                  <a:t>Bon Long</a:t>
                </a:r>
                <a:endParaRPr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33" name="Rectangle 54"/>
              <p:cNvSpPr>
                <a:spLocks noChangeArrowheads="1"/>
              </p:cNvSpPr>
              <p:nvPr/>
            </p:nvSpPr>
            <p:spPr bwMode="auto">
              <a:xfrm>
                <a:off x="3897" y="3019"/>
                <a:ext cx="927" cy="23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4" name="Rectangle 55"/>
              <p:cNvSpPr>
                <a:spLocks noChangeArrowheads="1"/>
              </p:cNvSpPr>
              <p:nvPr/>
            </p:nvSpPr>
            <p:spPr bwMode="auto">
              <a:xfrm>
                <a:off x="2895" y="3249"/>
                <a:ext cx="1002" cy="692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5" name="Rectangle 56"/>
              <p:cNvSpPr>
                <a:spLocks noChangeArrowheads="1"/>
              </p:cNvSpPr>
              <p:nvPr/>
            </p:nvSpPr>
            <p:spPr bwMode="auto">
              <a:xfrm>
                <a:off x="3897" y="3249"/>
                <a:ext cx="927" cy="692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Rectangle 57"/>
              <p:cNvSpPr>
                <a:spLocks noChangeArrowheads="1"/>
              </p:cNvSpPr>
              <p:nvPr/>
            </p:nvSpPr>
            <p:spPr bwMode="auto">
              <a:xfrm>
                <a:off x="3050" y="3982"/>
                <a:ext cx="1698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主</a:t>
                </a:r>
                <a:r>
                  <a:rPr lang="zh-CN" altLang="en-US" sz="1600" b="1" dirty="0" smtClean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文件（顺序文件）</a:t>
                </a:r>
                <a:endParaRPr lang="zh-CN" altLang="en-US" sz="1600" b="1" dirty="0">
                  <a:ea typeface="楷体" panose="02010609060101010101" pitchFamily="49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758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索引文件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4186808" cy="5256584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基本特征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0000FF"/>
                </a:solidFill>
              </a:rPr>
              <a:t>主文件由记录组成，记录大小不必相同，不必排序</a:t>
            </a:r>
            <a:r>
              <a:rPr lang="zh-CN" altLang="en-US" dirty="0" smtClean="0"/>
              <a:t>，存放于主文件</a:t>
            </a:r>
            <a:endParaRPr lang="en-US" altLang="zh-CN" dirty="0" smtClean="0"/>
          </a:p>
          <a:p>
            <a:pPr lvl="1"/>
            <a:r>
              <a:rPr lang="zh-CN" altLang="en-US" dirty="0"/>
              <a:t>另</a:t>
            </a:r>
            <a:r>
              <a:rPr lang="zh-CN" altLang="en-US" dirty="0" smtClean="0"/>
              <a:t>外建立索引，每个索引指向一个记录，索引项按照记录中的某个关键字域排序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对同一主文件，针对不同关键字域建立多个索引</a:t>
            </a:r>
            <a:endParaRPr lang="en-US" altLang="zh-CN" dirty="0" smtClean="0"/>
          </a:p>
          <a:p>
            <a:pPr lvl="1"/>
            <a:r>
              <a:rPr lang="zh-CN" altLang="en-US" dirty="0"/>
              <a:t>索</a:t>
            </a:r>
            <a:r>
              <a:rPr lang="zh-CN" altLang="en-US" dirty="0" smtClean="0"/>
              <a:t>引文件的记录项通常较小，查找速度快，便于随机访问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F26D-60F8-4149-BAF5-83D041DB7F0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737" y="2132856"/>
            <a:ext cx="3313063" cy="3819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82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哈希文件或直接文件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基本特征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由主文件和溢出文件组成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主文件由大小相同的记录组成</a:t>
            </a:r>
            <a:endParaRPr lang="en-US" altLang="zh-CN" dirty="0" smtClean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一</a:t>
            </a:r>
            <a:r>
              <a:rPr lang="zh-CN" altLang="en-US" dirty="0" smtClean="0">
                <a:solidFill>
                  <a:srgbClr val="0000FF"/>
                </a:solidFill>
              </a:rPr>
              <a:t>个记录在文件中的位置，由哈希函数确定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2"/>
            <a:r>
              <a:rPr lang="en-US" altLang="zh-CN" i="1" dirty="0" err="1">
                <a:solidFill>
                  <a:srgbClr val="0000FF"/>
                </a:solidFill>
              </a:rPr>
              <a:t>a</a:t>
            </a:r>
            <a:r>
              <a:rPr lang="en-US" altLang="zh-CN" i="1" dirty="0" err="1" smtClean="0">
                <a:solidFill>
                  <a:srgbClr val="0000FF"/>
                </a:solidFill>
              </a:rPr>
              <a:t>ddr</a:t>
            </a:r>
            <a:r>
              <a:rPr lang="en-US" altLang="zh-CN" i="1" dirty="0" smtClean="0">
                <a:solidFill>
                  <a:srgbClr val="0000FF"/>
                </a:solidFill>
              </a:rPr>
              <a:t> = f( id )</a:t>
            </a:r>
          </a:p>
          <a:p>
            <a:pPr lvl="1"/>
            <a:r>
              <a:rPr lang="zh-CN" altLang="en-US" dirty="0"/>
              <a:t>访</a:t>
            </a:r>
            <a:r>
              <a:rPr lang="zh-CN" altLang="en-US" dirty="0" smtClean="0"/>
              <a:t>问速度快，通常一次只访问一条记录</a:t>
            </a:r>
            <a:endParaRPr lang="en-US" altLang="zh-CN" dirty="0" smtClean="0"/>
          </a:p>
          <a:p>
            <a:r>
              <a:rPr lang="zh-CN" altLang="en-US" dirty="0" smtClean="0"/>
              <a:t>是索引顺序文件中的一种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581D-CF59-4E8F-954C-9E2E6C1AEA3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704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文件的存取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“读”和“写”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读：存储介质 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内存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1"/>
            <a:r>
              <a:rPr lang="zh-CN" altLang="en-US" dirty="0" smtClean="0">
                <a:sym typeface="Wingdings" panose="05000000000000000000" pitchFamily="2" charset="2"/>
              </a:rPr>
              <a:t>写：内存 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r>
              <a:rPr lang="zh-CN" altLang="en-US" dirty="0" smtClean="0">
                <a:sym typeface="Wingdings" panose="05000000000000000000" pitchFamily="2" charset="2"/>
              </a:rPr>
              <a:t>存储介质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顺</a:t>
            </a:r>
            <a:r>
              <a:rPr lang="zh-CN" altLang="en-US" dirty="0" smtClean="0">
                <a:sym typeface="Wingdings" panose="05000000000000000000" pitchFamily="2" charset="2"/>
              </a:rPr>
              <a:t>序存取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按</a:t>
            </a:r>
            <a:r>
              <a:rPr lang="zh-CN" altLang="en-US" dirty="0" smtClean="0">
                <a:sym typeface="Wingdings" panose="05000000000000000000" pitchFamily="2" charset="2"/>
              </a:rPr>
              <a:t>照文件信息的逻辑顺序依次存取，如，为存取记录</a:t>
            </a:r>
            <a:r>
              <a:rPr lang="en-US" altLang="zh-CN" dirty="0" err="1" smtClean="0">
                <a:sym typeface="Wingdings" panose="05000000000000000000" pitchFamily="2" charset="2"/>
              </a:rPr>
              <a:t>R</a:t>
            </a:r>
            <a:r>
              <a:rPr lang="en-US" altLang="zh-CN" baseline="-25000" dirty="0" err="1" smtClean="0">
                <a:sym typeface="Wingdings" panose="05000000000000000000" pitchFamily="2" charset="2"/>
              </a:rPr>
              <a:t>i</a:t>
            </a:r>
            <a:r>
              <a:rPr lang="zh-CN" altLang="en-US" dirty="0" smtClean="0">
                <a:sym typeface="Wingdings" panose="05000000000000000000" pitchFamily="2" charset="2"/>
              </a:rPr>
              <a:t>，必须先扫描过记录</a:t>
            </a:r>
            <a:r>
              <a:rPr lang="en-US" altLang="zh-CN" dirty="0" smtClean="0">
                <a:sym typeface="Wingdings" panose="05000000000000000000" pitchFamily="2" charset="2"/>
              </a:rPr>
              <a:t>R</a:t>
            </a:r>
            <a:r>
              <a:rPr lang="en-US" altLang="zh-CN" baseline="-25000" dirty="0" smtClean="0">
                <a:sym typeface="Wingdings" panose="05000000000000000000" pitchFamily="2" charset="2"/>
              </a:rPr>
              <a:t>1</a:t>
            </a:r>
            <a:r>
              <a:rPr lang="en-US" altLang="zh-CN" dirty="0" smtClean="0">
                <a:sym typeface="Wingdings" panose="05000000000000000000" pitchFamily="2" charset="2"/>
              </a:rPr>
              <a:t>R</a:t>
            </a:r>
            <a:r>
              <a:rPr lang="en-US" altLang="zh-CN" baseline="-25000" dirty="0" smtClean="0">
                <a:sym typeface="Wingdings" panose="05000000000000000000" pitchFamily="2" charset="2"/>
              </a:rPr>
              <a:t>2</a:t>
            </a:r>
            <a:r>
              <a:rPr lang="en-US" altLang="zh-CN" dirty="0" smtClean="0">
                <a:sym typeface="Wingdings" panose="05000000000000000000" pitchFamily="2" charset="2"/>
              </a:rPr>
              <a:t>…R</a:t>
            </a:r>
            <a:r>
              <a:rPr lang="en-US" altLang="zh-CN" baseline="-25000" dirty="0" smtClean="0">
                <a:sym typeface="Wingdings" panose="05000000000000000000" pitchFamily="2" charset="2"/>
              </a:rPr>
              <a:t>i-1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随</a:t>
            </a:r>
            <a:r>
              <a:rPr lang="zh-CN" altLang="en-US" dirty="0" smtClean="0">
                <a:sym typeface="Wingdings" panose="05000000000000000000" pitchFamily="2" charset="2"/>
              </a:rPr>
              <a:t>机存取（直接存取）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可</a:t>
            </a:r>
            <a:r>
              <a:rPr lang="zh-CN" altLang="en-US" dirty="0" smtClean="0">
                <a:sym typeface="Wingdings" panose="05000000000000000000" pitchFamily="2" charset="2"/>
              </a:rPr>
              <a:t>以按照任意次序对文件进行读写操作，如可根据记录的编号来直接存取文件中任何一个记录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索</a:t>
            </a:r>
            <a:r>
              <a:rPr lang="zh-CN" altLang="en-US" dirty="0" smtClean="0">
                <a:sym typeface="Wingdings" panose="05000000000000000000" pitchFamily="2" charset="2"/>
              </a:rPr>
              <a:t>引存取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1"/>
            <a:r>
              <a:rPr lang="zh-CN" altLang="en-US" dirty="0" smtClean="0">
                <a:sym typeface="Wingdings" panose="05000000000000000000" pitchFamily="2" charset="2"/>
              </a:rPr>
              <a:t>对文件中的记录按某个数据项的值进行排列，从而可以根据键值来快速存取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72A0A-0495-4E34-9646-07CFC783A7D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907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文件的存取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F614-A1F4-4ECF-BC24-F4E4764F3DEE}" type="datetime1">
              <a:rPr lang="zh-CN" altLang="en-US" smtClean="0"/>
              <a:pPr/>
              <a:t>2018/8/3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AEEBF-3716-487D-AE7C-1F66A971DC3D}" type="slidenum">
              <a:rPr lang="zh-CN" altLang="en-US" smtClean="0"/>
              <a:pPr/>
              <a:t>21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155" y="1954531"/>
            <a:ext cx="3867690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0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什么是文件与文件系统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文件的逻辑结构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外存分配方式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目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录管理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件存储空间的管理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件的共享与保护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数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据一致性检查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32F18-78D2-4921-ABCC-5880A4EFB71A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5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连续分配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原理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为每个文件分配一组相邻的磁盘块</a:t>
            </a:r>
            <a:endParaRPr lang="en-US" altLang="zh-CN" dirty="0" smtClean="0"/>
          </a:p>
          <a:p>
            <a:pPr lvl="1"/>
            <a:r>
              <a:rPr lang="zh-CN" altLang="en-US" dirty="0"/>
              <a:t>只</a:t>
            </a:r>
            <a:r>
              <a:rPr lang="zh-CN" altLang="en-US" dirty="0" smtClean="0"/>
              <a:t>需记录第一个块的地址和总块数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zh-CN" altLang="en-US" dirty="0" smtClean="0"/>
              <a:t>优点：顺序访问，速度快</a:t>
            </a:r>
            <a:endParaRPr lang="en-US" altLang="zh-CN" dirty="0" smtClean="0"/>
          </a:p>
          <a:p>
            <a:pPr lvl="1"/>
            <a:r>
              <a:rPr lang="zh-CN" altLang="en-US" dirty="0"/>
              <a:t>缺</a:t>
            </a:r>
            <a:r>
              <a:rPr lang="zh-CN" altLang="en-US" dirty="0" smtClean="0"/>
              <a:t>点：需要足够大的</a:t>
            </a:r>
            <a:r>
              <a:rPr lang="zh-CN" altLang="en-US" dirty="0" smtClean="0">
                <a:solidFill>
                  <a:srgbClr val="FF3300"/>
                </a:solidFill>
              </a:rPr>
              <a:t>连续空间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EDF-7B93-406C-AB25-CD14805062D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593826" y="2811095"/>
            <a:ext cx="5564188" cy="2293938"/>
            <a:chOff x="1957" y="2614"/>
            <a:chExt cx="3505" cy="1445"/>
          </a:xfrm>
        </p:grpSpPr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7" y="2640"/>
              <a:ext cx="1374" cy="1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4241" y="2614"/>
              <a:ext cx="9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b="1" dirty="0">
                  <a:ea typeface="楷体" panose="02010609060101010101" pitchFamily="49" charset="-122"/>
                </a:rPr>
                <a:t>文件目录</a:t>
              </a:r>
            </a:p>
          </p:txBody>
        </p:sp>
        <p:grpSp>
          <p:nvGrpSpPr>
            <p:cNvPr id="10" name="Group 7"/>
            <p:cNvGrpSpPr>
              <a:grpSpLocks/>
            </p:cNvGrpSpPr>
            <p:nvPr/>
          </p:nvGrpSpPr>
          <p:grpSpPr bwMode="auto">
            <a:xfrm>
              <a:off x="3874" y="2872"/>
              <a:ext cx="1588" cy="1065"/>
              <a:chOff x="158" y="3067"/>
              <a:chExt cx="1588" cy="1065"/>
            </a:xfrm>
          </p:grpSpPr>
          <p:sp>
            <p:nvSpPr>
              <p:cNvPr id="11" name="Text Box 8"/>
              <p:cNvSpPr txBox="1">
                <a:spLocks noChangeArrowheads="1"/>
              </p:cNvSpPr>
              <p:nvPr/>
            </p:nvSpPr>
            <p:spPr bwMode="auto">
              <a:xfrm>
                <a:off x="158" y="3067"/>
                <a:ext cx="1588" cy="10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10000"/>
                  </a:spcBef>
                </a:pPr>
                <a:r>
                  <a:rPr kumimoji="0" lang="zh-CN" altLang="en-US" sz="1600" b="1">
                    <a:ea typeface="楷体" panose="02010609060101010101" pitchFamily="49" charset="-122"/>
                  </a:rPr>
                  <a:t>文件名	起始块	长度</a:t>
                </a:r>
              </a:p>
              <a:p>
                <a:pPr>
                  <a:spcBef>
                    <a:spcPct val="10000"/>
                  </a:spcBef>
                </a:pPr>
                <a:r>
                  <a:rPr kumimoji="0" lang="zh-CN" altLang="en-US" sz="1600" b="1">
                    <a:ea typeface="楷体" panose="02010609060101010101" pitchFamily="49" charset="-122"/>
                  </a:rPr>
                  <a:t> </a:t>
                </a:r>
                <a:r>
                  <a:rPr kumimoji="0" lang="en-US" altLang="zh-CN" sz="1600" b="1">
                    <a:ea typeface="楷体" panose="02010609060101010101" pitchFamily="49" charset="-122"/>
                  </a:rPr>
                  <a:t>FileA	    2	   3</a:t>
                </a:r>
              </a:p>
              <a:p>
                <a:pPr>
                  <a:spcBef>
                    <a:spcPct val="10000"/>
                  </a:spcBef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 FileB	    9	   5</a:t>
                </a:r>
              </a:p>
              <a:p>
                <a:pPr>
                  <a:spcBef>
                    <a:spcPct val="10000"/>
                  </a:spcBef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 FileC	   18	   8</a:t>
                </a:r>
              </a:p>
              <a:p>
                <a:pPr>
                  <a:spcBef>
                    <a:spcPct val="10000"/>
                  </a:spcBef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 FileD	   30	   2</a:t>
                </a:r>
              </a:p>
              <a:p>
                <a:pPr>
                  <a:spcBef>
                    <a:spcPct val="10000"/>
                  </a:spcBef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 FileE	   26	   3</a:t>
                </a:r>
              </a:p>
            </p:txBody>
          </p:sp>
          <p:sp>
            <p:nvSpPr>
              <p:cNvPr id="12" name="Line 9"/>
              <p:cNvSpPr>
                <a:spLocks noChangeShapeType="1"/>
              </p:cNvSpPr>
              <p:nvPr/>
            </p:nvSpPr>
            <p:spPr bwMode="auto">
              <a:xfrm>
                <a:off x="158" y="3270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>
                <a:off x="158" y="3430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158" y="3595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2"/>
              <p:cNvSpPr>
                <a:spLocks noChangeShapeType="1"/>
              </p:cNvSpPr>
              <p:nvPr/>
            </p:nvSpPr>
            <p:spPr bwMode="auto">
              <a:xfrm>
                <a:off x="158" y="3755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3"/>
              <p:cNvSpPr>
                <a:spLocks noChangeShapeType="1"/>
              </p:cNvSpPr>
              <p:nvPr/>
            </p:nvSpPr>
            <p:spPr bwMode="auto">
              <a:xfrm>
                <a:off x="158" y="3936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4"/>
              <p:cNvSpPr>
                <a:spLocks noChangeShapeType="1"/>
              </p:cNvSpPr>
              <p:nvPr/>
            </p:nvSpPr>
            <p:spPr bwMode="auto">
              <a:xfrm>
                <a:off x="703" y="3067"/>
                <a:ext cx="0" cy="10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>
                <a:off x="1261" y="3067"/>
                <a:ext cx="0" cy="10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526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</a:t>
            </a:r>
            <a:r>
              <a:rPr lang="zh-CN" altLang="en-US" dirty="0" smtClean="0"/>
              <a:t>接分配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隐式链接分配：在每个块中维护指向下一个块的指针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5291-347F-4CA0-BE74-68ED11D12A0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1547961" y="2780928"/>
            <a:ext cx="6048375" cy="2789237"/>
            <a:chOff x="1020" y="2450"/>
            <a:chExt cx="3810" cy="1757"/>
          </a:xfrm>
        </p:grpSpPr>
        <p:pic>
          <p:nvPicPr>
            <p:cNvPr id="8" name="Picture 1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2450"/>
              <a:ext cx="1951" cy="17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3519" y="2614"/>
              <a:ext cx="9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b="1"/>
                <a:t>文件目录</a:t>
              </a:r>
            </a:p>
          </p:txBody>
        </p: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3152" y="2872"/>
              <a:ext cx="1678" cy="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kumimoji="0" lang="zh-CN" altLang="en-US" sz="1600" b="1"/>
                <a:t>文件名	起始块	最后块</a:t>
              </a:r>
            </a:p>
            <a:p>
              <a:pPr>
                <a:spcBef>
                  <a:spcPct val="10000"/>
                </a:spcBef>
              </a:pPr>
              <a:r>
                <a:rPr kumimoji="0" lang="zh-CN" altLang="en-US" sz="1600" b="1"/>
                <a:t>   </a:t>
              </a:r>
              <a:r>
                <a:rPr kumimoji="0" lang="en-US" altLang="zh-CN" sz="1600" b="1"/>
                <a:t>…	    …	    …</a:t>
              </a:r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/>
                <a:t> FileB	     1	    28</a:t>
              </a:r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/>
                <a:t>   …	    …	    …</a:t>
              </a:r>
            </a:p>
          </p:txBody>
        </p:sp>
        <p:sp>
          <p:nvSpPr>
            <p:cNvPr id="11" name="Line 20"/>
            <p:cNvSpPr>
              <a:spLocks noChangeShapeType="1"/>
            </p:cNvSpPr>
            <p:nvPr/>
          </p:nvSpPr>
          <p:spPr bwMode="auto">
            <a:xfrm>
              <a:off x="3152" y="3075"/>
              <a:ext cx="16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21"/>
            <p:cNvSpPr>
              <a:spLocks noChangeShapeType="1"/>
            </p:cNvSpPr>
            <p:nvPr/>
          </p:nvSpPr>
          <p:spPr bwMode="auto">
            <a:xfrm>
              <a:off x="3152" y="3235"/>
              <a:ext cx="16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22"/>
            <p:cNvSpPr>
              <a:spLocks noChangeShapeType="1"/>
            </p:cNvSpPr>
            <p:nvPr/>
          </p:nvSpPr>
          <p:spPr bwMode="auto">
            <a:xfrm>
              <a:off x="3152" y="3400"/>
              <a:ext cx="16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3"/>
            <p:cNvSpPr>
              <a:spLocks noChangeShapeType="1"/>
            </p:cNvSpPr>
            <p:nvPr/>
          </p:nvSpPr>
          <p:spPr bwMode="auto">
            <a:xfrm>
              <a:off x="3728" y="2872"/>
              <a:ext cx="0" cy="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>
              <a:off x="4318" y="2872"/>
              <a:ext cx="0" cy="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4861074" y="4941515"/>
            <a:ext cx="2735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0" lang="zh-CN" altLang="en-US" sz="2400" b="1"/>
              <a:t>适用于连续访问</a:t>
            </a:r>
          </a:p>
        </p:txBody>
      </p:sp>
      <p:sp>
        <p:nvSpPr>
          <p:cNvPr id="17" name="Oval 26"/>
          <p:cNvSpPr>
            <a:spLocks noChangeArrowheads="1"/>
          </p:cNvSpPr>
          <p:nvPr/>
        </p:nvSpPr>
        <p:spPr bwMode="auto">
          <a:xfrm>
            <a:off x="6227911" y="4077915"/>
            <a:ext cx="144463" cy="14446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25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2.22222E-6 L -0.40937 -0.10486 " pathEditMode="relative" ptsTypes="AA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937 -0.10486 L -0.27552 -0.0629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84" y="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552 -0.06296 L -0.27552 -0.11551 " pathEditMode="relative" ptsTypes="AA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552 -0.11551 L -0.22031 -0.02106 " pathEditMode="relative" ptsTypes="AA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163 -0.02338 L -0.28246 0.12361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2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链接分配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显示链接分配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把用于链接物理块的指针显式的存放在内存的一张连接表中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4F964-E9C4-4673-B29F-99333BB3A4F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grpSp>
        <p:nvGrpSpPr>
          <p:cNvPr id="7" name="Group 58"/>
          <p:cNvGrpSpPr>
            <a:grpSpLocks/>
          </p:cNvGrpSpPr>
          <p:nvPr/>
        </p:nvGrpSpPr>
        <p:grpSpPr bwMode="auto">
          <a:xfrm>
            <a:off x="611560" y="3389511"/>
            <a:ext cx="7848600" cy="2335213"/>
            <a:chOff x="340" y="2474"/>
            <a:chExt cx="4944" cy="1471"/>
          </a:xfrm>
        </p:grpSpPr>
        <p:grpSp>
          <p:nvGrpSpPr>
            <p:cNvPr id="8" name="Group 15"/>
            <p:cNvGrpSpPr>
              <a:grpSpLocks/>
            </p:cNvGrpSpPr>
            <p:nvPr/>
          </p:nvGrpSpPr>
          <p:grpSpPr bwMode="auto">
            <a:xfrm>
              <a:off x="3606" y="2610"/>
              <a:ext cx="1678" cy="983"/>
              <a:chOff x="3152" y="2614"/>
              <a:chExt cx="1678" cy="983"/>
            </a:xfrm>
          </p:grpSpPr>
          <p:sp>
            <p:nvSpPr>
              <p:cNvPr id="20" name="Text Box 16"/>
              <p:cNvSpPr txBox="1">
                <a:spLocks noChangeArrowheads="1"/>
              </p:cNvSpPr>
              <p:nvPr/>
            </p:nvSpPr>
            <p:spPr bwMode="auto">
              <a:xfrm>
                <a:off x="3519" y="2614"/>
                <a:ext cx="90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zh-CN" altLang="en-US" sz="1800" b="1">
                    <a:ea typeface="楷体" panose="02010609060101010101" pitchFamily="49" charset="-122"/>
                  </a:rPr>
                  <a:t>文件目录</a:t>
                </a:r>
              </a:p>
            </p:txBody>
          </p:sp>
          <p:sp>
            <p:nvSpPr>
              <p:cNvPr id="21" name="Text Box 17"/>
              <p:cNvSpPr txBox="1">
                <a:spLocks noChangeArrowheads="1"/>
              </p:cNvSpPr>
              <p:nvPr/>
            </p:nvSpPr>
            <p:spPr bwMode="auto">
              <a:xfrm>
                <a:off x="3152" y="2872"/>
                <a:ext cx="1678" cy="7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10000"/>
                  </a:spcBef>
                </a:pPr>
                <a:r>
                  <a:rPr kumimoji="0" lang="zh-CN" altLang="en-US" sz="1600" b="1">
                    <a:ea typeface="楷体" panose="02010609060101010101" pitchFamily="49" charset="-122"/>
                  </a:rPr>
                  <a:t>文件名	起始块	最后块</a:t>
                </a:r>
              </a:p>
              <a:p>
                <a:pPr>
                  <a:spcBef>
                    <a:spcPct val="10000"/>
                  </a:spcBef>
                </a:pPr>
                <a:r>
                  <a:rPr kumimoji="0" lang="zh-CN" altLang="en-US" sz="1600" b="1">
                    <a:ea typeface="楷体" panose="02010609060101010101" pitchFamily="49" charset="-122"/>
                  </a:rPr>
                  <a:t>   </a:t>
                </a:r>
                <a:r>
                  <a:rPr kumimoji="0" lang="en-US" altLang="zh-CN" sz="1600" b="1">
                    <a:ea typeface="楷体" panose="02010609060101010101" pitchFamily="49" charset="-122"/>
                  </a:rPr>
                  <a:t>…	    …	    …</a:t>
                </a:r>
              </a:p>
              <a:p>
                <a:pPr>
                  <a:spcBef>
                    <a:spcPct val="10000"/>
                  </a:spcBef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 FileB	     1	    28</a:t>
                </a:r>
              </a:p>
              <a:p>
                <a:pPr>
                  <a:spcBef>
                    <a:spcPct val="10000"/>
                  </a:spcBef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   …	    …	    …</a:t>
                </a:r>
              </a:p>
            </p:txBody>
          </p: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3152" y="3075"/>
                <a:ext cx="16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3" name="Line 19"/>
              <p:cNvSpPr>
                <a:spLocks noChangeShapeType="1"/>
              </p:cNvSpPr>
              <p:nvPr/>
            </p:nvSpPr>
            <p:spPr bwMode="auto">
              <a:xfrm>
                <a:off x="3152" y="3235"/>
                <a:ext cx="16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Line 20"/>
              <p:cNvSpPr>
                <a:spLocks noChangeShapeType="1"/>
              </p:cNvSpPr>
              <p:nvPr/>
            </p:nvSpPr>
            <p:spPr bwMode="auto">
              <a:xfrm>
                <a:off x="3152" y="3400"/>
                <a:ext cx="16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Line 21"/>
              <p:cNvSpPr>
                <a:spLocks noChangeShapeType="1"/>
              </p:cNvSpPr>
              <p:nvPr/>
            </p:nvSpPr>
            <p:spPr bwMode="auto">
              <a:xfrm>
                <a:off x="3728" y="2872"/>
                <a:ext cx="0" cy="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Line 22"/>
              <p:cNvSpPr>
                <a:spLocks noChangeShapeType="1"/>
              </p:cNvSpPr>
              <p:nvPr/>
            </p:nvSpPr>
            <p:spPr bwMode="auto">
              <a:xfrm>
                <a:off x="4318" y="2872"/>
                <a:ext cx="0" cy="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40" y="2474"/>
              <a:ext cx="1633" cy="1471"/>
              <a:chOff x="249" y="2659"/>
              <a:chExt cx="1633" cy="1471"/>
            </a:xfrm>
          </p:grpSpPr>
          <p:pic>
            <p:nvPicPr>
              <p:cNvPr id="10" name="Picture 2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2659"/>
                <a:ext cx="1633" cy="14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Rectangle 25"/>
              <p:cNvSpPr>
                <a:spLocks noChangeArrowheads="1"/>
              </p:cNvSpPr>
              <p:nvPr/>
            </p:nvSpPr>
            <p:spPr bwMode="auto">
              <a:xfrm>
                <a:off x="748" y="3043"/>
                <a:ext cx="454" cy="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2" name="Rectangle 26"/>
              <p:cNvSpPr>
                <a:spLocks noChangeArrowheads="1"/>
              </p:cNvSpPr>
              <p:nvPr/>
            </p:nvSpPr>
            <p:spPr bwMode="auto">
              <a:xfrm>
                <a:off x="1202" y="3067"/>
                <a:ext cx="90" cy="4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3" name="Rectangle 27"/>
              <p:cNvSpPr>
                <a:spLocks noChangeArrowheads="1"/>
              </p:cNvSpPr>
              <p:nvPr/>
            </p:nvSpPr>
            <p:spPr bwMode="auto">
              <a:xfrm>
                <a:off x="1292" y="3043"/>
                <a:ext cx="81" cy="5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4" name="Rectangle 28"/>
              <p:cNvSpPr>
                <a:spLocks noChangeArrowheads="1"/>
              </p:cNvSpPr>
              <p:nvPr/>
            </p:nvSpPr>
            <p:spPr bwMode="auto">
              <a:xfrm>
                <a:off x="1499" y="2976"/>
                <a:ext cx="46" cy="1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Rectangle 29"/>
              <p:cNvSpPr>
                <a:spLocks noChangeArrowheads="1"/>
              </p:cNvSpPr>
              <p:nvPr/>
            </p:nvSpPr>
            <p:spPr bwMode="auto">
              <a:xfrm>
                <a:off x="1499" y="3112"/>
                <a:ext cx="46" cy="1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Rectangle 30"/>
              <p:cNvSpPr>
                <a:spLocks noChangeArrowheads="1"/>
              </p:cNvSpPr>
              <p:nvPr/>
            </p:nvSpPr>
            <p:spPr bwMode="auto">
              <a:xfrm>
                <a:off x="1519" y="3203"/>
                <a:ext cx="91" cy="9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Rectangle 31"/>
              <p:cNvSpPr>
                <a:spLocks noChangeArrowheads="1"/>
              </p:cNvSpPr>
              <p:nvPr/>
            </p:nvSpPr>
            <p:spPr bwMode="auto">
              <a:xfrm>
                <a:off x="1474" y="3380"/>
                <a:ext cx="254" cy="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Rectangle 32"/>
              <p:cNvSpPr>
                <a:spLocks noChangeArrowheads="1"/>
              </p:cNvSpPr>
              <p:nvPr/>
            </p:nvSpPr>
            <p:spPr bwMode="auto">
              <a:xfrm>
                <a:off x="1489" y="3430"/>
                <a:ext cx="23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Rectangle 33"/>
              <p:cNvSpPr>
                <a:spLocks noChangeArrowheads="1"/>
              </p:cNvSpPr>
              <p:nvPr/>
            </p:nvSpPr>
            <p:spPr bwMode="auto">
              <a:xfrm>
                <a:off x="1287" y="3702"/>
                <a:ext cx="227" cy="6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</p:grpSp>
      </p:grpSp>
      <p:grpSp>
        <p:nvGrpSpPr>
          <p:cNvPr id="27" name="Group 57"/>
          <p:cNvGrpSpPr>
            <a:grpSpLocks/>
          </p:cNvGrpSpPr>
          <p:nvPr/>
        </p:nvGrpSpPr>
        <p:grpSpPr bwMode="auto">
          <a:xfrm>
            <a:off x="3172198" y="2852936"/>
            <a:ext cx="3848100" cy="3062288"/>
            <a:chOff x="1953" y="2136"/>
            <a:chExt cx="2424" cy="1929"/>
          </a:xfrm>
        </p:grpSpPr>
        <p:sp>
          <p:nvSpPr>
            <p:cNvPr id="28" name="Text Box 34"/>
            <p:cNvSpPr txBox="1">
              <a:spLocks noChangeArrowheads="1"/>
            </p:cNvSpPr>
            <p:nvPr/>
          </p:nvSpPr>
          <p:spPr bwMode="auto">
            <a:xfrm>
              <a:off x="2290" y="2338"/>
              <a:ext cx="272" cy="1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2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8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14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28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" name="Text Box 35"/>
            <p:cNvSpPr txBox="1">
              <a:spLocks noChangeArrowheads="1"/>
            </p:cNvSpPr>
            <p:nvPr/>
          </p:nvSpPr>
          <p:spPr bwMode="auto">
            <a:xfrm>
              <a:off x="2563" y="2333"/>
              <a:ext cx="408" cy="17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8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14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28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-1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0" name="Line 36"/>
            <p:cNvSpPr>
              <a:spLocks noChangeShapeType="1"/>
            </p:cNvSpPr>
            <p:nvPr/>
          </p:nvSpPr>
          <p:spPr bwMode="auto">
            <a:xfrm>
              <a:off x="2563" y="248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Line 37"/>
            <p:cNvSpPr>
              <a:spLocks noChangeShapeType="1"/>
            </p:cNvSpPr>
            <p:nvPr/>
          </p:nvSpPr>
          <p:spPr bwMode="auto">
            <a:xfrm>
              <a:off x="2563" y="2630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2" name="Line 38"/>
            <p:cNvSpPr>
              <a:spLocks noChangeShapeType="1"/>
            </p:cNvSpPr>
            <p:nvPr/>
          </p:nvSpPr>
          <p:spPr bwMode="auto">
            <a:xfrm>
              <a:off x="2563" y="276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3" name="Line 39"/>
            <p:cNvSpPr>
              <a:spLocks noChangeShapeType="1"/>
            </p:cNvSpPr>
            <p:nvPr/>
          </p:nvSpPr>
          <p:spPr bwMode="auto">
            <a:xfrm>
              <a:off x="2563" y="291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2563" y="304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5" name="Line 41"/>
            <p:cNvSpPr>
              <a:spLocks noChangeShapeType="1"/>
            </p:cNvSpPr>
            <p:nvPr/>
          </p:nvSpPr>
          <p:spPr bwMode="auto">
            <a:xfrm>
              <a:off x="2563" y="3190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6" name="Line 42"/>
            <p:cNvSpPr>
              <a:spLocks noChangeShapeType="1"/>
            </p:cNvSpPr>
            <p:nvPr/>
          </p:nvSpPr>
          <p:spPr bwMode="auto">
            <a:xfrm>
              <a:off x="2563" y="332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43"/>
            <p:cNvSpPr>
              <a:spLocks noChangeShapeType="1"/>
            </p:cNvSpPr>
            <p:nvPr/>
          </p:nvSpPr>
          <p:spPr bwMode="auto">
            <a:xfrm>
              <a:off x="2563" y="347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44"/>
            <p:cNvSpPr>
              <a:spLocks noChangeShapeType="1"/>
            </p:cNvSpPr>
            <p:nvPr/>
          </p:nvSpPr>
          <p:spPr bwMode="auto">
            <a:xfrm>
              <a:off x="2563" y="362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45"/>
            <p:cNvSpPr>
              <a:spLocks noChangeShapeType="1"/>
            </p:cNvSpPr>
            <p:nvPr/>
          </p:nvSpPr>
          <p:spPr bwMode="auto">
            <a:xfrm>
              <a:off x="2563" y="3765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46"/>
            <p:cNvSpPr>
              <a:spLocks noChangeShapeType="1"/>
            </p:cNvSpPr>
            <p:nvPr/>
          </p:nvSpPr>
          <p:spPr bwMode="auto">
            <a:xfrm>
              <a:off x="2563" y="3901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Text Box 47"/>
            <p:cNvSpPr txBox="1">
              <a:spLocks noChangeArrowheads="1"/>
            </p:cNvSpPr>
            <p:nvPr/>
          </p:nvSpPr>
          <p:spPr bwMode="auto">
            <a:xfrm>
              <a:off x="2406" y="3064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42" name="Text Box 48"/>
            <p:cNvSpPr txBox="1">
              <a:spLocks noChangeArrowheads="1"/>
            </p:cNvSpPr>
            <p:nvPr/>
          </p:nvSpPr>
          <p:spPr bwMode="auto">
            <a:xfrm>
              <a:off x="2401" y="3341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43" name="Text Box 49"/>
            <p:cNvSpPr txBox="1">
              <a:spLocks noChangeArrowheads="1"/>
            </p:cNvSpPr>
            <p:nvPr/>
          </p:nvSpPr>
          <p:spPr bwMode="auto">
            <a:xfrm>
              <a:off x="2401" y="3623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44" name="Text Box 50"/>
            <p:cNvSpPr txBox="1">
              <a:spLocks noChangeArrowheads="1"/>
            </p:cNvSpPr>
            <p:nvPr/>
          </p:nvSpPr>
          <p:spPr bwMode="auto">
            <a:xfrm>
              <a:off x="2396" y="3911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45" name="Text Box 51"/>
            <p:cNvSpPr txBox="1">
              <a:spLocks noChangeArrowheads="1"/>
            </p:cNvSpPr>
            <p:nvPr/>
          </p:nvSpPr>
          <p:spPr bwMode="auto">
            <a:xfrm>
              <a:off x="1953" y="2136"/>
              <a:ext cx="108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物理块号    </a:t>
              </a:r>
              <a:r>
                <a:rPr kumimoji="0" lang="en-US" altLang="zh-CN" sz="1600" b="1">
                  <a:ea typeface="楷体" panose="02010609060101010101" pitchFamily="49" charset="-122"/>
                </a:rPr>
                <a:t>FAT</a:t>
              </a:r>
            </a:p>
          </p:txBody>
        </p:sp>
        <p:sp>
          <p:nvSpPr>
            <p:cNvPr id="46" name="Freeform 52"/>
            <p:cNvSpPr>
              <a:spLocks/>
            </p:cNvSpPr>
            <p:nvPr/>
          </p:nvSpPr>
          <p:spPr bwMode="auto">
            <a:xfrm>
              <a:off x="2835" y="2437"/>
              <a:ext cx="1542" cy="899"/>
            </a:xfrm>
            <a:custGeom>
              <a:avLst/>
              <a:gdLst>
                <a:gd name="T0" fmla="*/ 1542 w 1542"/>
                <a:gd name="T1" fmla="*/ 899 h 899"/>
                <a:gd name="T2" fmla="*/ 363 w 1542"/>
                <a:gd name="T3" fmla="*/ 128 h 899"/>
                <a:gd name="T4" fmla="*/ 0 w 1542"/>
                <a:gd name="T5" fmla="*/ 128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2" h="899">
                  <a:moveTo>
                    <a:pt x="1542" y="899"/>
                  </a:moveTo>
                  <a:cubicBezTo>
                    <a:pt x="1081" y="577"/>
                    <a:pt x="620" y="256"/>
                    <a:pt x="363" y="128"/>
                  </a:cubicBezTo>
                  <a:cubicBezTo>
                    <a:pt x="106" y="0"/>
                    <a:pt x="60" y="128"/>
                    <a:pt x="0" y="12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7" name="Freeform 53"/>
            <p:cNvSpPr>
              <a:spLocks/>
            </p:cNvSpPr>
            <p:nvPr/>
          </p:nvSpPr>
          <p:spPr bwMode="auto">
            <a:xfrm>
              <a:off x="2835" y="2565"/>
              <a:ext cx="279" cy="680"/>
            </a:xfrm>
            <a:custGeom>
              <a:avLst/>
              <a:gdLst>
                <a:gd name="T0" fmla="*/ 0 w 279"/>
                <a:gd name="T1" fmla="*/ 0 h 680"/>
                <a:gd name="T2" fmla="*/ 272 w 279"/>
                <a:gd name="T3" fmla="*/ 272 h 680"/>
                <a:gd name="T4" fmla="*/ 45 w 279"/>
                <a:gd name="T5" fmla="*/ 68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9" h="680">
                  <a:moveTo>
                    <a:pt x="0" y="0"/>
                  </a:moveTo>
                  <a:cubicBezTo>
                    <a:pt x="132" y="79"/>
                    <a:pt x="265" y="159"/>
                    <a:pt x="272" y="272"/>
                  </a:cubicBezTo>
                  <a:cubicBezTo>
                    <a:pt x="279" y="385"/>
                    <a:pt x="83" y="612"/>
                    <a:pt x="45" y="68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Freeform 54"/>
            <p:cNvSpPr>
              <a:spLocks/>
            </p:cNvSpPr>
            <p:nvPr/>
          </p:nvSpPr>
          <p:spPr bwMode="auto">
            <a:xfrm>
              <a:off x="2880" y="2837"/>
              <a:ext cx="326" cy="408"/>
            </a:xfrm>
            <a:custGeom>
              <a:avLst/>
              <a:gdLst>
                <a:gd name="T0" fmla="*/ 0 w 326"/>
                <a:gd name="T1" fmla="*/ 408 h 408"/>
                <a:gd name="T2" fmla="*/ 318 w 326"/>
                <a:gd name="T3" fmla="*/ 181 h 408"/>
                <a:gd name="T4" fmla="*/ 46 w 326"/>
                <a:gd name="T5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6" h="408">
                  <a:moveTo>
                    <a:pt x="0" y="408"/>
                  </a:moveTo>
                  <a:cubicBezTo>
                    <a:pt x="155" y="328"/>
                    <a:pt x="310" y="249"/>
                    <a:pt x="318" y="181"/>
                  </a:cubicBezTo>
                  <a:cubicBezTo>
                    <a:pt x="326" y="113"/>
                    <a:pt x="91" y="30"/>
                    <a:pt x="46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9" name="Freeform 55"/>
            <p:cNvSpPr>
              <a:spLocks/>
            </p:cNvSpPr>
            <p:nvPr/>
          </p:nvSpPr>
          <p:spPr bwMode="auto">
            <a:xfrm>
              <a:off x="2880" y="2837"/>
              <a:ext cx="326" cy="726"/>
            </a:xfrm>
            <a:custGeom>
              <a:avLst/>
              <a:gdLst>
                <a:gd name="T0" fmla="*/ 46 w 326"/>
                <a:gd name="T1" fmla="*/ 0 h 726"/>
                <a:gd name="T2" fmla="*/ 318 w 326"/>
                <a:gd name="T3" fmla="*/ 363 h 726"/>
                <a:gd name="T4" fmla="*/ 0 w 326"/>
                <a:gd name="T5" fmla="*/ 72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6" h="726">
                  <a:moveTo>
                    <a:pt x="46" y="0"/>
                  </a:moveTo>
                  <a:cubicBezTo>
                    <a:pt x="186" y="121"/>
                    <a:pt x="326" y="242"/>
                    <a:pt x="318" y="363"/>
                  </a:cubicBezTo>
                  <a:cubicBezTo>
                    <a:pt x="310" y="484"/>
                    <a:pt x="53" y="666"/>
                    <a:pt x="0" y="72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0" name="Freeform 56"/>
            <p:cNvSpPr>
              <a:spLocks/>
            </p:cNvSpPr>
            <p:nvPr/>
          </p:nvSpPr>
          <p:spPr bwMode="auto">
            <a:xfrm>
              <a:off x="2880" y="3563"/>
              <a:ext cx="136" cy="272"/>
            </a:xfrm>
            <a:custGeom>
              <a:avLst/>
              <a:gdLst>
                <a:gd name="T0" fmla="*/ 0 w 136"/>
                <a:gd name="T1" fmla="*/ 0 h 272"/>
                <a:gd name="T2" fmla="*/ 136 w 136"/>
                <a:gd name="T3" fmla="*/ 136 h 272"/>
                <a:gd name="T4" fmla="*/ 0 w 136"/>
                <a:gd name="T5" fmla="*/ 27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272">
                  <a:moveTo>
                    <a:pt x="0" y="0"/>
                  </a:moveTo>
                  <a:cubicBezTo>
                    <a:pt x="68" y="45"/>
                    <a:pt x="136" y="91"/>
                    <a:pt x="136" y="136"/>
                  </a:cubicBezTo>
                  <a:cubicBezTo>
                    <a:pt x="136" y="181"/>
                    <a:pt x="23" y="249"/>
                    <a:pt x="0" y="27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616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链接分配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en-US" altLang="zh-CN" dirty="0" smtClean="0"/>
          </a:p>
          <a:p>
            <a:pPr lvl="1"/>
            <a:r>
              <a:rPr lang="zh-CN" altLang="en-US" sz="2000" dirty="0" smtClean="0"/>
              <a:t>设</a:t>
            </a:r>
            <a:r>
              <a:rPr lang="zh-CN" altLang="en-US" sz="2000" dirty="0"/>
              <a:t>磁盘块大小为</a:t>
            </a:r>
            <a:r>
              <a:rPr lang="en-US" altLang="zh-CN" sz="2000" dirty="0"/>
              <a:t>1KB</a:t>
            </a:r>
            <a:r>
              <a:rPr lang="zh-CN" altLang="en-US" sz="2000" dirty="0"/>
              <a:t>，硬盘大小为</a:t>
            </a:r>
            <a:r>
              <a:rPr lang="en-US" altLang="zh-CN" sz="2000" dirty="0"/>
              <a:t>500MB</a:t>
            </a:r>
            <a:r>
              <a:rPr lang="zh-CN" altLang="en-US" sz="2000" dirty="0"/>
              <a:t>，采用显式连接分配方式时，其</a:t>
            </a:r>
            <a:r>
              <a:rPr lang="en-US" altLang="zh-CN" sz="2000" dirty="0" smtClean="0"/>
              <a:t>FAT</a:t>
            </a:r>
            <a:r>
              <a:rPr lang="zh-CN" altLang="en-US" sz="2000" dirty="0" smtClean="0"/>
              <a:t>表需</a:t>
            </a:r>
            <a:r>
              <a:rPr lang="zh-CN" altLang="en-US" sz="2000" dirty="0"/>
              <a:t>占多少存储空间？如果文件</a:t>
            </a:r>
            <a:r>
              <a:rPr lang="en-US" altLang="zh-CN" sz="2000" dirty="0"/>
              <a:t>A</a:t>
            </a:r>
            <a:r>
              <a:rPr lang="zh-CN" altLang="en-US" sz="2000" dirty="0"/>
              <a:t>占用硬盘的第</a:t>
            </a:r>
            <a:r>
              <a:rPr lang="en-US" altLang="zh-CN" sz="2000" dirty="0"/>
              <a:t>11</a:t>
            </a:r>
            <a:r>
              <a:rPr lang="zh-CN" altLang="en-US" sz="2000" dirty="0"/>
              <a:t>、</a:t>
            </a:r>
            <a:r>
              <a:rPr lang="en-US" altLang="zh-CN" sz="2000" dirty="0"/>
              <a:t>12</a:t>
            </a:r>
            <a:r>
              <a:rPr lang="zh-CN" altLang="en-US" sz="2000" dirty="0"/>
              <a:t>、</a:t>
            </a:r>
            <a:r>
              <a:rPr lang="en-US" altLang="zh-CN" sz="2000" dirty="0"/>
              <a:t>16</a:t>
            </a:r>
            <a:r>
              <a:rPr lang="zh-CN" altLang="en-US" sz="2000" dirty="0"/>
              <a:t>、</a:t>
            </a:r>
            <a:r>
              <a:rPr lang="en-US" altLang="zh-CN" sz="2000" dirty="0"/>
              <a:t>14</a:t>
            </a:r>
            <a:r>
              <a:rPr lang="zh-CN" altLang="en-US" sz="2000" dirty="0"/>
              <a:t>四个盘块，试画出文件</a:t>
            </a:r>
            <a:r>
              <a:rPr lang="en-US" altLang="zh-CN" sz="2000" dirty="0"/>
              <a:t>A</a:t>
            </a:r>
            <a:r>
              <a:rPr lang="zh-CN" altLang="en-US" sz="2000" dirty="0"/>
              <a:t>中各盘块间的链接情况及</a:t>
            </a:r>
            <a:r>
              <a:rPr lang="en-US" altLang="zh-CN" sz="2000" dirty="0"/>
              <a:t>FAT</a:t>
            </a:r>
            <a:r>
              <a:rPr lang="zh-CN" altLang="en-US" sz="2000" dirty="0"/>
              <a:t>的情</a:t>
            </a:r>
            <a:r>
              <a:rPr lang="zh-CN" altLang="en-US" sz="2000" dirty="0" smtClean="0"/>
              <a:t>况</a:t>
            </a:r>
            <a:endParaRPr lang="en-US" altLang="zh-CN" sz="2000" dirty="0" smtClean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 smtClean="0"/>
              <a:t>总块数：</a:t>
            </a:r>
            <a:r>
              <a:rPr lang="en-US" altLang="zh-CN" sz="2000" dirty="0" smtClean="0"/>
              <a:t>500 * 1024</a:t>
            </a:r>
            <a:r>
              <a:rPr lang="zh-CN" altLang="en-US" sz="2000" dirty="0" smtClean="0"/>
              <a:t>，每个块需要</a:t>
            </a:r>
            <a:r>
              <a:rPr lang="en-US" altLang="zh-CN" sz="2000" dirty="0" smtClean="0"/>
              <a:t>19</a:t>
            </a:r>
            <a:r>
              <a:rPr lang="zh-CN" altLang="en-US" sz="2000" dirty="0" smtClean="0"/>
              <a:t>位二进制来表示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E3A5-38A1-4449-8E81-D9D0C63EC1E2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2195736" y="4149080"/>
            <a:ext cx="4257675" cy="2219325"/>
            <a:chOff x="2058" y="2522"/>
            <a:chExt cx="2682" cy="1398"/>
          </a:xfrm>
        </p:grpSpPr>
        <p:sp>
          <p:nvSpPr>
            <p:cNvPr id="8" name="Text Box 50"/>
            <p:cNvSpPr txBox="1">
              <a:spLocks noChangeArrowheads="1"/>
            </p:cNvSpPr>
            <p:nvPr/>
          </p:nvSpPr>
          <p:spPr bwMode="auto">
            <a:xfrm>
              <a:off x="2063" y="3021"/>
              <a:ext cx="1633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 sz="1800" b="1" dirty="0">
                  <a:ea typeface="楷体" panose="02010609060101010101" pitchFamily="49" charset="-122"/>
                </a:rPr>
                <a:t>文件名  起始块  最末块</a:t>
              </a:r>
            </a:p>
            <a:p>
              <a:r>
                <a:rPr kumimoji="0" lang="zh-CN" altLang="en-US" sz="1800" b="1" dirty="0">
                  <a:ea typeface="楷体" panose="02010609060101010101" pitchFamily="49" charset="-122"/>
                </a:rPr>
                <a:t>    </a:t>
              </a:r>
              <a:r>
                <a:rPr kumimoji="0" lang="en-US" altLang="zh-CN" sz="1800" b="1" dirty="0">
                  <a:ea typeface="楷体" panose="02010609060101010101" pitchFamily="49" charset="-122"/>
                </a:rPr>
                <a:t>…          …          …</a:t>
              </a:r>
            </a:p>
            <a:p>
              <a:r>
                <a:rPr kumimoji="0" lang="en-US" altLang="zh-CN" sz="1800" b="1" dirty="0">
                  <a:ea typeface="楷体" panose="02010609060101010101" pitchFamily="49" charset="-122"/>
                </a:rPr>
                <a:t>    A           11          14</a:t>
              </a:r>
            </a:p>
            <a:p>
              <a:r>
                <a:rPr kumimoji="0" lang="en-US" altLang="zh-CN" sz="1800" b="1" dirty="0">
                  <a:ea typeface="楷体" panose="02010609060101010101" pitchFamily="49" charset="-122"/>
                </a:rPr>
                <a:t>    …          …          … </a:t>
              </a:r>
            </a:p>
          </p:txBody>
        </p:sp>
        <p:sp>
          <p:nvSpPr>
            <p:cNvPr id="9" name="Line 51"/>
            <p:cNvSpPr>
              <a:spLocks noChangeShapeType="1"/>
            </p:cNvSpPr>
            <p:nvPr/>
          </p:nvSpPr>
          <p:spPr bwMode="auto">
            <a:xfrm>
              <a:off x="2063" y="3248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" name="Line 52"/>
            <p:cNvSpPr>
              <a:spLocks noChangeShapeType="1"/>
            </p:cNvSpPr>
            <p:nvPr/>
          </p:nvSpPr>
          <p:spPr bwMode="auto">
            <a:xfrm>
              <a:off x="2058" y="3410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" name="Line 53"/>
            <p:cNvSpPr>
              <a:spLocks noChangeShapeType="1"/>
            </p:cNvSpPr>
            <p:nvPr/>
          </p:nvSpPr>
          <p:spPr bwMode="auto">
            <a:xfrm>
              <a:off x="2063" y="3591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2" name="Line 54"/>
            <p:cNvSpPr>
              <a:spLocks noChangeShapeType="1"/>
            </p:cNvSpPr>
            <p:nvPr/>
          </p:nvSpPr>
          <p:spPr bwMode="auto">
            <a:xfrm>
              <a:off x="2587" y="3021"/>
              <a:ext cx="0" cy="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3" name="Line 55"/>
            <p:cNvSpPr>
              <a:spLocks noChangeShapeType="1"/>
            </p:cNvSpPr>
            <p:nvPr/>
          </p:nvSpPr>
          <p:spPr bwMode="auto">
            <a:xfrm>
              <a:off x="3102" y="3031"/>
              <a:ext cx="0" cy="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4" name="Text Box 56"/>
            <p:cNvSpPr txBox="1">
              <a:spLocks noChangeArrowheads="1"/>
            </p:cNvSpPr>
            <p:nvPr/>
          </p:nvSpPr>
          <p:spPr bwMode="auto">
            <a:xfrm>
              <a:off x="3968" y="2749"/>
              <a:ext cx="318" cy="1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11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12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13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14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15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16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15" name="Text Box 57"/>
            <p:cNvSpPr txBox="1">
              <a:spLocks noChangeArrowheads="1"/>
            </p:cNvSpPr>
            <p:nvPr/>
          </p:nvSpPr>
          <p:spPr bwMode="auto">
            <a:xfrm>
              <a:off x="4286" y="2744"/>
              <a:ext cx="317" cy="11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12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16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-1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14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16" name="Line 58"/>
            <p:cNvSpPr>
              <a:spLocks noChangeShapeType="1"/>
            </p:cNvSpPr>
            <p:nvPr/>
          </p:nvSpPr>
          <p:spPr bwMode="auto">
            <a:xfrm>
              <a:off x="4286" y="2915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59"/>
            <p:cNvSpPr>
              <a:spLocks noChangeShapeType="1"/>
            </p:cNvSpPr>
            <p:nvPr/>
          </p:nvSpPr>
          <p:spPr bwMode="auto">
            <a:xfrm>
              <a:off x="4281" y="305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Line 60"/>
            <p:cNvSpPr>
              <a:spLocks noChangeShapeType="1"/>
            </p:cNvSpPr>
            <p:nvPr/>
          </p:nvSpPr>
          <p:spPr bwMode="auto">
            <a:xfrm>
              <a:off x="4286" y="318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Line 61"/>
            <p:cNvSpPr>
              <a:spLocks noChangeShapeType="1"/>
            </p:cNvSpPr>
            <p:nvPr/>
          </p:nvSpPr>
          <p:spPr bwMode="auto">
            <a:xfrm>
              <a:off x="4281" y="3324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0" name="Line 62"/>
            <p:cNvSpPr>
              <a:spLocks noChangeShapeType="1"/>
            </p:cNvSpPr>
            <p:nvPr/>
          </p:nvSpPr>
          <p:spPr bwMode="auto">
            <a:xfrm>
              <a:off x="4286" y="3475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Line 63"/>
            <p:cNvSpPr>
              <a:spLocks noChangeShapeType="1"/>
            </p:cNvSpPr>
            <p:nvPr/>
          </p:nvSpPr>
          <p:spPr bwMode="auto">
            <a:xfrm>
              <a:off x="4281" y="361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2" name="Line 64"/>
            <p:cNvSpPr>
              <a:spLocks noChangeShapeType="1"/>
            </p:cNvSpPr>
            <p:nvPr/>
          </p:nvSpPr>
          <p:spPr bwMode="auto">
            <a:xfrm>
              <a:off x="4286" y="375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3" name="Text Box 65"/>
            <p:cNvSpPr txBox="1">
              <a:spLocks noChangeArrowheads="1"/>
            </p:cNvSpPr>
            <p:nvPr/>
          </p:nvSpPr>
          <p:spPr bwMode="auto">
            <a:xfrm>
              <a:off x="4367" y="275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24" name="Text Box 66"/>
            <p:cNvSpPr txBox="1">
              <a:spLocks noChangeArrowheads="1"/>
            </p:cNvSpPr>
            <p:nvPr/>
          </p:nvSpPr>
          <p:spPr bwMode="auto">
            <a:xfrm>
              <a:off x="4094" y="2764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25" name="Text Box 67"/>
            <p:cNvSpPr txBox="1">
              <a:spLocks noChangeArrowheads="1"/>
            </p:cNvSpPr>
            <p:nvPr/>
          </p:nvSpPr>
          <p:spPr bwMode="auto">
            <a:xfrm>
              <a:off x="4377" y="3747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26" name="Text Box 68"/>
            <p:cNvSpPr txBox="1">
              <a:spLocks noChangeArrowheads="1"/>
            </p:cNvSpPr>
            <p:nvPr/>
          </p:nvSpPr>
          <p:spPr bwMode="auto">
            <a:xfrm>
              <a:off x="4104" y="3742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27" name="Line 69"/>
            <p:cNvSpPr>
              <a:spLocks noChangeShapeType="1"/>
            </p:cNvSpPr>
            <p:nvPr/>
          </p:nvSpPr>
          <p:spPr bwMode="auto">
            <a:xfrm flipV="1">
              <a:off x="3016" y="2976"/>
              <a:ext cx="1088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Freeform 70"/>
            <p:cNvSpPr>
              <a:spLocks/>
            </p:cNvSpPr>
            <p:nvPr/>
          </p:nvSpPr>
          <p:spPr bwMode="auto">
            <a:xfrm>
              <a:off x="4513" y="2976"/>
              <a:ext cx="136" cy="136"/>
            </a:xfrm>
            <a:custGeom>
              <a:avLst/>
              <a:gdLst>
                <a:gd name="T0" fmla="*/ 0 w 136"/>
                <a:gd name="T1" fmla="*/ 0 h 136"/>
                <a:gd name="T2" fmla="*/ 136 w 136"/>
                <a:gd name="T3" fmla="*/ 45 h 136"/>
                <a:gd name="T4" fmla="*/ 0 w 136"/>
                <a:gd name="T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136">
                  <a:moveTo>
                    <a:pt x="0" y="0"/>
                  </a:moveTo>
                  <a:cubicBezTo>
                    <a:pt x="68" y="11"/>
                    <a:pt x="136" y="22"/>
                    <a:pt x="136" y="45"/>
                  </a:cubicBezTo>
                  <a:cubicBezTo>
                    <a:pt x="136" y="68"/>
                    <a:pt x="23" y="121"/>
                    <a:pt x="0" y="1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Freeform 71"/>
            <p:cNvSpPr>
              <a:spLocks/>
            </p:cNvSpPr>
            <p:nvPr/>
          </p:nvSpPr>
          <p:spPr bwMode="auto">
            <a:xfrm>
              <a:off x="4513" y="3157"/>
              <a:ext cx="188" cy="545"/>
            </a:xfrm>
            <a:custGeom>
              <a:avLst/>
              <a:gdLst>
                <a:gd name="T0" fmla="*/ 0 w 188"/>
                <a:gd name="T1" fmla="*/ 0 h 499"/>
                <a:gd name="T2" fmla="*/ 181 w 188"/>
                <a:gd name="T3" fmla="*/ 227 h 499"/>
                <a:gd name="T4" fmla="*/ 45 w 188"/>
                <a:gd name="T5" fmla="*/ 49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499">
                  <a:moveTo>
                    <a:pt x="0" y="0"/>
                  </a:moveTo>
                  <a:cubicBezTo>
                    <a:pt x="87" y="72"/>
                    <a:pt x="174" y="144"/>
                    <a:pt x="181" y="227"/>
                  </a:cubicBezTo>
                  <a:cubicBezTo>
                    <a:pt x="188" y="310"/>
                    <a:pt x="68" y="454"/>
                    <a:pt x="45" y="4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Freeform 72"/>
            <p:cNvSpPr>
              <a:spLocks/>
            </p:cNvSpPr>
            <p:nvPr/>
          </p:nvSpPr>
          <p:spPr bwMode="auto">
            <a:xfrm>
              <a:off x="4558" y="3384"/>
              <a:ext cx="182" cy="318"/>
            </a:xfrm>
            <a:custGeom>
              <a:avLst/>
              <a:gdLst>
                <a:gd name="T0" fmla="*/ 0 w 182"/>
                <a:gd name="T1" fmla="*/ 318 h 318"/>
                <a:gd name="T2" fmla="*/ 182 w 182"/>
                <a:gd name="T3" fmla="*/ 136 h 318"/>
                <a:gd name="T4" fmla="*/ 0 w 182"/>
                <a:gd name="T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2" h="318">
                  <a:moveTo>
                    <a:pt x="0" y="318"/>
                  </a:moveTo>
                  <a:cubicBezTo>
                    <a:pt x="91" y="253"/>
                    <a:pt x="182" y="189"/>
                    <a:pt x="182" y="136"/>
                  </a:cubicBezTo>
                  <a:cubicBezTo>
                    <a:pt x="182" y="83"/>
                    <a:pt x="30" y="23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Text Box 73"/>
            <p:cNvSpPr txBox="1">
              <a:spLocks noChangeArrowheads="1"/>
            </p:cNvSpPr>
            <p:nvPr/>
          </p:nvSpPr>
          <p:spPr bwMode="auto">
            <a:xfrm>
              <a:off x="4185" y="2522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b="1">
                  <a:ea typeface="楷体" panose="02010609060101010101" pitchFamily="49" charset="-122"/>
                </a:rPr>
                <a:t>FAT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82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索引分配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单级索引分配</a:t>
            </a:r>
            <a:endParaRPr lang="en-US" altLang="zh-CN" dirty="0" smtClean="0"/>
          </a:p>
          <a:p>
            <a:pPr lvl="1"/>
            <a:r>
              <a:rPr lang="zh-CN" altLang="en-US" sz="2400" dirty="0"/>
              <a:t>文件的第一个簇中记录了该文件的其他簇的位置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00C4-24D7-444C-8CF6-7A9069CC6FA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5425976" y="3364805"/>
            <a:ext cx="1738312" cy="1549400"/>
            <a:chOff x="3735" y="2621"/>
            <a:chExt cx="1095" cy="976"/>
          </a:xfrm>
        </p:grpSpPr>
        <p:sp>
          <p:nvSpPr>
            <p:cNvPr id="8" name="Text Box 48"/>
            <p:cNvSpPr txBox="1">
              <a:spLocks noChangeArrowheads="1"/>
            </p:cNvSpPr>
            <p:nvPr/>
          </p:nvSpPr>
          <p:spPr bwMode="auto">
            <a:xfrm>
              <a:off x="3854" y="2621"/>
              <a:ext cx="9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b="1">
                  <a:ea typeface="楷体" panose="02010609060101010101" pitchFamily="49" charset="-122"/>
                </a:rPr>
                <a:t>文件目录</a:t>
              </a:r>
            </a:p>
          </p:txBody>
        </p:sp>
        <p:sp>
          <p:nvSpPr>
            <p:cNvPr id="9" name="Text Box 49"/>
            <p:cNvSpPr txBox="1">
              <a:spLocks noChangeArrowheads="1"/>
            </p:cNvSpPr>
            <p:nvPr/>
          </p:nvSpPr>
          <p:spPr bwMode="auto">
            <a:xfrm>
              <a:off x="3737" y="2872"/>
              <a:ext cx="1093" cy="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文件名	索引块</a:t>
              </a:r>
            </a:p>
            <a:p>
              <a:pPr>
                <a:spcBef>
                  <a:spcPct val="1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   </a:t>
              </a:r>
              <a:r>
                <a:rPr kumimoji="0" lang="en-US" altLang="zh-CN" sz="1600" b="1">
                  <a:ea typeface="楷体" panose="02010609060101010101" pitchFamily="49" charset="-122"/>
                </a:rPr>
                <a:t>…	    …</a:t>
              </a:r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 FileB	    24</a:t>
              </a:r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   …	    …</a:t>
              </a:r>
            </a:p>
          </p:txBody>
        </p:sp>
        <p:sp>
          <p:nvSpPr>
            <p:cNvPr id="10" name="Line 50"/>
            <p:cNvSpPr>
              <a:spLocks noChangeShapeType="1"/>
            </p:cNvSpPr>
            <p:nvPr/>
          </p:nvSpPr>
          <p:spPr bwMode="auto">
            <a:xfrm>
              <a:off x="3742" y="3081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" name="Line 51"/>
            <p:cNvSpPr>
              <a:spLocks noChangeShapeType="1"/>
            </p:cNvSpPr>
            <p:nvPr/>
          </p:nvSpPr>
          <p:spPr bwMode="auto">
            <a:xfrm>
              <a:off x="3735" y="3231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2" name="Line 52"/>
            <p:cNvSpPr>
              <a:spLocks noChangeShapeType="1"/>
            </p:cNvSpPr>
            <p:nvPr/>
          </p:nvSpPr>
          <p:spPr bwMode="auto">
            <a:xfrm>
              <a:off x="3735" y="3416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3" name="Line 53"/>
            <p:cNvSpPr>
              <a:spLocks noChangeShapeType="1"/>
            </p:cNvSpPr>
            <p:nvPr/>
          </p:nvSpPr>
          <p:spPr bwMode="auto">
            <a:xfrm>
              <a:off x="4286" y="2865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  <p:pic>
        <p:nvPicPr>
          <p:cNvPr id="14" name="Picture 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713" y="3140968"/>
            <a:ext cx="3833813" cy="25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val 55"/>
          <p:cNvSpPr>
            <a:spLocks noChangeArrowheads="1"/>
          </p:cNvSpPr>
          <p:nvPr/>
        </p:nvSpPr>
        <p:spPr bwMode="auto">
          <a:xfrm>
            <a:off x="6659463" y="4398268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86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1.85185E-6 L -0.29913 0.0479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65" y="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913 0.04792 L -0.20451 0.06875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索引分配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多重索引分配</a:t>
            </a:r>
            <a:endParaRPr lang="en-US" altLang="zh-CN" dirty="0" smtClean="0"/>
          </a:p>
          <a:p>
            <a:pPr lvl="1"/>
            <a:r>
              <a:rPr lang="zh-CN" altLang="en-US" sz="2400" dirty="0"/>
              <a:t>将一个大文件的所有索引表（二级索引）的地址放在另一个索引表（一级索引）中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0C86-F6D1-4B6E-99EB-F01C6517CB3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grpSp>
        <p:nvGrpSpPr>
          <p:cNvPr id="8" name="Group 60"/>
          <p:cNvGrpSpPr>
            <a:grpSpLocks/>
          </p:cNvGrpSpPr>
          <p:nvPr/>
        </p:nvGrpSpPr>
        <p:grpSpPr bwMode="auto">
          <a:xfrm>
            <a:off x="2459038" y="2780928"/>
            <a:ext cx="3984625" cy="3873501"/>
            <a:chOff x="1549" y="1864"/>
            <a:chExt cx="2510" cy="2440"/>
          </a:xfrm>
        </p:grpSpPr>
        <p:grpSp>
          <p:nvGrpSpPr>
            <p:cNvPr id="9" name="Group 58"/>
            <p:cNvGrpSpPr>
              <a:grpSpLocks/>
            </p:cNvGrpSpPr>
            <p:nvPr/>
          </p:nvGrpSpPr>
          <p:grpSpPr bwMode="auto">
            <a:xfrm>
              <a:off x="1639" y="2025"/>
              <a:ext cx="2420" cy="2279"/>
              <a:chOff x="385" y="1979"/>
              <a:chExt cx="2420" cy="2279"/>
            </a:xfrm>
          </p:grpSpPr>
          <p:grpSp>
            <p:nvGrpSpPr>
              <p:cNvPr id="11" name="Group 18"/>
              <p:cNvGrpSpPr>
                <a:grpSpLocks/>
              </p:cNvGrpSpPr>
              <p:nvPr/>
            </p:nvGrpSpPr>
            <p:grpSpPr bwMode="auto">
              <a:xfrm>
                <a:off x="385" y="2341"/>
                <a:ext cx="459" cy="1609"/>
                <a:chOff x="476" y="2387"/>
                <a:chExt cx="459" cy="1609"/>
              </a:xfrm>
            </p:grpSpPr>
            <p:sp>
              <p:nvSpPr>
                <p:cNvPr id="4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76" y="2387"/>
                  <a:ext cx="454" cy="160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360</a:t>
                  </a:r>
                </a:p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740</a:t>
                  </a:r>
                </a:p>
                <a:p>
                  <a:pPr algn="ctr"/>
                  <a:endParaRPr lang="en-US" altLang="zh-CN" sz="2000" b="1">
                    <a:ea typeface="楷体" panose="02010609060101010101" pitchFamily="49" charset="-122"/>
                  </a:endParaRPr>
                </a:p>
                <a:p>
                  <a:pPr algn="ctr"/>
                  <a:endParaRPr lang="en-US" altLang="zh-CN" sz="2000" b="1"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1125</a:t>
                  </a:r>
                </a:p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.</a:t>
                  </a:r>
                </a:p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.</a:t>
                  </a:r>
                </a:p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.</a:t>
                  </a:r>
                </a:p>
              </p:txBody>
            </p:sp>
            <p:sp>
              <p:nvSpPr>
                <p:cNvPr id="49" name="Line 13"/>
                <p:cNvSpPr>
                  <a:spLocks noChangeShapeType="1"/>
                </p:cNvSpPr>
                <p:nvPr/>
              </p:nvSpPr>
              <p:spPr bwMode="auto">
                <a:xfrm>
                  <a:off x="476" y="2606"/>
                  <a:ext cx="45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50" name="Line 14"/>
                <p:cNvSpPr>
                  <a:spLocks noChangeShapeType="1"/>
                </p:cNvSpPr>
                <p:nvPr/>
              </p:nvSpPr>
              <p:spPr bwMode="auto">
                <a:xfrm>
                  <a:off x="481" y="2782"/>
                  <a:ext cx="45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51" name="Line 15"/>
                <p:cNvSpPr>
                  <a:spLocks noChangeShapeType="1"/>
                </p:cNvSpPr>
                <p:nvPr/>
              </p:nvSpPr>
              <p:spPr bwMode="auto">
                <a:xfrm>
                  <a:off x="476" y="2977"/>
                  <a:ext cx="45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52" name="Line 16"/>
                <p:cNvSpPr>
                  <a:spLocks noChangeShapeType="1"/>
                </p:cNvSpPr>
                <p:nvPr/>
              </p:nvSpPr>
              <p:spPr bwMode="auto">
                <a:xfrm>
                  <a:off x="481" y="3153"/>
                  <a:ext cx="45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53" name="Line 17"/>
                <p:cNvSpPr>
                  <a:spLocks noChangeShapeType="1"/>
                </p:cNvSpPr>
                <p:nvPr/>
              </p:nvSpPr>
              <p:spPr bwMode="auto">
                <a:xfrm>
                  <a:off x="476" y="3371"/>
                  <a:ext cx="45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</p:grpSp>
          <p:grpSp>
            <p:nvGrpSpPr>
              <p:cNvPr id="12" name="Group 23"/>
              <p:cNvGrpSpPr>
                <a:grpSpLocks/>
              </p:cNvGrpSpPr>
              <p:nvPr/>
            </p:nvGrpSpPr>
            <p:grpSpPr bwMode="auto">
              <a:xfrm>
                <a:off x="1111" y="2192"/>
                <a:ext cx="458" cy="834"/>
                <a:chOff x="1103" y="2296"/>
                <a:chExt cx="416" cy="834"/>
              </a:xfrm>
            </p:grpSpPr>
            <p:sp>
              <p:nvSpPr>
                <p:cNvPr id="44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111" y="2296"/>
                  <a:ext cx="408" cy="83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105</a:t>
                  </a:r>
                </a:p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106</a:t>
                  </a:r>
                </a:p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254</a:t>
                  </a:r>
                </a:p>
                <a:p>
                  <a:pPr algn="ctr"/>
                  <a:endParaRPr lang="en-US" altLang="zh-CN" sz="2000" b="1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45" name="Line 20"/>
                <p:cNvSpPr>
                  <a:spLocks noChangeShapeType="1"/>
                </p:cNvSpPr>
                <p:nvPr/>
              </p:nvSpPr>
              <p:spPr bwMode="auto">
                <a:xfrm>
                  <a:off x="1111" y="2534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46" name="Line 21"/>
                <p:cNvSpPr>
                  <a:spLocks noChangeShapeType="1"/>
                </p:cNvSpPr>
                <p:nvPr/>
              </p:nvSpPr>
              <p:spPr bwMode="auto">
                <a:xfrm>
                  <a:off x="1103" y="2712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47" name="Line 22"/>
                <p:cNvSpPr>
                  <a:spLocks noChangeShapeType="1"/>
                </p:cNvSpPr>
                <p:nvPr/>
              </p:nvSpPr>
              <p:spPr bwMode="auto">
                <a:xfrm>
                  <a:off x="1103" y="2910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1111" y="3230"/>
                <a:ext cx="458" cy="834"/>
                <a:chOff x="1103" y="2296"/>
                <a:chExt cx="416" cy="834"/>
              </a:xfrm>
            </p:grpSpPr>
            <p:sp>
              <p:nvSpPr>
                <p:cNvPr id="4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11" y="2296"/>
                  <a:ext cx="408" cy="83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356</a:t>
                  </a:r>
                </a:p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357</a:t>
                  </a:r>
                </a:p>
                <a:p>
                  <a:pPr algn="ctr"/>
                  <a:r>
                    <a:rPr lang="en-US" altLang="zh-CN" sz="2000" b="1">
                      <a:ea typeface="楷体" panose="02010609060101010101" pitchFamily="49" charset="-122"/>
                    </a:rPr>
                    <a:t>985</a:t>
                  </a:r>
                </a:p>
                <a:p>
                  <a:pPr algn="ctr"/>
                  <a:endParaRPr lang="en-US" altLang="zh-CN" sz="2000" b="1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41" name="Line 26"/>
                <p:cNvSpPr>
                  <a:spLocks noChangeShapeType="1"/>
                </p:cNvSpPr>
                <p:nvPr/>
              </p:nvSpPr>
              <p:spPr bwMode="auto">
                <a:xfrm>
                  <a:off x="1111" y="2534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42" name="Line 27"/>
                <p:cNvSpPr>
                  <a:spLocks noChangeShapeType="1"/>
                </p:cNvSpPr>
                <p:nvPr/>
              </p:nvSpPr>
              <p:spPr bwMode="auto">
                <a:xfrm>
                  <a:off x="1103" y="2712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43" name="Line 28"/>
                <p:cNvSpPr>
                  <a:spLocks noChangeShapeType="1"/>
                </p:cNvSpPr>
                <p:nvPr/>
              </p:nvSpPr>
              <p:spPr bwMode="auto">
                <a:xfrm>
                  <a:off x="1103" y="2910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</p:grpSp>
          <p:sp>
            <p:nvSpPr>
              <p:cNvPr id="14" name="Line 29"/>
              <p:cNvSpPr>
                <a:spLocks noChangeShapeType="1"/>
              </p:cNvSpPr>
              <p:nvPr/>
            </p:nvSpPr>
            <p:spPr bwMode="auto">
              <a:xfrm flipV="1">
                <a:off x="793" y="2205"/>
                <a:ext cx="318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Line 30"/>
              <p:cNvSpPr>
                <a:spLocks noChangeShapeType="1"/>
              </p:cNvSpPr>
              <p:nvPr/>
            </p:nvSpPr>
            <p:spPr bwMode="auto">
              <a:xfrm>
                <a:off x="748" y="2659"/>
                <a:ext cx="363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Line 31"/>
              <p:cNvSpPr>
                <a:spLocks noChangeShapeType="1"/>
              </p:cNvSpPr>
              <p:nvPr/>
            </p:nvSpPr>
            <p:spPr bwMode="auto">
              <a:xfrm>
                <a:off x="793" y="3249"/>
                <a:ext cx="273" cy="9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Text Box 32"/>
              <p:cNvSpPr txBox="1">
                <a:spLocks noChangeArrowheads="1"/>
              </p:cNvSpPr>
              <p:nvPr/>
            </p:nvSpPr>
            <p:spPr bwMode="auto">
              <a:xfrm>
                <a:off x="1151" y="1979"/>
                <a:ext cx="40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ea typeface="楷体" panose="02010609060101010101" pitchFamily="49" charset="-122"/>
                  </a:rPr>
                  <a:t>360</a:t>
                </a:r>
              </a:p>
            </p:txBody>
          </p:sp>
          <p:sp>
            <p:nvSpPr>
              <p:cNvPr id="18" name="Text Box 33"/>
              <p:cNvSpPr txBox="1">
                <a:spLocks noChangeArrowheads="1"/>
              </p:cNvSpPr>
              <p:nvPr/>
            </p:nvSpPr>
            <p:spPr bwMode="auto">
              <a:xfrm>
                <a:off x="1156" y="3028"/>
                <a:ext cx="40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ea typeface="楷体" panose="02010609060101010101" pitchFamily="49" charset="-122"/>
                  </a:rPr>
                  <a:t>740</a:t>
                </a:r>
              </a:p>
            </p:txBody>
          </p:sp>
          <p:sp>
            <p:nvSpPr>
              <p:cNvPr id="19" name="Rectangle 34"/>
              <p:cNvSpPr>
                <a:spLocks noChangeArrowheads="1"/>
              </p:cNvSpPr>
              <p:nvPr/>
            </p:nvSpPr>
            <p:spPr bwMode="auto">
              <a:xfrm>
                <a:off x="2018" y="2160"/>
                <a:ext cx="458" cy="19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0" name="Line 37"/>
              <p:cNvSpPr>
                <a:spLocks noChangeShapeType="1"/>
              </p:cNvSpPr>
              <p:nvPr/>
            </p:nvSpPr>
            <p:spPr bwMode="auto">
              <a:xfrm>
                <a:off x="2018" y="2341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1" name="Line 38"/>
              <p:cNvSpPr>
                <a:spLocks noChangeShapeType="1"/>
              </p:cNvSpPr>
              <p:nvPr/>
            </p:nvSpPr>
            <p:spPr bwMode="auto">
              <a:xfrm>
                <a:off x="2018" y="2510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2" name="Line 39"/>
              <p:cNvSpPr>
                <a:spLocks noChangeShapeType="1"/>
              </p:cNvSpPr>
              <p:nvPr/>
            </p:nvSpPr>
            <p:spPr bwMode="auto">
              <a:xfrm>
                <a:off x="2018" y="2677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3" name="Line 40"/>
              <p:cNvSpPr>
                <a:spLocks noChangeShapeType="1"/>
              </p:cNvSpPr>
              <p:nvPr/>
            </p:nvSpPr>
            <p:spPr bwMode="auto">
              <a:xfrm>
                <a:off x="2018" y="2846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Line 41"/>
              <p:cNvSpPr>
                <a:spLocks noChangeShapeType="1"/>
              </p:cNvSpPr>
              <p:nvPr/>
            </p:nvSpPr>
            <p:spPr bwMode="auto">
              <a:xfrm>
                <a:off x="2018" y="3152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Line 42"/>
              <p:cNvSpPr>
                <a:spLocks noChangeShapeType="1"/>
              </p:cNvSpPr>
              <p:nvPr/>
            </p:nvSpPr>
            <p:spPr bwMode="auto">
              <a:xfrm>
                <a:off x="2018" y="3321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Line 43"/>
              <p:cNvSpPr>
                <a:spLocks noChangeShapeType="1"/>
              </p:cNvSpPr>
              <p:nvPr/>
            </p:nvSpPr>
            <p:spPr bwMode="auto">
              <a:xfrm>
                <a:off x="2018" y="3488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7" name="Line 44"/>
              <p:cNvSpPr>
                <a:spLocks noChangeShapeType="1"/>
              </p:cNvSpPr>
              <p:nvPr/>
            </p:nvSpPr>
            <p:spPr bwMode="auto">
              <a:xfrm>
                <a:off x="2018" y="3657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8" name="Line 45"/>
              <p:cNvSpPr>
                <a:spLocks noChangeShapeType="1"/>
              </p:cNvSpPr>
              <p:nvPr/>
            </p:nvSpPr>
            <p:spPr bwMode="auto">
              <a:xfrm>
                <a:off x="2018" y="3897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9" name="Text Box 46"/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40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40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40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.</a:t>
                </a:r>
              </a:p>
            </p:txBody>
          </p:sp>
          <p:sp>
            <p:nvSpPr>
              <p:cNvPr id="30" name="Text Box 47"/>
              <p:cNvSpPr txBox="1">
                <a:spLocks noChangeArrowheads="1"/>
              </p:cNvSpPr>
              <p:nvPr/>
            </p:nvSpPr>
            <p:spPr bwMode="auto">
              <a:xfrm>
                <a:off x="2170" y="3628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40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40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40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.</a:t>
                </a:r>
              </a:p>
            </p:txBody>
          </p:sp>
          <p:sp>
            <p:nvSpPr>
              <p:cNvPr id="31" name="Line 48"/>
              <p:cNvSpPr>
                <a:spLocks noChangeShapeType="1"/>
              </p:cNvSpPr>
              <p:nvPr/>
            </p:nvSpPr>
            <p:spPr bwMode="auto">
              <a:xfrm>
                <a:off x="1474" y="2296"/>
                <a:ext cx="544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2" name="Line 49"/>
              <p:cNvSpPr>
                <a:spLocks noChangeShapeType="1"/>
              </p:cNvSpPr>
              <p:nvPr/>
            </p:nvSpPr>
            <p:spPr bwMode="auto">
              <a:xfrm>
                <a:off x="1519" y="2523"/>
                <a:ext cx="499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3" name="Line 50"/>
              <p:cNvSpPr>
                <a:spLocks noChangeShapeType="1"/>
              </p:cNvSpPr>
              <p:nvPr/>
            </p:nvSpPr>
            <p:spPr bwMode="auto">
              <a:xfrm>
                <a:off x="1519" y="2704"/>
                <a:ext cx="499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4" name="Line 51"/>
              <p:cNvSpPr>
                <a:spLocks noChangeShapeType="1"/>
              </p:cNvSpPr>
              <p:nvPr/>
            </p:nvSpPr>
            <p:spPr bwMode="auto">
              <a:xfrm>
                <a:off x="1519" y="3339"/>
                <a:ext cx="499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5" name="Line 52"/>
              <p:cNvSpPr>
                <a:spLocks noChangeShapeType="1"/>
              </p:cNvSpPr>
              <p:nvPr/>
            </p:nvSpPr>
            <p:spPr bwMode="auto">
              <a:xfrm>
                <a:off x="1519" y="3521"/>
                <a:ext cx="363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Line 53"/>
              <p:cNvSpPr>
                <a:spLocks noChangeShapeType="1"/>
              </p:cNvSpPr>
              <p:nvPr/>
            </p:nvSpPr>
            <p:spPr bwMode="auto">
              <a:xfrm>
                <a:off x="1474" y="3748"/>
                <a:ext cx="408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7" name="Text Box 54"/>
              <p:cNvSpPr txBox="1">
                <a:spLocks noChangeArrowheads="1"/>
              </p:cNvSpPr>
              <p:nvPr/>
            </p:nvSpPr>
            <p:spPr bwMode="auto">
              <a:xfrm>
                <a:off x="2432" y="2494"/>
                <a:ext cx="357" cy="7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105</a:t>
                </a:r>
              </a:p>
              <a:p>
                <a:pPr>
                  <a:lnSpc>
                    <a:spcPct val="85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106</a:t>
                </a:r>
              </a:p>
            </p:txBody>
          </p:sp>
          <p:sp>
            <p:nvSpPr>
              <p:cNvPr id="38" name="Text Box 56"/>
              <p:cNvSpPr txBox="1">
                <a:spLocks noChangeArrowheads="1"/>
              </p:cNvSpPr>
              <p:nvPr/>
            </p:nvSpPr>
            <p:spPr bwMode="auto">
              <a:xfrm>
                <a:off x="2448" y="3137"/>
                <a:ext cx="357" cy="7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254</a:t>
                </a:r>
              </a:p>
              <a:p>
                <a:pPr>
                  <a:lnSpc>
                    <a:spcPct val="85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255</a:t>
                </a:r>
              </a:p>
            </p:txBody>
          </p:sp>
          <p:sp>
            <p:nvSpPr>
              <p:cNvPr id="39" name="Text Box 57"/>
              <p:cNvSpPr txBox="1">
                <a:spLocks noChangeArrowheads="1"/>
              </p:cNvSpPr>
              <p:nvPr/>
            </p:nvSpPr>
            <p:spPr bwMode="auto">
              <a:xfrm>
                <a:off x="2445" y="3870"/>
                <a:ext cx="357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CN" sz="2000" b="1">
                    <a:ea typeface="楷体" panose="02010609060101010101" pitchFamily="49" charset="-122"/>
                  </a:rPr>
                  <a:t>356</a:t>
                </a:r>
              </a:p>
            </p:txBody>
          </p:sp>
        </p:grpSp>
        <p:sp>
          <p:nvSpPr>
            <p:cNvPr id="10" name="Text Box 59"/>
            <p:cNvSpPr txBox="1">
              <a:spLocks noChangeArrowheads="1"/>
            </p:cNvSpPr>
            <p:nvPr/>
          </p:nvSpPr>
          <p:spPr bwMode="auto">
            <a:xfrm>
              <a:off x="1549" y="1864"/>
              <a:ext cx="24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0000"/>
                  </a:solidFill>
                  <a:ea typeface="楷体" panose="02010609060101010101" pitchFamily="49" charset="-122"/>
                </a:rPr>
                <a:t>主索引     二级索引      磁盘空间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931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索引分配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混合索引分配：结合多种分配方式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C8C2-BD67-4660-A9CB-212D0BEE203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700088" y="1695450"/>
            <a:ext cx="8193087" cy="4940300"/>
            <a:chOff x="441" y="1044"/>
            <a:chExt cx="5161" cy="3112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41" y="1044"/>
              <a:ext cx="116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ea typeface="楷体" panose="02010609060101010101" pitchFamily="49" charset="-122"/>
                </a:rPr>
                <a:t>索引数组</a:t>
              </a:r>
              <a:r>
                <a:rPr lang="en-US" altLang="zh-CN" sz="1600" b="1">
                  <a:ea typeface="楷体" panose="02010609060101010101" pitchFamily="49" charset="-122"/>
                </a:rPr>
                <a:t>i-addr[i]</a:t>
              </a: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553" y="1271"/>
              <a:ext cx="860" cy="28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553" y="1482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553" y="2771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553" y="2122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553" y="3445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553" y="1685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553" y="1903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553" y="2334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553" y="2560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553" y="2991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553" y="3218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553" y="3657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553" y="3883"/>
              <a:ext cx="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1837" y="1369"/>
              <a:ext cx="688" cy="21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文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件</a:t>
              </a:r>
              <a:r>
                <a:rPr lang="zh-CN" altLang="en-US" sz="1600" b="1" dirty="0">
                  <a:ea typeface="楷体" panose="02010609060101010101" pitchFamily="49" charset="-122"/>
                </a:rPr>
                <a:t>体</a:t>
              </a: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1335" y="1352"/>
              <a:ext cx="500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1835" y="1667"/>
              <a:ext cx="688" cy="21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文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件体</a:t>
              </a:r>
              <a:endParaRPr lang="zh-CN" altLang="en-US" sz="1600" b="1" dirty="0">
                <a:ea typeface="楷体" panose="02010609060101010101" pitchFamily="49" charset="-122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1335" y="1555"/>
              <a:ext cx="501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2101" y="1879"/>
              <a:ext cx="17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1842" y="2163"/>
              <a:ext cx="689" cy="21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文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件体</a:t>
              </a:r>
              <a:endParaRPr lang="zh-CN" altLang="en-US" sz="1600" b="1" dirty="0">
                <a:ea typeface="楷体" panose="02010609060101010101" pitchFamily="49" charset="-122"/>
              </a:endParaRPr>
            </a:p>
          </p:txBody>
        </p:sp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V="1">
              <a:off x="1327" y="2245"/>
              <a:ext cx="515" cy="10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1542" y="1944"/>
              <a:ext cx="17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30" name="Text Box 27"/>
            <p:cNvSpPr txBox="1">
              <a:spLocks noChangeArrowheads="1"/>
            </p:cNvSpPr>
            <p:nvPr/>
          </p:nvSpPr>
          <p:spPr bwMode="auto">
            <a:xfrm>
              <a:off x="1842" y="3137"/>
              <a:ext cx="689" cy="218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flipV="1">
              <a:off x="1327" y="3218"/>
              <a:ext cx="515" cy="3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1842" y="3526"/>
              <a:ext cx="689" cy="218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V="1">
              <a:off x="1327" y="3624"/>
              <a:ext cx="515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34" name="Text Box 31"/>
            <p:cNvSpPr txBox="1">
              <a:spLocks noChangeArrowheads="1"/>
            </p:cNvSpPr>
            <p:nvPr/>
          </p:nvSpPr>
          <p:spPr bwMode="auto">
            <a:xfrm>
              <a:off x="1842" y="3890"/>
              <a:ext cx="689" cy="218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1327" y="4004"/>
              <a:ext cx="5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2832" y="2049"/>
              <a:ext cx="689" cy="21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文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件体</a:t>
              </a:r>
              <a:endParaRPr lang="zh-CN" altLang="en-US" sz="1600" b="1" dirty="0">
                <a:ea typeface="楷体" panose="02010609060101010101" pitchFamily="49" charset="-122"/>
              </a:endParaRP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2763" y="1669"/>
              <a:ext cx="80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>
                  <a:ea typeface="楷体" panose="02010609060101010101" pitchFamily="49" charset="-122"/>
                </a:rPr>
                <a:t>中型文件 </a:t>
              </a:r>
              <a:r>
                <a:rPr lang="en-US" altLang="zh-CN" sz="1600" b="1">
                  <a:ea typeface="楷体" panose="02010609060101010101" pitchFamily="49" charset="-122"/>
                </a:rPr>
                <a:t>5KB-90KB</a:t>
              </a:r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V="1">
              <a:off x="2531" y="2123"/>
              <a:ext cx="301" cy="10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39" name="Text Box 36"/>
            <p:cNvSpPr txBox="1">
              <a:spLocks noChangeArrowheads="1"/>
            </p:cNvSpPr>
            <p:nvPr/>
          </p:nvSpPr>
          <p:spPr bwMode="auto">
            <a:xfrm>
              <a:off x="3090" y="2252"/>
              <a:ext cx="17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>
              <a:off x="2831" y="2560"/>
              <a:ext cx="689" cy="21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文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件体</a:t>
              </a:r>
              <a:endParaRPr lang="zh-CN" altLang="en-US" sz="1600" b="1" dirty="0">
                <a:ea typeface="楷体" panose="02010609060101010101" pitchFamily="49" charset="-122"/>
              </a:endParaRP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V="1">
              <a:off x="2531" y="2650"/>
              <a:ext cx="301" cy="6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42" name="Text Box 39"/>
            <p:cNvSpPr txBox="1">
              <a:spLocks noChangeArrowheads="1"/>
            </p:cNvSpPr>
            <p:nvPr/>
          </p:nvSpPr>
          <p:spPr bwMode="auto">
            <a:xfrm>
              <a:off x="2789" y="3518"/>
              <a:ext cx="688" cy="21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43" name="Text Box 40"/>
            <p:cNvSpPr txBox="1">
              <a:spLocks noChangeArrowheads="1"/>
            </p:cNvSpPr>
            <p:nvPr/>
          </p:nvSpPr>
          <p:spPr bwMode="auto">
            <a:xfrm>
              <a:off x="2789" y="3874"/>
              <a:ext cx="688" cy="21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2531" y="3624"/>
              <a:ext cx="2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45" name="Line 42"/>
            <p:cNvSpPr>
              <a:spLocks noChangeShapeType="1"/>
            </p:cNvSpPr>
            <p:nvPr/>
          </p:nvSpPr>
          <p:spPr bwMode="auto">
            <a:xfrm>
              <a:off x="2531" y="3988"/>
              <a:ext cx="2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46" name="Text Box 43"/>
            <p:cNvSpPr txBox="1">
              <a:spLocks noChangeArrowheads="1"/>
            </p:cNvSpPr>
            <p:nvPr/>
          </p:nvSpPr>
          <p:spPr bwMode="auto">
            <a:xfrm>
              <a:off x="3762" y="2455"/>
              <a:ext cx="688" cy="21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文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件体</a:t>
              </a:r>
              <a:endParaRPr lang="zh-CN" altLang="en-US" sz="1600" b="1" dirty="0">
                <a:ea typeface="楷体" panose="02010609060101010101" pitchFamily="49" charset="-122"/>
              </a:endParaRPr>
            </a:p>
          </p:txBody>
        </p:sp>
        <p:sp>
          <p:nvSpPr>
            <p:cNvPr id="47" name="Text Box 44"/>
            <p:cNvSpPr txBox="1">
              <a:spLocks noChangeArrowheads="1"/>
            </p:cNvSpPr>
            <p:nvPr/>
          </p:nvSpPr>
          <p:spPr bwMode="auto">
            <a:xfrm>
              <a:off x="3580" y="2059"/>
              <a:ext cx="103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>
                  <a:ea typeface="楷体" panose="02010609060101010101" pitchFamily="49" charset="-122"/>
                </a:rPr>
                <a:t>大型文件 </a:t>
              </a:r>
              <a:r>
                <a:rPr lang="en-US" altLang="zh-CN" sz="1600" b="1">
                  <a:ea typeface="楷体" panose="02010609060101010101" pitchFamily="49" charset="-122"/>
                </a:rPr>
                <a:t>90KB-14.54MB</a:t>
              </a:r>
            </a:p>
          </p:txBody>
        </p:sp>
        <p:sp>
          <p:nvSpPr>
            <p:cNvPr id="48" name="Text Box 45"/>
            <p:cNvSpPr txBox="1">
              <a:spLocks noChangeArrowheads="1"/>
            </p:cNvSpPr>
            <p:nvPr/>
          </p:nvSpPr>
          <p:spPr bwMode="auto">
            <a:xfrm>
              <a:off x="4019" y="2658"/>
              <a:ext cx="17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49" name="Text Box 46"/>
            <p:cNvSpPr txBox="1">
              <a:spLocks noChangeArrowheads="1"/>
            </p:cNvSpPr>
            <p:nvPr/>
          </p:nvSpPr>
          <p:spPr bwMode="auto">
            <a:xfrm>
              <a:off x="3761" y="2966"/>
              <a:ext cx="688" cy="21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文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件体</a:t>
              </a:r>
              <a:endParaRPr lang="zh-CN" altLang="en-US" sz="1600" b="1" dirty="0">
                <a:ea typeface="楷体" panose="02010609060101010101" pitchFamily="49" charset="-122"/>
              </a:endParaRPr>
            </a:p>
          </p:txBody>
        </p:sp>
        <p:sp>
          <p:nvSpPr>
            <p:cNvPr id="50" name="Line 47"/>
            <p:cNvSpPr>
              <a:spLocks noChangeShapeType="1"/>
            </p:cNvSpPr>
            <p:nvPr/>
          </p:nvSpPr>
          <p:spPr bwMode="auto">
            <a:xfrm flipV="1">
              <a:off x="3477" y="2528"/>
              <a:ext cx="280" cy="10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51" name="Line 48"/>
            <p:cNvSpPr>
              <a:spLocks noChangeShapeType="1"/>
            </p:cNvSpPr>
            <p:nvPr/>
          </p:nvSpPr>
          <p:spPr bwMode="auto">
            <a:xfrm flipV="1">
              <a:off x="3477" y="3056"/>
              <a:ext cx="280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52" name="Text Box 49"/>
            <p:cNvSpPr txBox="1">
              <a:spLocks noChangeArrowheads="1"/>
            </p:cNvSpPr>
            <p:nvPr/>
          </p:nvSpPr>
          <p:spPr bwMode="auto">
            <a:xfrm>
              <a:off x="4733" y="2901"/>
              <a:ext cx="689" cy="21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文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件体</a:t>
              </a:r>
              <a:endParaRPr lang="zh-CN" altLang="en-US" sz="1600" b="1" dirty="0">
                <a:ea typeface="楷体" panose="02010609060101010101" pitchFamily="49" charset="-122"/>
              </a:endParaRPr>
            </a:p>
          </p:txBody>
        </p:sp>
        <p:sp>
          <p:nvSpPr>
            <p:cNvPr id="53" name="Text Box 50"/>
            <p:cNvSpPr txBox="1">
              <a:spLocks noChangeArrowheads="1"/>
            </p:cNvSpPr>
            <p:nvPr/>
          </p:nvSpPr>
          <p:spPr bwMode="auto">
            <a:xfrm>
              <a:off x="4544" y="2513"/>
              <a:ext cx="105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>
                  <a:ea typeface="楷体" panose="02010609060101010101" pitchFamily="49" charset="-122"/>
                </a:rPr>
                <a:t>巨型文件 </a:t>
              </a:r>
              <a:r>
                <a:rPr lang="en-US" altLang="zh-CN" sz="1600" b="1">
                  <a:ea typeface="楷体" panose="02010609060101010101" pitchFamily="49" charset="-122"/>
                </a:rPr>
                <a:t>14.54MB-1GB</a:t>
              </a:r>
            </a:p>
          </p:txBody>
        </p:sp>
        <p:sp>
          <p:nvSpPr>
            <p:cNvPr id="54" name="Text Box 51"/>
            <p:cNvSpPr txBox="1">
              <a:spLocks noChangeArrowheads="1"/>
            </p:cNvSpPr>
            <p:nvPr/>
          </p:nvSpPr>
          <p:spPr bwMode="auto">
            <a:xfrm>
              <a:off x="5026" y="3104"/>
              <a:ext cx="17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55" name="Text Box 52"/>
            <p:cNvSpPr txBox="1">
              <a:spLocks noChangeArrowheads="1"/>
            </p:cNvSpPr>
            <p:nvPr/>
          </p:nvSpPr>
          <p:spPr bwMode="auto">
            <a:xfrm>
              <a:off x="4733" y="3412"/>
              <a:ext cx="688" cy="21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文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件体</a:t>
              </a:r>
              <a:endParaRPr lang="zh-CN" altLang="en-US" sz="1600" b="1" dirty="0">
                <a:ea typeface="楷体" panose="02010609060101010101" pitchFamily="49" charset="-122"/>
              </a:endParaRPr>
            </a:p>
          </p:txBody>
        </p:sp>
        <p:sp>
          <p:nvSpPr>
            <p:cNvPr id="56" name="Text Box 53"/>
            <p:cNvSpPr txBox="1">
              <a:spLocks noChangeArrowheads="1"/>
            </p:cNvSpPr>
            <p:nvPr/>
          </p:nvSpPr>
          <p:spPr bwMode="auto">
            <a:xfrm>
              <a:off x="3735" y="3867"/>
              <a:ext cx="688" cy="218"/>
            </a:xfrm>
            <a:prstGeom prst="rect">
              <a:avLst/>
            </a:prstGeom>
            <a:solidFill>
              <a:srgbClr val="66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57" name="Line 54"/>
            <p:cNvSpPr>
              <a:spLocks noChangeShapeType="1"/>
            </p:cNvSpPr>
            <p:nvPr/>
          </p:nvSpPr>
          <p:spPr bwMode="auto">
            <a:xfrm>
              <a:off x="3477" y="3981"/>
              <a:ext cx="2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58" name="Line 55"/>
            <p:cNvSpPr>
              <a:spLocks noChangeShapeType="1"/>
            </p:cNvSpPr>
            <p:nvPr/>
          </p:nvSpPr>
          <p:spPr bwMode="auto">
            <a:xfrm flipV="1">
              <a:off x="4423" y="2974"/>
              <a:ext cx="302" cy="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59" name="Line 56"/>
            <p:cNvSpPr>
              <a:spLocks noChangeShapeType="1"/>
            </p:cNvSpPr>
            <p:nvPr/>
          </p:nvSpPr>
          <p:spPr bwMode="auto">
            <a:xfrm flipV="1">
              <a:off x="4423" y="3502"/>
              <a:ext cx="302" cy="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60" name="Text Box 57"/>
            <p:cNvSpPr txBox="1">
              <a:spLocks noChangeArrowheads="1"/>
            </p:cNvSpPr>
            <p:nvPr/>
          </p:nvSpPr>
          <p:spPr bwMode="auto">
            <a:xfrm>
              <a:off x="567" y="3430"/>
              <a:ext cx="81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ea typeface="楷体" panose="02010609060101010101" pitchFamily="49" charset="-122"/>
                </a:rPr>
                <a:t>一次间址</a:t>
              </a:r>
            </a:p>
          </p:txBody>
        </p:sp>
        <p:sp>
          <p:nvSpPr>
            <p:cNvPr id="61" name="Text Box 58"/>
            <p:cNvSpPr txBox="1">
              <a:spLocks noChangeArrowheads="1"/>
            </p:cNvSpPr>
            <p:nvPr/>
          </p:nvSpPr>
          <p:spPr bwMode="auto">
            <a:xfrm>
              <a:off x="567" y="3634"/>
              <a:ext cx="81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ea typeface="楷体" panose="02010609060101010101" pitchFamily="49" charset="-122"/>
                </a:rPr>
                <a:t>二次间址</a:t>
              </a:r>
            </a:p>
          </p:txBody>
        </p:sp>
        <p:sp>
          <p:nvSpPr>
            <p:cNvPr id="62" name="Text Box 59"/>
            <p:cNvSpPr txBox="1">
              <a:spLocks noChangeArrowheads="1"/>
            </p:cNvSpPr>
            <p:nvPr/>
          </p:nvSpPr>
          <p:spPr bwMode="auto">
            <a:xfrm>
              <a:off x="567" y="3860"/>
              <a:ext cx="81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ea typeface="楷体" panose="02010609060101010101" pitchFamily="49" charset="-122"/>
                </a:rPr>
                <a:t>三次间址</a:t>
              </a:r>
            </a:p>
          </p:txBody>
        </p:sp>
        <p:sp>
          <p:nvSpPr>
            <p:cNvPr id="63" name="Line 60"/>
            <p:cNvSpPr>
              <a:spLocks noChangeShapeType="1"/>
            </p:cNvSpPr>
            <p:nvPr/>
          </p:nvSpPr>
          <p:spPr bwMode="auto">
            <a:xfrm>
              <a:off x="1837" y="3203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64" name="Line 61"/>
            <p:cNvSpPr>
              <a:spLocks noChangeShapeType="1"/>
            </p:cNvSpPr>
            <p:nvPr/>
          </p:nvSpPr>
          <p:spPr bwMode="auto">
            <a:xfrm>
              <a:off x="1837" y="3274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65" name="Line 62"/>
            <p:cNvSpPr>
              <a:spLocks noChangeShapeType="1"/>
            </p:cNvSpPr>
            <p:nvPr/>
          </p:nvSpPr>
          <p:spPr bwMode="auto">
            <a:xfrm>
              <a:off x="1837" y="360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66" name="Line 63"/>
            <p:cNvSpPr>
              <a:spLocks noChangeShapeType="1"/>
            </p:cNvSpPr>
            <p:nvPr/>
          </p:nvSpPr>
          <p:spPr bwMode="auto">
            <a:xfrm>
              <a:off x="1837" y="3677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67" name="Line 64"/>
            <p:cNvSpPr>
              <a:spLocks noChangeShapeType="1"/>
            </p:cNvSpPr>
            <p:nvPr/>
          </p:nvSpPr>
          <p:spPr bwMode="auto">
            <a:xfrm>
              <a:off x="1837" y="395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68" name="Line 65"/>
            <p:cNvSpPr>
              <a:spLocks noChangeShapeType="1"/>
            </p:cNvSpPr>
            <p:nvPr/>
          </p:nvSpPr>
          <p:spPr bwMode="auto">
            <a:xfrm>
              <a:off x="1837" y="4030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69" name="Line 66"/>
            <p:cNvSpPr>
              <a:spLocks noChangeShapeType="1"/>
            </p:cNvSpPr>
            <p:nvPr/>
          </p:nvSpPr>
          <p:spPr bwMode="auto">
            <a:xfrm>
              <a:off x="2790" y="358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0" name="Line 67"/>
            <p:cNvSpPr>
              <a:spLocks noChangeShapeType="1"/>
            </p:cNvSpPr>
            <p:nvPr/>
          </p:nvSpPr>
          <p:spPr bwMode="auto">
            <a:xfrm>
              <a:off x="2790" y="3657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1" name="Line 68"/>
            <p:cNvSpPr>
              <a:spLocks noChangeShapeType="1"/>
            </p:cNvSpPr>
            <p:nvPr/>
          </p:nvSpPr>
          <p:spPr bwMode="auto">
            <a:xfrm>
              <a:off x="2779" y="394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2" name="Line 69"/>
            <p:cNvSpPr>
              <a:spLocks noChangeShapeType="1"/>
            </p:cNvSpPr>
            <p:nvPr/>
          </p:nvSpPr>
          <p:spPr bwMode="auto">
            <a:xfrm>
              <a:off x="2779" y="4020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>
              <a:off x="3732" y="392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4" name="Line 71"/>
            <p:cNvSpPr>
              <a:spLocks noChangeShapeType="1"/>
            </p:cNvSpPr>
            <p:nvPr/>
          </p:nvSpPr>
          <p:spPr bwMode="auto">
            <a:xfrm>
              <a:off x="3732" y="4000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 flipV="1">
              <a:off x="2517" y="3339"/>
              <a:ext cx="272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6" name="Line 73"/>
            <p:cNvSpPr>
              <a:spLocks noChangeShapeType="1"/>
            </p:cNvSpPr>
            <p:nvPr/>
          </p:nvSpPr>
          <p:spPr bwMode="auto">
            <a:xfrm>
              <a:off x="2522" y="3657"/>
              <a:ext cx="182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7" name="Line 74"/>
            <p:cNvSpPr>
              <a:spLocks noChangeShapeType="1"/>
            </p:cNvSpPr>
            <p:nvPr/>
          </p:nvSpPr>
          <p:spPr bwMode="auto">
            <a:xfrm flipV="1">
              <a:off x="2517" y="3884"/>
              <a:ext cx="182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8" name="Line 75"/>
            <p:cNvSpPr>
              <a:spLocks noChangeShapeType="1"/>
            </p:cNvSpPr>
            <p:nvPr/>
          </p:nvSpPr>
          <p:spPr bwMode="auto">
            <a:xfrm>
              <a:off x="2517" y="4020"/>
              <a:ext cx="182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79" name="Line 76"/>
            <p:cNvSpPr>
              <a:spLocks noChangeShapeType="1"/>
            </p:cNvSpPr>
            <p:nvPr/>
          </p:nvSpPr>
          <p:spPr bwMode="auto">
            <a:xfrm flipV="1">
              <a:off x="3470" y="3793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80" name="Line 77"/>
            <p:cNvSpPr>
              <a:spLocks noChangeShapeType="1"/>
            </p:cNvSpPr>
            <p:nvPr/>
          </p:nvSpPr>
          <p:spPr bwMode="auto">
            <a:xfrm>
              <a:off x="3424" y="4065"/>
              <a:ext cx="272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368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索引分配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UNIX</a:t>
            </a:r>
            <a:r>
              <a:rPr lang="zh-CN" altLang="en-US" dirty="0" smtClean="0"/>
              <a:t>混合索引分配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9D483-2A6C-4C86-851A-9D74D60184E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pic>
        <p:nvPicPr>
          <p:cNvPr id="7" name="Picture 7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2433"/>
            <a:ext cx="6408960" cy="4702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78"/>
          <p:cNvSpPr txBox="1">
            <a:spLocks noChangeArrowheads="1"/>
          </p:cNvSpPr>
          <p:nvPr/>
        </p:nvSpPr>
        <p:spPr bwMode="auto">
          <a:xfrm>
            <a:off x="6876256" y="3861048"/>
            <a:ext cx="1974075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ea typeface="楷体" panose="02010609060101010101" pitchFamily="49" charset="-122"/>
              </a:rPr>
              <a:t>文件最</a:t>
            </a:r>
            <a:r>
              <a:rPr lang="zh-CN" altLang="en-US" b="1" dirty="0" smtClean="0">
                <a:ea typeface="楷体" panose="02010609060101010101" pitchFamily="49" charset="-122"/>
              </a:rPr>
              <a:t>大</a:t>
            </a:r>
            <a:r>
              <a:rPr lang="zh-CN" altLang="en-US" b="1" dirty="0">
                <a:ea typeface="楷体" panose="02010609060101010101" pitchFamily="49" charset="-122"/>
              </a:rPr>
              <a:t>支持</a:t>
            </a:r>
            <a:r>
              <a:rPr lang="zh-CN" altLang="en-US" b="1" dirty="0" smtClean="0">
                <a:ea typeface="楷体" panose="02010609060101010101" pitchFamily="49" charset="-122"/>
              </a:rPr>
              <a:t>：</a:t>
            </a:r>
            <a:r>
              <a:rPr lang="en-US" altLang="zh-CN" b="1" dirty="0">
                <a:ea typeface="楷体" panose="02010609060101010101" pitchFamily="49" charset="-122"/>
              </a:rPr>
              <a:t>10+256+256</a:t>
            </a:r>
            <a:r>
              <a:rPr lang="en-US" altLang="zh-CN" b="1" baseline="30000" dirty="0">
                <a:ea typeface="楷体" panose="02010609060101010101" pitchFamily="49" charset="-122"/>
              </a:rPr>
              <a:t>2</a:t>
            </a:r>
            <a:r>
              <a:rPr lang="en-US" altLang="zh-CN" b="1" dirty="0">
                <a:ea typeface="楷体" panose="02010609060101010101" pitchFamily="49" charset="-122"/>
              </a:rPr>
              <a:t>+256</a:t>
            </a:r>
            <a:r>
              <a:rPr lang="en-US" altLang="zh-CN" b="1" baseline="30000" dirty="0">
                <a:ea typeface="楷体" panose="02010609060101010101" pitchFamily="49" charset="-122"/>
              </a:rPr>
              <a:t>3</a:t>
            </a:r>
            <a:r>
              <a:rPr lang="zh-CN" altLang="en-US" b="1" dirty="0">
                <a:ea typeface="楷体" panose="02010609060101010101" pitchFamily="49" charset="-122"/>
              </a:rPr>
              <a:t>个物理块</a:t>
            </a:r>
          </a:p>
        </p:txBody>
      </p:sp>
      <p:sp>
        <p:nvSpPr>
          <p:cNvPr id="9" name="AutoShape 79"/>
          <p:cNvSpPr>
            <a:spLocks noChangeArrowheads="1"/>
          </p:cNvSpPr>
          <p:nvPr/>
        </p:nvSpPr>
        <p:spPr bwMode="auto">
          <a:xfrm>
            <a:off x="7081836" y="2301536"/>
            <a:ext cx="1693608" cy="911440"/>
          </a:xfrm>
          <a:prstGeom prst="wedgeRoundRectCallout">
            <a:avLst>
              <a:gd name="adj1" fmla="val -160102"/>
              <a:gd name="adj2" fmla="val 93912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zh-CN" altLang="en-US" b="1" dirty="0">
                <a:ea typeface="楷体" panose="02010609060101010101" pitchFamily="49" charset="-122"/>
              </a:rPr>
              <a:t>每块存放</a:t>
            </a:r>
            <a:r>
              <a:rPr lang="en-US" altLang="zh-CN" b="1" dirty="0">
                <a:ea typeface="楷体" panose="02010609060101010101" pitchFamily="49" charset="-122"/>
              </a:rPr>
              <a:t>256</a:t>
            </a:r>
            <a:r>
              <a:rPr lang="zh-CN" altLang="en-US" b="1" dirty="0">
                <a:ea typeface="楷体" panose="02010609060101010101" pitchFamily="49" charset="-122"/>
              </a:rPr>
              <a:t>个物理块</a:t>
            </a:r>
            <a:r>
              <a:rPr lang="zh-CN" altLang="en-US" b="1" dirty="0" smtClean="0">
                <a:ea typeface="楷体" panose="02010609060101010101" pitchFamily="49" charset="-122"/>
              </a:rPr>
              <a:t>号地址</a:t>
            </a:r>
            <a:endParaRPr lang="zh-CN" altLang="en-US" b="1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161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什么是文件与文件系统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文件的逻辑结构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外存分配方式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FFC000"/>
                </a:solidFill>
              </a:rPr>
              <a:t>目</a:t>
            </a:r>
            <a:r>
              <a:rPr lang="zh-CN" altLang="en-US" dirty="0" smtClean="0">
                <a:solidFill>
                  <a:srgbClr val="FFC000"/>
                </a:solidFill>
              </a:rPr>
              <a:t>录管理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件存储空间的管理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件的共享与保护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数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据一致性检查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E59B-E0CA-49F0-8B99-EB4F19D5FE7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687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目录管理的要求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 smtClean="0">
                <a:solidFill>
                  <a:srgbClr val="0000FF"/>
                </a:solidFill>
              </a:rPr>
              <a:t>实</a:t>
            </a:r>
            <a:r>
              <a:rPr lang="zh-CN" altLang="en-US" dirty="0">
                <a:solidFill>
                  <a:srgbClr val="0000FF"/>
                </a:solidFill>
              </a:rPr>
              <a:t>现“按名存取</a:t>
            </a:r>
            <a:r>
              <a:rPr lang="zh-CN" altLang="en-US" dirty="0" smtClean="0">
                <a:solidFill>
                  <a:srgbClr val="0000FF"/>
                </a:solidFill>
              </a:rPr>
              <a:t>”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用</a:t>
            </a:r>
            <a:r>
              <a:rPr lang="zh-CN" altLang="en-US" dirty="0"/>
              <a:t>户只需向系统提供所需访问的文件名字，便能快速准确地找到指定文件在外存上的存储位置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提高对目录的检索速</a:t>
            </a:r>
            <a:r>
              <a:rPr lang="zh-CN" altLang="en-US" dirty="0" smtClean="0">
                <a:solidFill>
                  <a:srgbClr val="0000FF"/>
                </a:solidFill>
              </a:rPr>
              <a:t>度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通</a:t>
            </a:r>
            <a:r>
              <a:rPr lang="zh-CN" altLang="en-US" dirty="0"/>
              <a:t>过合理地组织目录结构予以实现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文件共</a:t>
            </a:r>
            <a:r>
              <a:rPr lang="zh-CN" altLang="en-US" dirty="0" smtClean="0">
                <a:solidFill>
                  <a:srgbClr val="0000FF"/>
                </a:solidFill>
              </a:rPr>
              <a:t>享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允</a:t>
            </a:r>
            <a:r>
              <a:rPr lang="zh-CN" altLang="en-US" dirty="0"/>
              <a:t>许多个用户共享一个文件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允许文件重</a:t>
            </a:r>
            <a:r>
              <a:rPr lang="zh-CN" altLang="en-US" dirty="0" smtClean="0">
                <a:solidFill>
                  <a:srgbClr val="0000FF"/>
                </a:solidFill>
              </a:rPr>
              <a:t>名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允</a:t>
            </a:r>
            <a:r>
              <a:rPr lang="zh-CN" altLang="en-US" dirty="0"/>
              <a:t>许不同用户对不同文件采用相同的名字，对相同文件采用不同的名字</a:t>
            </a:r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2A4B-0891-493C-80D5-9E9244C867B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994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文件控制块和索引节点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主要功能</a:t>
            </a:r>
            <a:endParaRPr lang="en-US" altLang="zh-CN" dirty="0" smtClean="0"/>
          </a:p>
          <a:p>
            <a:pPr lvl="1"/>
            <a:r>
              <a:rPr lang="zh-CN" altLang="en-US" dirty="0"/>
              <a:t>用</a:t>
            </a:r>
            <a:r>
              <a:rPr lang="zh-CN" altLang="en-US" dirty="0" smtClean="0"/>
              <a:t>于描述和控制文件的数据结构，文件管理系统借助其中信息，对文件实施各种操作</a:t>
            </a:r>
            <a:endParaRPr lang="en-US" altLang="zh-CN" dirty="0" smtClean="0"/>
          </a:p>
          <a:p>
            <a:pPr lvl="1"/>
            <a:r>
              <a:rPr lang="zh-CN" altLang="en-US" dirty="0"/>
              <a:t>文</a:t>
            </a:r>
            <a:r>
              <a:rPr lang="zh-CN" altLang="en-US" dirty="0" smtClean="0"/>
              <a:t>件与文件控制块一一对应，文件控制块的有序集合称为</a:t>
            </a:r>
            <a:r>
              <a:rPr lang="zh-CN" altLang="en-US" dirty="0" smtClean="0">
                <a:solidFill>
                  <a:srgbClr val="0000FF"/>
                </a:solidFill>
              </a:rPr>
              <a:t>文件目录</a:t>
            </a:r>
            <a:r>
              <a:rPr lang="zh-CN" altLang="en-US" dirty="0" smtClean="0"/>
              <a:t>，一个文件控制块即为一个文件目录项</a:t>
            </a:r>
            <a:endParaRPr lang="en-US" altLang="zh-CN" dirty="0" smtClean="0"/>
          </a:p>
          <a:p>
            <a:r>
              <a:rPr lang="zh-CN" altLang="en-US" dirty="0"/>
              <a:t>包</a:t>
            </a:r>
            <a:r>
              <a:rPr lang="zh-CN" altLang="en-US" dirty="0" smtClean="0"/>
              <a:t>含三类信息</a:t>
            </a:r>
            <a:endParaRPr lang="en-US" altLang="zh-CN" dirty="0" smtClean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基本信</a:t>
            </a:r>
            <a:r>
              <a:rPr lang="zh-CN" altLang="en-US" dirty="0" smtClean="0">
                <a:solidFill>
                  <a:srgbClr val="0000FF"/>
                </a:solidFill>
              </a:rPr>
              <a:t>息</a:t>
            </a:r>
            <a:r>
              <a:rPr lang="zh-CN" altLang="en-US" dirty="0" smtClean="0"/>
              <a:t>：</a:t>
            </a:r>
            <a:r>
              <a:rPr lang="zh-CN" altLang="en-US" dirty="0"/>
              <a:t>文件名、文件物理位置、文件逻辑结构、文件物理结构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存取控制信</a:t>
            </a:r>
            <a:r>
              <a:rPr lang="zh-CN" altLang="en-US" dirty="0" smtClean="0">
                <a:solidFill>
                  <a:srgbClr val="0000FF"/>
                </a:solidFill>
              </a:rPr>
              <a:t>息</a:t>
            </a:r>
            <a:r>
              <a:rPr lang="zh-CN" altLang="en-US" dirty="0" smtClean="0"/>
              <a:t>：</a:t>
            </a:r>
            <a:r>
              <a:rPr lang="zh-CN" altLang="en-US" dirty="0"/>
              <a:t>各类用户的存取权限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使用信</a:t>
            </a:r>
            <a:r>
              <a:rPr lang="zh-CN" altLang="en-US" dirty="0" smtClean="0">
                <a:solidFill>
                  <a:srgbClr val="0000FF"/>
                </a:solidFill>
              </a:rPr>
              <a:t>息</a:t>
            </a:r>
            <a:r>
              <a:rPr lang="zh-CN" altLang="en-US" dirty="0" smtClean="0"/>
              <a:t>：</a:t>
            </a:r>
            <a:r>
              <a:rPr lang="zh-CN" altLang="en-US" dirty="0"/>
              <a:t>文件的建立日期和时间、上次修改的日期和时间、当前使用信息（已打开文件的进程数、是否被其他进程锁住、文件在内存中是否已被修改但尚未拷贝到盘上、</a:t>
            </a:r>
            <a:r>
              <a:rPr lang="en-US" altLang="zh-CN" dirty="0"/>
              <a:t>…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792B-CF34-4B13-A937-AEE20948A64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907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文件控制块和索引节点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索引节点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0000FF"/>
                </a:solidFill>
              </a:rPr>
              <a:t>目标是实现文件名与文件描述信息的分离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检索</a:t>
            </a:r>
            <a:r>
              <a:rPr lang="zh-CN" altLang="en-US" dirty="0" smtClean="0"/>
              <a:t>时，仅需文件名</a:t>
            </a:r>
            <a:endParaRPr lang="en-US" altLang="zh-CN" dirty="0" smtClean="0"/>
          </a:p>
          <a:p>
            <a:pPr lvl="1"/>
            <a:r>
              <a:rPr lang="zh-CN" altLang="en-US" dirty="0"/>
              <a:t>文</a:t>
            </a:r>
            <a:r>
              <a:rPr lang="zh-CN" altLang="en-US" dirty="0" smtClean="0"/>
              <a:t>件描述信息单独形成一个索引节点</a:t>
            </a:r>
            <a:r>
              <a:rPr lang="en-US" altLang="zh-CN" dirty="0" smtClean="0"/>
              <a:t>——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节点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E760-04FB-4FCC-AB4A-489B3646C36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691158" y="3861049"/>
            <a:ext cx="5545138" cy="1677988"/>
            <a:chOff x="385" y="3022"/>
            <a:chExt cx="3493" cy="1057"/>
          </a:xfrm>
        </p:grpSpPr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2027" y="3022"/>
              <a:ext cx="1851" cy="1057"/>
              <a:chOff x="802" y="3158"/>
              <a:chExt cx="1851" cy="1057"/>
            </a:xfrm>
          </p:grpSpPr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884" y="3158"/>
                <a:ext cx="1724" cy="86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kumimoji="0" lang="en-US" altLang="zh-CN" sz="1800" b="1" dirty="0">
                    <a:ea typeface="楷体" panose="02010609060101010101" pitchFamily="49" charset="-122"/>
                  </a:rPr>
                  <a:t> </a:t>
                </a:r>
                <a:r>
                  <a:rPr kumimoji="0" lang="zh-CN" altLang="en-US" sz="1800" b="1" dirty="0">
                    <a:ea typeface="楷体" panose="02010609060101010101" pitchFamily="49" charset="-122"/>
                  </a:rPr>
                  <a:t>文件名     索引节点编号</a:t>
                </a:r>
              </a:p>
              <a:p>
                <a:pPr>
                  <a:spcBef>
                    <a:spcPct val="20000"/>
                  </a:spcBef>
                </a:pPr>
                <a:r>
                  <a:rPr kumimoji="0" lang="zh-CN" altLang="en-US" sz="1800" b="1" dirty="0">
                    <a:ea typeface="楷体" panose="02010609060101010101" pitchFamily="49" charset="-122"/>
                  </a:rPr>
                  <a:t>文件名</a:t>
                </a:r>
                <a:r>
                  <a:rPr kumimoji="0" lang="en-US" altLang="zh-CN" sz="1800" b="1" dirty="0">
                    <a:ea typeface="楷体" panose="02010609060101010101" pitchFamily="49" charset="-122"/>
                  </a:rPr>
                  <a:t>1</a:t>
                </a:r>
              </a:p>
              <a:p>
                <a:pPr>
                  <a:spcBef>
                    <a:spcPct val="20000"/>
                  </a:spcBef>
                </a:pPr>
                <a:r>
                  <a:rPr kumimoji="0" lang="zh-CN" altLang="en-US" sz="1800" b="1" dirty="0">
                    <a:ea typeface="楷体" panose="02010609060101010101" pitchFamily="49" charset="-122"/>
                  </a:rPr>
                  <a:t>文件名</a:t>
                </a:r>
                <a:r>
                  <a:rPr kumimoji="0" lang="en-US" altLang="zh-CN" sz="1800" b="1" dirty="0">
                    <a:ea typeface="楷体" panose="02010609060101010101" pitchFamily="49" charset="-122"/>
                  </a:rPr>
                  <a:t>2</a:t>
                </a:r>
              </a:p>
              <a:p>
                <a:pPr>
                  <a:spcBef>
                    <a:spcPct val="20000"/>
                  </a:spcBef>
                </a:pPr>
                <a:r>
                  <a:rPr kumimoji="0" lang="en-US" altLang="zh-CN" sz="1800" b="1" dirty="0">
                    <a:ea typeface="楷体" panose="02010609060101010101" pitchFamily="49" charset="-122"/>
                  </a:rPr>
                  <a:t>…               ……</a:t>
                </a:r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884" y="3393"/>
                <a:ext cx="17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884" y="3602"/>
                <a:ext cx="17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3" name="Line 9"/>
              <p:cNvSpPr>
                <a:spLocks noChangeShapeType="1"/>
              </p:cNvSpPr>
              <p:nvPr/>
            </p:nvSpPr>
            <p:spPr bwMode="auto">
              <a:xfrm>
                <a:off x="884" y="3811"/>
                <a:ext cx="17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4" name="Line 10"/>
              <p:cNvSpPr>
                <a:spLocks noChangeShapeType="1"/>
              </p:cNvSpPr>
              <p:nvPr/>
            </p:nvSpPr>
            <p:spPr bwMode="auto">
              <a:xfrm>
                <a:off x="1519" y="3158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Text Box 11"/>
              <p:cNvSpPr txBox="1">
                <a:spLocks noChangeArrowheads="1"/>
              </p:cNvSpPr>
              <p:nvPr/>
            </p:nvSpPr>
            <p:spPr bwMode="auto">
              <a:xfrm>
                <a:off x="802" y="4002"/>
                <a:ext cx="185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0               13 14                        15</a:t>
                </a:r>
              </a:p>
            </p:txBody>
          </p:sp>
        </p:grp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385" y="3294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400" b="1" dirty="0">
                  <a:ea typeface="楷体" panose="02010609060101010101" pitchFamily="49" charset="-122"/>
                </a:rPr>
                <a:t>UNIX</a:t>
              </a:r>
              <a:r>
                <a:rPr kumimoji="0" lang="zh-CN" altLang="en-US" sz="2400" b="1" dirty="0">
                  <a:ea typeface="楷体" panose="02010609060101010101" pitchFamily="49" charset="-122"/>
                </a:rPr>
                <a:t>的文件目录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044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文件控制块和索引节点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磁盘索引节点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存放在磁盘上，每个文件有唯一的磁盘索引节点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包括：</a:t>
            </a:r>
            <a:endParaRPr lang="en-US" altLang="zh-CN" dirty="0" smtClean="0"/>
          </a:p>
          <a:p>
            <a:pPr lvl="2"/>
            <a:r>
              <a:rPr lang="zh-CN" altLang="en-US" dirty="0"/>
              <a:t>文</a:t>
            </a:r>
            <a:r>
              <a:rPr lang="zh-CN" altLang="en-US" dirty="0" smtClean="0"/>
              <a:t>件主标识符：</a:t>
            </a:r>
            <a:r>
              <a:rPr lang="zh-CN" altLang="en-US" dirty="0"/>
              <a:t>拥有该文件的个人或组标</a:t>
            </a:r>
            <a:r>
              <a:rPr lang="zh-CN" altLang="en-US" dirty="0" smtClean="0"/>
              <a:t>识</a:t>
            </a:r>
            <a:endParaRPr lang="en-US" altLang="zh-CN" dirty="0" smtClean="0"/>
          </a:p>
          <a:p>
            <a:pPr lvl="2"/>
            <a:r>
              <a:rPr lang="zh-CN" altLang="en-US" dirty="0"/>
              <a:t>文件类型：正规文件、目录文件或特别文件</a:t>
            </a:r>
          </a:p>
          <a:p>
            <a:pPr lvl="2"/>
            <a:r>
              <a:rPr lang="zh-CN" altLang="en-US" dirty="0"/>
              <a:t>文件存取权限：各类用户对该文件的存取权限</a:t>
            </a:r>
          </a:p>
          <a:p>
            <a:pPr lvl="2"/>
            <a:r>
              <a:rPr lang="zh-CN" altLang="en-US" dirty="0"/>
              <a:t>文件物理地址：直接或间接给出文件所在盘块</a:t>
            </a:r>
          </a:p>
          <a:p>
            <a:pPr lvl="2"/>
            <a:r>
              <a:rPr lang="zh-CN" altLang="en-US" dirty="0"/>
              <a:t>文件长度、文件链接计数、文件存取时</a:t>
            </a:r>
            <a:r>
              <a:rPr lang="zh-CN" altLang="en-US" dirty="0" smtClean="0"/>
              <a:t>间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4F6-9296-492B-8A8B-24410ADFD73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016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文件控制块和索引节点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内存索引节点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存放在内存中，文件打开时，将磁盘索引节点拷贝到内存的索引节点中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增加如下信息：</a:t>
            </a:r>
            <a:endParaRPr lang="en-US" altLang="zh-CN" dirty="0" smtClean="0"/>
          </a:p>
          <a:p>
            <a:pPr lvl="2">
              <a:lnSpc>
                <a:spcPct val="110000"/>
              </a:lnSpc>
            </a:pPr>
            <a:r>
              <a:rPr lang="zh-CN" altLang="en-US" dirty="0"/>
              <a:t>索引节点编号：标识内存索引节点</a:t>
            </a:r>
          </a:p>
          <a:p>
            <a:pPr lvl="2">
              <a:lnSpc>
                <a:spcPct val="110000"/>
              </a:lnSpc>
            </a:pPr>
            <a:r>
              <a:rPr lang="zh-CN" altLang="en-US" dirty="0"/>
              <a:t>状态：指示</a:t>
            </a:r>
            <a:r>
              <a:rPr lang="en-US" altLang="zh-CN" dirty="0" err="1"/>
              <a:t>i</a:t>
            </a:r>
            <a:r>
              <a:rPr lang="zh-CN" altLang="en-US" dirty="0"/>
              <a:t>节点是否上锁或被修改</a:t>
            </a:r>
          </a:p>
          <a:p>
            <a:pPr lvl="2">
              <a:lnSpc>
                <a:spcPct val="110000"/>
              </a:lnSpc>
            </a:pPr>
            <a:r>
              <a:rPr lang="zh-CN" altLang="en-US" dirty="0"/>
              <a:t>访问计数：有进程访问</a:t>
            </a:r>
            <a:r>
              <a:rPr lang="en-US" altLang="zh-CN" dirty="0" err="1"/>
              <a:t>i</a:t>
            </a:r>
            <a:r>
              <a:rPr lang="zh-CN" altLang="en-US" dirty="0"/>
              <a:t>节点时，计数加</a:t>
            </a:r>
            <a:r>
              <a:rPr lang="en-US" altLang="zh-CN" dirty="0"/>
              <a:t>1</a:t>
            </a:r>
          </a:p>
          <a:p>
            <a:pPr lvl="2">
              <a:lnSpc>
                <a:spcPct val="110000"/>
              </a:lnSpc>
            </a:pPr>
            <a:r>
              <a:rPr lang="zh-CN" altLang="en-US" dirty="0"/>
              <a:t>文件所属文件系统的逻辑设备号</a:t>
            </a:r>
          </a:p>
          <a:p>
            <a:pPr lvl="2">
              <a:lnSpc>
                <a:spcPct val="110000"/>
              </a:lnSpc>
            </a:pPr>
            <a:r>
              <a:rPr lang="zh-CN" altLang="en-US" dirty="0"/>
              <a:t>链接指针：指向空闲链表和散列队</a:t>
            </a:r>
            <a:r>
              <a:rPr lang="zh-CN" altLang="en-US" dirty="0" smtClean="0"/>
              <a:t>列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9CAC-38F5-4C98-811C-4C606D3D215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92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单级目录结构</a:t>
            </a:r>
            <a:endParaRPr lang="en-US" altLang="zh-CN" dirty="0" smtClean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dirty="0" smtClean="0"/>
              <a:t>整</a:t>
            </a:r>
            <a:r>
              <a:rPr lang="zh-CN" altLang="en-US" sz="2000" dirty="0"/>
              <a:t>个文件系统中只建立一张目录表，每个文件占一个目录项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dirty="0"/>
              <a:t>建立一个新文件时，先检索所有目录项，保证新文件名在目录中的唯一性，再从目录表中找出一个空白目录项，填入新文件信息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dirty="0" smtClean="0">
                <a:solidFill>
                  <a:srgbClr val="FF0000"/>
                </a:solidFill>
              </a:rPr>
              <a:t>问题：查</a:t>
            </a:r>
            <a:r>
              <a:rPr lang="zh-CN" altLang="en-US" sz="2000" dirty="0">
                <a:solidFill>
                  <a:srgbClr val="FF0000"/>
                </a:solidFill>
              </a:rPr>
              <a:t>找速度慢，不允许重名，不便于实现文件共享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92E6-C2F9-4980-BEC7-6524B3CB160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2483768" y="4005064"/>
            <a:ext cx="4043362" cy="1033463"/>
            <a:chOff x="1739" y="3503"/>
            <a:chExt cx="2547" cy="651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1746" y="3503"/>
              <a:ext cx="2540" cy="65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zh-CN" sz="1800" b="1">
                  <a:ea typeface="楷体" panose="02010609060101010101" pitchFamily="49" charset="-122"/>
                </a:rPr>
                <a:t> </a:t>
              </a:r>
              <a:r>
                <a:rPr kumimoji="0" lang="zh-CN" altLang="en-US" sz="1800" b="1">
                  <a:ea typeface="楷体" panose="02010609060101010101" pitchFamily="49" charset="-122"/>
                </a:rPr>
                <a:t>文件名    物理地址   文件说明   状态位</a:t>
              </a:r>
            </a:p>
            <a:p>
              <a:pPr>
                <a:spcBef>
                  <a:spcPct val="20000"/>
                </a:spcBef>
              </a:pPr>
              <a:r>
                <a:rPr kumimoji="0" lang="zh-CN" altLang="en-US" sz="1800" b="1">
                  <a:ea typeface="楷体" panose="02010609060101010101" pitchFamily="49" charset="-122"/>
                </a:rPr>
                <a:t>文件名</a:t>
              </a:r>
              <a:r>
                <a:rPr kumimoji="0" lang="en-US" altLang="zh-CN" sz="1800" b="1">
                  <a:ea typeface="楷体" panose="02010609060101010101" pitchFamily="49" charset="-122"/>
                </a:rPr>
                <a:t>1</a:t>
              </a:r>
            </a:p>
            <a:p>
              <a:pPr>
                <a:spcBef>
                  <a:spcPct val="20000"/>
                </a:spcBef>
              </a:pPr>
              <a:r>
                <a:rPr kumimoji="0" lang="zh-CN" altLang="en-US" sz="1800" b="1">
                  <a:ea typeface="楷体" panose="02010609060101010101" pitchFamily="49" charset="-122"/>
                </a:rPr>
                <a:t>文件名</a:t>
              </a:r>
              <a:r>
                <a:rPr kumimoji="0" lang="en-US" altLang="zh-CN" sz="1800" b="1">
                  <a:ea typeface="楷体" panose="02010609060101010101" pitchFamily="49" charset="-122"/>
                </a:rPr>
                <a:t>2 </a:t>
              </a: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1746" y="3730"/>
              <a:ext cx="2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1739" y="3956"/>
              <a:ext cx="2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2327" y="3506"/>
              <a:ext cx="0" cy="6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405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两级目录结构</a:t>
            </a:r>
            <a:endParaRPr lang="en-US" altLang="zh-CN" dirty="0" smtClean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dirty="0" smtClean="0"/>
              <a:t>为</a:t>
            </a:r>
            <a:r>
              <a:rPr lang="zh-CN" altLang="en-US" sz="2000" dirty="0">
                <a:solidFill>
                  <a:srgbClr val="0000FF"/>
                </a:solidFill>
              </a:rPr>
              <a:t>每个用户</a:t>
            </a:r>
            <a:r>
              <a:rPr lang="zh-CN" altLang="en-US" sz="2000" dirty="0"/>
              <a:t>建立一个单独的用户文件目录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dirty="0"/>
              <a:t>这些文件目录由用户所有文件的文件控制块组成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dirty="0"/>
              <a:t>系统中再建立一个主文件目录，其中每个用户目录文件占有一个目录项（目录名，指向子目录指针）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000" dirty="0"/>
              <a:t>优点</a:t>
            </a:r>
          </a:p>
          <a:p>
            <a:pPr lvl="2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提高了检索目录的速度</a:t>
            </a:r>
          </a:p>
          <a:p>
            <a:pPr lvl="2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不同的用户目录中可以使用相同的文件名</a:t>
            </a:r>
          </a:p>
          <a:p>
            <a:pPr lvl="2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不同用户可以用不同的文件名访问同一共享文件</a:t>
            </a:r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5C7C-E8EB-4807-B6ED-73250A33092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5275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两级目录结构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F9B8A-1BF8-4A2A-98F0-24C57EE7D06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3520753" y="2465338"/>
            <a:ext cx="5265737" cy="3313113"/>
            <a:chOff x="2103" y="1797"/>
            <a:chExt cx="3317" cy="2087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2103" y="1979"/>
              <a:ext cx="1406" cy="95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用户名  指向子目录指针</a:t>
              </a:r>
            </a:p>
            <a:p>
              <a:pPr>
                <a:spcBef>
                  <a:spcPct val="2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 </a:t>
              </a:r>
              <a:r>
                <a:rPr kumimoji="0" lang="en-US" altLang="zh-CN" sz="1600" b="1">
                  <a:ea typeface="楷体" panose="02010609060101010101" pitchFamily="49" charset="-122"/>
                </a:rPr>
                <a:t>Wang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 Zhang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  Gao</a:t>
              </a:r>
            </a:p>
            <a:p>
              <a:pPr>
                <a:spcBef>
                  <a:spcPct val="20000"/>
                </a:spcBef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2103" y="2193"/>
              <a:ext cx="14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2103" y="2366"/>
              <a:ext cx="14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2103" y="2556"/>
              <a:ext cx="14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103" y="2744"/>
              <a:ext cx="14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2539" y="1979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3827" y="1981"/>
              <a:ext cx="705" cy="46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Alpha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Test</a:t>
              </a:r>
            </a:p>
            <a:p>
              <a:pPr>
                <a:spcBef>
                  <a:spcPct val="20000"/>
                </a:spcBef>
              </a:pPr>
              <a:endParaRPr kumimoji="0" lang="en-US" altLang="zh-CN" sz="1400" b="1">
                <a:ea typeface="楷体" panose="02010609060101010101" pitchFamily="49" charset="-122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3827" y="2148"/>
              <a:ext cx="7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3827" y="2299"/>
              <a:ext cx="7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4268" y="1981"/>
              <a:ext cx="0" cy="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Oval 14"/>
            <p:cNvSpPr>
              <a:spLocks noChangeArrowheads="1"/>
            </p:cNvSpPr>
            <p:nvPr/>
          </p:nvSpPr>
          <p:spPr bwMode="auto">
            <a:xfrm>
              <a:off x="4752" y="2018"/>
              <a:ext cx="132" cy="11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4609" y="1860"/>
              <a:ext cx="43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Alpha</a:t>
              </a:r>
            </a:p>
          </p:txBody>
        </p:sp>
        <p:sp>
          <p:nvSpPr>
            <p:cNvPr id="20" name="Oval 16"/>
            <p:cNvSpPr>
              <a:spLocks noChangeArrowheads="1"/>
            </p:cNvSpPr>
            <p:nvPr/>
          </p:nvSpPr>
          <p:spPr bwMode="auto">
            <a:xfrm>
              <a:off x="4926" y="2173"/>
              <a:ext cx="132" cy="11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5013" y="2136"/>
              <a:ext cx="3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Test</a:t>
              </a:r>
            </a:p>
          </p:txBody>
        </p:sp>
        <p:sp>
          <p:nvSpPr>
            <p:cNvPr id="22" name="Oval 18"/>
            <p:cNvSpPr>
              <a:spLocks noChangeArrowheads="1"/>
            </p:cNvSpPr>
            <p:nvPr/>
          </p:nvSpPr>
          <p:spPr bwMode="auto">
            <a:xfrm>
              <a:off x="4752" y="2314"/>
              <a:ext cx="132" cy="11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4417" y="2075"/>
              <a:ext cx="3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4412" y="2223"/>
              <a:ext cx="5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4417" y="2376"/>
              <a:ext cx="3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3827" y="3403"/>
              <a:ext cx="705" cy="46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Beta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Device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Misx</a:t>
              </a: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3827" y="3570"/>
              <a:ext cx="7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3827" y="3721"/>
              <a:ext cx="7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4268" y="3403"/>
              <a:ext cx="0" cy="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Oval 26"/>
            <p:cNvSpPr>
              <a:spLocks noChangeArrowheads="1"/>
            </p:cNvSpPr>
            <p:nvPr/>
          </p:nvSpPr>
          <p:spPr bwMode="auto">
            <a:xfrm>
              <a:off x="4752" y="3440"/>
              <a:ext cx="132" cy="11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Text Box 27"/>
            <p:cNvSpPr txBox="1">
              <a:spLocks noChangeArrowheads="1"/>
            </p:cNvSpPr>
            <p:nvPr/>
          </p:nvSpPr>
          <p:spPr bwMode="auto">
            <a:xfrm>
              <a:off x="4609" y="3282"/>
              <a:ext cx="43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Beta</a:t>
              </a:r>
            </a:p>
          </p:txBody>
        </p:sp>
        <p:sp>
          <p:nvSpPr>
            <p:cNvPr id="32" name="Oval 28"/>
            <p:cNvSpPr>
              <a:spLocks noChangeArrowheads="1"/>
            </p:cNvSpPr>
            <p:nvPr/>
          </p:nvSpPr>
          <p:spPr bwMode="auto">
            <a:xfrm>
              <a:off x="4914" y="3592"/>
              <a:ext cx="132" cy="11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5067" y="3542"/>
              <a:ext cx="3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Device</a:t>
              </a:r>
            </a:p>
          </p:txBody>
        </p:sp>
        <p:sp>
          <p:nvSpPr>
            <p:cNvPr id="34" name="Oval 30"/>
            <p:cNvSpPr>
              <a:spLocks noChangeArrowheads="1"/>
            </p:cNvSpPr>
            <p:nvPr/>
          </p:nvSpPr>
          <p:spPr bwMode="auto">
            <a:xfrm>
              <a:off x="4752" y="3736"/>
              <a:ext cx="132" cy="11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417" y="3497"/>
              <a:ext cx="3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4412" y="3645"/>
              <a:ext cx="5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33"/>
            <p:cNvSpPr>
              <a:spLocks noChangeShapeType="1"/>
            </p:cNvSpPr>
            <p:nvPr/>
          </p:nvSpPr>
          <p:spPr bwMode="auto">
            <a:xfrm>
              <a:off x="4417" y="3798"/>
              <a:ext cx="3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4915" y="3692"/>
              <a:ext cx="25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Misx</a:t>
              </a: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3829" y="2738"/>
              <a:ext cx="705" cy="30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Alpha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Test</a:t>
              </a: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3829" y="2893"/>
              <a:ext cx="7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>
              <a:off x="4270" y="2738"/>
              <a:ext cx="0" cy="2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2" name="Oval 38"/>
            <p:cNvSpPr>
              <a:spLocks noChangeArrowheads="1"/>
            </p:cNvSpPr>
            <p:nvPr/>
          </p:nvSpPr>
          <p:spPr bwMode="auto">
            <a:xfrm>
              <a:off x="4754" y="2775"/>
              <a:ext cx="132" cy="11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4884" y="2731"/>
              <a:ext cx="43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Report</a:t>
              </a:r>
            </a:p>
          </p:txBody>
        </p:sp>
        <p:sp>
          <p:nvSpPr>
            <p:cNvPr id="44" name="Oval 40"/>
            <p:cNvSpPr>
              <a:spLocks noChangeArrowheads="1"/>
            </p:cNvSpPr>
            <p:nvPr/>
          </p:nvSpPr>
          <p:spPr bwMode="auto">
            <a:xfrm>
              <a:off x="4928" y="2930"/>
              <a:ext cx="132" cy="11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5" name="Text Box 41"/>
            <p:cNvSpPr txBox="1">
              <a:spLocks noChangeArrowheads="1"/>
            </p:cNvSpPr>
            <p:nvPr/>
          </p:nvSpPr>
          <p:spPr bwMode="auto">
            <a:xfrm>
              <a:off x="5015" y="2893"/>
              <a:ext cx="3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Test</a:t>
              </a:r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>
              <a:off x="4419" y="2832"/>
              <a:ext cx="3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7" name="Line 43"/>
            <p:cNvSpPr>
              <a:spLocks noChangeShapeType="1"/>
            </p:cNvSpPr>
            <p:nvPr/>
          </p:nvSpPr>
          <p:spPr bwMode="auto">
            <a:xfrm>
              <a:off x="4414" y="2980"/>
              <a:ext cx="5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Text Box 44"/>
            <p:cNvSpPr txBox="1">
              <a:spLocks noChangeArrowheads="1"/>
            </p:cNvSpPr>
            <p:nvPr/>
          </p:nvSpPr>
          <p:spPr bwMode="auto">
            <a:xfrm>
              <a:off x="3736" y="1797"/>
              <a:ext cx="90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Wang</a:t>
              </a:r>
              <a:r>
                <a:rPr kumimoji="0" lang="zh-CN" altLang="en-US" sz="1400" b="1">
                  <a:ea typeface="楷体" panose="02010609060101010101" pitchFamily="49" charset="-122"/>
                </a:rPr>
                <a:t>用户目录</a:t>
              </a:r>
            </a:p>
          </p:txBody>
        </p:sp>
        <p:sp>
          <p:nvSpPr>
            <p:cNvPr id="49" name="Text Box 45"/>
            <p:cNvSpPr txBox="1">
              <a:spLocks noChangeArrowheads="1"/>
            </p:cNvSpPr>
            <p:nvPr/>
          </p:nvSpPr>
          <p:spPr bwMode="auto">
            <a:xfrm>
              <a:off x="3766" y="2569"/>
              <a:ext cx="90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Zhang</a:t>
              </a:r>
              <a:r>
                <a:rPr kumimoji="0" lang="zh-CN" altLang="en-US" sz="1400" b="1">
                  <a:ea typeface="楷体" panose="02010609060101010101" pitchFamily="49" charset="-122"/>
                </a:rPr>
                <a:t>用户目录</a:t>
              </a:r>
            </a:p>
          </p:txBody>
        </p:sp>
        <p:sp>
          <p:nvSpPr>
            <p:cNvPr id="50" name="Text Box 46"/>
            <p:cNvSpPr txBox="1">
              <a:spLocks noChangeArrowheads="1"/>
            </p:cNvSpPr>
            <p:nvPr/>
          </p:nvSpPr>
          <p:spPr bwMode="auto">
            <a:xfrm>
              <a:off x="3781" y="3192"/>
              <a:ext cx="90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>
                  <a:ea typeface="楷体" panose="02010609060101010101" pitchFamily="49" charset="-122"/>
                </a:rPr>
                <a:t>Gao</a:t>
              </a:r>
              <a:r>
                <a:rPr kumimoji="0" lang="zh-CN" altLang="en-US" sz="1400" b="1">
                  <a:ea typeface="楷体" panose="02010609060101010101" pitchFamily="49" charset="-122"/>
                </a:rPr>
                <a:t>用户目录</a:t>
              </a:r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 flipV="1">
              <a:off x="3192" y="2160"/>
              <a:ext cx="635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>
              <a:off x="3192" y="2432"/>
              <a:ext cx="641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>
              <a:off x="3237" y="2648"/>
              <a:ext cx="590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  <p:grpSp>
        <p:nvGrpSpPr>
          <p:cNvPr id="54" name="Group 73"/>
          <p:cNvGrpSpPr>
            <a:grpSpLocks/>
          </p:cNvGrpSpPr>
          <p:nvPr/>
        </p:nvGrpSpPr>
        <p:grpSpPr bwMode="auto">
          <a:xfrm>
            <a:off x="323528" y="2420888"/>
            <a:ext cx="2830512" cy="3141663"/>
            <a:chOff x="225" y="1995"/>
            <a:chExt cx="1783" cy="1979"/>
          </a:xfrm>
        </p:grpSpPr>
        <p:grpSp>
          <p:nvGrpSpPr>
            <p:cNvPr id="55" name="Group 70"/>
            <p:cNvGrpSpPr>
              <a:grpSpLocks/>
            </p:cNvGrpSpPr>
            <p:nvPr/>
          </p:nvGrpSpPr>
          <p:grpSpPr bwMode="auto">
            <a:xfrm>
              <a:off x="385" y="2387"/>
              <a:ext cx="1241" cy="1587"/>
              <a:chOff x="340" y="1979"/>
              <a:chExt cx="1241" cy="1587"/>
            </a:xfrm>
          </p:grpSpPr>
          <p:grpSp>
            <p:nvGrpSpPr>
              <p:cNvPr id="58" name="Group 57"/>
              <p:cNvGrpSpPr>
                <a:grpSpLocks/>
              </p:cNvGrpSpPr>
              <p:nvPr/>
            </p:nvGrpSpPr>
            <p:grpSpPr bwMode="auto">
              <a:xfrm>
                <a:off x="340" y="2296"/>
                <a:ext cx="590" cy="454"/>
                <a:chOff x="340" y="2296"/>
                <a:chExt cx="590" cy="454"/>
              </a:xfrm>
            </p:grpSpPr>
            <p:sp>
              <p:nvSpPr>
                <p:cNvPr id="74" name="Rectangle 51"/>
                <p:cNvSpPr>
                  <a:spLocks noChangeArrowheads="1"/>
                </p:cNvSpPr>
                <p:nvPr/>
              </p:nvSpPr>
              <p:spPr bwMode="auto">
                <a:xfrm>
                  <a:off x="340" y="2296"/>
                  <a:ext cx="590" cy="454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75" name="Line 52"/>
                <p:cNvSpPr>
                  <a:spLocks noChangeShapeType="1"/>
                </p:cNvSpPr>
                <p:nvPr/>
              </p:nvSpPr>
              <p:spPr bwMode="auto">
                <a:xfrm>
                  <a:off x="340" y="2403"/>
                  <a:ext cx="59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76" name="Line 53"/>
                <p:cNvSpPr>
                  <a:spLocks noChangeShapeType="1"/>
                </p:cNvSpPr>
                <p:nvPr/>
              </p:nvSpPr>
              <p:spPr bwMode="auto">
                <a:xfrm>
                  <a:off x="340" y="2502"/>
                  <a:ext cx="59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</p:grpSp>
          <p:grpSp>
            <p:nvGrpSpPr>
              <p:cNvPr id="59" name="Group 58"/>
              <p:cNvGrpSpPr>
                <a:grpSpLocks/>
              </p:cNvGrpSpPr>
              <p:nvPr/>
            </p:nvGrpSpPr>
            <p:grpSpPr bwMode="auto">
              <a:xfrm>
                <a:off x="1156" y="1979"/>
                <a:ext cx="409" cy="317"/>
                <a:chOff x="1156" y="1979"/>
                <a:chExt cx="409" cy="317"/>
              </a:xfrm>
            </p:grpSpPr>
            <p:sp>
              <p:nvSpPr>
                <p:cNvPr id="71" name="Rectangle 54"/>
                <p:cNvSpPr>
                  <a:spLocks noChangeArrowheads="1"/>
                </p:cNvSpPr>
                <p:nvPr/>
              </p:nvSpPr>
              <p:spPr bwMode="auto">
                <a:xfrm>
                  <a:off x="1156" y="1979"/>
                  <a:ext cx="409" cy="317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72" name="Line 55"/>
                <p:cNvSpPr>
                  <a:spLocks noChangeShapeType="1"/>
                </p:cNvSpPr>
                <p:nvPr/>
              </p:nvSpPr>
              <p:spPr bwMode="auto">
                <a:xfrm>
                  <a:off x="1156" y="2069"/>
                  <a:ext cx="4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73" name="Line 56"/>
                <p:cNvSpPr>
                  <a:spLocks noChangeShapeType="1"/>
                </p:cNvSpPr>
                <p:nvPr/>
              </p:nvSpPr>
              <p:spPr bwMode="auto">
                <a:xfrm>
                  <a:off x="1156" y="2160"/>
                  <a:ext cx="4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</p:grpSp>
          <p:grpSp>
            <p:nvGrpSpPr>
              <p:cNvPr id="60" name="Group 59"/>
              <p:cNvGrpSpPr>
                <a:grpSpLocks/>
              </p:cNvGrpSpPr>
              <p:nvPr/>
            </p:nvGrpSpPr>
            <p:grpSpPr bwMode="auto">
              <a:xfrm>
                <a:off x="1156" y="2387"/>
                <a:ext cx="409" cy="317"/>
                <a:chOff x="1156" y="1979"/>
                <a:chExt cx="409" cy="317"/>
              </a:xfrm>
            </p:grpSpPr>
            <p:sp>
              <p:nvSpPr>
                <p:cNvPr id="68" name="Rectangle 60"/>
                <p:cNvSpPr>
                  <a:spLocks noChangeArrowheads="1"/>
                </p:cNvSpPr>
                <p:nvPr/>
              </p:nvSpPr>
              <p:spPr bwMode="auto">
                <a:xfrm>
                  <a:off x="1156" y="1979"/>
                  <a:ext cx="409" cy="317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69" name="Line 61"/>
                <p:cNvSpPr>
                  <a:spLocks noChangeShapeType="1"/>
                </p:cNvSpPr>
                <p:nvPr/>
              </p:nvSpPr>
              <p:spPr bwMode="auto">
                <a:xfrm>
                  <a:off x="1156" y="2069"/>
                  <a:ext cx="4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70" name="Line 62"/>
                <p:cNvSpPr>
                  <a:spLocks noChangeShapeType="1"/>
                </p:cNvSpPr>
                <p:nvPr/>
              </p:nvSpPr>
              <p:spPr bwMode="auto">
                <a:xfrm>
                  <a:off x="1156" y="2160"/>
                  <a:ext cx="4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</p:grpSp>
          <p:grpSp>
            <p:nvGrpSpPr>
              <p:cNvPr id="61" name="Group 63"/>
              <p:cNvGrpSpPr>
                <a:grpSpLocks/>
              </p:cNvGrpSpPr>
              <p:nvPr/>
            </p:nvGrpSpPr>
            <p:grpSpPr bwMode="auto">
              <a:xfrm>
                <a:off x="1172" y="3249"/>
                <a:ext cx="409" cy="317"/>
                <a:chOff x="1156" y="1979"/>
                <a:chExt cx="409" cy="317"/>
              </a:xfrm>
            </p:grpSpPr>
            <p:sp>
              <p:nvSpPr>
                <p:cNvPr id="65" name="Rectangle 64"/>
                <p:cNvSpPr>
                  <a:spLocks noChangeArrowheads="1"/>
                </p:cNvSpPr>
                <p:nvPr/>
              </p:nvSpPr>
              <p:spPr bwMode="auto">
                <a:xfrm>
                  <a:off x="1156" y="1979"/>
                  <a:ext cx="409" cy="317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66" name="Line 65"/>
                <p:cNvSpPr>
                  <a:spLocks noChangeShapeType="1"/>
                </p:cNvSpPr>
                <p:nvPr/>
              </p:nvSpPr>
              <p:spPr bwMode="auto">
                <a:xfrm>
                  <a:off x="1156" y="2069"/>
                  <a:ext cx="4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67" name="Line 66"/>
                <p:cNvSpPr>
                  <a:spLocks noChangeShapeType="1"/>
                </p:cNvSpPr>
                <p:nvPr/>
              </p:nvSpPr>
              <p:spPr bwMode="auto">
                <a:xfrm>
                  <a:off x="1156" y="2160"/>
                  <a:ext cx="4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</p:grpSp>
          <p:sp>
            <p:nvSpPr>
              <p:cNvPr id="62" name="Line 67"/>
              <p:cNvSpPr>
                <a:spLocks noChangeShapeType="1"/>
              </p:cNvSpPr>
              <p:nvPr/>
            </p:nvSpPr>
            <p:spPr bwMode="auto">
              <a:xfrm flipV="1">
                <a:off x="839" y="2115"/>
                <a:ext cx="317" cy="2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63" name="Line 68"/>
              <p:cNvSpPr>
                <a:spLocks noChangeShapeType="1"/>
              </p:cNvSpPr>
              <p:nvPr/>
            </p:nvSpPr>
            <p:spPr bwMode="auto">
              <a:xfrm>
                <a:off x="839" y="2432"/>
                <a:ext cx="317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64" name="Line 69"/>
              <p:cNvSpPr>
                <a:spLocks noChangeShapeType="1"/>
              </p:cNvSpPr>
              <p:nvPr/>
            </p:nvSpPr>
            <p:spPr bwMode="auto">
              <a:xfrm>
                <a:off x="839" y="2704"/>
                <a:ext cx="317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56" name="Text Box 71"/>
            <p:cNvSpPr txBox="1">
              <a:spLocks noChangeArrowheads="1"/>
            </p:cNvSpPr>
            <p:nvPr/>
          </p:nvSpPr>
          <p:spPr bwMode="auto">
            <a:xfrm>
              <a:off x="225" y="2312"/>
              <a:ext cx="86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 b="1">
                  <a:ea typeface="楷体" panose="02010609060101010101" pitchFamily="49" charset="-122"/>
                </a:rPr>
                <a:t>主文件目录  </a:t>
              </a:r>
            </a:p>
            <a:p>
              <a:r>
                <a:rPr lang="zh-CN" altLang="en-US" sz="1800" b="1">
                  <a:ea typeface="楷体" panose="02010609060101010101" pitchFamily="49" charset="-122"/>
                </a:rPr>
                <a:t>       </a:t>
              </a:r>
              <a:r>
                <a:rPr lang="en-US" altLang="zh-CN" sz="1800" b="1">
                  <a:ea typeface="楷体" panose="02010609060101010101" pitchFamily="49" charset="-122"/>
                </a:rPr>
                <a:t>MFD</a:t>
              </a:r>
            </a:p>
          </p:txBody>
        </p:sp>
        <p:sp>
          <p:nvSpPr>
            <p:cNvPr id="57" name="Text Box 72"/>
            <p:cNvSpPr txBox="1">
              <a:spLocks noChangeArrowheads="1"/>
            </p:cNvSpPr>
            <p:nvPr/>
          </p:nvSpPr>
          <p:spPr bwMode="auto">
            <a:xfrm>
              <a:off x="964" y="1995"/>
              <a:ext cx="104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 b="1">
                  <a:ea typeface="楷体" panose="02010609060101010101" pitchFamily="49" charset="-122"/>
                </a:rPr>
                <a:t>用户文件目录  </a:t>
              </a:r>
            </a:p>
            <a:p>
              <a:r>
                <a:rPr lang="zh-CN" altLang="en-US" sz="1800" b="1">
                  <a:ea typeface="楷体" panose="02010609060101010101" pitchFamily="49" charset="-122"/>
                </a:rPr>
                <a:t>       </a:t>
              </a:r>
              <a:r>
                <a:rPr lang="en-US" altLang="zh-CN" sz="1800" b="1">
                  <a:ea typeface="楷体" panose="02010609060101010101" pitchFamily="49" charset="-122"/>
                </a:rPr>
                <a:t>UFD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742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多级目录结构</a:t>
            </a:r>
            <a:endParaRPr lang="en-US" altLang="zh-CN" dirty="0" smtClean="0"/>
          </a:p>
          <a:p>
            <a:pPr lvl="1"/>
            <a:r>
              <a:rPr lang="zh-CN" altLang="en-US" dirty="0"/>
              <a:t>主目</a:t>
            </a:r>
            <a:r>
              <a:rPr lang="zh-CN" altLang="en-US" dirty="0" smtClean="0"/>
              <a:t>录：根节点</a:t>
            </a:r>
            <a:endParaRPr lang="en-US" altLang="zh-CN" dirty="0" smtClean="0"/>
          </a:p>
          <a:p>
            <a:pPr lvl="1"/>
            <a:r>
              <a:rPr lang="zh-CN" altLang="en-US" dirty="0"/>
              <a:t>数</a:t>
            </a:r>
            <a:r>
              <a:rPr lang="zh-CN" altLang="en-US" dirty="0" smtClean="0"/>
              <a:t>据文件：叶子节点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844-F68F-442B-BC18-7638F59A348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grpSp>
        <p:nvGrpSpPr>
          <p:cNvPr id="105" name="Group 104"/>
          <p:cNvGrpSpPr/>
          <p:nvPr/>
        </p:nvGrpSpPr>
        <p:grpSpPr>
          <a:xfrm>
            <a:off x="1359941" y="2984525"/>
            <a:ext cx="5948363" cy="3252787"/>
            <a:chOff x="1216025" y="3284538"/>
            <a:chExt cx="5948363" cy="3252787"/>
          </a:xfrm>
        </p:grpSpPr>
        <p:grpSp>
          <p:nvGrpSpPr>
            <p:cNvPr id="7" name="Group 50"/>
            <p:cNvGrpSpPr>
              <a:grpSpLocks/>
            </p:cNvGrpSpPr>
            <p:nvPr/>
          </p:nvGrpSpPr>
          <p:grpSpPr bwMode="auto">
            <a:xfrm>
              <a:off x="4140200" y="3284538"/>
              <a:ext cx="1223963" cy="650875"/>
              <a:chOff x="2200" y="2205"/>
              <a:chExt cx="771" cy="410"/>
            </a:xfrm>
          </p:grpSpPr>
          <p:sp>
            <p:nvSpPr>
              <p:cNvPr id="8" name="Text Box 51"/>
              <p:cNvSpPr txBox="1">
                <a:spLocks noChangeArrowheads="1"/>
              </p:cNvSpPr>
              <p:nvPr/>
            </p:nvSpPr>
            <p:spPr bwMode="auto">
              <a:xfrm>
                <a:off x="2200" y="2205"/>
                <a:ext cx="771" cy="41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0" lang="en-US" altLang="zh-CN" sz="1800" b="1"/>
                  <a:t>A    B    C</a:t>
                </a:r>
              </a:p>
              <a:p>
                <a:pPr algn="ctr"/>
                <a:endParaRPr kumimoji="0" lang="en-US" altLang="zh-CN" sz="1800" b="1"/>
              </a:p>
            </p:txBody>
          </p:sp>
          <p:sp>
            <p:nvSpPr>
              <p:cNvPr id="9" name="Line 52"/>
              <p:cNvSpPr>
                <a:spLocks noChangeShapeType="1"/>
              </p:cNvSpPr>
              <p:nvPr/>
            </p:nvSpPr>
            <p:spPr bwMode="auto">
              <a:xfrm>
                <a:off x="2200" y="2429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53"/>
              <p:cNvSpPr>
                <a:spLocks noChangeShapeType="1"/>
              </p:cNvSpPr>
              <p:nvPr/>
            </p:nvSpPr>
            <p:spPr bwMode="auto">
              <a:xfrm>
                <a:off x="2468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54"/>
              <p:cNvSpPr>
                <a:spLocks noChangeShapeType="1"/>
              </p:cNvSpPr>
              <p:nvPr/>
            </p:nvSpPr>
            <p:spPr bwMode="auto">
              <a:xfrm>
                <a:off x="2717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Group 55"/>
            <p:cNvGrpSpPr>
              <a:grpSpLocks/>
            </p:cNvGrpSpPr>
            <p:nvPr/>
          </p:nvGrpSpPr>
          <p:grpSpPr bwMode="auto">
            <a:xfrm>
              <a:off x="2411413" y="4151313"/>
              <a:ext cx="1223962" cy="650875"/>
              <a:chOff x="2200" y="2205"/>
              <a:chExt cx="771" cy="410"/>
            </a:xfrm>
          </p:grpSpPr>
          <p:sp>
            <p:nvSpPr>
              <p:cNvPr id="13" name="Text Box 56"/>
              <p:cNvSpPr txBox="1">
                <a:spLocks noChangeArrowheads="1"/>
              </p:cNvSpPr>
              <p:nvPr/>
            </p:nvSpPr>
            <p:spPr bwMode="auto">
              <a:xfrm>
                <a:off x="2200" y="2205"/>
                <a:ext cx="771" cy="41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0" lang="en-US" altLang="zh-CN" sz="1800" b="1"/>
                  <a:t>A    B    D</a:t>
                </a:r>
              </a:p>
              <a:p>
                <a:pPr algn="ctr"/>
                <a:endParaRPr kumimoji="0" lang="en-US" altLang="zh-CN" sz="1800" b="1"/>
              </a:p>
            </p:txBody>
          </p:sp>
          <p:sp>
            <p:nvSpPr>
              <p:cNvPr id="14" name="Line 57"/>
              <p:cNvSpPr>
                <a:spLocks noChangeShapeType="1"/>
              </p:cNvSpPr>
              <p:nvPr/>
            </p:nvSpPr>
            <p:spPr bwMode="auto">
              <a:xfrm>
                <a:off x="2200" y="2429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58"/>
              <p:cNvSpPr>
                <a:spLocks noChangeShapeType="1"/>
              </p:cNvSpPr>
              <p:nvPr/>
            </p:nvSpPr>
            <p:spPr bwMode="auto">
              <a:xfrm>
                <a:off x="2468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59"/>
              <p:cNvSpPr>
                <a:spLocks noChangeShapeType="1"/>
              </p:cNvSpPr>
              <p:nvPr/>
            </p:nvSpPr>
            <p:spPr bwMode="auto">
              <a:xfrm>
                <a:off x="2717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Group 60"/>
            <p:cNvGrpSpPr>
              <a:grpSpLocks/>
            </p:cNvGrpSpPr>
            <p:nvPr/>
          </p:nvGrpSpPr>
          <p:grpSpPr bwMode="auto">
            <a:xfrm>
              <a:off x="4140200" y="4151313"/>
              <a:ext cx="1223963" cy="650875"/>
              <a:chOff x="2200" y="2205"/>
              <a:chExt cx="771" cy="410"/>
            </a:xfrm>
          </p:grpSpPr>
          <p:sp>
            <p:nvSpPr>
              <p:cNvPr id="18" name="Text Box 61"/>
              <p:cNvSpPr txBox="1">
                <a:spLocks noChangeArrowheads="1"/>
              </p:cNvSpPr>
              <p:nvPr/>
            </p:nvSpPr>
            <p:spPr bwMode="auto">
              <a:xfrm>
                <a:off x="2200" y="2205"/>
                <a:ext cx="771" cy="41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0" lang="en-US" altLang="zh-CN" sz="1800" b="1"/>
                  <a:t>F    E    D</a:t>
                </a:r>
              </a:p>
              <a:p>
                <a:pPr algn="ctr"/>
                <a:endParaRPr kumimoji="0" lang="en-US" altLang="zh-CN" sz="1800" b="1"/>
              </a:p>
            </p:txBody>
          </p:sp>
          <p:sp>
            <p:nvSpPr>
              <p:cNvPr id="19" name="Line 62"/>
              <p:cNvSpPr>
                <a:spLocks noChangeShapeType="1"/>
              </p:cNvSpPr>
              <p:nvPr/>
            </p:nvSpPr>
            <p:spPr bwMode="auto">
              <a:xfrm>
                <a:off x="2200" y="2429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63"/>
              <p:cNvSpPr>
                <a:spLocks noChangeShapeType="1"/>
              </p:cNvSpPr>
              <p:nvPr/>
            </p:nvSpPr>
            <p:spPr bwMode="auto">
              <a:xfrm>
                <a:off x="2468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64"/>
              <p:cNvSpPr>
                <a:spLocks noChangeShapeType="1"/>
              </p:cNvSpPr>
              <p:nvPr/>
            </p:nvSpPr>
            <p:spPr bwMode="auto">
              <a:xfrm>
                <a:off x="2717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" name="Group 65"/>
            <p:cNvGrpSpPr>
              <a:grpSpLocks/>
            </p:cNvGrpSpPr>
            <p:nvPr/>
          </p:nvGrpSpPr>
          <p:grpSpPr bwMode="auto">
            <a:xfrm>
              <a:off x="2916238" y="5445125"/>
              <a:ext cx="1223962" cy="650875"/>
              <a:chOff x="2200" y="2205"/>
              <a:chExt cx="771" cy="410"/>
            </a:xfrm>
          </p:grpSpPr>
          <p:sp>
            <p:nvSpPr>
              <p:cNvPr id="23" name="Text Box 66"/>
              <p:cNvSpPr txBox="1">
                <a:spLocks noChangeArrowheads="1"/>
              </p:cNvSpPr>
              <p:nvPr/>
            </p:nvSpPr>
            <p:spPr bwMode="auto">
              <a:xfrm>
                <a:off x="2200" y="2205"/>
                <a:ext cx="771" cy="41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0" lang="en-US" altLang="zh-CN" sz="1800" b="1"/>
                  <a:t>J    N    K</a:t>
                </a:r>
              </a:p>
              <a:p>
                <a:pPr algn="ctr"/>
                <a:endParaRPr kumimoji="0" lang="en-US" altLang="zh-CN" sz="1800" b="1"/>
              </a:p>
            </p:txBody>
          </p:sp>
          <p:sp>
            <p:nvSpPr>
              <p:cNvPr id="24" name="Line 67"/>
              <p:cNvSpPr>
                <a:spLocks noChangeShapeType="1"/>
              </p:cNvSpPr>
              <p:nvPr/>
            </p:nvSpPr>
            <p:spPr bwMode="auto">
              <a:xfrm>
                <a:off x="2200" y="2429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68"/>
              <p:cNvSpPr>
                <a:spLocks noChangeShapeType="1"/>
              </p:cNvSpPr>
              <p:nvPr/>
            </p:nvSpPr>
            <p:spPr bwMode="auto">
              <a:xfrm>
                <a:off x="2468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69"/>
              <p:cNvSpPr>
                <a:spLocks noChangeShapeType="1"/>
              </p:cNvSpPr>
              <p:nvPr/>
            </p:nvSpPr>
            <p:spPr bwMode="auto">
              <a:xfrm>
                <a:off x="2717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70"/>
            <p:cNvGrpSpPr>
              <a:grpSpLocks/>
            </p:cNvGrpSpPr>
            <p:nvPr/>
          </p:nvGrpSpPr>
          <p:grpSpPr bwMode="auto">
            <a:xfrm>
              <a:off x="4427538" y="5445125"/>
              <a:ext cx="1223962" cy="650875"/>
              <a:chOff x="2200" y="2205"/>
              <a:chExt cx="771" cy="410"/>
            </a:xfrm>
          </p:grpSpPr>
          <p:sp>
            <p:nvSpPr>
              <p:cNvPr id="28" name="Text Box 71"/>
              <p:cNvSpPr txBox="1">
                <a:spLocks noChangeArrowheads="1"/>
              </p:cNvSpPr>
              <p:nvPr/>
            </p:nvSpPr>
            <p:spPr bwMode="auto">
              <a:xfrm>
                <a:off x="2200" y="2205"/>
                <a:ext cx="771" cy="41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0" lang="en-US" altLang="zh-CN" sz="1800" b="1"/>
                  <a:t>J    M    K</a:t>
                </a:r>
              </a:p>
              <a:p>
                <a:pPr algn="ctr"/>
                <a:endParaRPr kumimoji="0" lang="en-US" altLang="zh-CN" sz="1800" b="1"/>
              </a:p>
            </p:txBody>
          </p:sp>
          <p:sp>
            <p:nvSpPr>
              <p:cNvPr id="29" name="Line 72"/>
              <p:cNvSpPr>
                <a:spLocks noChangeShapeType="1"/>
              </p:cNvSpPr>
              <p:nvPr/>
            </p:nvSpPr>
            <p:spPr bwMode="auto">
              <a:xfrm>
                <a:off x="2200" y="2429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73"/>
              <p:cNvSpPr>
                <a:spLocks noChangeShapeType="1"/>
              </p:cNvSpPr>
              <p:nvPr/>
            </p:nvSpPr>
            <p:spPr bwMode="auto">
              <a:xfrm>
                <a:off x="2468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74"/>
              <p:cNvSpPr>
                <a:spLocks noChangeShapeType="1"/>
              </p:cNvSpPr>
              <p:nvPr/>
            </p:nvSpPr>
            <p:spPr bwMode="auto">
              <a:xfrm>
                <a:off x="2717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" name="Group 75"/>
            <p:cNvGrpSpPr>
              <a:grpSpLocks/>
            </p:cNvGrpSpPr>
            <p:nvPr/>
          </p:nvGrpSpPr>
          <p:grpSpPr bwMode="auto">
            <a:xfrm>
              <a:off x="5940425" y="5445125"/>
              <a:ext cx="1223963" cy="650875"/>
              <a:chOff x="2200" y="2205"/>
              <a:chExt cx="771" cy="410"/>
            </a:xfrm>
          </p:grpSpPr>
          <p:sp>
            <p:nvSpPr>
              <p:cNvPr id="33" name="Text Box 76"/>
              <p:cNvSpPr txBox="1">
                <a:spLocks noChangeArrowheads="1"/>
              </p:cNvSpPr>
              <p:nvPr/>
            </p:nvSpPr>
            <p:spPr bwMode="auto">
              <a:xfrm>
                <a:off x="2200" y="2205"/>
                <a:ext cx="771" cy="41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0" lang="en-US" altLang="zh-CN" sz="1800" b="1"/>
                  <a:t>A    H    F</a:t>
                </a:r>
              </a:p>
              <a:p>
                <a:pPr algn="ctr"/>
                <a:endParaRPr kumimoji="0" lang="en-US" altLang="zh-CN" sz="1800" b="1"/>
              </a:p>
            </p:txBody>
          </p:sp>
          <p:sp>
            <p:nvSpPr>
              <p:cNvPr id="34" name="Line 77"/>
              <p:cNvSpPr>
                <a:spLocks noChangeShapeType="1"/>
              </p:cNvSpPr>
              <p:nvPr/>
            </p:nvSpPr>
            <p:spPr bwMode="auto">
              <a:xfrm>
                <a:off x="2200" y="2429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78"/>
              <p:cNvSpPr>
                <a:spLocks noChangeShapeType="1"/>
              </p:cNvSpPr>
              <p:nvPr/>
            </p:nvSpPr>
            <p:spPr bwMode="auto">
              <a:xfrm>
                <a:off x="2468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79"/>
              <p:cNvSpPr>
                <a:spLocks noChangeShapeType="1"/>
              </p:cNvSpPr>
              <p:nvPr/>
            </p:nvSpPr>
            <p:spPr bwMode="auto">
              <a:xfrm>
                <a:off x="2717" y="2205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" name="Group 80"/>
            <p:cNvGrpSpPr>
              <a:grpSpLocks/>
            </p:cNvGrpSpPr>
            <p:nvPr/>
          </p:nvGrpSpPr>
          <p:grpSpPr bwMode="auto">
            <a:xfrm>
              <a:off x="5795963" y="4151313"/>
              <a:ext cx="827087" cy="650875"/>
              <a:chOff x="3243" y="2704"/>
              <a:chExt cx="521" cy="410"/>
            </a:xfrm>
          </p:grpSpPr>
          <p:sp>
            <p:nvSpPr>
              <p:cNvPr id="38" name="Text Box 81"/>
              <p:cNvSpPr txBox="1">
                <a:spLocks noChangeArrowheads="1"/>
              </p:cNvSpPr>
              <p:nvPr/>
            </p:nvSpPr>
            <p:spPr bwMode="auto">
              <a:xfrm>
                <a:off x="3243" y="2704"/>
                <a:ext cx="513" cy="41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0" lang="en-US" altLang="zh-CN" sz="1800" b="1"/>
                  <a:t>G    A</a:t>
                </a:r>
              </a:p>
              <a:p>
                <a:pPr algn="ctr"/>
                <a:endParaRPr kumimoji="0" lang="en-US" altLang="zh-CN" sz="1800" b="1"/>
              </a:p>
            </p:txBody>
          </p:sp>
          <p:sp>
            <p:nvSpPr>
              <p:cNvPr id="39" name="Line 82"/>
              <p:cNvSpPr>
                <a:spLocks noChangeShapeType="1"/>
              </p:cNvSpPr>
              <p:nvPr/>
            </p:nvSpPr>
            <p:spPr bwMode="auto">
              <a:xfrm>
                <a:off x="3243" y="2928"/>
                <a:ext cx="5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83"/>
              <p:cNvSpPr>
                <a:spLocks noChangeShapeType="1"/>
              </p:cNvSpPr>
              <p:nvPr/>
            </p:nvSpPr>
            <p:spPr bwMode="auto">
              <a:xfrm>
                <a:off x="3505" y="2704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" name="Group 84"/>
            <p:cNvGrpSpPr>
              <a:grpSpLocks/>
            </p:cNvGrpSpPr>
            <p:nvPr/>
          </p:nvGrpSpPr>
          <p:grpSpPr bwMode="auto">
            <a:xfrm>
              <a:off x="1474788" y="5016500"/>
              <a:ext cx="827087" cy="650875"/>
              <a:chOff x="3243" y="2704"/>
              <a:chExt cx="521" cy="410"/>
            </a:xfrm>
          </p:grpSpPr>
          <p:sp>
            <p:nvSpPr>
              <p:cNvPr id="42" name="Text Box 85"/>
              <p:cNvSpPr txBox="1">
                <a:spLocks noChangeArrowheads="1"/>
              </p:cNvSpPr>
              <p:nvPr/>
            </p:nvSpPr>
            <p:spPr bwMode="auto">
              <a:xfrm>
                <a:off x="3243" y="2704"/>
                <a:ext cx="513" cy="41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0" lang="en-US" altLang="zh-CN" sz="1800" b="1"/>
                  <a:t>A    C</a:t>
                </a:r>
              </a:p>
              <a:p>
                <a:pPr algn="ctr"/>
                <a:endParaRPr kumimoji="0" lang="en-US" altLang="zh-CN" sz="1800" b="1"/>
              </a:p>
            </p:txBody>
          </p:sp>
          <p:sp>
            <p:nvSpPr>
              <p:cNvPr id="43" name="Line 86"/>
              <p:cNvSpPr>
                <a:spLocks noChangeShapeType="1"/>
              </p:cNvSpPr>
              <p:nvPr/>
            </p:nvSpPr>
            <p:spPr bwMode="auto">
              <a:xfrm>
                <a:off x="3243" y="2928"/>
                <a:ext cx="5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87"/>
              <p:cNvSpPr>
                <a:spLocks noChangeShapeType="1"/>
              </p:cNvSpPr>
              <p:nvPr/>
            </p:nvSpPr>
            <p:spPr bwMode="auto">
              <a:xfrm>
                <a:off x="3505" y="2704"/>
                <a:ext cx="0" cy="4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" name="Line 88"/>
            <p:cNvSpPr>
              <a:spLocks noChangeShapeType="1"/>
            </p:cNvSpPr>
            <p:nvPr/>
          </p:nvSpPr>
          <p:spPr bwMode="auto">
            <a:xfrm flipH="1">
              <a:off x="3059113" y="3792538"/>
              <a:ext cx="1296987" cy="358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89"/>
            <p:cNvSpPr>
              <a:spLocks noChangeShapeType="1"/>
            </p:cNvSpPr>
            <p:nvPr/>
          </p:nvSpPr>
          <p:spPr bwMode="auto">
            <a:xfrm>
              <a:off x="4768850" y="3792538"/>
              <a:ext cx="0" cy="358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90"/>
            <p:cNvSpPr>
              <a:spLocks noChangeShapeType="1"/>
            </p:cNvSpPr>
            <p:nvPr/>
          </p:nvSpPr>
          <p:spPr bwMode="auto">
            <a:xfrm>
              <a:off x="5148263" y="3792538"/>
              <a:ext cx="1008062" cy="358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91"/>
            <p:cNvSpPr>
              <a:spLocks noChangeShapeType="1"/>
            </p:cNvSpPr>
            <p:nvPr/>
          </p:nvSpPr>
          <p:spPr bwMode="auto">
            <a:xfrm flipH="1">
              <a:off x="1906588" y="4656138"/>
              <a:ext cx="7207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92"/>
            <p:cNvSpPr>
              <a:spLocks noChangeShapeType="1"/>
            </p:cNvSpPr>
            <p:nvPr/>
          </p:nvSpPr>
          <p:spPr bwMode="auto">
            <a:xfrm flipH="1">
              <a:off x="3563938" y="4656138"/>
              <a:ext cx="792162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93"/>
            <p:cNvSpPr>
              <a:spLocks noChangeShapeType="1"/>
            </p:cNvSpPr>
            <p:nvPr/>
          </p:nvSpPr>
          <p:spPr bwMode="auto">
            <a:xfrm>
              <a:off x="4787900" y="4656138"/>
              <a:ext cx="215900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94"/>
            <p:cNvSpPr>
              <a:spLocks noChangeShapeType="1"/>
            </p:cNvSpPr>
            <p:nvPr/>
          </p:nvSpPr>
          <p:spPr bwMode="auto">
            <a:xfrm>
              <a:off x="5148263" y="4656138"/>
              <a:ext cx="1366837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Oval 95"/>
            <p:cNvSpPr>
              <a:spLocks noChangeArrowheads="1"/>
            </p:cNvSpPr>
            <p:nvPr/>
          </p:nvSpPr>
          <p:spPr bwMode="auto">
            <a:xfrm>
              <a:off x="2916238" y="4949825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Oval 96"/>
            <p:cNvSpPr>
              <a:spLocks noChangeArrowheads="1"/>
            </p:cNvSpPr>
            <p:nvPr/>
          </p:nvSpPr>
          <p:spPr bwMode="auto">
            <a:xfrm>
              <a:off x="3343275" y="4953000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97"/>
            <p:cNvSpPr>
              <a:spLocks noChangeArrowheads="1"/>
            </p:cNvSpPr>
            <p:nvPr/>
          </p:nvSpPr>
          <p:spPr bwMode="auto">
            <a:xfrm>
              <a:off x="1581150" y="5786438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Oval 98"/>
            <p:cNvSpPr>
              <a:spLocks noChangeArrowheads="1"/>
            </p:cNvSpPr>
            <p:nvPr/>
          </p:nvSpPr>
          <p:spPr bwMode="auto">
            <a:xfrm>
              <a:off x="2008188" y="5789613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Oval 99"/>
            <p:cNvSpPr>
              <a:spLocks noChangeArrowheads="1"/>
            </p:cNvSpPr>
            <p:nvPr/>
          </p:nvSpPr>
          <p:spPr bwMode="auto">
            <a:xfrm>
              <a:off x="3021013" y="6265863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Oval 100"/>
            <p:cNvSpPr>
              <a:spLocks noChangeArrowheads="1"/>
            </p:cNvSpPr>
            <p:nvPr/>
          </p:nvSpPr>
          <p:spPr bwMode="auto">
            <a:xfrm>
              <a:off x="3448050" y="6269038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Oval 101"/>
            <p:cNvSpPr>
              <a:spLocks noChangeArrowheads="1"/>
            </p:cNvSpPr>
            <p:nvPr/>
          </p:nvSpPr>
          <p:spPr bwMode="auto">
            <a:xfrm>
              <a:off x="4548188" y="6269038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Oval 102"/>
            <p:cNvSpPr>
              <a:spLocks noChangeArrowheads="1"/>
            </p:cNvSpPr>
            <p:nvPr/>
          </p:nvSpPr>
          <p:spPr bwMode="auto">
            <a:xfrm>
              <a:off x="4975225" y="6272213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Oval 103"/>
            <p:cNvSpPr>
              <a:spLocks noChangeArrowheads="1"/>
            </p:cNvSpPr>
            <p:nvPr/>
          </p:nvSpPr>
          <p:spPr bwMode="auto">
            <a:xfrm>
              <a:off x="5354638" y="6273800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Oval 104"/>
            <p:cNvSpPr>
              <a:spLocks noChangeArrowheads="1"/>
            </p:cNvSpPr>
            <p:nvPr/>
          </p:nvSpPr>
          <p:spPr bwMode="auto">
            <a:xfrm>
              <a:off x="6061075" y="6269038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Oval 105"/>
            <p:cNvSpPr>
              <a:spLocks noChangeArrowheads="1"/>
            </p:cNvSpPr>
            <p:nvPr/>
          </p:nvSpPr>
          <p:spPr bwMode="auto">
            <a:xfrm>
              <a:off x="6488113" y="6272213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Oval 106"/>
            <p:cNvSpPr>
              <a:spLocks noChangeArrowheads="1"/>
            </p:cNvSpPr>
            <p:nvPr/>
          </p:nvSpPr>
          <p:spPr bwMode="auto">
            <a:xfrm>
              <a:off x="6156325" y="4943475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Oval 107"/>
            <p:cNvSpPr>
              <a:spLocks noChangeArrowheads="1"/>
            </p:cNvSpPr>
            <p:nvPr/>
          </p:nvSpPr>
          <p:spPr bwMode="auto">
            <a:xfrm>
              <a:off x="6583363" y="4946650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108"/>
            <p:cNvSpPr>
              <a:spLocks noChangeShapeType="1"/>
            </p:cNvSpPr>
            <p:nvPr/>
          </p:nvSpPr>
          <p:spPr bwMode="auto">
            <a:xfrm>
              <a:off x="1690688" y="551973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09"/>
            <p:cNvSpPr>
              <a:spLocks noChangeShapeType="1"/>
            </p:cNvSpPr>
            <p:nvPr/>
          </p:nvSpPr>
          <p:spPr bwMode="auto">
            <a:xfrm>
              <a:off x="2105025" y="5510213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10"/>
            <p:cNvSpPr>
              <a:spLocks noChangeShapeType="1"/>
            </p:cNvSpPr>
            <p:nvPr/>
          </p:nvSpPr>
          <p:spPr bwMode="auto">
            <a:xfrm>
              <a:off x="3132138" y="597058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11"/>
            <p:cNvSpPr>
              <a:spLocks noChangeShapeType="1"/>
            </p:cNvSpPr>
            <p:nvPr/>
          </p:nvSpPr>
          <p:spPr bwMode="auto">
            <a:xfrm>
              <a:off x="3563938" y="597693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112"/>
            <p:cNvSpPr>
              <a:spLocks noChangeShapeType="1"/>
            </p:cNvSpPr>
            <p:nvPr/>
          </p:nvSpPr>
          <p:spPr bwMode="auto">
            <a:xfrm>
              <a:off x="4643438" y="597058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13"/>
            <p:cNvSpPr>
              <a:spLocks noChangeShapeType="1"/>
            </p:cNvSpPr>
            <p:nvPr/>
          </p:nvSpPr>
          <p:spPr bwMode="auto">
            <a:xfrm>
              <a:off x="5075238" y="597693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14"/>
            <p:cNvSpPr>
              <a:spLocks noChangeShapeType="1"/>
            </p:cNvSpPr>
            <p:nvPr/>
          </p:nvSpPr>
          <p:spPr bwMode="auto">
            <a:xfrm>
              <a:off x="5470525" y="597693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15"/>
            <p:cNvSpPr>
              <a:spLocks noChangeShapeType="1"/>
            </p:cNvSpPr>
            <p:nvPr/>
          </p:nvSpPr>
          <p:spPr bwMode="auto">
            <a:xfrm>
              <a:off x="6165850" y="598328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16"/>
            <p:cNvSpPr>
              <a:spLocks noChangeShapeType="1"/>
            </p:cNvSpPr>
            <p:nvPr/>
          </p:nvSpPr>
          <p:spPr bwMode="auto">
            <a:xfrm>
              <a:off x="6597650" y="598963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117"/>
            <p:cNvSpPr>
              <a:spLocks noChangeShapeType="1"/>
            </p:cNvSpPr>
            <p:nvPr/>
          </p:nvSpPr>
          <p:spPr bwMode="auto">
            <a:xfrm>
              <a:off x="3016250" y="465613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118"/>
            <p:cNvSpPr>
              <a:spLocks noChangeShapeType="1"/>
            </p:cNvSpPr>
            <p:nvPr/>
          </p:nvSpPr>
          <p:spPr bwMode="auto">
            <a:xfrm>
              <a:off x="3448050" y="4662488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119"/>
            <p:cNvSpPr>
              <a:spLocks noChangeShapeType="1"/>
            </p:cNvSpPr>
            <p:nvPr/>
          </p:nvSpPr>
          <p:spPr bwMode="auto">
            <a:xfrm>
              <a:off x="6011863" y="4656138"/>
              <a:ext cx="215900" cy="287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20"/>
            <p:cNvSpPr>
              <a:spLocks noChangeShapeType="1"/>
            </p:cNvSpPr>
            <p:nvPr/>
          </p:nvSpPr>
          <p:spPr bwMode="auto">
            <a:xfrm>
              <a:off x="6443663" y="4656138"/>
              <a:ext cx="215900" cy="287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Text Box 121"/>
            <p:cNvSpPr txBox="1">
              <a:spLocks noChangeArrowheads="1"/>
            </p:cNvSpPr>
            <p:nvPr/>
          </p:nvSpPr>
          <p:spPr bwMode="auto">
            <a:xfrm>
              <a:off x="3894138" y="3287713"/>
              <a:ext cx="288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79" name="Text Box 122"/>
            <p:cNvSpPr txBox="1">
              <a:spLocks noChangeArrowheads="1"/>
            </p:cNvSpPr>
            <p:nvPr/>
          </p:nvSpPr>
          <p:spPr bwMode="auto">
            <a:xfrm>
              <a:off x="2171700" y="4151313"/>
              <a:ext cx="288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80" name="Text Box 123"/>
            <p:cNvSpPr txBox="1">
              <a:spLocks noChangeArrowheads="1"/>
            </p:cNvSpPr>
            <p:nvPr/>
          </p:nvSpPr>
          <p:spPr bwMode="auto">
            <a:xfrm>
              <a:off x="3879850" y="4151313"/>
              <a:ext cx="288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3</a:t>
              </a:r>
            </a:p>
          </p:txBody>
        </p:sp>
        <p:sp>
          <p:nvSpPr>
            <p:cNvPr id="81" name="Text Box 124"/>
            <p:cNvSpPr txBox="1">
              <a:spLocks noChangeArrowheads="1"/>
            </p:cNvSpPr>
            <p:nvPr/>
          </p:nvSpPr>
          <p:spPr bwMode="auto">
            <a:xfrm>
              <a:off x="5545138" y="4151313"/>
              <a:ext cx="288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4</a:t>
              </a:r>
            </a:p>
          </p:txBody>
        </p:sp>
        <p:sp>
          <p:nvSpPr>
            <p:cNvPr id="82" name="Text Box 125"/>
            <p:cNvSpPr txBox="1">
              <a:spLocks noChangeArrowheads="1"/>
            </p:cNvSpPr>
            <p:nvPr/>
          </p:nvSpPr>
          <p:spPr bwMode="auto">
            <a:xfrm>
              <a:off x="1216025" y="5016500"/>
              <a:ext cx="288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5</a:t>
              </a:r>
            </a:p>
          </p:txBody>
        </p:sp>
        <p:sp>
          <p:nvSpPr>
            <p:cNvPr id="83" name="Text Box 126"/>
            <p:cNvSpPr txBox="1">
              <a:spLocks noChangeArrowheads="1"/>
            </p:cNvSpPr>
            <p:nvPr/>
          </p:nvSpPr>
          <p:spPr bwMode="auto">
            <a:xfrm>
              <a:off x="2665413" y="4862513"/>
              <a:ext cx="288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6</a:t>
              </a:r>
            </a:p>
          </p:txBody>
        </p:sp>
        <p:sp>
          <p:nvSpPr>
            <p:cNvPr id="84" name="Text Box 127"/>
            <p:cNvSpPr txBox="1">
              <a:spLocks noChangeArrowheads="1"/>
            </p:cNvSpPr>
            <p:nvPr/>
          </p:nvSpPr>
          <p:spPr bwMode="auto">
            <a:xfrm>
              <a:off x="3101975" y="4872038"/>
              <a:ext cx="288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7</a:t>
              </a:r>
            </a:p>
          </p:txBody>
        </p:sp>
        <p:sp>
          <p:nvSpPr>
            <p:cNvPr id="85" name="Text Box 128"/>
            <p:cNvSpPr txBox="1">
              <a:spLocks noChangeArrowheads="1"/>
            </p:cNvSpPr>
            <p:nvPr/>
          </p:nvSpPr>
          <p:spPr bwMode="auto">
            <a:xfrm>
              <a:off x="5924550" y="4862513"/>
              <a:ext cx="288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8</a:t>
              </a:r>
            </a:p>
          </p:txBody>
        </p:sp>
        <p:sp>
          <p:nvSpPr>
            <p:cNvPr id="86" name="Text Box 129"/>
            <p:cNvSpPr txBox="1">
              <a:spLocks noChangeArrowheads="1"/>
            </p:cNvSpPr>
            <p:nvPr/>
          </p:nvSpPr>
          <p:spPr bwMode="auto">
            <a:xfrm>
              <a:off x="6353175" y="4872038"/>
              <a:ext cx="288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9</a:t>
              </a:r>
            </a:p>
          </p:txBody>
        </p:sp>
        <p:sp>
          <p:nvSpPr>
            <p:cNvPr id="87" name="Text Box 130"/>
            <p:cNvSpPr txBox="1">
              <a:spLocks noChangeArrowheads="1"/>
            </p:cNvSpPr>
            <p:nvPr/>
          </p:nvSpPr>
          <p:spPr bwMode="auto">
            <a:xfrm>
              <a:off x="1235075" y="5716588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10</a:t>
              </a:r>
            </a:p>
          </p:txBody>
        </p:sp>
        <p:sp>
          <p:nvSpPr>
            <p:cNvPr id="88" name="Text Box 131"/>
            <p:cNvSpPr txBox="1">
              <a:spLocks noChangeArrowheads="1"/>
            </p:cNvSpPr>
            <p:nvPr/>
          </p:nvSpPr>
          <p:spPr bwMode="auto">
            <a:xfrm>
              <a:off x="1692275" y="5716588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11</a:t>
              </a:r>
            </a:p>
          </p:txBody>
        </p:sp>
        <p:sp>
          <p:nvSpPr>
            <p:cNvPr id="89" name="Text Box 132"/>
            <p:cNvSpPr txBox="1">
              <a:spLocks noChangeArrowheads="1"/>
            </p:cNvSpPr>
            <p:nvPr/>
          </p:nvSpPr>
          <p:spPr bwMode="auto">
            <a:xfrm>
              <a:off x="2584450" y="5448300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12</a:t>
              </a:r>
            </a:p>
          </p:txBody>
        </p:sp>
        <p:sp>
          <p:nvSpPr>
            <p:cNvPr id="90" name="Text Box 133"/>
            <p:cNvSpPr txBox="1">
              <a:spLocks noChangeArrowheads="1"/>
            </p:cNvSpPr>
            <p:nvPr/>
          </p:nvSpPr>
          <p:spPr bwMode="auto">
            <a:xfrm>
              <a:off x="4095750" y="5448300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13</a:t>
              </a:r>
            </a:p>
          </p:txBody>
        </p:sp>
        <p:sp>
          <p:nvSpPr>
            <p:cNvPr id="91" name="Text Box 134"/>
            <p:cNvSpPr txBox="1">
              <a:spLocks noChangeArrowheads="1"/>
            </p:cNvSpPr>
            <p:nvPr/>
          </p:nvSpPr>
          <p:spPr bwMode="auto">
            <a:xfrm>
              <a:off x="5603875" y="5448300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14</a:t>
              </a:r>
            </a:p>
          </p:txBody>
        </p:sp>
        <p:sp>
          <p:nvSpPr>
            <p:cNvPr id="92" name="Text Box 135"/>
            <p:cNvSpPr txBox="1">
              <a:spLocks noChangeArrowheads="1"/>
            </p:cNvSpPr>
            <p:nvPr/>
          </p:nvSpPr>
          <p:spPr bwMode="auto">
            <a:xfrm>
              <a:off x="2684463" y="6180138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15</a:t>
              </a:r>
            </a:p>
          </p:txBody>
        </p:sp>
        <p:sp>
          <p:nvSpPr>
            <p:cNvPr id="93" name="Text Box 136"/>
            <p:cNvSpPr txBox="1">
              <a:spLocks noChangeArrowheads="1"/>
            </p:cNvSpPr>
            <p:nvPr/>
          </p:nvSpPr>
          <p:spPr bwMode="auto">
            <a:xfrm>
              <a:off x="3141663" y="6180138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16</a:t>
              </a:r>
            </a:p>
          </p:txBody>
        </p:sp>
        <p:sp>
          <p:nvSpPr>
            <p:cNvPr id="94" name="Text Box 137"/>
            <p:cNvSpPr txBox="1">
              <a:spLocks noChangeArrowheads="1"/>
            </p:cNvSpPr>
            <p:nvPr/>
          </p:nvSpPr>
          <p:spPr bwMode="auto">
            <a:xfrm>
              <a:off x="3552825" y="6183313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17</a:t>
              </a:r>
            </a:p>
          </p:txBody>
        </p:sp>
        <p:sp>
          <p:nvSpPr>
            <p:cNvPr id="95" name="Text Box 138"/>
            <p:cNvSpPr txBox="1">
              <a:spLocks noChangeArrowheads="1"/>
            </p:cNvSpPr>
            <p:nvPr/>
          </p:nvSpPr>
          <p:spPr bwMode="auto">
            <a:xfrm>
              <a:off x="4662488" y="6186488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19</a:t>
              </a:r>
            </a:p>
          </p:txBody>
        </p:sp>
        <p:sp>
          <p:nvSpPr>
            <p:cNvPr id="96" name="Text Box 139"/>
            <p:cNvSpPr txBox="1">
              <a:spLocks noChangeArrowheads="1"/>
            </p:cNvSpPr>
            <p:nvPr/>
          </p:nvSpPr>
          <p:spPr bwMode="auto">
            <a:xfrm>
              <a:off x="5075238" y="6186488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20</a:t>
              </a:r>
            </a:p>
          </p:txBody>
        </p:sp>
        <p:sp>
          <p:nvSpPr>
            <p:cNvPr id="97" name="Text Box 140"/>
            <p:cNvSpPr txBox="1">
              <a:spLocks noChangeArrowheads="1"/>
            </p:cNvSpPr>
            <p:nvPr/>
          </p:nvSpPr>
          <p:spPr bwMode="auto">
            <a:xfrm>
              <a:off x="5741988" y="6196013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21</a:t>
              </a:r>
            </a:p>
          </p:txBody>
        </p:sp>
        <p:sp>
          <p:nvSpPr>
            <p:cNvPr id="98" name="Text Box 141"/>
            <p:cNvSpPr txBox="1">
              <a:spLocks noChangeArrowheads="1"/>
            </p:cNvSpPr>
            <p:nvPr/>
          </p:nvSpPr>
          <p:spPr bwMode="auto">
            <a:xfrm>
              <a:off x="6199188" y="6196013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22</a:t>
              </a:r>
            </a:p>
          </p:txBody>
        </p:sp>
        <p:sp>
          <p:nvSpPr>
            <p:cNvPr id="99" name="Oval 142"/>
            <p:cNvSpPr>
              <a:spLocks noChangeArrowheads="1"/>
            </p:cNvSpPr>
            <p:nvPr/>
          </p:nvSpPr>
          <p:spPr bwMode="auto">
            <a:xfrm>
              <a:off x="3840163" y="6265863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143"/>
            <p:cNvSpPr>
              <a:spLocks noChangeShapeType="1"/>
            </p:cNvSpPr>
            <p:nvPr/>
          </p:nvSpPr>
          <p:spPr bwMode="auto">
            <a:xfrm>
              <a:off x="3956050" y="5973763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Oval 144"/>
            <p:cNvSpPr>
              <a:spLocks noChangeArrowheads="1"/>
            </p:cNvSpPr>
            <p:nvPr/>
          </p:nvSpPr>
          <p:spPr bwMode="auto">
            <a:xfrm>
              <a:off x="6853238" y="6265863"/>
              <a:ext cx="215900" cy="215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145"/>
            <p:cNvSpPr>
              <a:spLocks noChangeShapeType="1"/>
            </p:cNvSpPr>
            <p:nvPr/>
          </p:nvSpPr>
          <p:spPr bwMode="auto">
            <a:xfrm>
              <a:off x="6969125" y="5973763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Text Box 146"/>
            <p:cNvSpPr txBox="1">
              <a:spLocks noChangeArrowheads="1"/>
            </p:cNvSpPr>
            <p:nvPr/>
          </p:nvSpPr>
          <p:spPr bwMode="auto">
            <a:xfrm>
              <a:off x="4211638" y="6200775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18</a:t>
              </a:r>
            </a:p>
          </p:txBody>
        </p:sp>
        <p:sp>
          <p:nvSpPr>
            <p:cNvPr id="104" name="Text Box 147"/>
            <p:cNvSpPr txBox="1">
              <a:spLocks noChangeArrowheads="1"/>
            </p:cNvSpPr>
            <p:nvPr/>
          </p:nvSpPr>
          <p:spPr bwMode="auto">
            <a:xfrm>
              <a:off x="6599238" y="6200775"/>
              <a:ext cx="431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</a:rPr>
                <a:t>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366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非循环图目录结构</a:t>
            </a:r>
            <a:endParaRPr lang="en-US" altLang="zh-CN" dirty="0" smtClean="0"/>
          </a:p>
          <a:p>
            <a:pPr lvl="1"/>
            <a:r>
              <a:rPr lang="zh-CN" altLang="en-US" dirty="0"/>
              <a:t>允</a:t>
            </a:r>
            <a:r>
              <a:rPr lang="zh-CN" altLang="en-US" dirty="0" smtClean="0"/>
              <a:t>许一个文件或目录在多个父目录中占有项目，但不构成环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UNIX</a:t>
            </a:r>
            <a:r>
              <a:rPr lang="zh-CN" altLang="en-US" dirty="0" smtClean="0"/>
              <a:t>系统中，这种结构叫做“链接”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18342-1137-42A7-829F-57B83817979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123728" y="3212976"/>
            <a:ext cx="4487862" cy="2530475"/>
            <a:chOff x="2455863" y="4195763"/>
            <a:chExt cx="4487862" cy="2530475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5003800" y="4195763"/>
              <a:ext cx="6477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root</a:t>
              </a:r>
            </a:p>
          </p:txBody>
        </p:sp>
        <p:grpSp>
          <p:nvGrpSpPr>
            <p:cNvPr id="9" name="Group 5"/>
            <p:cNvGrpSpPr>
              <a:grpSpLocks/>
            </p:cNvGrpSpPr>
            <p:nvPr/>
          </p:nvGrpSpPr>
          <p:grpSpPr bwMode="auto">
            <a:xfrm>
              <a:off x="3924300" y="4202113"/>
              <a:ext cx="1079500" cy="360362"/>
              <a:chOff x="2472" y="2704"/>
              <a:chExt cx="680" cy="227"/>
            </a:xfrm>
          </p:grpSpPr>
          <p:sp>
            <p:nvSpPr>
              <p:cNvPr id="52" name="Rectangle 6"/>
              <p:cNvSpPr>
                <a:spLocks noChangeArrowheads="1"/>
              </p:cNvSpPr>
              <p:nvPr/>
            </p:nvSpPr>
            <p:spPr bwMode="auto">
              <a:xfrm>
                <a:off x="2472" y="2704"/>
                <a:ext cx="680" cy="22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0" lang="en-US" altLang="zh-CN" sz="2000" b="1"/>
                  <a:t>…</a:t>
                </a:r>
              </a:p>
            </p:txBody>
          </p:sp>
          <p:sp>
            <p:nvSpPr>
              <p:cNvPr id="53" name="Line 7"/>
              <p:cNvSpPr>
                <a:spLocks noChangeShapeType="1"/>
              </p:cNvSpPr>
              <p:nvPr/>
            </p:nvSpPr>
            <p:spPr bwMode="auto">
              <a:xfrm>
                <a:off x="2699" y="2704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8"/>
              <p:cNvSpPr>
                <a:spLocks noChangeShapeType="1"/>
              </p:cNvSpPr>
              <p:nvPr/>
            </p:nvSpPr>
            <p:spPr bwMode="auto">
              <a:xfrm>
                <a:off x="2925" y="2704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2555875" y="4849813"/>
              <a:ext cx="1368425" cy="361950"/>
              <a:chOff x="1610" y="3112"/>
              <a:chExt cx="862" cy="228"/>
            </a:xfrm>
          </p:grpSpPr>
          <p:sp>
            <p:nvSpPr>
              <p:cNvPr id="48" name="Rectangle 10"/>
              <p:cNvSpPr>
                <a:spLocks noChangeArrowheads="1"/>
              </p:cNvSpPr>
              <p:nvPr/>
            </p:nvSpPr>
            <p:spPr bwMode="auto">
              <a:xfrm>
                <a:off x="1610" y="3113"/>
                <a:ext cx="862" cy="226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Line 11"/>
              <p:cNvSpPr>
                <a:spLocks noChangeShapeType="1"/>
              </p:cNvSpPr>
              <p:nvPr/>
            </p:nvSpPr>
            <p:spPr bwMode="auto">
              <a:xfrm>
                <a:off x="2046" y="3112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12"/>
              <p:cNvSpPr>
                <a:spLocks noChangeShapeType="1"/>
              </p:cNvSpPr>
              <p:nvPr/>
            </p:nvSpPr>
            <p:spPr bwMode="auto">
              <a:xfrm>
                <a:off x="2259" y="311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13"/>
              <p:cNvSpPr>
                <a:spLocks noChangeShapeType="1"/>
              </p:cNvSpPr>
              <p:nvPr/>
            </p:nvSpPr>
            <p:spPr bwMode="auto">
              <a:xfrm>
                <a:off x="1837" y="311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5724525" y="4851400"/>
              <a:ext cx="1152525" cy="361950"/>
              <a:chOff x="3606" y="3113"/>
              <a:chExt cx="726" cy="228"/>
            </a:xfrm>
          </p:grpSpPr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3606" y="3113"/>
                <a:ext cx="726" cy="226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Line 16"/>
              <p:cNvSpPr>
                <a:spLocks noChangeShapeType="1"/>
              </p:cNvSpPr>
              <p:nvPr/>
            </p:nvSpPr>
            <p:spPr bwMode="auto">
              <a:xfrm>
                <a:off x="4102" y="311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Line 17"/>
              <p:cNvSpPr>
                <a:spLocks noChangeShapeType="1"/>
              </p:cNvSpPr>
              <p:nvPr/>
            </p:nvSpPr>
            <p:spPr bwMode="auto">
              <a:xfrm>
                <a:off x="3851" y="3114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Oval 18"/>
            <p:cNvSpPr>
              <a:spLocks noChangeArrowheads="1"/>
            </p:cNvSpPr>
            <p:nvPr/>
          </p:nvSpPr>
          <p:spPr bwMode="auto">
            <a:xfrm>
              <a:off x="4500563" y="5283200"/>
              <a:ext cx="287337" cy="28733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9"/>
            <p:cNvSpPr>
              <a:spLocks noChangeArrowheads="1"/>
            </p:cNvSpPr>
            <p:nvPr/>
          </p:nvSpPr>
          <p:spPr bwMode="auto">
            <a:xfrm>
              <a:off x="2549525" y="5354638"/>
              <a:ext cx="287338" cy="28733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20"/>
            <p:cNvSpPr>
              <a:spLocks noChangeArrowheads="1"/>
            </p:cNvSpPr>
            <p:nvPr/>
          </p:nvSpPr>
          <p:spPr bwMode="auto">
            <a:xfrm>
              <a:off x="2954338" y="5354638"/>
              <a:ext cx="287337" cy="28733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21"/>
            <p:cNvSpPr>
              <a:spLocks noChangeArrowheads="1"/>
            </p:cNvSpPr>
            <p:nvPr/>
          </p:nvSpPr>
          <p:spPr bwMode="auto">
            <a:xfrm>
              <a:off x="6516688" y="5349875"/>
              <a:ext cx="287337" cy="28733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22"/>
            <p:cNvSpPr>
              <a:spLocks noChangeArrowheads="1"/>
            </p:cNvSpPr>
            <p:nvPr/>
          </p:nvSpPr>
          <p:spPr bwMode="auto">
            <a:xfrm>
              <a:off x="5043488" y="6175375"/>
              <a:ext cx="287337" cy="28733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23"/>
            <p:cNvSpPr>
              <a:spLocks noChangeArrowheads="1"/>
            </p:cNvSpPr>
            <p:nvPr/>
          </p:nvSpPr>
          <p:spPr bwMode="auto">
            <a:xfrm>
              <a:off x="5475288" y="6180138"/>
              <a:ext cx="287337" cy="287337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4"/>
            <p:cNvSpPr>
              <a:spLocks noChangeArrowheads="1"/>
            </p:cNvSpPr>
            <p:nvPr/>
          </p:nvSpPr>
          <p:spPr bwMode="auto">
            <a:xfrm>
              <a:off x="5867400" y="6175375"/>
              <a:ext cx="287338" cy="28733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" name="Group 25"/>
            <p:cNvGrpSpPr>
              <a:grpSpLocks/>
            </p:cNvGrpSpPr>
            <p:nvPr/>
          </p:nvGrpSpPr>
          <p:grpSpPr bwMode="auto">
            <a:xfrm>
              <a:off x="5003800" y="5673725"/>
              <a:ext cx="1152525" cy="361950"/>
              <a:chOff x="3152" y="3631"/>
              <a:chExt cx="726" cy="228"/>
            </a:xfrm>
          </p:grpSpPr>
          <p:sp>
            <p:nvSpPr>
              <p:cNvPr id="42" name="Rectangle 26"/>
              <p:cNvSpPr>
                <a:spLocks noChangeArrowheads="1"/>
              </p:cNvSpPr>
              <p:nvPr/>
            </p:nvSpPr>
            <p:spPr bwMode="auto">
              <a:xfrm>
                <a:off x="3152" y="3631"/>
                <a:ext cx="726" cy="226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27"/>
              <p:cNvSpPr>
                <a:spLocks noChangeShapeType="1"/>
              </p:cNvSpPr>
              <p:nvPr/>
            </p:nvSpPr>
            <p:spPr bwMode="auto">
              <a:xfrm>
                <a:off x="3648" y="3631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28"/>
              <p:cNvSpPr>
                <a:spLocks noChangeShapeType="1"/>
              </p:cNvSpPr>
              <p:nvPr/>
            </p:nvSpPr>
            <p:spPr bwMode="auto">
              <a:xfrm>
                <a:off x="3397" y="3632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" name="Text Box 29"/>
            <p:cNvSpPr txBox="1">
              <a:spLocks noChangeArrowheads="1"/>
            </p:cNvSpPr>
            <p:nvPr/>
          </p:nvSpPr>
          <p:spPr bwMode="auto">
            <a:xfrm>
              <a:off x="2555875" y="4491038"/>
              <a:ext cx="6477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dict</a:t>
              </a:r>
            </a:p>
          </p:txBody>
        </p:sp>
        <p:sp>
          <p:nvSpPr>
            <p:cNvPr id="21" name="Text Box 30"/>
            <p:cNvSpPr txBox="1">
              <a:spLocks noChangeArrowheads="1"/>
            </p:cNvSpPr>
            <p:nvPr/>
          </p:nvSpPr>
          <p:spPr bwMode="auto">
            <a:xfrm>
              <a:off x="6227763" y="4491038"/>
              <a:ext cx="6477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spell</a:t>
              </a:r>
            </a:p>
          </p:txBody>
        </p:sp>
        <p:sp>
          <p:nvSpPr>
            <p:cNvPr id="22" name="Text Box 31"/>
            <p:cNvSpPr txBox="1">
              <a:spLocks noChangeArrowheads="1"/>
            </p:cNvSpPr>
            <p:nvPr/>
          </p:nvSpPr>
          <p:spPr bwMode="auto">
            <a:xfrm>
              <a:off x="2455863" y="5565775"/>
              <a:ext cx="5762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list</a:t>
              </a:r>
            </a:p>
          </p:txBody>
        </p:sp>
        <p:sp>
          <p:nvSpPr>
            <p:cNvPr id="23" name="Text Box 32"/>
            <p:cNvSpPr txBox="1">
              <a:spLocks noChangeArrowheads="1"/>
            </p:cNvSpPr>
            <p:nvPr/>
          </p:nvSpPr>
          <p:spPr bwMode="auto">
            <a:xfrm>
              <a:off x="2843213" y="5548313"/>
              <a:ext cx="6477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new</a:t>
              </a:r>
            </a:p>
          </p:txBody>
        </p:sp>
        <p:sp>
          <p:nvSpPr>
            <p:cNvPr id="24" name="Text Box 33"/>
            <p:cNvSpPr txBox="1">
              <a:spLocks noChangeArrowheads="1"/>
            </p:cNvSpPr>
            <p:nvPr/>
          </p:nvSpPr>
          <p:spPr bwMode="auto">
            <a:xfrm>
              <a:off x="4716463" y="5254625"/>
              <a:ext cx="7921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count</a:t>
              </a:r>
            </a:p>
          </p:txBody>
        </p:sp>
        <p:sp>
          <p:nvSpPr>
            <p:cNvPr id="25" name="Text Box 34"/>
            <p:cNvSpPr txBox="1">
              <a:spLocks noChangeArrowheads="1"/>
            </p:cNvSpPr>
            <p:nvPr/>
          </p:nvSpPr>
          <p:spPr bwMode="auto">
            <a:xfrm>
              <a:off x="6438900" y="5554663"/>
              <a:ext cx="5048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list</a:t>
              </a:r>
            </a:p>
          </p:txBody>
        </p:sp>
        <p:sp>
          <p:nvSpPr>
            <p:cNvPr id="26" name="Text Box 35"/>
            <p:cNvSpPr txBox="1">
              <a:spLocks noChangeArrowheads="1"/>
            </p:cNvSpPr>
            <p:nvPr/>
          </p:nvSpPr>
          <p:spPr bwMode="auto">
            <a:xfrm>
              <a:off x="5497513" y="5354638"/>
              <a:ext cx="7921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words</a:t>
              </a:r>
            </a:p>
          </p:txBody>
        </p:sp>
        <p:sp>
          <p:nvSpPr>
            <p:cNvPr id="27" name="Text Box 36"/>
            <p:cNvSpPr txBox="1">
              <a:spLocks noChangeArrowheads="1"/>
            </p:cNvSpPr>
            <p:nvPr/>
          </p:nvSpPr>
          <p:spPr bwMode="auto">
            <a:xfrm>
              <a:off x="4916488" y="6389688"/>
              <a:ext cx="6477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list1</a:t>
              </a:r>
            </a:p>
          </p:txBody>
        </p:sp>
        <p:sp>
          <p:nvSpPr>
            <p:cNvPr id="28" name="Text Box 37"/>
            <p:cNvSpPr txBox="1">
              <a:spLocks noChangeArrowheads="1"/>
            </p:cNvSpPr>
            <p:nvPr/>
          </p:nvSpPr>
          <p:spPr bwMode="auto">
            <a:xfrm>
              <a:off x="5364163" y="6384925"/>
              <a:ext cx="6477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radc</a:t>
              </a:r>
            </a:p>
          </p:txBody>
        </p:sp>
        <p:sp>
          <p:nvSpPr>
            <p:cNvPr id="29" name="Text Box 38"/>
            <p:cNvSpPr txBox="1">
              <a:spLocks noChangeArrowheads="1"/>
            </p:cNvSpPr>
            <p:nvPr/>
          </p:nvSpPr>
          <p:spPr bwMode="auto">
            <a:xfrm>
              <a:off x="5829300" y="6386513"/>
              <a:ext cx="5048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/>
                <a:t>w7</a:t>
              </a:r>
            </a:p>
          </p:txBody>
        </p:sp>
        <p:sp>
          <p:nvSpPr>
            <p:cNvPr id="30" name="Line 39"/>
            <p:cNvSpPr>
              <a:spLocks noChangeShapeType="1"/>
            </p:cNvSpPr>
            <p:nvPr/>
          </p:nvSpPr>
          <p:spPr bwMode="auto">
            <a:xfrm flipH="1">
              <a:off x="3276600" y="4346575"/>
              <a:ext cx="790575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40"/>
            <p:cNvSpPr>
              <a:spLocks noChangeShapeType="1"/>
            </p:cNvSpPr>
            <p:nvPr/>
          </p:nvSpPr>
          <p:spPr bwMode="auto">
            <a:xfrm>
              <a:off x="4787900" y="4418013"/>
              <a:ext cx="1584325" cy="433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41"/>
            <p:cNvSpPr>
              <a:spLocks noChangeShapeType="1"/>
            </p:cNvSpPr>
            <p:nvPr/>
          </p:nvSpPr>
          <p:spPr bwMode="auto">
            <a:xfrm>
              <a:off x="3779838" y="4994275"/>
              <a:ext cx="7207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H="1">
              <a:off x="4787900" y="4994275"/>
              <a:ext cx="107950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43"/>
            <p:cNvSpPr>
              <a:spLocks noChangeShapeType="1"/>
            </p:cNvSpPr>
            <p:nvPr/>
          </p:nvSpPr>
          <p:spPr bwMode="auto">
            <a:xfrm>
              <a:off x="2700338" y="4994275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44"/>
            <p:cNvSpPr>
              <a:spLocks noChangeShapeType="1"/>
            </p:cNvSpPr>
            <p:nvPr/>
          </p:nvSpPr>
          <p:spPr bwMode="auto">
            <a:xfrm>
              <a:off x="3092450" y="5005388"/>
              <a:ext cx="0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45"/>
            <p:cNvSpPr>
              <a:spLocks noChangeShapeType="1"/>
            </p:cNvSpPr>
            <p:nvPr/>
          </p:nvSpPr>
          <p:spPr bwMode="auto">
            <a:xfrm>
              <a:off x="3419475" y="4994275"/>
              <a:ext cx="1584325" cy="865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46"/>
            <p:cNvSpPr>
              <a:spLocks noChangeShapeType="1"/>
            </p:cNvSpPr>
            <p:nvPr/>
          </p:nvSpPr>
          <p:spPr bwMode="auto">
            <a:xfrm>
              <a:off x="5186363" y="5881688"/>
              <a:ext cx="0" cy="287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47"/>
            <p:cNvSpPr>
              <a:spLocks noChangeShapeType="1"/>
            </p:cNvSpPr>
            <p:nvPr/>
          </p:nvSpPr>
          <p:spPr bwMode="auto">
            <a:xfrm>
              <a:off x="5595938" y="5892800"/>
              <a:ext cx="0" cy="287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48"/>
            <p:cNvSpPr>
              <a:spLocks noChangeShapeType="1"/>
            </p:cNvSpPr>
            <p:nvPr/>
          </p:nvSpPr>
          <p:spPr bwMode="auto">
            <a:xfrm>
              <a:off x="6000750" y="5886450"/>
              <a:ext cx="0" cy="287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9"/>
            <p:cNvSpPr>
              <a:spLocks noChangeShapeType="1"/>
            </p:cNvSpPr>
            <p:nvPr/>
          </p:nvSpPr>
          <p:spPr bwMode="auto">
            <a:xfrm flipH="1">
              <a:off x="5364163" y="4994275"/>
              <a:ext cx="936625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50"/>
            <p:cNvSpPr>
              <a:spLocks noChangeShapeType="1"/>
            </p:cNvSpPr>
            <p:nvPr/>
          </p:nvSpPr>
          <p:spPr bwMode="auto">
            <a:xfrm>
              <a:off x="6665913" y="5072063"/>
              <a:ext cx="0" cy="287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896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增删目录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增加或删除目录</a:t>
            </a:r>
            <a:endParaRPr lang="en-US" altLang="zh-CN" dirty="0" smtClean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 smtClean="0"/>
              <a:t>树</a:t>
            </a:r>
            <a:r>
              <a:rPr lang="zh-CN" altLang="en-US" dirty="0"/>
              <a:t>型目录结构中，用</a:t>
            </a:r>
            <a:r>
              <a:rPr lang="zh-CN" altLang="en-US" dirty="0" smtClean="0"/>
              <a:t>户为</a:t>
            </a:r>
            <a:r>
              <a:rPr lang="zh-CN" altLang="en-US" dirty="0"/>
              <a:t>自己建立</a:t>
            </a:r>
            <a:r>
              <a:rPr lang="en-US" altLang="zh-CN" dirty="0"/>
              <a:t>UFD</a:t>
            </a:r>
            <a:r>
              <a:rPr lang="zh-CN" altLang="en-US" dirty="0"/>
              <a:t>，并可再创建子目录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树型目录结构中，对于一个不再需要的目录，考虑：</a:t>
            </a:r>
          </a:p>
          <a:p>
            <a:pPr lvl="2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目录为空：直接删除</a:t>
            </a:r>
          </a:p>
          <a:p>
            <a:pPr lvl="2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目录非空</a:t>
            </a:r>
          </a:p>
          <a:p>
            <a:pPr lvl="3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先删除目录中所有文件，再删除目录</a:t>
            </a:r>
          </a:p>
          <a:p>
            <a:pPr lvl="3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删除目录，其子文件一同被删除</a:t>
            </a:r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0B45-9707-4A5E-8AA7-270E9992727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7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目录查询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线性检索（顺序检索）</a:t>
            </a:r>
            <a:endParaRPr lang="en-US" altLang="zh-CN" dirty="0" smtClean="0"/>
          </a:p>
          <a:p>
            <a:pPr lvl="1">
              <a:spcBef>
                <a:spcPct val="10000"/>
              </a:spcBef>
            </a:pPr>
            <a:r>
              <a:rPr lang="zh-CN" altLang="en-US" sz="2000" dirty="0" smtClean="0"/>
              <a:t>单</a:t>
            </a:r>
            <a:r>
              <a:rPr lang="zh-CN" altLang="en-US" sz="2000" dirty="0"/>
              <a:t>级目录中，根据文件名直接在文件目录中顺序查找</a:t>
            </a:r>
          </a:p>
          <a:p>
            <a:pPr lvl="1">
              <a:spcBef>
                <a:spcPct val="10000"/>
              </a:spcBef>
            </a:pPr>
            <a:r>
              <a:rPr lang="zh-CN" altLang="en-US" sz="2000" dirty="0"/>
              <a:t>树型目录结构中，文件名是由多个文件分量名组成的路径，需对多级目录查找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0B61-E47D-4016-B45D-34CD7998E3D8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sp>
        <p:nvSpPr>
          <p:cNvPr id="7" name="Text Box 40"/>
          <p:cNvSpPr txBox="1">
            <a:spLocks noChangeArrowheads="1"/>
          </p:cNvSpPr>
          <p:nvPr/>
        </p:nvSpPr>
        <p:spPr bwMode="auto">
          <a:xfrm>
            <a:off x="323528" y="4246881"/>
            <a:ext cx="15763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2"/>
              </a:buBlip>
            </a:pPr>
            <a:r>
              <a:rPr kumimoji="0" lang="en-US" altLang="zh-CN" sz="1600" b="1" dirty="0">
                <a:ea typeface="楷体" panose="02010609060101010101" pitchFamily="49" charset="-122"/>
              </a:rPr>
              <a:t> </a:t>
            </a:r>
            <a:r>
              <a:rPr kumimoji="0" lang="zh-CN" altLang="en-US" sz="1600" b="1" dirty="0">
                <a:ea typeface="楷体" panose="02010609060101010101" pitchFamily="49" charset="-122"/>
              </a:rPr>
              <a:t>例：查找</a:t>
            </a:r>
            <a:r>
              <a:rPr kumimoji="0" lang="en-US" altLang="zh-CN" sz="1600" b="1" dirty="0">
                <a:ea typeface="楷体" panose="02010609060101010101" pitchFamily="49" charset="-122"/>
              </a:rPr>
              <a:t>/</a:t>
            </a:r>
            <a:r>
              <a:rPr kumimoji="0" lang="en-US" altLang="zh-CN" sz="1600" b="1" dirty="0" err="1">
                <a:ea typeface="楷体" panose="02010609060101010101" pitchFamily="49" charset="-122"/>
              </a:rPr>
              <a:t>usr</a:t>
            </a:r>
            <a:r>
              <a:rPr kumimoji="0" lang="en-US" altLang="zh-CN" sz="1600" b="1" dirty="0">
                <a:ea typeface="楷体" panose="02010609060101010101" pitchFamily="49" charset="-122"/>
              </a:rPr>
              <a:t>/</a:t>
            </a:r>
            <a:r>
              <a:rPr kumimoji="0" lang="en-US" altLang="zh-CN" sz="1600" b="1" dirty="0" err="1">
                <a:ea typeface="楷体" panose="02010609060101010101" pitchFamily="49" charset="-122"/>
              </a:rPr>
              <a:t>ast</a:t>
            </a:r>
            <a:r>
              <a:rPr kumimoji="0" lang="en-US" altLang="zh-CN" sz="1600" b="1" dirty="0">
                <a:ea typeface="楷体" panose="02010609060101010101" pitchFamily="49" charset="-122"/>
              </a:rPr>
              <a:t>/</a:t>
            </a:r>
            <a:r>
              <a:rPr kumimoji="0" lang="en-US" altLang="zh-CN" sz="1600" b="1" dirty="0" err="1">
                <a:ea typeface="楷体" panose="02010609060101010101" pitchFamily="49" charset="-122"/>
              </a:rPr>
              <a:t>mbox</a:t>
            </a:r>
            <a:endParaRPr kumimoji="0" lang="en-US" altLang="zh-CN" sz="1600" b="1" dirty="0">
              <a:ea typeface="楷体" panose="02010609060101010101" pitchFamily="49" charset="-122"/>
            </a:endParaRPr>
          </a:p>
        </p:txBody>
      </p:sp>
      <p:grpSp>
        <p:nvGrpSpPr>
          <p:cNvPr id="8" name="Group 56"/>
          <p:cNvGrpSpPr>
            <a:grpSpLocks/>
          </p:cNvGrpSpPr>
          <p:nvPr/>
        </p:nvGrpSpPr>
        <p:grpSpPr bwMode="auto">
          <a:xfrm>
            <a:off x="1966589" y="3391793"/>
            <a:ext cx="1079500" cy="2778125"/>
            <a:chOff x="1412" y="2508"/>
            <a:chExt cx="680" cy="1750"/>
          </a:xfrm>
        </p:grpSpPr>
        <p:grpSp>
          <p:nvGrpSpPr>
            <p:cNvPr id="9" name="Group 12"/>
            <p:cNvGrpSpPr>
              <a:grpSpLocks/>
            </p:cNvGrpSpPr>
            <p:nvPr/>
          </p:nvGrpSpPr>
          <p:grpSpPr bwMode="auto">
            <a:xfrm>
              <a:off x="1412" y="2779"/>
              <a:ext cx="680" cy="1299"/>
              <a:chOff x="476" y="2432"/>
              <a:chExt cx="680" cy="1299"/>
            </a:xfrm>
          </p:grpSpPr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476" y="2432"/>
                <a:ext cx="680" cy="129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1         .   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1       .   .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4       bin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7       dev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14     lib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9       etc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6       usr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8      temp</a:t>
                </a:r>
              </a:p>
            </p:txBody>
          </p:sp>
          <p:sp>
            <p:nvSpPr>
              <p:cNvPr id="13" name="Line 14"/>
              <p:cNvSpPr>
                <a:spLocks noChangeShapeType="1"/>
              </p:cNvSpPr>
              <p:nvPr/>
            </p:nvSpPr>
            <p:spPr bwMode="auto">
              <a:xfrm>
                <a:off x="476" y="2621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4" name="Line 15"/>
              <p:cNvSpPr>
                <a:spLocks noChangeShapeType="1"/>
              </p:cNvSpPr>
              <p:nvPr/>
            </p:nvSpPr>
            <p:spPr bwMode="auto">
              <a:xfrm>
                <a:off x="476" y="2771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Line 16"/>
              <p:cNvSpPr>
                <a:spLocks noChangeShapeType="1"/>
              </p:cNvSpPr>
              <p:nvPr/>
            </p:nvSpPr>
            <p:spPr bwMode="auto">
              <a:xfrm>
                <a:off x="476" y="2917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Line 17"/>
              <p:cNvSpPr>
                <a:spLocks noChangeShapeType="1"/>
              </p:cNvSpPr>
              <p:nvPr/>
            </p:nvSpPr>
            <p:spPr bwMode="auto">
              <a:xfrm>
                <a:off x="476" y="3082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Line 18"/>
              <p:cNvSpPr>
                <a:spLocks noChangeShapeType="1"/>
              </p:cNvSpPr>
              <p:nvPr/>
            </p:nvSpPr>
            <p:spPr bwMode="auto">
              <a:xfrm>
                <a:off x="476" y="3232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Line 19"/>
              <p:cNvSpPr>
                <a:spLocks noChangeShapeType="1"/>
              </p:cNvSpPr>
              <p:nvPr/>
            </p:nvSpPr>
            <p:spPr bwMode="auto">
              <a:xfrm>
                <a:off x="476" y="3378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Line 20"/>
              <p:cNvSpPr>
                <a:spLocks noChangeShapeType="1"/>
              </p:cNvSpPr>
              <p:nvPr/>
            </p:nvSpPr>
            <p:spPr bwMode="auto">
              <a:xfrm>
                <a:off x="476" y="3535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0" name="Line 21"/>
              <p:cNvSpPr>
                <a:spLocks noChangeShapeType="1"/>
              </p:cNvSpPr>
              <p:nvPr/>
            </p:nvSpPr>
            <p:spPr bwMode="auto">
              <a:xfrm>
                <a:off x="734" y="2432"/>
                <a:ext cx="0" cy="12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0" name="Text Box 45"/>
            <p:cNvSpPr txBox="1">
              <a:spLocks noChangeArrowheads="1"/>
            </p:cNvSpPr>
            <p:nvPr/>
          </p:nvSpPr>
          <p:spPr bwMode="auto">
            <a:xfrm>
              <a:off x="1531" y="4045"/>
              <a:ext cx="45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目录</a:t>
              </a:r>
            </a:p>
          </p:txBody>
        </p:sp>
        <p:sp>
          <p:nvSpPr>
            <p:cNvPr id="11" name="Text Box 51"/>
            <p:cNvSpPr txBox="1">
              <a:spLocks noChangeArrowheads="1"/>
            </p:cNvSpPr>
            <p:nvPr/>
          </p:nvSpPr>
          <p:spPr bwMode="auto">
            <a:xfrm>
              <a:off x="1434" y="2508"/>
              <a:ext cx="6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ea typeface="楷体" panose="02010609060101010101" pitchFamily="49" charset="-122"/>
                </a:rPr>
                <a:t>根目录</a:t>
              </a:r>
            </a:p>
          </p:txBody>
        </p:sp>
      </p:grpSp>
      <p:grpSp>
        <p:nvGrpSpPr>
          <p:cNvPr id="21" name="Group 57"/>
          <p:cNvGrpSpPr>
            <a:grpSpLocks/>
          </p:cNvGrpSpPr>
          <p:nvPr/>
        </p:nvGrpSpPr>
        <p:grpSpPr bwMode="auto">
          <a:xfrm>
            <a:off x="2255514" y="3229868"/>
            <a:ext cx="2230438" cy="2633663"/>
            <a:chOff x="1594" y="2406"/>
            <a:chExt cx="1405" cy="1659"/>
          </a:xfrm>
        </p:grpSpPr>
        <p:grpSp>
          <p:nvGrpSpPr>
            <p:cNvPr id="22" name="Group 4"/>
            <p:cNvGrpSpPr>
              <a:grpSpLocks/>
            </p:cNvGrpSpPr>
            <p:nvPr/>
          </p:nvGrpSpPr>
          <p:grpSpPr bwMode="auto">
            <a:xfrm>
              <a:off x="2274" y="2779"/>
              <a:ext cx="589" cy="680"/>
              <a:chOff x="1338" y="2432"/>
              <a:chExt cx="589" cy="680"/>
            </a:xfrm>
          </p:grpSpPr>
          <p:sp>
            <p:nvSpPr>
              <p:cNvPr id="26" name="Text Box 5"/>
              <p:cNvSpPr txBox="1">
                <a:spLocks noChangeArrowheads="1"/>
              </p:cNvSpPr>
              <p:nvPr/>
            </p:nvSpPr>
            <p:spPr bwMode="auto">
              <a:xfrm>
                <a:off x="1338" y="2432"/>
                <a:ext cx="589" cy="68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    132</a:t>
                </a:r>
              </a:p>
              <a:p>
                <a:endParaRPr kumimoji="0"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27" name="Line 6"/>
              <p:cNvSpPr>
                <a:spLocks noChangeShapeType="1"/>
              </p:cNvSpPr>
              <p:nvPr/>
            </p:nvSpPr>
            <p:spPr bwMode="auto">
              <a:xfrm>
                <a:off x="1338" y="2781"/>
                <a:ext cx="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8" name="Line 7"/>
              <p:cNvSpPr>
                <a:spLocks noChangeShapeType="1"/>
              </p:cNvSpPr>
              <p:nvPr/>
            </p:nvSpPr>
            <p:spPr bwMode="auto">
              <a:xfrm>
                <a:off x="1338" y="2938"/>
                <a:ext cx="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23" name="Freeform 41"/>
            <p:cNvSpPr>
              <a:spLocks/>
            </p:cNvSpPr>
            <p:nvPr/>
          </p:nvSpPr>
          <p:spPr bwMode="auto">
            <a:xfrm>
              <a:off x="1594" y="3461"/>
              <a:ext cx="952" cy="604"/>
            </a:xfrm>
            <a:custGeom>
              <a:avLst/>
              <a:gdLst>
                <a:gd name="T0" fmla="*/ 0 w 952"/>
                <a:gd name="T1" fmla="*/ 363 h 604"/>
                <a:gd name="T2" fmla="*/ 590 w 952"/>
                <a:gd name="T3" fmla="*/ 544 h 604"/>
                <a:gd name="T4" fmla="*/ 952 w 952"/>
                <a:gd name="T5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2" h="604">
                  <a:moveTo>
                    <a:pt x="0" y="363"/>
                  </a:moveTo>
                  <a:cubicBezTo>
                    <a:pt x="215" y="483"/>
                    <a:pt x="431" y="604"/>
                    <a:pt x="590" y="544"/>
                  </a:cubicBezTo>
                  <a:cubicBezTo>
                    <a:pt x="749" y="484"/>
                    <a:pt x="892" y="91"/>
                    <a:pt x="952" y="0"/>
                  </a:cubicBezTo>
                </a:path>
              </a:pathLst>
            </a:custGeom>
            <a:noFill/>
            <a:ln w="9525" cap="flat">
              <a:solidFill>
                <a:srgbClr val="FF3300"/>
              </a:solidFill>
              <a:prstDash val="dash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4" name="Text Box 46"/>
            <p:cNvSpPr txBox="1">
              <a:spLocks noChangeArrowheads="1"/>
            </p:cNvSpPr>
            <p:nvPr/>
          </p:nvSpPr>
          <p:spPr bwMode="auto">
            <a:xfrm>
              <a:off x="2398" y="3494"/>
              <a:ext cx="45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i</a:t>
              </a:r>
              <a:r>
                <a:rPr kumimoji="0" lang="zh-CN" altLang="en-US" sz="1600" b="1">
                  <a:ea typeface="楷体" panose="02010609060101010101" pitchFamily="49" charset="-122"/>
                </a:rPr>
                <a:t>节点</a:t>
              </a:r>
            </a:p>
          </p:txBody>
        </p:sp>
        <p:sp>
          <p:nvSpPr>
            <p:cNvPr id="25" name="Text Box 52"/>
            <p:cNvSpPr txBox="1">
              <a:spLocks noChangeArrowheads="1"/>
            </p:cNvSpPr>
            <p:nvPr/>
          </p:nvSpPr>
          <p:spPr bwMode="auto">
            <a:xfrm>
              <a:off x="2173" y="2406"/>
              <a:ext cx="826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节点</a:t>
              </a:r>
              <a:r>
                <a:rPr lang="en-US" altLang="zh-CN" sz="1600" b="1" dirty="0">
                  <a:ea typeface="楷体" panose="02010609060101010101" pitchFamily="49" charset="-122"/>
                </a:rPr>
                <a:t>6</a:t>
              </a:r>
              <a:r>
                <a:rPr lang="zh-CN" altLang="en-US" sz="1600" b="1" dirty="0" smtClean="0">
                  <a:ea typeface="楷体" panose="02010609060101010101" pitchFamily="49" charset="-122"/>
                </a:rPr>
                <a:t>是</a:t>
              </a:r>
              <a:r>
                <a:rPr lang="en-US" altLang="zh-CN" sz="1600" b="1" dirty="0" smtClean="0">
                  <a:ea typeface="楷体" panose="02010609060101010101" pitchFamily="49" charset="-122"/>
                </a:rPr>
                <a:t>/</a:t>
              </a:r>
              <a:r>
                <a:rPr lang="en-US" altLang="zh-CN" sz="1600" b="1" dirty="0" err="1" smtClean="0">
                  <a:ea typeface="楷体" panose="02010609060101010101" pitchFamily="49" charset="-122"/>
                </a:rPr>
                <a:t>usr</a:t>
              </a:r>
              <a:r>
                <a:rPr lang="zh-CN" altLang="en-US" sz="1600" b="1" dirty="0">
                  <a:ea typeface="楷体" panose="02010609060101010101" pitchFamily="49" charset="-122"/>
                </a:rPr>
                <a:t>的目录</a:t>
              </a:r>
            </a:p>
          </p:txBody>
        </p:sp>
      </p:grpSp>
      <p:grpSp>
        <p:nvGrpSpPr>
          <p:cNvPr id="29" name="Group 58"/>
          <p:cNvGrpSpPr>
            <a:grpSpLocks/>
          </p:cNvGrpSpPr>
          <p:nvPr/>
        </p:nvGrpSpPr>
        <p:grpSpPr bwMode="auto">
          <a:xfrm>
            <a:off x="4127177" y="3177481"/>
            <a:ext cx="1809750" cy="2751137"/>
            <a:chOff x="2773" y="2373"/>
            <a:chExt cx="1140" cy="1733"/>
          </a:xfrm>
        </p:grpSpPr>
        <p:grpSp>
          <p:nvGrpSpPr>
            <p:cNvPr id="30" name="Group 22"/>
            <p:cNvGrpSpPr>
              <a:grpSpLocks/>
            </p:cNvGrpSpPr>
            <p:nvPr/>
          </p:nvGrpSpPr>
          <p:grpSpPr bwMode="auto">
            <a:xfrm>
              <a:off x="3038" y="2748"/>
              <a:ext cx="687" cy="1149"/>
              <a:chOff x="2102" y="2401"/>
              <a:chExt cx="687" cy="1149"/>
            </a:xfrm>
          </p:grpSpPr>
          <p:sp>
            <p:nvSpPr>
              <p:cNvPr id="34" name="Text Box 23"/>
              <p:cNvSpPr txBox="1">
                <a:spLocks noChangeArrowheads="1"/>
              </p:cNvSpPr>
              <p:nvPr/>
            </p:nvSpPr>
            <p:spPr bwMode="auto">
              <a:xfrm>
                <a:off x="2109" y="2406"/>
                <a:ext cx="680" cy="1144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6         .   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1       .   .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19     dick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30     erik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51     jim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26     ast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45     bal</a:t>
                </a:r>
              </a:p>
            </p:txBody>
          </p:sp>
          <p:sp>
            <p:nvSpPr>
              <p:cNvPr id="35" name="Line 24"/>
              <p:cNvSpPr>
                <a:spLocks noChangeShapeType="1"/>
              </p:cNvSpPr>
              <p:nvPr/>
            </p:nvSpPr>
            <p:spPr bwMode="auto">
              <a:xfrm>
                <a:off x="2102" y="2603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Line 25"/>
              <p:cNvSpPr>
                <a:spLocks noChangeShapeType="1"/>
              </p:cNvSpPr>
              <p:nvPr/>
            </p:nvSpPr>
            <p:spPr bwMode="auto">
              <a:xfrm>
                <a:off x="2102" y="2753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7" name="Line 26"/>
              <p:cNvSpPr>
                <a:spLocks noChangeShapeType="1"/>
              </p:cNvSpPr>
              <p:nvPr/>
            </p:nvSpPr>
            <p:spPr bwMode="auto">
              <a:xfrm>
                <a:off x="2102" y="2899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8" name="Line 27"/>
              <p:cNvSpPr>
                <a:spLocks noChangeShapeType="1"/>
              </p:cNvSpPr>
              <p:nvPr/>
            </p:nvSpPr>
            <p:spPr bwMode="auto">
              <a:xfrm>
                <a:off x="2102" y="3064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39" name="Line 28"/>
              <p:cNvSpPr>
                <a:spLocks noChangeShapeType="1"/>
              </p:cNvSpPr>
              <p:nvPr/>
            </p:nvSpPr>
            <p:spPr bwMode="auto">
              <a:xfrm>
                <a:off x="2102" y="3214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Line 29"/>
              <p:cNvSpPr>
                <a:spLocks noChangeShapeType="1"/>
              </p:cNvSpPr>
              <p:nvPr/>
            </p:nvSpPr>
            <p:spPr bwMode="auto">
              <a:xfrm>
                <a:off x="2102" y="3360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1" name="Line 30"/>
              <p:cNvSpPr>
                <a:spLocks noChangeShapeType="1"/>
              </p:cNvSpPr>
              <p:nvPr/>
            </p:nvSpPr>
            <p:spPr bwMode="auto">
              <a:xfrm>
                <a:off x="2367" y="2401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31" name="Freeform 42"/>
            <p:cNvSpPr>
              <a:spLocks/>
            </p:cNvSpPr>
            <p:nvPr/>
          </p:nvSpPr>
          <p:spPr bwMode="auto">
            <a:xfrm>
              <a:off x="2773" y="2572"/>
              <a:ext cx="590" cy="620"/>
            </a:xfrm>
            <a:custGeom>
              <a:avLst/>
              <a:gdLst>
                <a:gd name="T0" fmla="*/ 0 w 590"/>
                <a:gd name="T1" fmla="*/ 620 h 620"/>
                <a:gd name="T2" fmla="*/ 227 w 590"/>
                <a:gd name="T3" fmla="*/ 76 h 620"/>
                <a:gd name="T4" fmla="*/ 590 w 590"/>
                <a:gd name="T5" fmla="*/ 166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0" h="620">
                  <a:moveTo>
                    <a:pt x="0" y="620"/>
                  </a:moveTo>
                  <a:cubicBezTo>
                    <a:pt x="64" y="386"/>
                    <a:pt x="129" y="152"/>
                    <a:pt x="227" y="76"/>
                  </a:cubicBezTo>
                  <a:cubicBezTo>
                    <a:pt x="325" y="0"/>
                    <a:pt x="530" y="151"/>
                    <a:pt x="590" y="166"/>
                  </a:cubicBezTo>
                </a:path>
              </a:pathLst>
            </a:custGeom>
            <a:noFill/>
            <a:ln w="9525" cap="flat">
              <a:solidFill>
                <a:srgbClr val="FF3300"/>
              </a:solidFill>
              <a:prstDash val="dash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32" name="Text Box 47"/>
            <p:cNvSpPr txBox="1">
              <a:spLocks noChangeArrowheads="1"/>
            </p:cNvSpPr>
            <p:nvPr/>
          </p:nvSpPr>
          <p:spPr bwMode="auto">
            <a:xfrm>
              <a:off x="3149" y="3893"/>
              <a:ext cx="45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目录</a:t>
              </a:r>
            </a:p>
          </p:txBody>
        </p:sp>
        <p:sp>
          <p:nvSpPr>
            <p:cNvPr id="33" name="Text Box 53"/>
            <p:cNvSpPr txBox="1">
              <a:spLocks noChangeArrowheads="1"/>
            </p:cNvSpPr>
            <p:nvPr/>
          </p:nvSpPr>
          <p:spPr bwMode="auto">
            <a:xfrm>
              <a:off x="2976" y="2373"/>
              <a:ext cx="937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zh-CN" sz="1600" b="1" dirty="0">
                  <a:ea typeface="楷体" panose="02010609060101010101" pitchFamily="49" charset="-122"/>
                </a:rPr>
                <a:t>132</a:t>
              </a:r>
              <a:r>
                <a:rPr lang="zh-CN" altLang="en-US" sz="1600" b="1" dirty="0">
                  <a:ea typeface="楷体" panose="02010609060101010101" pitchFamily="49" charset="-122"/>
                </a:rPr>
                <a:t>号盘块是</a:t>
              </a:r>
              <a:r>
                <a:rPr lang="en-US" altLang="zh-CN" sz="1600" b="1" dirty="0">
                  <a:ea typeface="楷体" panose="02010609060101010101" pitchFamily="49" charset="-122"/>
                </a:rPr>
                <a:t>/</a:t>
              </a:r>
              <a:r>
                <a:rPr lang="en-US" altLang="zh-CN" sz="1600" b="1" dirty="0" err="1" smtClean="0">
                  <a:ea typeface="楷体" panose="02010609060101010101" pitchFamily="49" charset="-122"/>
                </a:rPr>
                <a:t>usr</a:t>
              </a:r>
              <a:r>
                <a:rPr lang="zh-CN" altLang="en-US" sz="1600" b="1" dirty="0">
                  <a:ea typeface="楷体" panose="02010609060101010101" pitchFamily="49" charset="-122"/>
                </a:rPr>
                <a:t>的目录</a:t>
              </a:r>
            </a:p>
          </p:txBody>
        </p:sp>
      </p:grpSp>
      <p:grpSp>
        <p:nvGrpSpPr>
          <p:cNvPr id="42" name="Group 59"/>
          <p:cNvGrpSpPr>
            <a:grpSpLocks/>
          </p:cNvGrpSpPr>
          <p:nvPr/>
        </p:nvGrpSpPr>
        <p:grpSpPr bwMode="auto">
          <a:xfrm>
            <a:off x="4914577" y="3212406"/>
            <a:ext cx="2390775" cy="2328862"/>
            <a:chOff x="3269" y="2395"/>
            <a:chExt cx="1506" cy="1467"/>
          </a:xfrm>
        </p:grpSpPr>
        <p:grpSp>
          <p:nvGrpSpPr>
            <p:cNvPr id="43" name="Group 8"/>
            <p:cNvGrpSpPr>
              <a:grpSpLocks/>
            </p:cNvGrpSpPr>
            <p:nvPr/>
          </p:nvGrpSpPr>
          <p:grpSpPr bwMode="auto">
            <a:xfrm>
              <a:off x="3907" y="2734"/>
              <a:ext cx="589" cy="680"/>
              <a:chOff x="2971" y="2387"/>
              <a:chExt cx="589" cy="680"/>
            </a:xfrm>
          </p:grpSpPr>
          <p:sp>
            <p:nvSpPr>
              <p:cNvPr id="47" name="Text Box 9"/>
              <p:cNvSpPr txBox="1">
                <a:spLocks noChangeArrowheads="1"/>
              </p:cNvSpPr>
              <p:nvPr/>
            </p:nvSpPr>
            <p:spPr bwMode="auto">
              <a:xfrm>
                <a:off x="2971" y="2387"/>
                <a:ext cx="589" cy="680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    496</a:t>
                </a:r>
              </a:p>
              <a:p>
                <a:endParaRPr kumimoji="0"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48" name="Line 10"/>
              <p:cNvSpPr>
                <a:spLocks noChangeShapeType="1"/>
              </p:cNvSpPr>
              <p:nvPr/>
            </p:nvSpPr>
            <p:spPr bwMode="auto">
              <a:xfrm>
                <a:off x="2971" y="2736"/>
                <a:ext cx="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49" name="Line 11"/>
              <p:cNvSpPr>
                <a:spLocks noChangeShapeType="1"/>
              </p:cNvSpPr>
              <p:nvPr/>
            </p:nvSpPr>
            <p:spPr bwMode="auto">
              <a:xfrm>
                <a:off x="2971" y="2893"/>
                <a:ext cx="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3269" y="3415"/>
              <a:ext cx="952" cy="447"/>
            </a:xfrm>
            <a:custGeom>
              <a:avLst/>
              <a:gdLst>
                <a:gd name="T0" fmla="*/ 0 w 952"/>
                <a:gd name="T1" fmla="*/ 227 h 447"/>
                <a:gd name="T2" fmla="*/ 590 w 952"/>
                <a:gd name="T3" fmla="*/ 409 h 447"/>
                <a:gd name="T4" fmla="*/ 952 w 952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2" h="447">
                  <a:moveTo>
                    <a:pt x="0" y="227"/>
                  </a:moveTo>
                  <a:cubicBezTo>
                    <a:pt x="215" y="337"/>
                    <a:pt x="431" y="447"/>
                    <a:pt x="590" y="409"/>
                  </a:cubicBezTo>
                  <a:cubicBezTo>
                    <a:pt x="749" y="371"/>
                    <a:pt x="892" y="68"/>
                    <a:pt x="952" y="0"/>
                  </a:cubicBezTo>
                </a:path>
              </a:pathLst>
            </a:custGeom>
            <a:noFill/>
            <a:ln w="9525" cap="flat">
              <a:solidFill>
                <a:srgbClr val="FF3300"/>
              </a:solidFill>
              <a:prstDash val="dash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45" name="Text Box 48"/>
            <p:cNvSpPr txBox="1">
              <a:spLocks noChangeArrowheads="1"/>
            </p:cNvSpPr>
            <p:nvPr/>
          </p:nvSpPr>
          <p:spPr bwMode="auto">
            <a:xfrm>
              <a:off x="4043" y="3435"/>
              <a:ext cx="45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i</a:t>
              </a:r>
              <a:r>
                <a:rPr kumimoji="0" lang="zh-CN" altLang="en-US" sz="1600" b="1">
                  <a:ea typeface="楷体" panose="02010609060101010101" pitchFamily="49" charset="-122"/>
                </a:rPr>
                <a:t>节点</a:t>
              </a:r>
            </a:p>
          </p:txBody>
        </p:sp>
        <p:sp>
          <p:nvSpPr>
            <p:cNvPr id="46" name="Text Box 54"/>
            <p:cNvSpPr txBox="1">
              <a:spLocks noChangeArrowheads="1"/>
            </p:cNvSpPr>
            <p:nvPr/>
          </p:nvSpPr>
          <p:spPr bwMode="auto">
            <a:xfrm>
              <a:off x="3782" y="2395"/>
              <a:ext cx="993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600" b="1" dirty="0">
                  <a:ea typeface="楷体" panose="02010609060101010101" pitchFamily="49" charset="-122"/>
                </a:rPr>
                <a:t>节点</a:t>
              </a:r>
              <a:r>
                <a:rPr lang="en-US" altLang="zh-CN" sz="1600" b="1" dirty="0">
                  <a:ea typeface="楷体" panose="02010609060101010101" pitchFamily="49" charset="-122"/>
                </a:rPr>
                <a:t>26</a:t>
              </a:r>
              <a:r>
                <a:rPr lang="zh-CN" altLang="en-US" sz="1600" b="1" dirty="0">
                  <a:ea typeface="楷体" panose="02010609060101010101" pitchFamily="49" charset="-122"/>
                </a:rPr>
                <a:t>是</a:t>
              </a:r>
              <a:r>
                <a:rPr lang="en-US" altLang="zh-CN" sz="1600" b="1" dirty="0">
                  <a:ea typeface="楷体" panose="02010609060101010101" pitchFamily="49" charset="-122"/>
                </a:rPr>
                <a:t>/</a:t>
              </a:r>
              <a:r>
                <a:rPr lang="en-US" altLang="zh-CN" sz="1600" b="1" dirty="0" err="1" smtClean="0">
                  <a:ea typeface="楷体" panose="02010609060101010101" pitchFamily="49" charset="-122"/>
                </a:rPr>
                <a:t>usr</a:t>
              </a:r>
              <a:r>
                <a:rPr lang="en-US" altLang="zh-CN" sz="1600" b="1" dirty="0" smtClean="0">
                  <a:ea typeface="楷体" panose="02010609060101010101" pitchFamily="49" charset="-122"/>
                </a:rPr>
                <a:t>/</a:t>
              </a:r>
              <a:r>
                <a:rPr lang="en-US" altLang="zh-CN" sz="1600" b="1" dirty="0" err="1" smtClean="0">
                  <a:ea typeface="楷体" panose="02010609060101010101" pitchFamily="49" charset="-122"/>
                </a:rPr>
                <a:t>ast</a:t>
              </a:r>
              <a:r>
                <a:rPr lang="zh-CN" altLang="en-US" sz="1600" b="1" dirty="0">
                  <a:ea typeface="楷体" panose="02010609060101010101" pitchFamily="49" charset="-122"/>
                </a:rPr>
                <a:t>的目录</a:t>
              </a:r>
            </a:p>
          </p:txBody>
        </p:sp>
      </p:grpSp>
      <p:grpSp>
        <p:nvGrpSpPr>
          <p:cNvPr id="50" name="Group 60"/>
          <p:cNvGrpSpPr>
            <a:grpSpLocks/>
          </p:cNvGrpSpPr>
          <p:nvPr/>
        </p:nvGrpSpPr>
        <p:grpSpPr bwMode="auto">
          <a:xfrm>
            <a:off x="6719564" y="3140968"/>
            <a:ext cx="2016125" cy="2716213"/>
            <a:chOff x="4406" y="2350"/>
            <a:chExt cx="1270" cy="1711"/>
          </a:xfrm>
        </p:grpSpPr>
        <p:grpSp>
          <p:nvGrpSpPr>
            <p:cNvPr id="51" name="Group 31"/>
            <p:cNvGrpSpPr>
              <a:grpSpLocks/>
            </p:cNvGrpSpPr>
            <p:nvPr/>
          </p:nvGrpSpPr>
          <p:grpSpPr bwMode="auto">
            <a:xfrm>
              <a:off x="4723" y="2734"/>
              <a:ext cx="681" cy="1144"/>
              <a:chOff x="3787" y="2387"/>
              <a:chExt cx="681" cy="1144"/>
            </a:xfrm>
          </p:grpSpPr>
          <p:sp>
            <p:nvSpPr>
              <p:cNvPr id="55" name="Text Box 32"/>
              <p:cNvSpPr txBox="1">
                <a:spLocks noChangeArrowheads="1"/>
              </p:cNvSpPr>
              <p:nvPr/>
            </p:nvSpPr>
            <p:spPr bwMode="auto">
              <a:xfrm>
                <a:off x="3787" y="2387"/>
                <a:ext cx="680" cy="1144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26       .   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6       .   .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64  grants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92   books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60   mbox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81   minik</a:t>
                </a:r>
              </a:p>
              <a:p>
                <a:r>
                  <a:rPr kumimoji="0" lang="en-US" altLang="zh-CN" sz="1600" b="1">
                    <a:ea typeface="楷体" panose="02010609060101010101" pitchFamily="49" charset="-122"/>
                  </a:rPr>
                  <a:t>17     src</a:t>
                </a:r>
              </a:p>
            </p:txBody>
          </p:sp>
          <p:sp>
            <p:nvSpPr>
              <p:cNvPr id="56" name="Line 33"/>
              <p:cNvSpPr>
                <a:spLocks noChangeShapeType="1"/>
              </p:cNvSpPr>
              <p:nvPr/>
            </p:nvSpPr>
            <p:spPr bwMode="auto">
              <a:xfrm>
                <a:off x="3788" y="2589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7" name="Line 34"/>
              <p:cNvSpPr>
                <a:spLocks noChangeShapeType="1"/>
              </p:cNvSpPr>
              <p:nvPr/>
            </p:nvSpPr>
            <p:spPr bwMode="auto">
              <a:xfrm>
                <a:off x="3788" y="2739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8" name="Line 35"/>
              <p:cNvSpPr>
                <a:spLocks noChangeShapeType="1"/>
              </p:cNvSpPr>
              <p:nvPr/>
            </p:nvSpPr>
            <p:spPr bwMode="auto">
              <a:xfrm>
                <a:off x="3788" y="2885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59" name="Line 36"/>
              <p:cNvSpPr>
                <a:spLocks noChangeShapeType="1"/>
              </p:cNvSpPr>
              <p:nvPr/>
            </p:nvSpPr>
            <p:spPr bwMode="auto">
              <a:xfrm>
                <a:off x="3788" y="3050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60" name="Line 37"/>
              <p:cNvSpPr>
                <a:spLocks noChangeShapeType="1"/>
              </p:cNvSpPr>
              <p:nvPr/>
            </p:nvSpPr>
            <p:spPr bwMode="auto">
              <a:xfrm>
                <a:off x="3788" y="3200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61" name="Line 38"/>
              <p:cNvSpPr>
                <a:spLocks noChangeShapeType="1"/>
              </p:cNvSpPr>
              <p:nvPr/>
            </p:nvSpPr>
            <p:spPr bwMode="auto">
              <a:xfrm>
                <a:off x="3788" y="3346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62" name="Line 39"/>
              <p:cNvSpPr>
                <a:spLocks noChangeShapeType="1"/>
              </p:cNvSpPr>
              <p:nvPr/>
            </p:nvSpPr>
            <p:spPr bwMode="auto">
              <a:xfrm>
                <a:off x="4021" y="2387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52" name="Freeform 44"/>
            <p:cNvSpPr>
              <a:spLocks/>
            </p:cNvSpPr>
            <p:nvPr/>
          </p:nvSpPr>
          <p:spPr bwMode="auto">
            <a:xfrm>
              <a:off x="4406" y="2594"/>
              <a:ext cx="681" cy="573"/>
            </a:xfrm>
            <a:custGeom>
              <a:avLst/>
              <a:gdLst>
                <a:gd name="T0" fmla="*/ 0 w 681"/>
                <a:gd name="T1" fmla="*/ 573 h 573"/>
                <a:gd name="T2" fmla="*/ 182 w 681"/>
                <a:gd name="T3" fmla="*/ 75 h 573"/>
                <a:gd name="T4" fmla="*/ 681 w 681"/>
                <a:gd name="T5" fmla="*/ 12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1" h="573">
                  <a:moveTo>
                    <a:pt x="0" y="573"/>
                  </a:moveTo>
                  <a:cubicBezTo>
                    <a:pt x="34" y="361"/>
                    <a:pt x="69" y="150"/>
                    <a:pt x="182" y="75"/>
                  </a:cubicBezTo>
                  <a:cubicBezTo>
                    <a:pt x="295" y="0"/>
                    <a:pt x="598" y="113"/>
                    <a:pt x="681" y="120"/>
                  </a:cubicBezTo>
                </a:path>
              </a:pathLst>
            </a:custGeom>
            <a:noFill/>
            <a:ln w="9525" cap="flat">
              <a:solidFill>
                <a:srgbClr val="FF3300"/>
              </a:solidFill>
              <a:prstDash val="dash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53" name="Text Box 49"/>
            <p:cNvSpPr txBox="1">
              <a:spLocks noChangeArrowheads="1"/>
            </p:cNvSpPr>
            <p:nvPr/>
          </p:nvSpPr>
          <p:spPr bwMode="auto">
            <a:xfrm>
              <a:off x="4860" y="3848"/>
              <a:ext cx="45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目录</a:t>
              </a:r>
            </a:p>
          </p:txBody>
        </p:sp>
        <p:sp>
          <p:nvSpPr>
            <p:cNvPr id="54" name="Text Box 55"/>
            <p:cNvSpPr txBox="1">
              <a:spLocks noChangeArrowheads="1"/>
            </p:cNvSpPr>
            <p:nvPr/>
          </p:nvSpPr>
          <p:spPr bwMode="auto">
            <a:xfrm>
              <a:off x="4678" y="2350"/>
              <a:ext cx="998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zh-CN" sz="1600" b="1" dirty="0">
                  <a:ea typeface="楷体" panose="02010609060101010101" pitchFamily="49" charset="-122"/>
                </a:rPr>
                <a:t>496</a:t>
              </a:r>
              <a:r>
                <a:rPr lang="zh-CN" altLang="en-US" sz="1600" b="1" dirty="0">
                  <a:ea typeface="楷体" panose="02010609060101010101" pitchFamily="49" charset="-122"/>
                </a:rPr>
                <a:t>号盘块是</a:t>
              </a:r>
              <a:r>
                <a:rPr lang="en-US" altLang="zh-CN" sz="1600" b="1" dirty="0">
                  <a:ea typeface="楷体" panose="02010609060101010101" pitchFamily="49" charset="-122"/>
                </a:rPr>
                <a:t>/</a:t>
              </a:r>
              <a:r>
                <a:rPr lang="en-US" altLang="zh-CN" sz="1600" b="1" dirty="0" err="1" smtClean="0">
                  <a:ea typeface="楷体" panose="02010609060101010101" pitchFamily="49" charset="-122"/>
                </a:rPr>
                <a:t>usr</a:t>
              </a:r>
              <a:r>
                <a:rPr lang="en-US" altLang="zh-CN" sz="1600" b="1" dirty="0" smtClean="0">
                  <a:ea typeface="楷体" panose="02010609060101010101" pitchFamily="49" charset="-122"/>
                </a:rPr>
                <a:t>/</a:t>
              </a:r>
              <a:r>
                <a:rPr lang="en-US" altLang="zh-CN" sz="1600" b="1" dirty="0" err="1" smtClean="0">
                  <a:ea typeface="楷体" panose="02010609060101010101" pitchFamily="49" charset="-122"/>
                </a:rPr>
                <a:t>ast</a:t>
              </a:r>
              <a:r>
                <a:rPr lang="zh-CN" altLang="en-US" sz="1600" b="1" dirty="0">
                  <a:ea typeface="楷体" panose="02010609060101010101" pitchFamily="49" charset="-122"/>
                </a:rPr>
                <a:t>的目录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364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目录查询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哈希方法</a:t>
            </a:r>
            <a:endParaRPr lang="en-US" altLang="zh-CN" dirty="0" smtClean="0"/>
          </a:p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zh-CN" altLang="en-US" dirty="0" smtClean="0"/>
              <a:t>如</a:t>
            </a:r>
            <a:r>
              <a:rPr lang="zh-CN" altLang="en-US" dirty="0"/>
              <a:t>果建立了一张</a:t>
            </a:r>
            <a:r>
              <a:rPr lang="en-US" altLang="zh-CN" dirty="0"/>
              <a:t>Hash</a:t>
            </a:r>
            <a:r>
              <a:rPr lang="zh-CN" altLang="en-US" dirty="0"/>
              <a:t>索引文件目</a:t>
            </a:r>
            <a:r>
              <a:rPr lang="zh-CN" altLang="en-US" dirty="0" smtClean="0"/>
              <a:t>录</a:t>
            </a:r>
            <a:endParaRPr lang="zh-CN" altLang="en-US" dirty="0"/>
          </a:p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zh-CN" altLang="en-US" dirty="0"/>
              <a:t>将文件名变换为文件目录的索引值，再利用该索引值到目录中去查</a:t>
            </a:r>
            <a:r>
              <a:rPr lang="zh-CN" altLang="en-US" dirty="0" smtClean="0"/>
              <a:t>找</a:t>
            </a:r>
            <a:endParaRPr lang="zh-CN" altLang="en-US" dirty="0"/>
          </a:p>
          <a:p>
            <a:pPr lvl="1">
              <a:lnSpc>
                <a:spcPct val="90000"/>
              </a:lnSpc>
              <a:spcBef>
                <a:spcPct val="10000"/>
              </a:spcBef>
            </a:pPr>
            <a:endParaRPr lang="en-US" altLang="zh-CN" dirty="0" smtClean="0"/>
          </a:p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zh-CN" altLang="en-US" dirty="0" smtClean="0"/>
              <a:t>冲</a:t>
            </a:r>
            <a:r>
              <a:rPr lang="zh-CN" altLang="en-US" dirty="0"/>
              <a:t>突：将</a:t>
            </a:r>
            <a:r>
              <a:rPr lang="en-US" altLang="zh-CN" dirty="0"/>
              <a:t>n</a:t>
            </a:r>
            <a:r>
              <a:rPr lang="zh-CN" altLang="en-US" dirty="0"/>
              <a:t>个不同的文件名转换成相同的</a:t>
            </a:r>
            <a:r>
              <a:rPr lang="en-US" altLang="zh-CN" dirty="0"/>
              <a:t>Hash</a:t>
            </a:r>
            <a:r>
              <a:rPr lang="zh-CN" altLang="en-US" dirty="0"/>
              <a:t>值</a:t>
            </a:r>
          </a:p>
          <a:p>
            <a:pPr lvl="1">
              <a:lnSpc>
                <a:spcPct val="90000"/>
              </a:lnSpc>
              <a:spcBef>
                <a:spcPct val="10000"/>
              </a:spcBef>
            </a:pPr>
            <a:r>
              <a:rPr lang="zh-CN" altLang="en-US" dirty="0"/>
              <a:t>处理冲突的规则：</a:t>
            </a:r>
          </a:p>
          <a:p>
            <a:pPr lvl="2">
              <a:lnSpc>
                <a:spcPct val="90000"/>
              </a:lnSpc>
              <a:spcBef>
                <a:spcPct val="10000"/>
              </a:spcBef>
            </a:pPr>
            <a:r>
              <a:rPr lang="zh-CN" altLang="en-US" dirty="0"/>
              <a:t>查找时，如果相应目录项为空，则系统中无指定文件</a:t>
            </a:r>
          </a:p>
          <a:p>
            <a:pPr lvl="2">
              <a:lnSpc>
                <a:spcPct val="90000"/>
              </a:lnSpc>
              <a:spcBef>
                <a:spcPct val="10000"/>
              </a:spcBef>
            </a:pPr>
            <a:r>
              <a:rPr lang="zh-CN" altLang="en-US" dirty="0"/>
              <a:t>如果目录项中文件名与指定文件名匹配，找到文件物理地址</a:t>
            </a:r>
          </a:p>
          <a:p>
            <a:pPr lvl="2">
              <a:lnSpc>
                <a:spcPct val="90000"/>
              </a:lnSpc>
              <a:spcBef>
                <a:spcPct val="10000"/>
              </a:spcBef>
            </a:pPr>
            <a:r>
              <a:rPr lang="zh-CN" altLang="en-US" dirty="0"/>
              <a:t>如果目录项中文件名与指定文件名不匹配，则“冲突”，须将其</a:t>
            </a:r>
            <a:r>
              <a:rPr lang="en-US" altLang="zh-CN" dirty="0"/>
              <a:t>Hash</a:t>
            </a:r>
            <a:r>
              <a:rPr lang="zh-CN" altLang="en-US" dirty="0"/>
              <a:t>值再加上一个常数（与目录的长度互质），形成新的索引值，重新查找</a:t>
            </a:r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F3A89-4C19-4D89-91FE-33DA673A036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707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什么是文件与文件系统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文件的逻辑结构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外存分配方式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目录管理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FFC000"/>
                </a:solidFill>
              </a:rPr>
              <a:t>文</a:t>
            </a:r>
            <a:r>
              <a:rPr lang="zh-CN" altLang="en-US" dirty="0" smtClean="0">
                <a:solidFill>
                  <a:srgbClr val="FFC000"/>
                </a:solidFill>
              </a:rPr>
              <a:t>件存储空间的管理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件的共享与保护</a:t>
            </a:r>
            <a:endParaRPr lang="en-US" altLang="zh-CN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数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据一致性检查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02CF-C1EE-4A80-B87E-81B42D1313D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277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</a:t>
            </a:r>
            <a:r>
              <a:rPr lang="zh-CN" altLang="en-US" dirty="0" smtClean="0"/>
              <a:t>存中所需的表目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8A5D0-C699-498D-AD72-A909D41C82D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graphicFrame>
        <p:nvGraphicFramePr>
          <p:cNvPr id="7" name="Group 60"/>
          <p:cNvGraphicFramePr>
            <a:graphicFrameLocks noGrp="1"/>
          </p:cNvGraphicFramePr>
          <p:nvPr>
            <p:extLst/>
          </p:nvPr>
        </p:nvGraphicFramePr>
        <p:xfrm>
          <a:off x="2339752" y="2066950"/>
          <a:ext cx="4464050" cy="1471680"/>
        </p:xfrm>
        <a:graphic>
          <a:graphicData uri="http://schemas.openxmlformats.org/drawingml/2006/table">
            <a:tbl>
              <a:tblPr/>
              <a:tblGrid>
                <a:gridCol w="1116013"/>
                <a:gridCol w="1116012"/>
                <a:gridCol w="1117600"/>
                <a:gridCol w="1114425"/>
              </a:tblGrid>
              <a:tr h="123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FCB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主部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文件号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共享计数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修改标志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06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06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01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8" name="Text Box 87"/>
          <p:cNvSpPr txBox="1">
            <a:spLocks noChangeArrowheads="1"/>
          </p:cNvSpPr>
          <p:nvPr/>
        </p:nvSpPr>
        <p:spPr bwMode="auto">
          <a:xfrm>
            <a:off x="3563715" y="1628800"/>
            <a:ext cx="2016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latin typeface="楷体" panose="02010609060101010101" pitchFamily="49" charset="-122"/>
                <a:ea typeface="楷体" panose="02010609060101010101" pitchFamily="49" charset="-122"/>
              </a:rPr>
              <a:t>系统打开文件表</a:t>
            </a:r>
          </a:p>
        </p:txBody>
      </p:sp>
      <p:sp>
        <p:nvSpPr>
          <p:cNvPr id="9" name="Text Box 88"/>
          <p:cNvSpPr txBox="1">
            <a:spLocks noChangeArrowheads="1"/>
          </p:cNvSpPr>
          <p:nvPr/>
        </p:nvSpPr>
        <p:spPr bwMode="auto">
          <a:xfrm>
            <a:off x="3633639" y="3994430"/>
            <a:ext cx="19446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latin typeface="楷体" panose="02010609060101010101" pitchFamily="49" charset="-122"/>
                <a:ea typeface="楷体" panose="02010609060101010101" pitchFamily="49" charset="-122"/>
              </a:rPr>
              <a:t>用户打开文件表</a:t>
            </a:r>
          </a:p>
        </p:txBody>
      </p:sp>
      <p:graphicFrame>
        <p:nvGraphicFramePr>
          <p:cNvPr id="10" name="Group 89"/>
          <p:cNvGraphicFramePr>
            <a:graphicFrameLocks noGrp="1"/>
          </p:cNvGraphicFramePr>
          <p:nvPr>
            <p:extLst/>
          </p:nvPr>
        </p:nvGraphicFramePr>
        <p:xfrm>
          <a:off x="1547664" y="4405592"/>
          <a:ext cx="6119813" cy="1471680"/>
        </p:xfrm>
        <a:graphic>
          <a:graphicData uri="http://schemas.openxmlformats.org/drawingml/2006/table">
            <a:tbl>
              <a:tblPr/>
              <a:tblGrid>
                <a:gridCol w="1360488"/>
                <a:gridCol w="1165225"/>
                <a:gridCol w="1262062"/>
                <a:gridCol w="2332038"/>
              </a:tblGrid>
              <a:tr h="188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文件描述符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打开方式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读写指针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系统打开文件表入口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15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</a:t>
            </a:r>
            <a:r>
              <a:rPr lang="zh-CN" altLang="en-US" dirty="0" smtClean="0"/>
              <a:t>存中所需的表目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E070-67CF-4BD7-BB90-91DC9F93C17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47</a:t>
            </a:fld>
            <a:endParaRPr lang="zh-CN" altLang="en-US" dirty="0"/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extLst/>
          </p:nvPr>
        </p:nvGraphicFramePr>
        <p:xfrm>
          <a:off x="5424786" y="3068911"/>
          <a:ext cx="2316162" cy="1463040"/>
        </p:xfrm>
        <a:graphic>
          <a:graphicData uri="http://schemas.openxmlformats.org/drawingml/2006/table">
            <a:tbl>
              <a:tblPr/>
              <a:tblGrid>
                <a:gridCol w="1158875"/>
                <a:gridCol w="1157287"/>
              </a:tblGrid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共享计数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Group 21"/>
          <p:cNvGraphicFramePr>
            <a:graphicFrameLocks noGrp="1"/>
          </p:cNvGraphicFramePr>
          <p:nvPr>
            <p:extLst/>
          </p:nvPr>
        </p:nvGraphicFramePr>
        <p:xfrm>
          <a:off x="1403648" y="2060848"/>
          <a:ext cx="2952750" cy="1463040"/>
        </p:xfrm>
        <a:graphic>
          <a:graphicData uri="http://schemas.openxmlformats.org/drawingml/2006/table">
            <a:tbl>
              <a:tblPr/>
              <a:tblGrid>
                <a:gridCol w="657225"/>
                <a:gridCol w="2295525"/>
              </a:tblGrid>
              <a:tr h="206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其它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系统打开文件表入口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  <a:tr h="204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  <a:tr h="206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  <a:tr h="204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Group 38"/>
          <p:cNvGraphicFramePr>
            <a:graphicFrameLocks noGrp="1"/>
          </p:cNvGraphicFramePr>
          <p:nvPr>
            <p:extLst/>
          </p:nvPr>
        </p:nvGraphicFramePr>
        <p:xfrm>
          <a:off x="1403648" y="3932511"/>
          <a:ext cx="3024188" cy="1463040"/>
        </p:xfrm>
        <a:graphic>
          <a:graphicData uri="http://schemas.openxmlformats.org/drawingml/2006/table">
            <a:tbl>
              <a:tblPr/>
              <a:tblGrid>
                <a:gridCol w="666750"/>
                <a:gridCol w="2357438"/>
              </a:tblGrid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其它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系统打开文件表入口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" name="Line 55"/>
          <p:cNvSpPr>
            <a:spLocks noChangeShapeType="1"/>
          </p:cNvSpPr>
          <p:nvPr/>
        </p:nvSpPr>
        <p:spPr bwMode="auto">
          <a:xfrm>
            <a:off x="4067473" y="2997473"/>
            <a:ext cx="1368425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Line 56"/>
          <p:cNvSpPr>
            <a:spLocks noChangeShapeType="1"/>
          </p:cNvSpPr>
          <p:nvPr/>
        </p:nvSpPr>
        <p:spPr bwMode="auto">
          <a:xfrm flipV="1">
            <a:off x="4067473" y="3929336"/>
            <a:ext cx="1368425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57"/>
          <p:cNvSpPr txBox="1">
            <a:spLocks noChangeArrowheads="1"/>
          </p:cNvSpPr>
          <p:nvPr/>
        </p:nvSpPr>
        <p:spPr bwMode="auto">
          <a:xfrm>
            <a:off x="5723236" y="2702198"/>
            <a:ext cx="187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系统打开文件表</a:t>
            </a:r>
          </a:p>
        </p:txBody>
      </p:sp>
      <p:sp>
        <p:nvSpPr>
          <p:cNvPr id="13" name="Text Box 58"/>
          <p:cNvSpPr txBox="1">
            <a:spLocks noChangeArrowheads="1"/>
          </p:cNvSpPr>
          <p:nvPr/>
        </p:nvSpPr>
        <p:spPr bwMode="auto">
          <a:xfrm>
            <a:off x="1770361" y="3472136"/>
            <a:ext cx="2574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用户打开文件表（</a:t>
            </a:r>
            <a:r>
              <a:rPr lang="en-US" altLang="zh-CN" sz="18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P1</a:t>
            </a:r>
            <a:r>
              <a:rPr lang="zh-CN" altLang="en-US" sz="18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4" name="Text Box 59"/>
          <p:cNvSpPr txBox="1">
            <a:spLocks noChangeArrowheads="1"/>
          </p:cNvSpPr>
          <p:nvPr/>
        </p:nvSpPr>
        <p:spPr bwMode="auto">
          <a:xfrm>
            <a:off x="1740198" y="5372373"/>
            <a:ext cx="2759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用户打开文件表（</a:t>
            </a:r>
            <a:r>
              <a:rPr lang="en-US" altLang="zh-CN" sz="18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P2</a:t>
            </a:r>
            <a:r>
              <a:rPr lang="zh-CN" altLang="en-US" sz="18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6541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</a:t>
            </a:r>
            <a:r>
              <a:rPr lang="zh-CN" altLang="en-US" dirty="0" smtClean="0"/>
              <a:t>存空闲空间管理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空闲表法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为磁盘上的所有空闲区建立一张空闲表，每个空闲区对应一个表项</a:t>
            </a:r>
            <a:endParaRPr lang="en-US" altLang="zh-CN" dirty="0" smtClean="0"/>
          </a:p>
          <a:p>
            <a:pPr lvl="1"/>
            <a:r>
              <a:rPr lang="zh-CN" altLang="en-US" dirty="0"/>
              <a:t>分</a:t>
            </a:r>
            <a:r>
              <a:rPr lang="zh-CN" altLang="en-US" dirty="0" smtClean="0"/>
              <a:t>配与回收类似内存的分区管理方法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3090-C622-406D-8174-AC9BD5F3635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2318857" y="3600995"/>
            <a:ext cx="4527550" cy="1700213"/>
            <a:chOff x="2569" y="3022"/>
            <a:chExt cx="2852" cy="1071"/>
          </a:xfrm>
        </p:grpSpPr>
        <p:sp>
          <p:nvSpPr>
            <p:cNvPr id="8" name="Text Box 61"/>
            <p:cNvSpPr txBox="1">
              <a:spLocks noChangeArrowheads="1"/>
            </p:cNvSpPr>
            <p:nvPr/>
          </p:nvSpPr>
          <p:spPr bwMode="auto">
            <a:xfrm>
              <a:off x="2569" y="3022"/>
              <a:ext cx="2851" cy="107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zh-CN" sz="1800" b="1" dirty="0">
                  <a:ea typeface="楷体" panose="02010609060101010101" pitchFamily="49" charset="-122"/>
                </a:rPr>
                <a:t>  </a:t>
              </a:r>
              <a:r>
                <a:rPr kumimoji="0" lang="zh-CN" altLang="en-US" sz="1800" b="1" dirty="0">
                  <a:ea typeface="楷体" panose="02010609060101010101" pitchFamily="49" charset="-122"/>
                </a:rPr>
                <a:t>序号	第一空闲盘块号        空闲盘块数</a:t>
              </a:r>
            </a:p>
            <a:p>
              <a:pPr>
                <a:spcBef>
                  <a:spcPct val="20000"/>
                </a:spcBef>
              </a:pPr>
              <a:r>
                <a:rPr kumimoji="0" lang="zh-CN" altLang="en-US" sz="1800" b="1" dirty="0">
                  <a:ea typeface="楷体" panose="02010609060101010101" pitchFamily="49" charset="-122"/>
                </a:rPr>
                <a:t>     </a:t>
              </a:r>
              <a:r>
                <a:rPr kumimoji="0" lang="en-US" altLang="zh-CN" sz="1800" b="1" dirty="0">
                  <a:ea typeface="楷体" panose="02010609060101010101" pitchFamily="49" charset="-122"/>
                </a:rPr>
                <a:t>1	            2		               4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800" b="1" dirty="0">
                  <a:ea typeface="楷体" panose="02010609060101010101" pitchFamily="49" charset="-122"/>
                </a:rPr>
                <a:t>     2	            9		               3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800" b="1" dirty="0">
                  <a:ea typeface="楷体" panose="02010609060101010101" pitchFamily="49" charset="-122"/>
                </a:rPr>
                <a:t>     3                   </a:t>
              </a:r>
              <a:r>
                <a:rPr kumimoji="0" lang="en-US" altLang="zh-CN" sz="1800" b="1" dirty="0" smtClean="0">
                  <a:ea typeface="楷体" panose="02010609060101010101" pitchFamily="49" charset="-122"/>
                </a:rPr>
                <a:t>  15</a:t>
              </a:r>
              <a:r>
                <a:rPr kumimoji="0" lang="en-US" altLang="zh-CN" sz="1800" b="1" dirty="0">
                  <a:ea typeface="楷体" panose="02010609060101010101" pitchFamily="49" charset="-122"/>
                </a:rPr>
                <a:t>		               5      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1800" b="1" dirty="0">
                  <a:ea typeface="楷体" panose="02010609060101010101" pitchFamily="49" charset="-122"/>
                </a:rPr>
                <a:t>     4	            -		               -</a:t>
              </a:r>
            </a:p>
          </p:txBody>
        </p:sp>
        <p:sp>
          <p:nvSpPr>
            <p:cNvPr id="9" name="Line 62"/>
            <p:cNvSpPr>
              <a:spLocks noChangeShapeType="1"/>
            </p:cNvSpPr>
            <p:nvPr/>
          </p:nvSpPr>
          <p:spPr bwMode="auto">
            <a:xfrm>
              <a:off x="2574" y="3255"/>
              <a:ext cx="28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" name="Line 63"/>
            <p:cNvSpPr>
              <a:spLocks noChangeShapeType="1"/>
            </p:cNvSpPr>
            <p:nvPr/>
          </p:nvSpPr>
          <p:spPr bwMode="auto">
            <a:xfrm>
              <a:off x="2574" y="3448"/>
              <a:ext cx="28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" name="Line 64"/>
            <p:cNvSpPr>
              <a:spLocks noChangeShapeType="1"/>
            </p:cNvSpPr>
            <p:nvPr/>
          </p:nvSpPr>
          <p:spPr bwMode="auto">
            <a:xfrm>
              <a:off x="2574" y="3685"/>
              <a:ext cx="28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2" name="Line 65"/>
            <p:cNvSpPr>
              <a:spLocks noChangeShapeType="1"/>
            </p:cNvSpPr>
            <p:nvPr/>
          </p:nvSpPr>
          <p:spPr bwMode="auto">
            <a:xfrm>
              <a:off x="2574" y="3878"/>
              <a:ext cx="28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3" name="Line 66"/>
            <p:cNvSpPr>
              <a:spLocks noChangeShapeType="1"/>
            </p:cNvSpPr>
            <p:nvPr/>
          </p:nvSpPr>
          <p:spPr bwMode="auto">
            <a:xfrm>
              <a:off x="3097" y="3028"/>
              <a:ext cx="0" cy="10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4" name="Line 67"/>
            <p:cNvSpPr>
              <a:spLocks noChangeShapeType="1"/>
            </p:cNvSpPr>
            <p:nvPr/>
          </p:nvSpPr>
          <p:spPr bwMode="auto">
            <a:xfrm>
              <a:off x="4413" y="3028"/>
              <a:ext cx="0" cy="10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614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外存空闲空间管理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空闲链表法</a:t>
            </a:r>
            <a:endParaRPr lang="en-US" altLang="zh-CN" dirty="0" smtClean="0"/>
          </a:p>
          <a:p>
            <a:pPr lvl="1">
              <a:spcBef>
                <a:spcPct val="10000"/>
              </a:spcBef>
            </a:pPr>
            <a:r>
              <a:rPr lang="zh-CN" altLang="en-US" dirty="0" smtClean="0"/>
              <a:t>空闲块</a:t>
            </a:r>
            <a:r>
              <a:rPr lang="zh-CN" altLang="en-US" dirty="0"/>
              <a:t>链：在每</a:t>
            </a:r>
            <a:r>
              <a:rPr lang="zh-CN" altLang="en-US" dirty="0" smtClean="0"/>
              <a:t>个空闲块</a:t>
            </a:r>
            <a:r>
              <a:rPr lang="zh-CN" altLang="en-US" dirty="0"/>
              <a:t>中建立一个指向下一</a:t>
            </a:r>
            <a:r>
              <a:rPr lang="zh-CN" altLang="en-US" dirty="0" smtClean="0"/>
              <a:t>个</a:t>
            </a:r>
            <a:r>
              <a:rPr lang="zh-CN" altLang="en-US" dirty="0"/>
              <a:t>空闲</a:t>
            </a:r>
            <a:r>
              <a:rPr lang="zh-CN" altLang="en-US" dirty="0" smtClean="0"/>
              <a:t>块</a:t>
            </a:r>
            <a:r>
              <a:rPr lang="zh-CN" altLang="en-US" dirty="0"/>
              <a:t>的链接指针， 将所</a:t>
            </a:r>
            <a:r>
              <a:rPr lang="zh-CN" altLang="en-US" dirty="0" smtClean="0"/>
              <a:t>有空闲块</a:t>
            </a:r>
            <a:r>
              <a:rPr lang="zh-CN" altLang="en-US" dirty="0"/>
              <a:t>链在一起</a:t>
            </a:r>
          </a:p>
          <a:p>
            <a:pPr lvl="1">
              <a:spcBef>
                <a:spcPct val="10000"/>
              </a:spcBef>
            </a:pPr>
            <a:r>
              <a:rPr lang="zh-CN" altLang="en-US" dirty="0" smtClean="0"/>
              <a:t>空闲区</a:t>
            </a:r>
            <a:r>
              <a:rPr lang="zh-CN" altLang="en-US" dirty="0"/>
              <a:t>链：将磁盘上所有空白盘区（每个空白盘区包含若干个盘块）链接在一起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分配、回</a:t>
            </a:r>
            <a:r>
              <a:rPr lang="zh-CN" altLang="en-US" dirty="0" smtClean="0"/>
              <a:t>收更加复杂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DAA4-8532-4EA6-BCE4-3372F07BBBC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49</a:t>
            </a:fld>
            <a:endParaRPr lang="zh-CN" altLang="en-US" dirty="0"/>
          </a:p>
        </p:txBody>
      </p:sp>
      <p:grpSp>
        <p:nvGrpSpPr>
          <p:cNvPr id="7" name="Group 12"/>
          <p:cNvGrpSpPr>
            <a:grpSpLocks noChangeAspect="1"/>
          </p:cNvGrpSpPr>
          <p:nvPr/>
        </p:nvGrpSpPr>
        <p:grpSpPr bwMode="auto">
          <a:xfrm>
            <a:off x="1476375" y="4509120"/>
            <a:ext cx="5976938" cy="787400"/>
            <a:chOff x="432" y="3072"/>
            <a:chExt cx="4656" cy="816"/>
          </a:xfrm>
        </p:grpSpPr>
        <p:sp>
          <p:nvSpPr>
            <p:cNvPr id="8" name="Rectangle 13"/>
            <p:cNvSpPr>
              <a:spLocks noChangeAspect="1" noChangeArrowheads="1"/>
            </p:cNvSpPr>
            <p:nvPr/>
          </p:nvSpPr>
          <p:spPr bwMode="auto">
            <a:xfrm>
              <a:off x="1440" y="3408"/>
              <a:ext cx="624" cy="4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solidFill>
                    <a:srgbClr val="000000"/>
                  </a:solidFill>
                  <a:ea typeface="楷体" panose="02010609060101010101" pitchFamily="49" charset="-122"/>
                </a:rPr>
                <a:t>Y</a:t>
              </a:r>
            </a:p>
          </p:txBody>
        </p:sp>
        <p:sp>
          <p:nvSpPr>
            <p:cNvPr id="9" name="Rectangle 14"/>
            <p:cNvSpPr>
              <a:spLocks noChangeAspect="1" noChangeArrowheads="1"/>
            </p:cNvSpPr>
            <p:nvPr/>
          </p:nvSpPr>
          <p:spPr bwMode="auto">
            <a:xfrm>
              <a:off x="2496" y="3408"/>
              <a:ext cx="624" cy="4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solidFill>
                    <a:srgbClr val="000000"/>
                  </a:solidFill>
                  <a:ea typeface="楷体" panose="02010609060101010101" pitchFamily="49" charset="-122"/>
                </a:rPr>
                <a:t>W</a:t>
              </a:r>
            </a:p>
          </p:txBody>
        </p:sp>
        <p:sp>
          <p:nvSpPr>
            <p:cNvPr id="10" name="Rectangle 15"/>
            <p:cNvSpPr>
              <a:spLocks noChangeAspect="1" noChangeArrowheads="1"/>
            </p:cNvSpPr>
            <p:nvPr/>
          </p:nvSpPr>
          <p:spPr bwMode="auto">
            <a:xfrm>
              <a:off x="3504" y="3408"/>
              <a:ext cx="624" cy="4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solidFill>
                    <a:srgbClr val="000000"/>
                  </a:solidFill>
                  <a:ea typeface="楷体" panose="02010609060101010101" pitchFamily="49" charset="-122"/>
                </a:rPr>
                <a:t>Z</a:t>
              </a:r>
            </a:p>
          </p:txBody>
        </p:sp>
        <p:sp>
          <p:nvSpPr>
            <p:cNvPr id="11" name="Rectangle 16"/>
            <p:cNvSpPr>
              <a:spLocks noChangeAspect="1" noChangeArrowheads="1"/>
            </p:cNvSpPr>
            <p:nvPr/>
          </p:nvSpPr>
          <p:spPr bwMode="auto">
            <a:xfrm>
              <a:off x="4464" y="3408"/>
              <a:ext cx="624" cy="4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solidFill>
                    <a:srgbClr val="000000"/>
                  </a:solidFill>
                  <a:ea typeface="楷体" panose="02010609060101010101" pitchFamily="49" charset="-122"/>
                </a:rPr>
                <a:t>……</a:t>
              </a:r>
            </a:p>
          </p:txBody>
        </p:sp>
        <p:sp>
          <p:nvSpPr>
            <p:cNvPr id="12" name="Text Box 17"/>
            <p:cNvSpPr txBox="1">
              <a:spLocks noChangeAspect="1" noChangeArrowheads="1"/>
            </p:cNvSpPr>
            <p:nvPr/>
          </p:nvSpPr>
          <p:spPr bwMode="auto">
            <a:xfrm>
              <a:off x="432" y="3312"/>
              <a:ext cx="911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 </a:t>
              </a:r>
              <a:r>
                <a:rPr lang="zh-CN" altLang="en-US" sz="1800" b="1">
                  <a:ea typeface="楷体" panose="02010609060101010101" pitchFamily="49" charset="-122"/>
                </a:rPr>
                <a:t>首指针</a:t>
              </a:r>
              <a:r>
                <a:rPr lang="en-US" altLang="zh-CN" sz="1800" b="1">
                  <a:ea typeface="楷体" panose="02010609060101010101" pitchFamily="49" charset="-122"/>
                </a:rPr>
                <a:t>X</a:t>
              </a:r>
            </a:p>
          </p:txBody>
        </p:sp>
        <p:sp>
          <p:nvSpPr>
            <p:cNvPr id="13" name="Line 18"/>
            <p:cNvSpPr>
              <a:spLocks noChangeAspect="1" noChangeShapeType="1"/>
            </p:cNvSpPr>
            <p:nvPr/>
          </p:nvSpPr>
          <p:spPr bwMode="auto">
            <a:xfrm>
              <a:off x="816" y="3648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4" name="Text Box 19"/>
            <p:cNvSpPr txBox="1">
              <a:spLocks noChangeAspect="1" noChangeArrowheads="1"/>
            </p:cNvSpPr>
            <p:nvPr/>
          </p:nvSpPr>
          <p:spPr bwMode="auto">
            <a:xfrm>
              <a:off x="1392" y="3072"/>
              <a:ext cx="577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X</a:t>
              </a:r>
            </a:p>
          </p:txBody>
        </p:sp>
        <p:sp>
          <p:nvSpPr>
            <p:cNvPr id="15" name="Text Box 20"/>
            <p:cNvSpPr txBox="1">
              <a:spLocks noChangeAspect="1" noChangeArrowheads="1"/>
            </p:cNvSpPr>
            <p:nvPr/>
          </p:nvSpPr>
          <p:spPr bwMode="auto">
            <a:xfrm>
              <a:off x="2400" y="3072"/>
              <a:ext cx="575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Y</a:t>
              </a:r>
            </a:p>
          </p:txBody>
        </p:sp>
        <p:sp>
          <p:nvSpPr>
            <p:cNvPr id="16" name="Text Box 21"/>
            <p:cNvSpPr txBox="1">
              <a:spLocks noChangeAspect="1" noChangeArrowheads="1"/>
            </p:cNvSpPr>
            <p:nvPr/>
          </p:nvSpPr>
          <p:spPr bwMode="auto">
            <a:xfrm>
              <a:off x="3506" y="3072"/>
              <a:ext cx="574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W</a:t>
              </a:r>
            </a:p>
          </p:txBody>
        </p:sp>
        <p:sp>
          <p:nvSpPr>
            <p:cNvPr id="17" name="Text Box 22"/>
            <p:cNvSpPr txBox="1">
              <a:spLocks noChangeAspect="1" noChangeArrowheads="1"/>
            </p:cNvSpPr>
            <p:nvPr/>
          </p:nvSpPr>
          <p:spPr bwMode="auto">
            <a:xfrm>
              <a:off x="4416" y="3072"/>
              <a:ext cx="578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Z</a:t>
              </a:r>
            </a:p>
          </p:txBody>
        </p:sp>
        <p:sp>
          <p:nvSpPr>
            <p:cNvPr id="18" name="Line 23"/>
            <p:cNvSpPr>
              <a:spLocks noChangeAspect="1" noChangeShapeType="1"/>
            </p:cNvSpPr>
            <p:nvPr/>
          </p:nvSpPr>
          <p:spPr bwMode="auto">
            <a:xfrm flipV="1">
              <a:off x="2064" y="3456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Line 24"/>
            <p:cNvSpPr>
              <a:spLocks noChangeAspect="1" noChangeShapeType="1"/>
            </p:cNvSpPr>
            <p:nvPr/>
          </p:nvSpPr>
          <p:spPr bwMode="auto">
            <a:xfrm flipV="1">
              <a:off x="3120" y="340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0" name="Line 25"/>
            <p:cNvSpPr>
              <a:spLocks noChangeAspect="1" noChangeShapeType="1"/>
            </p:cNvSpPr>
            <p:nvPr/>
          </p:nvSpPr>
          <p:spPr bwMode="auto">
            <a:xfrm flipV="1">
              <a:off x="4176" y="3456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067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外存空闲空间管理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位示图法</a:t>
            </a:r>
            <a:endParaRPr lang="en-US" altLang="zh-CN" dirty="0" smtClean="0"/>
          </a:p>
          <a:p>
            <a:pPr lvl="1"/>
            <a:r>
              <a:rPr lang="zh-CN" altLang="en-US" dirty="0"/>
              <a:t>利</a:t>
            </a:r>
            <a:r>
              <a:rPr lang="zh-CN" altLang="en-US" dirty="0" smtClean="0"/>
              <a:t>用二进制中的</a:t>
            </a:r>
            <a:r>
              <a:rPr lang="en-US" altLang="zh-CN" dirty="0" smtClean="0"/>
              <a:t>1bit</a:t>
            </a:r>
            <a:r>
              <a:rPr lang="zh-CN" altLang="en-US" dirty="0" smtClean="0"/>
              <a:t>来保存一个磁盘块的使用情况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0</a:t>
            </a:r>
            <a:r>
              <a:rPr lang="zh-CN" altLang="en-US" dirty="0" smtClean="0"/>
              <a:t>表示空闲，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表示占用</a:t>
            </a:r>
            <a:endParaRPr lang="en-US" altLang="zh-CN" dirty="0" smtClean="0"/>
          </a:p>
          <a:p>
            <a:pPr lvl="1"/>
            <a:r>
              <a:rPr lang="zh-CN" altLang="en-US" dirty="0"/>
              <a:t>亦</a:t>
            </a:r>
            <a:r>
              <a:rPr lang="zh-CN" altLang="en-US" dirty="0" smtClean="0"/>
              <a:t>可表示为一个二维数组（实现细节）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2CE5-8022-48EF-82F7-6F135E37339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50</a:t>
            </a:fld>
            <a:endParaRPr lang="zh-CN" altLang="en-US" dirty="0"/>
          </a:p>
        </p:txBody>
      </p: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1692275" y="3284984"/>
            <a:ext cx="5759450" cy="1974850"/>
            <a:chOff x="1066" y="2925"/>
            <a:chExt cx="3628" cy="1244"/>
          </a:xfrm>
        </p:grpSpPr>
        <p:sp>
          <p:nvSpPr>
            <p:cNvPr id="8" name="Text Box 19"/>
            <p:cNvSpPr txBox="1">
              <a:spLocks noChangeArrowheads="1"/>
            </p:cNvSpPr>
            <p:nvPr/>
          </p:nvSpPr>
          <p:spPr bwMode="auto">
            <a:xfrm>
              <a:off x="1066" y="2931"/>
              <a:ext cx="3628" cy="1238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kumimoji="0" lang="en-US" altLang="zh-CN" sz="1600" b="1" dirty="0"/>
                <a:t>         </a:t>
              </a:r>
              <a:r>
                <a:rPr kumimoji="0" lang="en-US" altLang="zh-CN" sz="1600" b="1" dirty="0" smtClean="0"/>
                <a:t> 1     2     3    </a:t>
              </a:r>
              <a:r>
                <a:rPr kumimoji="0" lang="en-US" altLang="zh-CN" sz="1600" b="1" dirty="0"/>
                <a:t>4    5    </a:t>
              </a:r>
              <a:r>
                <a:rPr kumimoji="0" lang="en-US" altLang="zh-CN" sz="1600" b="1" dirty="0" smtClean="0"/>
                <a:t> 6    </a:t>
              </a:r>
              <a:r>
                <a:rPr kumimoji="0" lang="en-US" altLang="zh-CN" sz="1600" b="1" dirty="0"/>
                <a:t>7    8    9   </a:t>
              </a:r>
              <a:r>
                <a:rPr kumimoji="0" lang="en-US" altLang="zh-CN" sz="1600" b="1" dirty="0" smtClean="0"/>
                <a:t> 10   </a:t>
              </a:r>
              <a:r>
                <a:rPr kumimoji="0" lang="en-US" altLang="zh-CN" sz="1600" b="1" dirty="0"/>
                <a:t>11   12   13   14   </a:t>
              </a:r>
              <a:r>
                <a:rPr kumimoji="0" lang="en-US" altLang="zh-CN" sz="1600" b="1" dirty="0" smtClean="0"/>
                <a:t> 15    16 </a:t>
              </a:r>
              <a:endParaRPr kumimoji="0" lang="en-US" altLang="zh-CN" sz="1600" b="1" dirty="0"/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 dirty="0"/>
                <a:t>  1     1    </a:t>
              </a:r>
              <a:r>
                <a:rPr kumimoji="0" lang="en-US" altLang="zh-CN" sz="1600" b="1" dirty="0" smtClean="0"/>
                <a:t>  1    </a:t>
              </a:r>
              <a:r>
                <a:rPr kumimoji="0" lang="en-US" altLang="zh-CN" sz="1600" b="1" dirty="0"/>
                <a:t>0    0    0    </a:t>
              </a:r>
              <a:r>
                <a:rPr kumimoji="0" lang="en-US" altLang="zh-CN" sz="1600" b="1" dirty="0" smtClean="0"/>
                <a:t> 1     1    </a:t>
              </a:r>
              <a:r>
                <a:rPr kumimoji="0" lang="en-US" altLang="zh-CN" sz="1600" b="1" dirty="0"/>
                <a:t>1    0    0     1     </a:t>
              </a:r>
              <a:r>
                <a:rPr kumimoji="0" lang="en-US" altLang="zh-CN" sz="1600" b="1" dirty="0" smtClean="0"/>
                <a:t> 0      0      1     </a:t>
              </a:r>
              <a:r>
                <a:rPr kumimoji="0" lang="en-US" altLang="zh-CN" sz="1600" b="1" dirty="0"/>
                <a:t>1     0</a:t>
              </a:r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 dirty="0"/>
                <a:t>  2     0    </a:t>
              </a:r>
              <a:r>
                <a:rPr kumimoji="0" lang="en-US" altLang="zh-CN" sz="1600" b="1" dirty="0" smtClean="0"/>
                <a:t> 0      0    </a:t>
              </a:r>
              <a:r>
                <a:rPr kumimoji="0" lang="en-US" altLang="zh-CN" sz="1600" b="1" dirty="0"/>
                <a:t>1    1    1    </a:t>
              </a:r>
              <a:r>
                <a:rPr kumimoji="0" lang="en-US" altLang="zh-CN" sz="1600" b="1" dirty="0" smtClean="0"/>
                <a:t> 1    </a:t>
              </a:r>
              <a:r>
                <a:rPr kumimoji="0" lang="en-US" altLang="zh-CN" sz="1600" b="1" dirty="0"/>
                <a:t>1    1    0     0     </a:t>
              </a:r>
              <a:r>
                <a:rPr kumimoji="0" lang="en-US" altLang="zh-CN" sz="1600" b="1" dirty="0" smtClean="0"/>
                <a:t> 0      0      1     </a:t>
              </a:r>
              <a:r>
                <a:rPr kumimoji="0" lang="en-US" altLang="zh-CN" sz="1600" b="1" dirty="0"/>
                <a:t>1     1</a:t>
              </a:r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 dirty="0"/>
                <a:t>  3     1    </a:t>
              </a:r>
              <a:r>
                <a:rPr kumimoji="0" lang="en-US" altLang="zh-CN" sz="1600" b="1" dirty="0" smtClean="0"/>
                <a:t>  1    </a:t>
              </a:r>
              <a:r>
                <a:rPr kumimoji="0" lang="en-US" altLang="zh-CN" sz="1600" b="1" dirty="0"/>
                <a:t>1    </a:t>
              </a:r>
              <a:r>
                <a:rPr kumimoji="0" lang="en-US" altLang="zh-CN" sz="1600" b="1" dirty="0" smtClean="0"/>
                <a:t> 0    </a:t>
              </a:r>
              <a:r>
                <a:rPr kumimoji="0" lang="en-US" altLang="zh-CN" sz="1600" b="1" dirty="0"/>
                <a:t>0    0    1    1 </a:t>
              </a:r>
              <a:r>
                <a:rPr kumimoji="0" lang="en-US" altLang="zh-CN" sz="1600" b="1" dirty="0" smtClean="0"/>
                <a:t>    </a:t>
              </a:r>
              <a:r>
                <a:rPr kumimoji="0" lang="en-US" altLang="zh-CN" sz="1600" b="1" dirty="0"/>
                <a:t>1     1     1     0     0     0     0</a:t>
              </a:r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 dirty="0"/>
                <a:t>  4</a:t>
              </a:r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 dirty="0"/>
                <a:t> …</a:t>
              </a:r>
            </a:p>
            <a:p>
              <a:pPr>
                <a:spcBef>
                  <a:spcPct val="10000"/>
                </a:spcBef>
              </a:pPr>
              <a:r>
                <a:rPr kumimoji="0" lang="en-US" altLang="zh-CN" sz="1600" b="1" dirty="0"/>
                <a:t> 16</a:t>
              </a:r>
            </a:p>
          </p:txBody>
        </p:sp>
        <p:sp>
          <p:nvSpPr>
            <p:cNvPr id="9" name="Line 20"/>
            <p:cNvSpPr>
              <a:spLocks noChangeShapeType="1"/>
            </p:cNvSpPr>
            <p:nvPr/>
          </p:nvSpPr>
          <p:spPr bwMode="auto">
            <a:xfrm>
              <a:off x="1066" y="3131"/>
              <a:ext cx="3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21"/>
            <p:cNvSpPr>
              <a:spLocks noChangeShapeType="1"/>
            </p:cNvSpPr>
            <p:nvPr/>
          </p:nvSpPr>
          <p:spPr bwMode="auto">
            <a:xfrm>
              <a:off x="1066" y="3294"/>
              <a:ext cx="3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22"/>
            <p:cNvSpPr>
              <a:spLocks noChangeShapeType="1"/>
            </p:cNvSpPr>
            <p:nvPr/>
          </p:nvSpPr>
          <p:spPr bwMode="auto">
            <a:xfrm>
              <a:off x="1066" y="3464"/>
              <a:ext cx="3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23"/>
            <p:cNvSpPr>
              <a:spLocks noChangeShapeType="1"/>
            </p:cNvSpPr>
            <p:nvPr/>
          </p:nvSpPr>
          <p:spPr bwMode="auto">
            <a:xfrm>
              <a:off x="1066" y="3627"/>
              <a:ext cx="3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24"/>
            <p:cNvSpPr>
              <a:spLocks noChangeShapeType="1"/>
            </p:cNvSpPr>
            <p:nvPr/>
          </p:nvSpPr>
          <p:spPr bwMode="auto">
            <a:xfrm>
              <a:off x="1066" y="3799"/>
              <a:ext cx="3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5"/>
            <p:cNvSpPr>
              <a:spLocks noChangeShapeType="1"/>
            </p:cNvSpPr>
            <p:nvPr/>
          </p:nvSpPr>
          <p:spPr bwMode="auto">
            <a:xfrm>
              <a:off x="1066" y="3962"/>
              <a:ext cx="3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>
              <a:off x="1356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>
              <a:off x="1553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auto">
            <a:xfrm>
              <a:off x="1748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>
              <a:off x="1945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2125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>
              <a:off x="2322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>
              <a:off x="2517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3"/>
            <p:cNvSpPr>
              <a:spLocks noChangeShapeType="1"/>
            </p:cNvSpPr>
            <p:nvPr/>
          </p:nvSpPr>
          <p:spPr bwMode="auto">
            <a:xfrm>
              <a:off x="2714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34"/>
            <p:cNvSpPr>
              <a:spLocks noChangeShapeType="1"/>
            </p:cNvSpPr>
            <p:nvPr/>
          </p:nvSpPr>
          <p:spPr bwMode="auto">
            <a:xfrm>
              <a:off x="2892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35"/>
            <p:cNvSpPr>
              <a:spLocks noChangeShapeType="1"/>
            </p:cNvSpPr>
            <p:nvPr/>
          </p:nvSpPr>
          <p:spPr bwMode="auto">
            <a:xfrm>
              <a:off x="3089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36"/>
            <p:cNvSpPr>
              <a:spLocks noChangeShapeType="1"/>
            </p:cNvSpPr>
            <p:nvPr/>
          </p:nvSpPr>
          <p:spPr bwMode="auto">
            <a:xfrm>
              <a:off x="3284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37"/>
            <p:cNvSpPr>
              <a:spLocks noChangeShapeType="1"/>
            </p:cNvSpPr>
            <p:nvPr/>
          </p:nvSpPr>
          <p:spPr bwMode="auto">
            <a:xfrm>
              <a:off x="3505" y="2925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38"/>
            <p:cNvSpPr>
              <a:spLocks noChangeShapeType="1"/>
            </p:cNvSpPr>
            <p:nvPr/>
          </p:nvSpPr>
          <p:spPr bwMode="auto">
            <a:xfrm>
              <a:off x="3745" y="2925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39"/>
            <p:cNvSpPr>
              <a:spLocks noChangeShapeType="1"/>
            </p:cNvSpPr>
            <p:nvPr/>
          </p:nvSpPr>
          <p:spPr bwMode="auto">
            <a:xfrm>
              <a:off x="3966" y="2925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40"/>
            <p:cNvSpPr>
              <a:spLocks noChangeShapeType="1"/>
            </p:cNvSpPr>
            <p:nvPr/>
          </p:nvSpPr>
          <p:spPr bwMode="auto">
            <a:xfrm>
              <a:off x="4191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41"/>
            <p:cNvSpPr>
              <a:spLocks noChangeShapeType="1"/>
            </p:cNvSpPr>
            <p:nvPr/>
          </p:nvSpPr>
          <p:spPr bwMode="auto">
            <a:xfrm>
              <a:off x="4424" y="2931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1692275" y="5805264"/>
            <a:ext cx="5904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ea typeface="楷体" panose="02010609060101010101" pitchFamily="49" charset="-122"/>
              </a:rPr>
              <a:t>若磁盘容量为</a:t>
            </a:r>
            <a:r>
              <a:rPr lang="en-US" altLang="zh-CN" b="1" dirty="0" smtClean="0">
                <a:ea typeface="楷体" panose="02010609060101010101" pitchFamily="49" charset="-122"/>
              </a:rPr>
              <a:t>1TB</a:t>
            </a:r>
            <a:r>
              <a:rPr lang="zh-CN" altLang="en-US" b="1" dirty="0" smtClean="0">
                <a:ea typeface="楷体" panose="02010609060101010101" pitchFamily="49" charset="-122"/>
              </a:rPr>
              <a:t>，每块</a:t>
            </a:r>
            <a:r>
              <a:rPr lang="en-US" altLang="zh-CN" b="1" dirty="0" smtClean="0">
                <a:ea typeface="楷体" panose="02010609060101010101" pitchFamily="49" charset="-122"/>
              </a:rPr>
              <a:t>4KB</a:t>
            </a:r>
            <a:r>
              <a:rPr lang="zh-CN" altLang="en-US" b="1" dirty="0" smtClean="0">
                <a:ea typeface="楷体" panose="02010609060101010101" pitchFamily="49" charset="-122"/>
              </a:rPr>
              <a:t>，位示图需占用</a:t>
            </a:r>
            <a:r>
              <a:rPr lang="en-US" altLang="zh-CN" b="1" dirty="0" smtClean="0">
                <a:ea typeface="楷体" panose="02010609060101010101" pitchFamily="49" charset="-122"/>
              </a:rPr>
              <a:t>32MB</a:t>
            </a:r>
            <a:endParaRPr lang="zh-CN" altLang="en-US" b="1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55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4148-4095-4AE1-B4A1-692AD0016EAF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grpSp>
        <p:nvGrpSpPr>
          <p:cNvPr id="7" name="Group 86"/>
          <p:cNvGrpSpPr>
            <a:grpSpLocks/>
          </p:cNvGrpSpPr>
          <p:nvPr/>
        </p:nvGrpSpPr>
        <p:grpSpPr bwMode="auto">
          <a:xfrm>
            <a:off x="610245" y="1556792"/>
            <a:ext cx="7850187" cy="4679950"/>
            <a:chOff x="249" y="1313"/>
            <a:chExt cx="4945" cy="2948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249" y="2483"/>
              <a:ext cx="9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ea typeface="楷体" panose="02010609060101010101" pitchFamily="49" charset="-122"/>
                </a:rPr>
                <a:t>空闲块号栈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501" y="1748"/>
              <a:ext cx="363" cy="186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 dirty="0">
                  <a:solidFill>
                    <a:srgbClr val="FF0000"/>
                  </a:solidFill>
                  <a:ea typeface="楷体" panose="02010609060101010101" pitchFamily="49" charset="-122"/>
                </a:rPr>
                <a:t>40</a:t>
              </a:r>
            </a:p>
            <a:p>
              <a:pPr algn="ctr"/>
              <a:r>
                <a:rPr lang="en-US" altLang="zh-CN" sz="1800" b="1" dirty="0">
                  <a:ea typeface="楷体" panose="02010609060101010101" pitchFamily="49" charset="-122"/>
                </a:rPr>
                <a:t>150</a:t>
              </a:r>
            </a:p>
            <a:p>
              <a:pPr algn="ctr"/>
              <a:r>
                <a:rPr lang="en-US" altLang="zh-CN" sz="1800" b="1" dirty="0">
                  <a:ea typeface="楷体" panose="02010609060101010101" pitchFamily="49" charset="-122"/>
                </a:rPr>
                <a:t>149</a:t>
              </a:r>
            </a:p>
            <a:p>
              <a:pPr algn="ctr"/>
              <a:r>
                <a:rPr lang="en-US" altLang="zh-CN" sz="1800" b="1" dirty="0">
                  <a:ea typeface="楷体" panose="02010609060101010101" pitchFamily="49" charset="-122"/>
                </a:rPr>
                <a:t>148</a:t>
              </a:r>
            </a:p>
            <a:p>
              <a:pPr algn="ctr"/>
              <a:r>
                <a:rPr lang="zh-CN" altLang="zh-CN" sz="1800" b="1" dirty="0">
                  <a:ea typeface="楷体" panose="02010609060101010101" pitchFamily="49" charset="-122"/>
                </a:rPr>
                <a:t>︰</a:t>
              </a:r>
              <a:endParaRPr lang="en-US" altLang="zh-CN" sz="1800" b="1" dirty="0">
                <a:ea typeface="楷体" panose="02010609060101010101" pitchFamily="49" charset="-122"/>
              </a:endParaRPr>
            </a:p>
            <a:p>
              <a:pPr algn="ctr"/>
              <a:r>
                <a:rPr lang="en-US" altLang="zh-CN" sz="1800" b="1" dirty="0">
                  <a:ea typeface="楷体" panose="02010609060101010101" pitchFamily="49" charset="-122"/>
                </a:rPr>
                <a:t>112</a:t>
              </a:r>
            </a:p>
            <a:p>
              <a:pPr algn="ctr"/>
              <a:r>
                <a:rPr lang="en-US" altLang="zh-CN" sz="1800" b="1" dirty="0">
                  <a:ea typeface="楷体" panose="02010609060101010101" pitchFamily="49" charset="-122"/>
                </a:rPr>
                <a:t>111</a:t>
              </a:r>
            </a:p>
            <a:p>
              <a:pPr algn="ctr"/>
              <a:r>
                <a:rPr lang="en-US" altLang="zh-CN" sz="1800" b="1" dirty="0">
                  <a:ea typeface="楷体" panose="02010609060101010101" pitchFamily="49" charset="-122"/>
                </a:rPr>
                <a:t>︰</a:t>
              </a:r>
            </a:p>
            <a:p>
              <a:pPr algn="ctr"/>
              <a:r>
                <a:rPr lang="en-US" altLang="zh-CN" sz="1800" b="1" dirty="0">
                  <a:ea typeface="楷体" panose="02010609060101010101" pitchFamily="49" charset="-122"/>
                </a:rPr>
                <a:t>︰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272" y="1522"/>
              <a:ext cx="363" cy="9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0000"/>
                  </a:solidFill>
                  <a:ea typeface="楷体" panose="02010609060101010101" pitchFamily="49" charset="-122"/>
                </a:rPr>
                <a:t>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200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199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198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︰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151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272" y="2701"/>
              <a:ext cx="363" cy="54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ea typeface="楷体" panose="02010609060101010101" pitchFamily="49" charset="-122"/>
                </a:rPr>
                <a:t>149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281" y="3499"/>
              <a:ext cx="363" cy="54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ea typeface="楷体" panose="02010609060101010101" pitchFamily="49" charset="-122"/>
                </a:rPr>
                <a:t>111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034" y="1513"/>
              <a:ext cx="363" cy="9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0000"/>
                  </a:solidFill>
                  <a:ea typeface="楷体" panose="02010609060101010101" pitchFamily="49" charset="-122"/>
                </a:rPr>
                <a:t>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250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249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248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︰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201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034" y="2701"/>
              <a:ext cx="363" cy="54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ea typeface="楷体" panose="02010609060101010101" pitchFamily="49" charset="-122"/>
                </a:rPr>
                <a:t>199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034" y="3499"/>
              <a:ext cx="363" cy="54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ea typeface="楷体" panose="02010609060101010101" pitchFamily="49" charset="-122"/>
                </a:rPr>
                <a:t>151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923" y="1522"/>
              <a:ext cx="363" cy="9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0000"/>
                  </a:solidFill>
                  <a:ea typeface="楷体" panose="02010609060101010101" pitchFamily="49" charset="-122"/>
                </a:rPr>
                <a:t>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3999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3998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︰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ea typeface="楷体" panose="02010609060101010101" pitchFamily="49" charset="-122"/>
                </a:rPr>
                <a:t>3951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923" y="2701"/>
              <a:ext cx="363" cy="54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ea typeface="楷体" panose="02010609060101010101" pitchFamily="49" charset="-122"/>
                </a:rPr>
                <a:t>3949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3923" y="3499"/>
              <a:ext cx="363" cy="54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ea typeface="楷体" panose="02010609060101010101" pitchFamily="49" charset="-122"/>
                </a:rPr>
                <a:t>3901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4667" y="2683"/>
              <a:ext cx="363" cy="54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ea typeface="楷体" panose="02010609060101010101" pitchFamily="49" charset="-122"/>
                </a:rPr>
                <a:t>3999</a:t>
              </a: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4667" y="3481"/>
              <a:ext cx="363" cy="54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b="1">
                  <a:ea typeface="楷体" panose="02010609060101010101" pitchFamily="49" charset="-122"/>
                </a:rPr>
                <a:t>3951</a:t>
              </a:r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1152" y="1867"/>
              <a:ext cx="363" cy="1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800" b="1" dirty="0">
                  <a:ea typeface="楷体" panose="02010609060101010101" pitchFamily="49" charset="-122"/>
                </a:rPr>
                <a:t>0</a:t>
              </a:r>
            </a:p>
            <a:p>
              <a:pPr algn="r"/>
              <a:r>
                <a:rPr lang="en-US" altLang="zh-CN" sz="1800" b="1" dirty="0">
                  <a:ea typeface="楷体" panose="02010609060101010101" pitchFamily="49" charset="-122"/>
                </a:rPr>
                <a:t>1</a:t>
              </a:r>
            </a:p>
            <a:p>
              <a:pPr algn="r"/>
              <a:r>
                <a:rPr lang="en-US" altLang="zh-CN" sz="1800" b="1" dirty="0">
                  <a:ea typeface="楷体" panose="02010609060101010101" pitchFamily="49" charset="-122"/>
                </a:rPr>
                <a:t>2</a:t>
              </a:r>
            </a:p>
            <a:p>
              <a:pPr algn="r"/>
              <a:r>
                <a:rPr lang="en-US" altLang="zh-CN" sz="1800" b="1" dirty="0">
                  <a:ea typeface="楷体" panose="02010609060101010101" pitchFamily="49" charset="-122"/>
                </a:rPr>
                <a:t>︰</a:t>
              </a:r>
            </a:p>
            <a:p>
              <a:pPr algn="r"/>
              <a:r>
                <a:rPr lang="en-US" altLang="zh-CN" sz="1800" b="1" dirty="0">
                  <a:ea typeface="楷体" panose="02010609060101010101" pitchFamily="49" charset="-122"/>
                </a:rPr>
                <a:t>38</a:t>
              </a:r>
            </a:p>
            <a:p>
              <a:pPr algn="r"/>
              <a:r>
                <a:rPr lang="en-US" altLang="zh-CN" sz="1800" b="1" dirty="0">
                  <a:ea typeface="楷体" panose="02010609060101010101" pitchFamily="49" charset="-122"/>
                </a:rPr>
                <a:t>39</a:t>
              </a:r>
            </a:p>
            <a:p>
              <a:pPr algn="r"/>
              <a:r>
                <a:rPr lang="en-US" altLang="zh-CN" sz="1800" b="1" dirty="0">
                  <a:ea typeface="楷体" panose="02010609060101010101" pitchFamily="49" charset="-122"/>
                </a:rPr>
                <a:t>︰</a:t>
              </a:r>
            </a:p>
            <a:p>
              <a:pPr algn="r"/>
              <a:r>
                <a:rPr lang="en-US" altLang="zh-CN" sz="1800" b="1" dirty="0">
                  <a:ea typeface="楷体" panose="02010609060101010101" pitchFamily="49" charset="-122"/>
                </a:rPr>
                <a:t>︰</a:t>
              </a:r>
            </a:p>
          </p:txBody>
        </p:sp>
        <p:sp>
          <p:nvSpPr>
            <p:cNvPr id="22" name="AutoShape 20"/>
            <p:cNvSpPr>
              <a:spLocks/>
            </p:cNvSpPr>
            <p:nvPr/>
          </p:nvSpPr>
          <p:spPr bwMode="auto">
            <a:xfrm>
              <a:off x="1156" y="1999"/>
              <a:ext cx="182" cy="1224"/>
            </a:xfrm>
            <a:prstGeom prst="leftBrace">
              <a:avLst>
                <a:gd name="adj1" fmla="val 560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383" y="1756"/>
              <a:ext cx="869" cy="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ea typeface="楷体" panose="02010609060101010101" pitchFamily="49" charset="-122"/>
                </a:rPr>
                <a:t>栈</a:t>
              </a:r>
              <a:r>
                <a:rPr lang="zh-CN" altLang="en-US" sz="1800" b="1" dirty="0" smtClean="0">
                  <a:ea typeface="楷体" panose="02010609060101010101" pitchFamily="49" charset="-122"/>
                </a:rPr>
                <a:t>深，</a:t>
              </a:r>
              <a:endParaRPr lang="en-US" altLang="zh-CN" sz="1800" b="1" dirty="0" smtClean="0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1800" b="1" dirty="0" smtClean="0">
                  <a:ea typeface="楷体" panose="02010609060101010101" pitchFamily="49" charset="-122"/>
                </a:rPr>
                <a:t>空闲块个数</a:t>
              </a:r>
              <a:endParaRPr lang="zh-CN" altLang="en-US" sz="1800" b="1" dirty="0">
                <a:ea typeface="楷体" panose="02010609060101010101" pitchFamily="49" charset="-122"/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1226" y="199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2272" y="1313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150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3034" y="1313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200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3914" y="1322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3950</a:t>
              </a: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4395" y="1340"/>
              <a:ext cx="5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ea typeface="楷体" panose="02010609060101010101" pitchFamily="49" charset="-122"/>
                </a:rPr>
                <a:t>组长块</a:t>
              </a:r>
            </a:p>
          </p:txBody>
        </p:sp>
        <p:sp>
          <p:nvSpPr>
            <p:cNvPr id="29" name="Text Box 27"/>
            <p:cNvSpPr txBox="1">
              <a:spLocks noChangeArrowheads="1"/>
            </p:cNvSpPr>
            <p:nvPr/>
          </p:nvSpPr>
          <p:spPr bwMode="auto">
            <a:xfrm>
              <a:off x="2164" y="4016"/>
              <a:ext cx="5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ea typeface="楷体" panose="02010609060101010101" pitchFamily="49" charset="-122"/>
                </a:rPr>
                <a:t>第</a:t>
              </a:r>
              <a:r>
                <a:rPr lang="en-US" altLang="zh-CN" sz="1800" b="1">
                  <a:ea typeface="楷体" panose="02010609060101010101" pitchFamily="49" charset="-122"/>
                </a:rPr>
                <a:t>78</a:t>
              </a:r>
              <a:r>
                <a:rPr lang="zh-CN" altLang="en-US" sz="18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2952" y="4016"/>
              <a:ext cx="5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ea typeface="楷体" panose="02010609060101010101" pitchFamily="49" charset="-122"/>
                </a:rPr>
                <a:t>第</a:t>
              </a:r>
              <a:r>
                <a:rPr lang="en-US" altLang="zh-CN" sz="1800" b="1">
                  <a:ea typeface="楷体" panose="02010609060101010101" pitchFamily="49" charset="-122"/>
                </a:rPr>
                <a:t>77</a:t>
              </a:r>
              <a:r>
                <a:rPr lang="zh-CN" altLang="en-US" sz="18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3868" y="4013"/>
              <a:ext cx="5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ea typeface="楷体" panose="02010609060101010101" pitchFamily="49" charset="-122"/>
                </a:rPr>
                <a:t>第</a:t>
              </a:r>
              <a:r>
                <a:rPr lang="en-US" altLang="zh-CN" sz="1800" b="1">
                  <a:ea typeface="楷体" panose="02010609060101010101" pitchFamily="49" charset="-122"/>
                </a:rPr>
                <a:t>2</a:t>
              </a:r>
              <a:r>
                <a:rPr lang="zh-CN" altLang="en-US" sz="18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4604" y="4004"/>
              <a:ext cx="5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>
                  <a:ea typeface="楷体" panose="02010609060101010101" pitchFamily="49" charset="-122"/>
                </a:rPr>
                <a:t>第</a:t>
              </a:r>
              <a:r>
                <a:rPr lang="en-US" altLang="zh-CN" sz="1800" b="1">
                  <a:ea typeface="楷体" panose="02010609060101010101" pitchFamily="49" charset="-122"/>
                </a:rPr>
                <a:t>1</a:t>
              </a:r>
              <a:r>
                <a:rPr lang="zh-CN" altLang="en-US" sz="18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1501" y="1921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1501" y="2066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1502" y="2238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1501" y="2411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1501" y="2601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1502" y="275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1502" y="2946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1502" y="3109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1502" y="3281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1501" y="3508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2272" y="170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>
              <a:off x="2272" y="1858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2263" y="2012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2273" y="217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2264" y="2329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>
              <a:off x="3042" y="168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3042" y="1840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>
              <a:off x="3033" y="1994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3043" y="2157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>
              <a:off x="3034" y="2311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3" name="Line 51"/>
            <p:cNvSpPr>
              <a:spLocks noChangeShapeType="1"/>
            </p:cNvSpPr>
            <p:nvPr/>
          </p:nvSpPr>
          <p:spPr bwMode="auto">
            <a:xfrm>
              <a:off x="3922" y="170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4" name="Line 52"/>
            <p:cNvSpPr>
              <a:spLocks noChangeShapeType="1"/>
            </p:cNvSpPr>
            <p:nvPr/>
          </p:nvSpPr>
          <p:spPr bwMode="auto">
            <a:xfrm>
              <a:off x="3922" y="1858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5" name="Line 53"/>
            <p:cNvSpPr>
              <a:spLocks noChangeShapeType="1"/>
            </p:cNvSpPr>
            <p:nvPr/>
          </p:nvSpPr>
          <p:spPr bwMode="auto">
            <a:xfrm>
              <a:off x="3913" y="2012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6" name="Line 54"/>
            <p:cNvSpPr>
              <a:spLocks noChangeShapeType="1"/>
            </p:cNvSpPr>
            <p:nvPr/>
          </p:nvSpPr>
          <p:spPr bwMode="auto">
            <a:xfrm>
              <a:off x="3923" y="217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7" name="Line 55"/>
            <p:cNvSpPr>
              <a:spLocks noChangeShapeType="1"/>
            </p:cNvSpPr>
            <p:nvPr/>
          </p:nvSpPr>
          <p:spPr bwMode="auto">
            <a:xfrm>
              <a:off x="3914" y="2329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auto">
            <a:xfrm>
              <a:off x="1837" y="1612"/>
              <a:ext cx="408" cy="545"/>
            </a:xfrm>
            <a:custGeom>
              <a:avLst/>
              <a:gdLst>
                <a:gd name="T0" fmla="*/ 0 w 408"/>
                <a:gd name="T1" fmla="*/ 545 h 545"/>
                <a:gd name="T2" fmla="*/ 227 w 408"/>
                <a:gd name="T3" fmla="*/ 136 h 545"/>
                <a:gd name="T4" fmla="*/ 408 w 408"/>
                <a:gd name="T5" fmla="*/ 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545">
                  <a:moveTo>
                    <a:pt x="0" y="545"/>
                  </a:moveTo>
                  <a:cubicBezTo>
                    <a:pt x="79" y="386"/>
                    <a:pt x="159" y="227"/>
                    <a:pt x="227" y="136"/>
                  </a:cubicBezTo>
                  <a:cubicBezTo>
                    <a:pt x="295" y="45"/>
                    <a:pt x="378" y="23"/>
                    <a:pt x="4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9" name="Line 57"/>
            <p:cNvSpPr>
              <a:spLocks noChangeShapeType="1"/>
            </p:cNvSpPr>
            <p:nvPr/>
          </p:nvSpPr>
          <p:spPr bwMode="auto">
            <a:xfrm>
              <a:off x="1837" y="2293"/>
              <a:ext cx="431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auto">
            <a:xfrm>
              <a:off x="1819" y="2520"/>
              <a:ext cx="499" cy="816"/>
            </a:xfrm>
            <a:custGeom>
              <a:avLst/>
              <a:gdLst>
                <a:gd name="T0" fmla="*/ 0 w 499"/>
                <a:gd name="T1" fmla="*/ 0 h 816"/>
                <a:gd name="T2" fmla="*/ 272 w 499"/>
                <a:gd name="T3" fmla="*/ 589 h 816"/>
                <a:gd name="T4" fmla="*/ 499 w 499"/>
                <a:gd name="T5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816">
                  <a:moveTo>
                    <a:pt x="0" y="0"/>
                  </a:moveTo>
                  <a:cubicBezTo>
                    <a:pt x="94" y="226"/>
                    <a:pt x="189" y="453"/>
                    <a:pt x="272" y="589"/>
                  </a:cubicBezTo>
                  <a:cubicBezTo>
                    <a:pt x="355" y="725"/>
                    <a:pt x="461" y="778"/>
                    <a:pt x="499" y="8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1" name="Line 59"/>
            <p:cNvSpPr>
              <a:spLocks noChangeShapeType="1"/>
            </p:cNvSpPr>
            <p:nvPr/>
          </p:nvSpPr>
          <p:spPr bwMode="auto">
            <a:xfrm>
              <a:off x="1837" y="2837"/>
              <a:ext cx="136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auto">
            <a:xfrm>
              <a:off x="1828" y="3028"/>
              <a:ext cx="453" cy="544"/>
            </a:xfrm>
            <a:custGeom>
              <a:avLst/>
              <a:gdLst>
                <a:gd name="T0" fmla="*/ 0 w 499"/>
                <a:gd name="T1" fmla="*/ 0 h 544"/>
                <a:gd name="T2" fmla="*/ 227 w 499"/>
                <a:gd name="T3" fmla="*/ 272 h 544"/>
                <a:gd name="T4" fmla="*/ 499 w 499"/>
                <a:gd name="T5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544">
                  <a:moveTo>
                    <a:pt x="0" y="0"/>
                  </a:moveTo>
                  <a:cubicBezTo>
                    <a:pt x="72" y="90"/>
                    <a:pt x="144" y="181"/>
                    <a:pt x="227" y="272"/>
                  </a:cubicBezTo>
                  <a:cubicBezTo>
                    <a:pt x="310" y="363"/>
                    <a:pt x="454" y="499"/>
                    <a:pt x="499" y="5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3" name="Line 61"/>
            <p:cNvSpPr>
              <a:spLocks noChangeShapeType="1"/>
            </p:cNvSpPr>
            <p:nvPr/>
          </p:nvSpPr>
          <p:spPr bwMode="auto">
            <a:xfrm flipV="1">
              <a:off x="2608" y="1612"/>
              <a:ext cx="408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auto">
            <a:xfrm>
              <a:off x="2608" y="1930"/>
              <a:ext cx="408" cy="862"/>
            </a:xfrm>
            <a:custGeom>
              <a:avLst/>
              <a:gdLst>
                <a:gd name="T0" fmla="*/ 0 w 408"/>
                <a:gd name="T1" fmla="*/ 0 h 862"/>
                <a:gd name="T2" fmla="*/ 182 w 408"/>
                <a:gd name="T3" fmla="*/ 635 h 862"/>
                <a:gd name="T4" fmla="*/ 408 w 408"/>
                <a:gd name="T5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862">
                  <a:moveTo>
                    <a:pt x="0" y="0"/>
                  </a:moveTo>
                  <a:cubicBezTo>
                    <a:pt x="57" y="245"/>
                    <a:pt x="114" y="491"/>
                    <a:pt x="182" y="635"/>
                  </a:cubicBezTo>
                  <a:cubicBezTo>
                    <a:pt x="250" y="779"/>
                    <a:pt x="370" y="824"/>
                    <a:pt x="408" y="86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auto">
            <a:xfrm>
              <a:off x="2563" y="2066"/>
              <a:ext cx="499" cy="1270"/>
            </a:xfrm>
            <a:custGeom>
              <a:avLst/>
              <a:gdLst>
                <a:gd name="T0" fmla="*/ 0 w 499"/>
                <a:gd name="T1" fmla="*/ 0 h 1270"/>
                <a:gd name="T2" fmla="*/ 227 w 499"/>
                <a:gd name="T3" fmla="*/ 816 h 1270"/>
                <a:gd name="T4" fmla="*/ 499 w 499"/>
                <a:gd name="T5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1270">
                  <a:moveTo>
                    <a:pt x="0" y="0"/>
                  </a:moveTo>
                  <a:cubicBezTo>
                    <a:pt x="72" y="302"/>
                    <a:pt x="144" y="604"/>
                    <a:pt x="227" y="816"/>
                  </a:cubicBezTo>
                  <a:cubicBezTo>
                    <a:pt x="310" y="1028"/>
                    <a:pt x="454" y="1194"/>
                    <a:pt x="499" y="12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6" name="Freeform 64"/>
            <p:cNvSpPr>
              <a:spLocks/>
            </p:cNvSpPr>
            <p:nvPr/>
          </p:nvSpPr>
          <p:spPr bwMode="auto">
            <a:xfrm>
              <a:off x="2590" y="2519"/>
              <a:ext cx="453" cy="1043"/>
            </a:xfrm>
            <a:custGeom>
              <a:avLst/>
              <a:gdLst>
                <a:gd name="T0" fmla="*/ 0 w 453"/>
                <a:gd name="T1" fmla="*/ 0 h 1043"/>
                <a:gd name="T2" fmla="*/ 181 w 453"/>
                <a:gd name="T3" fmla="*/ 771 h 1043"/>
                <a:gd name="T4" fmla="*/ 453 w 453"/>
                <a:gd name="T5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3" h="1043">
                  <a:moveTo>
                    <a:pt x="0" y="0"/>
                  </a:moveTo>
                  <a:cubicBezTo>
                    <a:pt x="53" y="298"/>
                    <a:pt x="106" y="597"/>
                    <a:pt x="181" y="771"/>
                  </a:cubicBezTo>
                  <a:cubicBezTo>
                    <a:pt x="256" y="945"/>
                    <a:pt x="408" y="998"/>
                    <a:pt x="453" y="10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7" name="Line 65"/>
            <p:cNvSpPr>
              <a:spLocks noChangeShapeType="1"/>
            </p:cNvSpPr>
            <p:nvPr/>
          </p:nvSpPr>
          <p:spPr bwMode="auto">
            <a:xfrm flipV="1">
              <a:off x="3379" y="1685"/>
              <a:ext cx="182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8" name="Line 66"/>
            <p:cNvSpPr>
              <a:spLocks noChangeShapeType="1"/>
            </p:cNvSpPr>
            <p:nvPr/>
          </p:nvSpPr>
          <p:spPr bwMode="auto">
            <a:xfrm>
              <a:off x="3361" y="1903"/>
              <a:ext cx="22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9" name="Line 67"/>
            <p:cNvSpPr>
              <a:spLocks noChangeShapeType="1"/>
            </p:cNvSpPr>
            <p:nvPr/>
          </p:nvSpPr>
          <p:spPr bwMode="auto">
            <a:xfrm>
              <a:off x="3379" y="2066"/>
              <a:ext cx="136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auto">
            <a:xfrm>
              <a:off x="3334" y="2384"/>
              <a:ext cx="227" cy="226"/>
            </a:xfrm>
            <a:custGeom>
              <a:avLst/>
              <a:gdLst>
                <a:gd name="T0" fmla="*/ 0 w 227"/>
                <a:gd name="T1" fmla="*/ 0 h 226"/>
                <a:gd name="T2" fmla="*/ 181 w 227"/>
                <a:gd name="T3" fmla="*/ 136 h 226"/>
                <a:gd name="T4" fmla="*/ 227 w 227"/>
                <a:gd name="T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" h="226">
                  <a:moveTo>
                    <a:pt x="0" y="0"/>
                  </a:moveTo>
                  <a:cubicBezTo>
                    <a:pt x="71" y="49"/>
                    <a:pt x="143" y="98"/>
                    <a:pt x="181" y="136"/>
                  </a:cubicBezTo>
                  <a:cubicBezTo>
                    <a:pt x="219" y="174"/>
                    <a:pt x="219" y="211"/>
                    <a:pt x="227" y="22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71" name="Text Box 69"/>
            <p:cNvSpPr txBox="1">
              <a:spLocks noChangeArrowheads="1"/>
            </p:cNvSpPr>
            <p:nvPr/>
          </p:nvSpPr>
          <p:spPr bwMode="auto">
            <a:xfrm>
              <a:off x="3561" y="1903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2" name="Text Box 70"/>
            <p:cNvSpPr txBox="1">
              <a:spLocks noChangeArrowheads="1"/>
            </p:cNvSpPr>
            <p:nvPr/>
          </p:nvSpPr>
          <p:spPr bwMode="auto">
            <a:xfrm>
              <a:off x="3551" y="2797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3" name="Text Box 71"/>
            <p:cNvSpPr txBox="1">
              <a:spLocks noChangeArrowheads="1"/>
            </p:cNvSpPr>
            <p:nvPr/>
          </p:nvSpPr>
          <p:spPr bwMode="auto">
            <a:xfrm>
              <a:off x="3552" y="3621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4" name="Freeform 72"/>
            <p:cNvSpPr>
              <a:spLocks/>
            </p:cNvSpPr>
            <p:nvPr/>
          </p:nvSpPr>
          <p:spPr bwMode="auto">
            <a:xfrm>
              <a:off x="4241" y="1930"/>
              <a:ext cx="408" cy="937"/>
            </a:xfrm>
            <a:custGeom>
              <a:avLst/>
              <a:gdLst>
                <a:gd name="T0" fmla="*/ 0 w 408"/>
                <a:gd name="T1" fmla="*/ 0 h 937"/>
                <a:gd name="T2" fmla="*/ 227 w 408"/>
                <a:gd name="T3" fmla="*/ 181 h 937"/>
                <a:gd name="T4" fmla="*/ 318 w 408"/>
                <a:gd name="T5" fmla="*/ 816 h 937"/>
                <a:gd name="T6" fmla="*/ 408 w 408"/>
                <a:gd name="T7" fmla="*/ 907 h 9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8" h="937">
                  <a:moveTo>
                    <a:pt x="0" y="0"/>
                  </a:moveTo>
                  <a:cubicBezTo>
                    <a:pt x="87" y="22"/>
                    <a:pt x="174" y="45"/>
                    <a:pt x="227" y="181"/>
                  </a:cubicBezTo>
                  <a:cubicBezTo>
                    <a:pt x="280" y="317"/>
                    <a:pt x="288" y="695"/>
                    <a:pt x="318" y="816"/>
                  </a:cubicBezTo>
                  <a:cubicBezTo>
                    <a:pt x="348" y="937"/>
                    <a:pt x="393" y="892"/>
                    <a:pt x="408" y="90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75" name="Freeform 73"/>
            <p:cNvSpPr>
              <a:spLocks/>
            </p:cNvSpPr>
            <p:nvPr/>
          </p:nvSpPr>
          <p:spPr bwMode="auto">
            <a:xfrm>
              <a:off x="4241" y="2066"/>
              <a:ext cx="454" cy="1285"/>
            </a:xfrm>
            <a:custGeom>
              <a:avLst/>
              <a:gdLst>
                <a:gd name="T0" fmla="*/ 0 w 454"/>
                <a:gd name="T1" fmla="*/ 0 h 1285"/>
                <a:gd name="T2" fmla="*/ 136 w 454"/>
                <a:gd name="T3" fmla="*/ 363 h 1285"/>
                <a:gd name="T4" fmla="*/ 272 w 454"/>
                <a:gd name="T5" fmla="*/ 1134 h 1285"/>
                <a:gd name="T6" fmla="*/ 454 w 454"/>
                <a:gd name="T7" fmla="*/ 1270 h 1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4" h="1285">
                  <a:moveTo>
                    <a:pt x="0" y="0"/>
                  </a:moveTo>
                  <a:cubicBezTo>
                    <a:pt x="45" y="87"/>
                    <a:pt x="91" y="174"/>
                    <a:pt x="136" y="363"/>
                  </a:cubicBezTo>
                  <a:cubicBezTo>
                    <a:pt x="181" y="552"/>
                    <a:pt x="219" y="983"/>
                    <a:pt x="272" y="1134"/>
                  </a:cubicBezTo>
                  <a:cubicBezTo>
                    <a:pt x="325" y="1285"/>
                    <a:pt x="424" y="1247"/>
                    <a:pt x="454" y="12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auto">
            <a:xfrm>
              <a:off x="4268" y="2510"/>
              <a:ext cx="408" cy="1081"/>
            </a:xfrm>
            <a:custGeom>
              <a:avLst/>
              <a:gdLst>
                <a:gd name="T0" fmla="*/ 0 w 408"/>
                <a:gd name="T1" fmla="*/ 0 h 1081"/>
                <a:gd name="T2" fmla="*/ 136 w 408"/>
                <a:gd name="T3" fmla="*/ 544 h 1081"/>
                <a:gd name="T4" fmla="*/ 272 w 408"/>
                <a:gd name="T5" fmla="*/ 998 h 1081"/>
                <a:gd name="T6" fmla="*/ 408 w 408"/>
                <a:gd name="T7" fmla="*/ 1043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8" h="1081">
                  <a:moveTo>
                    <a:pt x="0" y="0"/>
                  </a:moveTo>
                  <a:cubicBezTo>
                    <a:pt x="45" y="189"/>
                    <a:pt x="91" y="378"/>
                    <a:pt x="136" y="544"/>
                  </a:cubicBezTo>
                  <a:cubicBezTo>
                    <a:pt x="181" y="710"/>
                    <a:pt x="227" y="915"/>
                    <a:pt x="272" y="998"/>
                  </a:cubicBezTo>
                  <a:cubicBezTo>
                    <a:pt x="317" y="1081"/>
                    <a:pt x="385" y="1036"/>
                    <a:pt x="408" y="10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77" name="Text Box 75"/>
            <p:cNvSpPr txBox="1">
              <a:spLocks noChangeArrowheads="1"/>
            </p:cNvSpPr>
            <p:nvPr/>
          </p:nvSpPr>
          <p:spPr bwMode="auto">
            <a:xfrm>
              <a:off x="2361" y="3308"/>
              <a:ext cx="291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8" name="Text Box 76"/>
            <p:cNvSpPr txBox="1">
              <a:spLocks noChangeArrowheads="1"/>
            </p:cNvSpPr>
            <p:nvPr/>
          </p:nvSpPr>
          <p:spPr bwMode="auto">
            <a:xfrm>
              <a:off x="3106" y="3309"/>
              <a:ext cx="291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9" name="Text Box 77"/>
            <p:cNvSpPr txBox="1">
              <a:spLocks noChangeArrowheads="1"/>
            </p:cNvSpPr>
            <p:nvPr/>
          </p:nvSpPr>
          <p:spPr bwMode="auto">
            <a:xfrm>
              <a:off x="4012" y="3308"/>
              <a:ext cx="291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80" name="Text Box 78"/>
            <p:cNvSpPr txBox="1">
              <a:spLocks noChangeArrowheads="1"/>
            </p:cNvSpPr>
            <p:nvPr/>
          </p:nvSpPr>
          <p:spPr bwMode="auto">
            <a:xfrm>
              <a:off x="4757" y="3309"/>
              <a:ext cx="291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81" name="AutoShape 79"/>
            <p:cNvSpPr>
              <a:spLocks noChangeArrowheads="1"/>
            </p:cNvSpPr>
            <p:nvPr/>
          </p:nvSpPr>
          <p:spPr bwMode="auto">
            <a:xfrm>
              <a:off x="1502" y="3499"/>
              <a:ext cx="363" cy="227"/>
            </a:xfrm>
            <a:prstGeom prst="flowChartDocumen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82" name="Line 80"/>
            <p:cNvSpPr>
              <a:spLocks noChangeShapeType="1"/>
            </p:cNvSpPr>
            <p:nvPr/>
          </p:nvSpPr>
          <p:spPr bwMode="auto">
            <a:xfrm>
              <a:off x="1502" y="3508"/>
              <a:ext cx="363" cy="0"/>
            </a:xfrm>
            <a:prstGeom prst="line">
              <a:avLst/>
            </a:prstGeom>
            <a:noFill/>
            <a:ln w="57150">
              <a:solidFill>
                <a:srgbClr val="FF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83" name="AutoShape 81"/>
            <p:cNvSpPr>
              <a:spLocks noChangeArrowheads="1"/>
            </p:cNvSpPr>
            <p:nvPr/>
          </p:nvSpPr>
          <p:spPr bwMode="auto">
            <a:xfrm>
              <a:off x="1501" y="1638"/>
              <a:ext cx="363" cy="227"/>
            </a:xfrm>
            <a:prstGeom prst="flowChartPunchedCard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84" name="Line 82"/>
            <p:cNvSpPr>
              <a:spLocks noChangeShapeType="1"/>
            </p:cNvSpPr>
            <p:nvPr/>
          </p:nvSpPr>
          <p:spPr bwMode="auto">
            <a:xfrm>
              <a:off x="1501" y="1857"/>
              <a:ext cx="360" cy="0"/>
            </a:xfrm>
            <a:prstGeom prst="line">
              <a:avLst/>
            </a:prstGeom>
            <a:noFill/>
            <a:ln w="57150">
              <a:solidFill>
                <a:srgbClr val="FF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85" name="Text Box 83"/>
            <p:cNvSpPr txBox="1">
              <a:spLocks noChangeArrowheads="1"/>
            </p:cNvSpPr>
            <p:nvPr/>
          </p:nvSpPr>
          <p:spPr bwMode="auto">
            <a:xfrm>
              <a:off x="1283" y="3767"/>
              <a:ext cx="736" cy="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0000"/>
                  </a:solidFill>
                  <a:ea typeface="楷体" panose="02010609060101010101" pitchFamily="49" charset="-122"/>
                </a:rPr>
                <a:t>超级</a:t>
              </a:r>
              <a:r>
                <a:rPr lang="zh-CN" altLang="en-US" sz="1800" b="1" dirty="0" smtClean="0">
                  <a:solidFill>
                    <a:srgbClr val="FF0000"/>
                  </a:solidFill>
                  <a:ea typeface="楷体" panose="02010609060101010101" pitchFamily="49" charset="-122"/>
                </a:rPr>
                <a:t>块</a:t>
              </a:r>
              <a:endParaRPr lang="en-US" altLang="zh-CN" sz="1800" b="1" dirty="0" smtClean="0">
                <a:solidFill>
                  <a:srgbClr val="FF0000"/>
                </a:solidFill>
                <a:ea typeface="楷体" panose="02010609060101010101" pitchFamily="49" charset="-122"/>
              </a:endParaRPr>
            </a:p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ea typeface="楷体" panose="02010609060101010101" pitchFamily="49" charset="-122"/>
                </a:rPr>
                <a:t>位</a:t>
              </a:r>
              <a:r>
                <a:rPr lang="zh-CN" altLang="en-US" b="1" dirty="0" smtClean="0">
                  <a:solidFill>
                    <a:srgbClr val="FF0000"/>
                  </a:solidFill>
                  <a:ea typeface="楷体" panose="02010609060101010101" pitchFamily="49" charset="-122"/>
                </a:rPr>
                <a:t>于内存</a:t>
              </a:r>
              <a:endParaRPr lang="zh-CN" altLang="en-US" sz="1800" b="1" dirty="0">
                <a:solidFill>
                  <a:srgbClr val="FF0000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86" name="Text Box 84"/>
            <p:cNvSpPr txBox="1">
              <a:spLocks noChangeArrowheads="1"/>
            </p:cNvSpPr>
            <p:nvPr/>
          </p:nvSpPr>
          <p:spPr bwMode="auto">
            <a:xfrm>
              <a:off x="3561" y="3984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a typeface="楷体" panose="02010609060101010101" pitchFamily="49" charset="-122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74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成组链法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空闲块的分配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65E9-1DD8-4520-860A-DDB9012996E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52</a:t>
            </a:fld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22010" y="2485727"/>
            <a:ext cx="7427168" cy="4082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7350" indent="-387350">
              <a:spcBef>
                <a:spcPct val="20000"/>
              </a:spcBef>
              <a:buBlip>
                <a:blip r:embed="rId2"/>
              </a:buBlip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52500" indent="-374650">
              <a:spcBef>
                <a:spcPct val="20000"/>
              </a:spcBef>
              <a:buBlip>
                <a:blip r:embed="rId3"/>
              </a:buBlip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47850" indent="-457200">
              <a:spcBef>
                <a:spcPct val="20000"/>
              </a:spcBef>
              <a:buBlip>
                <a:blip r:embed="rId4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419350" indent="-3810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3810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3810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3810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3810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3810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 err="1" smtClean="0">
                <a:latin typeface="+mn-lt"/>
                <a:ea typeface="楷体" panose="02010609060101010101" pitchFamily="49" charset="-122"/>
              </a:rPr>
              <a:t>Int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1600" dirty="0" err="1">
                <a:latin typeface="+mn-lt"/>
                <a:ea typeface="楷体" panose="02010609060101010101" pitchFamily="49" charset="-122"/>
              </a:rPr>
              <a:t>AllocateOneBlock</a:t>
            </a: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()  {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    if  (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S[0] ==1) {          </a:t>
            </a:r>
            <a:r>
              <a:rPr lang="en-US" altLang="zh-CN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// </a:t>
            </a:r>
            <a:r>
              <a:rPr lang="zh-CN" altLang="en-US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这一组中</a:t>
            </a:r>
            <a:r>
              <a:rPr lang="zh-CN" altLang="en-US" sz="16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只剩</a:t>
            </a:r>
            <a:r>
              <a:rPr lang="zh-CN" altLang="en-US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一个空闲块</a:t>
            </a:r>
            <a:endParaRPr lang="en-US" altLang="zh-CN" sz="1600" dirty="0">
              <a:solidFill>
                <a:srgbClr val="0000FF"/>
              </a:solidFill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         if  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(S[1</a:t>
            </a: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] == 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0) 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                 return ERROR;    </a:t>
            </a:r>
            <a:r>
              <a:rPr lang="en-US" altLang="zh-CN" sz="16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//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分配失败，进程等</a:t>
            </a:r>
            <a:r>
              <a:rPr lang="zh-CN" altLang="en-US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待</a:t>
            </a:r>
            <a:endParaRPr lang="zh-CN" altLang="en-US" sz="1600" dirty="0">
              <a:solidFill>
                <a:srgbClr val="0000FF"/>
              </a:solidFill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zh-CN" altLang="en-US" sz="1600" dirty="0">
                <a:latin typeface="+mn-lt"/>
                <a:ea typeface="楷体" panose="02010609060101010101" pitchFamily="49" charset="-122"/>
              </a:rPr>
              <a:t>          </a:t>
            </a: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else  { </a:t>
            </a:r>
            <a:endParaRPr lang="en-US" altLang="zh-CN" sz="1600" dirty="0" smtClean="0"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                 r </a:t>
            </a: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= S[1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];       </a:t>
            </a:r>
            <a:r>
              <a:rPr lang="en-US" altLang="zh-CN" sz="16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//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取出该组中的最后一块，返回给用户</a:t>
            </a:r>
            <a:endParaRPr lang="en-US" altLang="zh-CN" sz="1600" dirty="0">
              <a:solidFill>
                <a:srgbClr val="0000FF"/>
              </a:solidFill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                 </a:t>
            </a:r>
            <a:r>
              <a:rPr lang="en-US" altLang="zh-CN" sz="1600" dirty="0" err="1" smtClean="0">
                <a:latin typeface="+mn-lt"/>
                <a:ea typeface="楷体" panose="02010609060101010101" pitchFamily="49" charset="-122"/>
              </a:rPr>
              <a:t>ReadABlock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(S</a:t>
            </a: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, r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);      </a:t>
            </a:r>
            <a:r>
              <a:rPr lang="en-US" altLang="zh-CN" sz="16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//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将上一组的“组长块”读入到超级块</a:t>
            </a:r>
            <a:endParaRPr lang="en-US" altLang="zh-CN" sz="1600" dirty="0">
              <a:solidFill>
                <a:srgbClr val="0000FF"/>
              </a:solidFill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                 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return </a:t>
            </a: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r; </a:t>
            </a:r>
            <a:endParaRPr lang="en-US" altLang="zh-CN" sz="1600" dirty="0" smtClean="0"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         }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      }</a:t>
            </a:r>
            <a:endParaRPr lang="en-US" altLang="zh-CN" sz="1600" dirty="0"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    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 else  {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          r </a:t>
            </a: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= S[S[0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]];        </a:t>
            </a:r>
            <a:r>
              <a:rPr lang="en-US" altLang="zh-CN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// </a:t>
            </a:r>
            <a:r>
              <a:rPr lang="zh-CN" altLang="en-US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多于</a:t>
            </a:r>
            <a:r>
              <a:rPr lang="en-US" altLang="zh-CN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1</a:t>
            </a:r>
            <a:r>
              <a:rPr lang="zh-CN" altLang="en-US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个空闲块，取出栈顶空闲块</a:t>
            </a:r>
            <a:endParaRPr lang="en-US" altLang="zh-CN" sz="1600" dirty="0">
              <a:solidFill>
                <a:srgbClr val="0000FF"/>
              </a:solidFill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          S[0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]--;                </a:t>
            </a:r>
            <a:r>
              <a:rPr lang="en-US" altLang="zh-CN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// </a:t>
            </a:r>
            <a:r>
              <a:rPr lang="zh-CN" altLang="en-US" sz="1600" dirty="0" smtClean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调整超级块中的空闲块个数信息</a:t>
            </a:r>
            <a:endParaRPr lang="en-US" altLang="zh-CN" sz="1600" dirty="0">
              <a:solidFill>
                <a:srgbClr val="0000FF"/>
              </a:solidFill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          return r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;            </a:t>
            </a:r>
            <a:r>
              <a:rPr lang="en-US" altLang="zh-CN" sz="16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//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将取出的空闲块返回给用户</a:t>
            </a:r>
            <a:endParaRPr lang="en-US" altLang="zh-CN" sz="1600" dirty="0">
              <a:solidFill>
                <a:srgbClr val="0000FF"/>
              </a:solidFill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>
                <a:latin typeface="+mn-lt"/>
                <a:ea typeface="楷体" panose="02010609060101010101" pitchFamily="49" charset="-122"/>
              </a:rPr>
              <a:t>   </a:t>
            </a: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    }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zh-CN" sz="1600" dirty="0" smtClean="0">
                <a:latin typeface="+mn-lt"/>
                <a:ea typeface="楷体" panose="02010609060101010101" pitchFamily="49" charset="-122"/>
              </a:rPr>
              <a:t>}        </a:t>
            </a:r>
            <a:endParaRPr lang="en-US" altLang="zh-CN" sz="1600" dirty="0">
              <a:latin typeface="+mn-lt"/>
              <a:ea typeface="楷体" panose="02010609060101010101" pitchFamily="49" charset="-122"/>
            </a:endParaRPr>
          </a:p>
        </p:txBody>
      </p:sp>
      <p:grpSp>
        <p:nvGrpSpPr>
          <p:cNvPr id="8" name="Group 246"/>
          <p:cNvGrpSpPr>
            <a:grpSpLocks/>
          </p:cNvGrpSpPr>
          <p:nvPr/>
        </p:nvGrpSpPr>
        <p:grpSpPr bwMode="auto">
          <a:xfrm>
            <a:off x="4355976" y="1130994"/>
            <a:ext cx="4610100" cy="2586038"/>
            <a:chOff x="2788" y="618"/>
            <a:chExt cx="2904" cy="1629"/>
          </a:xfrm>
        </p:grpSpPr>
        <p:sp>
          <p:nvSpPr>
            <p:cNvPr id="9" name="Text Box 167"/>
            <p:cNvSpPr txBox="1">
              <a:spLocks noChangeArrowheads="1"/>
            </p:cNvSpPr>
            <p:nvPr/>
          </p:nvSpPr>
          <p:spPr bwMode="auto">
            <a:xfrm>
              <a:off x="2788" y="1262"/>
              <a:ext cx="58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空闲块号栈</a:t>
              </a:r>
            </a:p>
          </p:txBody>
        </p:sp>
        <p:sp>
          <p:nvSpPr>
            <p:cNvPr id="10" name="Rectangle 168"/>
            <p:cNvSpPr>
              <a:spLocks noChangeArrowheads="1"/>
            </p:cNvSpPr>
            <p:nvPr/>
          </p:nvSpPr>
          <p:spPr bwMode="auto">
            <a:xfrm>
              <a:off x="3523" y="856"/>
              <a:ext cx="213" cy="101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40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150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149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148</a:t>
              </a:r>
            </a:p>
            <a:p>
              <a:pPr algn="ctr"/>
              <a:r>
                <a:rPr lang="zh-CN" altLang="zh-CN" sz="1000" b="1">
                  <a:ea typeface="楷体" panose="02010609060101010101" pitchFamily="49" charset="-122"/>
                </a:rPr>
                <a:t>︰</a:t>
              </a:r>
              <a:endParaRPr lang="en-US" altLang="zh-CN" sz="1000" b="1">
                <a:ea typeface="楷体" panose="02010609060101010101" pitchFamily="49" charset="-122"/>
              </a:endParaRP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112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111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</p:txBody>
        </p:sp>
        <p:sp>
          <p:nvSpPr>
            <p:cNvPr id="11" name="Rectangle 169"/>
            <p:cNvSpPr>
              <a:spLocks noChangeArrowheads="1"/>
            </p:cNvSpPr>
            <p:nvPr/>
          </p:nvSpPr>
          <p:spPr bwMode="auto">
            <a:xfrm>
              <a:off x="3976" y="732"/>
              <a:ext cx="213" cy="54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200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199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198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151</a:t>
              </a:r>
            </a:p>
          </p:txBody>
        </p:sp>
        <p:sp>
          <p:nvSpPr>
            <p:cNvPr id="12" name="Rectangle 170"/>
            <p:cNvSpPr>
              <a:spLocks noChangeArrowheads="1"/>
            </p:cNvSpPr>
            <p:nvPr/>
          </p:nvSpPr>
          <p:spPr bwMode="auto">
            <a:xfrm>
              <a:off x="3976" y="1376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149</a:t>
              </a:r>
            </a:p>
          </p:txBody>
        </p:sp>
        <p:sp>
          <p:nvSpPr>
            <p:cNvPr id="13" name="Rectangle 171"/>
            <p:cNvSpPr>
              <a:spLocks noChangeArrowheads="1"/>
            </p:cNvSpPr>
            <p:nvPr/>
          </p:nvSpPr>
          <p:spPr bwMode="auto">
            <a:xfrm>
              <a:off x="3981" y="1812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111</a:t>
              </a:r>
            </a:p>
          </p:txBody>
        </p:sp>
        <p:sp>
          <p:nvSpPr>
            <p:cNvPr id="14" name="Rectangle 172"/>
            <p:cNvSpPr>
              <a:spLocks noChangeArrowheads="1"/>
            </p:cNvSpPr>
            <p:nvPr/>
          </p:nvSpPr>
          <p:spPr bwMode="auto">
            <a:xfrm>
              <a:off x="4424" y="727"/>
              <a:ext cx="213" cy="54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249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248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201</a:t>
              </a:r>
            </a:p>
          </p:txBody>
        </p:sp>
        <p:sp>
          <p:nvSpPr>
            <p:cNvPr id="15" name="Rectangle 173"/>
            <p:cNvSpPr>
              <a:spLocks noChangeArrowheads="1"/>
            </p:cNvSpPr>
            <p:nvPr/>
          </p:nvSpPr>
          <p:spPr bwMode="auto">
            <a:xfrm>
              <a:off x="4424" y="1376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199</a:t>
              </a:r>
            </a:p>
          </p:txBody>
        </p:sp>
        <p:sp>
          <p:nvSpPr>
            <p:cNvPr id="16" name="Rectangle 174"/>
            <p:cNvSpPr>
              <a:spLocks noChangeArrowheads="1"/>
            </p:cNvSpPr>
            <p:nvPr/>
          </p:nvSpPr>
          <p:spPr bwMode="auto">
            <a:xfrm>
              <a:off x="4424" y="1812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151</a:t>
              </a:r>
            </a:p>
          </p:txBody>
        </p:sp>
        <p:sp>
          <p:nvSpPr>
            <p:cNvPr id="17" name="Rectangle 175"/>
            <p:cNvSpPr>
              <a:spLocks noChangeArrowheads="1"/>
            </p:cNvSpPr>
            <p:nvPr/>
          </p:nvSpPr>
          <p:spPr bwMode="auto">
            <a:xfrm>
              <a:off x="4946" y="732"/>
              <a:ext cx="213" cy="54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3999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3998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3951</a:t>
              </a:r>
            </a:p>
          </p:txBody>
        </p:sp>
        <p:sp>
          <p:nvSpPr>
            <p:cNvPr id="18" name="Rectangle 176"/>
            <p:cNvSpPr>
              <a:spLocks noChangeArrowheads="1"/>
            </p:cNvSpPr>
            <p:nvPr/>
          </p:nvSpPr>
          <p:spPr bwMode="auto">
            <a:xfrm>
              <a:off x="4946" y="1376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3949</a:t>
              </a:r>
            </a:p>
          </p:txBody>
        </p:sp>
        <p:sp>
          <p:nvSpPr>
            <p:cNvPr id="19" name="Rectangle 177"/>
            <p:cNvSpPr>
              <a:spLocks noChangeArrowheads="1"/>
            </p:cNvSpPr>
            <p:nvPr/>
          </p:nvSpPr>
          <p:spPr bwMode="auto">
            <a:xfrm>
              <a:off x="4946" y="1812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3901</a:t>
              </a:r>
            </a:p>
          </p:txBody>
        </p:sp>
        <p:sp>
          <p:nvSpPr>
            <p:cNvPr id="20" name="Rectangle 178"/>
            <p:cNvSpPr>
              <a:spLocks noChangeArrowheads="1"/>
            </p:cNvSpPr>
            <p:nvPr/>
          </p:nvSpPr>
          <p:spPr bwMode="auto">
            <a:xfrm>
              <a:off x="5383" y="1366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3999</a:t>
              </a:r>
            </a:p>
          </p:txBody>
        </p:sp>
        <p:sp>
          <p:nvSpPr>
            <p:cNvPr id="21" name="Rectangle 179"/>
            <p:cNvSpPr>
              <a:spLocks noChangeArrowheads="1"/>
            </p:cNvSpPr>
            <p:nvPr/>
          </p:nvSpPr>
          <p:spPr bwMode="auto">
            <a:xfrm>
              <a:off x="5383" y="1802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3951</a:t>
              </a:r>
            </a:p>
          </p:txBody>
        </p:sp>
        <p:sp>
          <p:nvSpPr>
            <p:cNvPr id="22" name="Text Box 180"/>
            <p:cNvSpPr txBox="1">
              <a:spLocks noChangeArrowheads="1"/>
            </p:cNvSpPr>
            <p:nvPr/>
          </p:nvSpPr>
          <p:spPr bwMode="auto">
            <a:xfrm>
              <a:off x="3321" y="915"/>
              <a:ext cx="214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0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1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2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38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39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</p:txBody>
        </p:sp>
        <p:sp>
          <p:nvSpPr>
            <p:cNvPr id="23" name="AutoShape 181"/>
            <p:cNvSpPr>
              <a:spLocks/>
            </p:cNvSpPr>
            <p:nvPr/>
          </p:nvSpPr>
          <p:spPr bwMode="auto">
            <a:xfrm>
              <a:off x="3321" y="998"/>
              <a:ext cx="107" cy="668"/>
            </a:xfrm>
            <a:prstGeom prst="leftBrace">
              <a:avLst>
                <a:gd name="adj1" fmla="val 520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24" name="Text Box 182"/>
            <p:cNvSpPr txBox="1">
              <a:spLocks noChangeArrowheads="1"/>
            </p:cNvSpPr>
            <p:nvPr/>
          </p:nvSpPr>
          <p:spPr bwMode="auto">
            <a:xfrm>
              <a:off x="3122" y="925"/>
              <a:ext cx="26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栈深</a:t>
              </a:r>
            </a:p>
          </p:txBody>
        </p:sp>
        <p:sp>
          <p:nvSpPr>
            <p:cNvPr id="25" name="Line 183"/>
            <p:cNvSpPr>
              <a:spLocks noChangeShapeType="1"/>
            </p:cNvSpPr>
            <p:nvPr/>
          </p:nvSpPr>
          <p:spPr bwMode="auto">
            <a:xfrm>
              <a:off x="3335" y="992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26" name="Text Box 184"/>
            <p:cNvSpPr txBox="1">
              <a:spLocks noChangeArrowheads="1"/>
            </p:cNvSpPr>
            <p:nvPr/>
          </p:nvSpPr>
          <p:spPr bwMode="auto">
            <a:xfrm>
              <a:off x="3975" y="618"/>
              <a:ext cx="21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150</a:t>
              </a:r>
            </a:p>
          </p:txBody>
        </p:sp>
        <p:sp>
          <p:nvSpPr>
            <p:cNvPr id="27" name="Text Box 185"/>
            <p:cNvSpPr txBox="1">
              <a:spLocks noChangeArrowheads="1"/>
            </p:cNvSpPr>
            <p:nvPr/>
          </p:nvSpPr>
          <p:spPr bwMode="auto">
            <a:xfrm>
              <a:off x="4424" y="618"/>
              <a:ext cx="21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200</a:t>
              </a:r>
            </a:p>
          </p:txBody>
        </p:sp>
        <p:sp>
          <p:nvSpPr>
            <p:cNvPr id="28" name="Text Box 186"/>
            <p:cNvSpPr txBox="1">
              <a:spLocks noChangeArrowheads="1"/>
            </p:cNvSpPr>
            <p:nvPr/>
          </p:nvSpPr>
          <p:spPr bwMode="auto">
            <a:xfrm>
              <a:off x="4939" y="623"/>
              <a:ext cx="24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3950</a:t>
              </a:r>
            </a:p>
          </p:txBody>
        </p:sp>
        <p:sp>
          <p:nvSpPr>
            <p:cNvPr id="29" name="Text Box 187"/>
            <p:cNvSpPr txBox="1">
              <a:spLocks noChangeArrowheads="1"/>
            </p:cNvSpPr>
            <p:nvPr/>
          </p:nvSpPr>
          <p:spPr bwMode="auto">
            <a:xfrm>
              <a:off x="5223" y="632"/>
              <a:ext cx="34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组长块</a:t>
              </a:r>
            </a:p>
          </p:txBody>
        </p:sp>
        <p:sp>
          <p:nvSpPr>
            <p:cNvPr id="30" name="Text Box 188"/>
            <p:cNvSpPr txBox="1">
              <a:spLocks noChangeArrowheads="1"/>
            </p:cNvSpPr>
            <p:nvPr/>
          </p:nvSpPr>
          <p:spPr bwMode="auto">
            <a:xfrm>
              <a:off x="3911" y="2093"/>
              <a:ext cx="34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第</a:t>
              </a:r>
              <a:r>
                <a:rPr lang="en-US" altLang="zh-CN" sz="1000" b="1">
                  <a:ea typeface="楷体" panose="02010609060101010101" pitchFamily="49" charset="-122"/>
                </a:rPr>
                <a:t>78</a:t>
              </a:r>
              <a:r>
                <a:rPr lang="zh-CN" altLang="en-US" sz="10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1" name="Text Box 189"/>
            <p:cNvSpPr txBox="1">
              <a:spLocks noChangeArrowheads="1"/>
            </p:cNvSpPr>
            <p:nvPr/>
          </p:nvSpPr>
          <p:spPr bwMode="auto">
            <a:xfrm>
              <a:off x="4377" y="2093"/>
              <a:ext cx="3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第</a:t>
              </a:r>
              <a:r>
                <a:rPr lang="en-US" altLang="zh-CN" sz="1000" b="1">
                  <a:ea typeface="楷体" panose="02010609060101010101" pitchFamily="49" charset="-122"/>
                </a:rPr>
                <a:t>77</a:t>
              </a:r>
              <a:r>
                <a:rPr lang="zh-CN" altLang="en-US" sz="10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2" name="Text Box 190"/>
            <p:cNvSpPr txBox="1">
              <a:spLocks noChangeArrowheads="1"/>
            </p:cNvSpPr>
            <p:nvPr/>
          </p:nvSpPr>
          <p:spPr bwMode="auto">
            <a:xfrm>
              <a:off x="4913" y="2091"/>
              <a:ext cx="34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第</a:t>
              </a:r>
              <a:r>
                <a:rPr lang="en-US" altLang="zh-CN" sz="1000" b="1">
                  <a:ea typeface="楷体" panose="02010609060101010101" pitchFamily="49" charset="-122"/>
                </a:rPr>
                <a:t>2</a:t>
              </a:r>
              <a:r>
                <a:rPr lang="zh-CN" altLang="en-US" sz="10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3" name="Text Box 191"/>
            <p:cNvSpPr txBox="1">
              <a:spLocks noChangeArrowheads="1"/>
            </p:cNvSpPr>
            <p:nvPr/>
          </p:nvSpPr>
          <p:spPr bwMode="auto">
            <a:xfrm>
              <a:off x="5347" y="2087"/>
              <a:ext cx="34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第</a:t>
              </a:r>
              <a:r>
                <a:rPr lang="en-US" altLang="zh-CN" sz="1000" b="1">
                  <a:ea typeface="楷体" panose="02010609060101010101" pitchFamily="49" charset="-122"/>
                </a:rPr>
                <a:t>1</a:t>
              </a:r>
              <a:r>
                <a:rPr lang="zh-CN" altLang="en-US" sz="10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4" name="Line 192"/>
            <p:cNvSpPr>
              <a:spLocks noChangeShapeType="1"/>
            </p:cNvSpPr>
            <p:nvPr/>
          </p:nvSpPr>
          <p:spPr bwMode="auto">
            <a:xfrm>
              <a:off x="3523" y="95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5" name="Line 193"/>
            <p:cNvSpPr>
              <a:spLocks noChangeShapeType="1"/>
            </p:cNvSpPr>
            <p:nvPr/>
          </p:nvSpPr>
          <p:spPr bwMode="auto">
            <a:xfrm>
              <a:off x="3523" y="102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6" name="Line 194"/>
            <p:cNvSpPr>
              <a:spLocks noChangeShapeType="1"/>
            </p:cNvSpPr>
            <p:nvPr/>
          </p:nvSpPr>
          <p:spPr bwMode="auto">
            <a:xfrm>
              <a:off x="3524" y="1123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7" name="Line 195"/>
            <p:cNvSpPr>
              <a:spLocks noChangeShapeType="1"/>
            </p:cNvSpPr>
            <p:nvPr/>
          </p:nvSpPr>
          <p:spPr bwMode="auto">
            <a:xfrm>
              <a:off x="3523" y="1218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8" name="Line 196"/>
            <p:cNvSpPr>
              <a:spLocks noChangeShapeType="1"/>
            </p:cNvSpPr>
            <p:nvPr/>
          </p:nvSpPr>
          <p:spPr bwMode="auto">
            <a:xfrm>
              <a:off x="3523" y="1321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9" name="Line 197"/>
            <p:cNvSpPr>
              <a:spLocks noChangeShapeType="1"/>
            </p:cNvSpPr>
            <p:nvPr/>
          </p:nvSpPr>
          <p:spPr bwMode="auto">
            <a:xfrm>
              <a:off x="3524" y="1405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0" name="Line 198"/>
            <p:cNvSpPr>
              <a:spLocks noChangeShapeType="1"/>
            </p:cNvSpPr>
            <p:nvPr/>
          </p:nvSpPr>
          <p:spPr bwMode="auto">
            <a:xfrm>
              <a:off x="3524" y="151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1" name="Line 199"/>
            <p:cNvSpPr>
              <a:spLocks noChangeShapeType="1"/>
            </p:cNvSpPr>
            <p:nvPr/>
          </p:nvSpPr>
          <p:spPr bwMode="auto">
            <a:xfrm>
              <a:off x="3524" y="159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2" name="Line 200"/>
            <p:cNvSpPr>
              <a:spLocks noChangeShapeType="1"/>
            </p:cNvSpPr>
            <p:nvPr/>
          </p:nvSpPr>
          <p:spPr bwMode="auto">
            <a:xfrm>
              <a:off x="3524" y="1693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3" name="Line 201"/>
            <p:cNvSpPr>
              <a:spLocks noChangeShapeType="1"/>
            </p:cNvSpPr>
            <p:nvPr/>
          </p:nvSpPr>
          <p:spPr bwMode="auto">
            <a:xfrm>
              <a:off x="3523" y="1817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4" name="Line 202"/>
            <p:cNvSpPr>
              <a:spLocks noChangeShapeType="1"/>
            </p:cNvSpPr>
            <p:nvPr/>
          </p:nvSpPr>
          <p:spPr bwMode="auto">
            <a:xfrm>
              <a:off x="3976" y="831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5" name="Line 203"/>
            <p:cNvSpPr>
              <a:spLocks noChangeShapeType="1"/>
            </p:cNvSpPr>
            <p:nvPr/>
          </p:nvSpPr>
          <p:spPr bwMode="auto">
            <a:xfrm>
              <a:off x="3976" y="916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6" name="Line 204"/>
            <p:cNvSpPr>
              <a:spLocks noChangeShapeType="1"/>
            </p:cNvSpPr>
            <p:nvPr/>
          </p:nvSpPr>
          <p:spPr bwMode="auto">
            <a:xfrm>
              <a:off x="3971" y="100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7" name="Line 205"/>
            <p:cNvSpPr>
              <a:spLocks noChangeShapeType="1"/>
            </p:cNvSpPr>
            <p:nvPr/>
          </p:nvSpPr>
          <p:spPr bwMode="auto">
            <a:xfrm>
              <a:off x="3977" y="108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8" name="Line 206"/>
            <p:cNvSpPr>
              <a:spLocks noChangeShapeType="1"/>
            </p:cNvSpPr>
            <p:nvPr/>
          </p:nvSpPr>
          <p:spPr bwMode="auto">
            <a:xfrm>
              <a:off x="3971" y="1173"/>
              <a:ext cx="2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9" name="Line 207"/>
            <p:cNvSpPr>
              <a:spLocks noChangeShapeType="1"/>
            </p:cNvSpPr>
            <p:nvPr/>
          </p:nvSpPr>
          <p:spPr bwMode="auto">
            <a:xfrm>
              <a:off x="4428" y="821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0" name="Line 208"/>
            <p:cNvSpPr>
              <a:spLocks noChangeShapeType="1"/>
            </p:cNvSpPr>
            <p:nvPr/>
          </p:nvSpPr>
          <p:spPr bwMode="auto">
            <a:xfrm>
              <a:off x="4428" y="906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1" name="Line 209"/>
            <p:cNvSpPr>
              <a:spLocks noChangeShapeType="1"/>
            </p:cNvSpPr>
            <p:nvPr/>
          </p:nvSpPr>
          <p:spPr bwMode="auto">
            <a:xfrm>
              <a:off x="4423" y="99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2" name="Line 210"/>
            <p:cNvSpPr>
              <a:spLocks noChangeShapeType="1"/>
            </p:cNvSpPr>
            <p:nvPr/>
          </p:nvSpPr>
          <p:spPr bwMode="auto">
            <a:xfrm>
              <a:off x="4429" y="107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3" name="Line 211"/>
            <p:cNvSpPr>
              <a:spLocks noChangeShapeType="1"/>
            </p:cNvSpPr>
            <p:nvPr/>
          </p:nvSpPr>
          <p:spPr bwMode="auto">
            <a:xfrm>
              <a:off x="4424" y="1163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4" name="Line 212"/>
            <p:cNvSpPr>
              <a:spLocks noChangeShapeType="1"/>
            </p:cNvSpPr>
            <p:nvPr/>
          </p:nvSpPr>
          <p:spPr bwMode="auto">
            <a:xfrm>
              <a:off x="4945" y="831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5" name="Line 213"/>
            <p:cNvSpPr>
              <a:spLocks noChangeShapeType="1"/>
            </p:cNvSpPr>
            <p:nvPr/>
          </p:nvSpPr>
          <p:spPr bwMode="auto">
            <a:xfrm>
              <a:off x="4945" y="916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6" name="Line 214"/>
            <p:cNvSpPr>
              <a:spLocks noChangeShapeType="1"/>
            </p:cNvSpPr>
            <p:nvPr/>
          </p:nvSpPr>
          <p:spPr bwMode="auto">
            <a:xfrm>
              <a:off x="4940" y="100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7" name="Line 215"/>
            <p:cNvSpPr>
              <a:spLocks noChangeShapeType="1"/>
            </p:cNvSpPr>
            <p:nvPr/>
          </p:nvSpPr>
          <p:spPr bwMode="auto">
            <a:xfrm>
              <a:off x="4946" y="108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8" name="Line 216"/>
            <p:cNvSpPr>
              <a:spLocks noChangeShapeType="1"/>
            </p:cNvSpPr>
            <p:nvPr/>
          </p:nvSpPr>
          <p:spPr bwMode="auto">
            <a:xfrm>
              <a:off x="4940" y="1173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9" name="Freeform 217"/>
            <p:cNvSpPr>
              <a:spLocks/>
            </p:cNvSpPr>
            <p:nvPr/>
          </p:nvSpPr>
          <p:spPr bwMode="auto">
            <a:xfrm>
              <a:off x="3721" y="781"/>
              <a:ext cx="239" cy="298"/>
            </a:xfrm>
            <a:custGeom>
              <a:avLst/>
              <a:gdLst>
                <a:gd name="T0" fmla="*/ 0 w 408"/>
                <a:gd name="T1" fmla="*/ 545 h 545"/>
                <a:gd name="T2" fmla="*/ 227 w 408"/>
                <a:gd name="T3" fmla="*/ 136 h 545"/>
                <a:gd name="T4" fmla="*/ 408 w 408"/>
                <a:gd name="T5" fmla="*/ 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545">
                  <a:moveTo>
                    <a:pt x="0" y="545"/>
                  </a:moveTo>
                  <a:cubicBezTo>
                    <a:pt x="79" y="386"/>
                    <a:pt x="159" y="227"/>
                    <a:pt x="227" y="136"/>
                  </a:cubicBezTo>
                  <a:cubicBezTo>
                    <a:pt x="295" y="45"/>
                    <a:pt x="378" y="23"/>
                    <a:pt x="4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0" name="Line 218"/>
            <p:cNvSpPr>
              <a:spLocks noChangeShapeType="1"/>
            </p:cNvSpPr>
            <p:nvPr/>
          </p:nvSpPr>
          <p:spPr bwMode="auto">
            <a:xfrm>
              <a:off x="3721" y="1153"/>
              <a:ext cx="253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1" name="Freeform 219"/>
            <p:cNvSpPr>
              <a:spLocks/>
            </p:cNvSpPr>
            <p:nvPr/>
          </p:nvSpPr>
          <p:spPr bwMode="auto">
            <a:xfrm>
              <a:off x="3710" y="1277"/>
              <a:ext cx="293" cy="446"/>
            </a:xfrm>
            <a:custGeom>
              <a:avLst/>
              <a:gdLst>
                <a:gd name="T0" fmla="*/ 0 w 499"/>
                <a:gd name="T1" fmla="*/ 0 h 816"/>
                <a:gd name="T2" fmla="*/ 272 w 499"/>
                <a:gd name="T3" fmla="*/ 589 h 816"/>
                <a:gd name="T4" fmla="*/ 499 w 499"/>
                <a:gd name="T5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816">
                  <a:moveTo>
                    <a:pt x="0" y="0"/>
                  </a:moveTo>
                  <a:cubicBezTo>
                    <a:pt x="94" y="226"/>
                    <a:pt x="189" y="453"/>
                    <a:pt x="272" y="589"/>
                  </a:cubicBezTo>
                  <a:cubicBezTo>
                    <a:pt x="355" y="725"/>
                    <a:pt x="461" y="778"/>
                    <a:pt x="499" y="8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2" name="Line 220"/>
            <p:cNvSpPr>
              <a:spLocks noChangeShapeType="1"/>
            </p:cNvSpPr>
            <p:nvPr/>
          </p:nvSpPr>
          <p:spPr bwMode="auto">
            <a:xfrm>
              <a:off x="3721" y="1450"/>
              <a:ext cx="79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3" name="Freeform 221"/>
            <p:cNvSpPr>
              <a:spLocks/>
            </p:cNvSpPr>
            <p:nvPr/>
          </p:nvSpPr>
          <p:spPr bwMode="auto">
            <a:xfrm>
              <a:off x="3715" y="1555"/>
              <a:ext cx="266" cy="297"/>
            </a:xfrm>
            <a:custGeom>
              <a:avLst/>
              <a:gdLst>
                <a:gd name="T0" fmla="*/ 0 w 499"/>
                <a:gd name="T1" fmla="*/ 0 h 544"/>
                <a:gd name="T2" fmla="*/ 227 w 499"/>
                <a:gd name="T3" fmla="*/ 272 h 544"/>
                <a:gd name="T4" fmla="*/ 499 w 499"/>
                <a:gd name="T5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544">
                  <a:moveTo>
                    <a:pt x="0" y="0"/>
                  </a:moveTo>
                  <a:cubicBezTo>
                    <a:pt x="72" y="90"/>
                    <a:pt x="144" y="181"/>
                    <a:pt x="227" y="272"/>
                  </a:cubicBezTo>
                  <a:cubicBezTo>
                    <a:pt x="310" y="363"/>
                    <a:pt x="454" y="499"/>
                    <a:pt x="499" y="5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4" name="Line 222"/>
            <p:cNvSpPr>
              <a:spLocks noChangeShapeType="1"/>
            </p:cNvSpPr>
            <p:nvPr/>
          </p:nvSpPr>
          <p:spPr bwMode="auto">
            <a:xfrm flipV="1">
              <a:off x="4173" y="781"/>
              <a:ext cx="24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5" name="Freeform 223"/>
            <p:cNvSpPr>
              <a:spLocks/>
            </p:cNvSpPr>
            <p:nvPr/>
          </p:nvSpPr>
          <p:spPr bwMode="auto">
            <a:xfrm>
              <a:off x="4173" y="955"/>
              <a:ext cx="240" cy="471"/>
            </a:xfrm>
            <a:custGeom>
              <a:avLst/>
              <a:gdLst>
                <a:gd name="T0" fmla="*/ 0 w 408"/>
                <a:gd name="T1" fmla="*/ 0 h 862"/>
                <a:gd name="T2" fmla="*/ 182 w 408"/>
                <a:gd name="T3" fmla="*/ 635 h 862"/>
                <a:gd name="T4" fmla="*/ 408 w 408"/>
                <a:gd name="T5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862">
                  <a:moveTo>
                    <a:pt x="0" y="0"/>
                  </a:moveTo>
                  <a:cubicBezTo>
                    <a:pt x="57" y="245"/>
                    <a:pt x="114" y="491"/>
                    <a:pt x="182" y="635"/>
                  </a:cubicBezTo>
                  <a:cubicBezTo>
                    <a:pt x="250" y="779"/>
                    <a:pt x="370" y="824"/>
                    <a:pt x="408" y="86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6" name="Freeform 224"/>
            <p:cNvSpPr>
              <a:spLocks/>
            </p:cNvSpPr>
            <p:nvPr/>
          </p:nvSpPr>
          <p:spPr bwMode="auto">
            <a:xfrm>
              <a:off x="4147" y="1029"/>
              <a:ext cx="293" cy="694"/>
            </a:xfrm>
            <a:custGeom>
              <a:avLst/>
              <a:gdLst>
                <a:gd name="T0" fmla="*/ 0 w 499"/>
                <a:gd name="T1" fmla="*/ 0 h 1270"/>
                <a:gd name="T2" fmla="*/ 227 w 499"/>
                <a:gd name="T3" fmla="*/ 816 h 1270"/>
                <a:gd name="T4" fmla="*/ 499 w 499"/>
                <a:gd name="T5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1270">
                  <a:moveTo>
                    <a:pt x="0" y="0"/>
                  </a:moveTo>
                  <a:cubicBezTo>
                    <a:pt x="72" y="302"/>
                    <a:pt x="144" y="604"/>
                    <a:pt x="227" y="816"/>
                  </a:cubicBezTo>
                  <a:cubicBezTo>
                    <a:pt x="310" y="1028"/>
                    <a:pt x="454" y="1194"/>
                    <a:pt x="499" y="12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7" name="Freeform 225"/>
            <p:cNvSpPr>
              <a:spLocks/>
            </p:cNvSpPr>
            <p:nvPr/>
          </p:nvSpPr>
          <p:spPr bwMode="auto">
            <a:xfrm>
              <a:off x="4163" y="1277"/>
              <a:ext cx="266" cy="569"/>
            </a:xfrm>
            <a:custGeom>
              <a:avLst/>
              <a:gdLst>
                <a:gd name="T0" fmla="*/ 0 w 453"/>
                <a:gd name="T1" fmla="*/ 0 h 1043"/>
                <a:gd name="T2" fmla="*/ 181 w 453"/>
                <a:gd name="T3" fmla="*/ 771 h 1043"/>
                <a:gd name="T4" fmla="*/ 453 w 453"/>
                <a:gd name="T5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3" h="1043">
                  <a:moveTo>
                    <a:pt x="0" y="0"/>
                  </a:moveTo>
                  <a:cubicBezTo>
                    <a:pt x="53" y="298"/>
                    <a:pt x="106" y="597"/>
                    <a:pt x="181" y="771"/>
                  </a:cubicBezTo>
                  <a:cubicBezTo>
                    <a:pt x="256" y="945"/>
                    <a:pt x="408" y="998"/>
                    <a:pt x="453" y="10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8" name="Line 226"/>
            <p:cNvSpPr>
              <a:spLocks noChangeShapeType="1"/>
            </p:cNvSpPr>
            <p:nvPr/>
          </p:nvSpPr>
          <p:spPr bwMode="auto">
            <a:xfrm flipV="1">
              <a:off x="4626" y="821"/>
              <a:ext cx="107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9" name="Line 227"/>
            <p:cNvSpPr>
              <a:spLocks noChangeShapeType="1"/>
            </p:cNvSpPr>
            <p:nvPr/>
          </p:nvSpPr>
          <p:spPr bwMode="auto">
            <a:xfrm>
              <a:off x="4616" y="940"/>
              <a:ext cx="133" cy="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0" name="Line 228"/>
            <p:cNvSpPr>
              <a:spLocks noChangeShapeType="1"/>
            </p:cNvSpPr>
            <p:nvPr/>
          </p:nvSpPr>
          <p:spPr bwMode="auto">
            <a:xfrm>
              <a:off x="4626" y="1029"/>
              <a:ext cx="80" cy="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1" name="Freeform 229"/>
            <p:cNvSpPr>
              <a:spLocks/>
            </p:cNvSpPr>
            <p:nvPr/>
          </p:nvSpPr>
          <p:spPr bwMode="auto">
            <a:xfrm>
              <a:off x="4600" y="1203"/>
              <a:ext cx="133" cy="123"/>
            </a:xfrm>
            <a:custGeom>
              <a:avLst/>
              <a:gdLst>
                <a:gd name="T0" fmla="*/ 0 w 227"/>
                <a:gd name="T1" fmla="*/ 0 h 226"/>
                <a:gd name="T2" fmla="*/ 181 w 227"/>
                <a:gd name="T3" fmla="*/ 136 h 226"/>
                <a:gd name="T4" fmla="*/ 227 w 227"/>
                <a:gd name="T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" h="226">
                  <a:moveTo>
                    <a:pt x="0" y="0"/>
                  </a:moveTo>
                  <a:cubicBezTo>
                    <a:pt x="71" y="49"/>
                    <a:pt x="143" y="98"/>
                    <a:pt x="181" y="136"/>
                  </a:cubicBezTo>
                  <a:cubicBezTo>
                    <a:pt x="219" y="174"/>
                    <a:pt x="219" y="211"/>
                    <a:pt x="227" y="22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2" name="Text Box 230"/>
            <p:cNvSpPr txBox="1">
              <a:spLocks noChangeArrowheads="1"/>
            </p:cNvSpPr>
            <p:nvPr/>
          </p:nvSpPr>
          <p:spPr bwMode="auto">
            <a:xfrm>
              <a:off x="4733" y="941"/>
              <a:ext cx="16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3" name="Text Box 231"/>
            <p:cNvSpPr txBox="1">
              <a:spLocks noChangeArrowheads="1"/>
            </p:cNvSpPr>
            <p:nvPr/>
          </p:nvSpPr>
          <p:spPr bwMode="auto">
            <a:xfrm>
              <a:off x="4728" y="1428"/>
              <a:ext cx="15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4" name="Text Box 232"/>
            <p:cNvSpPr txBox="1">
              <a:spLocks noChangeArrowheads="1"/>
            </p:cNvSpPr>
            <p:nvPr/>
          </p:nvSpPr>
          <p:spPr bwMode="auto">
            <a:xfrm>
              <a:off x="4728" y="1876"/>
              <a:ext cx="16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5" name="Freeform 233"/>
            <p:cNvSpPr>
              <a:spLocks/>
            </p:cNvSpPr>
            <p:nvPr/>
          </p:nvSpPr>
          <p:spPr bwMode="auto">
            <a:xfrm>
              <a:off x="5132" y="955"/>
              <a:ext cx="240" cy="512"/>
            </a:xfrm>
            <a:custGeom>
              <a:avLst/>
              <a:gdLst>
                <a:gd name="T0" fmla="*/ 0 w 408"/>
                <a:gd name="T1" fmla="*/ 0 h 937"/>
                <a:gd name="T2" fmla="*/ 227 w 408"/>
                <a:gd name="T3" fmla="*/ 181 h 937"/>
                <a:gd name="T4" fmla="*/ 318 w 408"/>
                <a:gd name="T5" fmla="*/ 816 h 937"/>
                <a:gd name="T6" fmla="*/ 408 w 408"/>
                <a:gd name="T7" fmla="*/ 907 h 9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8" h="937">
                  <a:moveTo>
                    <a:pt x="0" y="0"/>
                  </a:moveTo>
                  <a:cubicBezTo>
                    <a:pt x="87" y="22"/>
                    <a:pt x="174" y="45"/>
                    <a:pt x="227" y="181"/>
                  </a:cubicBezTo>
                  <a:cubicBezTo>
                    <a:pt x="280" y="317"/>
                    <a:pt x="288" y="695"/>
                    <a:pt x="318" y="816"/>
                  </a:cubicBezTo>
                  <a:cubicBezTo>
                    <a:pt x="348" y="937"/>
                    <a:pt x="393" y="892"/>
                    <a:pt x="408" y="90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6" name="Freeform 234"/>
            <p:cNvSpPr>
              <a:spLocks/>
            </p:cNvSpPr>
            <p:nvPr/>
          </p:nvSpPr>
          <p:spPr bwMode="auto">
            <a:xfrm>
              <a:off x="5132" y="1029"/>
              <a:ext cx="267" cy="702"/>
            </a:xfrm>
            <a:custGeom>
              <a:avLst/>
              <a:gdLst>
                <a:gd name="T0" fmla="*/ 0 w 454"/>
                <a:gd name="T1" fmla="*/ 0 h 1285"/>
                <a:gd name="T2" fmla="*/ 136 w 454"/>
                <a:gd name="T3" fmla="*/ 363 h 1285"/>
                <a:gd name="T4" fmla="*/ 272 w 454"/>
                <a:gd name="T5" fmla="*/ 1134 h 1285"/>
                <a:gd name="T6" fmla="*/ 454 w 454"/>
                <a:gd name="T7" fmla="*/ 1270 h 1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4" h="1285">
                  <a:moveTo>
                    <a:pt x="0" y="0"/>
                  </a:moveTo>
                  <a:cubicBezTo>
                    <a:pt x="45" y="87"/>
                    <a:pt x="91" y="174"/>
                    <a:pt x="136" y="363"/>
                  </a:cubicBezTo>
                  <a:cubicBezTo>
                    <a:pt x="181" y="552"/>
                    <a:pt x="219" y="983"/>
                    <a:pt x="272" y="1134"/>
                  </a:cubicBezTo>
                  <a:cubicBezTo>
                    <a:pt x="325" y="1285"/>
                    <a:pt x="424" y="1247"/>
                    <a:pt x="454" y="12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7" name="Freeform 235"/>
            <p:cNvSpPr>
              <a:spLocks/>
            </p:cNvSpPr>
            <p:nvPr/>
          </p:nvSpPr>
          <p:spPr bwMode="auto">
            <a:xfrm>
              <a:off x="5148" y="1272"/>
              <a:ext cx="240" cy="590"/>
            </a:xfrm>
            <a:custGeom>
              <a:avLst/>
              <a:gdLst>
                <a:gd name="T0" fmla="*/ 0 w 408"/>
                <a:gd name="T1" fmla="*/ 0 h 1081"/>
                <a:gd name="T2" fmla="*/ 136 w 408"/>
                <a:gd name="T3" fmla="*/ 544 h 1081"/>
                <a:gd name="T4" fmla="*/ 272 w 408"/>
                <a:gd name="T5" fmla="*/ 998 h 1081"/>
                <a:gd name="T6" fmla="*/ 408 w 408"/>
                <a:gd name="T7" fmla="*/ 1043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8" h="1081">
                  <a:moveTo>
                    <a:pt x="0" y="0"/>
                  </a:moveTo>
                  <a:cubicBezTo>
                    <a:pt x="45" y="189"/>
                    <a:pt x="91" y="378"/>
                    <a:pt x="136" y="544"/>
                  </a:cubicBezTo>
                  <a:cubicBezTo>
                    <a:pt x="181" y="710"/>
                    <a:pt x="227" y="915"/>
                    <a:pt x="272" y="998"/>
                  </a:cubicBezTo>
                  <a:cubicBezTo>
                    <a:pt x="317" y="1081"/>
                    <a:pt x="385" y="1036"/>
                    <a:pt x="408" y="10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8" name="Text Box 236"/>
            <p:cNvSpPr txBox="1">
              <a:spLocks noChangeArrowheads="1"/>
            </p:cNvSpPr>
            <p:nvPr/>
          </p:nvSpPr>
          <p:spPr bwMode="auto">
            <a:xfrm>
              <a:off x="3996" y="1706"/>
              <a:ext cx="213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9" name="Text Box 237"/>
            <p:cNvSpPr txBox="1">
              <a:spLocks noChangeArrowheads="1"/>
            </p:cNvSpPr>
            <p:nvPr/>
          </p:nvSpPr>
          <p:spPr bwMode="auto">
            <a:xfrm>
              <a:off x="4434" y="1709"/>
              <a:ext cx="213" cy="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80" name="Text Box 238"/>
            <p:cNvSpPr txBox="1">
              <a:spLocks noChangeArrowheads="1"/>
            </p:cNvSpPr>
            <p:nvPr/>
          </p:nvSpPr>
          <p:spPr bwMode="auto">
            <a:xfrm>
              <a:off x="4966" y="1706"/>
              <a:ext cx="213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81" name="Text Box 239"/>
            <p:cNvSpPr txBox="1">
              <a:spLocks noChangeArrowheads="1"/>
            </p:cNvSpPr>
            <p:nvPr/>
          </p:nvSpPr>
          <p:spPr bwMode="auto">
            <a:xfrm>
              <a:off x="5405" y="1709"/>
              <a:ext cx="213" cy="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82" name="AutoShape 240"/>
            <p:cNvSpPr>
              <a:spLocks noChangeArrowheads="1"/>
            </p:cNvSpPr>
            <p:nvPr/>
          </p:nvSpPr>
          <p:spPr bwMode="auto">
            <a:xfrm>
              <a:off x="3524" y="1812"/>
              <a:ext cx="213" cy="124"/>
            </a:xfrm>
            <a:prstGeom prst="flowChartDocumen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83" name="Line 241"/>
            <p:cNvSpPr>
              <a:spLocks noChangeShapeType="1"/>
            </p:cNvSpPr>
            <p:nvPr/>
          </p:nvSpPr>
          <p:spPr bwMode="auto">
            <a:xfrm>
              <a:off x="3524" y="1817"/>
              <a:ext cx="213" cy="0"/>
            </a:xfrm>
            <a:prstGeom prst="line">
              <a:avLst/>
            </a:prstGeom>
            <a:noFill/>
            <a:ln w="57150">
              <a:solidFill>
                <a:srgbClr val="FF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84" name="AutoShape 242"/>
            <p:cNvSpPr>
              <a:spLocks noChangeArrowheads="1"/>
            </p:cNvSpPr>
            <p:nvPr/>
          </p:nvSpPr>
          <p:spPr bwMode="auto">
            <a:xfrm>
              <a:off x="3523" y="795"/>
              <a:ext cx="213" cy="124"/>
            </a:xfrm>
            <a:prstGeom prst="flowChartPunchedCard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85" name="Line 243"/>
            <p:cNvSpPr>
              <a:spLocks noChangeShapeType="1"/>
            </p:cNvSpPr>
            <p:nvPr/>
          </p:nvSpPr>
          <p:spPr bwMode="auto">
            <a:xfrm>
              <a:off x="3523" y="915"/>
              <a:ext cx="212" cy="0"/>
            </a:xfrm>
            <a:prstGeom prst="line">
              <a:avLst/>
            </a:prstGeom>
            <a:noFill/>
            <a:ln w="57150">
              <a:solidFill>
                <a:srgbClr val="FF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86" name="Text Box 244"/>
            <p:cNvSpPr txBox="1">
              <a:spLocks noChangeArrowheads="1"/>
            </p:cNvSpPr>
            <p:nvPr/>
          </p:nvSpPr>
          <p:spPr bwMode="auto">
            <a:xfrm>
              <a:off x="3458" y="1931"/>
              <a:ext cx="348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超级块</a:t>
              </a:r>
            </a:p>
          </p:txBody>
        </p:sp>
        <p:sp>
          <p:nvSpPr>
            <p:cNvPr id="87" name="Text Box 245"/>
            <p:cNvSpPr txBox="1">
              <a:spLocks noChangeArrowheads="1"/>
            </p:cNvSpPr>
            <p:nvPr/>
          </p:nvSpPr>
          <p:spPr bwMode="auto">
            <a:xfrm>
              <a:off x="4733" y="2076"/>
              <a:ext cx="16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181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成组链法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空闲块的回收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B0B4-FFF1-4658-8799-3964888AFA9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53</a:t>
            </a:fld>
            <a:endParaRPr lang="zh-CN" alt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4529" y="2348880"/>
            <a:ext cx="4899025" cy="410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7350" indent="-387350">
              <a:spcBef>
                <a:spcPct val="20000"/>
              </a:spcBef>
              <a:buBlip>
                <a:blip r:embed="rId2"/>
              </a:buBlip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289050" indent="-533400">
              <a:spcBef>
                <a:spcPct val="20000"/>
              </a:spcBef>
              <a:buBlip>
                <a:blip r:embed="rId3"/>
              </a:buBlip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936750" indent="-457200">
              <a:spcBef>
                <a:spcPct val="20000"/>
              </a:spcBef>
              <a:buBlip>
                <a:blip r:embed="rId4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508250" indent="-3810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3079750" indent="-3810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536950" indent="-3810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94150" indent="-3810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451350" indent="-3810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908550" indent="-3810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AutoNum type="arabicPeriod"/>
            </a:pPr>
            <a:r>
              <a:rPr lang="en-US" altLang="zh-CN" sz="2000" dirty="0" err="1" smtClean="0">
                <a:latin typeface="+mn-lt"/>
                <a:ea typeface="楷体" panose="02010609060101010101" pitchFamily="49" charset="-122"/>
              </a:rPr>
              <a:t>FreeABlock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(</a:t>
            </a:r>
            <a:r>
              <a:rPr lang="en-US" altLang="zh-CN" sz="2000" dirty="0" err="1" smtClean="0">
                <a:latin typeface="+mn-lt"/>
                <a:ea typeface="楷体" panose="02010609060101010101" pitchFamily="49" charset="-122"/>
              </a:rPr>
              <a:t>int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2000" dirty="0" err="1" smtClean="0">
                <a:latin typeface="+mn-lt"/>
                <a:ea typeface="楷体" panose="02010609060101010101" pitchFamily="49" charset="-122"/>
              </a:rPr>
              <a:t>BlockID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)   </a:t>
            </a: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{</a:t>
            </a: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   if  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( S[0] == </a:t>
            </a:r>
            <a:r>
              <a:rPr lang="zh-CN" altLang="en-US" sz="2000" dirty="0" smtClean="0">
                <a:latin typeface="+mn-lt"/>
                <a:ea typeface="楷体" panose="02010609060101010101" pitchFamily="49" charset="-122"/>
              </a:rPr>
              <a:t>最</a:t>
            </a:r>
            <a:r>
              <a:rPr lang="zh-CN" altLang="en-US" sz="2000" dirty="0">
                <a:latin typeface="+mn-lt"/>
                <a:ea typeface="楷体" panose="02010609060101010101" pitchFamily="49" charset="-122"/>
              </a:rPr>
              <a:t>大总块数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N) {</a:t>
            </a:r>
            <a:endParaRPr lang="en-US" altLang="zh-CN" sz="2000" dirty="0"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    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   </a:t>
            </a:r>
            <a:r>
              <a:rPr lang="en-US" altLang="zh-CN" sz="2000" dirty="0" err="1">
                <a:latin typeface="+mn-lt"/>
                <a:ea typeface="楷体" panose="02010609060101010101" pitchFamily="49" charset="-122"/>
              </a:rPr>
              <a:t>wtire</a:t>
            </a: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latin typeface="+mn-lt"/>
                <a:ea typeface="楷体" panose="02010609060101010101" pitchFamily="49" charset="-122"/>
              </a:rPr>
              <a:t>堆栈</a:t>
            </a: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S</a:t>
            </a:r>
            <a:r>
              <a:rPr lang="zh-CN" altLang="en-US" sz="2000" dirty="0">
                <a:latin typeface="+mn-lt"/>
                <a:ea typeface="楷体" panose="02010609060101010101" pitchFamily="49" charset="-122"/>
              </a:rPr>
              <a:t>到</a:t>
            </a:r>
            <a:r>
              <a:rPr lang="zh-CN" altLang="en-US" sz="2000" dirty="0" smtClean="0">
                <a:latin typeface="+mn-lt"/>
                <a:ea typeface="楷体" panose="02010609060101010101" pitchFamily="49" charset="-122"/>
              </a:rPr>
              <a:t>块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S[N]</a:t>
            </a:r>
            <a:r>
              <a:rPr lang="zh-CN" altLang="en-US" sz="2000" dirty="0" smtClean="0">
                <a:latin typeface="+mn-lt"/>
                <a:ea typeface="楷体" panose="02010609060101010101" pitchFamily="49" charset="-122"/>
              </a:rPr>
              <a:t>中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;</a:t>
            </a:r>
            <a:endParaRPr lang="zh-CN" altLang="en-US" sz="2000" dirty="0"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zh-CN" altLang="en-US" sz="2000" dirty="0">
                <a:latin typeface="+mn-lt"/>
                <a:ea typeface="楷体" panose="02010609060101010101" pitchFamily="49" charset="-122"/>
              </a:rPr>
              <a:t>      </a:t>
            </a:r>
            <a:r>
              <a:rPr lang="zh-CN" altLang="en-US" sz="2000" dirty="0" smtClean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S[0</a:t>
            </a: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]= 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1;</a:t>
            </a:r>
            <a:endParaRPr lang="zh-CN" altLang="en-US" sz="2000" dirty="0"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zh-CN" altLang="en-US" sz="2000" dirty="0">
                <a:latin typeface="+mn-lt"/>
                <a:ea typeface="楷体" panose="02010609060101010101" pitchFamily="49" charset="-122"/>
              </a:rPr>
              <a:t>      </a:t>
            </a:r>
            <a:r>
              <a:rPr lang="zh-CN" altLang="en-US" sz="2000" dirty="0" smtClean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S[1</a:t>
            </a: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] = </a:t>
            </a:r>
            <a:r>
              <a:rPr lang="en-US" altLang="zh-CN" sz="2000" dirty="0" err="1" smtClean="0">
                <a:latin typeface="+mn-lt"/>
                <a:ea typeface="楷体" panose="02010609060101010101" pitchFamily="49" charset="-122"/>
              </a:rPr>
              <a:t>BlockID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;</a:t>
            </a: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  }</a:t>
            </a:r>
            <a:endParaRPr lang="en-US" altLang="zh-CN" sz="2000" dirty="0"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  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else {     </a:t>
            </a:r>
            <a:endParaRPr lang="en-US" altLang="zh-CN" sz="2000" dirty="0"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      S[0] ++;</a:t>
            </a: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      S[S[0]] =  </a:t>
            </a:r>
            <a:r>
              <a:rPr lang="en-US" altLang="zh-CN" sz="2000" dirty="0" err="1" smtClean="0">
                <a:latin typeface="+mn-lt"/>
                <a:ea typeface="楷体" panose="02010609060101010101" pitchFamily="49" charset="-122"/>
              </a:rPr>
              <a:t>BlockID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;</a:t>
            </a:r>
            <a:endParaRPr lang="en-US" altLang="zh-CN" sz="2000" dirty="0">
              <a:latin typeface="+mn-lt"/>
              <a:ea typeface="楷体" panose="02010609060101010101" pitchFamily="49" charset="-122"/>
            </a:endParaRP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 }</a:t>
            </a:r>
          </a:p>
          <a:p>
            <a:pPr>
              <a:spcBef>
                <a:spcPct val="10000"/>
              </a:spcBef>
              <a:buFontTx/>
              <a:buAutoNum type="arabicPeriod"/>
            </a:pPr>
            <a:r>
              <a:rPr lang="en-US" altLang="zh-CN" sz="2000" dirty="0">
                <a:latin typeface="+mn-lt"/>
                <a:ea typeface="楷体" panose="02010609060101010101" pitchFamily="49" charset="-122"/>
              </a:rPr>
              <a:t>}</a:t>
            </a:r>
            <a:r>
              <a:rPr lang="en-US" altLang="zh-CN" sz="2000" dirty="0" smtClean="0">
                <a:latin typeface="+mn-lt"/>
                <a:ea typeface="楷体" panose="02010609060101010101" pitchFamily="49" charset="-122"/>
              </a:rPr>
              <a:t> </a:t>
            </a:r>
            <a:endParaRPr lang="en-US" altLang="zh-CN" sz="2000" dirty="0">
              <a:latin typeface="+mn-lt"/>
              <a:ea typeface="楷体" panose="02010609060101010101" pitchFamily="49" charset="-122"/>
            </a:endParaRPr>
          </a:p>
        </p:txBody>
      </p:sp>
      <p:grpSp>
        <p:nvGrpSpPr>
          <p:cNvPr id="8" name="Group 246"/>
          <p:cNvGrpSpPr>
            <a:grpSpLocks/>
          </p:cNvGrpSpPr>
          <p:nvPr/>
        </p:nvGrpSpPr>
        <p:grpSpPr bwMode="auto">
          <a:xfrm>
            <a:off x="4355976" y="1130994"/>
            <a:ext cx="4610100" cy="2586038"/>
            <a:chOff x="2788" y="618"/>
            <a:chExt cx="2904" cy="1629"/>
          </a:xfrm>
        </p:grpSpPr>
        <p:sp>
          <p:nvSpPr>
            <p:cNvPr id="9" name="Text Box 167"/>
            <p:cNvSpPr txBox="1">
              <a:spLocks noChangeArrowheads="1"/>
            </p:cNvSpPr>
            <p:nvPr/>
          </p:nvSpPr>
          <p:spPr bwMode="auto">
            <a:xfrm>
              <a:off x="2788" y="1262"/>
              <a:ext cx="58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空闲块号栈</a:t>
              </a:r>
            </a:p>
          </p:txBody>
        </p:sp>
        <p:sp>
          <p:nvSpPr>
            <p:cNvPr id="10" name="Rectangle 168"/>
            <p:cNvSpPr>
              <a:spLocks noChangeArrowheads="1"/>
            </p:cNvSpPr>
            <p:nvPr/>
          </p:nvSpPr>
          <p:spPr bwMode="auto">
            <a:xfrm>
              <a:off x="3523" y="856"/>
              <a:ext cx="213" cy="101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40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150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149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148</a:t>
              </a:r>
            </a:p>
            <a:p>
              <a:pPr algn="ctr"/>
              <a:r>
                <a:rPr lang="zh-CN" altLang="zh-CN" sz="1000" b="1">
                  <a:ea typeface="楷体" panose="02010609060101010101" pitchFamily="49" charset="-122"/>
                </a:rPr>
                <a:t>︰</a:t>
              </a:r>
              <a:endParaRPr lang="en-US" altLang="zh-CN" sz="1000" b="1">
                <a:ea typeface="楷体" panose="02010609060101010101" pitchFamily="49" charset="-122"/>
              </a:endParaRP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112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111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</p:txBody>
        </p:sp>
        <p:sp>
          <p:nvSpPr>
            <p:cNvPr id="11" name="Rectangle 169"/>
            <p:cNvSpPr>
              <a:spLocks noChangeArrowheads="1"/>
            </p:cNvSpPr>
            <p:nvPr/>
          </p:nvSpPr>
          <p:spPr bwMode="auto">
            <a:xfrm>
              <a:off x="3976" y="732"/>
              <a:ext cx="213" cy="54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200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199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198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151</a:t>
              </a:r>
            </a:p>
          </p:txBody>
        </p:sp>
        <p:sp>
          <p:nvSpPr>
            <p:cNvPr id="12" name="Rectangle 170"/>
            <p:cNvSpPr>
              <a:spLocks noChangeArrowheads="1"/>
            </p:cNvSpPr>
            <p:nvPr/>
          </p:nvSpPr>
          <p:spPr bwMode="auto">
            <a:xfrm>
              <a:off x="3976" y="1376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149</a:t>
              </a:r>
            </a:p>
          </p:txBody>
        </p:sp>
        <p:sp>
          <p:nvSpPr>
            <p:cNvPr id="13" name="Rectangle 171"/>
            <p:cNvSpPr>
              <a:spLocks noChangeArrowheads="1"/>
            </p:cNvSpPr>
            <p:nvPr/>
          </p:nvSpPr>
          <p:spPr bwMode="auto">
            <a:xfrm>
              <a:off x="3981" y="1812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111</a:t>
              </a:r>
            </a:p>
          </p:txBody>
        </p:sp>
        <p:sp>
          <p:nvSpPr>
            <p:cNvPr id="14" name="Rectangle 172"/>
            <p:cNvSpPr>
              <a:spLocks noChangeArrowheads="1"/>
            </p:cNvSpPr>
            <p:nvPr/>
          </p:nvSpPr>
          <p:spPr bwMode="auto">
            <a:xfrm>
              <a:off x="4424" y="727"/>
              <a:ext cx="213" cy="54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249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248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201</a:t>
              </a:r>
            </a:p>
          </p:txBody>
        </p:sp>
        <p:sp>
          <p:nvSpPr>
            <p:cNvPr id="15" name="Rectangle 173"/>
            <p:cNvSpPr>
              <a:spLocks noChangeArrowheads="1"/>
            </p:cNvSpPr>
            <p:nvPr/>
          </p:nvSpPr>
          <p:spPr bwMode="auto">
            <a:xfrm>
              <a:off x="4424" y="1376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199</a:t>
              </a:r>
            </a:p>
          </p:txBody>
        </p:sp>
        <p:sp>
          <p:nvSpPr>
            <p:cNvPr id="16" name="Rectangle 174"/>
            <p:cNvSpPr>
              <a:spLocks noChangeArrowheads="1"/>
            </p:cNvSpPr>
            <p:nvPr/>
          </p:nvSpPr>
          <p:spPr bwMode="auto">
            <a:xfrm>
              <a:off x="4424" y="1812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151</a:t>
              </a:r>
            </a:p>
          </p:txBody>
        </p:sp>
        <p:sp>
          <p:nvSpPr>
            <p:cNvPr id="17" name="Rectangle 175"/>
            <p:cNvSpPr>
              <a:spLocks noChangeArrowheads="1"/>
            </p:cNvSpPr>
            <p:nvPr/>
          </p:nvSpPr>
          <p:spPr bwMode="auto">
            <a:xfrm>
              <a:off x="4946" y="732"/>
              <a:ext cx="213" cy="54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50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3999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3998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ea typeface="楷体" panose="02010609060101010101" pitchFamily="49" charset="-122"/>
                </a:rPr>
                <a:t>3951</a:t>
              </a:r>
            </a:p>
          </p:txBody>
        </p:sp>
        <p:sp>
          <p:nvSpPr>
            <p:cNvPr id="18" name="Rectangle 176"/>
            <p:cNvSpPr>
              <a:spLocks noChangeArrowheads="1"/>
            </p:cNvSpPr>
            <p:nvPr/>
          </p:nvSpPr>
          <p:spPr bwMode="auto">
            <a:xfrm>
              <a:off x="4946" y="1376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3949</a:t>
              </a:r>
            </a:p>
          </p:txBody>
        </p:sp>
        <p:sp>
          <p:nvSpPr>
            <p:cNvPr id="19" name="Rectangle 177"/>
            <p:cNvSpPr>
              <a:spLocks noChangeArrowheads="1"/>
            </p:cNvSpPr>
            <p:nvPr/>
          </p:nvSpPr>
          <p:spPr bwMode="auto">
            <a:xfrm>
              <a:off x="4946" y="1812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3901</a:t>
              </a:r>
            </a:p>
          </p:txBody>
        </p:sp>
        <p:sp>
          <p:nvSpPr>
            <p:cNvPr id="20" name="Rectangle 178"/>
            <p:cNvSpPr>
              <a:spLocks noChangeArrowheads="1"/>
            </p:cNvSpPr>
            <p:nvPr/>
          </p:nvSpPr>
          <p:spPr bwMode="auto">
            <a:xfrm>
              <a:off x="5383" y="1366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3999</a:t>
              </a:r>
            </a:p>
          </p:txBody>
        </p:sp>
        <p:sp>
          <p:nvSpPr>
            <p:cNvPr id="21" name="Rectangle 179"/>
            <p:cNvSpPr>
              <a:spLocks noChangeArrowheads="1"/>
            </p:cNvSpPr>
            <p:nvPr/>
          </p:nvSpPr>
          <p:spPr bwMode="auto">
            <a:xfrm>
              <a:off x="5383" y="1802"/>
              <a:ext cx="213" cy="29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>
                  <a:ea typeface="楷体" panose="02010609060101010101" pitchFamily="49" charset="-122"/>
                </a:rPr>
                <a:t>3951</a:t>
              </a:r>
            </a:p>
          </p:txBody>
        </p:sp>
        <p:sp>
          <p:nvSpPr>
            <p:cNvPr id="22" name="Text Box 180"/>
            <p:cNvSpPr txBox="1">
              <a:spLocks noChangeArrowheads="1"/>
            </p:cNvSpPr>
            <p:nvPr/>
          </p:nvSpPr>
          <p:spPr bwMode="auto">
            <a:xfrm>
              <a:off x="3321" y="915"/>
              <a:ext cx="214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0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1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2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38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39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  <a:p>
              <a:pPr algn="r"/>
              <a:r>
                <a:rPr lang="en-US" altLang="zh-CN" sz="1000" b="1">
                  <a:ea typeface="楷体" panose="02010609060101010101" pitchFamily="49" charset="-122"/>
                </a:rPr>
                <a:t>︰</a:t>
              </a:r>
            </a:p>
          </p:txBody>
        </p:sp>
        <p:sp>
          <p:nvSpPr>
            <p:cNvPr id="23" name="AutoShape 181"/>
            <p:cNvSpPr>
              <a:spLocks/>
            </p:cNvSpPr>
            <p:nvPr/>
          </p:nvSpPr>
          <p:spPr bwMode="auto">
            <a:xfrm>
              <a:off x="3321" y="998"/>
              <a:ext cx="107" cy="668"/>
            </a:xfrm>
            <a:prstGeom prst="leftBrace">
              <a:avLst>
                <a:gd name="adj1" fmla="val 520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24" name="Text Box 182"/>
            <p:cNvSpPr txBox="1">
              <a:spLocks noChangeArrowheads="1"/>
            </p:cNvSpPr>
            <p:nvPr/>
          </p:nvSpPr>
          <p:spPr bwMode="auto">
            <a:xfrm>
              <a:off x="3122" y="925"/>
              <a:ext cx="26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栈深</a:t>
              </a:r>
            </a:p>
          </p:txBody>
        </p:sp>
        <p:sp>
          <p:nvSpPr>
            <p:cNvPr id="25" name="Line 183"/>
            <p:cNvSpPr>
              <a:spLocks noChangeShapeType="1"/>
            </p:cNvSpPr>
            <p:nvPr/>
          </p:nvSpPr>
          <p:spPr bwMode="auto">
            <a:xfrm>
              <a:off x="3335" y="992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26" name="Text Box 184"/>
            <p:cNvSpPr txBox="1">
              <a:spLocks noChangeArrowheads="1"/>
            </p:cNvSpPr>
            <p:nvPr/>
          </p:nvSpPr>
          <p:spPr bwMode="auto">
            <a:xfrm>
              <a:off x="3975" y="618"/>
              <a:ext cx="21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150</a:t>
              </a:r>
            </a:p>
          </p:txBody>
        </p:sp>
        <p:sp>
          <p:nvSpPr>
            <p:cNvPr id="27" name="Text Box 185"/>
            <p:cNvSpPr txBox="1">
              <a:spLocks noChangeArrowheads="1"/>
            </p:cNvSpPr>
            <p:nvPr/>
          </p:nvSpPr>
          <p:spPr bwMode="auto">
            <a:xfrm>
              <a:off x="4424" y="618"/>
              <a:ext cx="21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200</a:t>
              </a:r>
            </a:p>
          </p:txBody>
        </p:sp>
        <p:sp>
          <p:nvSpPr>
            <p:cNvPr id="28" name="Text Box 186"/>
            <p:cNvSpPr txBox="1">
              <a:spLocks noChangeArrowheads="1"/>
            </p:cNvSpPr>
            <p:nvPr/>
          </p:nvSpPr>
          <p:spPr bwMode="auto">
            <a:xfrm>
              <a:off x="4939" y="623"/>
              <a:ext cx="24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3950</a:t>
              </a:r>
            </a:p>
          </p:txBody>
        </p:sp>
        <p:sp>
          <p:nvSpPr>
            <p:cNvPr id="29" name="Text Box 187"/>
            <p:cNvSpPr txBox="1">
              <a:spLocks noChangeArrowheads="1"/>
            </p:cNvSpPr>
            <p:nvPr/>
          </p:nvSpPr>
          <p:spPr bwMode="auto">
            <a:xfrm>
              <a:off x="5223" y="632"/>
              <a:ext cx="34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组长块</a:t>
              </a:r>
            </a:p>
          </p:txBody>
        </p:sp>
        <p:sp>
          <p:nvSpPr>
            <p:cNvPr id="30" name="Text Box 188"/>
            <p:cNvSpPr txBox="1">
              <a:spLocks noChangeArrowheads="1"/>
            </p:cNvSpPr>
            <p:nvPr/>
          </p:nvSpPr>
          <p:spPr bwMode="auto">
            <a:xfrm>
              <a:off x="3911" y="2093"/>
              <a:ext cx="34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第</a:t>
              </a:r>
              <a:r>
                <a:rPr lang="en-US" altLang="zh-CN" sz="1000" b="1">
                  <a:ea typeface="楷体" panose="02010609060101010101" pitchFamily="49" charset="-122"/>
                </a:rPr>
                <a:t>78</a:t>
              </a:r>
              <a:r>
                <a:rPr lang="zh-CN" altLang="en-US" sz="10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1" name="Text Box 189"/>
            <p:cNvSpPr txBox="1">
              <a:spLocks noChangeArrowheads="1"/>
            </p:cNvSpPr>
            <p:nvPr/>
          </p:nvSpPr>
          <p:spPr bwMode="auto">
            <a:xfrm>
              <a:off x="4377" y="2093"/>
              <a:ext cx="3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第</a:t>
              </a:r>
              <a:r>
                <a:rPr lang="en-US" altLang="zh-CN" sz="1000" b="1">
                  <a:ea typeface="楷体" panose="02010609060101010101" pitchFamily="49" charset="-122"/>
                </a:rPr>
                <a:t>77</a:t>
              </a:r>
              <a:r>
                <a:rPr lang="zh-CN" altLang="en-US" sz="10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2" name="Text Box 190"/>
            <p:cNvSpPr txBox="1">
              <a:spLocks noChangeArrowheads="1"/>
            </p:cNvSpPr>
            <p:nvPr/>
          </p:nvSpPr>
          <p:spPr bwMode="auto">
            <a:xfrm>
              <a:off x="4913" y="2091"/>
              <a:ext cx="34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第</a:t>
              </a:r>
              <a:r>
                <a:rPr lang="en-US" altLang="zh-CN" sz="1000" b="1">
                  <a:ea typeface="楷体" panose="02010609060101010101" pitchFamily="49" charset="-122"/>
                </a:rPr>
                <a:t>2</a:t>
              </a:r>
              <a:r>
                <a:rPr lang="zh-CN" altLang="en-US" sz="10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3" name="Text Box 191"/>
            <p:cNvSpPr txBox="1">
              <a:spLocks noChangeArrowheads="1"/>
            </p:cNvSpPr>
            <p:nvPr/>
          </p:nvSpPr>
          <p:spPr bwMode="auto">
            <a:xfrm>
              <a:off x="5347" y="2087"/>
              <a:ext cx="34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第</a:t>
              </a:r>
              <a:r>
                <a:rPr lang="en-US" altLang="zh-CN" sz="1000" b="1">
                  <a:ea typeface="楷体" panose="02010609060101010101" pitchFamily="49" charset="-122"/>
                </a:rPr>
                <a:t>1</a:t>
              </a:r>
              <a:r>
                <a:rPr lang="zh-CN" altLang="en-US" sz="1000" b="1">
                  <a:ea typeface="楷体" panose="02010609060101010101" pitchFamily="49" charset="-122"/>
                </a:rPr>
                <a:t>组</a:t>
              </a:r>
            </a:p>
          </p:txBody>
        </p:sp>
        <p:sp>
          <p:nvSpPr>
            <p:cNvPr id="34" name="Line 192"/>
            <p:cNvSpPr>
              <a:spLocks noChangeShapeType="1"/>
            </p:cNvSpPr>
            <p:nvPr/>
          </p:nvSpPr>
          <p:spPr bwMode="auto">
            <a:xfrm>
              <a:off x="3523" y="95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5" name="Line 193"/>
            <p:cNvSpPr>
              <a:spLocks noChangeShapeType="1"/>
            </p:cNvSpPr>
            <p:nvPr/>
          </p:nvSpPr>
          <p:spPr bwMode="auto">
            <a:xfrm>
              <a:off x="3523" y="102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6" name="Line 194"/>
            <p:cNvSpPr>
              <a:spLocks noChangeShapeType="1"/>
            </p:cNvSpPr>
            <p:nvPr/>
          </p:nvSpPr>
          <p:spPr bwMode="auto">
            <a:xfrm>
              <a:off x="3524" y="1123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7" name="Line 195"/>
            <p:cNvSpPr>
              <a:spLocks noChangeShapeType="1"/>
            </p:cNvSpPr>
            <p:nvPr/>
          </p:nvSpPr>
          <p:spPr bwMode="auto">
            <a:xfrm>
              <a:off x="3523" y="1218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8" name="Line 196"/>
            <p:cNvSpPr>
              <a:spLocks noChangeShapeType="1"/>
            </p:cNvSpPr>
            <p:nvPr/>
          </p:nvSpPr>
          <p:spPr bwMode="auto">
            <a:xfrm>
              <a:off x="3523" y="1321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39" name="Line 197"/>
            <p:cNvSpPr>
              <a:spLocks noChangeShapeType="1"/>
            </p:cNvSpPr>
            <p:nvPr/>
          </p:nvSpPr>
          <p:spPr bwMode="auto">
            <a:xfrm>
              <a:off x="3524" y="1405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0" name="Line 198"/>
            <p:cNvSpPr>
              <a:spLocks noChangeShapeType="1"/>
            </p:cNvSpPr>
            <p:nvPr/>
          </p:nvSpPr>
          <p:spPr bwMode="auto">
            <a:xfrm>
              <a:off x="3524" y="151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1" name="Line 199"/>
            <p:cNvSpPr>
              <a:spLocks noChangeShapeType="1"/>
            </p:cNvSpPr>
            <p:nvPr/>
          </p:nvSpPr>
          <p:spPr bwMode="auto">
            <a:xfrm>
              <a:off x="3524" y="159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2" name="Line 200"/>
            <p:cNvSpPr>
              <a:spLocks noChangeShapeType="1"/>
            </p:cNvSpPr>
            <p:nvPr/>
          </p:nvSpPr>
          <p:spPr bwMode="auto">
            <a:xfrm>
              <a:off x="3524" y="1693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3" name="Line 201"/>
            <p:cNvSpPr>
              <a:spLocks noChangeShapeType="1"/>
            </p:cNvSpPr>
            <p:nvPr/>
          </p:nvSpPr>
          <p:spPr bwMode="auto">
            <a:xfrm>
              <a:off x="3523" y="1817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4" name="Line 202"/>
            <p:cNvSpPr>
              <a:spLocks noChangeShapeType="1"/>
            </p:cNvSpPr>
            <p:nvPr/>
          </p:nvSpPr>
          <p:spPr bwMode="auto">
            <a:xfrm>
              <a:off x="3976" y="831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5" name="Line 203"/>
            <p:cNvSpPr>
              <a:spLocks noChangeShapeType="1"/>
            </p:cNvSpPr>
            <p:nvPr/>
          </p:nvSpPr>
          <p:spPr bwMode="auto">
            <a:xfrm>
              <a:off x="3976" y="916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6" name="Line 204"/>
            <p:cNvSpPr>
              <a:spLocks noChangeShapeType="1"/>
            </p:cNvSpPr>
            <p:nvPr/>
          </p:nvSpPr>
          <p:spPr bwMode="auto">
            <a:xfrm>
              <a:off x="3971" y="100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7" name="Line 205"/>
            <p:cNvSpPr>
              <a:spLocks noChangeShapeType="1"/>
            </p:cNvSpPr>
            <p:nvPr/>
          </p:nvSpPr>
          <p:spPr bwMode="auto">
            <a:xfrm>
              <a:off x="3977" y="108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8" name="Line 206"/>
            <p:cNvSpPr>
              <a:spLocks noChangeShapeType="1"/>
            </p:cNvSpPr>
            <p:nvPr/>
          </p:nvSpPr>
          <p:spPr bwMode="auto">
            <a:xfrm>
              <a:off x="3971" y="1173"/>
              <a:ext cx="2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49" name="Line 207"/>
            <p:cNvSpPr>
              <a:spLocks noChangeShapeType="1"/>
            </p:cNvSpPr>
            <p:nvPr/>
          </p:nvSpPr>
          <p:spPr bwMode="auto">
            <a:xfrm>
              <a:off x="4428" y="821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0" name="Line 208"/>
            <p:cNvSpPr>
              <a:spLocks noChangeShapeType="1"/>
            </p:cNvSpPr>
            <p:nvPr/>
          </p:nvSpPr>
          <p:spPr bwMode="auto">
            <a:xfrm>
              <a:off x="4428" y="906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1" name="Line 209"/>
            <p:cNvSpPr>
              <a:spLocks noChangeShapeType="1"/>
            </p:cNvSpPr>
            <p:nvPr/>
          </p:nvSpPr>
          <p:spPr bwMode="auto">
            <a:xfrm>
              <a:off x="4423" y="99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2" name="Line 210"/>
            <p:cNvSpPr>
              <a:spLocks noChangeShapeType="1"/>
            </p:cNvSpPr>
            <p:nvPr/>
          </p:nvSpPr>
          <p:spPr bwMode="auto">
            <a:xfrm>
              <a:off x="4429" y="107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3" name="Line 211"/>
            <p:cNvSpPr>
              <a:spLocks noChangeShapeType="1"/>
            </p:cNvSpPr>
            <p:nvPr/>
          </p:nvSpPr>
          <p:spPr bwMode="auto">
            <a:xfrm>
              <a:off x="4424" y="1163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4" name="Line 212"/>
            <p:cNvSpPr>
              <a:spLocks noChangeShapeType="1"/>
            </p:cNvSpPr>
            <p:nvPr/>
          </p:nvSpPr>
          <p:spPr bwMode="auto">
            <a:xfrm>
              <a:off x="4945" y="831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5" name="Line 213"/>
            <p:cNvSpPr>
              <a:spLocks noChangeShapeType="1"/>
            </p:cNvSpPr>
            <p:nvPr/>
          </p:nvSpPr>
          <p:spPr bwMode="auto">
            <a:xfrm>
              <a:off x="4945" y="916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6" name="Line 214"/>
            <p:cNvSpPr>
              <a:spLocks noChangeShapeType="1"/>
            </p:cNvSpPr>
            <p:nvPr/>
          </p:nvSpPr>
          <p:spPr bwMode="auto">
            <a:xfrm>
              <a:off x="4940" y="1000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7" name="Line 215"/>
            <p:cNvSpPr>
              <a:spLocks noChangeShapeType="1"/>
            </p:cNvSpPr>
            <p:nvPr/>
          </p:nvSpPr>
          <p:spPr bwMode="auto">
            <a:xfrm>
              <a:off x="4946" y="1089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8" name="Line 216"/>
            <p:cNvSpPr>
              <a:spLocks noChangeShapeType="1"/>
            </p:cNvSpPr>
            <p:nvPr/>
          </p:nvSpPr>
          <p:spPr bwMode="auto">
            <a:xfrm>
              <a:off x="4940" y="1173"/>
              <a:ext cx="2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59" name="Freeform 217"/>
            <p:cNvSpPr>
              <a:spLocks/>
            </p:cNvSpPr>
            <p:nvPr/>
          </p:nvSpPr>
          <p:spPr bwMode="auto">
            <a:xfrm>
              <a:off x="3721" y="781"/>
              <a:ext cx="239" cy="298"/>
            </a:xfrm>
            <a:custGeom>
              <a:avLst/>
              <a:gdLst>
                <a:gd name="T0" fmla="*/ 0 w 408"/>
                <a:gd name="T1" fmla="*/ 545 h 545"/>
                <a:gd name="T2" fmla="*/ 227 w 408"/>
                <a:gd name="T3" fmla="*/ 136 h 545"/>
                <a:gd name="T4" fmla="*/ 408 w 408"/>
                <a:gd name="T5" fmla="*/ 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545">
                  <a:moveTo>
                    <a:pt x="0" y="545"/>
                  </a:moveTo>
                  <a:cubicBezTo>
                    <a:pt x="79" y="386"/>
                    <a:pt x="159" y="227"/>
                    <a:pt x="227" y="136"/>
                  </a:cubicBezTo>
                  <a:cubicBezTo>
                    <a:pt x="295" y="45"/>
                    <a:pt x="378" y="23"/>
                    <a:pt x="4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0" name="Line 218"/>
            <p:cNvSpPr>
              <a:spLocks noChangeShapeType="1"/>
            </p:cNvSpPr>
            <p:nvPr/>
          </p:nvSpPr>
          <p:spPr bwMode="auto">
            <a:xfrm>
              <a:off x="3721" y="1153"/>
              <a:ext cx="253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1" name="Freeform 219"/>
            <p:cNvSpPr>
              <a:spLocks/>
            </p:cNvSpPr>
            <p:nvPr/>
          </p:nvSpPr>
          <p:spPr bwMode="auto">
            <a:xfrm>
              <a:off x="3710" y="1277"/>
              <a:ext cx="293" cy="446"/>
            </a:xfrm>
            <a:custGeom>
              <a:avLst/>
              <a:gdLst>
                <a:gd name="T0" fmla="*/ 0 w 499"/>
                <a:gd name="T1" fmla="*/ 0 h 816"/>
                <a:gd name="T2" fmla="*/ 272 w 499"/>
                <a:gd name="T3" fmla="*/ 589 h 816"/>
                <a:gd name="T4" fmla="*/ 499 w 499"/>
                <a:gd name="T5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816">
                  <a:moveTo>
                    <a:pt x="0" y="0"/>
                  </a:moveTo>
                  <a:cubicBezTo>
                    <a:pt x="94" y="226"/>
                    <a:pt x="189" y="453"/>
                    <a:pt x="272" y="589"/>
                  </a:cubicBezTo>
                  <a:cubicBezTo>
                    <a:pt x="355" y="725"/>
                    <a:pt x="461" y="778"/>
                    <a:pt x="499" y="8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2" name="Line 220"/>
            <p:cNvSpPr>
              <a:spLocks noChangeShapeType="1"/>
            </p:cNvSpPr>
            <p:nvPr/>
          </p:nvSpPr>
          <p:spPr bwMode="auto">
            <a:xfrm>
              <a:off x="3721" y="1450"/>
              <a:ext cx="79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3" name="Freeform 221"/>
            <p:cNvSpPr>
              <a:spLocks/>
            </p:cNvSpPr>
            <p:nvPr/>
          </p:nvSpPr>
          <p:spPr bwMode="auto">
            <a:xfrm>
              <a:off x="3715" y="1555"/>
              <a:ext cx="266" cy="297"/>
            </a:xfrm>
            <a:custGeom>
              <a:avLst/>
              <a:gdLst>
                <a:gd name="T0" fmla="*/ 0 w 499"/>
                <a:gd name="T1" fmla="*/ 0 h 544"/>
                <a:gd name="T2" fmla="*/ 227 w 499"/>
                <a:gd name="T3" fmla="*/ 272 h 544"/>
                <a:gd name="T4" fmla="*/ 499 w 499"/>
                <a:gd name="T5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544">
                  <a:moveTo>
                    <a:pt x="0" y="0"/>
                  </a:moveTo>
                  <a:cubicBezTo>
                    <a:pt x="72" y="90"/>
                    <a:pt x="144" y="181"/>
                    <a:pt x="227" y="272"/>
                  </a:cubicBezTo>
                  <a:cubicBezTo>
                    <a:pt x="310" y="363"/>
                    <a:pt x="454" y="499"/>
                    <a:pt x="499" y="5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4" name="Line 222"/>
            <p:cNvSpPr>
              <a:spLocks noChangeShapeType="1"/>
            </p:cNvSpPr>
            <p:nvPr/>
          </p:nvSpPr>
          <p:spPr bwMode="auto">
            <a:xfrm flipV="1">
              <a:off x="4173" y="781"/>
              <a:ext cx="24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5" name="Freeform 223"/>
            <p:cNvSpPr>
              <a:spLocks/>
            </p:cNvSpPr>
            <p:nvPr/>
          </p:nvSpPr>
          <p:spPr bwMode="auto">
            <a:xfrm>
              <a:off x="4173" y="955"/>
              <a:ext cx="240" cy="471"/>
            </a:xfrm>
            <a:custGeom>
              <a:avLst/>
              <a:gdLst>
                <a:gd name="T0" fmla="*/ 0 w 408"/>
                <a:gd name="T1" fmla="*/ 0 h 862"/>
                <a:gd name="T2" fmla="*/ 182 w 408"/>
                <a:gd name="T3" fmla="*/ 635 h 862"/>
                <a:gd name="T4" fmla="*/ 408 w 408"/>
                <a:gd name="T5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8" h="862">
                  <a:moveTo>
                    <a:pt x="0" y="0"/>
                  </a:moveTo>
                  <a:cubicBezTo>
                    <a:pt x="57" y="245"/>
                    <a:pt x="114" y="491"/>
                    <a:pt x="182" y="635"/>
                  </a:cubicBezTo>
                  <a:cubicBezTo>
                    <a:pt x="250" y="779"/>
                    <a:pt x="370" y="824"/>
                    <a:pt x="408" y="86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6" name="Freeform 224"/>
            <p:cNvSpPr>
              <a:spLocks/>
            </p:cNvSpPr>
            <p:nvPr/>
          </p:nvSpPr>
          <p:spPr bwMode="auto">
            <a:xfrm>
              <a:off x="4147" y="1029"/>
              <a:ext cx="293" cy="694"/>
            </a:xfrm>
            <a:custGeom>
              <a:avLst/>
              <a:gdLst>
                <a:gd name="T0" fmla="*/ 0 w 499"/>
                <a:gd name="T1" fmla="*/ 0 h 1270"/>
                <a:gd name="T2" fmla="*/ 227 w 499"/>
                <a:gd name="T3" fmla="*/ 816 h 1270"/>
                <a:gd name="T4" fmla="*/ 499 w 499"/>
                <a:gd name="T5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9" h="1270">
                  <a:moveTo>
                    <a:pt x="0" y="0"/>
                  </a:moveTo>
                  <a:cubicBezTo>
                    <a:pt x="72" y="302"/>
                    <a:pt x="144" y="604"/>
                    <a:pt x="227" y="816"/>
                  </a:cubicBezTo>
                  <a:cubicBezTo>
                    <a:pt x="310" y="1028"/>
                    <a:pt x="454" y="1194"/>
                    <a:pt x="499" y="12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7" name="Freeform 225"/>
            <p:cNvSpPr>
              <a:spLocks/>
            </p:cNvSpPr>
            <p:nvPr/>
          </p:nvSpPr>
          <p:spPr bwMode="auto">
            <a:xfrm>
              <a:off x="4163" y="1277"/>
              <a:ext cx="266" cy="569"/>
            </a:xfrm>
            <a:custGeom>
              <a:avLst/>
              <a:gdLst>
                <a:gd name="T0" fmla="*/ 0 w 453"/>
                <a:gd name="T1" fmla="*/ 0 h 1043"/>
                <a:gd name="T2" fmla="*/ 181 w 453"/>
                <a:gd name="T3" fmla="*/ 771 h 1043"/>
                <a:gd name="T4" fmla="*/ 453 w 453"/>
                <a:gd name="T5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3" h="1043">
                  <a:moveTo>
                    <a:pt x="0" y="0"/>
                  </a:moveTo>
                  <a:cubicBezTo>
                    <a:pt x="53" y="298"/>
                    <a:pt x="106" y="597"/>
                    <a:pt x="181" y="771"/>
                  </a:cubicBezTo>
                  <a:cubicBezTo>
                    <a:pt x="256" y="945"/>
                    <a:pt x="408" y="998"/>
                    <a:pt x="453" y="10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8" name="Line 226"/>
            <p:cNvSpPr>
              <a:spLocks noChangeShapeType="1"/>
            </p:cNvSpPr>
            <p:nvPr/>
          </p:nvSpPr>
          <p:spPr bwMode="auto">
            <a:xfrm flipV="1">
              <a:off x="4626" y="821"/>
              <a:ext cx="107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69" name="Line 227"/>
            <p:cNvSpPr>
              <a:spLocks noChangeShapeType="1"/>
            </p:cNvSpPr>
            <p:nvPr/>
          </p:nvSpPr>
          <p:spPr bwMode="auto">
            <a:xfrm>
              <a:off x="4616" y="940"/>
              <a:ext cx="133" cy="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0" name="Line 228"/>
            <p:cNvSpPr>
              <a:spLocks noChangeShapeType="1"/>
            </p:cNvSpPr>
            <p:nvPr/>
          </p:nvSpPr>
          <p:spPr bwMode="auto">
            <a:xfrm>
              <a:off x="4626" y="1029"/>
              <a:ext cx="80" cy="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1" name="Freeform 229"/>
            <p:cNvSpPr>
              <a:spLocks/>
            </p:cNvSpPr>
            <p:nvPr/>
          </p:nvSpPr>
          <p:spPr bwMode="auto">
            <a:xfrm>
              <a:off x="4600" y="1203"/>
              <a:ext cx="133" cy="123"/>
            </a:xfrm>
            <a:custGeom>
              <a:avLst/>
              <a:gdLst>
                <a:gd name="T0" fmla="*/ 0 w 227"/>
                <a:gd name="T1" fmla="*/ 0 h 226"/>
                <a:gd name="T2" fmla="*/ 181 w 227"/>
                <a:gd name="T3" fmla="*/ 136 h 226"/>
                <a:gd name="T4" fmla="*/ 227 w 227"/>
                <a:gd name="T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" h="226">
                  <a:moveTo>
                    <a:pt x="0" y="0"/>
                  </a:moveTo>
                  <a:cubicBezTo>
                    <a:pt x="71" y="49"/>
                    <a:pt x="143" y="98"/>
                    <a:pt x="181" y="136"/>
                  </a:cubicBezTo>
                  <a:cubicBezTo>
                    <a:pt x="219" y="174"/>
                    <a:pt x="219" y="211"/>
                    <a:pt x="227" y="22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2" name="Text Box 230"/>
            <p:cNvSpPr txBox="1">
              <a:spLocks noChangeArrowheads="1"/>
            </p:cNvSpPr>
            <p:nvPr/>
          </p:nvSpPr>
          <p:spPr bwMode="auto">
            <a:xfrm>
              <a:off x="4733" y="941"/>
              <a:ext cx="16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3" name="Text Box 231"/>
            <p:cNvSpPr txBox="1">
              <a:spLocks noChangeArrowheads="1"/>
            </p:cNvSpPr>
            <p:nvPr/>
          </p:nvSpPr>
          <p:spPr bwMode="auto">
            <a:xfrm>
              <a:off x="4728" y="1428"/>
              <a:ext cx="15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4" name="Text Box 232"/>
            <p:cNvSpPr txBox="1">
              <a:spLocks noChangeArrowheads="1"/>
            </p:cNvSpPr>
            <p:nvPr/>
          </p:nvSpPr>
          <p:spPr bwMode="auto">
            <a:xfrm>
              <a:off x="4728" y="1876"/>
              <a:ext cx="16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5" name="Freeform 233"/>
            <p:cNvSpPr>
              <a:spLocks/>
            </p:cNvSpPr>
            <p:nvPr/>
          </p:nvSpPr>
          <p:spPr bwMode="auto">
            <a:xfrm>
              <a:off x="5132" y="955"/>
              <a:ext cx="240" cy="512"/>
            </a:xfrm>
            <a:custGeom>
              <a:avLst/>
              <a:gdLst>
                <a:gd name="T0" fmla="*/ 0 w 408"/>
                <a:gd name="T1" fmla="*/ 0 h 937"/>
                <a:gd name="T2" fmla="*/ 227 w 408"/>
                <a:gd name="T3" fmla="*/ 181 h 937"/>
                <a:gd name="T4" fmla="*/ 318 w 408"/>
                <a:gd name="T5" fmla="*/ 816 h 937"/>
                <a:gd name="T6" fmla="*/ 408 w 408"/>
                <a:gd name="T7" fmla="*/ 907 h 9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8" h="937">
                  <a:moveTo>
                    <a:pt x="0" y="0"/>
                  </a:moveTo>
                  <a:cubicBezTo>
                    <a:pt x="87" y="22"/>
                    <a:pt x="174" y="45"/>
                    <a:pt x="227" y="181"/>
                  </a:cubicBezTo>
                  <a:cubicBezTo>
                    <a:pt x="280" y="317"/>
                    <a:pt x="288" y="695"/>
                    <a:pt x="318" y="816"/>
                  </a:cubicBezTo>
                  <a:cubicBezTo>
                    <a:pt x="348" y="937"/>
                    <a:pt x="393" y="892"/>
                    <a:pt x="408" y="90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6" name="Freeform 234"/>
            <p:cNvSpPr>
              <a:spLocks/>
            </p:cNvSpPr>
            <p:nvPr/>
          </p:nvSpPr>
          <p:spPr bwMode="auto">
            <a:xfrm>
              <a:off x="5132" y="1029"/>
              <a:ext cx="267" cy="702"/>
            </a:xfrm>
            <a:custGeom>
              <a:avLst/>
              <a:gdLst>
                <a:gd name="T0" fmla="*/ 0 w 454"/>
                <a:gd name="T1" fmla="*/ 0 h 1285"/>
                <a:gd name="T2" fmla="*/ 136 w 454"/>
                <a:gd name="T3" fmla="*/ 363 h 1285"/>
                <a:gd name="T4" fmla="*/ 272 w 454"/>
                <a:gd name="T5" fmla="*/ 1134 h 1285"/>
                <a:gd name="T6" fmla="*/ 454 w 454"/>
                <a:gd name="T7" fmla="*/ 1270 h 1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4" h="1285">
                  <a:moveTo>
                    <a:pt x="0" y="0"/>
                  </a:moveTo>
                  <a:cubicBezTo>
                    <a:pt x="45" y="87"/>
                    <a:pt x="91" y="174"/>
                    <a:pt x="136" y="363"/>
                  </a:cubicBezTo>
                  <a:cubicBezTo>
                    <a:pt x="181" y="552"/>
                    <a:pt x="219" y="983"/>
                    <a:pt x="272" y="1134"/>
                  </a:cubicBezTo>
                  <a:cubicBezTo>
                    <a:pt x="325" y="1285"/>
                    <a:pt x="424" y="1247"/>
                    <a:pt x="454" y="12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7" name="Freeform 235"/>
            <p:cNvSpPr>
              <a:spLocks/>
            </p:cNvSpPr>
            <p:nvPr/>
          </p:nvSpPr>
          <p:spPr bwMode="auto">
            <a:xfrm>
              <a:off x="5148" y="1272"/>
              <a:ext cx="240" cy="590"/>
            </a:xfrm>
            <a:custGeom>
              <a:avLst/>
              <a:gdLst>
                <a:gd name="T0" fmla="*/ 0 w 408"/>
                <a:gd name="T1" fmla="*/ 0 h 1081"/>
                <a:gd name="T2" fmla="*/ 136 w 408"/>
                <a:gd name="T3" fmla="*/ 544 h 1081"/>
                <a:gd name="T4" fmla="*/ 272 w 408"/>
                <a:gd name="T5" fmla="*/ 998 h 1081"/>
                <a:gd name="T6" fmla="*/ 408 w 408"/>
                <a:gd name="T7" fmla="*/ 1043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8" h="1081">
                  <a:moveTo>
                    <a:pt x="0" y="0"/>
                  </a:moveTo>
                  <a:cubicBezTo>
                    <a:pt x="45" y="189"/>
                    <a:pt x="91" y="378"/>
                    <a:pt x="136" y="544"/>
                  </a:cubicBezTo>
                  <a:cubicBezTo>
                    <a:pt x="181" y="710"/>
                    <a:pt x="227" y="915"/>
                    <a:pt x="272" y="998"/>
                  </a:cubicBezTo>
                  <a:cubicBezTo>
                    <a:pt x="317" y="1081"/>
                    <a:pt x="385" y="1036"/>
                    <a:pt x="408" y="10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78" name="Text Box 236"/>
            <p:cNvSpPr txBox="1">
              <a:spLocks noChangeArrowheads="1"/>
            </p:cNvSpPr>
            <p:nvPr/>
          </p:nvSpPr>
          <p:spPr bwMode="auto">
            <a:xfrm>
              <a:off x="3996" y="1706"/>
              <a:ext cx="213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79" name="Text Box 237"/>
            <p:cNvSpPr txBox="1">
              <a:spLocks noChangeArrowheads="1"/>
            </p:cNvSpPr>
            <p:nvPr/>
          </p:nvSpPr>
          <p:spPr bwMode="auto">
            <a:xfrm>
              <a:off x="4434" y="1709"/>
              <a:ext cx="213" cy="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80" name="Text Box 238"/>
            <p:cNvSpPr txBox="1">
              <a:spLocks noChangeArrowheads="1"/>
            </p:cNvSpPr>
            <p:nvPr/>
          </p:nvSpPr>
          <p:spPr bwMode="auto">
            <a:xfrm>
              <a:off x="4966" y="1706"/>
              <a:ext cx="213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81" name="Text Box 239"/>
            <p:cNvSpPr txBox="1">
              <a:spLocks noChangeArrowheads="1"/>
            </p:cNvSpPr>
            <p:nvPr/>
          </p:nvSpPr>
          <p:spPr bwMode="auto">
            <a:xfrm>
              <a:off x="5405" y="1709"/>
              <a:ext cx="213" cy="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82" name="AutoShape 240"/>
            <p:cNvSpPr>
              <a:spLocks noChangeArrowheads="1"/>
            </p:cNvSpPr>
            <p:nvPr/>
          </p:nvSpPr>
          <p:spPr bwMode="auto">
            <a:xfrm>
              <a:off x="3524" y="1812"/>
              <a:ext cx="213" cy="124"/>
            </a:xfrm>
            <a:prstGeom prst="flowChartDocumen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83" name="Line 241"/>
            <p:cNvSpPr>
              <a:spLocks noChangeShapeType="1"/>
            </p:cNvSpPr>
            <p:nvPr/>
          </p:nvSpPr>
          <p:spPr bwMode="auto">
            <a:xfrm>
              <a:off x="3524" y="1817"/>
              <a:ext cx="213" cy="0"/>
            </a:xfrm>
            <a:prstGeom prst="line">
              <a:avLst/>
            </a:prstGeom>
            <a:noFill/>
            <a:ln w="57150">
              <a:solidFill>
                <a:srgbClr val="FF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84" name="AutoShape 242"/>
            <p:cNvSpPr>
              <a:spLocks noChangeArrowheads="1"/>
            </p:cNvSpPr>
            <p:nvPr/>
          </p:nvSpPr>
          <p:spPr bwMode="auto">
            <a:xfrm>
              <a:off x="3523" y="795"/>
              <a:ext cx="213" cy="124"/>
            </a:xfrm>
            <a:prstGeom prst="flowChartPunchedCard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85" name="Line 243"/>
            <p:cNvSpPr>
              <a:spLocks noChangeShapeType="1"/>
            </p:cNvSpPr>
            <p:nvPr/>
          </p:nvSpPr>
          <p:spPr bwMode="auto">
            <a:xfrm>
              <a:off x="3523" y="915"/>
              <a:ext cx="212" cy="0"/>
            </a:xfrm>
            <a:prstGeom prst="line">
              <a:avLst/>
            </a:prstGeom>
            <a:noFill/>
            <a:ln w="57150">
              <a:solidFill>
                <a:srgbClr val="FF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0">
                <a:ea typeface="楷体" panose="02010609060101010101" pitchFamily="49" charset="-122"/>
              </a:endParaRPr>
            </a:p>
          </p:txBody>
        </p:sp>
        <p:sp>
          <p:nvSpPr>
            <p:cNvPr id="86" name="Text Box 244"/>
            <p:cNvSpPr txBox="1">
              <a:spLocks noChangeArrowheads="1"/>
            </p:cNvSpPr>
            <p:nvPr/>
          </p:nvSpPr>
          <p:spPr bwMode="auto">
            <a:xfrm>
              <a:off x="3458" y="1931"/>
              <a:ext cx="348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000" b="1">
                  <a:ea typeface="楷体" panose="02010609060101010101" pitchFamily="49" charset="-122"/>
                </a:rPr>
                <a:t>超级块</a:t>
              </a:r>
            </a:p>
          </p:txBody>
        </p:sp>
        <p:sp>
          <p:nvSpPr>
            <p:cNvPr id="87" name="Text Box 245"/>
            <p:cNvSpPr txBox="1">
              <a:spLocks noChangeArrowheads="1"/>
            </p:cNvSpPr>
            <p:nvPr/>
          </p:nvSpPr>
          <p:spPr bwMode="auto">
            <a:xfrm>
              <a:off x="4733" y="2076"/>
              <a:ext cx="16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000" b="1">
                  <a:ea typeface="楷体" panose="02010609060101010101" pitchFamily="49" charset="-122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64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成组链法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dirty="0" smtClean="0"/>
              <a:t>采用</a:t>
            </a:r>
            <a:r>
              <a:rPr lang="zh-CN" altLang="en-US" sz="2000" dirty="0"/>
              <a:t>成组链接法管理磁盘空闲空间，目前磁盘的状态如图所</a:t>
            </a:r>
            <a:r>
              <a:rPr lang="zh-CN" altLang="en-US" sz="2000" dirty="0" smtClean="0"/>
              <a:t>示。问：</a:t>
            </a:r>
            <a:endParaRPr lang="en-US" altLang="zh-CN" sz="2000" dirty="0" smtClean="0"/>
          </a:p>
          <a:p>
            <a:pPr lvl="1">
              <a:spcBef>
                <a:spcPct val="0"/>
              </a:spcBef>
            </a:pPr>
            <a:r>
              <a:rPr lang="en-US" altLang="zh-CN" sz="1800" dirty="0" smtClean="0"/>
              <a:t>(</a:t>
            </a:r>
            <a:r>
              <a:rPr lang="en-US" altLang="zh-CN" sz="1800" dirty="0"/>
              <a:t>1) </a:t>
            </a:r>
            <a:r>
              <a:rPr lang="zh-CN" altLang="en-US" sz="1800" dirty="0"/>
              <a:t>该磁盘中目前还有多少空闲盘块</a:t>
            </a:r>
            <a:r>
              <a:rPr lang="zh-CN" altLang="en-US" sz="1800" dirty="0" smtClean="0"/>
              <a:t>？</a:t>
            </a:r>
            <a:endParaRPr lang="en-US" altLang="zh-CN" sz="1800" dirty="0" smtClean="0"/>
          </a:p>
          <a:p>
            <a:pPr lvl="1">
              <a:spcBef>
                <a:spcPct val="0"/>
              </a:spcBef>
            </a:pPr>
            <a:r>
              <a:rPr lang="en-US" altLang="zh-CN" sz="1800" dirty="0" smtClean="0"/>
              <a:t>(</a:t>
            </a:r>
            <a:r>
              <a:rPr lang="en-US" altLang="zh-CN" sz="1800" dirty="0"/>
              <a:t>2) </a:t>
            </a:r>
            <a:r>
              <a:rPr lang="zh-CN" altLang="en-US" sz="1800" dirty="0"/>
              <a:t>在为某个文件分配</a:t>
            </a:r>
            <a:r>
              <a:rPr lang="en-US" altLang="zh-CN" sz="1800" dirty="0"/>
              <a:t>3</a:t>
            </a:r>
            <a:r>
              <a:rPr lang="zh-CN" altLang="en-US" sz="1800" dirty="0"/>
              <a:t>个盘块后，系统要删除另一文件，并回收它所占的</a:t>
            </a:r>
            <a:r>
              <a:rPr lang="en-US" altLang="zh-CN" sz="1800" dirty="0"/>
              <a:t>5</a:t>
            </a:r>
            <a:r>
              <a:rPr lang="zh-CN" altLang="en-US" sz="1800" dirty="0"/>
              <a:t>个盘块，它们的盘块号依次为</a:t>
            </a:r>
            <a:r>
              <a:rPr lang="en-US" altLang="zh-CN" sz="1800" dirty="0"/>
              <a:t>700</a:t>
            </a:r>
            <a:r>
              <a:rPr lang="zh-CN" altLang="en-US" sz="1800" dirty="0"/>
              <a:t>、</a:t>
            </a:r>
            <a:r>
              <a:rPr lang="en-US" altLang="zh-CN" sz="1800" dirty="0"/>
              <a:t>711</a:t>
            </a:r>
            <a:r>
              <a:rPr lang="zh-CN" altLang="en-US" sz="1800" dirty="0"/>
              <a:t>、</a:t>
            </a:r>
            <a:r>
              <a:rPr lang="en-US" altLang="zh-CN" sz="1800" dirty="0"/>
              <a:t>703</a:t>
            </a:r>
            <a:r>
              <a:rPr lang="zh-CN" altLang="en-US" sz="1800" dirty="0"/>
              <a:t>、</a:t>
            </a:r>
            <a:r>
              <a:rPr lang="en-US" altLang="zh-CN" sz="1800" dirty="0"/>
              <a:t>788</a:t>
            </a:r>
            <a:r>
              <a:rPr lang="zh-CN" altLang="en-US" sz="1800" dirty="0"/>
              <a:t>、</a:t>
            </a:r>
            <a:r>
              <a:rPr lang="en-US" altLang="zh-CN" sz="1800" dirty="0"/>
              <a:t>701</a:t>
            </a:r>
            <a:r>
              <a:rPr lang="zh-CN" altLang="en-US" sz="1800" dirty="0"/>
              <a:t>，请画出回收后的盘块链接情</a:t>
            </a:r>
            <a:r>
              <a:rPr lang="zh-CN" altLang="en-US" sz="1800" dirty="0" smtClean="0"/>
              <a:t>况。</a:t>
            </a:r>
            <a:endParaRPr lang="zh-CN" altLang="en-US" sz="1800" dirty="0"/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38A71-8ECF-45A3-8053-B464C13B01E1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54</a:t>
            </a:fld>
            <a:endParaRPr lang="zh-CN" altLang="en-US" dirty="0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362075" y="3236122"/>
            <a:ext cx="6124575" cy="3305175"/>
            <a:chOff x="161" y="2185"/>
            <a:chExt cx="3858" cy="2082"/>
          </a:xfrm>
        </p:grpSpPr>
        <p:grpSp>
          <p:nvGrpSpPr>
            <p:cNvPr id="8" name="Group 7"/>
            <p:cNvGrpSpPr>
              <a:grpSpLocks/>
            </p:cNvGrpSpPr>
            <p:nvPr/>
          </p:nvGrpSpPr>
          <p:grpSpPr bwMode="auto">
            <a:xfrm>
              <a:off x="161" y="2343"/>
              <a:ext cx="1086" cy="1495"/>
              <a:chOff x="70" y="2437"/>
              <a:chExt cx="1086" cy="1495"/>
            </a:xfrm>
          </p:grpSpPr>
          <p:sp>
            <p:nvSpPr>
              <p:cNvPr id="91" name="Text Box 8"/>
              <p:cNvSpPr txBox="1">
                <a:spLocks noChangeArrowheads="1"/>
              </p:cNvSpPr>
              <p:nvPr/>
            </p:nvSpPr>
            <p:spPr bwMode="auto">
              <a:xfrm>
                <a:off x="748" y="2478"/>
                <a:ext cx="318" cy="145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2</a:t>
                </a: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300</a:t>
                </a: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299</a:t>
                </a: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92" name="Text Box 9"/>
              <p:cNvSpPr txBox="1">
                <a:spLocks noChangeArrowheads="1"/>
              </p:cNvSpPr>
              <p:nvPr/>
            </p:nvSpPr>
            <p:spPr bwMode="auto">
              <a:xfrm>
                <a:off x="819" y="3118"/>
                <a:ext cx="181" cy="1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</p:txBody>
          </p:sp>
          <p:sp>
            <p:nvSpPr>
              <p:cNvPr id="93" name="Text Box 10"/>
              <p:cNvSpPr txBox="1">
                <a:spLocks noChangeArrowheads="1"/>
              </p:cNvSpPr>
              <p:nvPr/>
            </p:nvSpPr>
            <p:spPr bwMode="auto">
              <a:xfrm>
                <a:off x="975" y="2443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94" name="Text Box 11"/>
              <p:cNvSpPr txBox="1">
                <a:spLocks noChangeArrowheads="1"/>
              </p:cNvSpPr>
              <p:nvPr/>
            </p:nvSpPr>
            <p:spPr bwMode="auto">
              <a:xfrm>
                <a:off x="662" y="2437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95" name="Text Box 12"/>
              <p:cNvSpPr txBox="1">
                <a:spLocks noChangeArrowheads="1"/>
              </p:cNvSpPr>
              <p:nvPr/>
            </p:nvSpPr>
            <p:spPr bwMode="auto">
              <a:xfrm>
                <a:off x="975" y="3676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96" name="Text Box 13"/>
              <p:cNvSpPr txBox="1">
                <a:spLocks noChangeArrowheads="1"/>
              </p:cNvSpPr>
              <p:nvPr/>
            </p:nvSpPr>
            <p:spPr bwMode="auto">
              <a:xfrm>
                <a:off x="662" y="3670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97" name="Line 14"/>
              <p:cNvSpPr>
                <a:spLocks noChangeShapeType="1"/>
              </p:cNvSpPr>
              <p:nvPr/>
            </p:nvSpPr>
            <p:spPr bwMode="auto">
              <a:xfrm>
                <a:off x="748" y="2649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98" name="Line 15"/>
              <p:cNvSpPr>
                <a:spLocks noChangeShapeType="1"/>
              </p:cNvSpPr>
              <p:nvPr/>
            </p:nvSpPr>
            <p:spPr bwMode="auto">
              <a:xfrm>
                <a:off x="748" y="2785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99" name="Line 16"/>
              <p:cNvSpPr>
                <a:spLocks noChangeShapeType="1"/>
              </p:cNvSpPr>
              <p:nvPr/>
            </p:nvSpPr>
            <p:spPr bwMode="auto">
              <a:xfrm>
                <a:off x="748" y="2936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00" name="Line 17"/>
              <p:cNvSpPr>
                <a:spLocks noChangeShapeType="1"/>
              </p:cNvSpPr>
              <p:nvPr/>
            </p:nvSpPr>
            <p:spPr bwMode="auto">
              <a:xfrm>
                <a:off x="748" y="3072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01" name="Line 18"/>
              <p:cNvSpPr>
                <a:spLocks noChangeShapeType="1"/>
              </p:cNvSpPr>
              <p:nvPr/>
            </p:nvSpPr>
            <p:spPr bwMode="auto">
              <a:xfrm>
                <a:off x="748" y="3340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02" name="Line 19"/>
              <p:cNvSpPr>
                <a:spLocks noChangeShapeType="1"/>
              </p:cNvSpPr>
              <p:nvPr/>
            </p:nvSpPr>
            <p:spPr bwMode="auto">
              <a:xfrm>
                <a:off x="748" y="3491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03" name="Line 20"/>
              <p:cNvSpPr>
                <a:spLocks noChangeShapeType="1"/>
              </p:cNvSpPr>
              <p:nvPr/>
            </p:nvSpPr>
            <p:spPr bwMode="auto">
              <a:xfrm>
                <a:off x="748" y="3627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04" name="Text Box 21"/>
              <p:cNvSpPr txBox="1">
                <a:spLocks noChangeArrowheads="1"/>
              </p:cNvSpPr>
              <p:nvPr/>
            </p:nvSpPr>
            <p:spPr bwMode="auto">
              <a:xfrm>
                <a:off x="70" y="2614"/>
                <a:ext cx="703" cy="10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s_nfree</a:t>
                </a:r>
              </a:p>
              <a:p>
                <a:pPr algn="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s_free[0]</a:t>
                </a:r>
              </a:p>
              <a:p>
                <a:pPr algn="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s_free[1]</a:t>
                </a:r>
              </a:p>
              <a:p>
                <a:pPr algn="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pPr algn="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pPr algn="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s_free[98]</a:t>
                </a:r>
              </a:p>
              <a:p>
                <a:pPr algn="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s_free[99]</a:t>
                </a:r>
              </a:p>
            </p:txBody>
          </p:sp>
        </p:grpSp>
        <p:grpSp>
          <p:nvGrpSpPr>
            <p:cNvPr id="9" name="Group 22"/>
            <p:cNvGrpSpPr>
              <a:grpSpLocks/>
            </p:cNvGrpSpPr>
            <p:nvPr/>
          </p:nvGrpSpPr>
          <p:grpSpPr bwMode="auto">
            <a:xfrm>
              <a:off x="1474" y="2251"/>
              <a:ext cx="494" cy="928"/>
              <a:chOff x="1524" y="2251"/>
              <a:chExt cx="494" cy="928"/>
            </a:xfrm>
          </p:grpSpPr>
          <p:sp>
            <p:nvSpPr>
              <p:cNvPr id="82" name="Text Box 23"/>
              <p:cNvSpPr txBox="1">
                <a:spLocks noChangeArrowheads="1"/>
              </p:cNvSpPr>
              <p:nvPr/>
            </p:nvSpPr>
            <p:spPr bwMode="auto">
              <a:xfrm>
                <a:off x="1610" y="2251"/>
                <a:ext cx="317" cy="8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 dirty="0">
                    <a:ea typeface="楷体" panose="02010609060101010101" pitchFamily="49" charset="-122"/>
                  </a:rPr>
                  <a:t>100</a:t>
                </a: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 dirty="0">
                    <a:ea typeface="楷体" panose="02010609060101010101" pitchFamily="49" charset="-122"/>
                  </a:rPr>
                  <a:t>400</a:t>
                </a: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 dirty="0">
                    <a:ea typeface="楷体" panose="02010609060101010101" pitchFamily="49" charset="-122"/>
                  </a:rPr>
                  <a:t>399</a:t>
                </a: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 dirty="0">
                  <a:ea typeface="楷体" panose="02010609060101010101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 dirty="0">
                    <a:ea typeface="楷体" panose="02010609060101010101" pitchFamily="49" charset="-122"/>
                  </a:rPr>
                  <a:t>301</a:t>
                </a: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 dirty="0">
                  <a:ea typeface="楷体" panose="02010609060101010101" pitchFamily="49" charset="-122"/>
                </a:endParaRPr>
              </a:p>
            </p:txBody>
          </p:sp>
          <p:sp>
            <p:nvSpPr>
              <p:cNvPr id="83" name="Text Box 24"/>
              <p:cNvSpPr txBox="1">
                <a:spLocks noChangeArrowheads="1"/>
              </p:cNvSpPr>
              <p:nvPr/>
            </p:nvSpPr>
            <p:spPr bwMode="auto">
              <a:xfrm>
                <a:off x="1837" y="2967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84" name="Text Box 25"/>
              <p:cNvSpPr txBox="1">
                <a:spLocks noChangeArrowheads="1"/>
              </p:cNvSpPr>
              <p:nvPr/>
            </p:nvSpPr>
            <p:spPr bwMode="auto">
              <a:xfrm>
                <a:off x="1524" y="2961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85" name="Line 26"/>
              <p:cNvSpPr>
                <a:spLocks noChangeShapeType="1"/>
              </p:cNvSpPr>
              <p:nvPr/>
            </p:nvSpPr>
            <p:spPr bwMode="auto">
              <a:xfrm>
                <a:off x="1610" y="241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86" name="Line 27"/>
              <p:cNvSpPr>
                <a:spLocks noChangeShapeType="1"/>
              </p:cNvSpPr>
              <p:nvPr/>
            </p:nvSpPr>
            <p:spPr bwMode="auto">
              <a:xfrm>
                <a:off x="1610" y="2558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87" name="Line 28"/>
              <p:cNvSpPr>
                <a:spLocks noChangeShapeType="1"/>
              </p:cNvSpPr>
              <p:nvPr/>
            </p:nvSpPr>
            <p:spPr bwMode="auto">
              <a:xfrm>
                <a:off x="1615" y="2689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88" name="Line 29"/>
              <p:cNvSpPr>
                <a:spLocks noChangeShapeType="1"/>
              </p:cNvSpPr>
              <p:nvPr/>
            </p:nvSpPr>
            <p:spPr bwMode="auto">
              <a:xfrm>
                <a:off x="1610" y="2840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89" name="Line 30"/>
              <p:cNvSpPr>
                <a:spLocks noChangeShapeType="1"/>
              </p:cNvSpPr>
              <p:nvPr/>
            </p:nvSpPr>
            <p:spPr bwMode="auto">
              <a:xfrm>
                <a:off x="1615" y="2971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90" name="Text Box 31"/>
              <p:cNvSpPr txBox="1">
                <a:spLocks noChangeArrowheads="1"/>
              </p:cNvSpPr>
              <p:nvPr/>
            </p:nvSpPr>
            <p:spPr bwMode="auto">
              <a:xfrm>
                <a:off x="1680" y="2689"/>
                <a:ext cx="181" cy="1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</p:txBody>
          </p:sp>
        </p:grpSp>
        <p:grpSp>
          <p:nvGrpSpPr>
            <p:cNvPr id="10" name="Group 32"/>
            <p:cNvGrpSpPr>
              <a:grpSpLocks/>
            </p:cNvGrpSpPr>
            <p:nvPr/>
          </p:nvGrpSpPr>
          <p:grpSpPr bwMode="auto">
            <a:xfrm>
              <a:off x="1475" y="3344"/>
              <a:ext cx="494" cy="247"/>
              <a:chOff x="1525" y="3274"/>
              <a:chExt cx="494" cy="247"/>
            </a:xfrm>
          </p:grpSpPr>
          <p:sp>
            <p:nvSpPr>
              <p:cNvPr id="79" name="Rectangle 33"/>
              <p:cNvSpPr>
                <a:spLocks noChangeArrowheads="1"/>
              </p:cNvSpPr>
              <p:nvPr/>
            </p:nvSpPr>
            <p:spPr bwMode="auto">
              <a:xfrm>
                <a:off x="1610" y="3294"/>
                <a:ext cx="317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80" name="Text Box 34"/>
              <p:cNvSpPr txBox="1">
                <a:spLocks noChangeArrowheads="1"/>
              </p:cNvSpPr>
              <p:nvPr/>
            </p:nvSpPr>
            <p:spPr bwMode="auto">
              <a:xfrm>
                <a:off x="1838" y="3280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81" name="Text Box 35"/>
              <p:cNvSpPr txBox="1">
                <a:spLocks noChangeArrowheads="1"/>
              </p:cNvSpPr>
              <p:nvPr/>
            </p:nvSpPr>
            <p:spPr bwMode="auto">
              <a:xfrm>
                <a:off x="1525" y="3274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</p:grpSp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2154" y="2260"/>
              <a:ext cx="494" cy="928"/>
              <a:chOff x="1524" y="2251"/>
              <a:chExt cx="494" cy="928"/>
            </a:xfrm>
          </p:grpSpPr>
          <p:sp>
            <p:nvSpPr>
              <p:cNvPr id="70" name="Text Box 37"/>
              <p:cNvSpPr txBox="1">
                <a:spLocks noChangeArrowheads="1"/>
              </p:cNvSpPr>
              <p:nvPr/>
            </p:nvSpPr>
            <p:spPr bwMode="auto">
              <a:xfrm>
                <a:off x="1610" y="2251"/>
                <a:ext cx="317" cy="8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 dirty="0">
                    <a:ea typeface="楷体" panose="02010609060101010101" pitchFamily="49" charset="-122"/>
                  </a:rPr>
                  <a:t>100</a:t>
                </a: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 dirty="0">
                    <a:ea typeface="楷体" panose="02010609060101010101" pitchFamily="49" charset="-122"/>
                  </a:rPr>
                  <a:t>500</a:t>
                </a: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 dirty="0">
                    <a:ea typeface="楷体" panose="02010609060101010101" pitchFamily="49" charset="-122"/>
                  </a:rPr>
                  <a:t>499</a:t>
                </a: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 dirty="0">
                  <a:ea typeface="楷体" panose="02010609060101010101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 dirty="0">
                    <a:ea typeface="楷体" panose="02010609060101010101" pitchFamily="49" charset="-122"/>
                  </a:rPr>
                  <a:t>401</a:t>
                </a: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 dirty="0">
                  <a:ea typeface="楷体" panose="02010609060101010101" pitchFamily="49" charset="-122"/>
                </a:endParaRPr>
              </a:p>
            </p:txBody>
          </p:sp>
          <p:sp>
            <p:nvSpPr>
              <p:cNvPr id="71" name="Text Box 38"/>
              <p:cNvSpPr txBox="1">
                <a:spLocks noChangeArrowheads="1"/>
              </p:cNvSpPr>
              <p:nvPr/>
            </p:nvSpPr>
            <p:spPr bwMode="auto">
              <a:xfrm>
                <a:off x="1837" y="2967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72" name="Text Box 39"/>
              <p:cNvSpPr txBox="1">
                <a:spLocks noChangeArrowheads="1"/>
              </p:cNvSpPr>
              <p:nvPr/>
            </p:nvSpPr>
            <p:spPr bwMode="auto">
              <a:xfrm>
                <a:off x="1524" y="2961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73" name="Line 40"/>
              <p:cNvSpPr>
                <a:spLocks noChangeShapeType="1"/>
              </p:cNvSpPr>
              <p:nvPr/>
            </p:nvSpPr>
            <p:spPr bwMode="auto">
              <a:xfrm>
                <a:off x="1610" y="241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74" name="Line 41"/>
              <p:cNvSpPr>
                <a:spLocks noChangeShapeType="1"/>
              </p:cNvSpPr>
              <p:nvPr/>
            </p:nvSpPr>
            <p:spPr bwMode="auto">
              <a:xfrm>
                <a:off x="1610" y="2558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75" name="Line 42"/>
              <p:cNvSpPr>
                <a:spLocks noChangeShapeType="1"/>
              </p:cNvSpPr>
              <p:nvPr/>
            </p:nvSpPr>
            <p:spPr bwMode="auto">
              <a:xfrm>
                <a:off x="1615" y="2689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76" name="Line 43"/>
              <p:cNvSpPr>
                <a:spLocks noChangeShapeType="1"/>
              </p:cNvSpPr>
              <p:nvPr/>
            </p:nvSpPr>
            <p:spPr bwMode="auto">
              <a:xfrm>
                <a:off x="1610" y="2840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77" name="Line 44"/>
              <p:cNvSpPr>
                <a:spLocks noChangeShapeType="1"/>
              </p:cNvSpPr>
              <p:nvPr/>
            </p:nvSpPr>
            <p:spPr bwMode="auto">
              <a:xfrm>
                <a:off x="1615" y="2971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78" name="Text Box 45"/>
              <p:cNvSpPr txBox="1">
                <a:spLocks noChangeArrowheads="1"/>
              </p:cNvSpPr>
              <p:nvPr/>
            </p:nvSpPr>
            <p:spPr bwMode="auto">
              <a:xfrm>
                <a:off x="1680" y="2689"/>
                <a:ext cx="181" cy="1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</p:txBody>
          </p:sp>
        </p:grpSp>
        <p:grpSp>
          <p:nvGrpSpPr>
            <p:cNvPr id="12" name="Group 46"/>
            <p:cNvGrpSpPr>
              <a:grpSpLocks/>
            </p:cNvGrpSpPr>
            <p:nvPr/>
          </p:nvGrpSpPr>
          <p:grpSpPr bwMode="auto">
            <a:xfrm>
              <a:off x="2835" y="2251"/>
              <a:ext cx="494" cy="928"/>
              <a:chOff x="1524" y="2251"/>
              <a:chExt cx="494" cy="928"/>
            </a:xfrm>
          </p:grpSpPr>
          <p:sp>
            <p:nvSpPr>
              <p:cNvPr id="61" name="Text Box 47"/>
              <p:cNvSpPr txBox="1">
                <a:spLocks noChangeArrowheads="1"/>
              </p:cNvSpPr>
              <p:nvPr/>
            </p:nvSpPr>
            <p:spPr bwMode="auto">
              <a:xfrm>
                <a:off x="1610" y="2251"/>
                <a:ext cx="317" cy="8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100</a:t>
                </a: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0</a:t>
                </a: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599</a:t>
                </a: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501</a:t>
                </a:r>
              </a:p>
              <a:p>
                <a:pPr algn="ctr">
                  <a:lnSpc>
                    <a:spcPct val="90000"/>
                  </a:lnSpc>
                </a:pPr>
                <a:endParaRPr kumimoji="0" lang="en-US" altLang="zh-CN" sz="1600" b="1">
                  <a:ea typeface="楷体" panose="02010609060101010101" pitchFamily="49" charset="-122"/>
                </a:endParaRPr>
              </a:p>
            </p:txBody>
          </p:sp>
          <p:sp>
            <p:nvSpPr>
              <p:cNvPr id="62" name="Text Box 48"/>
              <p:cNvSpPr txBox="1">
                <a:spLocks noChangeArrowheads="1"/>
              </p:cNvSpPr>
              <p:nvPr/>
            </p:nvSpPr>
            <p:spPr bwMode="auto">
              <a:xfrm>
                <a:off x="1837" y="2967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63" name="Text Box 49"/>
              <p:cNvSpPr txBox="1">
                <a:spLocks noChangeArrowheads="1"/>
              </p:cNvSpPr>
              <p:nvPr/>
            </p:nvSpPr>
            <p:spPr bwMode="auto">
              <a:xfrm>
                <a:off x="1524" y="2961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64" name="Line 50"/>
              <p:cNvSpPr>
                <a:spLocks noChangeShapeType="1"/>
              </p:cNvSpPr>
              <p:nvPr/>
            </p:nvSpPr>
            <p:spPr bwMode="auto">
              <a:xfrm>
                <a:off x="1610" y="241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65" name="Line 51"/>
              <p:cNvSpPr>
                <a:spLocks noChangeShapeType="1"/>
              </p:cNvSpPr>
              <p:nvPr/>
            </p:nvSpPr>
            <p:spPr bwMode="auto">
              <a:xfrm>
                <a:off x="1610" y="2558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66" name="Line 52"/>
              <p:cNvSpPr>
                <a:spLocks noChangeShapeType="1"/>
              </p:cNvSpPr>
              <p:nvPr/>
            </p:nvSpPr>
            <p:spPr bwMode="auto">
              <a:xfrm>
                <a:off x="1615" y="2689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67" name="Line 53"/>
              <p:cNvSpPr>
                <a:spLocks noChangeShapeType="1"/>
              </p:cNvSpPr>
              <p:nvPr/>
            </p:nvSpPr>
            <p:spPr bwMode="auto">
              <a:xfrm>
                <a:off x="1610" y="2840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68" name="Line 54"/>
              <p:cNvSpPr>
                <a:spLocks noChangeShapeType="1"/>
              </p:cNvSpPr>
              <p:nvPr/>
            </p:nvSpPr>
            <p:spPr bwMode="auto">
              <a:xfrm>
                <a:off x="1615" y="2971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69" name="Text Box 55"/>
              <p:cNvSpPr txBox="1">
                <a:spLocks noChangeArrowheads="1"/>
              </p:cNvSpPr>
              <p:nvPr/>
            </p:nvSpPr>
            <p:spPr bwMode="auto">
              <a:xfrm>
                <a:off x="1680" y="2689"/>
                <a:ext cx="181" cy="1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  <a:p>
                <a:pPr algn="ctr">
                  <a:lnSpc>
                    <a:spcPct val="20000"/>
                  </a:lnSpc>
                </a:pPr>
                <a:r>
                  <a:rPr kumimoji="0" lang="en-US" altLang="zh-CN" sz="1600" b="1">
                    <a:ea typeface="楷体" panose="02010609060101010101" pitchFamily="49" charset="-122"/>
                  </a:rPr>
                  <a:t>.</a:t>
                </a:r>
              </a:p>
            </p:txBody>
          </p:sp>
        </p:grpSp>
        <p:grpSp>
          <p:nvGrpSpPr>
            <p:cNvPr id="13" name="Group 56"/>
            <p:cNvGrpSpPr>
              <a:grpSpLocks/>
            </p:cNvGrpSpPr>
            <p:nvPr/>
          </p:nvGrpSpPr>
          <p:grpSpPr bwMode="auto">
            <a:xfrm>
              <a:off x="2164" y="3344"/>
              <a:ext cx="494" cy="247"/>
              <a:chOff x="1525" y="3274"/>
              <a:chExt cx="494" cy="247"/>
            </a:xfrm>
          </p:grpSpPr>
          <p:sp>
            <p:nvSpPr>
              <p:cNvPr id="58" name="Rectangle 57"/>
              <p:cNvSpPr>
                <a:spLocks noChangeArrowheads="1"/>
              </p:cNvSpPr>
              <p:nvPr/>
            </p:nvSpPr>
            <p:spPr bwMode="auto">
              <a:xfrm>
                <a:off x="1610" y="3294"/>
                <a:ext cx="317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59" name="Text Box 58"/>
              <p:cNvSpPr txBox="1">
                <a:spLocks noChangeArrowheads="1"/>
              </p:cNvSpPr>
              <p:nvPr/>
            </p:nvSpPr>
            <p:spPr bwMode="auto">
              <a:xfrm>
                <a:off x="1838" y="3280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60" name="Text Box 59"/>
              <p:cNvSpPr txBox="1">
                <a:spLocks noChangeArrowheads="1"/>
              </p:cNvSpPr>
              <p:nvPr/>
            </p:nvSpPr>
            <p:spPr bwMode="auto">
              <a:xfrm>
                <a:off x="1525" y="3274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</p:grpSp>
        <p:grpSp>
          <p:nvGrpSpPr>
            <p:cNvPr id="14" name="Group 60"/>
            <p:cNvGrpSpPr>
              <a:grpSpLocks/>
            </p:cNvGrpSpPr>
            <p:nvPr/>
          </p:nvGrpSpPr>
          <p:grpSpPr bwMode="auto">
            <a:xfrm>
              <a:off x="2840" y="3334"/>
              <a:ext cx="494" cy="247"/>
              <a:chOff x="1525" y="3274"/>
              <a:chExt cx="494" cy="247"/>
            </a:xfrm>
          </p:grpSpPr>
          <p:sp>
            <p:nvSpPr>
              <p:cNvPr id="55" name="Rectangle 61"/>
              <p:cNvSpPr>
                <a:spLocks noChangeArrowheads="1"/>
              </p:cNvSpPr>
              <p:nvPr/>
            </p:nvSpPr>
            <p:spPr bwMode="auto">
              <a:xfrm>
                <a:off x="1610" y="3294"/>
                <a:ext cx="317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56" name="Text Box 62"/>
              <p:cNvSpPr txBox="1">
                <a:spLocks noChangeArrowheads="1"/>
              </p:cNvSpPr>
              <p:nvPr/>
            </p:nvSpPr>
            <p:spPr bwMode="auto">
              <a:xfrm>
                <a:off x="1838" y="3280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57" name="Text Box 63"/>
              <p:cNvSpPr txBox="1">
                <a:spLocks noChangeArrowheads="1"/>
              </p:cNvSpPr>
              <p:nvPr/>
            </p:nvSpPr>
            <p:spPr bwMode="auto">
              <a:xfrm>
                <a:off x="1525" y="3274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</p:grpSp>
        <p:grpSp>
          <p:nvGrpSpPr>
            <p:cNvPr id="15" name="Group 64"/>
            <p:cNvGrpSpPr>
              <a:grpSpLocks/>
            </p:cNvGrpSpPr>
            <p:nvPr/>
          </p:nvGrpSpPr>
          <p:grpSpPr bwMode="auto">
            <a:xfrm>
              <a:off x="3515" y="3334"/>
              <a:ext cx="494" cy="247"/>
              <a:chOff x="1525" y="3274"/>
              <a:chExt cx="494" cy="247"/>
            </a:xfrm>
          </p:grpSpPr>
          <p:sp>
            <p:nvSpPr>
              <p:cNvPr id="52" name="Rectangle 65"/>
              <p:cNvSpPr>
                <a:spLocks noChangeArrowheads="1"/>
              </p:cNvSpPr>
              <p:nvPr/>
            </p:nvSpPr>
            <p:spPr bwMode="auto">
              <a:xfrm>
                <a:off x="1610" y="3294"/>
                <a:ext cx="317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53" name="Text Box 66"/>
              <p:cNvSpPr txBox="1">
                <a:spLocks noChangeArrowheads="1"/>
              </p:cNvSpPr>
              <p:nvPr/>
            </p:nvSpPr>
            <p:spPr bwMode="auto">
              <a:xfrm>
                <a:off x="1838" y="3280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54" name="Text Box 67"/>
              <p:cNvSpPr txBox="1">
                <a:spLocks noChangeArrowheads="1"/>
              </p:cNvSpPr>
              <p:nvPr/>
            </p:nvSpPr>
            <p:spPr bwMode="auto">
              <a:xfrm>
                <a:off x="1525" y="3274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</p:grpSp>
        <p:grpSp>
          <p:nvGrpSpPr>
            <p:cNvPr id="16" name="Group 68"/>
            <p:cNvGrpSpPr>
              <a:grpSpLocks/>
            </p:cNvGrpSpPr>
            <p:nvPr/>
          </p:nvGrpSpPr>
          <p:grpSpPr bwMode="auto">
            <a:xfrm>
              <a:off x="2170" y="3858"/>
              <a:ext cx="494" cy="247"/>
              <a:chOff x="1525" y="3274"/>
              <a:chExt cx="494" cy="247"/>
            </a:xfrm>
          </p:grpSpPr>
          <p:sp>
            <p:nvSpPr>
              <p:cNvPr id="49" name="Rectangle 69"/>
              <p:cNvSpPr>
                <a:spLocks noChangeArrowheads="1"/>
              </p:cNvSpPr>
              <p:nvPr/>
            </p:nvSpPr>
            <p:spPr bwMode="auto">
              <a:xfrm>
                <a:off x="1610" y="3294"/>
                <a:ext cx="317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50" name="Text Box 70"/>
              <p:cNvSpPr txBox="1">
                <a:spLocks noChangeArrowheads="1"/>
              </p:cNvSpPr>
              <p:nvPr/>
            </p:nvSpPr>
            <p:spPr bwMode="auto">
              <a:xfrm>
                <a:off x="1838" y="3280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51" name="Text Box 71"/>
              <p:cNvSpPr txBox="1">
                <a:spLocks noChangeArrowheads="1"/>
              </p:cNvSpPr>
              <p:nvPr/>
            </p:nvSpPr>
            <p:spPr bwMode="auto">
              <a:xfrm>
                <a:off x="1525" y="3274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</p:grpSp>
        <p:grpSp>
          <p:nvGrpSpPr>
            <p:cNvPr id="17" name="Group 72"/>
            <p:cNvGrpSpPr>
              <a:grpSpLocks/>
            </p:cNvGrpSpPr>
            <p:nvPr/>
          </p:nvGrpSpPr>
          <p:grpSpPr bwMode="auto">
            <a:xfrm>
              <a:off x="2850" y="3853"/>
              <a:ext cx="494" cy="247"/>
              <a:chOff x="1525" y="3274"/>
              <a:chExt cx="494" cy="247"/>
            </a:xfrm>
          </p:grpSpPr>
          <p:sp>
            <p:nvSpPr>
              <p:cNvPr id="46" name="Rectangle 73"/>
              <p:cNvSpPr>
                <a:spLocks noChangeArrowheads="1"/>
              </p:cNvSpPr>
              <p:nvPr/>
            </p:nvSpPr>
            <p:spPr bwMode="auto">
              <a:xfrm>
                <a:off x="1610" y="3294"/>
                <a:ext cx="317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7" name="Text Box 74"/>
              <p:cNvSpPr txBox="1">
                <a:spLocks noChangeArrowheads="1"/>
              </p:cNvSpPr>
              <p:nvPr/>
            </p:nvSpPr>
            <p:spPr bwMode="auto">
              <a:xfrm>
                <a:off x="1838" y="3280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48" name="Text Box 75"/>
              <p:cNvSpPr txBox="1">
                <a:spLocks noChangeArrowheads="1"/>
              </p:cNvSpPr>
              <p:nvPr/>
            </p:nvSpPr>
            <p:spPr bwMode="auto">
              <a:xfrm>
                <a:off x="1525" y="3274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</p:grpSp>
        <p:grpSp>
          <p:nvGrpSpPr>
            <p:cNvPr id="18" name="Group 76"/>
            <p:cNvGrpSpPr>
              <a:grpSpLocks/>
            </p:cNvGrpSpPr>
            <p:nvPr/>
          </p:nvGrpSpPr>
          <p:grpSpPr bwMode="auto">
            <a:xfrm>
              <a:off x="3525" y="3848"/>
              <a:ext cx="494" cy="247"/>
              <a:chOff x="1525" y="3274"/>
              <a:chExt cx="494" cy="247"/>
            </a:xfrm>
          </p:grpSpPr>
          <p:sp>
            <p:nvSpPr>
              <p:cNvPr id="43" name="Rectangle 77"/>
              <p:cNvSpPr>
                <a:spLocks noChangeArrowheads="1"/>
              </p:cNvSpPr>
              <p:nvPr/>
            </p:nvSpPr>
            <p:spPr bwMode="auto">
              <a:xfrm>
                <a:off x="1610" y="3294"/>
                <a:ext cx="317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4" name="Text Box 78"/>
              <p:cNvSpPr txBox="1">
                <a:spLocks noChangeArrowheads="1"/>
              </p:cNvSpPr>
              <p:nvPr/>
            </p:nvSpPr>
            <p:spPr bwMode="auto">
              <a:xfrm>
                <a:off x="1838" y="3280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  <p:sp>
            <p:nvSpPr>
              <p:cNvPr id="45" name="Text Box 79"/>
              <p:cNvSpPr txBox="1">
                <a:spLocks noChangeArrowheads="1"/>
              </p:cNvSpPr>
              <p:nvPr/>
            </p:nvSpPr>
            <p:spPr bwMode="auto">
              <a:xfrm>
                <a:off x="1525" y="3274"/>
                <a:ext cx="1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ea typeface="楷体" panose="02010609060101010101" pitchFamily="49" charset="-122"/>
                    <a:sym typeface="Symbol" panose="05050102010706020507" pitchFamily="18" charset="2"/>
                  </a:rPr>
                  <a:t></a:t>
                </a:r>
              </a:p>
            </p:txBody>
          </p:sp>
        </p:grpSp>
        <p:sp>
          <p:nvSpPr>
            <p:cNvPr id="19" name="Text Box 80"/>
            <p:cNvSpPr txBox="1">
              <a:spLocks noChangeArrowheads="1"/>
            </p:cNvSpPr>
            <p:nvPr/>
          </p:nvSpPr>
          <p:spPr bwMode="auto">
            <a:xfrm>
              <a:off x="2321" y="3742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20" name="Text Box 81"/>
            <p:cNvSpPr txBox="1">
              <a:spLocks noChangeArrowheads="1"/>
            </p:cNvSpPr>
            <p:nvPr/>
          </p:nvSpPr>
          <p:spPr bwMode="auto">
            <a:xfrm>
              <a:off x="3001" y="3732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21" name="Text Box 82"/>
            <p:cNvSpPr txBox="1">
              <a:spLocks noChangeArrowheads="1"/>
            </p:cNvSpPr>
            <p:nvPr/>
          </p:nvSpPr>
          <p:spPr bwMode="auto">
            <a:xfrm>
              <a:off x="3686" y="3737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22" name="Text Box 83"/>
            <p:cNvSpPr txBox="1">
              <a:spLocks noChangeArrowheads="1"/>
            </p:cNvSpPr>
            <p:nvPr/>
          </p:nvSpPr>
          <p:spPr bwMode="auto">
            <a:xfrm>
              <a:off x="531" y="2185"/>
              <a:ext cx="90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 dirty="0">
                  <a:ea typeface="楷体" panose="02010609060101010101" pitchFamily="49" charset="-122"/>
                </a:rPr>
                <a:t>空闲盘块号栈</a:t>
              </a:r>
            </a:p>
          </p:txBody>
        </p:sp>
        <p:sp>
          <p:nvSpPr>
            <p:cNvPr id="23" name="Text Box 84"/>
            <p:cNvSpPr txBox="1">
              <a:spLocks noChangeArrowheads="1"/>
            </p:cNvSpPr>
            <p:nvPr/>
          </p:nvSpPr>
          <p:spPr bwMode="auto">
            <a:xfrm>
              <a:off x="1580" y="310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300</a:t>
              </a:r>
            </a:p>
          </p:txBody>
        </p:sp>
        <p:sp>
          <p:nvSpPr>
            <p:cNvPr id="24" name="Text Box 85"/>
            <p:cNvSpPr txBox="1">
              <a:spLocks noChangeArrowheads="1"/>
            </p:cNvSpPr>
            <p:nvPr/>
          </p:nvSpPr>
          <p:spPr bwMode="auto">
            <a:xfrm>
              <a:off x="1570" y="3551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299</a:t>
              </a:r>
            </a:p>
          </p:txBody>
        </p:sp>
        <p:sp>
          <p:nvSpPr>
            <p:cNvPr id="25" name="Text Box 86"/>
            <p:cNvSpPr txBox="1">
              <a:spLocks noChangeArrowheads="1"/>
            </p:cNvSpPr>
            <p:nvPr/>
          </p:nvSpPr>
          <p:spPr bwMode="auto">
            <a:xfrm>
              <a:off x="2245" y="3108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400</a:t>
              </a:r>
            </a:p>
          </p:txBody>
        </p:sp>
        <p:sp>
          <p:nvSpPr>
            <p:cNvPr id="26" name="Text Box 87"/>
            <p:cNvSpPr txBox="1">
              <a:spLocks noChangeArrowheads="1"/>
            </p:cNvSpPr>
            <p:nvPr/>
          </p:nvSpPr>
          <p:spPr bwMode="auto">
            <a:xfrm>
              <a:off x="2255" y="3536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399</a:t>
              </a:r>
            </a:p>
          </p:txBody>
        </p:sp>
        <p:sp>
          <p:nvSpPr>
            <p:cNvPr id="27" name="Text Box 88"/>
            <p:cNvSpPr txBox="1">
              <a:spLocks noChangeArrowheads="1"/>
            </p:cNvSpPr>
            <p:nvPr/>
          </p:nvSpPr>
          <p:spPr bwMode="auto">
            <a:xfrm>
              <a:off x="2255" y="4055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301</a:t>
              </a:r>
            </a:p>
          </p:txBody>
        </p:sp>
        <p:sp>
          <p:nvSpPr>
            <p:cNvPr id="28" name="Text Box 89"/>
            <p:cNvSpPr txBox="1">
              <a:spLocks noChangeArrowheads="1"/>
            </p:cNvSpPr>
            <p:nvPr/>
          </p:nvSpPr>
          <p:spPr bwMode="auto">
            <a:xfrm>
              <a:off x="2935" y="310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</p:txBody>
        </p:sp>
        <p:sp>
          <p:nvSpPr>
            <p:cNvPr id="29" name="Text Box 90"/>
            <p:cNvSpPr txBox="1">
              <a:spLocks noChangeArrowheads="1"/>
            </p:cNvSpPr>
            <p:nvPr/>
          </p:nvSpPr>
          <p:spPr bwMode="auto">
            <a:xfrm>
              <a:off x="2940" y="3536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</p:txBody>
        </p:sp>
        <p:sp>
          <p:nvSpPr>
            <p:cNvPr id="30" name="Text Box 91"/>
            <p:cNvSpPr txBox="1">
              <a:spLocks noChangeArrowheads="1"/>
            </p:cNvSpPr>
            <p:nvPr/>
          </p:nvSpPr>
          <p:spPr bwMode="auto">
            <a:xfrm>
              <a:off x="2950" y="4055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</p:txBody>
        </p:sp>
        <p:sp>
          <p:nvSpPr>
            <p:cNvPr id="31" name="Text Box 92"/>
            <p:cNvSpPr txBox="1">
              <a:spLocks noChangeArrowheads="1"/>
            </p:cNvSpPr>
            <p:nvPr/>
          </p:nvSpPr>
          <p:spPr bwMode="auto">
            <a:xfrm>
              <a:off x="3610" y="3526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</p:txBody>
        </p:sp>
        <p:sp>
          <p:nvSpPr>
            <p:cNvPr id="32" name="Text Box 93"/>
            <p:cNvSpPr txBox="1">
              <a:spLocks noChangeArrowheads="1"/>
            </p:cNvSpPr>
            <p:nvPr/>
          </p:nvSpPr>
          <p:spPr bwMode="auto">
            <a:xfrm>
              <a:off x="3620" y="4045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</p:txBody>
        </p:sp>
        <p:sp>
          <p:nvSpPr>
            <p:cNvPr id="33" name="Line 94"/>
            <p:cNvSpPr>
              <a:spLocks noChangeShapeType="1"/>
            </p:cNvSpPr>
            <p:nvPr/>
          </p:nvSpPr>
          <p:spPr bwMode="auto">
            <a:xfrm flipV="1">
              <a:off x="1111" y="2341"/>
              <a:ext cx="454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4" name="Line 95"/>
            <p:cNvSpPr>
              <a:spLocks noChangeShapeType="1"/>
            </p:cNvSpPr>
            <p:nvPr/>
          </p:nvSpPr>
          <p:spPr bwMode="auto">
            <a:xfrm>
              <a:off x="1111" y="2931"/>
              <a:ext cx="454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5" name="Line 96"/>
            <p:cNvSpPr>
              <a:spLocks noChangeShapeType="1"/>
            </p:cNvSpPr>
            <p:nvPr/>
          </p:nvSpPr>
          <p:spPr bwMode="auto">
            <a:xfrm flipV="1">
              <a:off x="1837" y="2341"/>
              <a:ext cx="408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6" name="Line 97"/>
            <p:cNvSpPr>
              <a:spLocks noChangeShapeType="1"/>
            </p:cNvSpPr>
            <p:nvPr/>
          </p:nvSpPr>
          <p:spPr bwMode="auto">
            <a:xfrm>
              <a:off x="1837" y="2614"/>
              <a:ext cx="408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98"/>
            <p:cNvSpPr>
              <a:spLocks noChangeShapeType="1"/>
            </p:cNvSpPr>
            <p:nvPr/>
          </p:nvSpPr>
          <p:spPr bwMode="auto">
            <a:xfrm>
              <a:off x="1837" y="2886"/>
              <a:ext cx="408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99"/>
            <p:cNvSpPr>
              <a:spLocks noChangeShapeType="1"/>
            </p:cNvSpPr>
            <p:nvPr/>
          </p:nvSpPr>
          <p:spPr bwMode="auto">
            <a:xfrm flipV="1">
              <a:off x="2472" y="2296"/>
              <a:ext cx="453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100"/>
            <p:cNvSpPr>
              <a:spLocks noChangeShapeType="1"/>
            </p:cNvSpPr>
            <p:nvPr/>
          </p:nvSpPr>
          <p:spPr bwMode="auto">
            <a:xfrm>
              <a:off x="2472" y="2614"/>
              <a:ext cx="453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101"/>
            <p:cNvSpPr>
              <a:spLocks noChangeShapeType="1"/>
            </p:cNvSpPr>
            <p:nvPr/>
          </p:nvSpPr>
          <p:spPr bwMode="auto">
            <a:xfrm>
              <a:off x="2426" y="2886"/>
              <a:ext cx="499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Line 102"/>
            <p:cNvSpPr>
              <a:spLocks noChangeShapeType="1"/>
            </p:cNvSpPr>
            <p:nvPr/>
          </p:nvSpPr>
          <p:spPr bwMode="auto">
            <a:xfrm>
              <a:off x="3198" y="2614"/>
              <a:ext cx="408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2" name="Line 103"/>
            <p:cNvSpPr>
              <a:spLocks noChangeShapeType="1"/>
            </p:cNvSpPr>
            <p:nvPr/>
          </p:nvSpPr>
          <p:spPr bwMode="auto">
            <a:xfrm>
              <a:off x="3198" y="2886"/>
              <a:ext cx="408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03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40D94-0285-4E72-9642-A7FFD168CC7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55</a:t>
            </a:fld>
            <a:endParaRPr lang="zh-CN" altLang="en-US" dirty="0"/>
          </a:p>
        </p:txBody>
      </p:sp>
      <p:grpSp>
        <p:nvGrpSpPr>
          <p:cNvPr id="7" name="Group 275"/>
          <p:cNvGrpSpPr>
            <a:grpSpLocks/>
          </p:cNvGrpSpPr>
          <p:nvPr/>
        </p:nvGrpSpPr>
        <p:grpSpPr bwMode="auto">
          <a:xfrm>
            <a:off x="1687513" y="1885950"/>
            <a:ext cx="1724025" cy="2373313"/>
            <a:chOff x="70" y="2437"/>
            <a:chExt cx="1086" cy="1495"/>
          </a:xfrm>
        </p:grpSpPr>
        <p:sp>
          <p:nvSpPr>
            <p:cNvPr id="8" name="Text Box 276"/>
            <p:cNvSpPr txBox="1">
              <a:spLocks noChangeArrowheads="1"/>
            </p:cNvSpPr>
            <p:nvPr/>
          </p:nvSpPr>
          <p:spPr bwMode="auto">
            <a:xfrm>
              <a:off x="748" y="2478"/>
              <a:ext cx="318" cy="14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300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" name="Text Box 277"/>
            <p:cNvSpPr txBox="1">
              <a:spLocks noChangeArrowheads="1"/>
            </p:cNvSpPr>
            <p:nvPr/>
          </p:nvSpPr>
          <p:spPr bwMode="auto">
            <a:xfrm>
              <a:off x="819" y="3118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10" name="Text Box 278"/>
            <p:cNvSpPr txBox="1">
              <a:spLocks noChangeArrowheads="1"/>
            </p:cNvSpPr>
            <p:nvPr/>
          </p:nvSpPr>
          <p:spPr bwMode="auto">
            <a:xfrm>
              <a:off x="975" y="244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" name="Text Box 279"/>
            <p:cNvSpPr txBox="1">
              <a:spLocks noChangeArrowheads="1"/>
            </p:cNvSpPr>
            <p:nvPr/>
          </p:nvSpPr>
          <p:spPr bwMode="auto">
            <a:xfrm>
              <a:off x="662" y="243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2" name="Text Box 280"/>
            <p:cNvSpPr txBox="1">
              <a:spLocks noChangeArrowheads="1"/>
            </p:cNvSpPr>
            <p:nvPr/>
          </p:nvSpPr>
          <p:spPr bwMode="auto">
            <a:xfrm>
              <a:off x="975" y="367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3" name="Text Box 281"/>
            <p:cNvSpPr txBox="1">
              <a:spLocks noChangeArrowheads="1"/>
            </p:cNvSpPr>
            <p:nvPr/>
          </p:nvSpPr>
          <p:spPr bwMode="auto">
            <a:xfrm>
              <a:off x="662" y="36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4" name="Line 282"/>
            <p:cNvSpPr>
              <a:spLocks noChangeShapeType="1"/>
            </p:cNvSpPr>
            <p:nvPr/>
          </p:nvSpPr>
          <p:spPr bwMode="auto">
            <a:xfrm>
              <a:off x="748" y="264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5" name="Line 283"/>
            <p:cNvSpPr>
              <a:spLocks noChangeShapeType="1"/>
            </p:cNvSpPr>
            <p:nvPr/>
          </p:nvSpPr>
          <p:spPr bwMode="auto">
            <a:xfrm>
              <a:off x="748" y="2785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284"/>
            <p:cNvSpPr>
              <a:spLocks noChangeShapeType="1"/>
            </p:cNvSpPr>
            <p:nvPr/>
          </p:nvSpPr>
          <p:spPr bwMode="auto">
            <a:xfrm>
              <a:off x="748" y="2936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285"/>
            <p:cNvSpPr>
              <a:spLocks noChangeShapeType="1"/>
            </p:cNvSpPr>
            <p:nvPr/>
          </p:nvSpPr>
          <p:spPr bwMode="auto">
            <a:xfrm>
              <a:off x="748" y="3072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Line 286"/>
            <p:cNvSpPr>
              <a:spLocks noChangeShapeType="1"/>
            </p:cNvSpPr>
            <p:nvPr/>
          </p:nvSpPr>
          <p:spPr bwMode="auto">
            <a:xfrm>
              <a:off x="748" y="3340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Line 287"/>
            <p:cNvSpPr>
              <a:spLocks noChangeShapeType="1"/>
            </p:cNvSpPr>
            <p:nvPr/>
          </p:nvSpPr>
          <p:spPr bwMode="auto">
            <a:xfrm>
              <a:off x="748" y="3491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0" name="Line 288"/>
            <p:cNvSpPr>
              <a:spLocks noChangeShapeType="1"/>
            </p:cNvSpPr>
            <p:nvPr/>
          </p:nvSpPr>
          <p:spPr bwMode="auto">
            <a:xfrm>
              <a:off x="748" y="3627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Text Box 289"/>
            <p:cNvSpPr txBox="1">
              <a:spLocks noChangeArrowheads="1"/>
            </p:cNvSpPr>
            <p:nvPr/>
          </p:nvSpPr>
          <p:spPr bwMode="auto">
            <a:xfrm>
              <a:off x="70" y="2614"/>
              <a:ext cx="703" cy="1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s_nfree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s_free[0]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s_free[1]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s_free[98]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s_free[99]</a:t>
              </a:r>
            </a:p>
          </p:txBody>
        </p:sp>
      </p:grpSp>
      <p:grpSp>
        <p:nvGrpSpPr>
          <p:cNvPr id="22" name="Group 290"/>
          <p:cNvGrpSpPr>
            <a:grpSpLocks/>
          </p:cNvGrpSpPr>
          <p:nvPr/>
        </p:nvGrpSpPr>
        <p:grpSpPr bwMode="auto">
          <a:xfrm>
            <a:off x="3771900" y="1739900"/>
            <a:ext cx="784225" cy="1473200"/>
            <a:chOff x="1524" y="2251"/>
            <a:chExt cx="494" cy="928"/>
          </a:xfrm>
        </p:grpSpPr>
        <p:sp>
          <p:nvSpPr>
            <p:cNvPr id="23" name="Text Box 291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24" name="Text Box 292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5" name="Text Box 293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6" name="Line 294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Line 295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296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297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Line 298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Text Box 299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2" name="Group 300"/>
          <p:cNvGrpSpPr>
            <a:grpSpLocks/>
          </p:cNvGrpSpPr>
          <p:nvPr/>
        </p:nvGrpSpPr>
        <p:grpSpPr bwMode="auto">
          <a:xfrm>
            <a:off x="4851400" y="1754188"/>
            <a:ext cx="784225" cy="1473200"/>
            <a:chOff x="1524" y="2251"/>
            <a:chExt cx="494" cy="928"/>
          </a:xfrm>
        </p:grpSpPr>
        <p:sp>
          <p:nvSpPr>
            <p:cNvPr id="33" name="Text Box 301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4" name="Text Box 302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5" name="Text Box 303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6" name="Line 304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305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306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307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308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Text Box 309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42" name="Group 310"/>
          <p:cNvGrpSpPr>
            <a:grpSpLocks/>
          </p:cNvGrpSpPr>
          <p:nvPr/>
        </p:nvGrpSpPr>
        <p:grpSpPr bwMode="auto">
          <a:xfrm>
            <a:off x="5932488" y="1739900"/>
            <a:ext cx="784225" cy="1473200"/>
            <a:chOff x="1524" y="2251"/>
            <a:chExt cx="494" cy="928"/>
          </a:xfrm>
        </p:grpSpPr>
        <p:sp>
          <p:nvSpPr>
            <p:cNvPr id="43" name="Text Box 311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44" name="Text Box 312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5" name="Text Box 313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6" name="Line 314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7" name="Line 315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Line 316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9" name="Line 317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0" name="Line 318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1" name="Text Box 319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52" name="Group 320"/>
          <p:cNvGrpSpPr>
            <a:grpSpLocks/>
          </p:cNvGrpSpPr>
          <p:nvPr/>
        </p:nvGrpSpPr>
        <p:grpSpPr bwMode="auto">
          <a:xfrm>
            <a:off x="4867275" y="3475038"/>
            <a:ext cx="784225" cy="392112"/>
            <a:chOff x="1525" y="3274"/>
            <a:chExt cx="494" cy="247"/>
          </a:xfrm>
        </p:grpSpPr>
        <p:sp>
          <p:nvSpPr>
            <p:cNvPr id="53" name="Rectangle 321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4" name="Text Box 322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5" name="Text Box 323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6" name="Group 324"/>
          <p:cNvGrpSpPr>
            <a:grpSpLocks/>
          </p:cNvGrpSpPr>
          <p:nvPr/>
        </p:nvGrpSpPr>
        <p:grpSpPr bwMode="auto">
          <a:xfrm>
            <a:off x="5940425" y="3459163"/>
            <a:ext cx="784225" cy="392112"/>
            <a:chOff x="1525" y="3274"/>
            <a:chExt cx="494" cy="247"/>
          </a:xfrm>
        </p:grpSpPr>
        <p:sp>
          <p:nvSpPr>
            <p:cNvPr id="57" name="Rectangle 325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8" name="Text Box 326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9" name="Text Box 327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0" name="Group 328"/>
          <p:cNvGrpSpPr>
            <a:grpSpLocks/>
          </p:cNvGrpSpPr>
          <p:nvPr/>
        </p:nvGrpSpPr>
        <p:grpSpPr bwMode="auto">
          <a:xfrm>
            <a:off x="7011988" y="3459163"/>
            <a:ext cx="784225" cy="392112"/>
            <a:chOff x="1525" y="3274"/>
            <a:chExt cx="494" cy="247"/>
          </a:xfrm>
        </p:grpSpPr>
        <p:sp>
          <p:nvSpPr>
            <p:cNvPr id="61" name="Rectangle 329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2" name="Text Box 330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3" name="Text Box 331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4" name="Group 332"/>
          <p:cNvGrpSpPr>
            <a:grpSpLocks/>
          </p:cNvGrpSpPr>
          <p:nvPr/>
        </p:nvGrpSpPr>
        <p:grpSpPr bwMode="auto">
          <a:xfrm>
            <a:off x="4876800" y="4291013"/>
            <a:ext cx="784225" cy="392112"/>
            <a:chOff x="1525" y="3274"/>
            <a:chExt cx="494" cy="247"/>
          </a:xfrm>
        </p:grpSpPr>
        <p:sp>
          <p:nvSpPr>
            <p:cNvPr id="65" name="Rectangle 333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6" name="Text Box 334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7" name="Text Box 335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8" name="Group 336"/>
          <p:cNvGrpSpPr>
            <a:grpSpLocks/>
          </p:cNvGrpSpPr>
          <p:nvPr/>
        </p:nvGrpSpPr>
        <p:grpSpPr bwMode="auto">
          <a:xfrm>
            <a:off x="5956300" y="4283075"/>
            <a:ext cx="784225" cy="392113"/>
            <a:chOff x="1525" y="3274"/>
            <a:chExt cx="494" cy="247"/>
          </a:xfrm>
        </p:grpSpPr>
        <p:sp>
          <p:nvSpPr>
            <p:cNvPr id="69" name="Rectangle 337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70" name="Text Box 338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71" name="Text Box 339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72" name="Group 340"/>
          <p:cNvGrpSpPr>
            <a:grpSpLocks/>
          </p:cNvGrpSpPr>
          <p:nvPr/>
        </p:nvGrpSpPr>
        <p:grpSpPr bwMode="auto">
          <a:xfrm>
            <a:off x="7027863" y="4275138"/>
            <a:ext cx="784225" cy="392112"/>
            <a:chOff x="1525" y="3274"/>
            <a:chExt cx="494" cy="247"/>
          </a:xfrm>
        </p:grpSpPr>
        <p:sp>
          <p:nvSpPr>
            <p:cNvPr id="73" name="Rectangle 341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74" name="Text Box 342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75" name="Text Box 343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76" name="Text Box 344"/>
          <p:cNvSpPr txBox="1">
            <a:spLocks noChangeArrowheads="1"/>
          </p:cNvSpPr>
          <p:nvPr/>
        </p:nvSpPr>
        <p:spPr bwMode="auto">
          <a:xfrm>
            <a:off x="5116513" y="4106863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77" name="Text Box 345"/>
          <p:cNvSpPr txBox="1">
            <a:spLocks noChangeArrowheads="1"/>
          </p:cNvSpPr>
          <p:nvPr/>
        </p:nvSpPr>
        <p:spPr bwMode="auto">
          <a:xfrm>
            <a:off x="6196013" y="4090988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78" name="Text Box 346"/>
          <p:cNvSpPr txBox="1">
            <a:spLocks noChangeArrowheads="1"/>
          </p:cNvSpPr>
          <p:nvPr/>
        </p:nvSpPr>
        <p:spPr bwMode="auto">
          <a:xfrm>
            <a:off x="7283450" y="4098925"/>
            <a:ext cx="28733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79" name="Text Box 347"/>
          <p:cNvSpPr txBox="1">
            <a:spLocks noChangeArrowheads="1"/>
          </p:cNvSpPr>
          <p:nvPr/>
        </p:nvSpPr>
        <p:spPr bwMode="auto">
          <a:xfrm>
            <a:off x="2274888" y="1635125"/>
            <a:ext cx="1439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空闲盘块号栈</a:t>
            </a:r>
          </a:p>
        </p:txBody>
      </p:sp>
      <p:sp>
        <p:nvSpPr>
          <p:cNvPr id="80" name="Text Box 348"/>
          <p:cNvSpPr txBox="1">
            <a:spLocks noChangeArrowheads="1"/>
          </p:cNvSpPr>
          <p:nvPr/>
        </p:nvSpPr>
        <p:spPr bwMode="auto">
          <a:xfrm>
            <a:off x="3940175" y="30924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300</a:t>
            </a:r>
          </a:p>
        </p:txBody>
      </p:sp>
      <p:sp>
        <p:nvSpPr>
          <p:cNvPr id="81" name="Text Box 349"/>
          <p:cNvSpPr txBox="1">
            <a:spLocks noChangeArrowheads="1"/>
          </p:cNvSpPr>
          <p:nvPr/>
        </p:nvSpPr>
        <p:spPr bwMode="auto">
          <a:xfrm>
            <a:off x="4995863" y="310038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400</a:t>
            </a:r>
          </a:p>
        </p:txBody>
      </p:sp>
      <p:sp>
        <p:nvSpPr>
          <p:cNvPr id="82" name="Text Box 350"/>
          <p:cNvSpPr txBox="1">
            <a:spLocks noChangeArrowheads="1"/>
          </p:cNvSpPr>
          <p:nvPr/>
        </p:nvSpPr>
        <p:spPr bwMode="auto">
          <a:xfrm>
            <a:off x="5011738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399</a:t>
            </a:r>
          </a:p>
        </p:txBody>
      </p:sp>
      <p:sp>
        <p:nvSpPr>
          <p:cNvPr id="83" name="Text Box 351"/>
          <p:cNvSpPr txBox="1">
            <a:spLocks noChangeArrowheads="1"/>
          </p:cNvSpPr>
          <p:nvPr/>
        </p:nvSpPr>
        <p:spPr bwMode="auto">
          <a:xfrm>
            <a:off x="5011738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301</a:t>
            </a:r>
          </a:p>
        </p:txBody>
      </p:sp>
      <p:sp>
        <p:nvSpPr>
          <p:cNvPr id="84" name="Text Box 352"/>
          <p:cNvSpPr txBox="1">
            <a:spLocks noChangeArrowheads="1"/>
          </p:cNvSpPr>
          <p:nvPr/>
        </p:nvSpPr>
        <p:spPr bwMode="auto">
          <a:xfrm>
            <a:off x="6091238" y="30924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500</a:t>
            </a:r>
          </a:p>
        </p:txBody>
      </p:sp>
      <p:sp>
        <p:nvSpPr>
          <p:cNvPr id="85" name="Text Box 353"/>
          <p:cNvSpPr txBox="1">
            <a:spLocks noChangeArrowheads="1"/>
          </p:cNvSpPr>
          <p:nvPr/>
        </p:nvSpPr>
        <p:spPr bwMode="auto">
          <a:xfrm>
            <a:off x="6099175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499</a:t>
            </a:r>
          </a:p>
        </p:txBody>
      </p:sp>
      <p:sp>
        <p:nvSpPr>
          <p:cNvPr id="86" name="Text Box 354"/>
          <p:cNvSpPr txBox="1">
            <a:spLocks noChangeArrowheads="1"/>
          </p:cNvSpPr>
          <p:nvPr/>
        </p:nvSpPr>
        <p:spPr bwMode="auto">
          <a:xfrm>
            <a:off x="6115050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401</a:t>
            </a:r>
          </a:p>
        </p:txBody>
      </p:sp>
      <p:sp>
        <p:nvSpPr>
          <p:cNvPr id="87" name="Text Box 355"/>
          <p:cNvSpPr txBox="1">
            <a:spLocks noChangeArrowheads="1"/>
          </p:cNvSpPr>
          <p:nvPr/>
        </p:nvSpPr>
        <p:spPr bwMode="auto">
          <a:xfrm>
            <a:off x="7162800" y="376396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599</a:t>
            </a:r>
          </a:p>
        </p:txBody>
      </p:sp>
      <p:sp>
        <p:nvSpPr>
          <p:cNvPr id="88" name="Text Box 356"/>
          <p:cNvSpPr txBox="1">
            <a:spLocks noChangeArrowheads="1"/>
          </p:cNvSpPr>
          <p:nvPr/>
        </p:nvSpPr>
        <p:spPr bwMode="auto">
          <a:xfrm>
            <a:off x="7178675" y="45878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501</a:t>
            </a:r>
          </a:p>
        </p:txBody>
      </p:sp>
      <p:sp>
        <p:nvSpPr>
          <p:cNvPr id="89" name="Line 357"/>
          <p:cNvSpPr>
            <a:spLocks noChangeShapeType="1"/>
          </p:cNvSpPr>
          <p:nvPr/>
        </p:nvSpPr>
        <p:spPr bwMode="auto">
          <a:xfrm flipV="1">
            <a:off x="3195638" y="1882775"/>
            <a:ext cx="720725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0" name="Line 358"/>
          <p:cNvSpPr>
            <a:spLocks noChangeShapeType="1"/>
          </p:cNvSpPr>
          <p:nvPr/>
        </p:nvSpPr>
        <p:spPr bwMode="auto">
          <a:xfrm flipV="1">
            <a:off x="4348163" y="1882775"/>
            <a:ext cx="64770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1" name="Line 359"/>
          <p:cNvSpPr>
            <a:spLocks noChangeShapeType="1"/>
          </p:cNvSpPr>
          <p:nvPr/>
        </p:nvSpPr>
        <p:spPr bwMode="auto">
          <a:xfrm>
            <a:off x="4348163" y="23161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2" name="Line 360"/>
          <p:cNvSpPr>
            <a:spLocks noChangeShapeType="1"/>
          </p:cNvSpPr>
          <p:nvPr/>
        </p:nvSpPr>
        <p:spPr bwMode="auto">
          <a:xfrm>
            <a:off x="4348163" y="2747963"/>
            <a:ext cx="64770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3" name="Line 361"/>
          <p:cNvSpPr>
            <a:spLocks noChangeShapeType="1"/>
          </p:cNvSpPr>
          <p:nvPr/>
        </p:nvSpPr>
        <p:spPr bwMode="auto">
          <a:xfrm flipV="1">
            <a:off x="5356225" y="18113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4" name="Line 362"/>
          <p:cNvSpPr>
            <a:spLocks noChangeShapeType="1"/>
          </p:cNvSpPr>
          <p:nvPr/>
        </p:nvSpPr>
        <p:spPr bwMode="auto">
          <a:xfrm>
            <a:off x="5356225" y="2316163"/>
            <a:ext cx="71913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5" name="Line 363"/>
          <p:cNvSpPr>
            <a:spLocks noChangeShapeType="1"/>
          </p:cNvSpPr>
          <p:nvPr/>
        </p:nvSpPr>
        <p:spPr bwMode="auto">
          <a:xfrm>
            <a:off x="5283200" y="2747963"/>
            <a:ext cx="792163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6" name="Line 364"/>
          <p:cNvSpPr>
            <a:spLocks noChangeShapeType="1"/>
          </p:cNvSpPr>
          <p:nvPr/>
        </p:nvSpPr>
        <p:spPr bwMode="auto">
          <a:xfrm>
            <a:off x="6508750" y="23161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7" name="Line 365"/>
          <p:cNvSpPr>
            <a:spLocks noChangeShapeType="1"/>
          </p:cNvSpPr>
          <p:nvPr/>
        </p:nvSpPr>
        <p:spPr bwMode="auto">
          <a:xfrm>
            <a:off x="6508750" y="2747963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8" name="Text Box 366"/>
          <p:cNvSpPr txBox="1">
            <a:spLocks noChangeArrowheads="1"/>
          </p:cNvSpPr>
          <p:nvPr/>
        </p:nvSpPr>
        <p:spPr bwMode="auto">
          <a:xfrm>
            <a:off x="1908175" y="5373688"/>
            <a:ext cx="1655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初始</a:t>
            </a:r>
          </a:p>
        </p:txBody>
      </p:sp>
      <p:grpSp>
        <p:nvGrpSpPr>
          <p:cNvPr id="99" name="Group 367"/>
          <p:cNvGrpSpPr>
            <a:grpSpLocks/>
          </p:cNvGrpSpPr>
          <p:nvPr/>
        </p:nvGrpSpPr>
        <p:grpSpPr bwMode="auto">
          <a:xfrm>
            <a:off x="3781425" y="3452813"/>
            <a:ext cx="784225" cy="392112"/>
            <a:chOff x="1525" y="3274"/>
            <a:chExt cx="494" cy="247"/>
          </a:xfrm>
        </p:grpSpPr>
        <p:sp>
          <p:nvSpPr>
            <p:cNvPr id="100" name="Rectangle 36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1" name="Text Box 36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02" name="Text Box 37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103" name="Text Box 371"/>
          <p:cNvSpPr txBox="1">
            <a:spLocks noChangeArrowheads="1"/>
          </p:cNvSpPr>
          <p:nvPr/>
        </p:nvSpPr>
        <p:spPr bwMode="auto">
          <a:xfrm>
            <a:off x="3932238" y="378142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299</a:t>
            </a:r>
          </a:p>
        </p:txBody>
      </p:sp>
      <p:sp>
        <p:nvSpPr>
          <p:cNvPr id="104" name="Line 372"/>
          <p:cNvSpPr>
            <a:spLocks noChangeShapeType="1"/>
          </p:cNvSpPr>
          <p:nvPr/>
        </p:nvSpPr>
        <p:spPr bwMode="auto">
          <a:xfrm>
            <a:off x="3203575" y="2797175"/>
            <a:ext cx="720725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998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6499-3D70-4DCF-9D90-38851436038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56</a:t>
            </a:fld>
            <a:endParaRPr lang="zh-CN" alt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1687513" y="1885950"/>
            <a:ext cx="1724025" cy="2373313"/>
            <a:chOff x="70" y="2437"/>
            <a:chExt cx="1086" cy="1495"/>
          </a:xfrm>
        </p:grpSpPr>
        <p:sp>
          <p:nvSpPr>
            <p:cNvPr id="8" name="Text Box 3"/>
            <p:cNvSpPr txBox="1">
              <a:spLocks noChangeArrowheads="1"/>
            </p:cNvSpPr>
            <p:nvPr/>
          </p:nvSpPr>
          <p:spPr bwMode="auto">
            <a:xfrm>
              <a:off x="748" y="2478"/>
              <a:ext cx="318" cy="14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300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819" y="3118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975" y="244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662" y="243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975" y="367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662" y="36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748" y="264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748" y="2785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748" y="2936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748" y="3072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748" y="3340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748" y="3491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748" y="3627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70" y="2614"/>
              <a:ext cx="703" cy="1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s_nfree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s_free[0]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s_free[1]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s_free[98]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s_free[99]</a:t>
              </a:r>
            </a:p>
          </p:txBody>
        </p:sp>
      </p:grp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3771900" y="1739900"/>
            <a:ext cx="784225" cy="1473200"/>
            <a:chOff x="1524" y="2251"/>
            <a:chExt cx="494" cy="928"/>
          </a:xfrm>
        </p:grpSpPr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24" name="Text Box 19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2" name="Group 27"/>
          <p:cNvGrpSpPr>
            <a:grpSpLocks/>
          </p:cNvGrpSpPr>
          <p:nvPr/>
        </p:nvGrpSpPr>
        <p:grpSpPr bwMode="auto">
          <a:xfrm>
            <a:off x="4851400" y="1754188"/>
            <a:ext cx="784225" cy="1473200"/>
            <a:chOff x="1524" y="2251"/>
            <a:chExt cx="494" cy="928"/>
          </a:xfrm>
        </p:grpSpPr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4" name="Text Box 29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42" name="Group 37"/>
          <p:cNvGrpSpPr>
            <a:grpSpLocks/>
          </p:cNvGrpSpPr>
          <p:nvPr/>
        </p:nvGrpSpPr>
        <p:grpSpPr bwMode="auto">
          <a:xfrm>
            <a:off x="5932488" y="1739900"/>
            <a:ext cx="784225" cy="1473200"/>
            <a:chOff x="1524" y="2251"/>
            <a:chExt cx="494" cy="928"/>
          </a:xfrm>
        </p:grpSpPr>
        <p:sp>
          <p:nvSpPr>
            <p:cNvPr id="43" name="Text Box 38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44" name="Text Box 39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5" name="Text Box 40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1" name="Text Box 46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52" name="Group 47"/>
          <p:cNvGrpSpPr>
            <a:grpSpLocks/>
          </p:cNvGrpSpPr>
          <p:nvPr/>
        </p:nvGrpSpPr>
        <p:grpSpPr bwMode="auto">
          <a:xfrm>
            <a:off x="4867275" y="3475038"/>
            <a:ext cx="784225" cy="392112"/>
            <a:chOff x="1525" y="3274"/>
            <a:chExt cx="494" cy="247"/>
          </a:xfrm>
        </p:grpSpPr>
        <p:sp>
          <p:nvSpPr>
            <p:cNvPr id="53" name="Rectangle 4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4" name="Text Box 4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5" name="Text Box 5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6" name="Group 51"/>
          <p:cNvGrpSpPr>
            <a:grpSpLocks/>
          </p:cNvGrpSpPr>
          <p:nvPr/>
        </p:nvGrpSpPr>
        <p:grpSpPr bwMode="auto">
          <a:xfrm>
            <a:off x="5940425" y="3459163"/>
            <a:ext cx="784225" cy="392112"/>
            <a:chOff x="1525" y="3274"/>
            <a:chExt cx="494" cy="247"/>
          </a:xfrm>
        </p:grpSpPr>
        <p:sp>
          <p:nvSpPr>
            <p:cNvPr id="57" name="Rectangle 52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8" name="Text Box 53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9" name="Text Box 54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0" name="Group 55"/>
          <p:cNvGrpSpPr>
            <a:grpSpLocks/>
          </p:cNvGrpSpPr>
          <p:nvPr/>
        </p:nvGrpSpPr>
        <p:grpSpPr bwMode="auto">
          <a:xfrm>
            <a:off x="7011988" y="3459163"/>
            <a:ext cx="784225" cy="392112"/>
            <a:chOff x="1525" y="3274"/>
            <a:chExt cx="494" cy="247"/>
          </a:xfrm>
        </p:grpSpPr>
        <p:sp>
          <p:nvSpPr>
            <p:cNvPr id="61" name="Rectangle 56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2" name="Text Box 57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4" name="Group 59"/>
          <p:cNvGrpSpPr>
            <a:grpSpLocks/>
          </p:cNvGrpSpPr>
          <p:nvPr/>
        </p:nvGrpSpPr>
        <p:grpSpPr bwMode="auto">
          <a:xfrm>
            <a:off x="4876800" y="4291013"/>
            <a:ext cx="784225" cy="392112"/>
            <a:chOff x="1525" y="3274"/>
            <a:chExt cx="494" cy="247"/>
          </a:xfrm>
        </p:grpSpPr>
        <p:sp>
          <p:nvSpPr>
            <p:cNvPr id="65" name="Rectangle 60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6" name="Text Box 61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7" name="Text Box 62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8" name="Group 63"/>
          <p:cNvGrpSpPr>
            <a:grpSpLocks/>
          </p:cNvGrpSpPr>
          <p:nvPr/>
        </p:nvGrpSpPr>
        <p:grpSpPr bwMode="auto">
          <a:xfrm>
            <a:off x="5956300" y="4283075"/>
            <a:ext cx="784225" cy="392113"/>
            <a:chOff x="1525" y="3274"/>
            <a:chExt cx="494" cy="247"/>
          </a:xfrm>
        </p:grpSpPr>
        <p:sp>
          <p:nvSpPr>
            <p:cNvPr id="69" name="Rectangle 64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70" name="Text Box 65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71" name="Text Box 66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72" name="Group 67"/>
          <p:cNvGrpSpPr>
            <a:grpSpLocks/>
          </p:cNvGrpSpPr>
          <p:nvPr/>
        </p:nvGrpSpPr>
        <p:grpSpPr bwMode="auto">
          <a:xfrm>
            <a:off x="7027863" y="4275138"/>
            <a:ext cx="784225" cy="392112"/>
            <a:chOff x="1525" y="3274"/>
            <a:chExt cx="494" cy="247"/>
          </a:xfrm>
        </p:grpSpPr>
        <p:sp>
          <p:nvSpPr>
            <p:cNvPr id="73" name="Rectangle 6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74" name="Text Box 6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75" name="Text Box 7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76" name="Text Box 71"/>
          <p:cNvSpPr txBox="1">
            <a:spLocks noChangeArrowheads="1"/>
          </p:cNvSpPr>
          <p:nvPr/>
        </p:nvSpPr>
        <p:spPr bwMode="auto">
          <a:xfrm>
            <a:off x="5116513" y="4106863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77" name="Text Box 72"/>
          <p:cNvSpPr txBox="1">
            <a:spLocks noChangeArrowheads="1"/>
          </p:cNvSpPr>
          <p:nvPr/>
        </p:nvSpPr>
        <p:spPr bwMode="auto">
          <a:xfrm>
            <a:off x="6196013" y="4090988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78" name="Text Box 73"/>
          <p:cNvSpPr txBox="1">
            <a:spLocks noChangeArrowheads="1"/>
          </p:cNvSpPr>
          <p:nvPr/>
        </p:nvSpPr>
        <p:spPr bwMode="auto">
          <a:xfrm>
            <a:off x="7283450" y="4098925"/>
            <a:ext cx="28733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79" name="Text Box 74"/>
          <p:cNvSpPr txBox="1">
            <a:spLocks noChangeArrowheads="1"/>
          </p:cNvSpPr>
          <p:nvPr/>
        </p:nvSpPr>
        <p:spPr bwMode="auto">
          <a:xfrm>
            <a:off x="2274888" y="1635125"/>
            <a:ext cx="1439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空闲盘块号栈</a:t>
            </a:r>
          </a:p>
        </p:txBody>
      </p:sp>
      <p:sp>
        <p:nvSpPr>
          <p:cNvPr id="80" name="Text Box 75"/>
          <p:cNvSpPr txBox="1">
            <a:spLocks noChangeArrowheads="1"/>
          </p:cNvSpPr>
          <p:nvPr/>
        </p:nvSpPr>
        <p:spPr bwMode="auto">
          <a:xfrm>
            <a:off x="3940175" y="30924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300</a:t>
            </a:r>
          </a:p>
        </p:txBody>
      </p:sp>
      <p:sp>
        <p:nvSpPr>
          <p:cNvPr id="81" name="Text Box 76"/>
          <p:cNvSpPr txBox="1">
            <a:spLocks noChangeArrowheads="1"/>
          </p:cNvSpPr>
          <p:nvPr/>
        </p:nvSpPr>
        <p:spPr bwMode="auto">
          <a:xfrm>
            <a:off x="4995863" y="310038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400</a:t>
            </a:r>
          </a:p>
        </p:txBody>
      </p:sp>
      <p:sp>
        <p:nvSpPr>
          <p:cNvPr id="82" name="Text Box 77"/>
          <p:cNvSpPr txBox="1">
            <a:spLocks noChangeArrowheads="1"/>
          </p:cNvSpPr>
          <p:nvPr/>
        </p:nvSpPr>
        <p:spPr bwMode="auto">
          <a:xfrm>
            <a:off x="5011738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399</a:t>
            </a:r>
          </a:p>
        </p:txBody>
      </p:sp>
      <p:sp>
        <p:nvSpPr>
          <p:cNvPr id="83" name="Text Box 78"/>
          <p:cNvSpPr txBox="1">
            <a:spLocks noChangeArrowheads="1"/>
          </p:cNvSpPr>
          <p:nvPr/>
        </p:nvSpPr>
        <p:spPr bwMode="auto">
          <a:xfrm>
            <a:off x="5011738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301</a:t>
            </a:r>
          </a:p>
        </p:txBody>
      </p:sp>
      <p:sp>
        <p:nvSpPr>
          <p:cNvPr id="84" name="Text Box 79"/>
          <p:cNvSpPr txBox="1">
            <a:spLocks noChangeArrowheads="1"/>
          </p:cNvSpPr>
          <p:nvPr/>
        </p:nvSpPr>
        <p:spPr bwMode="auto">
          <a:xfrm>
            <a:off x="6091238" y="30924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500</a:t>
            </a:r>
          </a:p>
        </p:txBody>
      </p:sp>
      <p:sp>
        <p:nvSpPr>
          <p:cNvPr id="85" name="Text Box 80"/>
          <p:cNvSpPr txBox="1">
            <a:spLocks noChangeArrowheads="1"/>
          </p:cNvSpPr>
          <p:nvPr/>
        </p:nvSpPr>
        <p:spPr bwMode="auto">
          <a:xfrm>
            <a:off x="6099175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499</a:t>
            </a:r>
          </a:p>
        </p:txBody>
      </p:sp>
      <p:sp>
        <p:nvSpPr>
          <p:cNvPr id="86" name="Text Box 81"/>
          <p:cNvSpPr txBox="1">
            <a:spLocks noChangeArrowheads="1"/>
          </p:cNvSpPr>
          <p:nvPr/>
        </p:nvSpPr>
        <p:spPr bwMode="auto">
          <a:xfrm>
            <a:off x="6115050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401</a:t>
            </a:r>
          </a:p>
        </p:txBody>
      </p:sp>
      <p:sp>
        <p:nvSpPr>
          <p:cNvPr id="87" name="Text Box 82"/>
          <p:cNvSpPr txBox="1">
            <a:spLocks noChangeArrowheads="1"/>
          </p:cNvSpPr>
          <p:nvPr/>
        </p:nvSpPr>
        <p:spPr bwMode="auto">
          <a:xfrm>
            <a:off x="7162800" y="376396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599</a:t>
            </a:r>
          </a:p>
        </p:txBody>
      </p:sp>
      <p:sp>
        <p:nvSpPr>
          <p:cNvPr id="88" name="Text Box 83"/>
          <p:cNvSpPr txBox="1">
            <a:spLocks noChangeArrowheads="1"/>
          </p:cNvSpPr>
          <p:nvPr/>
        </p:nvSpPr>
        <p:spPr bwMode="auto">
          <a:xfrm>
            <a:off x="7178675" y="45878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501</a:t>
            </a:r>
          </a:p>
        </p:txBody>
      </p:sp>
      <p:sp>
        <p:nvSpPr>
          <p:cNvPr id="89" name="Line 84"/>
          <p:cNvSpPr>
            <a:spLocks noChangeShapeType="1"/>
          </p:cNvSpPr>
          <p:nvPr/>
        </p:nvSpPr>
        <p:spPr bwMode="auto">
          <a:xfrm flipV="1">
            <a:off x="3195638" y="1882775"/>
            <a:ext cx="720725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0" name="Line 85"/>
          <p:cNvSpPr>
            <a:spLocks noChangeShapeType="1"/>
          </p:cNvSpPr>
          <p:nvPr/>
        </p:nvSpPr>
        <p:spPr bwMode="auto">
          <a:xfrm flipV="1">
            <a:off x="4348163" y="1882775"/>
            <a:ext cx="64770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1" name="Line 86"/>
          <p:cNvSpPr>
            <a:spLocks noChangeShapeType="1"/>
          </p:cNvSpPr>
          <p:nvPr/>
        </p:nvSpPr>
        <p:spPr bwMode="auto">
          <a:xfrm>
            <a:off x="4348163" y="23161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2" name="Line 87"/>
          <p:cNvSpPr>
            <a:spLocks noChangeShapeType="1"/>
          </p:cNvSpPr>
          <p:nvPr/>
        </p:nvSpPr>
        <p:spPr bwMode="auto">
          <a:xfrm>
            <a:off x="4348163" y="2747963"/>
            <a:ext cx="64770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3" name="Line 88"/>
          <p:cNvSpPr>
            <a:spLocks noChangeShapeType="1"/>
          </p:cNvSpPr>
          <p:nvPr/>
        </p:nvSpPr>
        <p:spPr bwMode="auto">
          <a:xfrm flipV="1">
            <a:off x="5356225" y="18113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4" name="Line 89"/>
          <p:cNvSpPr>
            <a:spLocks noChangeShapeType="1"/>
          </p:cNvSpPr>
          <p:nvPr/>
        </p:nvSpPr>
        <p:spPr bwMode="auto">
          <a:xfrm>
            <a:off x="5356225" y="2316163"/>
            <a:ext cx="71913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5" name="Line 90"/>
          <p:cNvSpPr>
            <a:spLocks noChangeShapeType="1"/>
          </p:cNvSpPr>
          <p:nvPr/>
        </p:nvSpPr>
        <p:spPr bwMode="auto">
          <a:xfrm>
            <a:off x="5283200" y="2747963"/>
            <a:ext cx="792163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6" name="Line 91"/>
          <p:cNvSpPr>
            <a:spLocks noChangeShapeType="1"/>
          </p:cNvSpPr>
          <p:nvPr/>
        </p:nvSpPr>
        <p:spPr bwMode="auto">
          <a:xfrm>
            <a:off x="6508750" y="23161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7" name="Line 92"/>
          <p:cNvSpPr>
            <a:spLocks noChangeShapeType="1"/>
          </p:cNvSpPr>
          <p:nvPr/>
        </p:nvSpPr>
        <p:spPr bwMode="auto">
          <a:xfrm>
            <a:off x="6508750" y="2747963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8" name="Text Box 93"/>
          <p:cNvSpPr txBox="1">
            <a:spLocks noChangeArrowheads="1"/>
          </p:cNvSpPr>
          <p:nvPr/>
        </p:nvSpPr>
        <p:spPr bwMode="auto">
          <a:xfrm>
            <a:off x="1908175" y="5373688"/>
            <a:ext cx="1655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分配</a:t>
            </a:r>
            <a:r>
              <a:rPr kumimoji="0" lang="en-US" altLang="zh-CN" sz="2400" b="1">
                <a:solidFill>
                  <a:srgbClr val="FF3300"/>
                </a:solidFill>
                <a:ea typeface="楷体" panose="02010609060101010101" pitchFamily="49" charset="-122"/>
              </a:rPr>
              <a:t>1</a:t>
            </a: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块</a:t>
            </a:r>
          </a:p>
        </p:txBody>
      </p:sp>
    </p:spTree>
    <p:extLst>
      <p:ext uri="{BB962C8B-B14F-4D97-AF65-F5344CB8AC3E}">
        <p14:creationId xmlns:p14="http://schemas.microsoft.com/office/powerpoint/2010/main" val="257181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359F-42DB-4FB6-A5E7-F46B1FDD3D55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57</a:t>
            </a:fld>
            <a:endParaRPr lang="zh-CN" alt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1687513" y="1885950"/>
            <a:ext cx="1724025" cy="2373313"/>
            <a:chOff x="70" y="2437"/>
            <a:chExt cx="1086" cy="1495"/>
          </a:xfrm>
        </p:grpSpPr>
        <p:sp>
          <p:nvSpPr>
            <p:cNvPr id="8" name="Text Box 3"/>
            <p:cNvSpPr txBox="1">
              <a:spLocks noChangeArrowheads="1"/>
            </p:cNvSpPr>
            <p:nvPr/>
          </p:nvSpPr>
          <p:spPr bwMode="auto">
            <a:xfrm>
              <a:off x="748" y="2478"/>
              <a:ext cx="318" cy="14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819" y="3118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975" y="244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662" y="243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975" y="367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662" y="36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748" y="264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748" y="2785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748" y="2936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748" y="3072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748" y="3340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748" y="3491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748" y="3627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70" y="2614"/>
              <a:ext cx="703" cy="1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s_nfree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s_free[0]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s_free[1]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s_free[98]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s_free[99]</a:t>
              </a:r>
            </a:p>
          </p:txBody>
        </p:sp>
      </p:grp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4851400" y="1754188"/>
            <a:ext cx="784225" cy="1473200"/>
            <a:chOff x="1524" y="2251"/>
            <a:chExt cx="494" cy="928"/>
          </a:xfrm>
        </p:grpSpPr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24" name="Text Box 19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2" name="Group 27"/>
          <p:cNvGrpSpPr>
            <a:grpSpLocks/>
          </p:cNvGrpSpPr>
          <p:nvPr/>
        </p:nvGrpSpPr>
        <p:grpSpPr bwMode="auto">
          <a:xfrm>
            <a:off x="5932488" y="1739900"/>
            <a:ext cx="784225" cy="1473200"/>
            <a:chOff x="1524" y="2251"/>
            <a:chExt cx="494" cy="928"/>
          </a:xfrm>
        </p:grpSpPr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4" name="Text Box 29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42" name="Group 37"/>
          <p:cNvGrpSpPr>
            <a:grpSpLocks/>
          </p:cNvGrpSpPr>
          <p:nvPr/>
        </p:nvGrpSpPr>
        <p:grpSpPr bwMode="auto">
          <a:xfrm>
            <a:off x="4867275" y="3475038"/>
            <a:ext cx="784225" cy="392112"/>
            <a:chOff x="1525" y="3274"/>
            <a:chExt cx="494" cy="247"/>
          </a:xfrm>
        </p:grpSpPr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4" name="Text Box 3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5" name="Text Box 4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46" name="Group 41"/>
          <p:cNvGrpSpPr>
            <a:grpSpLocks/>
          </p:cNvGrpSpPr>
          <p:nvPr/>
        </p:nvGrpSpPr>
        <p:grpSpPr bwMode="auto">
          <a:xfrm>
            <a:off x="5940425" y="3459163"/>
            <a:ext cx="784225" cy="392112"/>
            <a:chOff x="1525" y="3274"/>
            <a:chExt cx="494" cy="247"/>
          </a:xfrm>
        </p:grpSpPr>
        <p:sp>
          <p:nvSpPr>
            <p:cNvPr id="47" name="Rectangle 42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Text Box 43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0" name="Group 45"/>
          <p:cNvGrpSpPr>
            <a:grpSpLocks/>
          </p:cNvGrpSpPr>
          <p:nvPr/>
        </p:nvGrpSpPr>
        <p:grpSpPr bwMode="auto">
          <a:xfrm>
            <a:off x="7011988" y="3459163"/>
            <a:ext cx="784225" cy="392112"/>
            <a:chOff x="1525" y="3274"/>
            <a:chExt cx="494" cy="247"/>
          </a:xfrm>
        </p:grpSpPr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3" name="Text Box 48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4" name="Group 49"/>
          <p:cNvGrpSpPr>
            <a:grpSpLocks/>
          </p:cNvGrpSpPr>
          <p:nvPr/>
        </p:nvGrpSpPr>
        <p:grpSpPr bwMode="auto">
          <a:xfrm>
            <a:off x="4876800" y="4291013"/>
            <a:ext cx="784225" cy="392112"/>
            <a:chOff x="1525" y="3274"/>
            <a:chExt cx="494" cy="247"/>
          </a:xfrm>
        </p:grpSpPr>
        <p:sp>
          <p:nvSpPr>
            <p:cNvPr id="55" name="Rectangle 50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6" name="Text Box 51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7" name="Text Box 52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8" name="Group 53"/>
          <p:cNvGrpSpPr>
            <a:grpSpLocks/>
          </p:cNvGrpSpPr>
          <p:nvPr/>
        </p:nvGrpSpPr>
        <p:grpSpPr bwMode="auto">
          <a:xfrm>
            <a:off x="5956300" y="4283075"/>
            <a:ext cx="784225" cy="392113"/>
            <a:chOff x="1525" y="3274"/>
            <a:chExt cx="494" cy="247"/>
          </a:xfrm>
        </p:grpSpPr>
        <p:sp>
          <p:nvSpPr>
            <p:cNvPr id="59" name="Rectangle 54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0" name="Text Box 55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1" name="Text Box 56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2" name="Group 57"/>
          <p:cNvGrpSpPr>
            <a:grpSpLocks/>
          </p:cNvGrpSpPr>
          <p:nvPr/>
        </p:nvGrpSpPr>
        <p:grpSpPr bwMode="auto">
          <a:xfrm>
            <a:off x="7027863" y="4275138"/>
            <a:ext cx="784225" cy="392112"/>
            <a:chOff x="1525" y="3274"/>
            <a:chExt cx="494" cy="247"/>
          </a:xfrm>
        </p:grpSpPr>
        <p:sp>
          <p:nvSpPr>
            <p:cNvPr id="63" name="Rectangle 5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66" name="Text Box 61"/>
          <p:cNvSpPr txBox="1">
            <a:spLocks noChangeArrowheads="1"/>
          </p:cNvSpPr>
          <p:nvPr/>
        </p:nvSpPr>
        <p:spPr bwMode="auto">
          <a:xfrm>
            <a:off x="5116513" y="4106863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7" name="Text Box 62"/>
          <p:cNvSpPr txBox="1">
            <a:spLocks noChangeArrowheads="1"/>
          </p:cNvSpPr>
          <p:nvPr/>
        </p:nvSpPr>
        <p:spPr bwMode="auto">
          <a:xfrm>
            <a:off x="6196013" y="4090988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8" name="Text Box 63"/>
          <p:cNvSpPr txBox="1">
            <a:spLocks noChangeArrowheads="1"/>
          </p:cNvSpPr>
          <p:nvPr/>
        </p:nvSpPr>
        <p:spPr bwMode="auto">
          <a:xfrm>
            <a:off x="7283450" y="4098925"/>
            <a:ext cx="28733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9" name="Text Box 64"/>
          <p:cNvSpPr txBox="1">
            <a:spLocks noChangeArrowheads="1"/>
          </p:cNvSpPr>
          <p:nvPr/>
        </p:nvSpPr>
        <p:spPr bwMode="auto">
          <a:xfrm>
            <a:off x="2274888" y="1635125"/>
            <a:ext cx="1439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空闲盘块号栈</a:t>
            </a:r>
          </a:p>
        </p:txBody>
      </p:sp>
      <p:sp>
        <p:nvSpPr>
          <p:cNvPr id="70" name="Text Box 65"/>
          <p:cNvSpPr txBox="1">
            <a:spLocks noChangeArrowheads="1"/>
          </p:cNvSpPr>
          <p:nvPr/>
        </p:nvSpPr>
        <p:spPr bwMode="auto">
          <a:xfrm>
            <a:off x="4995863" y="310038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400</a:t>
            </a:r>
          </a:p>
        </p:txBody>
      </p:sp>
      <p:sp>
        <p:nvSpPr>
          <p:cNvPr id="71" name="Text Box 66"/>
          <p:cNvSpPr txBox="1">
            <a:spLocks noChangeArrowheads="1"/>
          </p:cNvSpPr>
          <p:nvPr/>
        </p:nvSpPr>
        <p:spPr bwMode="auto">
          <a:xfrm>
            <a:off x="5011738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399</a:t>
            </a:r>
          </a:p>
        </p:txBody>
      </p:sp>
      <p:sp>
        <p:nvSpPr>
          <p:cNvPr id="72" name="Text Box 67"/>
          <p:cNvSpPr txBox="1">
            <a:spLocks noChangeArrowheads="1"/>
          </p:cNvSpPr>
          <p:nvPr/>
        </p:nvSpPr>
        <p:spPr bwMode="auto">
          <a:xfrm>
            <a:off x="5011738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301</a:t>
            </a:r>
          </a:p>
        </p:txBody>
      </p:sp>
      <p:sp>
        <p:nvSpPr>
          <p:cNvPr id="73" name="Text Box 68"/>
          <p:cNvSpPr txBox="1">
            <a:spLocks noChangeArrowheads="1"/>
          </p:cNvSpPr>
          <p:nvPr/>
        </p:nvSpPr>
        <p:spPr bwMode="auto">
          <a:xfrm>
            <a:off x="6091238" y="30924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500</a:t>
            </a:r>
          </a:p>
        </p:txBody>
      </p:sp>
      <p:sp>
        <p:nvSpPr>
          <p:cNvPr id="74" name="Text Box 69"/>
          <p:cNvSpPr txBox="1">
            <a:spLocks noChangeArrowheads="1"/>
          </p:cNvSpPr>
          <p:nvPr/>
        </p:nvSpPr>
        <p:spPr bwMode="auto">
          <a:xfrm>
            <a:off x="6099175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499</a:t>
            </a:r>
          </a:p>
        </p:txBody>
      </p:sp>
      <p:sp>
        <p:nvSpPr>
          <p:cNvPr id="75" name="Text Box 70"/>
          <p:cNvSpPr txBox="1">
            <a:spLocks noChangeArrowheads="1"/>
          </p:cNvSpPr>
          <p:nvPr/>
        </p:nvSpPr>
        <p:spPr bwMode="auto">
          <a:xfrm>
            <a:off x="6115050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401</a:t>
            </a:r>
          </a:p>
        </p:txBody>
      </p:sp>
      <p:sp>
        <p:nvSpPr>
          <p:cNvPr id="76" name="Text Box 71"/>
          <p:cNvSpPr txBox="1">
            <a:spLocks noChangeArrowheads="1"/>
          </p:cNvSpPr>
          <p:nvPr/>
        </p:nvSpPr>
        <p:spPr bwMode="auto">
          <a:xfrm>
            <a:off x="7162800" y="376396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599</a:t>
            </a:r>
          </a:p>
        </p:txBody>
      </p:sp>
      <p:sp>
        <p:nvSpPr>
          <p:cNvPr id="77" name="Text Box 72"/>
          <p:cNvSpPr txBox="1">
            <a:spLocks noChangeArrowheads="1"/>
          </p:cNvSpPr>
          <p:nvPr/>
        </p:nvSpPr>
        <p:spPr bwMode="auto">
          <a:xfrm>
            <a:off x="7178675" y="45878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501</a:t>
            </a:r>
          </a:p>
        </p:txBody>
      </p:sp>
      <p:sp>
        <p:nvSpPr>
          <p:cNvPr id="78" name="Line 73"/>
          <p:cNvSpPr>
            <a:spLocks noChangeShapeType="1"/>
          </p:cNvSpPr>
          <p:nvPr/>
        </p:nvSpPr>
        <p:spPr bwMode="auto">
          <a:xfrm flipV="1">
            <a:off x="3203575" y="1882775"/>
            <a:ext cx="1792288" cy="682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79" name="Line 74"/>
          <p:cNvSpPr>
            <a:spLocks noChangeShapeType="1"/>
          </p:cNvSpPr>
          <p:nvPr/>
        </p:nvSpPr>
        <p:spPr bwMode="auto">
          <a:xfrm>
            <a:off x="3203575" y="2781300"/>
            <a:ext cx="1792288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0" name="Line 75"/>
          <p:cNvSpPr>
            <a:spLocks noChangeShapeType="1"/>
          </p:cNvSpPr>
          <p:nvPr/>
        </p:nvSpPr>
        <p:spPr bwMode="auto">
          <a:xfrm>
            <a:off x="3203575" y="3644900"/>
            <a:ext cx="1792288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1" name="Line 76"/>
          <p:cNvSpPr>
            <a:spLocks noChangeShapeType="1"/>
          </p:cNvSpPr>
          <p:nvPr/>
        </p:nvSpPr>
        <p:spPr bwMode="auto">
          <a:xfrm flipV="1">
            <a:off x="5356225" y="18113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2" name="Line 77"/>
          <p:cNvSpPr>
            <a:spLocks noChangeShapeType="1"/>
          </p:cNvSpPr>
          <p:nvPr/>
        </p:nvSpPr>
        <p:spPr bwMode="auto">
          <a:xfrm>
            <a:off x="5356225" y="2316163"/>
            <a:ext cx="71913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3" name="Line 78"/>
          <p:cNvSpPr>
            <a:spLocks noChangeShapeType="1"/>
          </p:cNvSpPr>
          <p:nvPr/>
        </p:nvSpPr>
        <p:spPr bwMode="auto">
          <a:xfrm>
            <a:off x="5283200" y="2747963"/>
            <a:ext cx="792163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4" name="Line 79"/>
          <p:cNvSpPr>
            <a:spLocks noChangeShapeType="1"/>
          </p:cNvSpPr>
          <p:nvPr/>
        </p:nvSpPr>
        <p:spPr bwMode="auto">
          <a:xfrm>
            <a:off x="6508750" y="23161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5" name="Line 80"/>
          <p:cNvSpPr>
            <a:spLocks noChangeShapeType="1"/>
          </p:cNvSpPr>
          <p:nvPr/>
        </p:nvSpPr>
        <p:spPr bwMode="auto">
          <a:xfrm>
            <a:off x="6508750" y="2747963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6" name="Text Box 81"/>
          <p:cNvSpPr txBox="1">
            <a:spLocks noChangeArrowheads="1"/>
          </p:cNvSpPr>
          <p:nvPr/>
        </p:nvSpPr>
        <p:spPr bwMode="auto">
          <a:xfrm>
            <a:off x="1908175" y="5373688"/>
            <a:ext cx="1655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分配</a:t>
            </a:r>
            <a:r>
              <a:rPr kumimoji="0" lang="en-US" altLang="zh-CN" sz="2400" b="1">
                <a:solidFill>
                  <a:srgbClr val="FF3300"/>
                </a:solidFill>
                <a:ea typeface="楷体" panose="02010609060101010101" pitchFamily="49" charset="-122"/>
              </a:rPr>
              <a:t>2</a:t>
            </a: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块</a:t>
            </a:r>
          </a:p>
        </p:txBody>
      </p:sp>
    </p:spTree>
    <p:extLst>
      <p:ext uri="{BB962C8B-B14F-4D97-AF65-F5344CB8AC3E}">
        <p14:creationId xmlns:p14="http://schemas.microsoft.com/office/powerpoint/2010/main" val="392806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44FF-E3D0-4FE2-BBA8-00E99860FE99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58</a:t>
            </a:fld>
            <a:endParaRPr lang="zh-CN" altLang="en-US" dirty="0"/>
          </a:p>
        </p:txBody>
      </p:sp>
      <p:grpSp>
        <p:nvGrpSpPr>
          <p:cNvPr id="7" name="Group 82"/>
          <p:cNvGrpSpPr>
            <a:grpSpLocks/>
          </p:cNvGrpSpPr>
          <p:nvPr/>
        </p:nvGrpSpPr>
        <p:grpSpPr bwMode="auto">
          <a:xfrm>
            <a:off x="1687513" y="1885950"/>
            <a:ext cx="1724025" cy="2373313"/>
            <a:chOff x="70" y="2437"/>
            <a:chExt cx="1086" cy="1495"/>
          </a:xfrm>
        </p:grpSpPr>
        <p:sp>
          <p:nvSpPr>
            <p:cNvPr id="8" name="Text Box 83"/>
            <p:cNvSpPr txBox="1">
              <a:spLocks noChangeArrowheads="1"/>
            </p:cNvSpPr>
            <p:nvPr/>
          </p:nvSpPr>
          <p:spPr bwMode="auto">
            <a:xfrm>
              <a:off x="748" y="2478"/>
              <a:ext cx="318" cy="14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99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302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" name="Text Box 84"/>
            <p:cNvSpPr txBox="1">
              <a:spLocks noChangeArrowheads="1"/>
            </p:cNvSpPr>
            <p:nvPr/>
          </p:nvSpPr>
          <p:spPr bwMode="auto">
            <a:xfrm>
              <a:off x="819" y="3118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10" name="Text Box 85"/>
            <p:cNvSpPr txBox="1">
              <a:spLocks noChangeArrowheads="1"/>
            </p:cNvSpPr>
            <p:nvPr/>
          </p:nvSpPr>
          <p:spPr bwMode="auto">
            <a:xfrm>
              <a:off x="975" y="244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" name="Text Box 86"/>
            <p:cNvSpPr txBox="1">
              <a:spLocks noChangeArrowheads="1"/>
            </p:cNvSpPr>
            <p:nvPr/>
          </p:nvSpPr>
          <p:spPr bwMode="auto">
            <a:xfrm>
              <a:off x="662" y="243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2" name="Text Box 87"/>
            <p:cNvSpPr txBox="1">
              <a:spLocks noChangeArrowheads="1"/>
            </p:cNvSpPr>
            <p:nvPr/>
          </p:nvSpPr>
          <p:spPr bwMode="auto">
            <a:xfrm>
              <a:off x="975" y="367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3" name="Text Box 88"/>
            <p:cNvSpPr txBox="1">
              <a:spLocks noChangeArrowheads="1"/>
            </p:cNvSpPr>
            <p:nvPr/>
          </p:nvSpPr>
          <p:spPr bwMode="auto">
            <a:xfrm>
              <a:off x="662" y="36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4" name="Line 89"/>
            <p:cNvSpPr>
              <a:spLocks noChangeShapeType="1"/>
            </p:cNvSpPr>
            <p:nvPr/>
          </p:nvSpPr>
          <p:spPr bwMode="auto">
            <a:xfrm>
              <a:off x="748" y="264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5" name="Line 90"/>
            <p:cNvSpPr>
              <a:spLocks noChangeShapeType="1"/>
            </p:cNvSpPr>
            <p:nvPr/>
          </p:nvSpPr>
          <p:spPr bwMode="auto">
            <a:xfrm>
              <a:off x="748" y="2785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91"/>
            <p:cNvSpPr>
              <a:spLocks noChangeShapeType="1"/>
            </p:cNvSpPr>
            <p:nvPr/>
          </p:nvSpPr>
          <p:spPr bwMode="auto">
            <a:xfrm>
              <a:off x="748" y="2936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92"/>
            <p:cNvSpPr>
              <a:spLocks noChangeShapeType="1"/>
            </p:cNvSpPr>
            <p:nvPr/>
          </p:nvSpPr>
          <p:spPr bwMode="auto">
            <a:xfrm>
              <a:off x="748" y="3072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Line 93"/>
            <p:cNvSpPr>
              <a:spLocks noChangeShapeType="1"/>
            </p:cNvSpPr>
            <p:nvPr/>
          </p:nvSpPr>
          <p:spPr bwMode="auto">
            <a:xfrm>
              <a:off x="748" y="3340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Line 94"/>
            <p:cNvSpPr>
              <a:spLocks noChangeShapeType="1"/>
            </p:cNvSpPr>
            <p:nvPr/>
          </p:nvSpPr>
          <p:spPr bwMode="auto">
            <a:xfrm>
              <a:off x="748" y="3491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0" name="Line 95"/>
            <p:cNvSpPr>
              <a:spLocks noChangeShapeType="1"/>
            </p:cNvSpPr>
            <p:nvPr/>
          </p:nvSpPr>
          <p:spPr bwMode="auto">
            <a:xfrm>
              <a:off x="748" y="3627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Text Box 96"/>
            <p:cNvSpPr txBox="1">
              <a:spLocks noChangeArrowheads="1"/>
            </p:cNvSpPr>
            <p:nvPr/>
          </p:nvSpPr>
          <p:spPr bwMode="auto">
            <a:xfrm>
              <a:off x="70" y="2614"/>
              <a:ext cx="703" cy="1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s_nfree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s_free[0]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s_free[1]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s_free[98]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s_free[99]</a:t>
              </a:r>
            </a:p>
          </p:txBody>
        </p:sp>
      </p:grpSp>
      <p:grpSp>
        <p:nvGrpSpPr>
          <p:cNvPr id="22" name="Group 97"/>
          <p:cNvGrpSpPr>
            <a:grpSpLocks/>
          </p:cNvGrpSpPr>
          <p:nvPr/>
        </p:nvGrpSpPr>
        <p:grpSpPr bwMode="auto">
          <a:xfrm>
            <a:off x="4851400" y="1754188"/>
            <a:ext cx="784225" cy="1473200"/>
            <a:chOff x="1524" y="2251"/>
            <a:chExt cx="494" cy="928"/>
          </a:xfrm>
        </p:grpSpPr>
        <p:sp>
          <p:nvSpPr>
            <p:cNvPr id="23" name="Text Box 98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24" name="Text Box 99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5" name="Text Box 100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6" name="Line 101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Line 102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103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104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Line 105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Text Box 106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2" name="Group 107"/>
          <p:cNvGrpSpPr>
            <a:grpSpLocks/>
          </p:cNvGrpSpPr>
          <p:nvPr/>
        </p:nvGrpSpPr>
        <p:grpSpPr bwMode="auto">
          <a:xfrm>
            <a:off x="5932488" y="1739900"/>
            <a:ext cx="784225" cy="1473200"/>
            <a:chOff x="1524" y="2251"/>
            <a:chExt cx="494" cy="928"/>
          </a:xfrm>
        </p:grpSpPr>
        <p:sp>
          <p:nvSpPr>
            <p:cNvPr id="33" name="Text Box 108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4" name="Text Box 109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5" name="Text Box 110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6" name="Line 111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112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113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114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115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Text Box 116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42" name="Group 117"/>
          <p:cNvGrpSpPr>
            <a:grpSpLocks/>
          </p:cNvGrpSpPr>
          <p:nvPr/>
        </p:nvGrpSpPr>
        <p:grpSpPr bwMode="auto">
          <a:xfrm>
            <a:off x="4867275" y="3475038"/>
            <a:ext cx="784225" cy="392112"/>
            <a:chOff x="1525" y="3274"/>
            <a:chExt cx="494" cy="247"/>
          </a:xfrm>
        </p:grpSpPr>
        <p:sp>
          <p:nvSpPr>
            <p:cNvPr id="43" name="Rectangle 11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4" name="Text Box 11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5" name="Text Box 12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46" name="Group 121"/>
          <p:cNvGrpSpPr>
            <a:grpSpLocks/>
          </p:cNvGrpSpPr>
          <p:nvPr/>
        </p:nvGrpSpPr>
        <p:grpSpPr bwMode="auto">
          <a:xfrm>
            <a:off x="5940425" y="3459163"/>
            <a:ext cx="784225" cy="392112"/>
            <a:chOff x="1525" y="3274"/>
            <a:chExt cx="494" cy="247"/>
          </a:xfrm>
        </p:grpSpPr>
        <p:sp>
          <p:nvSpPr>
            <p:cNvPr id="47" name="Rectangle 122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Text Box 123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9" name="Text Box 124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0" name="Group 125"/>
          <p:cNvGrpSpPr>
            <a:grpSpLocks/>
          </p:cNvGrpSpPr>
          <p:nvPr/>
        </p:nvGrpSpPr>
        <p:grpSpPr bwMode="auto">
          <a:xfrm>
            <a:off x="7011988" y="3459163"/>
            <a:ext cx="784225" cy="392112"/>
            <a:chOff x="1525" y="3274"/>
            <a:chExt cx="494" cy="247"/>
          </a:xfrm>
        </p:grpSpPr>
        <p:sp>
          <p:nvSpPr>
            <p:cNvPr id="51" name="Rectangle 126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2" name="Text Box 127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3" name="Text Box 128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4" name="Group 129"/>
          <p:cNvGrpSpPr>
            <a:grpSpLocks/>
          </p:cNvGrpSpPr>
          <p:nvPr/>
        </p:nvGrpSpPr>
        <p:grpSpPr bwMode="auto">
          <a:xfrm>
            <a:off x="4876800" y="4291013"/>
            <a:ext cx="784225" cy="392112"/>
            <a:chOff x="1525" y="3274"/>
            <a:chExt cx="494" cy="247"/>
          </a:xfrm>
        </p:grpSpPr>
        <p:sp>
          <p:nvSpPr>
            <p:cNvPr id="55" name="Rectangle 130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6" name="Text Box 131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7" name="Text Box 132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8" name="Group 133"/>
          <p:cNvGrpSpPr>
            <a:grpSpLocks/>
          </p:cNvGrpSpPr>
          <p:nvPr/>
        </p:nvGrpSpPr>
        <p:grpSpPr bwMode="auto">
          <a:xfrm>
            <a:off x="5956300" y="4283075"/>
            <a:ext cx="784225" cy="392113"/>
            <a:chOff x="1525" y="3274"/>
            <a:chExt cx="494" cy="247"/>
          </a:xfrm>
        </p:grpSpPr>
        <p:sp>
          <p:nvSpPr>
            <p:cNvPr id="59" name="Rectangle 134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0" name="Text Box 135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1" name="Text Box 136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2" name="Group 137"/>
          <p:cNvGrpSpPr>
            <a:grpSpLocks/>
          </p:cNvGrpSpPr>
          <p:nvPr/>
        </p:nvGrpSpPr>
        <p:grpSpPr bwMode="auto">
          <a:xfrm>
            <a:off x="7027863" y="4275138"/>
            <a:ext cx="784225" cy="392112"/>
            <a:chOff x="1525" y="3274"/>
            <a:chExt cx="494" cy="247"/>
          </a:xfrm>
        </p:grpSpPr>
        <p:sp>
          <p:nvSpPr>
            <p:cNvPr id="63" name="Rectangle 13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4" name="Text Box 13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5" name="Text Box 14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66" name="Text Box 141"/>
          <p:cNvSpPr txBox="1">
            <a:spLocks noChangeArrowheads="1"/>
          </p:cNvSpPr>
          <p:nvPr/>
        </p:nvSpPr>
        <p:spPr bwMode="auto">
          <a:xfrm>
            <a:off x="5116513" y="4106863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7" name="Text Box 142"/>
          <p:cNvSpPr txBox="1">
            <a:spLocks noChangeArrowheads="1"/>
          </p:cNvSpPr>
          <p:nvPr/>
        </p:nvSpPr>
        <p:spPr bwMode="auto">
          <a:xfrm>
            <a:off x="6196013" y="4090988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8" name="Text Box 143"/>
          <p:cNvSpPr txBox="1">
            <a:spLocks noChangeArrowheads="1"/>
          </p:cNvSpPr>
          <p:nvPr/>
        </p:nvSpPr>
        <p:spPr bwMode="auto">
          <a:xfrm>
            <a:off x="7283450" y="4098925"/>
            <a:ext cx="28733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9" name="Text Box 144"/>
          <p:cNvSpPr txBox="1">
            <a:spLocks noChangeArrowheads="1"/>
          </p:cNvSpPr>
          <p:nvPr/>
        </p:nvSpPr>
        <p:spPr bwMode="auto">
          <a:xfrm>
            <a:off x="2274888" y="1635125"/>
            <a:ext cx="1439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空闲盘块号栈</a:t>
            </a:r>
          </a:p>
        </p:txBody>
      </p:sp>
      <p:sp>
        <p:nvSpPr>
          <p:cNvPr id="70" name="Text Box 145"/>
          <p:cNvSpPr txBox="1">
            <a:spLocks noChangeArrowheads="1"/>
          </p:cNvSpPr>
          <p:nvPr/>
        </p:nvSpPr>
        <p:spPr bwMode="auto">
          <a:xfrm>
            <a:off x="4995863" y="310038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400</a:t>
            </a:r>
          </a:p>
        </p:txBody>
      </p:sp>
      <p:sp>
        <p:nvSpPr>
          <p:cNvPr id="71" name="Text Box 146"/>
          <p:cNvSpPr txBox="1">
            <a:spLocks noChangeArrowheads="1"/>
          </p:cNvSpPr>
          <p:nvPr/>
        </p:nvSpPr>
        <p:spPr bwMode="auto">
          <a:xfrm>
            <a:off x="5011738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399</a:t>
            </a:r>
          </a:p>
        </p:txBody>
      </p:sp>
      <p:sp>
        <p:nvSpPr>
          <p:cNvPr id="72" name="Text Box 147"/>
          <p:cNvSpPr txBox="1">
            <a:spLocks noChangeArrowheads="1"/>
          </p:cNvSpPr>
          <p:nvPr/>
        </p:nvSpPr>
        <p:spPr bwMode="auto">
          <a:xfrm>
            <a:off x="5011738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302</a:t>
            </a:r>
          </a:p>
        </p:txBody>
      </p:sp>
      <p:sp>
        <p:nvSpPr>
          <p:cNvPr id="73" name="Text Box 148"/>
          <p:cNvSpPr txBox="1">
            <a:spLocks noChangeArrowheads="1"/>
          </p:cNvSpPr>
          <p:nvPr/>
        </p:nvSpPr>
        <p:spPr bwMode="auto">
          <a:xfrm>
            <a:off x="6091238" y="30924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500</a:t>
            </a:r>
          </a:p>
        </p:txBody>
      </p:sp>
      <p:sp>
        <p:nvSpPr>
          <p:cNvPr id="74" name="Text Box 149"/>
          <p:cNvSpPr txBox="1">
            <a:spLocks noChangeArrowheads="1"/>
          </p:cNvSpPr>
          <p:nvPr/>
        </p:nvSpPr>
        <p:spPr bwMode="auto">
          <a:xfrm>
            <a:off x="6099175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499</a:t>
            </a:r>
          </a:p>
        </p:txBody>
      </p:sp>
      <p:sp>
        <p:nvSpPr>
          <p:cNvPr id="75" name="Text Box 150"/>
          <p:cNvSpPr txBox="1">
            <a:spLocks noChangeArrowheads="1"/>
          </p:cNvSpPr>
          <p:nvPr/>
        </p:nvSpPr>
        <p:spPr bwMode="auto">
          <a:xfrm>
            <a:off x="6115050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401</a:t>
            </a:r>
          </a:p>
        </p:txBody>
      </p:sp>
      <p:sp>
        <p:nvSpPr>
          <p:cNvPr id="76" name="Text Box 151"/>
          <p:cNvSpPr txBox="1">
            <a:spLocks noChangeArrowheads="1"/>
          </p:cNvSpPr>
          <p:nvPr/>
        </p:nvSpPr>
        <p:spPr bwMode="auto">
          <a:xfrm>
            <a:off x="7162800" y="376396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599</a:t>
            </a:r>
          </a:p>
        </p:txBody>
      </p:sp>
      <p:sp>
        <p:nvSpPr>
          <p:cNvPr id="77" name="Text Box 152"/>
          <p:cNvSpPr txBox="1">
            <a:spLocks noChangeArrowheads="1"/>
          </p:cNvSpPr>
          <p:nvPr/>
        </p:nvSpPr>
        <p:spPr bwMode="auto">
          <a:xfrm>
            <a:off x="7178675" y="45878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501</a:t>
            </a:r>
          </a:p>
        </p:txBody>
      </p:sp>
      <p:sp>
        <p:nvSpPr>
          <p:cNvPr id="78" name="Line 153"/>
          <p:cNvSpPr>
            <a:spLocks noChangeShapeType="1"/>
          </p:cNvSpPr>
          <p:nvPr/>
        </p:nvSpPr>
        <p:spPr bwMode="auto">
          <a:xfrm flipV="1">
            <a:off x="3203575" y="1882775"/>
            <a:ext cx="1792288" cy="682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79" name="Line 154"/>
          <p:cNvSpPr>
            <a:spLocks noChangeShapeType="1"/>
          </p:cNvSpPr>
          <p:nvPr/>
        </p:nvSpPr>
        <p:spPr bwMode="auto">
          <a:xfrm>
            <a:off x="3203575" y="2781300"/>
            <a:ext cx="1792288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0" name="Line 155"/>
          <p:cNvSpPr>
            <a:spLocks noChangeShapeType="1"/>
          </p:cNvSpPr>
          <p:nvPr/>
        </p:nvSpPr>
        <p:spPr bwMode="auto">
          <a:xfrm flipV="1">
            <a:off x="5356225" y="18113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1" name="Line 156"/>
          <p:cNvSpPr>
            <a:spLocks noChangeShapeType="1"/>
          </p:cNvSpPr>
          <p:nvPr/>
        </p:nvSpPr>
        <p:spPr bwMode="auto">
          <a:xfrm>
            <a:off x="5356225" y="2316163"/>
            <a:ext cx="71913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2" name="Line 157"/>
          <p:cNvSpPr>
            <a:spLocks noChangeShapeType="1"/>
          </p:cNvSpPr>
          <p:nvPr/>
        </p:nvSpPr>
        <p:spPr bwMode="auto">
          <a:xfrm>
            <a:off x="5283200" y="2747963"/>
            <a:ext cx="792163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3" name="Line 158"/>
          <p:cNvSpPr>
            <a:spLocks noChangeShapeType="1"/>
          </p:cNvSpPr>
          <p:nvPr/>
        </p:nvSpPr>
        <p:spPr bwMode="auto">
          <a:xfrm>
            <a:off x="6508750" y="23161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4" name="Line 159"/>
          <p:cNvSpPr>
            <a:spLocks noChangeShapeType="1"/>
          </p:cNvSpPr>
          <p:nvPr/>
        </p:nvSpPr>
        <p:spPr bwMode="auto">
          <a:xfrm>
            <a:off x="6508750" y="2747963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5" name="Text Box 160"/>
          <p:cNvSpPr txBox="1">
            <a:spLocks noChangeArrowheads="1"/>
          </p:cNvSpPr>
          <p:nvPr/>
        </p:nvSpPr>
        <p:spPr bwMode="auto">
          <a:xfrm>
            <a:off x="1908175" y="5373688"/>
            <a:ext cx="1655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分配</a:t>
            </a:r>
            <a:r>
              <a:rPr kumimoji="0" lang="en-US" altLang="zh-CN" sz="2400" b="1">
                <a:solidFill>
                  <a:srgbClr val="FF3300"/>
                </a:solidFill>
                <a:ea typeface="楷体" panose="02010609060101010101" pitchFamily="49" charset="-122"/>
              </a:rPr>
              <a:t>3</a:t>
            </a: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块</a:t>
            </a:r>
          </a:p>
        </p:txBody>
      </p:sp>
      <p:sp>
        <p:nvSpPr>
          <p:cNvPr id="86" name="Line 161"/>
          <p:cNvSpPr>
            <a:spLocks noChangeShapeType="1"/>
          </p:cNvSpPr>
          <p:nvPr/>
        </p:nvSpPr>
        <p:spPr bwMode="auto">
          <a:xfrm>
            <a:off x="3203575" y="3429000"/>
            <a:ext cx="18002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463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8A0D3-EA54-4095-B2A2-B3FAB74AA15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59</a:t>
            </a:fld>
            <a:endParaRPr lang="zh-CN" altLang="en-US" dirty="0"/>
          </a:p>
        </p:txBody>
      </p:sp>
      <p:grpSp>
        <p:nvGrpSpPr>
          <p:cNvPr id="7" name="Group 82"/>
          <p:cNvGrpSpPr>
            <a:grpSpLocks/>
          </p:cNvGrpSpPr>
          <p:nvPr/>
        </p:nvGrpSpPr>
        <p:grpSpPr bwMode="auto">
          <a:xfrm>
            <a:off x="1687513" y="1885950"/>
            <a:ext cx="1724025" cy="2373313"/>
            <a:chOff x="70" y="2437"/>
            <a:chExt cx="1086" cy="1495"/>
          </a:xfrm>
        </p:grpSpPr>
        <p:sp>
          <p:nvSpPr>
            <p:cNvPr id="8" name="Text Box 83"/>
            <p:cNvSpPr txBox="1">
              <a:spLocks noChangeArrowheads="1"/>
            </p:cNvSpPr>
            <p:nvPr/>
          </p:nvSpPr>
          <p:spPr bwMode="auto">
            <a:xfrm>
              <a:off x="748" y="2478"/>
              <a:ext cx="318" cy="14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302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" name="Text Box 84"/>
            <p:cNvSpPr txBox="1">
              <a:spLocks noChangeArrowheads="1"/>
            </p:cNvSpPr>
            <p:nvPr/>
          </p:nvSpPr>
          <p:spPr bwMode="auto">
            <a:xfrm>
              <a:off x="819" y="3118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10" name="Text Box 85"/>
            <p:cNvSpPr txBox="1">
              <a:spLocks noChangeArrowheads="1"/>
            </p:cNvSpPr>
            <p:nvPr/>
          </p:nvSpPr>
          <p:spPr bwMode="auto">
            <a:xfrm>
              <a:off x="975" y="244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" name="Text Box 86"/>
            <p:cNvSpPr txBox="1">
              <a:spLocks noChangeArrowheads="1"/>
            </p:cNvSpPr>
            <p:nvPr/>
          </p:nvSpPr>
          <p:spPr bwMode="auto">
            <a:xfrm>
              <a:off x="662" y="243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2" name="Text Box 87"/>
            <p:cNvSpPr txBox="1">
              <a:spLocks noChangeArrowheads="1"/>
            </p:cNvSpPr>
            <p:nvPr/>
          </p:nvSpPr>
          <p:spPr bwMode="auto">
            <a:xfrm>
              <a:off x="975" y="367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3" name="Text Box 88"/>
            <p:cNvSpPr txBox="1">
              <a:spLocks noChangeArrowheads="1"/>
            </p:cNvSpPr>
            <p:nvPr/>
          </p:nvSpPr>
          <p:spPr bwMode="auto">
            <a:xfrm>
              <a:off x="662" y="36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4" name="Line 89"/>
            <p:cNvSpPr>
              <a:spLocks noChangeShapeType="1"/>
            </p:cNvSpPr>
            <p:nvPr/>
          </p:nvSpPr>
          <p:spPr bwMode="auto">
            <a:xfrm>
              <a:off x="748" y="264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5" name="Line 90"/>
            <p:cNvSpPr>
              <a:spLocks noChangeShapeType="1"/>
            </p:cNvSpPr>
            <p:nvPr/>
          </p:nvSpPr>
          <p:spPr bwMode="auto">
            <a:xfrm>
              <a:off x="748" y="2785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91"/>
            <p:cNvSpPr>
              <a:spLocks noChangeShapeType="1"/>
            </p:cNvSpPr>
            <p:nvPr/>
          </p:nvSpPr>
          <p:spPr bwMode="auto">
            <a:xfrm>
              <a:off x="748" y="2936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92"/>
            <p:cNvSpPr>
              <a:spLocks noChangeShapeType="1"/>
            </p:cNvSpPr>
            <p:nvPr/>
          </p:nvSpPr>
          <p:spPr bwMode="auto">
            <a:xfrm>
              <a:off x="748" y="3072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Line 93"/>
            <p:cNvSpPr>
              <a:spLocks noChangeShapeType="1"/>
            </p:cNvSpPr>
            <p:nvPr/>
          </p:nvSpPr>
          <p:spPr bwMode="auto">
            <a:xfrm>
              <a:off x="748" y="3340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Line 94"/>
            <p:cNvSpPr>
              <a:spLocks noChangeShapeType="1"/>
            </p:cNvSpPr>
            <p:nvPr/>
          </p:nvSpPr>
          <p:spPr bwMode="auto">
            <a:xfrm>
              <a:off x="748" y="3491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0" name="Line 95"/>
            <p:cNvSpPr>
              <a:spLocks noChangeShapeType="1"/>
            </p:cNvSpPr>
            <p:nvPr/>
          </p:nvSpPr>
          <p:spPr bwMode="auto">
            <a:xfrm>
              <a:off x="748" y="3627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Text Box 96"/>
            <p:cNvSpPr txBox="1">
              <a:spLocks noChangeArrowheads="1"/>
            </p:cNvSpPr>
            <p:nvPr/>
          </p:nvSpPr>
          <p:spPr bwMode="auto">
            <a:xfrm>
              <a:off x="70" y="2614"/>
              <a:ext cx="703" cy="1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s_nfree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s_free[0]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s_free[1]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s_free[98]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s_free[99]</a:t>
              </a:r>
            </a:p>
          </p:txBody>
        </p:sp>
      </p:grpSp>
      <p:grpSp>
        <p:nvGrpSpPr>
          <p:cNvPr id="22" name="Group 97"/>
          <p:cNvGrpSpPr>
            <a:grpSpLocks/>
          </p:cNvGrpSpPr>
          <p:nvPr/>
        </p:nvGrpSpPr>
        <p:grpSpPr bwMode="auto">
          <a:xfrm>
            <a:off x="4851400" y="1754188"/>
            <a:ext cx="784225" cy="1473200"/>
            <a:chOff x="1524" y="2251"/>
            <a:chExt cx="494" cy="928"/>
          </a:xfrm>
        </p:grpSpPr>
        <p:sp>
          <p:nvSpPr>
            <p:cNvPr id="23" name="Text Box 98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24" name="Text Box 99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5" name="Text Box 100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6" name="Line 101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Line 102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103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104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Line 105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Text Box 106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2" name="Group 107"/>
          <p:cNvGrpSpPr>
            <a:grpSpLocks/>
          </p:cNvGrpSpPr>
          <p:nvPr/>
        </p:nvGrpSpPr>
        <p:grpSpPr bwMode="auto">
          <a:xfrm>
            <a:off x="5932488" y="1739900"/>
            <a:ext cx="784225" cy="1473200"/>
            <a:chOff x="1524" y="2251"/>
            <a:chExt cx="494" cy="928"/>
          </a:xfrm>
        </p:grpSpPr>
        <p:sp>
          <p:nvSpPr>
            <p:cNvPr id="33" name="Text Box 108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4" name="Text Box 109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5" name="Text Box 110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6" name="Line 111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112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113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114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115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Text Box 116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42" name="Group 117"/>
          <p:cNvGrpSpPr>
            <a:grpSpLocks/>
          </p:cNvGrpSpPr>
          <p:nvPr/>
        </p:nvGrpSpPr>
        <p:grpSpPr bwMode="auto">
          <a:xfrm>
            <a:off x="4867275" y="3475038"/>
            <a:ext cx="784225" cy="392112"/>
            <a:chOff x="1525" y="3274"/>
            <a:chExt cx="494" cy="247"/>
          </a:xfrm>
        </p:grpSpPr>
        <p:sp>
          <p:nvSpPr>
            <p:cNvPr id="43" name="Rectangle 11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4" name="Text Box 11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5" name="Text Box 12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46" name="Group 121"/>
          <p:cNvGrpSpPr>
            <a:grpSpLocks/>
          </p:cNvGrpSpPr>
          <p:nvPr/>
        </p:nvGrpSpPr>
        <p:grpSpPr bwMode="auto">
          <a:xfrm>
            <a:off x="5940425" y="3459163"/>
            <a:ext cx="784225" cy="392112"/>
            <a:chOff x="1525" y="3274"/>
            <a:chExt cx="494" cy="247"/>
          </a:xfrm>
        </p:grpSpPr>
        <p:sp>
          <p:nvSpPr>
            <p:cNvPr id="47" name="Rectangle 122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Text Box 123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9" name="Text Box 124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0" name="Group 125"/>
          <p:cNvGrpSpPr>
            <a:grpSpLocks/>
          </p:cNvGrpSpPr>
          <p:nvPr/>
        </p:nvGrpSpPr>
        <p:grpSpPr bwMode="auto">
          <a:xfrm>
            <a:off x="7011988" y="3459163"/>
            <a:ext cx="784225" cy="392112"/>
            <a:chOff x="1525" y="3274"/>
            <a:chExt cx="494" cy="247"/>
          </a:xfrm>
        </p:grpSpPr>
        <p:sp>
          <p:nvSpPr>
            <p:cNvPr id="51" name="Rectangle 126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2" name="Text Box 127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3" name="Text Box 128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4" name="Group 129"/>
          <p:cNvGrpSpPr>
            <a:grpSpLocks/>
          </p:cNvGrpSpPr>
          <p:nvPr/>
        </p:nvGrpSpPr>
        <p:grpSpPr bwMode="auto">
          <a:xfrm>
            <a:off x="4876800" y="4291013"/>
            <a:ext cx="784225" cy="392112"/>
            <a:chOff x="1525" y="3274"/>
            <a:chExt cx="494" cy="247"/>
          </a:xfrm>
        </p:grpSpPr>
        <p:sp>
          <p:nvSpPr>
            <p:cNvPr id="55" name="Rectangle 130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6" name="Text Box 131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7" name="Text Box 132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8" name="Group 133"/>
          <p:cNvGrpSpPr>
            <a:grpSpLocks/>
          </p:cNvGrpSpPr>
          <p:nvPr/>
        </p:nvGrpSpPr>
        <p:grpSpPr bwMode="auto">
          <a:xfrm>
            <a:off x="5956300" y="4283075"/>
            <a:ext cx="784225" cy="392113"/>
            <a:chOff x="1525" y="3274"/>
            <a:chExt cx="494" cy="247"/>
          </a:xfrm>
        </p:grpSpPr>
        <p:sp>
          <p:nvSpPr>
            <p:cNvPr id="59" name="Rectangle 134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0" name="Text Box 135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1" name="Text Box 136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2" name="Group 137"/>
          <p:cNvGrpSpPr>
            <a:grpSpLocks/>
          </p:cNvGrpSpPr>
          <p:nvPr/>
        </p:nvGrpSpPr>
        <p:grpSpPr bwMode="auto">
          <a:xfrm>
            <a:off x="7027863" y="4275138"/>
            <a:ext cx="784225" cy="392112"/>
            <a:chOff x="1525" y="3274"/>
            <a:chExt cx="494" cy="247"/>
          </a:xfrm>
        </p:grpSpPr>
        <p:sp>
          <p:nvSpPr>
            <p:cNvPr id="63" name="Rectangle 13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4" name="Text Box 13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5" name="Text Box 14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66" name="Text Box 141"/>
          <p:cNvSpPr txBox="1">
            <a:spLocks noChangeArrowheads="1"/>
          </p:cNvSpPr>
          <p:nvPr/>
        </p:nvSpPr>
        <p:spPr bwMode="auto">
          <a:xfrm>
            <a:off x="5116513" y="4106863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7" name="Text Box 142"/>
          <p:cNvSpPr txBox="1">
            <a:spLocks noChangeArrowheads="1"/>
          </p:cNvSpPr>
          <p:nvPr/>
        </p:nvSpPr>
        <p:spPr bwMode="auto">
          <a:xfrm>
            <a:off x="6196013" y="4090988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8" name="Text Box 143"/>
          <p:cNvSpPr txBox="1">
            <a:spLocks noChangeArrowheads="1"/>
          </p:cNvSpPr>
          <p:nvPr/>
        </p:nvSpPr>
        <p:spPr bwMode="auto">
          <a:xfrm>
            <a:off x="7283450" y="4098925"/>
            <a:ext cx="28733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9" name="Text Box 144"/>
          <p:cNvSpPr txBox="1">
            <a:spLocks noChangeArrowheads="1"/>
          </p:cNvSpPr>
          <p:nvPr/>
        </p:nvSpPr>
        <p:spPr bwMode="auto">
          <a:xfrm>
            <a:off x="2274888" y="1635125"/>
            <a:ext cx="1439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空闲盘块号栈</a:t>
            </a:r>
          </a:p>
        </p:txBody>
      </p:sp>
      <p:sp>
        <p:nvSpPr>
          <p:cNvPr id="70" name="Text Box 145"/>
          <p:cNvSpPr txBox="1">
            <a:spLocks noChangeArrowheads="1"/>
          </p:cNvSpPr>
          <p:nvPr/>
        </p:nvSpPr>
        <p:spPr bwMode="auto">
          <a:xfrm>
            <a:off x="4995863" y="310038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400</a:t>
            </a:r>
          </a:p>
        </p:txBody>
      </p:sp>
      <p:sp>
        <p:nvSpPr>
          <p:cNvPr id="71" name="Text Box 146"/>
          <p:cNvSpPr txBox="1">
            <a:spLocks noChangeArrowheads="1"/>
          </p:cNvSpPr>
          <p:nvPr/>
        </p:nvSpPr>
        <p:spPr bwMode="auto">
          <a:xfrm>
            <a:off x="5011738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399</a:t>
            </a:r>
          </a:p>
        </p:txBody>
      </p:sp>
      <p:sp>
        <p:nvSpPr>
          <p:cNvPr id="72" name="Text Box 147"/>
          <p:cNvSpPr txBox="1">
            <a:spLocks noChangeArrowheads="1"/>
          </p:cNvSpPr>
          <p:nvPr/>
        </p:nvSpPr>
        <p:spPr bwMode="auto">
          <a:xfrm>
            <a:off x="5011738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302</a:t>
            </a:r>
          </a:p>
        </p:txBody>
      </p:sp>
      <p:sp>
        <p:nvSpPr>
          <p:cNvPr id="73" name="Text Box 148"/>
          <p:cNvSpPr txBox="1">
            <a:spLocks noChangeArrowheads="1"/>
          </p:cNvSpPr>
          <p:nvPr/>
        </p:nvSpPr>
        <p:spPr bwMode="auto">
          <a:xfrm>
            <a:off x="6091238" y="30924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500</a:t>
            </a:r>
          </a:p>
        </p:txBody>
      </p:sp>
      <p:sp>
        <p:nvSpPr>
          <p:cNvPr id="74" name="Text Box 149"/>
          <p:cNvSpPr txBox="1">
            <a:spLocks noChangeArrowheads="1"/>
          </p:cNvSpPr>
          <p:nvPr/>
        </p:nvSpPr>
        <p:spPr bwMode="auto">
          <a:xfrm>
            <a:off x="6099175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499</a:t>
            </a:r>
          </a:p>
        </p:txBody>
      </p:sp>
      <p:sp>
        <p:nvSpPr>
          <p:cNvPr id="75" name="Text Box 150"/>
          <p:cNvSpPr txBox="1">
            <a:spLocks noChangeArrowheads="1"/>
          </p:cNvSpPr>
          <p:nvPr/>
        </p:nvSpPr>
        <p:spPr bwMode="auto">
          <a:xfrm>
            <a:off x="6115050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401</a:t>
            </a:r>
          </a:p>
        </p:txBody>
      </p:sp>
      <p:sp>
        <p:nvSpPr>
          <p:cNvPr id="76" name="Text Box 151"/>
          <p:cNvSpPr txBox="1">
            <a:spLocks noChangeArrowheads="1"/>
          </p:cNvSpPr>
          <p:nvPr/>
        </p:nvSpPr>
        <p:spPr bwMode="auto">
          <a:xfrm>
            <a:off x="7162800" y="376396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599</a:t>
            </a:r>
          </a:p>
        </p:txBody>
      </p:sp>
      <p:sp>
        <p:nvSpPr>
          <p:cNvPr id="77" name="Text Box 152"/>
          <p:cNvSpPr txBox="1">
            <a:spLocks noChangeArrowheads="1"/>
          </p:cNvSpPr>
          <p:nvPr/>
        </p:nvSpPr>
        <p:spPr bwMode="auto">
          <a:xfrm>
            <a:off x="7178675" y="45878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501</a:t>
            </a:r>
          </a:p>
        </p:txBody>
      </p:sp>
      <p:sp>
        <p:nvSpPr>
          <p:cNvPr id="78" name="Line 153"/>
          <p:cNvSpPr>
            <a:spLocks noChangeShapeType="1"/>
          </p:cNvSpPr>
          <p:nvPr/>
        </p:nvSpPr>
        <p:spPr bwMode="auto">
          <a:xfrm flipV="1">
            <a:off x="3203575" y="1882775"/>
            <a:ext cx="1792288" cy="682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79" name="Line 154"/>
          <p:cNvSpPr>
            <a:spLocks noChangeShapeType="1"/>
          </p:cNvSpPr>
          <p:nvPr/>
        </p:nvSpPr>
        <p:spPr bwMode="auto">
          <a:xfrm>
            <a:off x="3203575" y="2781300"/>
            <a:ext cx="1792288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0" name="Line 155"/>
          <p:cNvSpPr>
            <a:spLocks noChangeShapeType="1"/>
          </p:cNvSpPr>
          <p:nvPr/>
        </p:nvSpPr>
        <p:spPr bwMode="auto">
          <a:xfrm flipV="1">
            <a:off x="5356225" y="18113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1" name="Line 156"/>
          <p:cNvSpPr>
            <a:spLocks noChangeShapeType="1"/>
          </p:cNvSpPr>
          <p:nvPr/>
        </p:nvSpPr>
        <p:spPr bwMode="auto">
          <a:xfrm>
            <a:off x="5356225" y="2316163"/>
            <a:ext cx="71913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2" name="Line 157"/>
          <p:cNvSpPr>
            <a:spLocks noChangeShapeType="1"/>
          </p:cNvSpPr>
          <p:nvPr/>
        </p:nvSpPr>
        <p:spPr bwMode="auto">
          <a:xfrm>
            <a:off x="5283200" y="2747963"/>
            <a:ext cx="792163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3" name="Line 158"/>
          <p:cNvSpPr>
            <a:spLocks noChangeShapeType="1"/>
          </p:cNvSpPr>
          <p:nvPr/>
        </p:nvSpPr>
        <p:spPr bwMode="auto">
          <a:xfrm>
            <a:off x="6508750" y="23161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4" name="Line 159"/>
          <p:cNvSpPr>
            <a:spLocks noChangeShapeType="1"/>
          </p:cNvSpPr>
          <p:nvPr/>
        </p:nvSpPr>
        <p:spPr bwMode="auto">
          <a:xfrm>
            <a:off x="6508750" y="2747963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5" name="Text Box 160"/>
          <p:cNvSpPr txBox="1">
            <a:spLocks noChangeArrowheads="1"/>
          </p:cNvSpPr>
          <p:nvPr/>
        </p:nvSpPr>
        <p:spPr bwMode="auto">
          <a:xfrm>
            <a:off x="1908175" y="5373688"/>
            <a:ext cx="201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回收第</a:t>
            </a:r>
            <a:r>
              <a:rPr kumimoji="0" lang="en-US" altLang="zh-CN" sz="2400" b="1">
                <a:solidFill>
                  <a:srgbClr val="FF3300"/>
                </a:solidFill>
                <a:ea typeface="楷体" panose="02010609060101010101" pitchFamily="49" charset="-122"/>
              </a:rPr>
              <a:t>700</a:t>
            </a: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块</a:t>
            </a:r>
          </a:p>
        </p:txBody>
      </p:sp>
      <p:sp>
        <p:nvSpPr>
          <p:cNvPr id="86" name="Line 161"/>
          <p:cNvSpPr>
            <a:spLocks noChangeShapeType="1"/>
          </p:cNvSpPr>
          <p:nvPr/>
        </p:nvSpPr>
        <p:spPr bwMode="auto">
          <a:xfrm>
            <a:off x="3203575" y="3429000"/>
            <a:ext cx="18002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87" name="Group 162"/>
          <p:cNvGrpSpPr>
            <a:grpSpLocks/>
          </p:cNvGrpSpPr>
          <p:nvPr/>
        </p:nvGrpSpPr>
        <p:grpSpPr bwMode="auto">
          <a:xfrm>
            <a:off x="4892675" y="4972050"/>
            <a:ext cx="784225" cy="649288"/>
            <a:chOff x="2946" y="2996"/>
            <a:chExt cx="494" cy="409"/>
          </a:xfrm>
        </p:grpSpPr>
        <p:sp>
          <p:nvSpPr>
            <p:cNvPr id="88" name="Rectangle 163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89" name="Text Box 164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0" name="Text Box 165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1" name="Text Box 166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</p:txBody>
        </p:sp>
      </p:grpSp>
      <p:sp>
        <p:nvSpPr>
          <p:cNvPr id="92" name="Line 167"/>
          <p:cNvSpPr>
            <a:spLocks noChangeShapeType="1"/>
          </p:cNvSpPr>
          <p:nvPr/>
        </p:nvSpPr>
        <p:spPr bwMode="auto">
          <a:xfrm>
            <a:off x="3203575" y="3644900"/>
            <a:ext cx="1800225" cy="13684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805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91B-8825-42D3-BC12-A92D9676CF4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60</a:t>
            </a:fld>
            <a:endParaRPr lang="zh-CN" altLang="en-US" dirty="0"/>
          </a:p>
        </p:txBody>
      </p:sp>
      <p:grpSp>
        <p:nvGrpSpPr>
          <p:cNvPr id="7" name="Group 88"/>
          <p:cNvGrpSpPr>
            <a:grpSpLocks/>
          </p:cNvGrpSpPr>
          <p:nvPr/>
        </p:nvGrpSpPr>
        <p:grpSpPr bwMode="auto">
          <a:xfrm>
            <a:off x="1687513" y="1885950"/>
            <a:ext cx="1724025" cy="2373313"/>
            <a:chOff x="70" y="2437"/>
            <a:chExt cx="1086" cy="1495"/>
          </a:xfrm>
        </p:grpSpPr>
        <p:sp>
          <p:nvSpPr>
            <p:cNvPr id="8" name="Text Box 89"/>
            <p:cNvSpPr txBox="1">
              <a:spLocks noChangeArrowheads="1"/>
            </p:cNvSpPr>
            <p:nvPr/>
          </p:nvSpPr>
          <p:spPr bwMode="auto">
            <a:xfrm>
              <a:off x="748" y="2478"/>
              <a:ext cx="318" cy="14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1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711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 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 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" name="Text Box 90"/>
            <p:cNvSpPr txBox="1">
              <a:spLocks noChangeArrowheads="1"/>
            </p:cNvSpPr>
            <p:nvPr/>
          </p:nvSpPr>
          <p:spPr bwMode="auto">
            <a:xfrm>
              <a:off x="819" y="3118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10" name="Text Box 91"/>
            <p:cNvSpPr txBox="1">
              <a:spLocks noChangeArrowheads="1"/>
            </p:cNvSpPr>
            <p:nvPr/>
          </p:nvSpPr>
          <p:spPr bwMode="auto">
            <a:xfrm>
              <a:off x="975" y="244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" name="Text Box 92"/>
            <p:cNvSpPr txBox="1">
              <a:spLocks noChangeArrowheads="1"/>
            </p:cNvSpPr>
            <p:nvPr/>
          </p:nvSpPr>
          <p:spPr bwMode="auto">
            <a:xfrm>
              <a:off x="662" y="243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2" name="Text Box 93"/>
            <p:cNvSpPr txBox="1">
              <a:spLocks noChangeArrowheads="1"/>
            </p:cNvSpPr>
            <p:nvPr/>
          </p:nvSpPr>
          <p:spPr bwMode="auto">
            <a:xfrm>
              <a:off x="975" y="367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3" name="Text Box 94"/>
            <p:cNvSpPr txBox="1">
              <a:spLocks noChangeArrowheads="1"/>
            </p:cNvSpPr>
            <p:nvPr/>
          </p:nvSpPr>
          <p:spPr bwMode="auto">
            <a:xfrm>
              <a:off x="662" y="36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4" name="Line 95"/>
            <p:cNvSpPr>
              <a:spLocks noChangeShapeType="1"/>
            </p:cNvSpPr>
            <p:nvPr/>
          </p:nvSpPr>
          <p:spPr bwMode="auto">
            <a:xfrm>
              <a:off x="748" y="264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5" name="Line 96"/>
            <p:cNvSpPr>
              <a:spLocks noChangeShapeType="1"/>
            </p:cNvSpPr>
            <p:nvPr/>
          </p:nvSpPr>
          <p:spPr bwMode="auto">
            <a:xfrm>
              <a:off x="748" y="2785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97"/>
            <p:cNvSpPr>
              <a:spLocks noChangeShapeType="1"/>
            </p:cNvSpPr>
            <p:nvPr/>
          </p:nvSpPr>
          <p:spPr bwMode="auto">
            <a:xfrm>
              <a:off x="748" y="2936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98"/>
            <p:cNvSpPr>
              <a:spLocks noChangeShapeType="1"/>
            </p:cNvSpPr>
            <p:nvPr/>
          </p:nvSpPr>
          <p:spPr bwMode="auto">
            <a:xfrm>
              <a:off x="748" y="3072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Line 99"/>
            <p:cNvSpPr>
              <a:spLocks noChangeShapeType="1"/>
            </p:cNvSpPr>
            <p:nvPr/>
          </p:nvSpPr>
          <p:spPr bwMode="auto">
            <a:xfrm>
              <a:off x="748" y="3340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Line 100"/>
            <p:cNvSpPr>
              <a:spLocks noChangeShapeType="1"/>
            </p:cNvSpPr>
            <p:nvPr/>
          </p:nvSpPr>
          <p:spPr bwMode="auto">
            <a:xfrm>
              <a:off x="748" y="3491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0" name="Line 101"/>
            <p:cNvSpPr>
              <a:spLocks noChangeShapeType="1"/>
            </p:cNvSpPr>
            <p:nvPr/>
          </p:nvSpPr>
          <p:spPr bwMode="auto">
            <a:xfrm>
              <a:off x="748" y="3627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Text Box 102"/>
            <p:cNvSpPr txBox="1">
              <a:spLocks noChangeArrowheads="1"/>
            </p:cNvSpPr>
            <p:nvPr/>
          </p:nvSpPr>
          <p:spPr bwMode="auto">
            <a:xfrm>
              <a:off x="70" y="2614"/>
              <a:ext cx="703" cy="1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s_nfree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s_free[0]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s_free[1]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s_free[98]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s_free[99]</a:t>
              </a:r>
            </a:p>
          </p:txBody>
        </p:sp>
      </p:grpSp>
      <p:grpSp>
        <p:nvGrpSpPr>
          <p:cNvPr id="22" name="Group 103"/>
          <p:cNvGrpSpPr>
            <a:grpSpLocks/>
          </p:cNvGrpSpPr>
          <p:nvPr/>
        </p:nvGrpSpPr>
        <p:grpSpPr bwMode="auto">
          <a:xfrm>
            <a:off x="4851400" y="1754188"/>
            <a:ext cx="784225" cy="1473200"/>
            <a:chOff x="1524" y="2251"/>
            <a:chExt cx="494" cy="928"/>
          </a:xfrm>
        </p:grpSpPr>
        <p:sp>
          <p:nvSpPr>
            <p:cNvPr id="23" name="Text Box 104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24" name="Text Box 105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5" name="Text Box 106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6" name="Line 107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Line 108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109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110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Line 111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Text Box 112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2" name="Group 113"/>
          <p:cNvGrpSpPr>
            <a:grpSpLocks/>
          </p:cNvGrpSpPr>
          <p:nvPr/>
        </p:nvGrpSpPr>
        <p:grpSpPr bwMode="auto">
          <a:xfrm>
            <a:off x="5932488" y="1739900"/>
            <a:ext cx="784225" cy="1473200"/>
            <a:chOff x="1524" y="2251"/>
            <a:chExt cx="494" cy="928"/>
          </a:xfrm>
        </p:grpSpPr>
        <p:sp>
          <p:nvSpPr>
            <p:cNvPr id="33" name="Text Box 114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4" name="Text Box 115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5" name="Text Box 116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6" name="Line 117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118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119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120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121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Text Box 122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42" name="Group 123"/>
          <p:cNvGrpSpPr>
            <a:grpSpLocks/>
          </p:cNvGrpSpPr>
          <p:nvPr/>
        </p:nvGrpSpPr>
        <p:grpSpPr bwMode="auto">
          <a:xfrm>
            <a:off x="4867275" y="3475038"/>
            <a:ext cx="784225" cy="392112"/>
            <a:chOff x="1525" y="3274"/>
            <a:chExt cx="494" cy="247"/>
          </a:xfrm>
        </p:grpSpPr>
        <p:sp>
          <p:nvSpPr>
            <p:cNvPr id="43" name="Rectangle 124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4" name="Text Box 125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5" name="Text Box 126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46" name="Group 127"/>
          <p:cNvGrpSpPr>
            <a:grpSpLocks/>
          </p:cNvGrpSpPr>
          <p:nvPr/>
        </p:nvGrpSpPr>
        <p:grpSpPr bwMode="auto">
          <a:xfrm>
            <a:off x="5940425" y="3459163"/>
            <a:ext cx="784225" cy="392112"/>
            <a:chOff x="1525" y="3274"/>
            <a:chExt cx="494" cy="247"/>
          </a:xfrm>
        </p:grpSpPr>
        <p:sp>
          <p:nvSpPr>
            <p:cNvPr id="47" name="Rectangle 12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Text Box 12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9" name="Text Box 13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0" name="Group 131"/>
          <p:cNvGrpSpPr>
            <a:grpSpLocks/>
          </p:cNvGrpSpPr>
          <p:nvPr/>
        </p:nvGrpSpPr>
        <p:grpSpPr bwMode="auto">
          <a:xfrm>
            <a:off x="7011988" y="3459163"/>
            <a:ext cx="784225" cy="392112"/>
            <a:chOff x="1525" y="3274"/>
            <a:chExt cx="494" cy="247"/>
          </a:xfrm>
        </p:grpSpPr>
        <p:sp>
          <p:nvSpPr>
            <p:cNvPr id="51" name="Rectangle 132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2" name="Text Box 133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3" name="Text Box 134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4" name="Group 135"/>
          <p:cNvGrpSpPr>
            <a:grpSpLocks/>
          </p:cNvGrpSpPr>
          <p:nvPr/>
        </p:nvGrpSpPr>
        <p:grpSpPr bwMode="auto">
          <a:xfrm>
            <a:off x="4876800" y="4291013"/>
            <a:ext cx="784225" cy="392112"/>
            <a:chOff x="1525" y="3274"/>
            <a:chExt cx="494" cy="247"/>
          </a:xfrm>
        </p:grpSpPr>
        <p:sp>
          <p:nvSpPr>
            <p:cNvPr id="55" name="Rectangle 136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6" name="Text Box 137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7" name="Text Box 138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8" name="Group 139"/>
          <p:cNvGrpSpPr>
            <a:grpSpLocks/>
          </p:cNvGrpSpPr>
          <p:nvPr/>
        </p:nvGrpSpPr>
        <p:grpSpPr bwMode="auto">
          <a:xfrm>
            <a:off x="5956300" y="4283075"/>
            <a:ext cx="784225" cy="392113"/>
            <a:chOff x="1525" y="3274"/>
            <a:chExt cx="494" cy="247"/>
          </a:xfrm>
        </p:grpSpPr>
        <p:sp>
          <p:nvSpPr>
            <p:cNvPr id="59" name="Rectangle 140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0" name="Text Box 141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1" name="Text Box 142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2" name="Group 143"/>
          <p:cNvGrpSpPr>
            <a:grpSpLocks/>
          </p:cNvGrpSpPr>
          <p:nvPr/>
        </p:nvGrpSpPr>
        <p:grpSpPr bwMode="auto">
          <a:xfrm>
            <a:off x="7027863" y="4275138"/>
            <a:ext cx="784225" cy="392112"/>
            <a:chOff x="1525" y="3274"/>
            <a:chExt cx="494" cy="247"/>
          </a:xfrm>
        </p:grpSpPr>
        <p:sp>
          <p:nvSpPr>
            <p:cNvPr id="63" name="Rectangle 144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4" name="Text Box 145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5" name="Text Box 146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66" name="Text Box 147"/>
          <p:cNvSpPr txBox="1">
            <a:spLocks noChangeArrowheads="1"/>
          </p:cNvSpPr>
          <p:nvPr/>
        </p:nvSpPr>
        <p:spPr bwMode="auto">
          <a:xfrm>
            <a:off x="5116513" y="4106863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7" name="Text Box 148"/>
          <p:cNvSpPr txBox="1">
            <a:spLocks noChangeArrowheads="1"/>
          </p:cNvSpPr>
          <p:nvPr/>
        </p:nvSpPr>
        <p:spPr bwMode="auto">
          <a:xfrm>
            <a:off x="6196013" y="4090988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8" name="Text Box 149"/>
          <p:cNvSpPr txBox="1">
            <a:spLocks noChangeArrowheads="1"/>
          </p:cNvSpPr>
          <p:nvPr/>
        </p:nvSpPr>
        <p:spPr bwMode="auto">
          <a:xfrm>
            <a:off x="7283450" y="4098925"/>
            <a:ext cx="28733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9" name="Text Box 150"/>
          <p:cNvSpPr txBox="1">
            <a:spLocks noChangeArrowheads="1"/>
          </p:cNvSpPr>
          <p:nvPr/>
        </p:nvSpPr>
        <p:spPr bwMode="auto">
          <a:xfrm>
            <a:off x="2274888" y="1635125"/>
            <a:ext cx="1439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空闲盘块号栈</a:t>
            </a:r>
          </a:p>
        </p:txBody>
      </p:sp>
      <p:sp>
        <p:nvSpPr>
          <p:cNvPr id="70" name="Text Box 151"/>
          <p:cNvSpPr txBox="1">
            <a:spLocks noChangeArrowheads="1"/>
          </p:cNvSpPr>
          <p:nvPr/>
        </p:nvSpPr>
        <p:spPr bwMode="auto">
          <a:xfrm>
            <a:off x="4995863" y="310038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400</a:t>
            </a:r>
          </a:p>
        </p:txBody>
      </p:sp>
      <p:sp>
        <p:nvSpPr>
          <p:cNvPr id="71" name="Text Box 152"/>
          <p:cNvSpPr txBox="1">
            <a:spLocks noChangeArrowheads="1"/>
          </p:cNvSpPr>
          <p:nvPr/>
        </p:nvSpPr>
        <p:spPr bwMode="auto">
          <a:xfrm>
            <a:off x="5011738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399</a:t>
            </a:r>
          </a:p>
        </p:txBody>
      </p:sp>
      <p:sp>
        <p:nvSpPr>
          <p:cNvPr id="72" name="Text Box 153"/>
          <p:cNvSpPr txBox="1">
            <a:spLocks noChangeArrowheads="1"/>
          </p:cNvSpPr>
          <p:nvPr/>
        </p:nvSpPr>
        <p:spPr bwMode="auto">
          <a:xfrm>
            <a:off x="5011738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302</a:t>
            </a:r>
          </a:p>
        </p:txBody>
      </p:sp>
      <p:sp>
        <p:nvSpPr>
          <p:cNvPr id="73" name="Text Box 154"/>
          <p:cNvSpPr txBox="1">
            <a:spLocks noChangeArrowheads="1"/>
          </p:cNvSpPr>
          <p:nvPr/>
        </p:nvSpPr>
        <p:spPr bwMode="auto">
          <a:xfrm>
            <a:off x="6091238" y="30924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500</a:t>
            </a:r>
          </a:p>
        </p:txBody>
      </p:sp>
      <p:sp>
        <p:nvSpPr>
          <p:cNvPr id="74" name="Text Box 155"/>
          <p:cNvSpPr txBox="1">
            <a:spLocks noChangeArrowheads="1"/>
          </p:cNvSpPr>
          <p:nvPr/>
        </p:nvSpPr>
        <p:spPr bwMode="auto">
          <a:xfrm>
            <a:off x="6099175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499</a:t>
            </a:r>
          </a:p>
        </p:txBody>
      </p:sp>
      <p:sp>
        <p:nvSpPr>
          <p:cNvPr id="75" name="Text Box 156"/>
          <p:cNvSpPr txBox="1">
            <a:spLocks noChangeArrowheads="1"/>
          </p:cNvSpPr>
          <p:nvPr/>
        </p:nvSpPr>
        <p:spPr bwMode="auto">
          <a:xfrm>
            <a:off x="6115050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401</a:t>
            </a:r>
          </a:p>
        </p:txBody>
      </p:sp>
      <p:sp>
        <p:nvSpPr>
          <p:cNvPr id="76" name="Text Box 157"/>
          <p:cNvSpPr txBox="1">
            <a:spLocks noChangeArrowheads="1"/>
          </p:cNvSpPr>
          <p:nvPr/>
        </p:nvSpPr>
        <p:spPr bwMode="auto">
          <a:xfrm>
            <a:off x="7162800" y="376396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599</a:t>
            </a:r>
          </a:p>
        </p:txBody>
      </p:sp>
      <p:sp>
        <p:nvSpPr>
          <p:cNvPr id="77" name="Text Box 158"/>
          <p:cNvSpPr txBox="1">
            <a:spLocks noChangeArrowheads="1"/>
          </p:cNvSpPr>
          <p:nvPr/>
        </p:nvSpPr>
        <p:spPr bwMode="auto">
          <a:xfrm>
            <a:off x="7178675" y="45878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501</a:t>
            </a:r>
          </a:p>
        </p:txBody>
      </p:sp>
      <p:sp>
        <p:nvSpPr>
          <p:cNvPr id="78" name="Line 159"/>
          <p:cNvSpPr>
            <a:spLocks noChangeShapeType="1"/>
          </p:cNvSpPr>
          <p:nvPr/>
        </p:nvSpPr>
        <p:spPr bwMode="auto">
          <a:xfrm flipV="1">
            <a:off x="5356225" y="18113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79" name="Line 160"/>
          <p:cNvSpPr>
            <a:spLocks noChangeShapeType="1"/>
          </p:cNvSpPr>
          <p:nvPr/>
        </p:nvSpPr>
        <p:spPr bwMode="auto">
          <a:xfrm>
            <a:off x="5356225" y="2316163"/>
            <a:ext cx="71913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0" name="Line 161"/>
          <p:cNvSpPr>
            <a:spLocks noChangeShapeType="1"/>
          </p:cNvSpPr>
          <p:nvPr/>
        </p:nvSpPr>
        <p:spPr bwMode="auto">
          <a:xfrm>
            <a:off x="5283200" y="2747963"/>
            <a:ext cx="792163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1" name="Line 162"/>
          <p:cNvSpPr>
            <a:spLocks noChangeShapeType="1"/>
          </p:cNvSpPr>
          <p:nvPr/>
        </p:nvSpPr>
        <p:spPr bwMode="auto">
          <a:xfrm>
            <a:off x="6508750" y="23161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2" name="Line 163"/>
          <p:cNvSpPr>
            <a:spLocks noChangeShapeType="1"/>
          </p:cNvSpPr>
          <p:nvPr/>
        </p:nvSpPr>
        <p:spPr bwMode="auto">
          <a:xfrm>
            <a:off x="6508750" y="2747963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3" name="Text Box 164"/>
          <p:cNvSpPr txBox="1">
            <a:spLocks noChangeArrowheads="1"/>
          </p:cNvSpPr>
          <p:nvPr/>
        </p:nvSpPr>
        <p:spPr bwMode="auto">
          <a:xfrm>
            <a:off x="1908175" y="5373688"/>
            <a:ext cx="201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回收第</a:t>
            </a:r>
            <a:r>
              <a:rPr kumimoji="0" lang="en-US" altLang="zh-CN" sz="2400" b="1">
                <a:solidFill>
                  <a:srgbClr val="FF3300"/>
                </a:solidFill>
                <a:ea typeface="楷体" panose="02010609060101010101" pitchFamily="49" charset="-122"/>
              </a:rPr>
              <a:t>711</a:t>
            </a: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块</a:t>
            </a:r>
          </a:p>
        </p:txBody>
      </p:sp>
      <p:sp>
        <p:nvSpPr>
          <p:cNvPr id="84" name="Line 165"/>
          <p:cNvSpPr>
            <a:spLocks noChangeShapeType="1"/>
          </p:cNvSpPr>
          <p:nvPr/>
        </p:nvSpPr>
        <p:spPr bwMode="auto">
          <a:xfrm>
            <a:off x="4500563" y="2565400"/>
            <a:ext cx="503237" cy="18002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85" name="Group 166"/>
          <p:cNvGrpSpPr>
            <a:grpSpLocks/>
          </p:cNvGrpSpPr>
          <p:nvPr/>
        </p:nvGrpSpPr>
        <p:grpSpPr bwMode="auto">
          <a:xfrm>
            <a:off x="4892675" y="4972050"/>
            <a:ext cx="784225" cy="649288"/>
            <a:chOff x="2946" y="2996"/>
            <a:chExt cx="494" cy="409"/>
          </a:xfrm>
        </p:grpSpPr>
        <p:sp>
          <p:nvSpPr>
            <p:cNvPr id="86" name="Rectangle 167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87" name="Text Box 168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88" name="Text Box 169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89" name="Text Box 170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</p:txBody>
        </p:sp>
      </p:grpSp>
      <p:sp>
        <p:nvSpPr>
          <p:cNvPr id="90" name="Line 171"/>
          <p:cNvSpPr>
            <a:spLocks noChangeShapeType="1"/>
          </p:cNvSpPr>
          <p:nvPr/>
        </p:nvSpPr>
        <p:spPr bwMode="auto">
          <a:xfrm>
            <a:off x="4500563" y="2781300"/>
            <a:ext cx="503237" cy="22320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91" name="Group 172"/>
          <p:cNvGrpSpPr>
            <a:grpSpLocks/>
          </p:cNvGrpSpPr>
          <p:nvPr/>
        </p:nvGrpSpPr>
        <p:grpSpPr bwMode="auto">
          <a:xfrm>
            <a:off x="3852863" y="1749425"/>
            <a:ext cx="784225" cy="1473200"/>
            <a:chOff x="1524" y="2251"/>
            <a:chExt cx="494" cy="928"/>
          </a:xfrm>
        </p:grpSpPr>
        <p:sp>
          <p:nvSpPr>
            <p:cNvPr id="92" name="Text Box 173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400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399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3" name="Text Box 174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4" name="Text Box 175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5" name="Line 176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6" name="Line 177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7" name="Line 178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8" name="Line 179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9" name="Line 180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0" name="Text Box 181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sp>
        <p:nvSpPr>
          <p:cNvPr id="101" name="Text Box 182"/>
          <p:cNvSpPr txBox="1">
            <a:spLocks noChangeArrowheads="1"/>
          </p:cNvSpPr>
          <p:nvPr/>
        </p:nvSpPr>
        <p:spPr bwMode="auto">
          <a:xfrm>
            <a:off x="4021138" y="31019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711</a:t>
            </a:r>
          </a:p>
        </p:txBody>
      </p:sp>
      <p:sp>
        <p:nvSpPr>
          <p:cNvPr id="102" name="Line 183"/>
          <p:cNvSpPr>
            <a:spLocks noChangeShapeType="1"/>
          </p:cNvSpPr>
          <p:nvPr/>
        </p:nvSpPr>
        <p:spPr bwMode="auto">
          <a:xfrm flipV="1">
            <a:off x="3203575" y="1844675"/>
            <a:ext cx="792163" cy="7207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03" name="Line 184"/>
          <p:cNvSpPr>
            <a:spLocks noChangeShapeType="1"/>
          </p:cNvSpPr>
          <p:nvPr/>
        </p:nvSpPr>
        <p:spPr bwMode="auto">
          <a:xfrm flipV="1">
            <a:off x="4427538" y="1773238"/>
            <a:ext cx="576262" cy="3587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823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112C-02AE-4EEE-8E6A-040F7203A8FF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61</a:t>
            </a:fld>
            <a:endParaRPr lang="zh-CN" altLang="en-US" dirty="0"/>
          </a:p>
        </p:txBody>
      </p:sp>
      <p:grpSp>
        <p:nvGrpSpPr>
          <p:cNvPr id="7" name="Group 99"/>
          <p:cNvGrpSpPr>
            <a:grpSpLocks/>
          </p:cNvGrpSpPr>
          <p:nvPr/>
        </p:nvGrpSpPr>
        <p:grpSpPr bwMode="auto">
          <a:xfrm>
            <a:off x="1687513" y="1885950"/>
            <a:ext cx="1724025" cy="2373313"/>
            <a:chOff x="70" y="2437"/>
            <a:chExt cx="1086" cy="1495"/>
          </a:xfrm>
        </p:grpSpPr>
        <p:sp>
          <p:nvSpPr>
            <p:cNvPr id="8" name="Text Box 100"/>
            <p:cNvSpPr txBox="1">
              <a:spLocks noChangeArrowheads="1"/>
            </p:cNvSpPr>
            <p:nvPr/>
          </p:nvSpPr>
          <p:spPr bwMode="auto">
            <a:xfrm>
              <a:off x="748" y="2478"/>
              <a:ext cx="318" cy="14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2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711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703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 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 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" name="Text Box 101"/>
            <p:cNvSpPr txBox="1">
              <a:spLocks noChangeArrowheads="1"/>
            </p:cNvSpPr>
            <p:nvPr/>
          </p:nvSpPr>
          <p:spPr bwMode="auto">
            <a:xfrm>
              <a:off x="819" y="3118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  <p:sp>
          <p:nvSpPr>
            <p:cNvPr id="10" name="Text Box 102"/>
            <p:cNvSpPr txBox="1">
              <a:spLocks noChangeArrowheads="1"/>
            </p:cNvSpPr>
            <p:nvPr/>
          </p:nvSpPr>
          <p:spPr bwMode="auto">
            <a:xfrm>
              <a:off x="975" y="244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" name="Text Box 103"/>
            <p:cNvSpPr txBox="1">
              <a:spLocks noChangeArrowheads="1"/>
            </p:cNvSpPr>
            <p:nvPr/>
          </p:nvSpPr>
          <p:spPr bwMode="auto">
            <a:xfrm>
              <a:off x="662" y="243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2" name="Text Box 104"/>
            <p:cNvSpPr txBox="1">
              <a:spLocks noChangeArrowheads="1"/>
            </p:cNvSpPr>
            <p:nvPr/>
          </p:nvSpPr>
          <p:spPr bwMode="auto">
            <a:xfrm>
              <a:off x="975" y="367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3" name="Text Box 105"/>
            <p:cNvSpPr txBox="1">
              <a:spLocks noChangeArrowheads="1"/>
            </p:cNvSpPr>
            <p:nvPr/>
          </p:nvSpPr>
          <p:spPr bwMode="auto">
            <a:xfrm>
              <a:off x="662" y="367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4" name="Line 106"/>
            <p:cNvSpPr>
              <a:spLocks noChangeShapeType="1"/>
            </p:cNvSpPr>
            <p:nvPr/>
          </p:nvSpPr>
          <p:spPr bwMode="auto">
            <a:xfrm>
              <a:off x="748" y="264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5" name="Line 107"/>
            <p:cNvSpPr>
              <a:spLocks noChangeShapeType="1"/>
            </p:cNvSpPr>
            <p:nvPr/>
          </p:nvSpPr>
          <p:spPr bwMode="auto">
            <a:xfrm>
              <a:off x="748" y="2785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108"/>
            <p:cNvSpPr>
              <a:spLocks noChangeShapeType="1"/>
            </p:cNvSpPr>
            <p:nvPr/>
          </p:nvSpPr>
          <p:spPr bwMode="auto">
            <a:xfrm>
              <a:off x="748" y="2936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109"/>
            <p:cNvSpPr>
              <a:spLocks noChangeShapeType="1"/>
            </p:cNvSpPr>
            <p:nvPr/>
          </p:nvSpPr>
          <p:spPr bwMode="auto">
            <a:xfrm>
              <a:off x="748" y="3072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Line 110"/>
            <p:cNvSpPr>
              <a:spLocks noChangeShapeType="1"/>
            </p:cNvSpPr>
            <p:nvPr/>
          </p:nvSpPr>
          <p:spPr bwMode="auto">
            <a:xfrm>
              <a:off x="748" y="3340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9" name="Line 111"/>
            <p:cNvSpPr>
              <a:spLocks noChangeShapeType="1"/>
            </p:cNvSpPr>
            <p:nvPr/>
          </p:nvSpPr>
          <p:spPr bwMode="auto">
            <a:xfrm>
              <a:off x="748" y="3491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0" name="Line 112"/>
            <p:cNvSpPr>
              <a:spLocks noChangeShapeType="1"/>
            </p:cNvSpPr>
            <p:nvPr/>
          </p:nvSpPr>
          <p:spPr bwMode="auto">
            <a:xfrm>
              <a:off x="748" y="3627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Text Box 113"/>
            <p:cNvSpPr txBox="1">
              <a:spLocks noChangeArrowheads="1"/>
            </p:cNvSpPr>
            <p:nvPr/>
          </p:nvSpPr>
          <p:spPr bwMode="auto">
            <a:xfrm>
              <a:off x="70" y="2614"/>
              <a:ext cx="703" cy="1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s_nfree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s_free[0]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s_free[1]</a:t>
              </a: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s_free[98]</a:t>
              </a:r>
            </a:p>
            <a:p>
              <a:pPr algn="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s_free[99]</a:t>
              </a:r>
            </a:p>
          </p:txBody>
        </p:sp>
      </p:grpSp>
      <p:grpSp>
        <p:nvGrpSpPr>
          <p:cNvPr id="22" name="Group 114"/>
          <p:cNvGrpSpPr>
            <a:grpSpLocks/>
          </p:cNvGrpSpPr>
          <p:nvPr/>
        </p:nvGrpSpPr>
        <p:grpSpPr bwMode="auto">
          <a:xfrm>
            <a:off x="4851400" y="1754188"/>
            <a:ext cx="784225" cy="1473200"/>
            <a:chOff x="1524" y="2251"/>
            <a:chExt cx="494" cy="928"/>
          </a:xfrm>
        </p:grpSpPr>
        <p:sp>
          <p:nvSpPr>
            <p:cNvPr id="23" name="Text Box 115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24" name="Text Box 116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5" name="Text Box 117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6" name="Line 118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Line 119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120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121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Line 122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1" name="Text Box 123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2" name="Group 124"/>
          <p:cNvGrpSpPr>
            <a:grpSpLocks/>
          </p:cNvGrpSpPr>
          <p:nvPr/>
        </p:nvGrpSpPr>
        <p:grpSpPr bwMode="auto">
          <a:xfrm>
            <a:off x="5932488" y="1739900"/>
            <a:ext cx="784225" cy="1473200"/>
            <a:chOff x="1524" y="2251"/>
            <a:chExt cx="494" cy="928"/>
          </a:xfrm>
        </p:grpSpPr>
        <p:sp>
          <p:nvSpPr>
            <p:cNvPr id="33" name="Text Box 125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4" name="Text Box 126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5" name="Text Box 127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6" name="Line 128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129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130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131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Line 132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1" name="Text Box 133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42" name="Group 134"/>
          <p:cNvGrpSpPr>
            <a:grpSpLocks/>
          </p:cNvGrpSpPr>
          <p:nvPr/>
        </p:nvGrpSpPr>
        <p:grpSpPr bwMode="auto">
          <a:xfrm>
            <a:off x="4867275" y="3475038"/>
            <a:ext cx="784225" cy="392112"/>
            <a:chOff x="1525" y="3274"/>
            <a:chExt cx="494" cy="247"/>
          </a:xfrm>
        </p:grpSpPr>
        <p:sp>
          <p:nvSpPr>
            <p:cNvPr id="43" name="Rectangle 135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4" name="Text Box 136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5" name="Text Box 137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46" name="Group 138"/>
          <p:cNvGrpSpPr>
            <a:grpSpLocks/>
          </p:cNvGrpSpPr>
          <p:nvPr/>
        </p:nvGrpSpPr>
        <p:grpSpPr bwMode="auto">
          <a:xfrm>
            <a:off x="5940425" y="3459163"/>
            <a:ext cx="784225" cy="392112"/>
            <a:chOff x="1525" y="3274"/>
            <a:chExt cx="494" cy="247"/>
          </a:xfrm>
        </p:grpSpPr>
        <p:sp>
          <p:nvSpPr>
            <p:cNvPr id="47" name="Rectangle 139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8" name="Text Box 140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9" name="Text Box 141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0" name="Group 142"/>
          <p:cNvGrpSpPr>
            <a:grpSpLocks/>
          </p:cNvGrpSpPr>
          <p:nvPr/>
        </p:nvGrpSpPr>
        <p:grpSpPr bwMode="auto">
          <a:xfrm>
            <a:off x="7011988" y="3459163"/>
            <a:ext cx="784225" cy="392112"/>
            <a:chOff x="1525" y="3274"/>
            <a:chExt cx="494" cy="247"/>
          </a:xfrm>
        </p:grpSpPr>
        <p:sp>
          <p:nvSpPr>
            <p:cNvPr id="51" name="Rectangle 143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2" name="Text Box 144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3" name="Text Box 145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4" name="Group 146"/>
          <p:cNvGrpSpPr>
            <a:grpSpLocks/>
          </p:cNvGrpSpPr>
          <p:nvPr/>
        </p:nvGrpSpPr>
        <p:grpSpPr bwMode="auto">
          <a:xfrm>
            <a:off x="4876800" y="4291013"/>
            <a:ext cx="784225" cy="392112"/>
            <a:chOff x="1525" y="3274"/>
            <a:chExt cx="494" cy="247"/>
          </a:xfrm>
        </p:grpSpPr>
        <p:sp>
          <p:nvSpPr>
            <p:cNvPr id="55" name="Rectangle 147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6" name="Text Box 148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7" name="Text Box 149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8" name="Group 150"/>
          <p:cNvGrpSpPr>
            <a:grpSpLocks/>
          </p:cNvGrpSpPr>
          <p:nvPr/>
        </p:nvGrpSpPr>
        <p:grpSpPr bwMode="auto">
          <a:xfrm>
            <a:off x="5956300" y="4283075"/>
            <a:ext cx="784225" cy="392113"/>
            <a:chOff x="1525" y="3274"/>
            <a:chExt cx="494" cy="247"/>
          </a:xfrm>
        </p:grpSpPr>
        <p:sp>
          <p:nvSpPr>
            <p:cNvPr id="59" name="Rectangle 151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0" name="Text Box 152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1" name="Text Box 153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2" name="Group 154"/>
          <p:cNvGrpSpPr>
            <a:grpSpLocks/>
          </p:cNvGrpSpPr>
          <p:nvPr/>
        </p:nvGrpSpPr>
        <p:grpSpPr bwMode="auto">
          <a:xfrm>
            <a:off x="7027863" y="4275138"/>
            <a:ext cx="784225" cy="392112"/>
            <a:chOff x="1525" y="3274"/>
            <a:chExt cx="494" cy="247"/>
          </a:xfrm>
        </p:grpSpPr>
        <p:sp>
          <p:nvSpPr>
            <p:cNvPr id="63" name="Rectangle 155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4" name="Text Box 156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5" name="Text Box 157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66" name="Text Box 158"/>
          <p:cNvSpPr txBox="1">
            <a:spLocks noChangeArrowheads="1"/>
          </p:cNvSpPr>
          <p:nvPr/>
        </p:nvSpPr>
        <p:spPr bwMode="auto">
          <a:xfrm>
            <a:off x="5116513" y="4106863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7" name="Text Box 159"/>
          <p:cNvSpPr txBox="1">
            <a:spLocks noChangeArrowheads="1"/>
          </p:cNvSpPr>
          <p:nvPr/>
        </p:nvSpPr>
        <p:spPr bwMode="auto">
          <a:xfrm>
            <a:off x="6196013" y="4090988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8" name="Text Box 160"/>
          <p:cNvSpPr txBox="1">
            <a:spLocks noChangeArrowheads="1"/>
          </p:cNvSpPr>
          <p:nvPr/>
        </p:nvSpPr>
        <p:spPr bwMode="auto">
          <a:xfrm>
            <a:off x="7283450" y="4098925"/>
            <a:ext cx="28733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9" name="Text Box 161"/>
          <p:cNvSpPr txBox="1">
            <a:spLocks noChangeArrowheads="1"/>
          </p:cNvSpPr>
          <p:nvPr/>
        </p:nvSpPr>
        <p:spPr bwMode="auto">
          <a:xfrm>
            <a:off x="2274888" y="1635125"/>
            <a:ext cx="1439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空闲盘块号栈</a:t>
            </a:r>
          </a:p>
        </p:txBody>
      </p:sp>
      <p:sp>
        <p:nvSpPr>
          <p:cNvPr id="70" name="Text Box 162"/>
          <p:cNvSpPr txBox="1">
            <a:spLocks noChangeArrowheads="1"/>
          </p:cNvSpPr>
          <p:nvPr/>
        </p:nvSpPr>
        <p:spPr bwMode="auto">
          <a:xfrm>
            <a:off x="4995863" y="310038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400</a:t>
            </a:r>
          </a:p>
        </p:txBody>
      </p:sp>
      <p:sp>
        <p:nvSpPr>
          <p:cNvPr id="71" name="Text Box 163"/>
          <p:cNvSpPr txBox="1">
            <a:spLocks noChangeArrowheads="1"/>
          </p:cNvSpPr>
          <p:nvPr/>
        </p:nvSpPr>
        <p:spPr bwMode="auto">
          <a:xfrm>
            <a:off x="5011738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399</a:t>
            </a:r>
          </a:p>
        </p:txBody>
      </p:sp>
      <p:sp>
        <p:nvSpPr>
          <p:cNvPr id="72" name="Text Box 164"/>
          <p:cNvSpPr txBox="1">
            <a:spLocks noChangeArrowheads="1"/>
          </p:cNvSpPr>
          <p:nvPr/>
        </p:nvSpPr>
        <p:spPr bwMode="auto">
          <a:xfrm>
            <a:off x="5011738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302</a:t>
            </a:r>
          </a:p>
        </p:txBody>
      </p:sp>
      <p:sp>
        <p:nvSpPr>
          <p:cNvPr id="73" name="Text Box 165"/>
          <p:cNvSpPr txBox="1">
            <a:spLocks noChangeArrowheads="1"/>
          </p:cNvSpPr>
          <p:nvPr/>
        </p:nvSpPr>
        <p:spPr bwMode="auto">
          <a:xfrm>
            <a:off x="6091238" y="30924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500</a:t>
            </a:r>
          </a:p>
        </p:txBody>
      </p:sp>
      <p:sp>
        <p:nvSpPr>
          <p:cNvPr id="74" name="Text Box 166"/>
          <p:cNvSpPr txBox="1">
            <a:spLocks noChangeArrowheads="1"/>
          </p:cNvSpPr>
          <p:nvPr/>
        </p:nvSpPr>
        <p:spPr bwMode="auto">
          <a:xfrm>
            <a:off x="6099175" y="37798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499</a:t>
            </a:r>
          </a:p>
        </p:txBody>
      </p:sp>
      <p:sp>
        <p:nvSpPr>
          <p:cNvPr id="75" name="Text Box 167"/>
          <p:cNvSpPr txBox="1">
            <a:spLocks noChangeArrowheads="1"/>
          </p:cNvSpPr>
          <p:nvPr/>
        </p:nvSpPr>
        <p:spPr bwMode="auto">
          <a:xfrm>
            <a:off x="6115050" y="46037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401</a:t>
            </a:r>
          </a:p>
        </p:txBody>
      </p:sp>
      <p:sp>
        <p:nvSpPr>
          <p:cNvPr id="76" name="Text Box 168"/>
          <p:cNvSpPr txBox="1">
            <a:spLocks noChangeArrowheads="1"/>
          </p:cNvSpPr>
          <p:nvPr/>
        </p:nvSpPr>
        <p:spPr bwMode="auto">
          <a:xfrm>
            <a:off x="7162800" y="376396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599</a:t>
            </a:r>
          </a:p>
        </p:txBody>
      </p:sp>
      <p:sp>
        <p:nvSpPr>
          <p:cNvPr id="77" name="Text Box 169"/>
          <p:cNvSpPr txBox="1">
            <a:spLocks noChangeArrowheads="1"/>
          </p:cNvSpPr>
          <p:nvPr/>
        </p:nvSpPr>
        <p:spPr bwMode="auto">
          <a:xfrm>
            <a:off x="7178675" y="45878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501</a:t>
            </a:r>
          </a:p>
        </p:txBody>
      </p:sp>
      <p:sp>
        <p:nvSpPr>
          <p:cNvPr id="78" name="Line 170"/>
          <p:cNvSpPr>
            <a:spLocks noChangeShapeType="1"/>
          </p:cNvSpPr>
          <p:nvPr/>
        </p:nvSpPr>
        <p:spPr bwMode="auto">
          <a:xfrm flipV="1">
            <a:off x="5356225" y="18113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79" name="Line 171"/>
          <p:cNvSpPr>
            <a:spLocks noChangeShapeType="1"/>
          </p:cNvSpPr>
          <p:nvPr/>
        </p:nvSpPr>
        <p:spPr bwMode="auto">
          <a:xfrm>
            <a:off x="5356225" y="2316163"/>
            <a:ext cx="71913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0" name="Line 172"/>
          <p:cNvSpPr>
            <a:spLocks noChangeShapeType="1"/>
          </p:cNvSpPr>
          <p:nvPr/>
        </p:nvSpPr>
        <p:spPr bwMode="auto">
          <a:xfrm>
            <a:off x="5283200" y="2747963"/>
            <a:ext cx="792163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1" name="Line 173"/>
          <p:cNvSpPr>
            <a:spLocks noChangeShapeType="1"/>
          </p:cNvSpPr>
          <p:nvPr/>
        </p:nvSpPr>
        <p:spPr bwMode="auto">
          <a:xfrm>
            <a:off x="6508750" y="23161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2" name="Line 174"/>
          <p:cNvSpPr>
            <a:spLocks noChangeShapeType="1"/>
          </p:cNvSpPr>
          <p:nvPr/>
        </p:nvSpPr>
        <p:spPr bwMode="auto">
          <a:xfrm>
            <a:off x="6508750" y="2747963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3" name="Text Box 175"/>
          <p:cNvSpPr txBox="1">
            <a:spLocks noChangeArrowheads="1"/>
          </p:cNvSpPr>
          <p:nvPr/>
        </p:nvSpPr>
        <p:spPr bwMode="auto">
          <a:xfrm>
            <a:off x="1908175" y="5373688"/>
            <a:ext cx="201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回收第</a:t>
            </a:r>
            <a:r>
              <a:rPr kumimoji="0" lang="en-US" altLang="zh-CN" sz="2400" b="1">
                <a:solidFill>
                  <a:srgbClr val="FF3300"/>
                </a:solidFill>
                <a:ea typeface="楷体" panose="02010609060101010101" pitchFamily="49" charset="-122"/>
              </a:rPr>
              <a:t>703</a:t>
            </a: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块</a:t>
            </a:r>
          </a:p>
        </p:txBody>
      </p:sp>
      <p:sp>
        <p:nvSpPr>
          <p:cNvPr id="84" name="Line 176"/>
          <p:cNvSpPr>
            <a:spLocks noChangeShapeType="1"/>
          </p:cNvSpPr>
          <p:nvPr/>
        </p:nvSpPr>
        <p:spPr bwMode="auto">
          <a:xfrm>
            <a:off x="4500563" y="2565400"/>
            <a:ext cx="503237" cy="18002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85" name="Group 177"/>
          <p:cNvGrpSpPr>
            <a:grpSpLocks/>
          </p:cNvGrpSpPr>
          <p:nvPr/>
        </p:nvGrpSpPr>
        <p:grpSpPr bwMode="auto">
          <a:xfrm>
            <a:off x="4892675" y="4972050"/>
            <a:ext cx="784225" cy="649288"/>
            <a:chOff x="2946" y="2996"/>
            <a:chExt cx="494" cy="409"/>
          </a:xfrm>
        </p:grpSpPr>
        <p:sp>
          <p:nvSpPr>
            <p:cNvPr id="86" name="Rectangle 178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87" name="Text Box 179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88" name="Text Box 180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89" name="Text Box 181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</p:txBody>
        </p:sp>
      </p:grpSp>
      <p:sp>
        <p:nvSpPr>
          <p:cNvPr id="90" name="Line 182"/>
          <p:cNvSpPr>
            <a:spLocks noChangeShapeType="1"/>
          </p:cNvSpPr>
          <p:nvPr/>
        </p:nvSpPr>
        <p:spPr bwMode="auto">
          <a:xfrm>
            <a:off x="4500563" y="2781300"/>
            <a:ext cx="503237" cy="22320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91" name="Group 183"/>
          <p:cNvGrpSpPr>
            <a:grpSpLocks/>
          </p:cNvGrpSpPr>
          <p:nvPr/>
        </p:nvGrpSpPr>
        <p:grpSpPr bwMode="auto">
          <a:xfrm>
            <a:off x="3852863" y="1749425"/>
            <a:ext cx="784225" cy="1473200"/>
            <a:chOff x="1524" y="2251"/>
            <a:chExt cx="494" cy="928"/>
          </a:xfrm>
        </p:grpSpPr>
        <p:sp>
          <p:nvSpPr>
            <p:cNvPr id="92" name="Text Box 184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400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399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3" name="Text Box 185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4" name="Text Box 186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5" name="Line 187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6" name="Line 188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7" name="Line 189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8" name="Line 190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9" name="Line 191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0" name="Text Box 192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sp>
        <p:nvSpPr>
          <p:cNvPr id="101" name="Text Box 193"/>
          <p:cNvSpPr txBox="1">
            <a:spLocks noChangeArrowheads="1"/>
          </p:cNvSpPr>
          <p:nvPr/>
        </p:nvSpPr>
        <p:spPr bwMode="auto">
          <a:xfrm>
            <a:off x="4021138" y="31019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711</a:t>
            </a:r>
          </a:p>
        </p:txBody>
      </p:sp>
      <p:sp>
        <p:nvSpPr>
          <p:cNvPr id="102" name="Line 194"/>
          <p:cNvSpPr>
            <a:spLocks noChangeShapeType="1"/>
          </p:cNvSpPr>
          <p:nvPr/>
        </p:nvSpPr>
        <p:spPr bwMode="auto">
          <a:xfrm flipV="1">
            <a:off x="3203575" y="1844675"/>
            <a:ext cx="792163" cy="7207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03" name="Line 195"/>
          <p:cNvSpPr>
            <a:spLocks noChangeShapeType="1"/>
          </p:cNvSpPr>
          <p:nvPr/>
        </p:nvSpPr>
        <p:spPr bwMode="auto">
          <a:xfrm flipV="1">
            <a:off x="4427538" y="1773238"/>
            <a:ext cx="576262" cy="3587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104" name="Group 196"/>
          <p:cNvGrpSpPr>
            <a:grpSpLocks/>
          </p:cNvGrpSpPr>
          <p:nvPr/>
        </p:nvGrpSpPr>
        <p:grpSpPr bwMode="auto">
          <a:xfrm>
            <a:off x="3859213" y="3484563"/>
            <a:ext cx="784225" cy="649287"/>
            <a:chOff x="2946" y="2996"/>
            <a:chExt cx="494" cy="409"/>
          </a:xfrm>
        </p:grpSpPr>
        <p:sp>
          <p:nvSpPr>
            <p:cNvPr id="105" name="Rectangle 197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6" name="Text Box 198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07" name="Text Box 199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08" name="Text Box 200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703</a:t>
              </a:r>
            </a:p>
          </p:txBody>
        </p:sp>
      </p:grpSp>
      <p:sp>
        <p:nvSpPr>
          <p:cNvPr id="109" name="Line 201"/>
          <p:cNvSpPr>
            <a:spLocks noChangeShapeType="1"/>
          </p:cNvSpPr>
          <p:nvPr/>
        </p:nvSpPr>
        <p:spPr bwMode="auto">
          <a:xfrm>
            <a:off x="3203575" y="2781300"/>
            <a:ext cx="792163" cy="79216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757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1A7F-1E7B-49D1-BC95-66696169A68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62</a:t>
            </a:fld>
            <a:endParaRPr lang="zh-CN" altLang="en-US" dirty="0"/>
          </a:p>
        </p:txBody>
      </p:sp>
      <p:sp>
        <p:nvSpPr>
          <p:cNvPr id="7" name="Text Box 105"/>
          <p:cNvSpPr txBox="1">
            <a:spLocks noChangeArrowheads="1"/>
          </p:cNvSpPr>
          <p:nvPr/>
        </p:nvSpPr>
        <p:spPr bwMode="auto">
          <a:xfrm>
            <a:off x="2763838" y="1925638"/>
            <a:ext cx="504825" cy="2528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3</a:t>
            </a: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711</a:t>
            </a: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703</a:t>
            </a: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788</a:t>
            </a:r>
          </a:p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 </a:t>
            </a: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 </a:t>
            </a:r>
          </a:p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</p:txBody>
      </p:sp>
      <p:sp>
        <p:nvSpPr>
          <p:cNvPr id="8" name="Text Box 106"/>
          <p:cNvSpPr txBox="1">
            <a:spLocks noChangeArrowheads="1"/>
          </p:cNvSpPr>
          <p:nvPr/>
        </p:nvSpPr>
        <p:spPr bwMode="auto">
          <a:xfrm>
            <a:off x="2916238" y="3187700"/>
            <a:ext cx="287337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9" name="Text Box 107"/>
          <p:cNvSpPr txBox="1">
            <a:spLocks noChangeArrowheads="1"/>
          </p:cNvSpPr>
          <p:nvPr/>
        </p:nvSpPr>
        <p:spPr bwMode="auto">
          <a:xfrm>
            <a:off x="3124200" y="1870075"/>
            <a:ext cx="287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>
                <a:ea typeface="楷体" panose="02010609060101010101" pitchFamily="49" charset="-122"/>
                <a:sym typeface="Symbol" panose="05050102010706020507" pitchFamily="18" charset="2"/>
              </a:rPr>
              <a:t></a:t>
            </a:r>
          </a:p>
        </p:txBody>
      </p:sp>
      <p:sp>
        <p:nvSpPr>
          <p:cNvPr id="10" name="Text Box 108"/>
          <p:cNvSpPr txBox="1">
            <a:spLocks noChangeArrowheads="1"/>
          </p:cNvSpPr>
          <p:nvPr/>
        </p:nvSpPr>
        <p:spPr bwMode="auto">
          <a:xfrm>
            <a:off x="2627313" y="186055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>
                <a:ea typeface="楷体" panose="02010609060101010101" pitchFamily="49" charset="-122"/>
                <a:sym typeface="Symbol" panose="05050102010706020507" pitchFamily="18" charset="2"/>
              </a:rPr>
              <a:t></a:t>
            </a:r>
          </a:p>
        </p:txBody>
      </p:sp>
      <p:sp>
        <p:nvSpPr>
          <p:cNvPr id="11" name="Text Box 109"/>
          <p:cNvSpPr txBox="1">
            <a:spLocks noChangeArrowheads="1"/>
          </p:cNvSpPr>
          <p:nvPr/>
        </p:nvSpPr>
        <p:spPr bwMode="auto">
          <a:xfrm>
            <a:off x="3124200" y="4073525"/>
            <a:ext cx="287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>
                <a:ea typeface="楷体" panose="02010609060101010101" pitchFamily="49" charset="-122"/>
                <a:sym typeface="Symbol" panose="05050102010706020507" pitchFamily="18" charset="2"/>
              </a:rPr>
              <a:t></a:t>
            </a:r>
          </a:p>
        </p:txBody>
      </p:sp>
      <p:sp>
        <p:nvSpPr>
          <p:cNvPr id="12" name="Text Box 110"/>
          <p:cNvSpPr txBox="1">
            <a:spLocks noChangeArrowheads="1"/>
          </p:cNvSpPr>
          <p:nvPr/>
        </p:nvSpPr>
        <p:spPr bwMode="auto">
          <a:xfrm>
            <a:off x="2627313" y="40640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>
                <a:ea typeface="楷体" panose="02010609060101010101" pitchFamily="49" charset="-122"/>
                <a:sym typeface="Symbol" panose="05050102010706020507" pitchFamily="18" charset="2"/>
              </a:rPr>
              <a:t></a:t>
            </a:r>
          </a:p>
        </p:txBody>
      </p:sp>
      <p:sp>
        <p:nvSpPr>
          <p:cNvPr id="13" name="Line 111"/>
          <p:cNvSpPr>
            <a:spLocks noChangeShapeType="1"/>
          </p:cNvSpPr>
          <p:nvPr/>
        </p:nvSpPr>
        <p:spPr bwMode="auto">
          <a:xfrm>
            <a:off x="2763838" y="219710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4" name="Line 112"/>
          <p:cNvSpPr>
            <a:spLocks noChangeShapeType="1"/>
          </p:cNvSpPr>
          <p:nvPr/>
        </p:nvSpPr>
        <p:spPr bwMode="auto">
          <a:xfrm>
            <a:off x="2763838" y="241300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5" name="Line 113"/>
          <p:cNvSpPr>
            <a:spLocks noChangeShapeType="1"/>
          </p:cNvSpPr>
          <p:nvPr/>
        </p:nvSpPr>
        <p:spPr bwMode="auto">
          <a:xfrm>
            <a:off x="2763838" y="265271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6" name="Line 114"/>
          <p:cNvSpPr>
            <a:spLocks noChangeShapeType="1"/>
          </p:cNvSpPr>
          <p:nvPr/>
        </p:nvSpPr>
        <p:spPr bwMode="auto">
          <a:xfrm>
            <a:off x="2763838" y="286861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7" name="Line 115"/>
          <p:cNvSpPr>
            <a:spLocks noChangeShapeType="1"/>
          </p:cNvSpPr>
          <p:nvPr/>
        </p:nvSpPr>
        <p:spPr bwMode="auto">
          <a:xfrm>
            <a:off x="2763838" y="3540125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8" name="Line 116"/>
          <p:cNvSpPr>
            <a:spLocks noChangeShapeType="1"/>
          </p:cNvSpPr>
          <p:nvPr/>
        </p:nvSpPr>
        <p:spPr bwMode="auto">
          <a:xfrm>
            <a:off x="2763838" y="377983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9" name="Line 117"/>
          <p:cNvSpPr>
            <a:spLocks noChangeShapeType="1"/>
          </p:cNvSpPr>
          <p:nvPr/>
        </p:nvSpPr>
        <p:spPr bwMode="auto">
          <a:xfrm>
            <a:off x="2763838" y="399573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20" name="Text Box 118"/>
          <p:cNvSpPr txBox="1">
            <a:spLocks noChangeArrowheads="1"/>
          </p:cNvSpPr>
          <p:nvPr/>
        </p:nvSpPr>
        <p:spPr bwMode="auto">
          <a:xfrm>
            <a:off x="1687513" y="2141538"/>
            <a:ext cx="1116012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s_nfree</a:t>
            </a: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s_free[0]</a:t>
            </a: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s_free[1]</a:t>
            </a: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s_free[2]</a:t>
            </a:r>
          </a:p>
          <a:p>
            <a:pPr algn="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s_free[98]</a:t>
            </a: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s_free[99]</a:t>
            </a:r>
          </a:p>
        </p:txBody>
      </p:sp>
      <p:grpSp>
        <p:nvGrpSpPr>
          <p:cNvPr id="21" name="Group 119"/>
          <p:cNvGrpSpPr>
            <a:grpSpLocks/>
          </p:cNvGrpSpPr>
          <p:nvPr/>
        </p:nvGrpSpPr>
        <p:grpSpPr bwMode="auto">
          <a:xfrm>
            <a:off x="4851400" y="1728788"/>
            <a:ext cx="784225" cy="1473200"/>
            <a:chOff x="1524" y="2251"/>
            <a:chExt cx="494" cy="928"/>
          </a:xfrm>
        </p:grpSpPr>
        <p:sp>
          <p:nvSpPr>
            <p:cNvPr id="22" name="Text Box 120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23" name="Text Box 121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4" name="Text Box 122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5" name="Line 123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6" name="Line 124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Line 125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126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127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Text Box 128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1" name="Group 129"/>
          <p:cNvGrpSpPr>
            <a:grpSpLocks/>
          </p:cNvGrpSpPr>
          <p:nvPr/>
        </p:nvGrpSpPr>
        <p:grpSpPr bwMode="auto">
          <a:xfrm>
            <a:off x="5932488" y="1714500"/>
            <a:ext cx="784225" cy="1473200"/>
            <a:chOff x="1524" y="2251"/>
            <a:chExt cx="494" cy="928"/>
          </a:xfrm>
        </p:grpSpPr>
        <p:sp>
          <p:nvSpPr>
            <p:cNvPr id="32" name="Text Box 130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3" name="Text Box 131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4" name="Text Box 132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5" name="Line 133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6" name="Line 134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135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136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137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Text Box 138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41" name="Group 139"/>
          <p:cNvGrpSpPr>
            <a:grpSpLocks/>
          </p:cNvGrpSpPr>
          <p:nvPr/>
        </p:nvGrpSpPr>
        <p:grpSpPr bwMode="auto">
          <a:xfrm>
            <a:off x="4867275" y="3449638"/>
            <a:ext cx="784225" cy="392112"/>
            <a:chOff x="1525" y="3274"/>
            <a:chExt cx="494" cy="247"/>
          </a:xfrm>
        </p:grpSpPr>
        <p:sp>
          <p:nvSpPr>
            <p:cNvPr id="42" name="Rectangle 140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3" name="Text Box 141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4" name="Text Box 142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45" name="Group 143"/>
          <p:cNvGrpSpPr>
            <a:grpSpLocks/>
          </p:cNvGrpSpPr>
          <p:nvPr/>
        </p:nvGrpSpPr>
        <p:grpSpPr bwMode="auto">
          <a:xfrm>
            <a:off x="5940425" y="3433763"/>
            <a:ext cx="784225" cy="392112"/>
            <a:chOff x="1525" y="3274"/>
            <a:chExt cx="494" cy="247"/>
          </a:xfrm>
        </p:grpSpPr>
        <p:sp>
          <p:nvSpPr>
            <p:cNvPr id="46" name="Rectangle 144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7" name="Text Box 145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8" name="Text Box 146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49" name="Group 147"/>
          <p:cNvGrpSpPr>
            <a:grpSpLocks/>
          </p:cNvGrpSpPr>
          <p:nvPr/>
        </p:nvGrpSpPr>
        <p:grpSpPr bwMode="auto">
          <a:xfrm>
            <a:off x="7011988" y="3433763"/>
            <a:ext cx="784225" cy="392112"/>
            <a:chOff x="1525" y="3274"/>
            <a:chExt cx="494" cy="247"/>
          </a:xfrm>
        </p:grpSpPr>
        <p:sp>
          <p:nvSpPr>
            <p:cNvPr id="50" name="Rectangle 14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1" name="Text Box 14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2" name="Text Box 15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3" name="Group 151"/>
          <p:cNvGrpSpPr>
            <a:grpSpLocks/>
          </p:cNvGrpSpPr>
          <p:nvPr/>
        </p:nvGrpSpPr>
        <p:grpSpPr bwMode="auto">
          <a:xfrm>
            <a:off x="4876800" y="4265613"/>
            <a:ext cx="784225" cy="392112"/>
            <a:chOff x="1525" y="3274"/>
            <a:chExt cx="494" cy="247"/>
          </a:xfrm>
        </p:grpSpPr>
        <p:sp>
          <p:nvSpPr>
            <p:cNvPr id="54" name="Rectangle 152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5" name="Text Box 153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6" name="Text Box 154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7" name="Group 155"/>
          <p:cNvGrpSpPr>
            <a:grpSpLocks/>
          </p:cNvGrpSpPr>
          <p:nvPr/>
        </p:nvGrpSpPr>
        <p:grpSpPr bwMode="auto">
          <a:xfrm>
            <a:off x="5956300" y="4257675"/>
            <a:ext cx="784225" cy="392113"/>
            <a:chOff x="1525" y="3274"/>
            <a:chExt cx="494" cy="247"/>
          </a:xfrm>
        </p:grpSpPr>
        <p:sp>
          <p:nvSpPr>
            <p:cNvPr id="58" name="Rectangle 156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9" name="Text Box 157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0" name="Text Box 158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1" name="Group 159"/>
          <p:cNvGrpSpPr>
            <a:grpSpLocks/>
          </p:cNvGrpSpPr>
          <p:nvPr/>
        </p:nvGrpSpPr>
        <p:grpSpPr bwMode="auto">
          <a:xfrm>
            <a:off x="7027863" y="4249738"/>
            <a:ext cx="784225" cy="392112"/>
            <a:chOff x="1525" y="3274"/>
            <a:chExt cx="494" cy="247"/>
          </a:xfrm>
        </p:grpSpPr>
        <p:sp>
          <p:nvSpPr>
            <p:cNvPr id="62" name="Rectangle 160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3" name="Text Box 161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4" name="Text Box 162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65" name="Text Box 163"/>
          <p:cNvSpPr txBox="1">
            <a:spLocks noChangeArrowheads="1"/>
          </p:cNvSpPr>
          <p:nvPr/>
        </p:nvSpPr>
        <p:spPr bwMode="auto">
          <a:xfrm>
            <a:off x="5116513" y="4081463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6" name="Text Box 164"/>
          <p:cNvSpPr txBox="1">
            <a:spLocks noChangeArrowheads="1"/>
          </p:cNvSpPr>
          <p:nvPr/>
        </p:nvSpPr>
        <p:spPr bwMode="auto">
          <a:xfrm>
            <a:off x="6196013" y="4065588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7" name="Text Box 165"/>
          <p:cNvSpPr txBox="1">
            <a:spLocks noChangeArrowheads="1"/>
          </p:cNvSpPr>
          <p:nvPr/>
        </p:nvSpPr>
        <p:spPr bwMode="auto">
          <a:xfrm>
            <a:off x="7283450" y="4073525"/>
            <a:ext cx="28733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8" name="Text Box 166"/>
          <p:cNvSpPr txBox="1">
            <a:spLocks noChangeArrowheads="1"/>
          </p:cNvSpPr>
          <p:nvPr/>
        </p:nvSpPr>
        <p:spPr bwMode="auto">
          <a:xfrm>
            <a:off x="2274888" y="1609725"/>
            <a:ext cx="1439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空闲盘块号栈</a:t>
            </a:r>
          </a:p>
        </p:txBody>
      </p:sp>
      <p:sp>
        <p:nvSpPr>
          <p:cNvPr id="69" name="Text Box 167"/>
          <p:cNvSpPr txBox="1">
            <a:spLocks noChangeArrowheads="1"/>
          </p:cNvSpPr>
          <p:nvPr/>
        </p:nvSpPr>
        <p:spPr bwMode="auto">
          <a:xfrm>
            <a:off x="4995863" y="307498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400</a:t>
            </a:r>
          </a:p>
        </p:txBody>
      </p:sp>
      <p:sp>
        <p:nvSpPr>
          <p:cNvPr id="70" name="Text Box 168"/>
          <p:cNvSpPr txBox="1">
            <a:spLocks noChangeArrowheads="1"/>
          </p:cNvSpPr>
          <p:nvPr/>
        </p:nvSpPr>
        <p:spPr bwMode="auto">
          <a:xfrm>
            <a:off x="5011738" y="37544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399</a:t>
            </a:r>
          </a:p>
        </p:txBody>
      </p:sp>
      <p:sp>
        <p:nvSpPr>
          <p:cNvPr id="71" name="Text Box 169"/>
          <p:cNvSpPr txBox="1">
            <a:spLocks noChangeArrowheads="1"/>
          </p:cNvSpPr>
          <p:nvPr/>
        </p:nvSpPr>
        <p:spPr bwMode="auto">
          <a:xfrm>
            <a:off x="5011738" y="45783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302</a:t>
            </a:r>
          </a:p>
        </p:txBody>
      </p:sp>
      <p:sp>
        <p:nvSpPr>
          <p:cNvPr id="72" name="Text Box 170"/>
          <p:cNvSpPr txBox="1">
            <a:spLocks noChangeArrowheads="1"/>
          </p:cNvSpPr>
          <p:nvPr/>
        </p:nvSpPr>
        <p:spPr bwMode="auto">
          <a:xfrm>
            <a:off x="6091238" y="30670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500</a:t>
            </a:r>
          </a:p>
        </p:txBody>
      </p:sp>
      <p:sp>
        <p:nvSpPr>
          <p:cNvPr id="73" name="Text Box 171"/>
          <p:cNvSpPr txBox="1">
            <a:spLocks noChangeArrowheads="1"/>
          </p:cNvSpPr>
          <p:nvPr/>
        </p:nvSpPr>
        <p:spPr bwMode="auto">
          <a:xfrm>
            <a:off x="6099175" y="37544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499</a:t>
            </a:r>
          </a:p>
        </p:txBody>
      </p:sp>
      <p:sp>
        <p:nvSpPr>
          <p:cNvPr id="74" name="Text Box 172"/>
          <p:cNvSpPr txBox="1">
            <a:spLocks noChangeArrowheads="1"/>
          </p:cNvSpPr>
          <p:nvPr/>
        </p:nvSpPr>
        <p:spPr bwMode="auto">
          <a:xfrm>
            <a:off x="6115050" y="45783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401</a:t>
            </a:r>
          </a:p>
        </p:txBody>
      </p:sp>
      <p:sp>
        <p:nvSpPr>
          <p:cNvPr id="75" name="Text Box 173"/>
          <p:cNvSpPr txBox="1">
            <a:spLocks noChangeArrowheads="1"/>
          </p:cNvSpPr>
          <p:nvPr/>
        </p:nvSpPr>
        <p:spPr bwMode="auto">
          <a:xfrm>
            <a:off x="7162800" y="373856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599</a:t>
            </a:r>
          </a:p>
        </p:txBody>
      </p:sp>
      <p:sp>
        <p:nvSpPr>
          <p:cNvPr id="76" name="Text Box 174"/>
          <p:cNvSpPr txBox="1">
            <a:spLocks noChangeArrowheads="1"/>
          </p:cNvSpPr>
          <p:nvPr/>
        </p:nvSpPr>
        <p:spPr bwMode="auto">
          <a:xfrm>
            <a:off x="7178675" y="45624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501</a:t>
            </a:r>
          </a:p>
        </p:txBody>
      </p:sp>
      <p:sp>
        <p:nvSpPr>
          <p:cNvPr id="77" name="Line 175"/>
          <p:cNvSpPr>
            <a:spLocks noChangeShapeType="1"/>
          </p:cNvSpPr>
          <p:nvPr/>
        </p:nvSpPr>
        <p:spPr bwMode="auto">
          <a:xfrm flipV="1">
            <a:off x="5356225" y="17859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78" name="Line 176"/>
          <p:cNvSpPr>
            <a:spLocks noChangeShapeType="1"/>
          </p:cNvSpPr>
          <p:nvPr/>
        </p:nvSpPr>
        <p:spPr bwMode="auto">
          <a:xfrm>
            <a:off x="5356225" y="2290763"/>
            <a:ext cx="71913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79" name="Line 177"/>
          <p:cNvSpPr>
            <a:spLocks noChangeShapeType="1"/>
          </p:cNvSpPr>
          <p:nvPr/>
        </p:nvSpPr>
        <p:spPr bwMode="auto">
          <a:xfrm>
            <a:off x="5283200" y="2722563"/>
            <a:ext cx="792163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0" name="Line 178"/>
          <p:cNvSpPr>
            <a:spLocks noChangeShapeType="1"/>
          </p:cNvSpPr>
          <p:nvPr/>
        </p:nvSpPr>
        <p:spPr bwMode="auto">
          <a:xfrm>
            <a:off x="6508750" y="22907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1" name="Line 179"/>
          <p:cNvSpPr>
            <a:spLocks noChangeShapeType="1"/>
          </p:cNvSpPr>
          <p:nvPr/>
        </p:nvSpPr>
        <p:spPr bwMode="auto">
          <a:xfrm>
            <a:off x="6508750" y="2722563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2" name="Text Box 180"/>
          <p:cNvSpPr txBox="1">
            <a:spLocks noChangeArrowheads="1"/>
          </p:cNvSpPr>
          <p:nvPr/>
        </p:nvSpPr>
        <p:spPr bwMode="auto">
          <a:xfrm>
            <a:off x="1908175" y="5348288"/>
            <a:ext cx="201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回收第</a:t>
            </a:r>
            <a:r>
              <a:rPr kumimoji="0" lang="en-US" altLang="zh-CN" sz="2400" b="1">
                <a:solidFill>
                  <a:srgbClr val="FF3300"/>
                </a:solidFill>
                <a:ea typeface="楷体" panose="02010609060101010101" pitchFamily="49" charset="-122"/>
              </a:rPr>
              <a:t>788</a:t>
            </a: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块</a:t>
            </a:r>
          </a:p>
        </p:txBody>
      </p:sp>
      <p:sp>
        <p:nvSpPr>
          <p:cNvPr id="83" name="Line 181"/>
          <p:cNvSpPr>
            <a:spLocks noChangeShapeType="1"/>
          </p:cNvSpPr>
          <p:nvPr/>
        </p:nvSpPr>
        <p:spPr bwMode="auto">
          <a:xfrm>
            <a:off x="4500563" y="2540000"/>
            <a:ext cx="503237" cy="18002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84" name="Group 182"/>
          <p:cNvGrpSpPr>
            <a:grpSpLocks/>
          </p:cNvGrpSpPr>
          <p:nvPr/>
        </p:nvGrpSpPr>
        <p:grpSpPr bwMode="auto">
          <a:xfrm>
            <a:off x="4892675" y="4946650"/>
            <a:ext cx="784225" cy="649288"/>
            <a:chOff x="2946" y="2996"/>
            <a:chExt cx="494" cy="409"/>
          </a:xfrm>
        </p:grpSpPr>
        <p:sp>
          <p:nvSpPr>
            <p:cNvPr id="85" name="Rectangle 183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86" name="Text Box 184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87" name="Text Box 185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88" name="Text Box 186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</p:txBody>
        </p:sp>
      </p:grpSp>
      <p:sp>
        <p:nvSpPr>
          <p:cNvPr id="89" name="Line 187"/>
          <p:cNvSpPr>
            <a:spLocks noChangeShapeType="1"/>
          </p:cNvSpPr>
          <p:nvPr/>
        </p:nvSpPr>
        <p:spPr bwMode="auto">
          <a:xfrm>
            <a:off x="4500563" y="2755900"/>
            <a:ext cx="503237" cy="22320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90" name="Group 188"/>
          <p:cNvGrpSpPr>
            <a:grpSpLocks/>
          </p:cNvGrpSpPr>
          <p:nvPr/>
        </p:nvGrpSpPr>
        <p:grpSpPr bwMode="auto">
          <a:xfrm>
            <a:off x="3852863" y="1724025"/>
            <a:ext cx="784225" cy="1473200"/>
            <a:chOff x="1524" y="2251"/>
            <a:chExt cx="494" cy="928"/>
          </a:xfrm>
        </p:grpSpPr>
        <p:sp>
          <p:nvSpPr>
            <p:cNvPr id="91" name="Text Box 189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400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399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2" name="Text Box 190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3" name="Text Box 191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4" name="Line 192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5" name="Line 193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6" name="Line 194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7" name="Line 195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8" name="Line 196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9" name="Text Box 197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sp>
        <p:nvSpPr>
          <p:cNvPr id="100" name="Text Box 198"/>
          <p:cNvSpPr txBox="1">
            <a:spLocks noChangeArrowheads="1"/>
          </p:cNvSpPr>
          <p:nvPr/>
        </p:nvSpPr>
        <p:spPr bwMode="auto">
          <a:xfrm>
            <a:off x="4021138" y="30765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711</a:t>
            </a:r>
          </a:p>
        </p:txBody>
      </p:sp>
      <p:sp>
        <p:nvSpPr>
          <p:cNvPr id="101" name="Line 199"/>
          <p:cNvSpPr>
            <a:spLocks noChangeShapeType="1"/>
          </p:cNvSpPr>
          <p:nvPr/>
        </p:nvSpPr>
        <p:spPr bwMode="auto">
          <a:xfrm flipV="1">
            <a:off x="3203575" y="1819275"/>
            <a:ext cx="792163" cy="7207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02" name="Line 200"/>
          <p:cNvSpPr>
            <a:spLocks noChangeShapeType="1"/>
          </p:cNvSpPr>
          <p:nvPr/>
        </p:nvSpPr>
        <p:spPr bwMode="auto">
          <a:xfrm flipV="1">
            <a:off x="4427538" y="1747838"/>
            <a:ext cx="576262" cy="3587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103" name="Group 201"/>
          <p:cNvGrpSpPr>
            <a:grpSpLocks/>
          </p:cNvGrpSpPr>
          <p:nvPr/>
        </p:nvGrpSpPr>
        <p:grpSpPr bwMode="auto">
          <a:xfrm>
            <a:off x="3859213" y="3459163"/>
            <a:ext cx="784225" cy="649287"/>
            <a:chOff x="2946" y="2996"/>
            <a:chExt cx="494" cy="409"/>
          </a:xfrm>
        </p:grpSpPr>
        <p:sp>
          <p:nvSpPr>
            <p:cNvPr id="104" name="Rectangle 202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5" name="Text Box 203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06" name="Text Box 204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07" name="Text Box 205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703</a:t>
              </a:r>
            </a:p>
          </p:txBody>
        </p:sp>
      </p:grpSp>
      <p:sp>
        <p:nvSpPr>
          <p:cNvPr id="108" name="Line 206"/>
          <p:cNvSpPr>
            <a:spLocks noChangeShapeType="1"/>
          </p:cNvSpPr>
          <p:nvPr/>
        </p:nvSpPr>
        <p:spPr bwMode="auto">
          <a:xfrm>
            <a:off x="3203575" y="2755900"/>
            <a:ext cx="792163" cy="79216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109" name="Group 207"/>
          <p:cNvGrpSpPr>
            <a:grpSpLocks/>
          </p:cNvGrpSpPr>
          <p:nvPr/>
        </p:nvGrpSpPr>
        <p:grpSpPr bwMode="auto">
          <a:xfrm>
            <a:off x="3851275" y="4124325"/>
            <a:ext cx="784225" cy="649288"/>
            <a:chOff x="2946" y="2996"/>
            <a:chExt cx="494" cy="409"/>
          </a:xfrm>
        </p:grpSpPr>
        <p:sp>
          <p:nvSpPr>
            <p:cNvPr id="110" name="Rectangle 208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1" name="Text Box 209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2" name="Text Box 210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3" name="Text Box 211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788</a:t>
              </a:r>
            </a:p>
          </p:txBody>
        </p:sp>
      </p:grpSp>
      <p:sp>
        <p:nvSpPr>
          <p:cNvPr id="114" name="Line 212"/>
          <p:cNvSpPr>
            <a:spLocks noChangeShapeType="1"/>
          </p:cNvSpPr>
          <p:nvPr/>
        </p:nvSpPr>
        <p:spPr bwMode="auto">
          <a:xfrm>
            <a:off x="2771775" y="3082925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15" name="Line 213"/>
          <p:cNvSpPr>
            <a:spLocks noChangeShapeType="1"/>
          </p:cNvSpPr>
          <p:nvPr/>
        </p:nvSpPr>
        <p:spPr bwMode="auto">
          <a:xfrm>
            <a:off x="3203575" y="2971800"/>
            <a:ext cx="784225" cy="11969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791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成组链法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3CB71-35D6-46C3-B62C-0A149CEC7A3C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63</a:t>
            </a:fld>
            <a:endParaRPr lang="zh-CN" altLang="en-US" dirty="0"/>
          </a:p>
        </p:txBody>
      </p:sp>
      <p:sp>
        <p:nvSpPr>
          <p:cNvPr id="7" name="Text Box 111"/>
          <p:cNvSpPr txBox="1">
            <a:spLocks noChangeArrowheads="1"/>
          </p:cNvSpPr>
          <p:nvPr/>
        </p:nvSpPr>
        <p:spPr bwMode="auto">
          <a:xfrm>
            <a:off x="2763838" y="1925638"/>
            <a:ext cx="504825" cy="2749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4</a:t>
            </a: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711</a:t>
            </a: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703</a:t>
            </a: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788</a:t>
            </a: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701</a:t>
            </a:r>
          </a:p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 </a:t>
            </a:r>
          </a:p>
          <a:p>
            <a:pPr algn="ctr">
              <a:lnSpc>
                <a:spcPct val="90000"/>
              </a:lnSpc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 </a:t>
            </a:r>
          </a:p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</p:txBody>
      </p:sp>
      <p:sp>
        <p:nvSpPr>
          <p:cNvPr id="8" name="Text Box 112"/>
          <p:cNvSpPr txBox="1">
            <a:spLocks noChangeArrowheads="1"/>
          </p:cNvSpPr>
          <p:nvPr/>
        </p:nvSpPr>
        <p:spPr bwMode="auto">
          <a:xfrm>
            <a:off x="2916238" y="3403600"/>
            <a:ext cx="287337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9" name="Text Box 113"/>
          <p:cNvSpPr txBox="1">
            <a:spLocks noChangeArrowheads="1"/>
          </p:cNvSpPr>
          <p:nvPr/>
        </p:nvSpPr>
        <p:spPr bwMode="auto">
          <a:xfrm>
            <a:off x="3124200" y="1870075"/>
            <a:ext cx="287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>
                <a:ea typeface="楷体" panose="02010609060101010101" pitchFamily="49" charset="-122"/>
                <a:sym typeface="Symbol" panose="05050102010706020507" pitchFamily="18" charset="2"/>
              </a:rPr>
              <a:t></a:t>
            </a:r>
          </a:p>
        </p:txBody>
      </p:sp>
      <p:sp>
        <p:nvSpPr>
          <p:cNvPr id="10" name="Text Box 114"/>
          <p:cNvSpPr txBox="1">
            <a:spLocks noChangeArrowheads="1"/>
          </p:cNvSpPr>
          <p:nvPr/>
        </p:nvSpPr>
        <p:spPr bwMode="auto">
          <a:xfrm>
            <a:off x="2627313" y="186055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>
                <a:ea typeface="楷体" panose="02010609060101010101" pitchFamily="49" charset="-122"/>
                <a:sym typeface="Symbol" panose="05050102010706020507" pitchFamily="18" charset="2"/>
              </a:rPr>
              <a:t></a:t>
            </a:r>
          </a:p>
        </p:txBody>
      </p:sp>
      <p:sp>
        <p:nvSpPr>
          <p:cNvPr id="11" name="Text Box 115"/>
          <p:cNvSpPr txBox="1">
            <a:spLocks noChangeArrowheads="1"/>
          </p:cNvSpPr>
          <p:nvPr/>
        </p:nvSpPr>
        <p:spPr bwMode="auto">
          <a:xfrm>
            <a:off x="3124200" y="4275138"/>
            <a:ext cx="287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>
                <a:ea typeface="楷体" panose="02010609060101010101" pitchFamily="49" charset="-122"/>
                <a:sym typeface="Symbol" panose="05050102010706020507" pitchFamily="18" charset="2"/>
              </a:rPr>
              <a:t></a:t>
            </a:r>
          </a:p>
        </p:txBody>
      </p:sp>
      <p:sp>
        <p:nvSpPr>
          <p:cNvPr id="12" name="Text Box 116"/>
          <p:cNvSpPr txBox="1">
            <a:spLocks noChangeArrowheads="1"/>
          </p:cNvSpPr>
          <p:nvPr/>
        </p:nvSpPr>
        <p:spPr bwMode="auto">
          <a:xfrm>
            <a:off x="2627313" y="4265613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>
                <a:ea typeface="楷体" panose="02010609060101010101" pitchFamily="49" charset="-122"/>
                <a:sym typeface="Symbol" panose="05050102010706020507" pitchFamily="18" charset="2"/>
              </a:rPr>
              <a:t></a:t>
            </a:r>
          </a:p>
        </p:txBody>
      </p:sp>
      <p:sp>
        <p:nvSpPr>
          <p:cNvPr id="13" name="Line 117"/>
          <p:cNvSpPr>
            <a:spLocks noChangeShapeType="1"/>
          </p:cNvSpPr>
          <p:nvPr/>
        </p:nvSpPr>
        <p:spPr bwMode="auto">
          <a:xfrm>
            <a:off x="2763838" y="219710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4" name="Line 118"/>
          <p:cNvSpPr>
            <a:spLocks noChangeShapeType="1"/>
          </p:cNvSpPr>
          <p:nvPr/>
        </p:nvSpPr>
        <p:spPr bwMode="auto">
          <a:xfrm>
            <a:off x="2763838" y="241300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5" name="Line 119"/>
          <p:cNvSpPr>
            <a:spLocks noChangeShapeType="1"/>
          </p:cNvSpPr>
          <p:nvPr/>
        </p:nvSpPr>
        <p:spPr bwMode="auto">
          <a:xfrm>
            <a:off x="2763838" y="265271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6" name="Line 120"/>
          <p:cNvSpPr>
            <a:spLocks noChangeShapeType="1"/>
          </p:cNvSpPr>
          <p:nvPr/>
        </p:nvSpPr>
        <p:spPr bwMode="auto">
          <a:xfrm>
            <a:off x="2763838" y="286861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7" name="Line 121"/>
          <p:cNvSpPr>
            <a:spLocks noChangeShapeType="1"/>
          </p:cNvSpPr>
          <p:nvPr/>
        </p:nvSpPr>
        <p:spPr bwMode="auto">
          <a:xfrm>
            <a:off x="2763838" y="374173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8" name="Line 122"/>
          <p:cNvSpPr>
            <a:spLocks noChangeShapeType="1"/>
          </p:cNvSpPr>
          <p:nvPr/>
        </p:nvSpPr>
        <p:spPr bwMode="auto">
          <a:xfrm>
            <a:off x="2763838" y="398145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9" name="Line 123"/>
          <p:cNvSpPr>
            <a:spLocks noChangeShapeType="1"/>
          </p:cNvSpPr>
          <p:nvPr/>
        </p:nvSpPr>
        <p:spPr bwMode="auto">
          <a:xfrm>
            <a:off x="2763838" y="419735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20" name="Text Box 124"/>
          <p:cNvSpPr txBox="1">
            <a:spLocks noChangeArrowheads="1"/>
          </p:cNvSpPr>
          <p:nvPr/>
        </p:nvSpPr>
        <p:spPr bwMode="auto">
          <a:xfrm>
            <a:off x="1687513" y="2141538"/>
            <a:ext cx="1116012" cy="207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s_nfree</a:t>
            </a: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s_free[0]</a:t>
            </a: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s_free[1]</a:t>
            </a: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s_free[2]</a:t>
            </a: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s_free[3]</a:t>
            </a:r>
          </a:p>
          <a:p>
            <a:pPr algn="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r">
              <a:lnSpc>
                <a:spcPct val="90000"/>
              </a:lnSpc>
            </a:pPr>
            <a:endParaRPr kumimoji="0" lang="en-US" altLang="zh-CN" sz="1600" b="1">
              <a:ea typeface="楷体" panose="02010609060101010101" pitchFamily="49" charset="-122"/>
            </a:endParaRP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s_free[98]</a:t>
            </a:r>
          </a:p>
          <a:p>
            <a:pPr algn="r">
              <a:lnSpc>
                <a:spcPct val="9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s_free[99]</a:t>
            </a:r>
          </a:p>
        </p:txBody>
      </p:sp>
      <p:grpSp>
        <p:nvGrpSpPr>
          <p:cNvPr id="21" name="Group 125"/>
          <p:cNvGrpSpPr>
            <a:grpSpLocks/>
          </p:cNvGrpSpPr>
          <p:nvPr/>
        </p:nvGrpSpPr>
        <p:grpSpPr bwMode="auto">
          <a:xfrm>
            <a:off x="4851400" y="1728788"/>
            <a:ext cx="784225" cy="1473200"/>
            <a:chOff x="1524" y="2251"/>
            <a:chExt cx="494" cy="928"/>
          </a:xfrm>
        </p:grpSpPr>
        <p:sp>
          <p:nvSpPr>
            <p:cNvPr id="22" name="Text Box 126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23" name="Text Box 127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4" name="Text Box 128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25" name="Line 129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6" name="Line 130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7" name="Line 131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132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Line 133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0" name="Text Box 134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31" name="Group 135"/>
          <p:cNvGrpSpPr>
            <a:grpSpLocks/>
          </p:cNvGrpSpPr>
          <p:nvPr/>
        </p:nvGrpSpPr>
        <p:grpSpPr bwMode="auto">
          <a:xfrm>
            <a:off x="5932488" y="1714500"/>
            <a:ext cx="784225" cy="1473200"/>
            <a:chOff x="1524" y="2251"/>
            <a:chExt cx="494" cy="928"/>
          </a:xfrm>
        </p:grpSpPr>
        <p:sp>
          <p:nvSpPr>
            <p:cNvPr id="32" name="Text Box 136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501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33" name="Text Box 137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4" name="Text Box 138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35" name="Line 139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6" name="Line 140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7" name="Line 141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8" name="Line 142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39" name="Line 143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0" name="Text Box 144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grpSp>
        <p:nvGrpSpPr>
          <p:cNvPr id="41" name="Group 145"/>
          <p:cNvGrpSpPr>
            <a:grpSpLocks/>
          </p:cNvGrpSpPr>
          <p:nvPr/>
        </p:nvGrpSpPr>
        <p:grpSpPr bwMode="auto">
          <a:xfrm>
            <a:off x="4867275" y="3449638"/>
            <a:ext cx="784225" cy="392112"/>
            <a:chOff x="1525" y="3274"/>
            <a:chExt cx="494" cy="247"/>
          </a:xfrm>
        </p:grpSpPr>
        <p:sp>
          <p:nvSpPr>
            <p:cNvPr id="42" name="Rectangle 146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3" name="Text Box 147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4" name="Text Box 148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45" name="Group 149"/>
          <p:cNvGrpSpPr>
            <a:grpSpLocks/>
          </p:cNvGrpSpPr>
          <p:nvPr/>
        </p:nvGrpSpPr>
        <p:grpSpPr bwMode="auto">
          <a:xfrm>
            <a:off x="5940425" y="3433763"/>
            <a:ext cx="784225" cy="392112"/>
            <a:chOff x="1525" y="3274"/>
            <a:chExt cx="494" cy="247"/>
          </a:xfrm>
        </p:grpSpPr>
        <p:sp>
          <p:nvSpPr>
            <p:cNvPr id="46" name="Rectangle 150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47" name="Text Box 151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48" name="Text Box 152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49" name="Group 153"/>
          <p:cNvGrpSpPr>
            <a:grpSpLocks/>
          </p:cNvGrpSpPr>
          <p:nvPr/>
        </p:nvGrpSpPr>
        <p:grpSpPr bwMode="auto">
          <a:xfrm>
            <a:off x="7011988" y="3433763"/>
            <a:ext cx="784225" cy="392112"/>
            <a:chOff x="1525" y="3274"/>
            <a:chExt cx="494" cy="247"/>
          </a:xfrm>
        </p:grpSpPr>
        <p:sp>
          <p:nvSpPr>
            <p:cNvPr id="50" name="Rectangle 154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1" name="Text Box 155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2" name="Text Box 156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3" name="Group 157"/>
          <p:cNvGrpSpPr>
            <a:grpSpLocks/>
          </p:cNvGrpSpPr>
          <p:nvPr/>
        </p:nvGrpSpPr>
        <p:grpSpPr bwMode="auto">
          <a:xfrm>
            <a:off x="4876800" y="4265613"/>
            <a:ext cx="784225" cy="392112"/>
            <a:chOff x="1525" y="3274"/>
            <a:chExt cx="494" cy="247"/>
          </a:xfrm>
        </p:grpSpPr>
        <p:sp>
          <p:nvSpPr>
            <p:cNvPr id="54" name="Rectangle 158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5" name="Text Box 159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56" name="Text Box 160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57" name="Group 161"/>
          <p:cNvGrpSpPr>
            <a:grpSpLocks/>
          </p:cNvGrpSpPr>
          <p:nvPr/>
        </p:nvGrpSpPr>
        <p:grpSpPr bwMode="auto">
          <a:xfrm>
            <a:off x="5956300" y="4257675"/>
            <a:ext cx="784225" cy="392113"/>
            <a:chOff x="1525" y="3274"/>
            <a:chExt cx="494" cy="247"/>
          </a:xfrm>
        </p:grpSpPr>
        <p:sp>
          <p:nvSpPr>
            <p:cNvPr id="58" name="Rectangle 162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9" name="Text Box 163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0" name="Text Box 164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grpSp>
        <p:nvGrpSpPr>
          <p:cNvPr id="61" name="Group 165"/>
          <p:cNvGrpSpPr>
            <a:grpSpLocks/>
          </p:cNvGrpSpPr>
          <p:nvPr/>
        </p:nvGrpSpPr>
        <p:grpSpPr bwMode="auto">
          <a:xfrm>
            <a:off x="7027863" y="4249738"/>
            <a:ext cx="784225" cy="392112"/>
            <a:chOff x="1525" y="3274"/>
            <a:chExt cx="494" cy="247"/>
          </a:xfrm>
        </p:grpSpPr>
        <p:sp>
          <p:nvSpPr>
            <p:cNvPr id="62" name="Rectangle 166"/>
            <p:cNvSpPr>
              <a:spLocks noChangeArrowheads="1"/>
            </p:cNvSpPr>
            <p:nvPr/>
          </p:nvSpPr>
          <p:spPr bwMode="auto">
            <a:xfrm>
              <a:off x="1610" y="3294"/>
              <a:ext cx="31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63" name="Text Box 167"/>
            <p:cNvSpPr txBox="1">
              <a:spLocks noChangeArrowheads="1"/>
            </p:cNvSpPr>
            <p:nvPr/>
          </p:nvSpPr>
          <p:spPr bwMode="auto">
            <a:xfrm>
              <a:off x="1838" y="32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64" name="Text Box 168"/>
            <p:cNvSpPr txBox="1">
              <a:spLocks noChangeArrowheads="1"/>
            </p:cNvSpPr>
            <p:nvPr/>
          </p:nvSpPr>
          <p:spPr bwMode="auto">
            <a:xfrm>
              <a:off x="1525" y="32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</p:grpSp>
      <p:sp>
        <p:nvSpPr>
          <p:cNvPr id="65" name="Text Box 169"/>
          <p:cNvSpPr txBox="1">
            <a:spLocks noChangeArrowheads="1"/>
          </p:cNvSpPr>
          <p:nvPr/>
        </p:nvSpPr>
        <p:spPr bwMode="auto">
          <a:xfrm>
            <a:off x="5116513" y="4081463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6" name="Text Box 170"/>
          <p:cNvSpPr txBox="1">
            <a:spLocks noChangeArrowheads="1"/>
          </p:cNvSpPr>
          <p:nvPr/>
        </p:nvSpPr>
        <p:spPr bwMode="auto">
          <a:xfrm>
            <a:off x="6196013" y="4065588"/>
            <a:ext cx="2873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7" name="Text Box 171"/>
          <p:cNvSpPr txBox="1">
            <a:spLocks noChangeArrowheads="1"/>
          </p:cNvSpPr>
          <p:nvPr/>
        </p:nvSpPr>
        <p:spPr bwMode="auto">
          <a:xfrm>
            <a:off x="7283450" y="4073525"/>
            <a:ext cx="28733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  <a:p>
            <a:pPr algn="ctr">
              <a:lnSpc>
                <a:spcPct val="20000"/>
              </a:lnSpc>
            </a:pPr>
            <a:r>
              <a:rPr kumimoji="0" lang="en-US" altLang="zh-CN" sz="1600" b="1"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8" name="Text Box 172"/>
          <p:cNvSpPr txBox="1">
            <a:spLocks noChangeArrowheads="1"/>
          </p:cNvSpPr>
          <p:nvPr/>
        </p:nvSpPr>
        <p:spPr bwMode="auto">
          <a:xfrm>
            <a:off x="2274888" y="1609725"/>
            <a:ext cx="1439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空闲盘块号栈</a:t>
            </a:r>
          </a:p>
        </p:txBody>
      </p:sp>
      <p:sp>
        <p:nvSpPr>
          <p:cNvPr id="69" name="Text Box 173"/>
          <p:cNvSpPr txBox="1">
            <a:spLocks noChangeArrowheads="1"/>
          </p:cNvSpPr>
          <p:nvPr/>
        </p:nvSpPr>
        <p:spPr bwMode="auto">
          <a:xfrm>
            <a:off x="4995863" y="307498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400</a:t>
            </a:r>
          </a:p>
        </p:txBody>
      </p:sp>
      <p:sp>
        <p:nvSpPr>
          <p:cNvPr id="70" name="Text Box 174"/>
          <p:cNvSpPr txBox="1">
            <a:spLocks noChangeArrowheads="1"/>
          </p:cNvSpPr>
          <p:nvPr/>
        </p:nvSpPr>
        <p:spPr bwMode="auto">
          <a:xfrm>
            <a:off x="5011738" y="37544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399</a:t>
            </a:r>
          </a:p>
        </p:txBody>
      </p:sp>
      <p:sp>
        <p:nvSpPr>
          <p:cNvPr id="71" name="Text Box 175"/>
          <p:cNvSpPr txBox="1">
            <a:spLocks noChangeArrowheads="1"/>
          </p:cNvSpPr>
          <p:nvPr/>
        </p:nvSpPr>
        <p:spPr bwMode="auto">
          <a:xfrm>
            <a:off x="5011738" y="45783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302</a:t>
            </a:r>
          </a:p>
        </p:txBody>
      </p:sp>
      <p:sp>
        <p:nvSpPr>
          <p:cNvPr id="72" name="Text Box 176"/>
          <p:cNvSpPr txBox="1">
            <a:spLocks noChangeArrowheads="1"/>
          </p:cNvSpPr>
          <p:nvPr/>
        </p:nvSpPr>
        <p:spPr bwMode="auto">
          <a:xfrm>
            <a:off x="6091238" y="30670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500</a:t>
            </a:r>
          </a:p>
        </p:txBody>
      </p:sp>
      <p:sp>
        <p:nvSpPr>
          <p:cNvPr id="73" name="Text Box 177"/>
          <p:cNvSpPr txBox="1">
            <a:spLocks noChangeArrowheads="1"/>
          </p:cNvSpPr>
          <p:nvPr/>
        </p:nvSpPr>
        <p:spPr bwMode="auto">
          <a:xfrm>
            <a:off x="6099175" y="3754438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499</a:t>
            </a:r>
          </a:p>
        </p:txBody>
      </p:sp>
      <p:sp>
        <p:nvSpPr>
          <p:cNvPr id="74" name="Text Box 178"/>
          <p:cNvSpPr txBox="1">
            <a:spLocks noChangeArrowheads="1"/>
          </p:cNvSpPr>
          <p:nvPr/>
        </p:nvSpPr>
        <p:spPr bwMode="auto">
          <a:xfrm>
            <a:off x="6115050" y="4578350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401</a:t>
            </a:r>
          </a:p>
        </p:txBody>
      </p:sp>
      <p:sp>
        <p:nvSpPr>
          <p:cNvPr id="75" name="Text Box 179"/>
          <p:cNvSpPr txBox="1">
            <a:spLocks noChangeArrowheads="1"/>
          </p:cNvSpPr>
          <p:nvPr/>
        </p:nvSpPr>
        <p:spPr bwMode="auto">
          <a:xfrm>
            <a:off x="7162800" y="3738563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599</a:t>
            </a:r>
          </a:p>
        </p:txBody>
      </p:sp>
      <p:sp>
        <p:nvSpPr>
          <p:cNvPr id="76" name="Text Box 180"/>
          <p:cNvSpPr txBox="1">
            <a:spLocks noChangeArrowheads="1"/>
          </p:cNvSpPr>
          <p:nvPr/>
        </p:nvSpPr>
        <p:spPr bwMode="auto">
          <a:xfrm>
            <a:off x="7178675" y="45624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501</a:t>
            </a:r>
          </a:p>
        </p:txBody>
      </p:sp>
      <p:sp>
        <p:nvSpPr>
          <p:cNvPr id="77" name="Line 181"/>
          <p:cNvSpPr>
            <a:spLocks noChangeShapeType="1"/>
          </p:cNvSpPr>
          <p:nvPr/>
        </p:nvSpPr>
        <p:spPr bwMode="auto">
          <a:xfrm flipV="1">
            <a:off x="5356225" y="17859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78" name="Line 182"/>
          <p:cNvSpPr>
            <a:spLocks noChangeShapeType="1"/>
          </p:cNvSpPr>
          <p:nvPr/>
        </p:nvSpPr>
        <p:spPr bwMode="auto">
          <a:xfrm>
            <a:off x="5356225" y="2290763"/>
            <a:ext cx="71913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79" name="Line 183"/>
          <p:cNvSpPr>
            <a:spLocks noChangeShapeType="1"/>
          </p:cNvSpPr>
          <p:nvPr/>
        </p:nvSpPr>
        <p:spPr bwMode="auto">
          <a:xfrm>
            <a:off x="5283200" y="2722563"/>
            <a:ext cx="792163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0" name="Line 184"/>
          <p:cNvSpPr>
            <a:spLocks noChangeShapeType="1"/>
          </p:cNvSpPr>
          <p:nvPr/>
        </p:nvSpPr>
        <p:spPr bwMode="auto">
          <a:xfrm>
            <a:off x="6508750" y="2290763"/>
            <a:ext cx="6477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1" name="Line 185"/>
          <p:cNvSpPr>
            <a:spLocks noChangeShapeType="1"/>
          </p:cNvSpPr>
          <p:nvPr/>
        </p:nvSpPr>
        <p:spPr bwMode="auto">
          <a:xfrm>
            <a:off x="6508750" y="2722563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82" name="Text Box 186"/>
          <p:cNvSpPr txBox="1">
            <a:spLocks noChangeArrowheads="1"/>
          </p:cNvSpPr>
          <p:nvPr/>
        </p:nvSpPr>
        <p:spPr bwMode="auto">
          <a:xfrm>
            <a:off x="1908175" y="5348288"/>
            <a:ext cx="201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回收第</a:t>
            </a:r>
            <a:r>
              <a:rPr kumimoji="0" lang="en-US" altLang="zh-CN" sz="2400" b="1">
                <a:solidFill>
                  <a:srgbClr val="FF3300"/>
                </a:solidFill>
                <a:ea typeface="楷体" panose="02010609060101010101" pitchFamily="49" charset="-122"/>
              </a:rPr>
              <a:t>701</a:t>
            </a:r>
            <a:r>
              <a:rPr kumimoji="0" lang="zh-CN" altLang="en-US" sz="2400" b="1">
                <a:solidFill>
                  <a:srgbClr val="FF3300"/>
                </a:solidFill>
                <a:ea typeface="楷体" panose="02010609060101010101" pitchFamily="49" charset="-122"/>
              </a:rPr>
              <a:t>块</a:t>
            </a:r>
          </a:p>
        </p:txBody>
      </p:sp>
      <p:sp>
        <p:nvSpPr>
          <p:cNvPr id="83" name="Line 187"/>
          <p:cNvSpPr>
            <a:spLocks noChangeShapeType="1"/>
          </p:cNvSpPr>
          <p:nvPr/>
        </p:nvSpPr>
        <p:spPr bwMode="auto">
          <a:xfrm>
            <a:off x="4500563" y="2540000"/>
            <a:ext cx="503237" cy="18002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84" name="Group 188"/>
          <p:cNvGrpSpPr>
            <a:grpSpLocks/>
          </p:cNvGrpSpPr>
          <p:nvPr/>
        </p:nvGrpSpPr>
        <p:grpSpPr bwMode="auto">
          <a:xfrm>
            <a:off x="4892675" y="4946650"/>
            <a:ext cx="784225" cy="649288"/>
            <a:chOff x="2946" y="2996"/>
            <a:chExt cx="494" cy="409"/>
          </a:xfrm>
        </p:grpSpPr>
        <p:sp>
          <p:nvSpPr>
            <p:cNvPr id="85" name="Rectangle 189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86" name="Text Box 190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87" name="Text Box 191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88" name="Text Box 192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</p:txBody>
        </p:sp>
      </p:grpSp>
      <p:sp>
        <p:nvSpPr>
          <p:cNvPr id="89" name="Line 193"/>
          <p:cNvSpPr>
            <a:spLocks noChangeShapeType="1"/>
          </p:cNvSpPr>
          <p:nvPr/>
        </p:nvSpPr>
        <p:spPr bwMode="auto">
          <a:xfrm>
            <a:off x="4500563" y="2755900"/>
            <a:ext cx="503237" cy="22320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90" name="Group 194"/>
          <p:cNvGrpSpPr>
            <a:grpSpLocks/>
          </p:cNvGrpSpPr>
          <p:nvPr/>
        </p:nvGrpSpPr>
        <p:grpSpPr bwMode="auto">
          <a:xfrm>
            <a:off x="3852863" y="1724025"/>
            <a:ext cx="784225" cy="1473200"/>
            <a:chOff x="1524" y="2251"/>
            <a:chExt cx="494" cy="928"/>
          </a:xfrm>
        </p:grpSpPr>
        <p:sp>
          <p:nvSpPr>
            <p:cNvPr id="91" name="Text Box 195"/>
            <p:cNvSpPr txBox="1">
              <a:spLocks noChangeArrowheads="1"/>
            </p:cNvSpPr>
            <p:nvPr/>
          </p:nvSpPr>
          <p:spPr bwMode="auto">
            <a:xfrm>
              <a:off x="1610" y="2251"/>
              <a:ext cx="317" cy="8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100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400</a:t>
              </a: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399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700</a:t>
              </a:r>
            </a:p>
            <a:p>
              <a:pPr algn="ctr">
                <a:lnSpc>
                  <a:spcPct val="90000"/>
                </a:lnSpc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2" name="Text Box 196"/>
            <p:cNvSpPr txBox="1">
              <a:spLocks noChangeArrowheads="1"/>
            </p:cNvSpPr>
            <p:nvPr/>
          </p:nvSpPr>
          <p:spPr bwMode="auto">
            <a:xfrm>
              <a:off x="1837" y="2967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3" name="Text Box 197"/>
            <p:cNvSpPr txBox="1">
              <a:spLocks noChangeArrowheads="1"/>
            </p:cNvSpPr>
            <p:nvPr/>
          </p:nvSpPr>
          <p:spPr bwMode="auto">
            <a:xfrm>
              <a:off x="1524" y="296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94" name="Line 198"/>
            <p:cNvSpPr>
              <a:spLocks noChangeShapeType="1"/>
            </p:cNvSpPr>
            <p:nvPr/>
          </p:nvSpPr>
          <p:spPr bwMode="auto">
            <a:xfrm>
              <a:off x="1610" y="241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5" name="Line 199"/>
            <p:cNvSpPr>
              <a:spLocks noChangeShapeType="1"/>
            </p:cNvSpPr>
            <p:nvPr/>
          </p:nvSpPr>
          <p:spPr bwMode="auto">
            <a:xfrm>
              <a:off x="1610" y="255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6" name="Line 200"/>
            <p:cNvSpPr>
              <a:spLocks noChangeShapeType="1"/>
            </p:cNvSpPr>
            <p:nvPr/>
          </p:nvSpPr>
          <p:spPr bwMode="auto">
            <a:xfrm>
              <a:off x="1615" y="268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7" name="Line 201"/>
            <p:cNvSpPr>
              <a:spLocks noChangeShapeType="1"/>
            </p:cNvSpPr>
            <p:nvPr/>
          </p:nvSpPr>
          <p:spPr bwMode="auto">
            <a:xfrm>
              <a:off x="1610" y="284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8" name="Line 202"/>
            <p:cNvSpPr>
              <a:spLocks noChangeShapeType="1"/>
            </p:cNvSpPr>
            <p:nvPr/>
          </p:nvSpPr>
          <p:spPr bwMode="auto">
            <a:xfrm>
              <a:off x="1615" y="297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99" name="Text Box 203"/>
            <p:cNvSpPr txBox="1">
              <a:spLocks noChangeArrowheads="1"/>
            </p:cNvSpPr>
            <p:nvPr/>
          </p:nvSpPr>
          <p:spPr bwMode="auto">
            <a:xfrm>
              <a:off x="1680" y="2689"/>
              <a:ext cx="181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  <a:p>
              <a:pPr algn="ctr">
                <a:lnSpc>
                  <a:spcPct val="20000"/>
                </a:lnSpc>
              </a:pPr>
              <a:r>
                <a:rPr kumimoji="0" lang="en-US" altLang="zh-CN" sz="1600" b="1">
                  <a:ea typeface="楷体" panose="02010609060101010101" pitchFamily="49" charset="-122"/>
                </a:rPr>
                <a:t>.</a:t>
              </a:r>
            </a:p>
          </p:txBody>
        </p:sp>
      </p:grpSp>
      <p:sp>
        <p:nvSpPr>
          <p:cNvPr id="100" name="Text Box 204"/>
          <p:cNvSpPr txBox="1">
            <a:spLocks noChangeArrowheads="1"/>
          </p:cNvSpPr>
          <p:nvPr/>
        </p:nvSpPr>
        <p:spPr bwMode="auto">
          <a:xfrm>
            <a:off x="4021138" y="3076575"/>
            <a:ext cx="50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solidFill>
                  <a:srgbClr val="FF3300"/>
                </a:solidFill>
                <a:ea typeface="楷体" panose="02010609060101010101" pitchFamily="49" charset="-122"/>
              </a:rPr>
              <a:t>711</a:t>
            </a:r>
          </a:p>
        </p:txBody>
      </p:sp>
      <p:sp>
        <p:nvSpPr>
          <p:cNvPr id="101" name="Line 205"/>
          <p:cNvSpPr>
            <a:spLocks noChangeShapeType="1"/>
          </p:cNvSpPr>
          <p:nvPr/>
        </p:nvSpPr>
        <p:spPr bwMode="auto">
          <a:xfrm flipV="1">
            <a:off x="3203575" y="1819275"/>
            <a:ext cx="792163" cy="7207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02" name="Line 206"/>
          <p:cNvSpPr>
            <a:spLocks noChangeShapeType="1"/>
          </p:cNvSpPr>
          <p:nvPr/>
        </p:nvSpPr>
        <p:spPr bwMode="auto">
          <a:xfrm flipV="1">
            <a:off x="4427538" y="1747838"/>
            <a:ext cx="576262" cy="3587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103" name="Group 207"/>
          <p:cNvGrpSpPr>
            <a:grpSpLocks/>
          </p:cNvGrpSpPr>
          <p:nvPr/>
        </p:nvGrpSpPr>
        <p:grpSpPr bwMode="auto">
          <a:xfrm>
            <a:off x="3859213" y="3459163"/>
            <a:ext cx="784225" cy="649287"/>
            <a:chOff x="2946" y="2996"/>
            <a:chExt cx="494" cy="409"/>
          </a:xfrm>
        </p:grpSpPr>
        <p:sp>
          <p:nvSpPr>
            <p:cNvPr id="104" name="Rectangle 208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5" name="Text Box 209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06" name="Text Box 210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07" name="Text Box 211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703</a:t>
              </a:r>
            </a:p>
          </p:txBody>
        </p:sp>
      </p:grpSp>
      <p:sp>
        <p:nvSpPr>
          <p:cNvPr id="108" name="Line 212"/>
          <p:cNvSpPr>
            <a:spLocks noChangeShapeType="1"/>
          </p:cNvSpPr>
          <p:nvPr/>
        </p:nvSpPr>
        <p:spPr bwMode="auto">
          <a:xfrm>
            <a:off x="3203575" y="2755900"/>
            <a:ext cx="792163" cy="79216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109" name="Group 213"/>
          <p:cNvGrpSpPr>
            <a:grpSpLocks/>
          </p:cNvGrpSpPr>
          <p:nvPr/>
        </p:nvGrpSpPr>
        <p:grpSpPr bwMode="auto">
          <a:xfrm>
            <a:off x="3851275" y="4124325"/>
            <a:ext cx="784225" cy="649288"/>
            <a:chOff x="2946" y="2996"/>
            <a:chExt cx="494" cy="409"/>
          </a:xfrm>
        </p:grpSpPr>
        <p:sp>
          <p:nvSpPr>
            <p:cNvPr id="110" name="Rectangle 214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1" name="Text Box 215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2" name="Text Box 216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3" name="Text Box 217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788</a:t>
              </a:r>
            </a:p>
          </p:txBody>
        </p:sp>
      </p:grpSp>
      <p:sp>
        <p:nvSpPr>
          <p:cNvPr id="114" name="Line 218"/>
          <p:cNvSpPr>
            <a:spLocks noChangeShapeType="1"/>
          </p:cNvSpPr>
          <p:nvPr/>
        </p:nvSpPr>
        <p:spPr bwMode="auto">
          <a:xfrm>
            <a:off x="2771775" y="3082925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15" name="Line 219"/>
          <p:cNvSpPr>
            <a:spLocks noChangeShapeType="1"/>
          </p:cNvSpPr>
          <p:nvPr/>
        </p:nvSpPr>
        <p:spPr bwMode="auto">
          <a:xfrm>
            <a:off x="3203575" y="2971800"/>
            <a:ext cx="784225" cy="11969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grpSp>
        <p:nvGrpSpPr>
          <p:cNvPr id="116" name="Group 220"/>
          <p:cNvGrpSpPr>
            <a:grpSpLocks/>
          </p:cNvGrpSpPr>
          <p:nvPr/>
        </p:nvGrpSpPr>
        <p:grpSpPr bwMode="auto">
          <a:xfrm>
            <a:off x="3851275" y="4899025"/>
            <a:ext cx="784225" cy="649288"/>
            <a:chOff x="2946" y="2996"/>
            <a:chExt cx="494" cy="409"/>
          </a:xfrm>
        </p:grpSpPr>
        <p:sp>
          <p:nvSpPr>
            <p:cNvPr id="117" name="Rectangle 221"/>
            <p:cNvSpPr>
              <a:spLocks noChangeArrowheads="1"/>
            </p:cNvSpPr>
            <p:nvPr/>
          </p:nvSpPr>
          <p:spPr bwMode="auto">
            <a:xfrm>
              <a:off x="3031" y="3016"/>
              <a:ext cx="317" cy="22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8" name="Text Box 222"/>
            <p:cNvSpPr txBox="1">
              <a:spLocks noChangeArrowheads="1"/>
            </p:cNvSpPr>
            <p:nvPr/>
          </p:nvSpPr>
          <p:spPr bwMode="auto">
            <a:xfrm>
              <a:off x="3259" y="300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19" name="Text Box 223"/>
            <p:cNvSpPr txBox="1">
              <a:spLocks noChangeArrowheads="1"/>
            </p:cNvSpPr>
            <p:nvPr/>
          </p:nvSpPr>
          <p:spPr bwMode="auto">
            <a:xfrm>
              <a:off x="2946" y="299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>
                  <a:solidFill>
                    <a:srgbClr val="FF3300"/>
                  </a:solidFill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20" name="Text Box 224"/>
            <p:cNvSpPr txBox="1">
              <a:spLocks noChangeArrowheads="1"/>
            </p:cNvSpPr>
            <p:nvPr/>
          </p:nvSpPr>
          <p:spPr bwMode="auto">
            <a:xfrm>
              <a:off x="3031" y="3193"/>
              <a:ext cx="3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701</a:t>
              </a:r>
            </a:p>
          </p:txBody>
        </p:sp>
      </p:grpSp>
      <p:sp>
        <p:nvSpPr>
          <p:cNvPr id="121" name="Line 225"/>
          <p:cNvSpPr>
            <a:spLocks noChangeShapeType="1"/>
          </p:cNvSpPr>
          <p:nvPr/>
        </p:nvSpPr>
        <p:spPr bwMode="auto">
          <a:xfrm>
            <a:off x="2771775" y="329088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22" name="Line 226"/>
          <p:cNvSpPr>
            <a:spLocks noChangeShapeType="1"/>
          </p:cNvSpPr>
          <p:nvPr/>
        </p:nvSpPr>
        <p:spPr bwMode="auto">
          <a:xfrm>
            <a:off x="3203575" y="3187700"/>
            <a:ext cx="792163" cy="18002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16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什么是文件与文件系统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文件的逻辑结构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外存分配方式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目录管理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文件存储空间的管理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FFC000"/>
                </a:solidFill>
              </a:rPr>
              <a:t>文</a:t>
            </a:r>
            <a:r>
              <a:rPr lang="zh-CN" altLang="en-US" dirty="0" smtClean="0">
                <a:solidFill>
                  <a:srgbClr val="FFC000"/>
                </a:solidFill>
              </a:rPr>
              <a:t>件的共享与保护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数</a:t>
            </a:r>
            <a:r>
              <a:rPr lang="zh-CN" altLang="en-US" dirty="0" smtClean="0">
                <a:solidFill>
                  <a:schemeClr val="bg1">
                    <a:lumMod val="85000"/>
                  </a:schemeClr>
                </a:solidFill>
              </a:rPr>
              <a:t>据一致性检查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C9EA8-59C9-4A5A-9559-4C9739705BA8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464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文件共享的动机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 smtClean="0"/>
              <a:t>一</a:t>
            </a:r>
            <a:r>
              <a:rPr lang="zh-CN" altLang="en-US" dirty="0"/>
              <a:t>个文件可以让指定的某些用户共同使用</a:t>
            </a: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/>
              <a:t>节省空间</a:t>
            </a: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/>
              <a:t>免除系统复制文件的重复性工作</a:t>
            </a: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/>
              <a:t>减少访问外存次数</a:t>
            </a: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/>
              <a:t>保证信息一致性</a:t>
            </a:r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61FB9-9834-40F1-AA33-4EB063566C8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205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静态文件共享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</a:t>
            </a:r>
            <a:r>
              <a:rPr lang="zh-CN" altLang="en-US" dirty="0"/>
              <a:t>于基本目</a:t>
            </a:r>
            <a:r>
              <a:rPr lang="zh-CN" altLang="en-US" dirty="0" smtClean="0"/>
              <a:t>录的共享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CC34-21A0-4CF6-87C2-0BA1E5FF6F4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66</a:t>
            </a:fld>
            <a:endParaRPr lang="zh-CN" alt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468313" y="2660799"/>
            <a:ext cx="1008062" cy="3432175"/>
            <a:chOff x="204" y="1177"/>
            <a:chExt cx="635" cy="2162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76" y="1207"/>
              <a:ext cx="272" cy="18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0" lang="en-US" altLang="zh-CN" sz="1600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endParaRPr kumimoji="0" lang="en-US" altLang="zh-CN" sz="1600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endParaRPr kumimoji="0" lang="en-US" altLang="zh-CN" sz="1600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endParaRPr kumimoji="0" lang="en-US" altLang="zh-CN" sz="1600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endParaRPr kumimoji="0" lang="en-US" altLang="zh-CN" sz="1600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endParaRPr kumimoji="0" lang="en-US" altLang="zh-CN" sz="1600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endParaRPr kumimoji="0" lang="en-US" altLang="zh-CN" sz="1600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endParaRPr kumimoji="0" lang="en-US" altLang="zh-CN" sz="1600">
                <a:ea typeface="楷体" panose="02010609060101010101" pitchFamily="49" charset="-122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204" y="1177"/>
              <a:ext cx="272" cy="18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2</a:t>
              </a:r>
            </a:p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3</a:t>
              </a:r>
            </a:p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4</a:t>
              </a:r>
            </a:p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5</a:t>
              </a:r>
            </a:p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6</a:t>
              </a:r>
            </a:p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7</a:t>
              </a:r>
            </a:p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8</a:t>
              </a:r>
            </a:p>
            <a:p>
              <a:pPr algn="r">
                <a:spcBef>
                  <a:spcPct val="2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9</a:t>
              </a: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476" y="3040"/>
              <a:ext cx="2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657" y="3113"/>
              <a:ext cx="182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85" y="3119"/>
              <a:ext cx="182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  <a:sym typeface="Symbol" panose="05050102010706020507" pitchFamily="18" charset="2"/>
                </a:rPr>
                <a:t>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476" y="1392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476" y="156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476" y="1748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476" y="1920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476" y="209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476" y="228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76" y="247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476" y="2647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476" y="2846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</p:grp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819150" y="2382987"/>
            <a:ext cx="657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BFD</a:t>
            </a:r>
          </a:p>
        </p:txBody>
      </p: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2052638" y="2635399"/>
            <a:ext cx="576262" cy="835025"/>
            <a:chOff x="1202" y="1570"/>
            <a:chExt cx="363" cy="526"/>
          </a:xfrm>
        </p:grpSpPr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1202" y="1570"/>
              <a:ext cx="363" cy="5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/>
            <a:p>
              <a:pPr algn="ctr"/>
              <a:r>
                <a:rPr kumimoji="0" lang="zh-CN" altLang="en-US" sz="1600" b="1">
                  <a:ea typeface="楷体" panose="02010609060101010101" pitchFamily="49" charset="-122"/>
                </a:rPr>
                <a:t>序号</a:t>
              </a:r>
            </a:p>
            <a:p>
              <a:pPr algn="ctr"/>
              <a:r>
                <a:rPr kumimoji="0" lang="en-US" altLang="zh-CN" sz="1600" b="1">
                  <a:ea typeface="楷体" panose="02010609060101010101" pitchFamily="49" charset="-122"/>
                </a:rPr>
                <a:t>9</a:t>
              </a:r>
            </a:p>
            <a:p>
              <a:pPr algn="ctr"/>
              <a:r>
                <a:rPr kumimoji="0" lang="en-US" altLang="zh-CN" sz="1600" b="1"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1202" y="1776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1202" y="1924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</p:grp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2052638" y="2348062"/>
            <a:ext cx="657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FFD</a:t>
            </a: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2700338" y="3500587"/>
            <a:ext cx="1368425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>
            <a:spAutoFit/>
          </a:bodyPr>
          <a:lstStyle/>
          <a:p>
            <a:r>
              <a:rPr kumimoji="0" lang="zh-CN" altLang="en-US" sz="1600" b="1">
                <a:ea typeface="楷体" panose="02010609060101010101" pitchFamily="49" charset="-122"/>
              </a:rPr>
              <a:t>用户名   序号</a:t>
            </a:r>
          </a:p>
          <a:p>
            <a:r>
              <a:rPr kumimoji="0" lang="en-US" altLang="zh-CN" sz="1600" b="1">
                <a:ea typeface="楷体" panose="02010609060101010101" pitchFamily="49" charset="-122"/>
              </a:rPr>
              <a:t>Wang	3</a:t>
            </a:r>
          </a:p>
          <a:p>
            <a:r>
              <a:rPr kumimoji="0" lang="en-US" altLang="zh-CN" sz="1600" b="1">
                <a:ea typeface="楷体" panose="02010609060101010101" pitchFamily="49" charset="-122"/>
              </a:rPr>
              <a:t> Zhao	4</a:t>
            </a: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2700338" y="3818087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2700338" y="4057799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31" name="Line 28"/>
          <p:cNvSpPr>
            <a:spLocks noChangeShapeType="1"/>
          </p:cNvSpPr>
          <p:nvPr/>
        </p:nvSpPr>
        <p:spPr bwMode="auto">
          <a:xfrm>
            <a:off x="3463925" y="3500587"/>
            <a:ext cx="0" cy="827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2195513" y="5042049"/>
            <a:ext cx="1368425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>
            <a:spAutoFit/>
          </a:bodyPr>
          <a:lstStyle/>
          <a:p>
            <a:r>
              <a:rPr kumimoji="0" lang="zh-CN" altLang="en-US" sz="1600" b="1" dirty="0">
                <a:ea typeface="楷体" panose="02010609060101010101" pitchFamily="49" charset="-122"/>
              </a:rPr>
              <a:t>文件名   序号</a:t>
            </a:r>
          </a:p>
          <a:p>
            <a:r>
              <a:rPr kumimoji="0" lang="en-US" altLang="zh-CN" sz="1600" b="1" dirty="0">
                <a:ea typeface="楷体" panose="02010609060101010101" pitchFamily="49" charset="-122"/>
              </a:rPr>
              <a:t>TC.exe	5</a:t>
            </a:r>
          </a:p>
          <a:p>
            <a:r>
              <a:rPr kumimoji="0" lang="en-US" altLang="zh-CN" sz="1600" b="1" dirty="0">
                <a:ea typeface="楷体" panose="02010609060101010101" pitchFamily="49" charset="-122"/>
              </a:rPr>
              <a:t> </a:t>
            </a:r>
            <a:r>
              <a:rPr kumimoji="0" lang="en-US" altLang="zh-CN" sz="1600" b="1" dirty="0">
                <a:solidFill>
                  <a:srgbClr val="FF0000"/>
                </a:solidFill>
                <a:ea typeface="楷体" panose="02010609060101010101" pitchFamily="49" charset="-122"/>
              </a:rPr>
              <a:t>In.ppt	7</a:t>
            </a:r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2195513" y="5359549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>
            <a:off x="2195513" y="5599262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2959100" y="5042049"/>
            <a:ext cx="0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4140200" y="4364187"/>
            <a:ext cx="1368425" cy="10772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>
            <a:spAutoFit/>
          </a:bodyPr>
          <a:lstStyle/>
          <a:p>
            <a:r>
              <a:rPr kumimoji="0" lang="zh-CN" altLang="en-US" sz="1600" b="1" dirty="0">
                <a:ea typeface="楷体" panose="02010609060101010101" pitchFamily="49" charset="-122"/>
              </a:rPr>
              <a:t>文件名   序号</a:t>
            </a:r>
          </a:p>
          <a:p>
            <a:r>
              <a:rPr kumimoji="0" lang="en-US" altLang="zh-CN" sz="1600" b="1" dirty="0">
                <a:ea typeface="楷体" panose="02010609060101010101" pitchFamily="49" charset="-122"/>
              </a:rPr>
              <a:t>Out.txt	6</a:t>
            </a:r>
          </a:p>
          <a:p>
            <a:r>
              <a:rPr kumimoji="0" lang="en-US" altLang="zh-CN" sz="1600" b="1" dirty="0">
                <a:solidFill>
                  <a:srgbClr val="FF0000"/>
                </a:solidFill>
                <a:ea typeface="楷体" panose="02010609060101010101" pitchFamily="49" charset="-122"/>
              </a:rPr>
              <a:t>ent.ppt	7</a:t>
            </a:r>
          </a:p>
          <a:p>
            <a:r>
              <a:rPr kumimoji="0" lang="en-US" altLang="zh-CN" sz="1600" b="1" dirty="0">
                <a:ea typeface="楷体" panose="02010609060101010101" pitchFamily="49" charset="-122"/>
              </a:rPr>
              <a:t>TC.exe	8</a:t>
            </a: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4140200" y="4681687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>
            <a:off x="4140200" y="4921399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4138613" y="5165874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4932363" y="4364187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 flipV="1">
            <a:off x="1187450" y="2924324"/>
            <a:ext cx="8651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>
            <a:off x="1187450" y="3427562"/>
            <a:ext cx="151288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3" name="Line 40"/>
          <p:cNvSpPr>
            <a:spLocks noChangeShapeType="1"/>
          </p:cNvSpPr>
          <p:nvPr/>
        </p:nvSpPr>
        <p:spPr bwMode="auto">
          <a:xfrm>
            <a:off x="1187450" y="3716487"/>
            <a:ext cx="295275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1187450" y="4003824"/>
            <a:ext cx="1008063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5795963" y="1844824"/>
            <a:ext cx="3024187" cy="1618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BFD</a:t>
            </a:r>
            <a:r>
              <a:rPr kumimoji="0" lang="zh-CN" altLang="en-US" sz="1600" b="1">
                <a:ea typeface="楷体" panose="02010609060101010101" pitchFamily="49" charset="-122"/>
              </a:rPr>
              <a:t>：	基本文件目录</a:t>
            </a:r>
          </a:p>
          <a:p>
            <a:pPr>
              <a:spcBef>
                <a:spcPct val="3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ID</a:t>
            </a:r>
            <a:r>
              <a:rPr kumimoji="0" lang="zh-CN" altLang="en-US" sz="1600" b="1">
                <a:ea typeface="楷体" panose="02010609060101010101" pitchFamily="49" charset="-122"/>
              </a:rPr>
              <a:t>：	标识符</a:t>
            </a:r>
          </a:p>
          <a:p>
            <a:pPr>
              <a:spcBef>
                <a:spcPct val="3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FFD</a:t>
            </a:r>
            <a:r>
              <a:rPr kumimoji="0" lang="zh-CN" altLang="en-US" sz="1600" b="1">
                <a:ea typeface="楷体" panose="02010609060101010101" pitchFamily="49" charset="-122"/>
              </a:rPr>
              <a:t>：	空闲文件目录</a:t>
            </a:r>
          </a:p>
          <a:p>
            <a:pPr>
              <a:spcBef>
                <a:spcPct val="3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MFD</a:t>
            </a:r>
            <a:r>
              <a:rPr kumimoji="0" lang="zh-CN" altLang="en-US" sz="1600" b="1">
                <a:ea typeface="楷体" panose="02010609060101010101" pitchFamily="49" charset="-122"/>
              </a:rPr>
              <a:t>：	主文件目录</a:t>
            </a:r>
          </a:p>
          <a:p>
            <a:pPr>
              <a:spcBef>
                <a:spcPct val="3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SFD</a:t>
            </a:r>
            <a:r>
              <a:rPr kumimoji="0" lang="zh-CN" altLang="en-US" sz="1600" b="1">
                <a:ea typeface="楷体" panose="02010609060101010101" pitchFamily="49" charset="-122"/>
              </a:rPr>
              <a:t>：	符号文件目录</a:t>
            </a:r>
          </a:p>
        </p:txBody>
      </p:sp>
      <p:sp>
        <p:nvSpPr>
          <p:cNvPr id="46" name="Text Box 43"/>
          <p:cNvSpPr txBox="1">
            <a:spLocks noChangeArrowheads="1"/>
          </p:cNvSpPr>
          <p:nvPr/>
        </p:nvSpPr>
        <p:spPr bwMode="auto">
          <a:xfrm>
            <a:off x="3132138" y="3192612"/>
            <a:ext cx="657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MFD</a:t>
            </a:r>
          </a:p>
        </p:txBody>
      </p:sp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4183063" y="4041924"/>
            <a:ext cx="1368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Wang</a:t>
            </a:r>
            <a:r>
              <a:rPr kumimoji="0" lang="zh-CN" altLang="en-US" sz="1600" b="1">
                <a:ea typeface="楷体" panose="02010609060101010101" pitchFamily="49" charset="-122"/>
              </a:rPr>
              <a:t>的目录</a:t>
            </a: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2276475" y="4726137"/>
            <a:ext cx="12969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Zhao</a:t>
            </a:r>
            <a:r>
              <a:rPr kumimoji="0" lang="zh-CN" altLang="en-US" sz="1600" b="1">
                <a:ea typeface="楷体" panose="02010609060101010101" pitchFamily="49" charset="-122"/>
              </a:rPr>
              <a:t>的目录</a:t>
            </a:r>
          </a:p>
        </p:txBody>
      </p:sp>
      <p:grpSp>
        <p:nvGrpSpPr>
          <p:cNvPr id="49" name="Group 46"/>
          <p:cNvGrpSpPr>
            <a:grpSpLocks/>
          </p:cNvGrpSpPr>
          <p:nvPr/>
        </p:nvGrpSpPr>
        <p:grpSpPr bwMode="auto">
          <a:xfrm>
            <a:off x="3492500" y="4653112"/>
            <a:ext cx="4967288" cy="1811337"/>
            <a:chOff x="2200" y="2750"/>
            <a:chExt cx="3129" cy="1141"/>
          </a:xfrm>
        </p:grpSpPr>
        <p:sp>
          <p:nvSpPr>
            <p:cNvPr id="50" name="Freeform 47"/>
            <p:cNvSpPr>
              <a:spLocks/>
            </p:cNvSpPr>
            <p:nvPr/>
          </p:nvSpPr>
          <p:spPr bwMode="auto">
            <a:xfrm>
              <a:off x="2200" y="3022"/>
              <a:ext cx="2140" cy="869"/>
            </a:xfrm>
            <a:custGeom>
              <a:avLst/>
              <a:gdLst>
                <a:gd name="T0" fmla="*/ 0 w 2140"/>
                <a:gd name="T1" fmla="*/ 453 h 869"/>
                <a:gd name="T2" fmla="*/ 725 w 2140"/>
                <a:gd name="T3" fmla="*/ 816 h 869"/>
                <a:gd name="T4" fmla="*/ 1905 w 2140"/>
                <a:gd name="T5" fmla="*/ 136 h 869"/>
                <a:gd name="T6" fmla="*/ 2132 w 2140"/>
                <a:gd name="T7" fmla="*/ 0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0" h="869">
                  <a:moveTo>
                    <a:pt x="0" y="453"/>
                  </a:moveTo>
                  <a:cubicBezTo>
                    <a:pt x="204" y="661"/>
                    <a:pt x="408" y="869"/>
                    <a:pt x="725" y="816"/>
                  </a:cubicBezTo>
                  <a:cubicBezTo>
                    <a:pt x="1042" y="763"/>
                    <a:pt x="1670" y="272"/>
                    <a:pt x="1905" y="136"/>
                  </a:cubicBezTo>
                  <a:cubicBezTo>
                    <a:pt x="2140" y="0"/>
                    <a:pt x="2136" y="0"/>
                    <a:pt x="2132" y="0"/>
                  </a:cubicBezTo>
                </a:path>
              </a:pathLst>
            </a:custGeom>
            <a:noFill/>
            <a:ln w="9525" cap="flat">
              <a:solidFill>
                <a:srgbClr val="FF33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51" name="Freeform 48"/>
            <p:cNvSpPr>
              <a:spLocks/>
            </p:cNvSpPr>
            <p:nvPr/>
          </p:nvSpPr>
          <p:spPr bwMode="auto">
            <a:xfrm>
              <a:off x="3334" y="2931"/>
              <a:ext cx="998" cy="91"/>
            </a:xfrm>
            <a:custGeom>
              <a:avLst/>
              <a:gdLst>
                <a:gd name="T0" fmla="*/ 0 w 998"/>
                <a:gd name="T1" fmla="*/ 53 h 99"/>
                <a:gd name="T2" fmla="*/ 544 w 998"/>
                <a:gd name="T3" fmla="*/ 8 h 99"/>
                <a:gd name="T4" fmla="*/ 998 w 998"/>
                <a:gd name="T5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8" h="99">
                  <a:moveTo>
                    <a:pt x="0" y="53"/>
                  </a:moveTo>
                  <a:cubicBezTo>
                    <a:pt x="189" y="26"/>
                    <a:pt x="378" y="0"/>
                    <a:pt x="544" y="8"/>
                  </a:cubicBezTo>
                  <a:cubicBezTo>
                    <a:pt x="710" y="16"/>
                    <a:pt x="922" y="84"/>
                    <a:pt x="998" y="99"/>
                  </a:cubicBezTo>
                </a:path>
              </a:pathLst>
            </a:custGeom>
            <a:noFill/>
            <a:ln w="9525" cap="flat">
              <a:solidFill>
                <a:srgbClr val="FF33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52" name="Text Box 49"/>
            <p:cNvSpPr txBox="1">
              <a:spLocks noChangeArrowheads="1"/>
            </p:cNvSpPr>
            <p:nvPr/>
          </p:nvSpPr>
          <p:spPr bwMode="auto">
            <a:xfrm>
              <a:off x="4332" y="2750"/>
              <a:ext cx="99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>
                  <a:solidFill>
                    <a:srgbClr val="FF3300"/>
                  </a:solidFill>
                  <a:ea typeface="楷体" panose="02010609060101010101" pitchFamily="49" charset="-122"/>
                </a:rPr>
                <a:t>对应同一个物理文件</a:t>
              </a:r>
            </a:p>
          </p:txBody>
        </p:sp>
      </p:grpSp>
      <p:sp>
        <p:nvSpPr>
          <p:cNvPr id="53" name="Text Box 50"/>
          <p:cNvSpPr txBox="1">
            <a:spLocks noChangeArrowheads="1"/>
          </p:cNvSpPr>
          <p:nvPr/>
        </p:nvSpPr>
        <p:spPr bwMode="auto">
          <a:xfrm>
            <a:off x="4552950" y="3851424"/>
            <a:ext cx="657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SFD</a:t>
            </a:r>
          </a:p>
        </p:txBody>
      </p:sp>
      <p:sp>
        <p:nvSpPr>
          <p:cNvPr id="54" name="Text Box 51"/>
          <p:cNvSpPr txBox="1">
            <a:spLocks noChangeArrowheads="1"/>
          </p:cNvSpPr>
          <p:nvPr/>
        </p:nvSpPr>
        <p:spPr bwMode="auto">
          <a:xfrm>
            <a:off x="2513013" y="4541987"/>
            <a:ext cx="657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600" b="1">
                <a:ea typeface="楷体" panose="02010609060101010101" pitchFamily="49" charset="-122"/>
              </a:rPr>
              <a:t>SFD</a:t>
            </a:r>
          </a:p>
        </p:txBody>
      </p:sp>
      <p:sp>
        <p:nvSpPr>
          <p:cNvPr id="55" name="Text Box 52"/>
          <p:cNvSpPr txBox="1">
            <a:spLocks noChangeArrowheads="1"/>
          </p:cNvSpPr>
          <p:nvPr/>
        </p:nvSpPr>
        <p:spPr bwMode="auto">
          <a:xfrm>
            <a:off x="5580063" y="5516712"/>
            <a:ext cx="33845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如果还有其他用户共享它，在其</a:t>
            </a:r>
            <a:r>
              <a:rPr kumimoji="0" lang="en-US" altLang="zh-CN" sz="1600" b="1">
                <a:ea typeface="楷体" panose="02010609060101010101" pitchFamily="49" charset="-122"/>
              </a:rPr>
              <a:t>SFD</a:t>
            </a:r>
            <a:r>
              <a:rPr kumimoji="0" lang="zh-CN" altLang="en-US" sz="1600" b="1">
                <a:ea typeface="楷体" panose="02010609060101010101" pitchFamily="49" charset="-122"/>
              </a:rPr>
              <a:t>中加上</a:t>
            </a:r>
            <a:r>
              <a:rPr kumimoji="0" lang="en-US" altLang="zh-CN" sz="1600" b="1">
                <a:ea typeface="楷体" panose="02010609060101010101" pitchFamily="49" charset="-122"/>
              </a:rPr>
              <a:t>ID</a:t>
            </a:r>
            <a:r>
              <a:rPr kumimoji="0" lang="zh-CN" altLang="en-US" sz="1600" b="1">
                <a:ea typeface="楷体" panose="02010609060101010101" pitchFamily="49" charset="-122"/>
              </a:rPr>
              <a:t>为</a:t>
            </a:r>
            <a:r>
              <a:rPr kumimoji="0" lang="en-US" altLang="zh-CN" sz="1600" b="1">
                <a:ea typeface="楷体" panose="02010609060101010101" pitchFamily="49" charset="-122"/>
              </a:rPr>
              <a:t>7</a:t>
            </a:r>
            <a:r>
              <a:rPr kumimoji="0" lang="zh-CN" altLang="en-US" sz="1600" b="1">
                <a:ea typeface="楷体" panose="02010609060101010101" pitchFamily="49" charset="-122"/>
              </a:rPr>
              <a:t>的表项</a:t>
            </a:r>
          </a:p>
        </p:txBody>
      </p:sp>
    </p:spTree>
    <p:extLst>
      <p:ext uri="{BB962C8B-B14F-4D97-AF65-F5344CB8AC3E}">
        <p14:creationId xmlns:p14="http://schemas.microsoft.com/office/powerpoint/2010/main" val="94615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静态文件共享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</a:t>
            </a:r>
            <a:r>
              <a:rPr lang="zh-CN" altLang="en-US" dirty="0" smtClean="0"/>
              <a:t>于索引节点的共享</a:t>
            </a:r>
            <a:endParaRPr lang="en-US" altLang="zh-CN" dirty="0" smtClean="0"/>
          </a:p>
          <a:p>
            <a:pPr lvl="1"/>
            <a:r>
              <a:rPr lang="zh-CN" altLang="en-US" dirty="0"/>
              <a:t>引用索引节点，文件的物理地址及其他的文件属性等信息，不再放在目录项中，而放在索引节点中。文件目录中只设置文件名及指向相应索引节点的指针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5B78-07F4-4EB0-A483-FBBCC15BC8E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67</a:t>
            </a:fld>
            <a:endParaRPr lang="zh-CN" alt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391816" y="3644875"/>
            <a:ext cx="6132512" cy="1584325"/>
            <a:chOff x="469" y="3158"/>
            <a:chExt cx="3863" cy="998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76" y="3158"/>
              <a:ext cx="771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Test  r</a:t>
              </a:r>
            </a:p>
            <a:p>
              <a:pPr>
                <a:spcBef>
                  <a:spcPct val="50000"/>
                </a:spcBef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519" y="3475"/>
              <a:ext cx="771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0" lang="en-US" altLang="zh-CN" sz="1600" b="1">
                <a:ea typeface="楷体" panose="02010609060101010101" pitchFamily="49" charset="-122"/>
              </a:endParaRPr>
            </a:p>
            <a:p>
              <a:pPr>
                <a:spcBef>
                  <a:spcPct val="50000"/>
                </a:spcBef>
              </a:pPr>
              <a:r>
                <a:rPr kumimoji="0" lang="en-US" altLang="zh-CN" sz="1600" b="1">
                  <a:ea typeface="楷体" panose="02010609060101010101" pitchFamily="49" charset="-122"/>
                </a:rPr>
                <a:t>Test  r</a:t>
              </a:r>
            </a:p>
            <a:p>
              <a:pPr>
                <a:spcBef>
                  <a:spcPct val="50000"/>
                </a:spcBef>
              </a:pPr>
              <a:endParaRPr kumimoji="0" lang="en-US" altLang="zh-CN" sz="1600" b="1">
                <a:ea typeface="楷体" panose="02010609060101010101" pitchFamily="49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476" y="3294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469" y="3430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476" y="3594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975" y="3158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1519" y="3612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1519" y="3748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1519" y="3912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2018" y="3476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2880" y="3521"/>
              <a:ext cx="862" cy="36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1600" b="1">
                  <a:ea typeface="楷体" panose="02010609060101010101" pitchFamily="49" charset="-122"/>
                </a:rPr>
                <a:t>count=2</a:t>
              </a:r>
            </a:p>
            <a:p>
              <a:pPr algn="ctr"/>
              <a:r>
                <a:rPr kumimoji="0" lang="zh-CN" altLang="en-US" sz="1600" b="1">
                  <a:ea typeface="楷体" panose="02010609060101010101" pitchFamily="49" charset="-122"/>
                </a:rPr>
                <a:t>文件物理地址</a:t>
              </a: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2950" y="3304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b="1">
                  <a:ea typeface="楷体" panose="02010609060101010101" pitchFamily="49" charset="-122"/>
                </a:rPr>
                <a:t>索引节点</a:t>
              </a:r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1111" y="3271"/>
              <a:ext cx="1769" cy="386"/>
            </a:xfrm>
            <a:custGeom>
              <a:avLst/>
              <a:gdLst>
                <a:gd name="T0" fmla="*/ 0 w 1769"/>
                <a:gd name="T1" fmla="*/ 250 h 386"/>
                <a:gd name="T2" fmla="*/ 544 w 1769"/>
                <a:gd name="T3" fmla="*/ 23 h 386"/>
                <a:gd name="T4" fmla="*/ 1769 w 1769"/>
                <a:gd name="T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9" h="386">
                  <a:moveTo>
                    <a:pt x="0" y="250"/>
                  </a:moveTo>
                  <a:cubicBezTo>
                    <a:pt x="124" y="125"/>
                    <a:pt x="249" y="0"/>
                    <a:pt x="544" y="23"/>
                  </a:cubicBezTo>
                  <a:cubicBezTo>
                    <a:pt x="839" y="46"/>
                    <a:pt x="1565" y="325"/>
                    <a:pt x="1769" y="38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 flipV="1">
              <a:off x="2154" y="3748"/>
              <a:ext cx="726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2" name="Oval 19"/>
            <p:cNvSpPr>
              <a:spLocks noChangeArrowheads="1"/>
            </p:cNvSpPr>
            <p:nvPr/>
          </p:nvSpPr>
          <p:spPr bwMode="auto">
            <a:xfrm>
              <a:off x="4150" y="3566"/>
              <a:ext cx="182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3742" y="3657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489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静态文件共享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基于索引节点的共享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465A-CBD3-456B-B543-E9EE6A37416D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68</a:t>
            </a:fld>
            <a:endParaRPr lang="zh-CN" altLang="en-US" dirty="0"/>
          </a:p>
        </p:txBody>
      </p: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1557039" y="2564904"/>
            <a:ext cx="1152525" cy="2925762"/>
            <a:chOff x="685" y="2387"/>
            <a:chExt cx="726" cy="1843"/>
          </a:xfrm>
        </p:grpSpPr>
        <p:grpSp>
          <p:nvGrpSpPr>
            <p:cNvPr id="8" name="Group 22"/>
            <p:cNvGrpSpPr>
              <a:grpSpLocks/>
            </p:cNvGrpSpPr>
            <p:nvPr/>
          </p:nvGrpSpPr>
          <p:grpSpPr bwMode="auto">
            <a:xfrm>
              <a:off x="793" y="2614"/>
              <a:ext cx="499" cy="499"/>
              <a:chOff x="793" y="2614"/>
              <a:chExt cx="499" cy="499"/>
            </a:xfrm>
          </p:grpSpPr>
          <p:sp>
            <p:nvSpPr>
              <p:cNvPr id="15" name="Rectangle 23"/>
              <p:cNvSpPr>
                <a:spLocks noChangeArrowheads="1"/>
              </p:cNvSpPr>
              <p:nvPr/>
            </p:nvSpPr>
            <p:spPr bwMode="auto">
              <a:xfrm>
                <a:off x="793" y="2614"/>
                <a:ext cx="499" cy="4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Line 24"/>
              <p:cNvSpPr>
                <a:spLocks noChangeShapeType="1"/>
              </p:cNvSpPr>
              <p:nvPr/>
            </p:nvSpPr>
            <p:spPr bwMode="auto">
              <a:xfrm>
                <a:off x="793" y="287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Line 25"/>
              <p:cNvSpPr>
                <a:spLocks noChangeShapeType="1"/>
              </p:cNvSpPr>
              <p:nvPr/>
            </p:nvSpPr>
            <p:spPr bwMode="auto">
              <a:xfrm>
                <a:off x="793" y="273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Line 26"/>
              <p:cNvSpPr>
                <a:spLocks noChangeShapeType="1"/>
              </p:cNvSpPr>
              <p:nvPr/>
            </p:nvSpPr>
            <p:spPr bwMode="auto">
              <a:xfrm>
                <a:off x="793" y="2994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9" name="Text Box 27"/>
            <p:cNvSpPr txBox="1">
              <a:spLocks noChangeArrowheads="1"/>
            </p:cNvSpPr>
            <p:nvPr/>
          </p:nvSpPr>
          <p:spPr bwMode="auto">
            <a:xfrm>
              <a:off x="685" y="3289"/>
              <a:ext cx="726" cy="372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0" lang="en-US" altLang="zh-CN" sz="1600" b="1">
                  <a:ea typeface="楷体" panose="02010609060101010101" pitchFamily="49" charset="-122"/>
                </a:rPr>
                <a:t>Owner=c</a:t>
              </a:r>
            </a:p>
            <a:p>
              <a:pPr algn="ctr"/>
              <a:r>
                <a:rPr kumimoji="0" lang="en-US" altLang="zh-CN" sz="1600" b="1">
                  <a:ea typeface="楷体" panose="02010609060101010101" pitchFamily="49" charset="-122"/>
                </a:rPr>
                <a:t>Count=1</a:t>
              </a:r>
            </a:p>
          </p:txBody>
        </p:sp>
        <p:sp>
          <p:nvSpPr>
            <p:cNvPr id="10" name="Oval 28"/>
            <p:cNvSpPr>
              <a:spLocks noChangeArrowheads="1"/>
            </p:cNvSpPr>
            <p:nvPr/>
          </p:nvSpPr>
          <p:spPr bwMode="auto">
            <a:xfrm>
              <a:off x="947" y="3811"/>
              <a:ext cx="181" cy="18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" name="Text Box 29"/>
            <p:cNvSpPr txBox="1">
              <a:spLocks noChangeArrowheads="1"/>
            </p:cNvSpPr>
            <p:nvPr/>
          </p:nvSpPr>
          <p:spPr bwMode="auto">
            <a:xfrm>
              <a:off x="727" y="2387"/>
              <a:ext cx="6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b="1">
                  <a:ea typeface="楷体" panose="02010609060101010101" pitchFamily="49" charset="-122"/>
                </a:rPr>
                <a:t>C</a:t>
              </a:r>
              <a:r>
                <a:rPr kumimoji="0" lang="zh-CN" altLang="en-US" sz="1800" b="1">
                  <a:ea typeface="楷体" panose="02010609060101010101" pitchFamily="49" charset="-122"/>
                </a:rPr>
                <a:t>的目录</a:t>
              </a:r>
            </a:p>
          </p:txBody>
        </p:sp>
        <p:sp>
          <p:nvSpPr>
            <p:cNvPr id="12" name="Line 30"/>
            <p:cNvSpPr>
              <a:spLocks noChangeShapeType="1"/>
            </p:cNvSpPr>
            <p:nvPr/>
          </p:nvSpPr>
          <p:spPr bwMode="auto">
            <a:xfrm flipH="1">
              <a:off x="930" y="3064"/>
              <a:ext cx="136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3" name="Line 31"/>
            <p:cNvSpPr>
              <a:spLocks noChangeShapeType="1"/>
            </p:cNvSpPr>
            <p:nvPr/>
          </p:nvSpPr>
          <p:spPr bwMode="auto">
            <a:xfrm>
              <a:off x="1041" y="3657"/>
              <a:ext cx="0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4" name="Text Box 32"/>
            <p:cNvSpPr txBox="1">
              <a:spLocks noChangeArrowheads="1"/>
            </p:cNvSpPr>
            <p:nvPr/>
          </p:nvSpPr>
          <p:spPr bwMode="auto">
            <a:xfrm>
              <a:off x="758" y="3999"/>
              <a:ext cx="5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b="1">
                  <a:ea typeface="楷体" panose="02010609060101010101" pitchFamily="49" charset="-122"/>
                </a:rPr>
                <a:t>链接前</a:t>
              </a:r>
            </a:p>
          </p:txBody>
        </p:sp>
      </p:grpSp>
      <p:grpSp>
        <p:nvGrpSpPr>
          <p:cNvPr id="19" name="Group 33"/>
          <p:cNvGrpSpPr>
            <a:grpSpLocks/>
          </p:cNvGrpSpPr>
          <p:nvPr/>
        </p:nvGrpSpPr>
        <p:grpSpPr bwMode="auto">
          <a:xfrm>
            <a:off x="3181052" y="2564904"/>
            <a:ext cx="2254250" cy="2925762"/>
            <a:chOff x="1708" y="2387"/>
            <a:chExt cx="1420" cy="1843"/>
          </a:xfrm>
        </p:grpSpPr>
        <p:grpSp>
          <p:nvGrpSpPr>
            <p:cNvPr id="20" name="Group 34"/>
            <p:cNvGrpSpPr>
              <a:grpSpLocks/>
            </p:cNvGrpSpPr>
            <p:nvPr/>
          </p:nvGrpSpPr>
          <p:grpSpPr bwMode="auto">
            <a:xfrm>
              <a:off x="1774" y="2624"/>
              <a:ext cx="499" cy="499"/>
              <a:chOff x="793" y="2614"/>
              <a:chExt cx="499" cy="499"/>
            </a:xfrm>
          </p:grpSpPr>
          <p:sp>
            <p:nvSpPr>
              <p:cNvPr id="34" name="Rectangle 35"/>
              <p:cNvSpPr>
                <a:spLocks noChangeArrowheads="1"/>
              </p:cNvSpPr>
              <p:nvPr/>
            </p:nvSpPr>
            <p:spPr bwMode="auto">
              <a:xfrm>
                <a:off x="793" y="2614"/>
                <a:ext cx="499" cy="4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5" name="Line 36"/>
              <p:cNvSpPr>
                <a:spLocks noChangeShapeType="1"/>
              </p:cNvSpPr>
              <p:nvPr/>
            </p:nvSpPr>
            <p:spPr bwMode="auto">
              <a:xfrm>
                <a:off x="793" y="287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Line 37"/>
              <p:cNvSpPr>
                <a:spLocks noChangeShapeType="1"/>
              </p:cNvSpPr>
              <p:nvPr/>
            </p:nvSpPr>
            <p:spPr bwMode="auto">
              <a:xfrm>
                <a:off x="793" y="273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7" name="Line 38"/>
              <p:cNvSpPr>
                <a:spLocks noChangeShapeType="1"/>
              </p:cNvSpPr>
              <p:nvPr/>
            </p:nvSpPr>
            <p:spPr bwMode="auto">
              <a:xfrm>
                <a:off x="793" y="2994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21" name="Text Box 39"/>
            <p:cNvSpPr txBox="1">
              <a:spLocks noChangeArrowheads="1"/>
            </p:cNvSpPr>
            <p:nvPr/>
          </p:nvSpPr>
          <p:spPr bwMode="auto">
            <a:xfrm>
              <a:off x="1708" y="2397"/>
              <a:ext cx="6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b="1">
                  <a:ea typeface="楷体" panose="02010609060101010101" pitchFamily="49" charset="-122"/>
                </a:rPr>
                <a:t>B</a:t>
              </a:r>
              <a:r>
                <a:rPr kumimoji="0" lang="zh-CN" altLang="en-US" sz="1800" b="1">
                  <a:ea typeface="楷体" panose="02010609060101010101" pitchFamily="49" charset="-122"/>
                </a:rPr>
                <a:t>的目录</a:t>
              </a:r>
            </a:p>
          </p:txBody>
        </p:sp>
        <p:sp>
          <p:nvSpPr>
            <p:cNvPr id="22" name="Line 40"/>
            <p:cNvSpPr>
              <a:spLocks noChangeShapeType="1"/>
            </p:cNvSpPr>
            <p:nvPr/>
          </p:nvSpPr>
          <p:spPr bwMode="auto">
            <a:xfrm>
              <a:off x="2047" y="3074"/>
              <a:ext cx="289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grpSp>
          <p:nvGrpSpPr>
            <p:cNvPr id="23" name="Group 41"/>
            <p:cNvGrpSpPr>
              <a:grpSpLocks/>
            </p:cNvGrpSpPr>
            <p:nvPr/>
          </p:nvGrpSpPr>
          <p:grpSpPr bwMode="auto">
            <a:xfrm>
              <a:off x="2513" y="2614"/>
              <a:ext cx="499" cy="499"/>
              <a:chOff x="793" y="2614"/>
              <a:chExt cx="499" cy="499"/>
            </a:xfrm>
          </p:grpSpPr>
          <p:sp>
            <p:nvSpPr>
              <p:cNvPr id="30" name="Rectangle 42"/>
              <p:cNvSpPr>
                <a:spLocks noChangeArrowheads="1"/>
              </p:cNvSpPr>
              <p:nvPr/>
            </p:nvSpPr>
            <p:spPr bwMode="auto">
              <a:xfrm>
                <a:off x="793" y="2614"/>
                <a:ext cx="499" cy="4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1" name="Line 43"/>
              <p:cNvSpPr>
                <a:spLocks noChangeShapeType="1"/>
              </p:cNvSpPr>
              <p:nvPr/>
            </p:nvSpPr>
            <p:spPr bwMode="auto">
              <a:xfrm>
                <a:off x="793" y="287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2" name="Line 44"/>
              <p:cNvSpPr>
                <a:spLocks noChangeShapeType="1"/>
              </p:cNvSpPr>
              <p:nvPr/>
            </p:nvSpPr>
            <p:spPr bwMode="auto">
              <a:xfrm>
                <a:off x="793" y="273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3" name="Line 45"/>
              <p:cNvSpPr>
                <a:spLocks noChangeShapeType="1"/>
              </p:cNvSpPr>
              <p:nvPr/>
            </p:nvSpPr>
            <p:spPr bwMode="auto">
              <a:xfrm>
                <a:off x="793" y="2994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24" name="Text Box 46"/>
            <p:cNvSpPr txBox="1">
              <a:spLocks noChangeArrowheads="1"/>
            </p:cNvSpPr>
            <p:nvPr/>
          </p:nvSpPr>
          <p:spPr bwMode="auto">
            <a:xfrm>
              <a:off x="2018" y="3289"/>
              <a:ext cx="726" cy="372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0" lang="en-US" altLang="zh-CN" sz="1600" b="1">
                  <a:ea typeface="楷体" panose="02010609060101010101" pitchFamily="49" charset="-122"/>
                </a:rPr>
                <a:t>Owner=c</a:t>
              </a:r>
            </a:p>
            <a:p>
              <a:pPr algn="ctr"/>
              <a:r>
                <a:rPr kumimoji="0" lang="en-US" altLang="zh-CN" sz="1600" b="1">
                  <a:ea typeface="楷体" panose="02010609060101010101" pitchFamily="49" charset="-122"/>
                </a:rPr>
                <a:t>Count=2</a:t>
              </a:r>
            </a:p>
          </p:txBody>
        </p:sp>
        <p:sp>
          <p:nvSpPr>
            <p:cNvPr id="25" name="Oval 47"/>
            <p:cNvSpPr>
              <a:spLocks noChangeArrowheads="1"/>
            </p:cNvSpPr>
            <p:nvPr/>
          </p:nvSpPr>
          <p:spPr bwMode="auto">
            <a:xfrm>
              <a:off x="2280" y="3811"/>
              <a:ext cx="181" cy="18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6" name="Text Box 48"/>
            <p:cNvSpPr txBox="1">
              <a:spLocks noChangeArrowheads="1"/>
            </p:cNvSpPr>
            <p:nvPr/>
          </p:nvSpPr>
          <p:spPr bwMode="auto">
            <a:xfrm>
              <a:off x="2447" y="2387"/>
              <a:ext cx="6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b="1">
                  <a:ea typeface="楷体" panose="02010609060101010101" pitchFamily="49" charset="-122"/>
                </a:rPr>
                <a:t>C</a:t>
              </a:r>
              <a:r>
                <a:rPr kumimoji="0" lang="zh-CN" altLang="en-US" sz="1800" b="1">
                  <a:ea typeface="楷体" panose="02010609060101010101" pitchFamily="49" charset="-122"/>
                </a:rPr>
                <a:t>的目录</a:t>
              </a:r>
            </a:p>
          </p:txBody>
        </p:sp>
        <p:sp>
          <p:nvSpPr>
            <p:cNvPr id="27" name="Line 49"/>
            <p:cNvSpPr>
              <a:spLocks noChangeShapeType="1"/>
            </p:cNvSpPr>
            <p:nvPr/>
          </p:nvSpPr>
          <p:spPr bwMode="auto">
            <a:xfrm flipH="1">
              <a:off x="2426" y="3064"/>
              <a:ext cx="360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8" name="Line 50"/>
            <p:cNvSpPr>
              <a:spLocks noChangeShapeType="1"/>
            </p:cNvSpPr>
            <p:nvPr/>
          </p:nvSpPr>
          <p:spPr bwMode="auto">
            <a:xfrm>
              <a:off x="2374" y="3657"/>
              <a:ext cx="0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29" name="Text Box 51"/>
            <p:cNvSpPr txBox="1">
              <a:spLocks noChangeArrowheads="1"/>
            </p:cNvSpPr>
            <p:nvPr/>
          </p:nvSpPr>
          <p:spPr bwMode="auto">
            <a:xfrm>
              <a:off x="2091" y="3999"/>
              <a:ext cx="5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b="1">
                  <a:ea typeface="楷体" panose="02010609060101010101" pitchFamily="49" charset="-122"/>
                </a:rPr>
                <a:t>链接后</a:t>
              </a:r>
            </a:p>
          </p:txBody>
        </p:sp>
      </p:grpSp>
      <p:grpSp>
        <p:nvGrpSpPr>
          <p:cNvPr id="38" name="Group 52"/>
          <p:cNvGrpSpPr>
            <a:grpSpLocks/>
          </p:cNvGrpSpPr>
          <p:nvPr/>
        </p:nvGrpSpPr>
        <p:grpSpPr bwMode="auto">
          <a:xfrm>
            <a:off x="5579764" y="2580779"/>
            <a:ext cx="2160588" cy="2909887"/>
            <a:chOff x="2829" y="2397"/>
            <a:chExt cx="1361" cy="1833"/>
          </a:xfrm>
        </p:grpSpPr>
        <p:grpSp>
          <p:nvGrpSpPr>
            <p:cNvPr id="39" name="Group 53"/>
            <p:cNvGrpSpPr>
              <a:grpSpLocks/>
            </p:cNvGrpSpPr>
            <p:nvPr/>
          </p:nvGrpSpPr>
          <p:grpSpPr bwMode="auto">
            <a:xfrm>
              <a:off x="3115" y="2397"/>
              <a:ext cx="726" cy="1595"/>
              <a:chOff x="3801" y="2397"/>
              <a:chExt cx="726" cy="1595"/>
            </a:xfrm>
          </p:grpSpPr>
          <p:grpSp>
            <p:nvGrpSpPr>
              <p:cNvPr id="41" name="Group 54"/>
              <p:cNvGrpSpPr>
                <a:grpSpLocks/>
              </p:cNvGrpSpPr>
              <p:nvPr/>
            </p:nvGrpSpPr>
            <p:grpSpPr bwMode="auto">
              <a:xfrm>
                <a:off x="3899" y="2624"/>
                <a:ext cx="499" cy="499"/>
                <a:chOff x="793" y="2614"/>
                <a:chExt cx="499" cy="499"/>
              </a:xfrm>
            </p:grpSpPr>
            <p:sp>
              <p:nvSpPr>
                <p:cNvPr id="47" name="Rectangle 55"/>
                <p:cNvSpPr>
                  <a:spLocks noChangeArrowheads="1"/>
                </p:cNvSpPr>
                <p:nvPr/>
              </p:nvSpPr>
              <p:spPr bwMode="auto">
                <a:xfrm>
                  <a:off x="793" y="2614"/>
                  <a:ext cx="499" cy="49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48" name="Line 56"/>
                <p:cNvSpPr>
                  <a:spLocks noChangeShapeType="1"/>
                </p:cNvSpPr>
                <p:nvPr/>
              </p:nvSpPr>
              <p:spPr bwMode="auto">
                <a:xfrm>
                  <a:off x="793" y="2872"/>
                  <a:ext cx="49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49" name="Line 57"/>
                <p:cNvSpPr>
                  <a:spLocks noChangeShapeType="1"/>
                </p:cNvSpPr>
                <p:nvPr/>
              </p:nvSpPr>
              <p:spPr bwMode="auto">
                <a:xfrm>
                  <a:off x="793" y="2736"/>
                  <a:ext cx="49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50" name="Line 58"/>
                <p:cNvSpPr>
                  <a:spLocks noChangeShapeType="1"/>
                </p:cNvSpPr>
                <p:nvPr/>
              </p:nvSpPr>
              <p:spPr bwMode="auto">
                <a:xfrm>
                  <a:off x="793" y="2994"/>
                  <a:ext cx="49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楷体" panose="02010609060101010101" pitchFamily="49" charset="-122"/>
                  </a:endParaRPr>
                </a:p>
              </p:txBody>
            </p:sp>
          </p:grpSp>
          <p:sp>
            <p:nvSpPr>
              <p:cNvPr id="42" name="Text Box 59"/>
              <p:cNvSpPr txBox="1">
                <a:spLocks noChangeArrowheads="1"/>
              </p:cNvSpPr>
              <p:nvPr/>
            </p:nvSpPr>
            <p:spPr bwMode="auto">
              <a:xfrm>
                <a:off x="3833" y="2397"/>
                <a:ext cx="6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800" b="1">
                    <a:ea typeface="楷体" panose="02010609060101010101" pitchFamily="49" charset="-122"/>
                  </a:rPr>
                  <a:t>B</a:t>
                </a:r>
                <a:r>
                  <a:rPr kumimoji="0" lang="zh-CN" altLang="en-US" sz="1800" b="1">
                    <a:ea typeface="楷体" panose="02010609060101010101" pitchFamily="49" charset="-122"/>
                  </a:rPr>
                  <a:t>的目录</a:t>
                </a:r>
              </a:p>
            </p:txBody>
          </p:sp>
          <p:sp>
            <p:nvSpPr>
              <p:cNvPr id="43" name="Line 60"/>
              <p:cNvSpPr>
                <a:spLocks noChangeShapeType="1"/>
              </p:cNvSpPr>
              <p:nvPr/>
            </p:nvSpPr>
            <p:spPr bwMode="auto">
              <a:xfrm>
                <a:off x="4172" y="3074"/>
                <a:ext cx="69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oval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4" name="Text Box 61"/>
              <p:cNvSpPr txBox="1">
                <a:spLocks noChangeArrowheads="1"/>
              </p:cNvSpPr>
              <p:nvPr/>
            </p:nvSpPr>
            <p:spPr bwMode="auto">
              <a:xfrm>
                <a:off x="3801" y="3289"/>
                <a:ext cx="726" cy="372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0" lang="en-US" altLang="zh-CN" sz="1600" b="1">
                    <a:ea typeface="楷体" panose="02010609060101010101" pitchFamily="49" charset="-122"/>
                  </a:rPr>
                  <a:t>Owner=c</a:t>
                </a:r>
              </a:p>
              <a:p>
                <a:pPr algn="ctr"/>
                <a:r>
                  <a:rPr kumimoji="0" lang="en-US" altLang="zh-CN" sz="1600" b="1">
                    <a:ea typeface="楷体" panose="02010609060101010101" pitchFamily="49" charset="-122"/>
                  </a:rPr>
                  <a:t>Count=1</a:t>
                </a:r>
              </a:p>
            </p:txBody>
          </p:sp>
          <p:sp>
            <p:nvSpPr>
              <p:cNvPr id="45" name="Oval 62"/>
              <p:cNvSpPr>
                <a:spLocks noChangeArrowheads="1"/>
              </p:cNvSpPr>
              <p:nvPr/>
            </p:nvSpPr>
            <p:spPr bwMode="auto">
              <a:xfrm>
                <a:off x="4063" y="3811"/>
                <a:ext cx="181" cy="181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6" name="Line 63"/>
              <p:cNvSpPr>
                <a:spLocks noChangeShapeType="1"/>
              </p:cNvSpPr>
              <p:nvPr/>
            </p:nvSpPr>
            <p:spPr bwMode="auto">
              <a:xfrm>
                <a:off x="4157" y="3657"/>
                <a:ext cx="0" cy="1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40" name="Text Box 64"/>
            <p:cNvSpPr txBox="1">
              <a:spLocks noChangeArrowheads="1"/>
            </p:cNvSpPr>
            <p:nvPr/>
          </p:nvSpPr>
          <p:spPr bwMode="auto">
            <a:xfrm>
              <a:off x="2829" y="3999"/>
              <a:ext cx="1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b="1">
                  <a:ea typeface="楷体" panose="02010609060101010101" pitchFamily="49" charset="-122"/>
                </a:rPr>
                <a:t>拥有者删除文件后</a:t>
              </a:r>
            </a:p>
          </p:txBody>
        </p:sp>
      </p:grpSp>
      <p:grpSp>
        <p:nvGrpSpPr>
          <p:cNvPr id="51" name="Group 65"/>
          <p:cNvGrpSpPr>
            <a:grpSpLocks/>
          </p:cNvGrpSpPr>
          <p:nvPr/>
        </p:nvGrpSpPr>
        <p:grpSpPr bwMode="auto">
          <a:xfrm>
            <a:off x="5876627" y="2996704"/>
            <a:ext cx="1512887" cy="2087562"/>
            <a:chOff x="3016" y="2659"/>
            <a:chExt cx="953" cy="1315"/>
          </a:xfrm>
        </p:grpSpPr>
        <p:sp>
          <p:nvSpPr>
            <p:cNvPr id="52" name="Line 66"/>
            <p:cNvSpPr>
              <a:spLocks noChangeShapeType="1"/>
            </p:cNvSpPr>
            <p:nvPr/>
          </p:nvSpPr>
          <p:spPr bwMode="auto">
            <a:xfrm>
              <a:off x="3016" y="2659"/>
              <a:ext cx="953" cy="131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53" name="Line 67"/>
            <p:cNvSpPr>
              <a:spLocks noChangeShapeType="1"/>
            </p:cNvSpPr>
            <p:nvPr/>
          </p:nvSpPr>
          <p:spPr bwMode="auto">
            <a:xfrm flipH="1">
              <a:off x="3107" y="2659"/>
              <a:ext cx="771" cy="131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647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静态文件共享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</a:t>
            </a:r>
            <a:r>
              <a:rPr lang="zh-CN" altLang="en-US" dirty="0" smtClean="0"/>
              <a:t>于符号链的共享</a:t>
            </a:r>
            <a:endParaRPr lang="en-US" altLang="zh-CN" dirty="0" smtClean="0"/>
          </a:p>
          <a:p>
            <a:pPr lvl="1"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 smtClean="0"/>
              <a:t>为使</a:t>
            </a:r>
            <a:r>
              <a:rPr lang="en-US" altLang="zh-CN" dirty="0" smtClean="0"/>
              <a:t>B</a:t>
            </a:r>
            <a:r>
              <a:rPr lang="zh-CN" altLang="en-US" dirty="0"/>
              <a:t>能共享</a:t>
            </a:r>
            <a:r>
              <a:rPr lang="en-US" altLang="zh-CN" dirty="0"/>
              <a:t>C</a:t>
            </a:r>
            <a:r>
              <a:rPr lang="zh-CN" altLang="en-US" dirty="0"/>
              <a:t>的一个文件</a:t>
            </a:r>
            <a:r>
              <a:rPr lang="en-US" altLang="zh-CN" dirty="0"/>
              <a:t>F</a:t>
            </a:r>
            <a:r>
              <a:rPr lang="zh-CN" altLang="en-US" dirty="0"/>
              <a:t>，由系统创建一个</a:t>
            </a:r>
            <a:r>
              <a:rPr lang="en-US" altLang="zh-CN" dirty="0"/>
              <a:t>Link</a:t>
            </a:r>
            <a:r>
              <a:rPr lang="zh-CN" altLang="en-US" dirty="0"/>
              <a:t>类型的新文件，也取名为</a:t>
            </a:r>
            <a:r>
              <a:rPr lang="en-US" altLang="zh-CN" dirty="0"/>
              <a:t>F</a:t>
            </a:r>
            <a:r>
              <a:rPr lang="zh-CN" altLang="en-US" dirty="0"/>
              <a:t>，并将</a:t>
            </a:r>
            <a:r>
              <a:rPr lang="en-US" altLang="zh-CN" dirty="0"/>
              <a:t>F</a:t>
            </a:r>
            <a:r>
              <a:rPr lang="zh-CN" altLang="en-US" dirty="0"/>
              <a:t>写入</a:t>
            </a:r>
            <a:r>
              <a:rPr lang="en-US" altLang="zh-CN" dirty="0"/>
              <a:t>B</a:t>
            </a:r>
            <a:r>
              <a:rPr lang="zh-CN" altLang="en-US" dirty="0"/>
              <a:t>的目录中，以实现</a:t>
            </a:r>
            <a:r>
              <a:rPr lang="en-US" altLang="zh-CN" dirty="0"/>
              <a:t>B</a:t>
            </a:r>
            <a:r>
              <a:rPr lang="zh-CN" altLang="en-US" dirty="0"/>
              <a:t>的目录与文件</a:t>
            </a:r>
            <a:r>
              <a:rPr lang="en-US" altLang="zh-CN" dirty="0"/>
              <a:t>F</a:t>
            </a:r>
            <a:r>
              <a:rPr lang="zh-CN" altLang="en-US" dirty="0"/>
              <a:t>的链接。新文件中只包含被链接文件</a:t>
            </a:r>
            <a:r>
              <a:rPr lang="en-US" altLang="zh-CN" dirty="0"/>
              <a:t>F</a:t>
            </a:r>
            <a:r>
              <a:rPr lang="zh-CN" altLang="en-US" dirty="0"/>
              <a:t>的路径</a:t>
            </a:r>
            <a:r>
              <a:rPr lang="zh-CN" altLang="en-US" dirty="0" smtClean="0"/>
              <a:t>名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10000"/>
              </a:spcBef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spcBef>
                <a:spcPct val="10000"/>
              </a:spcBef>
            </a:pPr>
            <a:r>
              <a:rPr lang="zh-CN" altLang="en-US" dirty="0" smtClean="0">
                <a:solidFill>
                  <a:srgbClr val="FF0000"/>
                </a:solidFill>
              </a:rPr>
              <a:t>被</a:t>
            </a:r>
            <a:r>
              <a:rPr lang="zh-CN" altLang="en-US" dirty="0">
                <a:solidFill>
                  <a:srgbClr val="FF0000"/>
                </a:solidFill>
              </a:rPr>
              <a:t>链接文件的删除和符号链接的删除是相互独立的（返回“被链接文件不存在”的错误）</a:t>
            </a:r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D19A2-DF24-4041-8E05-A4EC8DD6EEB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69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381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动态文件共享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通过建立进程的打开文件表与系统的打开文件表的映射，实现不同进程对文件的共享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3E34E-8419-4D60-9BA6-561A536E3D9B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70</a:t>
            </a:fld>
            <a:endParaRPr lang="zh-CN" altLang="en-US" dirty="0"/>
          </a:p>
        </p:txBody>
      </p: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457200" y="2872668"/>
            <a:ext cx="3238500" cy="2336800"/>
            <a:chOff x="3407" y="1791"/>
            <a:chExt cx="2040" cy="1472"/>
          </a:xfrm>
        </p:grpSpPr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3451" y="2423"/>
              <a:ext cx="499" cy="363"/>
              <a:chOff x="930" y="3067"/>
              <a:chExt cx="499" cy="363"/>
            </a:xfrm>
          </p:grpSpPr>
          <p:sp>
            <p:nvSpPr>
              <p:cNvPr id="23" name="Rectangle 6"/>
              <p:cNvSpPr>
                <a:spLocks noChangeArrowheads="1"/>
              </p:cNvSpPr>
              <p:nvPr/>
            </p:nvSpPr>
            <p:spPr bwMode="auto">
              <a:xfrm>
                <a:off x="930" y="3067"/>
                <a:ext cx="499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Line 7"/>
              <p:cNvSpPr>
                <a:spLocks noChangeShapeType="1"/>
              </p:cNvSpPr>
              <p:nvPr/>
            </p:nvSpPr>
            <p:spPr bwMode="auto">
              <a:xfrm>
                <a:off x="930" y="3193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Line 8"/>
              <p:cNvSpPr>
                <a:spLocks noChangeShapeType="1"/>
              </p:cNvSpPr>
              <p:nvPr/>
            </p:nvSpPr>
            <p:spPr bwMode="auto">
              <a:xfrm>
                <a:off x="930" y="3315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4222" y="2161"/>
              <a:ext cx="60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kumimoji="0" lang="en-US" altLang="zh-CN" sz="1600" b="1" dirty="0">
                  <a:solidFill>
                    <a:srgbClr val="0000FF"/>
                  </a:solidFill>
                  <a:ea typeface="楷体" panose="02010609060101010101" pitchFamily="49" charset="-122"/>
                </a:rPr>
                <a:t>f-count:1</a:t>
              </a:r>
            </a:p>
            <a:p>
              <a:pPr>
                <a:lnSpc>
                  <a:spcPct val="80000"/>
                </a:lnSpc>
              </a:pPr>
              <a:r>
                <a:rPr kumimoji="0" lang="en-US" altLang="zh-CN" sz="1600" b="1" dirty="0">
                  <a:solidFill>
                    <a:srgbClr val="0000FF"/>
                  </a:solidFill>
                  <a:ea typeface="楷体" panose="02010609060101010101" pitchFamily="49" charset="-122"/>
                </a:rPr>
                <a:t>f-</a:t>
              </a:r>
              <a:r>
                <a:rPr kumimoji="0" lang="en-US" altLang="zh-CN" sz="1600" b="1" dirty="0" err="1">
                  <a:solidFill>
                    <a:srgbClr val="0000FF"/>
                  </a:solidFill>
                  <a:ea typeface="楷体" panose="02010609060101010101" pitchFamily="49" charset="-122"/>
                </a:rPr>
                <a:t>inode</a:t>
              </a:r>
              <a:endParaRPr kumimoji="0" lang="en-US" altLang="zh-CN" sz="1600" b="1" dirty="0">
                <a:solidFill>
                  <a:srgbClr val="0000FF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4222" y="2524"/>
              <a:ext cx="605" cy="3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kumimoji="0" lang="en-US" altLang="zh-CN" sz="1600" b="1" dirty="0">
                  <a:solidFill>
                    <a:srgbClr val="0000FF"/>
                  </a:solidFill>
                  <a:ea typeface="楷体" panose="02010609060101010101" pitchFamily="49" charset="-122"/>
                </a:rPr>
                <a:t>f-count:1</a:t>
              </a:r>
            </a:p>
            <a:p>
              <a:pPr>
                <a:lnSpc>
                  <a:spcPct val="80000"/>
                </a:lnSpc>
              </a:pPr>
              <a:r>
                <a:rPr kumimoji="0" lang="en-US" altLang="zh-CN" sz="1600" b="1" dirty="0">
                  <a:solidFill>
                    <a:srgbClr val="0000FF"/>
                  </a:solidFill>
                  <a:ea typeface="楷体" panose="02010609060101010101" pitchFamily="49" charset="-122"/>
                </a:rPr>
                <a:t>f-</a:t>
              </a:r>
              <a:r>
                <a:rPr kumimoji="0" lang="en-US" altLang="zh-CN" sz="1600" b="1" dirty="0" err="1">
                  <a:solidFill>
                    <a:srgbClr val="0000FF"/>
                  </a:solidFill>
                  <a:ea typeface="楷体" panose="02010609060101010101" pitchFamily="49" charset="-122"/>
                </a:rPr>
                <a:t>inode</a:t>
              </a:r>
              <a:endParaRPr kumimoji="0" lang="en-US" altLang="zh-CN" sz="1600" b="1" dirty="0">
                <a:solidFill>
                  <a:srgbClr val="0000FF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4222" y="2887"/>
              <a:ext cx="605" cy="3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rIns="5400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kumimoji="0" lang="en-US" altLang="zh-CN" sz="1600" b="1" dirty="0">
                  <a:solidFill>
                    <a:srgbClr val="0000FF"/>
                  </a:solidFill>
                  <a:ea typeface="楷体" panose="02010609060101010101" pitchFamily="49" charset="-122"/>
                </a:rPr>
                <a:t>f-count:1</a:t>
              </a:r>
            </a:p>
            <a:p>
              <a:pPr>
                <a:lnSpc>
                  <a:spcPct val="80000"/>
                </a:lnSpc>
              </a:pPr>
              <a:r>
                <a:rPr kumimoji="0" lang="en-US" altLang="zh-CN" sz="1600" b="1" dirty="0">
                  <a:solidFill>
                    <a:srgbClr val="0000FF"/>
                  </a:solidFill>
                  <a:ea typeface="楷体" panose="02010609060101010101" pitchFamily="49" charset="-122"/>
                </a:rPr>
                <a:t>f-</a:t>
              </a:r>
              <a:r>
                <a:rPr kumimoji="0" lang="en-US" altLang="zh-CN" sz="1600" b="1" dirty="0" err="1">
                  <a:solidFill>
                    <a:srgbClr val="0000FF"/>
                  </a:solidFill>
                  <a:ea typeface="楷体" panose="02010609060101010101" pitchFamily="49" charset="-122"/>
                </a:rPr>
                <a:t>inode</a:t>
              </a:r>
              <a:endParaRPr kumimoji="0" lang="en-US" altLang="zh-CN" sz="1600" b="1" dirty="0">
                <a:solidFill>
                  <a:srgbClr val="0000FF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12" name="Rectangle 17"/>
            <p:cNvSpPr>
              <a:spLocks noChangeArrowheads="1"/>
            </p:cNvSpPr>
            <p:nvPr/>
          </p:nvSpPr>
          <p:spPr bwMode="auto">
            <a:xfrm>
              <a:off x="5129" y="2251"/>
              <a:ext cx="318" cy="27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zh-CN" altLang="en-US" sz="1600" b="1">
                  <a:solidFill>
                    <a:srgbClr val="FFFF00"/>
                  </a:solidFill>
                  <a:ea typeface="楷体" panose="02010609060101010101" pitchFamily="49" charset="-122"/>
                </a:rPr>
                <a:t>独享</a:t>
              </a:r>
            </a:p>
          </p:txBody>
        </p: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5122" y="2600"/>
              <a:ext cx="318" cy="27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zh-CN" altLang="en-US" sz="1600" b="1">
                  <a:solidFill>
                    <a:srgbClr val="FFFF00"/>
                  </a:solidFill>
                  <a:ea typeface="楷体" panose="02010609060101010101" pitchFamily="49" charset="-122"/>
                </a:rPr>
                <a:t>独享</a:t>
              </a:r>
            </a:p>
          </p:txBody>
        </p:sp>
        <p:sp>
          <p:nvSpPr>
            <p:cNvPr id="14" name="Rectangle 19"/>
            <p:cNvSpPr>
              <a:spLocks noChangeArrowheads="1"/>
            </p:cNvSpPr>
            <p:nvPr/>
          </p:nvSpPr>
          <p:spPr bwMode="auto">
            <a:xfrm>
              <a:off x="5122" y="2991"/>
              <a:ext cx="318" cy="27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zh-CN" altLang="en-US" sz="1600" b="1">
                  <a:solidFill>
                    <a:srgbClr val="FFFF00"/>
                  </a:solidFill>
                  <a:ea typeface="楷体" panose="02010609060101010101" pitchFamily="49" charset="-122"/>
                </a:rPr>
                <a:t>独享</a:t>
              </a:r>
            </a:p>
          </p:txBody>
        </p:sp>
        <p:sp>
          <p:nvSpPr>
            <p:cNvPr id="15" name="Text Box 21"/>
            <p:cNvSpPr txBox="1">
              <a:spLocks noChangeArrowheads="1"/>
            </p:cNvSpPr>
            <p:nvPr/>
          </p:nvSpPr>
          <p:spPr bwMode="auto">
            <a:xfrm>
              <a:off x="3407" y="2060"/>
              <a:ext cx="72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进程</a:t>
              </a:r>
              <a:r>
                <a:rPr kumimoji="0" lang="en-US" altLang="zh-CN" sz="1600" b="1">
                  <a:ea typeface="楷体" panose="02010609060101010101" pitchFamily="49" charset="-122"/>
                </a:rPr>
                <a:t>1</a:t>
              </a:r>
              <a:r>
                <a:rPr kumimoji="0" lang="zh-CN" altLang="en-US" sz="1600" b="1">
                  <a:ea typeface="楷体" panose="02010609060101010101" pitchFamily="49" charset="-122"/>
                </a:rPr>
                <a:t>打开文件表</a:t>
              </a:r>
            </a:p>
          </p:txBody>
        </p:sp>
        <p:sp>
          <p:nvSpPr>
            <p:cNvPr id="16" name="Text Box 23"/>
            <p:cNvSpPr txBox="1">
              <a:spLocks noChangeArrowheads="1"/>
            </p:cNvSpPr>
            <p:nvPr/>
          </p:nvSpPr>
          <p:spPr bwMode="auto">
            <a:xfrm>
              <a:off x="4212" y="1791"/>
              <a:ext cx="68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600" b="1">
                  <a:ea typeface="楷体" panose="02010609060101010101" pitchFamily="49" charset="-122"/>
                </a:rPr>
                <a:t>系统打开文件表</a:t>
              </a:r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 flipV="1">
              <a:off x="3814" y="2297"/>
              <a:ext cx="409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8" name="Line 25"/>
            <p:cNvSpPr>
              <a:spLocks noChangeShapeType="1"/>
            </p:cNvSpPr>
            <p:nvPr/>
          </p:nvSpPr>
          <p:spPr bwMode="auto">
            <a:xfrm>
              <a:off x="3769" y="2615"/>
              <a:ext cx="454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19" name="Line 26"/>
            <p:cNvSpPr>
              <a:spLocks noChangeShapeType="1"/>
            </p:cNvSpPr>
            <p:nvPr/>
          </p:nvSpPr>
          <p:spPr bwMode="auto">
            <a:xfrm>
              <a:off x="3769" y="2705"/>
              <a:ext cx="454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0" name="Line 30"/>
            <p:cNvSpPr>
              <a:spLocks noChangeShapeType="1"/>
            </p:cNvSpPr>
            <p:nvPr/>
          </p:nvSpPr>
          <p:spPr bwMode="auto">
            <a:xfrm>
              <a:off x="4721" y="2388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1" name="Line 31"/>
            <p:cNvSpPr>
              <a:spLocks noChangeShapeType="1"/>
            </p:cNvSpPr>
            <p:nvPr/>
          </p:nvSpPr>
          <p:spPr bwMode="auto">
            <a:xfrm>
              <a:off x="4721" y="2751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2" name="Line 32"/>
            <p:cNvSpPr>
              <a:spLocks noChangeShapeType="1"/>
            </p:cNvSpPr>
            <p:nvPr/>
          </p:nvSpPr>
          <p:spPr bwMode="auto">
            <a:xfrm>
              <a:off x="4721" y="3113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</p:grpSp>
      <p:grpSp>
        <p:nvGrpSpPr>
          <p:cNvPr id="26" name="Group 5"/>
          <p:cNvGrpSpPr>
            <a:grpSpLocks/>
          </p:cNvGrpSpPr>
          <p:nvPr/>
        </p:nvGrpSpPr>
        <p:grpSpPr bwMode="auto">
          <a:xfrm>
            <a:off x="4974332" y="3712220"/>
            <a:ext cx="792162" cy="576262"/>
            <a:chOff x="930" y="3067"/>
            <a:chExt cx="499" cy="363"/>
          </a:xfrm>
        </p:grpSpPr>
        <p:sp>
          <p:nvSpPr>
            <p:cNvPr id="27" name="Rectangle 6"/>
            <p:cNvSpPr>
              <a:spLocks noChangeArrowheads="1"/>
            </p:cNvSpPr>
            <p:nvPr/>
          </p:nvSpPr>
          <p:spPr bwMode="auto">
            <a:xfrm>
              <a:off x="930" y="3067"/>
              <a:ext cx="499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930" y="3193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>
              <a:off x="930" y="3315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</p:grpSp>
      <p:grpSp>
        <p:nvGrpSpPr>
          <p:cNvPr id="30" name="Group 9"/>
          <p:cNvGrpSpPr>
            <a:grpSpLocks/>
          </p:cNvGrpSpPr>
          <p:nvPr/>
        </p:nvGrpSpPr>
        <p:grpSpPr bwMode="auto">
          <a:xfrm>
            <a:off x="4974332" y="4996507"/>
            <a:ext cx="792162" cy="576263"/>
            <a:chOff x="930" y="3067"/>
            <a:chExt cx="499" cy="363"/>
          </a:xfrm>
        </p:grpSpPr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930" y="3067"/>
              <a:ext cx="499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32" name="Line 11"/>
            <p:cNvSpPr>
              <a:spLocks noChangeShapeType="1"/>
            </p:cNvSpPr>
            <p:nvPr/>
          </p:nvSpPr>
          <p:spPr bwMode="auto">
            <a:xfrm>
              <a:off x="930" y="3193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  <p:sp>
          <p:nvSpPr>
            <p:cNvPr id="33" name="Line 12"/>
            <p:cNvSpPr>
              <a:spLocks noChangeShapeType="1"/>
            </p:cNvSpPr>
            <p:nvPr/>
          </p:nvSpPr>
          <p:spPr bwMode="auto">
            <a:xfrm>
              <a:off x="930" y="3315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ea typeface="楷体" panose="02010609060101010101" pitchFamily="49" charset="-122"/>
              </a:endParaRPr>
            </a:p>
          </p:txBody>
        </p:sp>
      </p:grp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6198294" y="3296295"/>
            <a:ext cx="960438" cy="486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en-US" altLang="zh-CN" sz="1600" b="1" dirty="0">
                <a:solidFill>
                  <a:srgbClr val="00B050"/>
                </a:solidFill>
                <a:ea typeface="楷体" panose="02010609060101010101" pitchFamily="49" charset="-122"/>
              </a:rPr>
              <a:t>f-count:2</a:t>
            </a:r>
          </a:p>
          <a:p>
            <a:pPr>
              <a:lnSpc>
                <a:spcPct val="80000"/>
              </a:lnSpc>
            </a:pPr>
            <a:r>
              <a:rPr kumimoji="0" lang="en-US" altLang="zh-CN" sz="1600" b="1" dirty="0">
                <a:solidFill>
                  <a:srgbClr val="00B050"/>
                </a:solidFill>
                <a:ea typeface="楷体" panose="02010609060101010101" pitchFamily="49" charset="-122"/>
              </a:rPr>
              <a:t>f-</a:t>
            </a:r>
            <a:r>
              <a:rPr kumimoji="0" lang="en-US" altLang="zh-CN" sz="1600" b="1" dirty="0" err="1">
                <a:solidFill>
                  <a:srgbClr val="00B050"/>
                </a:solidFill>
                <a:ea typeface="楷体" panose="02010609060101010101" pitchFamily="49" charset="-122"/>
              </a:rPr>
              <a:t>inode</a:t>
            </a:r>
            <a:endParaRPr kumimoji="0" lang="en-US" altLang="zh-CN" sz="1600" b="1" dirty="0">
              <a:solidFill>
                <a:srgbClr val="00B050"/>
              </a:solidFill>
              <a:ea typeface="楷体" panose="02010609060101010101" pitchFamily="49" charset="-122"/>
            </a:endParaRPr>
          </a:p>
        </p:txBody>
      </p:sp>
      <p:sp>
        <p:nvSpPr>
          <p:cNvPr id="35" name="Text Box 14"/>
          <p:cNvSpPr txBox="1">
            <a:spLocks noChangeArrowheads="1"/>
          </p:cNvSpPr>
          <p:nvPr/>
        </p:nvSpPr>
        <p:spPr bwMode="auto">
          <a:xfrm>
            <a:off x="6198294" y="3872557"/>
            <a:ext cx="960438" cy="491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en-US" altLang="zh-CN" sz="1600" b="1" dirty="0">
                <a:solidFill>
                  <a:srgbClr val="00B050"/>
                </a:solidFill>
                <a:ea typeface="楷体" panose="02010609060101010101" pitchFamily="49" charset="-122"/>
              </a:rPr>
              <a:t>f-count:2</a:t>
            </a:r>
          </a:p>
          <a:p>
            <a:pPr>
              <a:lnSpc>
                <a:spcPct val="80000"/>
              </a:lnSpc>
            </a:pPr>
            <a:r>
              <a:rPr kumimoji="0" lang="en-US" altLang="zh-CN" sz="1600" b="1" dirty="0">
                <a:solidFill>
                  <a:srgbClr val="00B050"/>
                </a:solidFill>
                <a:ea typeface="楷体" panose="02010609060101010101" pitchFamily="49" charset="-122"/>
              </a:rPr>
              <a:t>f-</a:t>
            </a:r>
            <a:r>
              <a:rPr kumimoji="0" lang="en-US" altLang="zh-CN" sz="1600" b="1" dirty="0" err="1">
                <a:solidFill>
                  <a:srgbClr val="00B050"/>
                </a:solidFill>
                <a:ea typeface="楷体" panose="02010609060101010101" pitchFamily="49" charset="-122"/>
              </a:rPr>
              <a:t>inode</a:t>
            </a:r>
            <a:endParaRPr kumimoji="0" lang="en-US" altLang="zh-CN" sz="1600" b="1" dirty="0">
              <a:solidFill>
                <a:srgbClr val="00B050"/>
              </a:solidFill>
              <a:ea typeface="楷体" panose="02010609060101010101" pitchFamily="49" charset="-122"/>
            </a:endParaRPr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6198294" y="4448820"/>
            <a:ext cx="960438" cy="486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en-US" altLang="zh-CN" sz="1600" b="1" dirty="0">
                <a:solidFill>
                  <a:srgbClr val="0000FF"/>
                </a:solidFill>
                <a:ea typeface="楷体" panose="02010609060101010101" pitchFamily="49" charset="-122"/>
              </a:rPr>
              <a:t>f-count:1</a:t>
            </a:r>
          </a:p>
          <a:p>
            <a:pPr>
              <a:lnSpc>
                <a:spcPct val="80000"/>
              </a:lnSpc>
            </a:pPr>
            <a:r>
              <a:rPr kumimoji="0" lang="en-US" altLang="zh-CN" sz="1600" b="1" dirty="0">
                <a:solidFill>
                  <a:srgbClr val="0000FF"/>
                </a:solidFill>
                <a:ea typeface="楷体" panose="02010609060101010101" pitchFamily="49" charset="-122"/>
              </a:rPr>
              <a:t>f-</a:t>
            </a:r>
            <a:r>
              <a:rPr kumimoji="0" lang="en-US" altLang="zh-CN" sz="1600" b="1" dirty="0" err="1">
                <a:solidFill>
                  <a:srgbClr val="0000FF"/>
                </a:solidFill>
                <a:ea typeface="楷体" panose="02010609060101010101" pitchFamily="49" charset="-122"/>
              </a:rPr>
              <a:t>inode</a:t>
            </a:r>
            <a:endParaRPr kumimoji="0" lang="en-US" altLang="zh-CN" sz="1600" b="1" dirty="0">
              <a:solidFill>
                <a:srgbClr val="0000FF"/>
              </a:solidFill>
              <a:ea typeface="楷体" panose="02010609060101010101" pitchFamily="49" charset="-122"/>
            </a:endParaRPr>
          </a:p>
        </p:txBody>
      </p:sp>
      <p:sp>
        <p:nvSpPr>
          <p:cNvPr id="37" name="Text Box 16"/>
          <p:cNvSpPr txBox="1">
            <a:spLocks noChangeArrowheads="1"/>
          </p:cNvSpPr>
          <p:nvPr/>
        </p:nvSpPr>
        <p:spPr bwMode="auto">
          <a:xfrm>
            <a:off x="6198294" y="5036195"/>
            <a:ext cx="960438" cy="486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en-US" altLang="zh-CN" sz="1600" b="1" dirty="0">
                <a:solidFill>
                  <a:srgbClr val="FF0000"/>
                </a:solidFill>
                <a:ea typeface="楷体" panose="02010609060101010101" pitchFamily="49" charset="-122"/>
              </a:rPr>
              <a:t>f-count:1</a:t>
            </a:r>
          </a:p>
          <a:p>
            <a:pPr>
              <a:lnSpc>
                <a:spcPct val="80000"/>
              </a:lnSpc>
            </a:pPr>
            <a:r>
              <a:rPr kumimoji="0" lang="en-US" altLang="zh-CN" sz="1600" b="1" dirty="0">
                <a:solidFill>
                  <a:srgbClr val="FF0000"/>
                </a:solidFill>
                <a:ea typeface="楷体" panose="02010609060101010101" pitchFamily="49" charset="-122"/>
              </a:rPr>
              <a:t>f-</a:t>
            </a:r>
            <a:r>
              <a:rPr kumimoji="0" lang="en-US" altLang="zh-CN" sz="1600" b="1" dirty="0" err="1">
                <a:solidFill>
                  <a:srgbClr val="FF0000"/>
                </a:solidFill>
                <a:ea typeface="楷体" panose="02010609060101010101" pitchFamily="49" charset="-122"/>
              </a:rPr>
              <a:t>inode</a:t>
            </a:r>
            <a:endParaRPr kumimoji="0" lang="en-US" altLang="zh-CN" sz="1600" b="1" dirty="0">
              <a:solidFill>
                <a:srgbClr val="FF0000"/>
              </a:solidFill>
              <a:ea typeface="楷体" panose="02010609060101010101" pitchFamily="49" charset="-122"/>
            </a:endParaRPr>
          </a:p>
        </p:txBody>
      </p:sp>
      <p:sp>
        <p:nvSpPr>
          <p:cNvPr id="38" name="Rectangle 17"/>
          <p:cNvSpPr>
            <a:spLocks noChangeArrowheads="1"/>
          </p:cNvSpPr>
          <p:nvPr/>
        </p:nvSpPr>
        <p:spPr bwMode="auto">
          <a:xfrm>
            <a:off x="7638157" y="3439170"/>
            <a:ext cx="504825" cy="4318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0" lang="zh-CN" altLang="en-US" sz="1600" b="1">
                <a:solidFill>
                  <a:srgbClr val="FFFF00"/>
                </a:solidFill>
                <a:ea typeface="楷体" panose="02010609060101010101" pitchFamily="49" charset="-122"/>
              </a:rPr>
              <a:t>共享</a:t>
            </a:r>
          </a:p>
        </p:txBody>
      </p:sp>
      <p:sp>
        <p:nvSpPr>
          <p:cNvPr id="39" name="Rectangle 18"/>
          <p:cNvSpPr>
            <a:spLocks noChangeArrowheads="1"/>
          </p:cNvSpPr>
          <p:nvPr/>
        </p:nvSpPr>
        <p:spPr bwMode="auto">
          <a:xfrm>
            <a:off x="7627044" y="3993207"/>
            <a:ext cx="504825" cy="4318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0" lang="zh-CN" altLang="en-US" sz="1600" b="1">
                <a:solidFill>
                  <a:srgbClr val="FFFF00"/>
                </a:solidFill>
                <a:ea typeface="楷体" panose="02010609060101010101" pitchFamily="49" charset="-122"/>
              </a:rPr>
              <a:t>共享</a:t>
            </a:r>
          </a:p>
        </p:txBody>
      </p:sp>
      <p:sp>
        <p:nvSpPr>
          <p:cNvPr id="40" name="Rectangle 19"/>
          <p:cNvSpPr>
            <a:spLocks noChangeArrowheads="1"/>
          </p:cNvSpPr>
          <p:nvPr/>
        </p:nvSpPr>
        <p:spPr bwMode="auto">
          <a:xfrm>
            <a:off x="7627044" y="4613920"/>
            <a:ext cx="504825" cy="431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zh-CN" altLang="en-US" sz="1600" b="1">
                <a:solidFill>
                  <a:srgbClr val="FFFF00"/>
                </a:solidFill>
                <a:ea typeface="楷体" panose="02010609060101010101" pitchFamily="49" charset="-122"/>
              </a:rPr>
              <a:t>独享</a:t>
            </a:r>
          </a:p>
        </p:txBody>
      </p:sp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7615932" y="5167957"/>
            <a:ext cx="504825" cy="431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zh-CN" altLang="en-US" sz="1600" b="1">
                <a:solidFill>
                  <a:srgbClr val="FFFF00"/>
                </a:solidFill>
                <a:ea typeface="楷体" panose="02010609060101010101" pitchFamily="49" charset="-122"/>
              </a:rPr>
              <a:t>独享</a:t>
            </a:r>
          </a:p>
        </p:txBody>
      </p:sp>
      <p:sp>
        <p:nvSpPr>
          <p:cNvPr id="42" name="Text Box 21"/>
          <p:cNvSpPr txBox="1">
            <a:spLocks noChangeArrowheads="1"/>
          </p:cNvSpPr>
          <p:nvPr/>
        </p:nvSpPr>
        <p:spPr bwMode="auto">
          <a:xfrm>
            <a:off x="4904482" y="3135957"/>
            <a:ext cx="11509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进程</a:t>
            </a:r>
            <a:r>
              <a:rPr kumimoji="0" lang="en-US" altLang="zh-CN" sz="1600" b="1">
                <a:ea typeface="楷体" panose="02010609060101010101" pitchFamily="49" charset="-122"/>
              </a:rPr>
              <a:t>1</a:t>
            </a:r>
            <a:r>
              <a:rPr kumimoji="0" lang="zh-CN" altLang="en-US" sz="1600" b="1">
                <a:ea typeface="楷体" panose="02010609060101010101" pitchFamily="49" charset="-122"/>
              </a:rPr>
              <a:t>打开文件表</a:t>
            </a:r>
          </a:p>
        </p:txBody>
      </p:sp>
      <p:sp>
        <p:nvSpPr>
          <p:cNvPr id="43" name="Text Box 22"/>
          <p:cNvSpPr txBox="1">
            <a:spLocks noChangeArrowheads="1"/>
          </p:cNvSpPr>
          <p:nvPr/>
        </p:nvSpPr>
        <p:spPr bwMode="auto">
          <a:xfrm>
            <a:off x="4860032" y="4442470"/>
            <a:ext cx="11509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 dirty="0">
                <a:ea typeface="楷体" panose="02010609060101010101" pitchFamily="49" charset="-122"/>
              </a:rPr>
              <a:t>进程</a:t>
            </a:r>
            <a:r>
              <a:rPr kumimoji="0" lang="en-US" altLang="zh-CN" sz="1600" b="1" dirty="0" smtClean="0">
                <a:ea typeface="楷体" panose="02010609060101010101" pitchFamily="49" charset="-122"/>
              </a:rPr>
              <a:t>2</a:t>
            </a:r>
            <a:r>
              <a:rPr kumimoji="0" lang="zh-CN" altLang="en-US" sz="1600" b="1" dirty="0" smtClean="0">
                <a:ea typeface="楷体" panose="02010609060101010101" pitchFamily="49" charset="-122"/>
              </a:rPr>
              <a:t>打</a:t>
            </a:r>
            <a:r>
              <a:rPr kumimoji="0" lang="zh-CN" altLang="en-US" sz="1600" b="1" dirty="0">
                <a:ea typeface="楷体" panose="02010609060101010101" pitchFamily="49" charset="-122"/>
              </a:rPr>
              <a:t>开文件表</a:t>
            </a:r>
          </a:p>
        </p:txBody>
      </p:sp>
      <p:sp>
        <p:nvSpPr>
          <p:cNvPr id="44" name="Text Box 23"/>
          <p:cNvSpPr txBox="1">
            <a:spLocks noChangeArrowheads="1"/>
          </p:cNvSpPr>
          <p:nvPr/>
        </p:nvSpPr>
        <p:spPr bwMode="auto">
          <a:xfrm>
            <a:off x="6182419" y="2708920"/>
            <a:ext cx="10810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1600" b="1">
                <a:ea typeface="楷体" panose="02010609060101010101" pitchFamily="49" charset="-122"/>
              </a:rPr>
              <a:t>系统打开文件表</a:t>
            </a:r>
          </a:p>
        </p:txBody>
      </p:sp>
      <p:sp>
        <p:nvSpPr>
          <p:cNvPr id="45" name="Line 24"/>
          <p:cNvSpPr>
            <a:spLocks noChangeShapeType="1"/>
          </p:cNvSpPr>
          <p:nvPr/>
        </p:nvSpPr>
        <p:spPr bwMode="auto">
          <a:xfrm flipV="1">
            <a:off x="5550594" y="3512195"/>
            <a:ext cx="649288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6" name="Line 25"/>
          <p:cNvSpPr>
            <a:spLocks noChangeShapeType="1"/>
          </p:cNvSpPr>
          <p:nvPr/>
        </p:nvSpPr>
        <p:spPr bwMode="auto">
          <a:xfrm>
            <a:off x="5479157" y="4017020"/>
            <a:ext cx="720725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7" name="Line 26"/>
          <p:cNvSpPr>
            <a:spLocks noChangeShapeType="1"/>
          </p:cNvSpPr>
          <p:nvPr/>
        </p:nvSpPr>
        <p:spPr bwMode="auto">
          <a:xfrm>
            <a:off x="5479157" y="4159895"/>
            <a:ext cx="7207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8" name="Line 27"/>
          <p:cNvSpPr>
            <a:spLocks noChangeShapeType="1"/>
          </p:cNvSpPr>
          <p:nvPr/>
        </p:nvSpPr>
        <p:spPr bwMode="auto">
          <a:xfrm flipV="1">
            <a:off x="5479157" y="3656657"/>
            <a:ext cx="720725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49" name="Line 28"/>
          <p:cNvSpPr>
            <a:spLocks noChangeShapeType="1"/>
          </p:cNvSpPr>
          <p:nvPr/>
        </p:nvSpPr>
        <p:spPr bwMode="auto">
          <a:xfrm flipV="1">
            <a:off x="5479157" y="4193232"/>
            <a:ext cx="720725" cy="1081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50" name="Line 29"/>
          <p:cNvSpPr>
            <a:spLocks noChangeShapeType="1"/>
          </p:cNvSpPr>
          <p:nvPr/>
        </p:nvSpPr>
        <p:spPr bwMode="auto">
          <a:xfrm flipV="1">
            <a:off x="5479157" y="5383857"/>
            <a:ext cx="720725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51" name="Line 30"/>
          <p:cNvSpPr>
            <a:spLocks noChangeShapeType="1"/>
          </p:cNvSpPr>
          <p:nvPr/>
        </p:nvSpPr>
        <p:spPr bwMode="auto">
          <a:xfrm>
            <a:off x="6990457" y="3656657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52" name="Line 31"/>
          <p:cNvSpPr>
            <a:spLocks noChangeShapeType="1"/>
          </p:cNvSpPr>
          <p:nvPr/>
        </p:nvSpPr>
        <p:spPr bwMode="auto">
          <a:xfrm>
            <a:off x="6990457" y="4232920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53" name="Line 32"/>
          <p:cNvSpPr>
            <a:spLocks noChangeShapeType="1"/>
          </p:cNvSpPr>
          <p:nvPr/>
        </p:nvSpPr>
        <p:spPr bwMode="auto">
          <a:xfrm>
            <a:off x="6990457" y="4807595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54" name="Line 33"/>
          <p:cNvSpPr>
            <a:spLocks noChangeShapeType="1"/>
          </p:cNvSpPr>
          <p:nvPr/>
        </p:nvSpPr>
        <p:spPr bwMode="auto">
          <a:xfrm>
            <a:off x="6990457" y="5383857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  <p:sp>
        <p:nvSpPr>
          <p:cNvPr id="55" name="Rectangle 34"/>
          <p:cNvSpPr>
            <a:spLocks noChangeArrowheads="1"/>
          </p:cNvSpPr>
          <p:nvPr/>
        </p:nvSpPr>
        <p:spPr bwMode="auto">
          <a:xfrm>
            <a:off x="6055419" y="2748607"/>
            <a:ext cx="1200150" cy="165258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804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文件保护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文件的访问动作</a:t>
            </a:r>
            <a:endParaRPr lang="en-US" altLang="zh-CN" dirty="0" smtClean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endParaRPr lang="en-US" altLang="zh-CN" sz="2400" dirty="0" smtClean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dirty="0" smtClean="0"/>
              <a:t>读</a:t>
            </a:r>
            <a:r>
              <a:rPr lang="en-US" altLang="zh-CN" sz="2400" dirty="0" smtClean="0"/>
              <a:t>(read)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可读出文件内容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endParaRPr lang="en-US" altLang="zh-CN" sz="2400" dirty="0" smtClean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dirty="0" smtClean="0"/>
              <a:t>写</a:t>
            </a:r>
            <a:r>
              <a:rPr lang="en-US" altLang="zh-CN" sz="2400" dirty="0" smtClean="0"/>
              <a:t>(write, update, append)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可把数据写入文件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endParaRPr lang="en-US" altLang="zh-CN" sz="2400" dirty="0" smtClean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dirty="0" smtClean="0"/>
              <a:t>执行</a:t>
            </a:r>
            <a:r>
              <a:rPr lang="en-US" altLang="zh-CN" sz="2400" dirty="0" smtClean="0"/>
              <a:t>(execute)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可由系统读出文件内容，作为代码执行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endParaRPr lang="en-US" altLang="zh-CN" sz="2400" dirty="0" smtClean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dirty="0" smtClean="0"/>
              <a:t>删除</a:t>
            </a:r>
            <a:r>
              <a:rPr lang="en-US" altLang="zh-CN" sz="2400" dirty="0" smtClean="0"/>
              <a:t>(delete)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可删除文件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endParaRPr lang="en-US" altLang="zh-CN" sz="2400" dirty="0" smtClean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dirty="0" smtClean="0"/>
              <a:t>修</a:t>
            </a:r>
            <a:r>
              <a:rPr lang="zh-CN" altLang="en-US" sz="2400" dirty="0"/>
              <a:t>改访问权</a:t>
            </a:r>
            <a:r>
              <a:rPr lang="zh-CN" altLang="en-US" sz="2400" dirty="0" smtClean="0"/>
              <a:t>限：</a:t>
            </a:r>
            <a:r>
              <a:rPr lang="zh-CN" altLang="en-US" sz="2400" dirty="0"/>
              <a:t>修改文件属主或访问权限</a:t>
            </a:r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3C94-8BAE-4DA9-82E7-AE0A9B8328E7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733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</a:t>
            </a:r>
            <a:r>
              <a:rPr lang="zh-CN" altLang="en-US" dirty="0" smtClean="0"/>
              <a:t>件保护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访问控制</a:t>
            </a:r>
            <a:endParaRPr lang="en-US" altLang="zh-CN" dirty="0" smtClean="0"/>
          </a:p>
          <a:p>
            <a:pPr lvl="1"/>
            <a:r>
              <a:rPr lang="zh-CN" altLang="en-US" dirty="0"/>
              <a:t>用户范围类型：指定用户、用户组、任意用户</a:t>
            </a:r>
          </a:p>
          <a:p>
            <a:pPr lvl="1"/>
            <a:r>
              <a:rPr lang="zh-CN" altLang="en-US" dirty="0"/>
              <a:t>访问类型和用户范围的组</a:t>
            </a:r>
            <a:r>
              <a:rPr lang="zh-CN" altLang="en-US" dirty="0" smtClean="0"/>
              <a:t>合</a:t>
            </a:r>
            <a:endParaRPr lang="en-US" altLang="zh-CN" dirty="0" smtClean="0"/>
          </a:p>
          <a:p>
            <a:pPr lvl="2"/>
            <a:endParaRPr lang="en-US" altLang="zh-CN" dirty="0" smtClean="0">
              <a:solidFill>
                <a:srgbClr val="0000FF"/>
              </a:solidFill>
            </a:endParaRPr>
          </a:p>
          <a:p>
            <a:pPr lvl="2"/>
            <a:r>
              <a:rPr lang="zh-CN" altLang="en-US" dirty="0" smtClean="0">
                <a:solidFill>
                  <a:srgbClr val="0000FF"/>
                </a:solidFill>
              </a:rPr>
              <a:t>访</a:t>
            </a:r>
            <a:r>
              <a:rPr lang="zh-CN" altLang="en-US" dirty="0">
                <a:solidFill>
                  <a:srgbClr val="0000FF"/>
                </a:solidFill>
              </a:rPr>
              <a:t>问矩阵</a:t>
            </a:r>
            <a:r>
              <a:rPr lang="zh-CN" altLang="en-US" dirty="0"/>
              <a:t>：矩阵的一维是每个目录和文件，另一维是用户范围，每个元素是允许的访问方式</a:t>
            </a:r>
          </a:p>
          <a:p>
            <a:pPr lvl="1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AF54B-7712-4C11-9D61-C9C4E63CD74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72</a:t>
            </a:fld>
            <a:endParaRPr lang="zh-CN" alt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846576" y="3933059"/>
            <a:ext cx="5472112" cy="1638301"/>
            <a:chOff x="1066" y="3039"/>
            <a:chExt cx="3447" cy="1032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1066" y="3067"/>
              <a:ext cx="3447" cy="100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  <a:spcAft>
                  <a:spcPct val="30000"/>
                </a:spcAft>
              </a:pPr>
              <a:r>
                <a:rPr kumimoji="0" lang="en-US" altLang="zh-CN" sz="1600" b="1" dirty="0">
                  <a:ea typeface="楷体" panose="02010609060101010101" pitchFamily="49" charset="-122"/>
                </a:rPr>
                <a:t>	</a:t>
              </a:r>
              <a:r>
                <a:rPr kumimoji="0" lang="en-US" altLang="zh-CN" sz="1800" b="1" dirty="0">
                  <a:ea typeface="楷体" panose="02010609060101010101" pitchFamily="49" charset="-122"/>
                </a:rPr>
                <a:t>	</a:t>
              </a:r>
              <a:r>
                <a:rPr kumimoji="0" lang="en-US" altLang="zh-CN" sz="2000" b="1" dirty="0">
                  <a:ea typeface="楷体" panose="02010609060101010101" pitchFamily="49" charset="-122"/>
                </a:rPr>
                <a:t>A	B	C	…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2000" b="1" dirty="0">
                  <a:ea typeface="楷体" panose="02010609060101010101" pitchFamily="49" charset="-122"/>
                </a:rPr>
                <a:t>     </a:t>
              </a:r>
              <a:r>
                <a:rPr kumimoji="0" lang="en-US" altLang="zh-CN" sz="2000" b="1" dirty="0" smtClean="0">
                  <a:ea typeface="楷体" panose="02010609060101010101" pitchFamily="49" charset="-122"/>
                </a:rPr>
                <a:t>User1 </a:t>
              </a:r>
              <a:r>
                <a:rPr kumimoji="0" lang="en-US" altLang="zh-CN" sz="2000" b="1" dirty="0">
                  <a:ea typeface="楷体" panose="02010609060101010101" pitchFamily="49" charset="-122"/>
                </a:rPr>
                <a:t>	</a:t>
              </a:r>
              <a:r>
                <a:rPr kumimoji="0" lang="en-US" altLang="zh-CN" sz="2000" b="1" dirty="0" err="1">
                  <a:ea typeface="楷体" panose="02010609060101010101" pitchFamily="49" charset="-122"/>
                </a:rPr>
                <a:t>rw</a:t>
              </a:r>
              <a:r>
                <a:rPr kumimoji="0" lang="en-US" altLang="zh-CN" sz="2000" b="1" dirty="0">
                  <a:ea typeface="楷体" panose="02010609060101010101" pitchFamily="49" charset="-122"/>
                </a:rPr>
                <a:t>	r	w	…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2000" b="1" dirty="0">
                  <a:ea typeface="楷体" panose="02010609060101010101" pitchFamily="49" charset="-122"/>
                </a:rPr>
                <a:t>     </a:t>
              </a:r>
              <a:r>
                <a:rPr kumimoji="0" lang="en-US" altLang="zh-CN" sz="2000" b="1" dirty="0" smtClean="0">
                  <a:ea typeface="楷体" panose="02010609060101010101" pitchFamily="49" charset="-122"/>
                </a:rPr>
                <a:t>User2 </a:t>
              </a:r>
              <a:r>
                <a:rPr kumimoji="0" lang="en-US" altLang="zh-CN" sz="2000" b="1" dirty="0">
                  <a:ea typeface="楷体" panose="02010609060101010101" pitchFamily="49" charset="-122"/>
                </a:rPr>
                <a:t>	e	-	-	…</a:t>
              </a:r>
            </a:p>
            <a:p>
              <a:pPr>
                <a:spcBef>
                  <a:spcPct val="20000"/>
                </a:spcBef>
              </a:pPr>
              <a:r>
                <a:rPr kumimoji="0" lang="en-US" altLang="zh-CN" sz="2000" b="1" dirty="0">
                  <a:ea typeface="楷体" panose="02010609060101010101" pitchFamily="49" charset="-122"/>
                </a:rPr>
                <a:t>     …</a:t>
              </a: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1066" y="3350"/>
              <a:ext cx="3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1066" y="3598"/>
              <a:ext cx="3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1066" y="3818"/>
              <a:ext cx="3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2088" y="3068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2629" y="3068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3194" y="3068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3742" y="3068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1073" y="3081"/>
              <a:ext cx="102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1603" y="3039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b="1">
                  <a:ea typeface="楷体" panose="02010609060101010101" pitchFamily="49" charset="-122"/>
                </a:rPr>
                <a:t>文件</a:t>
              </a: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1177" y="3141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b="1">
                  <a:ea typeface="楷体" panose="02010609060101010101" pitchFamily="49" charset="-122"/>
                </a:rPr>
                <a:t>用户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570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文件保护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10000"/>
              </a:lnSpc>
              <a:spcBef>
                <a:spcPct val="10000"/>
              </a:spcBef>
            </a:pPr>
            <a:endParaRPr lang="en-US" altLang="zh-CN" dirty="0" smtClean="0">
              <a:solidFill>
                <a:srgbClr val="0000FF"/>
              </a:solidFill>
            </a:endParaRPr>
          </a:p>
          <a:p>
            <a:pPr lvl="2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 smtClean="0">
                <a:solidFill>
                  <a:srgbClr val="0000FF"/>
                </a:solidFill>
              </a:rPr>
              <a:t>存</a:t>
            </a:r>
            <a:r>
              <a:rPr lang="zh-CN" altLang="en-US" dirty="0">
                <a:solidFill>
                  <a:srgbClr val="0000FF"/>
                </a:solidFill>
              </a:rPr>
              <a:t>取控制表：</a:t>
            </a:r>
            <a:r>
              <a:rPr lang="zh-CN" altLang="en-US" dirty="0"/>
              <a:t>以文件为单位，把用户按某种关系划分为若干组，同时规定每组的存取权限。实现时，该表放在文件说明中，打开文件时，被复制了内存中；效率高</a:t>
            </a:r>
          </a:p>
          <a:p>
            <a:pPr lvl="2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口令和密</a:t>
            </a:r>
            <a:r>
              <a:rPr lang="zh-CN" altLang="en-US" dirty="0" smtClean="0"/>
              <a:t>码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6E25-AFB1-47EE-BAEF-8392F3AFDB99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73</a:t>
            </a:fld>
            <a:endParaRPr lang="zh-CN" altLang="en-US" dirty="0"/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3131840" y="3372321"/>
            <a:ext cx="2735262" cy="2720975"/>
            <a:chOff x="3833" y="1653"/>
            <a:chExt cx="1723" cy="1714"/>
          </a:xfrm>
        </p:grpSpPr>
        <p:sp>
          <p:nvSpPr>
            <p:cNvPr id="8" name="Text Box 43"/>
            <p:cNvSpPr txBox="1">
              <a:spLocks noChangeArrowheads="1"/>
            </p:cNvSpPr>
            <p:nvPr/>
          </p:nvSpPr>
          <p:spPr bwMode="auto">
            <a:xfrm>
              <a:off x="3833" y="1661"/>
              <a:ext cx="1723" cy="170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ea typeface="楷体" panose="02010609060101010101" pitchFamily="49" charset="-122"/>
                </a:rPr>
                <a:t>      </a:t>
              </a:r>
              <a:r>
                <a:rPr lang="zh-CN" altLang="en-US" sz="2000" b="1">
                  <a:ea typeface="楷体" panose="02010609060101010101" pitchFamily="49" charset="-122"/>
                </a:rPr>
                <a:t>用户               </a:t>
              </a:r>
              <a:r>
                <a:rPr lang="en-US" altLang="zh-CN" sz="2000" b="1">
                  <a:ea typeface="楷体" panose="02010609060101010101" pitchFamily="49" charset="-122"/>
                </a:rPr>
                <a:t>a.c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000" b="1">
                  <a:ea typeface="楷体" panose="02010609060101010101" pitchFamily="49" charset="-122"/>
                </a:rPr>
                <a:t>  </a:t>
              </a:r>
              <a:r>
                <a:rPr lang="zh-CN" altLang="en-US" sz="2000" b="1">
                  <a:ea typeface="楷体" panose="02010609060101010101" pitchFamily="49" charset="-122"/>
                </a:rPr>
                <a:t>文件主人         </a:t>
              </a:r>
              <a:r>
                <a:rPr lang="en-US" altLang="zh-CN" sz="2000" b="1">
                  <a:ea typeface="楷体" panose="02010609060101010101" pitchFamily="49" charset="-122"/>
                </a:rPr>
                <a:t>RWE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000" b="1">
                  <a:ea typeface="楷体" panose="02010609060101010101" pitchFamily="49" charset="-122"/>
                </a:rPr>
                <a:t>      A</a:t>
              </a:r>
              <a:r>
                <a:rPr lang="zh-CN" altLang="en-US" sz="2000" b="1">
                  <a:ea typeface="楷体" panose="02010609060101010101" pitchFamily="49" charset="-122"/>
                </a:rPr>
                <a:t>组                </a:t>
              </a:r>
              <a:r>
                <a:rPr lang="en-US" altLang="zh-CN" sz="2000" b="1">
                  <a:ea typeface="楷体" panose="02010609060101010101" pitchFamily="49" charset="-122"/>
                </a:rPr>
                <a:t>RE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000" b="1">
                  <a:ea typeface="楷体" panose="02010609060101010101" pitchFamily="49" charset="-122"/>
                </a:rPr>
                <a:t>      B</a:t>
              </a:r>
              <a:r>
                <a:rPr lang="zh-CN" altLang="en-US" sz="2000" b="1">
                  <a:ea typeface="楷体" panose="02010609060101010101" pitchFamily="49" charset="-122"/>
                </a:rPr>
                <a:t>组                  </a:t>
              </a:r>
              <a:r>
                <a:rPr lang="en-US" altLang="zh-CN" sz="2000" b="1">
                  <a:ea typeface="楷体" panose="02010609060101010101" pitchFamily="49" charset="-122"/>
                </a:rPr>
                <a:t>E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000" b="1">
                  <a:ea typeface="楷体" panose="02010609060101010101" pitchFamily="49" charset="-122"/>
                </a:rPr>
                <a:t>     wang             RWE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000" b="1">
                  <a:ea typeface="楷体" panose="02010609060101010101" pitchFamily="49" charset="-122"/>
                </a:rPr>
                <a:t>     </a:t>
              </a:r>
              <a:r>
                <a:rPr lang="zh-CN" altLang="en-US" sz="2000" b="1">
                  <a:ea typeface="楷体" panose="02010609060101010101" pitchFamily="49" charset="-122"/>
                </a:rPr>
                <a:t>其他              </a:t>
              </a:r>
              <a:r>
                <a:rPr lang="en-US" altLang="zh-CN" sz="2000" b="1">
                  <a:ea typeface="楷体" panose="02010609060101010101" pitchFamily="49" charset="-122"/>
                </a:rPr>
                <a:t>None</a:t>
              </a:r>
            </a:p>
          </p:txBody>
        </p:sp>
        <p:sp>
          <p:nvSpPr>
            <p:cNvPr id="9" name="Line 44"/>
            <p:cNvSpPr>
              <a:spLocks noChangeShapeType="1"/>
            </p:cNvSpPr>
            <p:nvPr/>
          </p:nvSpPr>
          <p:spPr bwMode="auto">
            <a:xfrm>
              <a:off x="3833" y="1933"/>
              <a:ext cx="1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0" name="Line 45"/>
            <p:cNvSpPr>
              <a:spLocks noChangeShapeType="1"/>
            </p:cNvSpPr>
            <p:nvPr/>
          </p:nvSpPr>
          <p:spPr bwMode="auto">
            <a:xfrm>
              <a:off x="3833" y="2235"/>
              <a:ext cx="1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1" name="Line 46"/>
            <p:cNvSpPr>
              <a:spLocks noChangeShapeType="1"/>
            </p:cNvSpPr>
            <p:nvPr/>
          </p:nvSpPr>
          <p:spPr bwMode="auto">
            <a:xfrm>
              <a:off x="3833" y="2525"/>
              <a:ext cx="1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2" name="Line 47"/>
            <p:cNvSpPr>
              <a:spLocks noChangeShapeType="1"/>
            </p:cNvSpPr>
            <p:nvPr/>
          </p:nvSpPr>
          <p:spPr bwMode="auto">
            <a:xfrm>
              <a:off x="3833" y="2803"/>
              <a:ext cx="1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>
              <a:off x="3833" y="3091"/>
              <a:ext cx="1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  <p:sp>
          <p:nvSpPr>
            <p:cNvPr id="14" name="Line 49"/>
            <p:cNvSpPr>
              <a:spLocks noChangeShapeType="1"/>
            </p:cNvSpPr>
            <p:nvPr/>
          </p:nvSpPr>
          <p:spPr bwMode="auto">
            <a:xfrm>
              <a:off x="4777" y="1653"/>
              <a:ext cx="0" cy="1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054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什么是文件与文件系统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文件的逻辑结构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外存分配方式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目录管理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文件存储空间的管理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文件的共享与保护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rgbClr val="FFC000"/>
                </a:solidFill>
              </a:rPr>
              <a:t>数据一致性检查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A14AC-3DAB-4C57-AB2B-5FBEDFEF2C8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074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UNIX</a:t>
            </a:r>
            <a:r>
              <a:rPr lang="zh-CN" altLang="en-US" dirty="0" smtClean="0"/>
              <a:t>数据一致性检查过程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两张表，每块对应一个表中的一个计数</a:t>
            </a:r>
            <a:r>
              <a:rPr lang="zh-CN" altLang="en-US" dirty="0" smtClean="0">
                <a:sym typeface="Monotype Sorts" pitchFamily="2" charset="2"/>
              </a:rPr>
              <a:t>器</a:t>
            </a:r>
            <a:endParaRPr lang="en-US" altLang="zh-CN" dirty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表一：记录每块在文件中出现的次数</a:t>
            </a:r>
            <a:endParaRPr lang="zh-CN" altLang="en-US" dirty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表二：记录每块在空闲块表中出现的次数</a:t>
            </a:r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AB7E2-F79A-4136-AE2C-6986B9938762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75</a:t>
            </a:fld>
            <a:endParaRPr lang="zh-CN" altLang="en-US" dirty="0"/>
          </a:p>
        </p:txBody>
      </p:sp>
      <p:grpSp>
        <p:nvGrpSpPr>
          <p:cNvPr id="7" name="Group 92"/>
          <p:cNvGrpSpPr>
            <a:grpSpLocks/>
          </p:cNvGrpSpPr>
          <p:nvPr/>
        </p:nvGrpSpPr>
        <p:grpSpPr bwMode="auto">
          <a:xfrm>
            <a:off x="683568" y="3356992"/>
            <a:ext cx="7777162" cy="2222500"/>
            <a:chOff x="521" y="2772"/>
            <a:chExt cx="4899" cy="1400"/>
          </a:xfrm>
        </p:grpSpPr>
        <p:sp>
          <p:nvSpPr>
            <p:cNvPr id="8" name="Text Box 53"/>
            <p:cNvSpPr txBox="1">
              <a:spLocks noChangeArrowheads="1"/>
            </p:cNvSpPr>
            <p:nvPr/>
          </p:nvSpPr>
          <p:spPr bwMode="auto">
            <a:xfrm>
              <a:off x="521" y="2795"/>
              <a:ext cx="45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ea typeface="楷体" panose="02010609060101010101" pitchFamily="49" charset="-122"/>
                </a:rPr>
                <a:t>块号</a:t>
              </a:r>
            </a:p>
          </p:txBody>
        </p:sp>
        <p:sp>
          <p:nvSpPr>
            <p:cNvPr id="9" name="Text Box 54"/>
            <p:cNvSpPr txBox="1">
              <a:spLocks noChangeArrowheads="1"/>
            </p:cNvSpPr>
            <p:nvPr/>
          </p:nvSpPr>
          <p:spPr bwMode="auto">
            <a:xfrm>
              <a:off x="1057" y="2772"/>
              <a:ext cx="350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a typeface="楷体" panose="02010609060101010101" pitchFamily="49" charset="-122"/>
                </a:rPr>
                <a:t>0   1   2   3   4   5 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6 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7 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8 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9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10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11  12  13  14  15</a:t>
              </a:r>
            </a:p>
          </p:txBody>
        </p:sp>
        <p:grpSp>
          <p:nvGrpSpPr>
            <p:cNvPr id="10" name="Group 55"/>
            <p:cNvGrpSpPr>
              <a:grpSpLocks/>
            </p:cNvGrpSpPr>
            <p:nvPr/>
          </p:nvGrpSpPr>
          <p:grpSpPr bwMode="auto">
            <a:xfrm>
              <a:off x="1020" y="3067"/>
              <a:ext cx="4400" cy="318"/>
              <a:chOff x="340" y="2190"/>
              <a:chExt cx="5289" cy="375"/>
            </a:xfrm>
          </p:grpSpPr>
          <p:sp>
            <p:nvSpPr>
              <p:cNvPr id="30" name="Rectangle 56"/>
              <p:cNvSpPr>
                <a:spLocks noChangeArrowheads="1"/>
              </p:cNvSpPr>
              <p:nvPr/>
            </p:nvSpPr>
            <p:spPr bwMode="auto">
              <a:xfrm>
                <a:off x="340" y="2196"/>
                <a:ext cx="4160" cy="36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6000" anchor="ctr"/>
              <a:lstStyle/>
              <a:p>
                <a:r>
                  <a:rPr lang="en-US" altLang="zh-CN" sz="2000" b="1" dirty="0">
                    <a:ea typeface="楷体" panose="02010609060101010101" pitchFamily="49" charset="-122"/>
                  </a:rPr>
                  <a:t>1   1   0   1   0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 1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1   1   1   0    0 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1    1 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1" name="Line 57"/>
              <p:cNvSpPr>
                <a:spLocks noChangeShapeType="1"/>
              </p:cNvSpPr>
              <p:nvPr/>
            </p:nvSpPr>
            <p:spPr bwMode="auto">
              <a:xfrm>
                <a:off x="594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2" name="Line 58"/>
              <p:cNvSpPr>
                <a:spLocks noChangeShapeType="1"/>
              </p:cNvSpPr>
              <p:nvPr/>
            </p:nvSpPr>
            <p:spPr bwMode="auto">
              <a:xfrm>
                <a:off x="838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3" name="Line 59"/>
              <p:cNvSpPr>
                <a:spLocks noChangeShapeType="1"/>
              </p:cNvSpPr>
              <p:nvPr/>
            </p:nvSpPr>
            <p:spPr bwMode="auto">
              <a:xfrm>
                <a:off x="1071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4" name="Line 60"/>
              <p:cNvSpPr>
                <a:spLocks noChangeShapeType="1"/>
              </p:cNvSpPr>
              <p:nvPr/>
            </p:nvSpPr>
            <p:spPr bwMode="auto">
              <a:xfrm>
                <a:off x="1319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5" name="Line 61"/>
              <p:cNvSpPr>
                <a:spLocks noChangeShapeType="1"/>
              </p:cNvSpPr>
              <p:nvPr/>
            </p:nvSpPr>
            <p:spPr bwMode="auto">
              <a:xfrm>
                <a:off x="1553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Line 62"/>
              <p:cNvSpPr>
                <a:spLocks noChangeShapeType="1"/>
              </p:cNvSpPr>
              <p:nvPr/>
            </p:nvSpPr>
            <p:spPr bwMode="auto">
              <a:xfrm>
                <a:off x="1797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7" name="Line 63"/>
              <p:cNvSpPr>
                <a:spLocks noChangeShapeType="1"/>
              </p:cNvSpPr>
              <p:nvPr/>
            </p:nvSpPr>
            <p:spPr bwMode="auto">
              <a:xfrm>
                <a:off x="2030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8" name="Line 64"/>
              <p:cNvSpPr>
                <a:spLocks noChangeShapeType="1"/>
              </p:cNvSpPr>
              <p:nvPr/>
            </p:nvSpPr>
            <p:spPr bwMode="auto">
              <a:xfrm>
                <a:off x="227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9" name="Line 65"/>
              <p:cNvSpPr>
                <a:spLocks noChangeShapeType="1"/>
              </p:cNvSpPr>
              <p:nvPr/>
            </p:nvSpPr>
            <p:spPr bwMode="auto">
              <a:xfrm>
                <a:off x="2505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Line 66"/>
              <p:cNvSpPr>
                <a:spLocks noChangeShapeType="1"/>
              </p:cNvSpPr>
              <p:nvPr/>
            </p:nvSpPr>
            <p:spPr bwMode="auto">
              <a:xfrm>
                <a:off x="2785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1" name="Line 67"/>
              <p:cNvSpPr>
                <a:spLocks noChangeShapeType="1"/>
              </p:cNvSpPr>
              <p:nvPr/>
            </p:nvSpPr>
            <p:spPr bwMode="auto">
              <a:xfrm>
                <a:off x="3076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2" name="Line 68"/>
              <p:cNvSpPr>
                <a:spLocks noChangeShapeType="1"/>
              </p:cNvSpPr>
              <p:nvPr/>
            </p:nvSpPr>
            <p:spPr bwMode="auto">
              <a:xfrm>
                <a:off x="3357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3" name="Line 69"/>
              <p:cNvSpPr>
                <a:spLocks noChangeShapeType="1"/>
              </p:cNvSpPr>
              <p:nvPr/>
            </p:nvSpPr>
            <p:spPr bwMode="auto">
              <a:xfrm>
                <a:off x="364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4" name="Line 70"/>
              <p:cNvSpPr>
                <a:spLocks noChangeShapeType="1"/>
              </p:cNvSpPr>
              <p:nvPr/>
            </p:nvSpPr>
            <p:spPr bwMode="auto">
              <a:xfrm>
                <a:off x="392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5" name="Line 71"/>
              <p:cNvSpPr>
                <a:spLocks noChangeShapeType="1"/>
              </p:cNvSpPr>
              <p:nvPr/>
            </p:nvSpPr>
            <p:spPr bwMode="auto">
              <a:xfrm>
                <a:off x="4213" y="2202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6" name="Text Box 72"/>
              <p:cNvSpPr txBox="1">
                <a:spLocks noChangeArrowheads="1"/>
              </p:cNvSpPr>
              <p:nvPr/>
            </p:nvSpPr>
            <p:spPr bwMode="auto">
              <a:xfrm>
                <a:off x="4541" y="2227"/>
                <a:ext cx="1088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rIns="1800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ea typeface="楷体" panose="02010609060101010101" pitchFamily="49" charset="-122"/>
                  </a:rPr>
                  <a:t>使用中的块</a:t>
                </a:r>
              </a:p>
            </p:txBody>
          </p:sp>
        </p:grpSp>
        <p:grpSp>
          <p:nvGrpSpPr>
            <p:cNvPr id="11" name="Group 73"/>
            <p:cNvGrpSpPr>
              <a:grpSpLocks/>
            </p:cNvGrpSpPr>
            <p:nvPr/>
          </p:nvGrpSpPr>
          <p:grpSpPr bwMode="auto">
            <a:xfrm>
              <a:off x="1030" y="3490"/>
              <a:ext cx="4103" cy="319"/>
              <a:chOff x="352" y="2828"/>
              <a:chExt cx="4932" cy="375"/>
            </a:xfrm>
          </p:grpSpPr>
          <p:sp>
            <p:nvSpPr>
              <p:cNvPr id="13" name="Rectangle 74"/>
              <p:cNvSpPr>
                <a:spLocks noChangeArrowheads="1"/>
              </p:cNvSpPr>
              <p:nvPr/>
            </p:nvSpPr>
            <p:spPr bwMode="auto">
              <a:xfrm>
                <a:off x="352" y="2834"/>
                <a:ext cx="4160" cy="363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6000" anchor="ctr"/>
              <a:lstStyle/>
              <a:p>
                <a:r>
                  <a:rPr lang="en-US" altLang="zh-CN" sz="2000" b="1" dirty="0">
                    <a:ea typeface="楷体" panose="02010609060101010101" pitchFamily="49" charset="-122"/>
                  </a:rPr>
                  <a:t>0   0   1   0   1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1    0    0    0 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4" name="Line 75"/>
              <p:cNvSpPr>
                <a:spLocks noChangeShapeType="1"/>
              </p:cNvSpPr>
              <p:nvPr/>
            </p:nvSpPr>
            <p:spPr bwMode="auto">
              <a:xfrm>
                <a:off x="606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Line 76"/>
              <p:cNvSpPr>
                <a:spLocks noChangeShapeType="1"/>
              </p:cNvSpPr>
              <p:nvPr/>
            </p:nvSpPr>
            <p:spPr bwMode="auto">
              <a:xfrm>
                <a:off x="850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Line 77"/>
              <p:cNvSpPr>
                <a:spLocks noChangeShapeType="1"/>
              </p:cNvSpPr>
              <p:nvPr/>
            </p:nvSpPr>
            <p:spPr bwMode="auto">
              <a:xfrm>
                <a:off x="1083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Line 78"/>
              <p:cNvSpPr>
                <a:spLocks noChangeShapeType="1"/>
              </p:cNvSpPr>
              <p:nvPr/>
            </p:nvSpPr>
            <p:spPr bwMode="auto">
              <a:xfrm>
                <a:off x="1331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Line 79"/>
              <p:cNvSpPr>
                <a:spLocks noChangeShapeType="1"/>
              </p:cNvSpPr>
              <p:nvPr/>
            </p:nvSpPr>
            <p:spPr bwMode="auto">
              <a:xfrm>
                <a:off x="1565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Line 80"/>
              <p:cNvSpPr>
                <a:spLocks noChangeShapeType="1"/>
              </p:cNvSpPr>
              <p:nvPr/>
            </p:nvSpPr>
            <p:spPr bwMode="auto">
              <a:xfrm>
                <a:off x="1809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0" name="Line 81"/>
              <p:cNvSpPr>
                <a:spLocks noChangeShapeType="1"/>
              </p:cNvSpPr>
              <p:nvPr/>
            </p:nvSpPr>
            <p:spPr bwMode="auto">
              <a:xfrm>
                <a:off x="2042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1" name="Line 82"/>
              <p:cNvSpPr>
                <a:spLocks noChangeShapeType="1"/>
              </p:cNvSpPr>
              <p:nvPr/>
            </p:nvSpPr>
            <p:spPr bwMode="auto">
              <a:xfrm>
                <a:off x="228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2" name="Line 83"/>
              <p:cNvSpPr>
                <a:spLocks noChangeShapeType="1"/>
              </p:cNvSpPr>
              <p:nvPr/>
            </p:nvSpPr>
            <p:spPr bwMode="auto">
              <a:xfrm>
                <a:off x="2517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3" name="Line 84"/>
              <p:cNvSpPr>
                <a:spLocks noChangeShapeType="1"/>
              </p:cNvSpPr>
              <p:nvPr/>
            </p:nvSpPr>
            <p:spPr bwMode="auto">
              <a:xfrm>
                <a:off x="2797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Line 85"/>
              <p:cNvSpPr>
                <a:spLocks noChangeShapeType="1"/>
              </p:cNvSpPr>
              <p:nvPr/>
            </p:nvSpPr>
            <p:spPr bwMode="auto">
              <a:xfrm>
                <a:off x="3088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Line 86"/>
              <p:cNvSpPr>
                <a:spLocks noChangeShapeType="1"/>
              </p:cNvSpPr>
              <p:nvPr/>
            </p:nvSpPr>
            <p:spPr bwMode="auto">
              <a:xfrm>
                <a:off x="3369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Line 87"/>
              <p:cNvSpPr>
                <a:spLocks noChangeShapeType="1"/>
              </p:cNvSpPr>
              <p:nvPr/>
            </p:nvSpPr>
            <p:spPr bwMode="auto">
              <a:xfrm>
                <a:off x="365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7" name="Line 88"/>
              <p:cNvSpPr>
                <a:spLocks noChangeShapeType="1"/>
              </p:cNvSpPr>
              <p:nvPr/>
            </p:nvSpPr>
            <p:spPr bwMode="auto">
              <a:xfrm>
                <a:off x="393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8" name="Line 89"/>
              <p:cNvSpPr>
                <a:spLocks noChangeShapeType="1"/>
              </p:cNvSpPr>
              <p:nvPr/>
            </p:nvSpPr>
            <p:spPr bwMode="auto">
              <a:xfrm>
                <a:off x="4225" y="284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9" name="Text Box 90"/>
              <p:cNvSpPr txBox="1">
                <a:spLocks noChangeArrowheads="1"/>
              </p:cNvSpPr>
              <p:nvPr/>
            </p:nvSpPr>
            <p:spPr bwMode="auto">
              <a:xfrm>
                <a:off x="4553" y="2864"/>
                <a:ext cx="731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ea typeface="楷体" panose="02010609060101010101" pitchFamily="49" charset="-122"/>
                  </a:rPr>
                  <a:t>空闲块</a:t>
                </a:r>
              </a:p>
            </p:txBody>
          </p:sp>
        </p:grpSp>
        <p:sp>
          <p:nvSpPr>
            <p:cNvPr id="12" name="Text Box 91"/>
            <p:cNvSpPr txBox="1">
              <a:spLocks noChangeArrowheads="1"/>
            </p:cNvSpPr>
            <p:nvPr/>
          </p:nvSpPr>
          <p:spPr bwMode="auto">
            <a:xfrm>
              <a:off x="1771" y="3884"/>
              <a:ext cx="19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ea typeface="楷体" panose="02010609060101010101" pitchFamily="49" charset="-122"/>
                </a:rPr>
                <a:t>文件系统状态：一致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566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UNIX</a:t>
            </a:r>
            <a:r>
              <a:rPr lang="zh-CN" altLang="en-US" dirty="0" smtClean="0"/>
              <a:t>数据一致性检查过程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两张表，每块对应一个表中的一个计数</a:t>
            </a:r>
            <a:r>
              <a:rPr lang="zh-CN" altLang="en-US" dirty="0" smtClean="0">
                <a:sym typeface="Monotype Sorts" pitchFamily="2" charset="2"/>
              </a:rPr>
              <a:t>器</a:t>
            </a:r>
            <a:endParaRPr lang="en-US" altLang="zh-CN" dirty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表一：记录每块在文件中出现的次数</a:t>
            </a:r>
            <a:endParaRPr lang="zh-CN" altLang="en-US" dirty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表二：记录每块在空闲块表中出现的次数</a:t>
            </a:r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6D9E-8537-4FBF-8401-28B5A1A90056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76</a:t>
            </a:fld>
            <a:endParaRPr lang="zh-CN" altLang="en-US" dirty="0"/>
          </a:p>
        </p:txBody>
      </p: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827088" y="3429000"/>
            <a:ext cx="7777162" cy="2222500"/>
            <a:chOff x="521" y="2772"/>
            <a:chExt cx="4899" cy="1400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521" y="2795"/>
              <a:ext cx="45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ea typeface="楷体" panose="02010609060101010101" pitchFamily="49" charset="-122"/>
                </a:rPr>
                <a:t>块号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057" y="2772"/>
              <a:ext cx="350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a typeface="楷体" panose="02010609060101010101" pitchFamily="49" charset="-122"/>
                </a:rPr>
                <a:t>0   1   2   3   4   5   6 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7 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8   9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 10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11  12  13  14  15</a:t>
              </a:r>
            </a:p>
          </p:txBody>
        </p:sp>
        <p:grpSp>
          <p:nvGrpSpPr>
            <p:cNvPr id="10" name="Group 7"/>
            <p:cNvGrpSpPr>
              <a:grpSpLocks/>
            </p:cNvGrpSpPr>
            <p:nvPr/>
          </p:nvGrpSpPr>
          <p:grpSpPr bwMode="auto">
            <a:xfrm>
              <a:off x="1020" y="3067"/>
              <a:ext cx="4400" cy="318"/>
              <a:chOff x="340" y="2190"/>
              <a:chExt cx="5289" cy="375"/>
            </a:xfrm>
          </p:grpSpPr>
          <p:sp>
            <p:nvSpPr>
              <p:cNvPr id="30" name="Rectangle 8"/>
              <p:cNvSpPr>
                <a:spLocks noChangeArrowheads="1"/>
              </p:cNvSpPr>
              <p:nvPr/>
            </p:nvSpPr>
            <p:spPr bwMode="auto">
              <a:xfrm>
                <a:off x="340" y="2196"/>
                <a:ext cx="4160" cy="36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6000" anchor="ctr"/>
              <a:lstStyle/>
              <a:p>
                <a:r>
                  <a:rPr lang="en-US" altLang="zh-CN" sz="2000" b="1" dirty="0">
                    <a:ea typeface="楷体" panose="02010609060101010101" pitchFamily="49" charset="-122"/>
                  </a:rPr>
                  <a:t>1   1   0   1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1   1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0    1    1    1 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1" name="Line 9"/>
              <p:cNvSpPr>
                <a:spLocks noChangeShapeType="1"/>
              </p:cNvSpPr>
              <p:nvPr/>
            </p:nvSpPr>
            <p:spPr bwMode="auto">
              <a:xfrm>
                <a:off x="594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2" name="Line 10"/>
              <p:cNvSpPr>
                <a:spLocks noChangeShapeType="1"/>
              </p:cNvSpPr>
              <p:nvPr/>
            </p:nvSpPr>
            <p:spPr bwMode="auto">
              <a:xfrm>
                <a:off x="838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3" name="Line 11"/>
              <p:cNvSpPr>
                <a:spLocks noChangeShapeType="1"/>
              </p:cNvSpPr>
              <p:nvPr/>
            </p:nvSpPr>
            <p:spPr bwMode="auto">
              <a:xfrm>
                <a:off x="1071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4" name="Line 12"/>
              <p:cNvSpPr>
                <a:spLocks noChangeShapeType="1"/>
              </p:cNvSpPr>
              <p:nvPr/>
            </p:nvSpPr>
            <p:spPr bwMode="auto">
              <a:xfrm>
                <a:off x="1319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5" name="Line 13"/>
              <p:cNvSpPr>
                <a:spLocks noChangeShapeType="1"/>
              </p:cNvSpPr>
              <p:nvPr/>
            </p:nvSpPr>
            <p:spPr bwMode="auto">
              <a:xfrm>
                <a:off x="1553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Line 14"/>
              <p:cNvSpPr>
                <a:spLocks noChangeShapeType="1"/>
              </p:cNvSpPr>
              <p:nvPr/>
            </p:nvSpPr>
            <p:spPr bwMode="auto">
              <a:xfrm>
                <a:off x="1797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7" name="Line 15"/>
              <p:cNvSpPr>
                <a:spLocks noChangeShapeType="1"/>
              </p:cNvSpPr>
              <p:nvPr/>
            </p:nvSpPr>
            <p:spPr bwMode="auto">
              <a:xfrm>
                <a:off x="2030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8" name="Line 16"/>
              <p:cNvSpPr>
                <a:spLocks noChangeShapeType="1"/>
              </p:cNvSpPr>
              <p:nvPr/>
            </p:nvSpPr>
            <p:spPr bwMode="auto">
              <a:xfrm>
                <a:off x="227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9" name="Line 17"/>
              <p:cNvSpPr>
                <a:spLocks noChangeShapeType="1"/>
              </p:cNvSpPr>
              <p:nvPr/>
            </p:nvSpPr>
            <p:spPr bwMode="auto">
              <a:xfrm>
                <a:off x="2505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Line 18"/>
              <p:cNvSpPr>
                <a:spLocks noChangeShapeType="1"/>
              </p:cNvSpPr>
              <p:nvPr/>
            </p:nvSpPr>
            <p:spPr bwMode="auto">
              <a:xfrm>
                <a:off x="2785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1" name="Line 19"/>
              <p:cNvSpPr>
                <a:spLocks noChangeShapeType="1"/>
              </p:cNvSpPr>
              <p:nvPr/>
            </p:nvSpPr>
            <p:spPr bwMode="auto">
              <a:xfrm>
                <a:off x="3076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2" name="Line 20"/>
              <p:cNvSpPr>
                <a:spLocks noChangeShapeType="1"/>
              </p:cNvSpPr>
              <p:nvPr/>
            </p:nvSpPr>
            <p:spPr bwMode="auto">
              <a:xfrm>
                <a:off x="3357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3" name="Line 21"/>
              <p:cNvSpPr>
                <a:spLocks noChangeShapeType="1"/>
              </p:cNvSpPr>
              <p:nvPr/>
            </p:nvSpPr>
            <p:spPr bwMode="auto">
              <a:xfrm>
                <a:off x="364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4" name="Line 22"/>
              <p:cNvSpPr>
                <a:spLocks noChangeShapeType="1"/>
              </p:cNvSpPr>
              <p:nvPr/>
            </p:nvSpPr>
            <p:spPr bwMode="auto">
              <a:xfrm>
                <a:off x="392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5" name="Line 23"/>
              <p:cNvSpPr>
                <a:spLocks noChangeShapeType="1"/>
              </p:cNvSpPr>
              <p:nvPr/>
            </p:nvSpPr>
            <p:spPr bwMode="auto">
              <a:xfrm>
                <a:off x="4213" y="2202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6" name="Text Box 24"/>
              <p:cNvSpPr txBox="1">
                <a:spLocks noChangeArrowheads="1"/>
              </p:cNvSpPr>
              <p:nvPr/>
            </p:nvSpPr>
            <p:spPr bwMode="auto">
              <a:xfrm>
                <a:off x="4541" y="2227"/>
                <a:ext cx="1088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rIns="1800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ea typeface="楷体" panose="02010609060101010101" pitchFamily="49" charset="-122"/>
                  </a:rPr>
                  <a:t>使用中的块</a:t>
                </a:r>
              </a:p>
            </p:txBody>
          </p:sp>
        </p:grpSp>
        <p:grpSp>
          <p:nvGrpSpPr>
            <p:cNvPr id="11" name="Group 25"/>
            <p:cNvGrpSpPr>
              <a:grpSpLocks/>
            </p:cNvGrpSpPr>
            <p:nvPr/>
          </p:nvGrpSpPr>
          <p:grpSpPr bwMode="auto">
            <a:xfrm>
              <a:off x="1030" y="3490"/>
              <a:ext cx="4103" cy="319"/>
              <a:chOff x="352" y="2828"/>
              <a:chExt cx="4932" cy="375"/>
            </a:xfrm>
          </p:grpSpPr>
          <p:sp>
            <p:nvSpPr>
              <p:cNvPr id="13" name="Rectangle 26"/>
              <p:cNvSpPr>
                <a:spLocks noChangeArrowheads="1"/>
              </p:cNvSpPr>
              <p:nvPr/>
            </p:nvSpPr>
            <p:spPr bwMode="auto">
              <a:xfrm>
                <a:off x="352" y="2834"/>
                <a:ext cx="4160" cy="363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6000" anchor="ctr"/>
              <a:lstStyle/>
              <a:p>
                <a:r>
                  <a:rPr lang="en-US" altLang="zh-CN" sz="2000" b="1" dirty="0">
                    <a:ea typeface="楷体" panose="02010609060101010101" pitchFamily="49" charset="-122"/>
                  </a:rPr>
                  <a:t>0   0   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0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1    0    0    0 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4" name="Line 27"/>
              <p:cNvSpPr>
                <a:spLocks noChangeShapeType="1"/>
              </p:cNvSpPr>
              <p:nvPr/>
            </p:nvSpPr>
            <p:spPr bwMode="auto">
              <a:xfrm>
                <a:off x="606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Line 28"/>
              <p:cNvSpPr>
                <a:spLocks noChangeShapeType="1"/>
              </p:cNvSpPr>
              <p:nvPr/>
            </p:nvSpPr>
            <p:spPr bwMode="auto">
              <a:xfrm>
                <a:off x="850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Line 29"/>
              <p:cNvSpPr>
                <a:spLocks noChangeShapeType="1"/>
              </p:cNvSpPr>
              <p:nvPr/>
            </p:nvSpPr>
            <p:spPr bwMode="auto">
              <a:xfrm>
                <a:off x="1083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Line 30"/>
              <p:cNvSpPr>
                <a:spLocks noChangeShapeType="1"/>
              </p:cNvSpPr>
              <p:nvPr/>
            </p:nvSpPr>
            <p:spPr bwMode="auto">
              <a:xfrm>
                <a:off x="1331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Line 31"/>
              <p:cNvSpPr>
                <a:spLocks noChangeShapeType="1"/>
              </p:cNvSpPr>
              <p:nvPr/>
            </p:nvSpPr>
            <p:spPr bwMode="auto">
              <a:xfrm>
                <a:off x="1565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Line 32"/>
              <p:cNvSpPr>
                <a:spLocks noChangeShapeType="1"/>
              </p:cNvSpPr>
              <p:nvPr/>
            </p:nvSpPr>
            <p:spPr bwMode="auto">
              <a:xfrm>
                <a:off x="1809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0" name="Line 33"/>
              <p:cNvSpPr>
                <a:spLocks noChangeShapeType="1"/>
              </p:cNvSpPr>
              <p:nvPr/>
            </p:nvSpPr>
            <p:spPr bwMode="auto">
              <a:xfrm>
                <a:off x="2042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1" name="Line 34"/>
              <p:cNvSpPr>
                <a:spLocks noChangeShapeType="1"/>
              </p:cNvSpPr>
              <p:nvPr/>
            </p:nvSpPr>
            <p:spPr bwMode="auto">
              <a:xfrm>
                <a:off x="228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2" name="Line 35"/>
              <p:cNvSpPr>
                <a:spLocks noChangeShapeType="1"/>
              </p:cNvSpPr>
              <p:nvPr/>
            </p:nvSpPr>
            <p:spPr bwMode="auto">
              <a:xfrm>
                <a:off x="2517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3" name="Line 36"/>
              <p:cNvSpPr>
                <a:spLocks noChangeShapeType="1"/>
              </p:cNvSpPr>
              <p:nvPr/>
            </p:nvSpPr>
            <p:spPr bwMode="auto">
              <a:xfrm>
                <a:off x="2797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Line 37"/>
              <p:cNvSpPr>
                <a:spLocks noChangeShapeType="1"/>
              </p:cNvSpPr>
              <p:nvPr/>
            </p:nvSpPr>
            <p:spPr bwMode="auto">
              <a:xfrm>
                <a:off x="3088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Line 38"/>
              <p:cNvSpPr>
                <a:spLocks noChangeShapeType="1"/>
              </p:cNvSpPr>
              <p:nvPr/>
            </p:nvSpPr>
            <p:spPr bwMode="auto">
              <a:xfrm>
                <a:off x="3369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Line 39"/>
              <p:cNvSpPr>
                <a:spLocks noChangeShapeType="1"/>
              </p:cNvSpPr>
              <p:nvPr/>
            </p:nvSpPr>
            <p:spPr bwMode="auto">
              <a:xfrm>
                <a:off x="365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7" name="Line 40"/>
              <p:cNvSpPr>
                <a:spLocks noChangeShapeType="1"/>
              </p:cNvSpPr>
              <p:nvPr/>
            </p:nvSpPr>
            <p:spPr bwMode="auto">
              <a:xfrm>
                <a:off x="393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8" name="Line 41"/>
              <p:cNvSpPr>
                <a:spLocks noChangeShapeType="1"/>
              </p:cNvSpPr>
              <p:nvPr/>
            </p:nvSpPr>
            <p:spPr bwMode="auto">
              <a:xfrm>
                <a:off x="4225" y="284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9" name="Text Box 42"/>
              <p:cNvSpPr txBox="1">
                <a:spLocks noChangeArrowheads="1"/>
              </p:cNvSpPr>
              <p:nvPr/>
            </p:nvSpPr>
            <p:spPr bwMode="auto">
              <a:xfrm>
                <a:off x="4553" y="2864"/>
                <a:ext cx="731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ea typeface="楷体" panose="02010609060101010101" pitchFamily="49" charset="-122"/>
                  </a:rPr>
                  <a:t>空闲块</a:t>
                </a:r>
              </a:p>
            </p:txBody>
          </p:sp>
        </p:grpSp>
        <p:sp>
          <p:nvSpPr>
            <p:cNvPr id="12" name="Text Box 43"/>
            <p:cNvSpPr txBox="1">
              <a:spLocks noChangeArrowheads="1"/>
            </p:cNvSpPr>
            <p:nvPr/>
          </p:nvSpPr>
          <p:spPr bwMode="auto">
            <a:xfrm>
              <a:off x="1771" y="3884"/>
              <a:ext cx="237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ea typeface="楷体" panose="02010609060101010101" pitchFamily="49" charset="-122"/>
                </a:rPr>
                <a:t>文件系统状态：块丢失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922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UNIX</a:t>
            </a:r>
            <a:r>
              <a:rPr lang="zh-CN" altLang="en-US" dirty="0" smtClean="0"/>
              <a:t>数据一致性检查过程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两张表，每块对应一个表中的一个计数</a:t>
            </a:r>
            <a:r>
              <a:rPr lang="zh-CN" altLang="en-US" dirty="0" smtClean="0">
                <a:sym typeface="Monotype Sorts" pitchFamily="2" charset="2"/>
              </a:rPr>
              <a:t>器</a:t>
            </a:r>
            <a:endParaRPr lang="en-US" altLang="zh-CN" dirty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表一：记录每块在文件中出现的次数</a:t>
            </a:r>
            <a:endParaRPr lang="zh-CN" altLang="en-US" dirty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表二：记录每块在空闲块表中出现的次数</a:t>
            </a:r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FDF8-81B5-4A00-B02B-E6E76D7395CE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77</a:t>
            </a:fld>
            <a:endParaRPr lang="zh-CN" altLang="en-US" dirty="0"/>
          </a:p>
        </p:txBody>
      </p: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683270" y="3429000"/>
            <a:ext cx="7777162" cy="2222500"/>
            <a:chOff x="521" y="2772"/>
            <a:chExt cx="4899" cy="1400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521" y="2795"/>
              <a:ext cx="45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ea typeface="楷体" panose="02010609060101010101" pitchFamily="49" charset="-122"/>
                </a:rPr>
                <a:t>块号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057" y="2772"/>
              <a:ext cx="350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a typeface="楷体" panose="02010609060101010101" pitchFamily="49" charset="-122"/>
                </a:rPr>
                <a:t>0   1   2   3   4 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5 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6 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7 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8   9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10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11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12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13  14  15</a:t>
              </a:r>
            </a:p>
          </p:txBody>
        </p:sp>
        <p:grpSp>
          <p:nvGrpSpPr>
            <p:cNvPr id="10" name="Group 7"/>
            <p:cNvGrpSpPr>
              <a:grpSpLocks/>
            </p:cNvGrpSpPr>
            <p:nvPr/>
          </p:nvGrpSpPr>
          <p:grpSpPr bwMode="auto">
            <a:xfrm>
              <a:off x="1020" y="3067"/>
              <a:ext cx="4400" cy="318"/>
              <a:chOff x="340" y="2190"/>
              <a:chExt cx="5289" cy="375"/>
            </a:xfrm>
          </p:grpSpPr>
          <p:sp>
            <p:nvSpPr>
              <p:cNvPr id="30" name="Rectangle 8"/>
              <p:cNvSpPr>
                <a:spLocks noChangeArrowheads="1"/>
              </p:cNvSpPr>
              <p:nvPr/>
            </p:nvSpPr>
            <p:spPr bwMode="auto">
              <a:xfrm>
                <a:off x="340" y="2196"/>
                <a:ext cx="4160" cy="36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6000" anchor="ctr"/>
              <a:lstStyle/>
              <a:p>
                <a:r>
                  <a:rPr lang="en-US" altLang="zh-CN" sz="2000" b="1" dirty="0">
                    <a:ea typeface="楷体" panose="02010609060101010101" pitchFamily="49" charset="-122"/>
                  </a:rPr>
                  <a:t>1   1   0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0   1   1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0    1    1 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0    0</a:t>
                </a:r>
              </a:p>
            </p:txBody>
          </p:sp>
          <p:sp>
            <p:nvSpPr>
              <p:cNvPr id="31" name="Line 9"/>
              <p:cNvSpPr>
                <a:spLocks noChangeShapeType="1"/>
              </p:cNvSpPr>
              <p:nvPr/>
            </p:nvSpPr>
            <p:spPr bwMode="auto">
              <a:xfrm>
                <a:off x="594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2" name="Line 10"/>
              <p:cNvSpPr>
                <a:spLocks noChangeShapeType="1"/>
              </p:cNvSpPr>
              <p:nvPr/>
            </p:nvSpPr>
            <p:spPr bwMode="auto">
              <a:xfrm>
                <a:off x="838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3" name="Line 11"/>
              <p:cNvSpPr>
                <a:spLocks noChangeShapeType="1"/>
              </p:cNvSpPr>
              <p:nvPr/>
            </p:nvSpPr>
            <p:spPr bwMode="auto">
              <a:xfrm>
                <a:off x="1071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4" name="Line 12"/>
              <p:cNvSpPr>
                <a:spLocks noChangeShapeType="1"/>
              </p:cNvSpPr>
              <p:nvPr/>
            </p:nvSpPr>
            <p:spPr bwMode="auto">
              <a:xfrm>
                <a:off x="1319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5" name="Line 13"/>
              <p:cNvSpPr>
                <a:spLocks noChangeShapeType="1"/>
              </p:cNvSpPr>
              <p:nvPr/>
            </p:nvSpPr>
            <p:spPr bwMode="auto">
              <a:xfrm>
                <a:off x="1553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Line 14"/>
              <p:cNvSpPr>
                <a:spLocks noChangeShapeType="1"/>
              </p:cNvSpPr>
              <p:nvPr/>
            </p:nvSpPr>
            <p:spPr bwMode="auto">
              <a:xfrm>
                <a:off x="1797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7" name="Line 15"/>
              <p:cNvSpPr>
                <a:spLocks noChangeShapeType="1"/>
              </p:cNvSpPr>
              <p:nvPr/>
            </p:nvSpPr>
            <p:spPr bwMode="auto">
              <a:xfrm>
                <a:off x="2030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8" name="Line 16"/>
              <p:cNvSpPr>
                <a:spLocks noChangeShapeType="1"/>
              </p:cNvSpPr>
              <p:nvPr/>
            </p:nvSpPr>
            <p:spPr bwMode="auto">
              <a:xfrm>
                <a:off x="227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9" name="Line 17"/>
              <p:cNvSpPr>
                <a:spLocks noChangeShapeType="1"/>
              </p:cNvSpPr>
              <p:nvPr/>
            </p:nvSpPr>
            <p:spPr bwMode="auto">
              <a:xfrm>
                <a:off x="2505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Line 18"/>
              <p:cNvSpPr>
                <a:spLocks noChangeShapeType="1"/>
              </p:cNvSpPr>
              <p:nvPr/>
            </p:nvSpPr>
            <p:spPr bwMode="auto">
              <a:xfrm>
                <a:off x="2785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1" name="Line 19"/>
              <p:cNvSpPr>
                <a:spLocks noChangeShapeType="1"/>
              </p:cNvSpPr>
              <p:nvPr/>
            </p:nvSpPr>
            <p:spPr bwMode="auto">
              <a:xfrm>
                <a:off x="3076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2" name="Line 20"/>
              <p:cNvSpPr>
                <a:spLocks noChangeShapeType="1"/>
              </p:cNvSpPr>
              <p:nvPr/>
            </p:nvSpPr>
            <p:spPr bwMode="auto">
              <a:xfrm>
                <a:off x="3357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3" name="Line 21"/>
              <p:cNvSpPr>
                <a:spLocks noChangeShapeType="1"/>
              </p:cNvSpPr>
              <p:nvPr/>
            </p:nvSpPr>
            <p:spPr bwMode="auto">
              <a:xfrm>
                <a:off x="364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4" name="Line 22"/>
              <p:cNvSpPr>
                <a:spLocks noChangeShapeType="1"/>
              </p:cNvSpPr>
              <p:nvPr/>
            </p:nvSpPr>
            <p:spPr bwMode="auto">
              <a:xfrm>
                <a:off x="392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5" name="Line 23"/>
              <p:cNvSpPr>
                <a:spLocks noChangeShapeType="1"/>
              </p:cNvSpPr>
              <p:nvPr/>
            </p:nvSpPr>
            <p:spPr bwMode="auto">
              <a:xfrm>
                <a:off x="4213" y="2202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6" name="Text Box 24"/>
              <p:cNvSpPr txBox="1">
                <a:spLocks noChangeArrowheads="1"/>
              </p:cNvSpPr>
              <p:nvPr/>
            </p:nvSpPr>
            <p:spPr bwMode="auto">
              <a:xfrm>
                <a:off x="4541" y="2227"/>
                <a:ext cx="1088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rIns="1800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ea typeface="楷体" panose="02010609060101010101" pitchFamily="49" charset="-122"/>
                  </a:rPr>
                  <a:t>使用中的块</a:t>
                </a:r>
              </a:p>
            </p:txBody>
          </p:sp>
        </p:grpSp>
        <p:grpSp>
          <p:nvGrpSpPr>
            <p:cNvPr id="11" name="Group 25"/>
            <p:cNvGrpSpPr>
              <a:grpSpLocks/>
            </p:cNvGrpSpPr>
            <p:nvPr/>
          </p:nvGrpSpPr>
          <p:grpSpPr bwMode="auto">
            <a:xfrm>
              <a:off x="1030" y="3490"/>
              <a:ext cx="4103" cy="319"/>
              <a:chOff x="352" y="2828"/>
              <a:chExt cx="4932" cy="375"/>
            </a:xfrm>
          </p:grpSpPr>
          <p:sp>
            <p:nvSpPr>
              <p:cNvPr id="13" name="Rectangle 26"/>
              <p:cNvSpPr>
                <a:spLocks noChangeArrowheads="1"/>
              </p:cNvSpPr>
              <p:nvPr/>
            </p:nvSpPr>
            <p:spPr bwMode="auto">
              <a:xfrm>
                <a:off x="352" y="2834"/>
                <a:ext cx="4160" cy="363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6000" anchor="ctr"/>
              <a:lstStyle/>
              <a:p>
                <a:r>
                  <a:rPr lang="en-US" altLang="zh-CN" sz="2000" b="1" dirty="0">
                    <a:ea typeface="楷体" panose="02010609060101010101" pitchFamily="49" charset="-122"/>
                  </a:rPr>
                  <a:t>0   0   1   0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</a:t>
                </a:r>
                <a:r>
                  <a:rPr lang="en-US" altLang="zh-CN" sz="2000" b="1" dirty="0" smtClean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2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1    0    0    0 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4" name="Line 27"/>
              <p:cNvSpPr>
                <a:spLocks noChangeShapeType="1"/>
              </p:cNvSpPr>
              <p:nvPr/>
            </p:nvSpPr>
            <p:spPr bwMode="auto">
              <a:xfrm>
                <a:off x="606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Line 28"/>
              <p:cNvSpPr>
                <a:spLocks noChangeShapeType="1"/>
              </p:cNvSpPr>
              <p:nvPr/>
            </p:nvSpPr>
            <p:spPr bwMode="auto">
              <a:xfrm>
                <a:off x="850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Line 29"/>
              <p:cNvSpPr>
                <a:spLocks noChangeShapeType="1"/>
              </p:cNvSpPr>
              <p:nvPr/>
            </p:nvSpPr>
            <p:spPr bwMode="auto">
              <a:xfrm>
                <a:off x="1083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Line 30"/>
              <p:cNvSpPr>
                <a:spLocks noChangeShapeType="1"/>
              </p:cNvSpPr>
              <p:nvPr/>
            </p:nvSpPr>
            <p:spPr bwMode="auto">
              <a:xfrm>
                <a:off x="1331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Line 31"/>
              <p:cNvSpPr>
                <a:spLocks noChangeShapeType="1"/>
              </p:cNvSpPr>
              <p:nvPr/>
            </p:nvSpPr>
            <p:spPr bwMode="auto">
              <a:xfrm>
                <a:off x="1565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Line 32"/>
              <p:cNvSpPr>
                <a:spLocks noChangeShapeType="1"/>
              </p:cNvSpPr>
              <p:nvPr/>
            </p:nvSpPr>
            <p:spPr bwMode="auto">
              <a:xfrm>
                <a:off x="1809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0" name="Line 33"/>
              <p:cNvSpPr>
                <a:spLocks noChangeShapeType="1"/>
              </p:cNvSpPr>
              <p:nvPr/>
            </p:nvSpPr>
            <p:spPr bwMode="auto">
              <a:xfrm>
                <a:off x="2042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1" name="Line 34"/>
              <p:cNvSpPr>
                <a:spLocks noChangeShapeType="1"/>
              </p:cNvSpPr>
              <p:nvPr/>
            </p:nvSpPr>
            <p:spPr bwMode="auto">
              <a:xfrm>
                <a:off x="228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2" name="Line 35"/>
              <p:cNvSpPr>
                <a:spLocks noChangeShapeType="1"/>
              </p:cNvSpPr>
              <p:nvPr/>
            </p:nvSpPr>
            <p:spPr bwMode="auto">
              <a:xfrm>
                <a:off x="2517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3" name="Line 36"/>
              <p:cNvSpPr>
                <a:spLocks noChangeShapeType="1"/>
              </p:cNvSpPr>
              <p:nvPr/>
            </p:nvSpPr>
            <p:spPr bwMode="auto">
              <a:xfrm>
                <a:off x="2797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Line 37"/>
              <p:cNvSpPr>
                <a:spLocks noChangeShapeType="1"/>
              </p:cNvSpPr>
              <p:nvPr/>
            </p:nvSpPr>
            <p:spPr bwMode="auto">
              <a:xfrm>
                <a:off x="3088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Line 38"/>
              <p:cNvSpPr>
                <a:spLocks noChangeShapeType="1"/>
              </p:cNvSpPr>
              <p:nvPr/>
            </p:nvSpPr>
            <p:spPr bwMode="auto">
              <a:xfrm>
                <a:off x="3369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Line 39"/>
              <p:cNvSpPr>
                <a:spLocks noChangeShapeType="1"/>
              </p:cNvSpPr>
              <p:nvPr/>
            </p:nvSpPr>
            <p:spPr bwMode="auto">
              <a:xfrm>
                <a:off x="365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7" name="Line 40"/>
              <p:cNvSpPr>
                <a:spLocks noChangeShapeType="1"/>
              </p:cNvSpPr>
              <p:nvPr/>
            </p:nvSpPr>
            <p:spPr bwMode="auto">
              <a:xfrm>
                <a:off x="393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8" name="Line 41"/>
              <p:cNvSpPr>
                <a:spLocks noChangeShapeType="1"/>
              </p:cNvSpPr>
              <p:nvPr/>
            </p:nvSpPr>
            <p:spPr bwMode="auto">
              <a:xfrm>
                <a:off x="4225" y="284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9" name="Text Box 42"/>
              <p:cNvSpPr txBox="1">
                <a:spLocks noChangeArrowheads="1"/>
              </p:cNvSpPr>
              <p:nvPr/>
            </p:nvSpPr>
            <p:spPr bwMode="auto">
              <a:xfrm>
                <a:off x="4553" y="2864"/>
                <a:ext cx="731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ea typeface="楷体" panose="02010609060101010101" pitchFamily="49" charset="-122"/>
                  </a:rPr>
                  <a:t>空闲块</a:t>
                </a:r>
              </a:p>
            </p:txBody>
          </p:sp>
        </p:grpSp>
        <p:sp>
          <p:nvSpPr>
            <p:cNvPr id="12" name="Text Box 43"/>
            <p:cNvSpPr txBox="1">
              <a:spLocks noChangeArrowheads="1"/>
            </p:cNvSpPr>
            <p:nvPr/>
          </p:nvSpPr>
          <p:spPr bwMode="auto">
            <a:xfrm>
              <a:off x="1292" y="3884"/>
              <a:ext cx="30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ea typeface="楷体" panose="02010609060101010101" pitchFamily="49" charset="-122"/>
                </a:rPr>
                <a:t>文件系统状态：空闲表中有重复块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466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UNIX</a:t>
            </a:r>
            <a:r>
              <a:rPr lang="zh-CN" altLang="en-US" dirty="0" smtClean="0"/>
              <a:t>数据一致性检查过程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两张表，每块对应一个表中的一个计数</a:t>
            </a:r>
            <a:r>
              <a:rPr lang="zh-CN" altLang="en-US" dirty="0" smtClean="0">
                <a:sym typeface="Monotype Sorts" pitchFamily="2" charset="2"/>
              </a:rPr>
              <a:t>器</a:t>
            </a:r>
            <a:endParaRPr lang="en-US" altLang="zh-CN" dirty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表一：记录每块在文件中出现的次数</a:t>
            </a:r>
            <a:endParaRPr lang="zh-CN" altLang="en-US" dirty="0"/>
          </a:p>
          <a:p>
            <a:pPr lvl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sym typeface="Monotype Sorts" pitchFamily="2" charset="2"/>
              </a:rPr>
              <a:t>表二：记录每块在空闲块表中出现的次数</a:t>
            </a:r>
          </a:p>
          <a:p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291F-F36F-42EE-AB13-45004935FD39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78</a:t>
            </a:fld>
            <a:endParaRPr lang="zh-CN" alt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683568" y="3429000"/>
            <a:ext cx="7777162" cy="2222500"/>
            <a:chOff x="521" y="2772"/>
            <a:chExt cx="4899" cy="1400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521" y="2795"/>
              <a:ext cx="45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ea typeface="楷体" panose="02010609060101010101" pitchFamily="49" charset="-122"/>
                </a:rPr>
                <a:t>块号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057" y="2772"/>
              <a:ext cx="350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a typeface="楷体" panose="02010609060101010101" pitchFamily="49" charset="-122"/>
                </a:rPr>
                <a:t>0   1   2   3   4   5 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6 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7   8   </a:t>
              </a:r>
              <a:r>
                <a:rPr lang="en-US" altLang="zh-CN" sz="2000" b="1" dirty="0" smtClean="0">
                  <a:ea typeface="楷体" panose="02010609060101010101" pitchFamily="49" charset="-122"/>
                </a:rPr>
                <a:t> 9   10   11  </a:t>
              </a:r>
              <a:r>
                <a:rPr lang="en-US" altLang="zh-CN" sz="2000" b="1" dirty="0">
                  <a:ea typeface="楷体" panose="02010609060101010101" pitchFamily="49" charset="-122"/>
                </a:rPr>
                <a:t>12  13  14  15</a:t>
              </a:r>
            </a:p>
          </p:txBody>
        </p:sp>
        <p:grpSp>
          <p:nvGrpSpPr>
            <p:cNvPr id="10" name="Group 7"/>
            <p:cNvGrpSpPr>
              <a:grpSpLocks/>
            </p:cNvGrpSpPr>
            <p:nvPr/>
          </p:nvGrpSpPr>
          <p:grpSpPr bwMode="auto">
            <a:xfrm>
              <a:off x="1020" y="3067"/>
              <a:ext cx="4400" cy="318"/>
              <a:chOff x="340" y="2190"/>
              <a:chExt cx="5289" cy="375"/>
            </a:xfrm>
          </p:grpSpPr>
          <p:sp>
            <p:nvSpPr>
              <p:cNvPr id="30" name="Rectangle 8"/>
              <p:cNvSpPr>
                <a:spLocks noChangeArrowheads="1"/>
              </p:cNvSpPr>
              <p:nvPr/>
            </p:nvSpPr>
            <p:spPr bwMode="auto">
              <a:xfrm>
                <a:off x="340" y="2196"/>
                <a:ext cx="4160" cy="36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6000" anchor="ctr"/>
              <a:lstStyle/>
              <a:p>
                <a:r>
                  <a:rPr lang="en-US" altLang="zh-CN" sz="2000" b="1" dirty="0">
                    <a:ea typeface="楷体" panose="02010609060101010101" pitchFamily="49" charset="-122"/>
                  </a:rPr>
                  <a:t>1   1   0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2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1   1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0    1 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1    0    0</a:t>
                </a:r>
              </a:p>
            </p:txBody>
          </p:sp>
          <p:sp>
            <p:nvSpPr>
              <p:cNvPr id="31" name="Line 9"/>
              <p:cNvSpPr>
                <a:spLocks noChangeShapeType="1"/>
              </p:cNvSpPr>
              <p:nvPr/>
            </p:nvSpPr>
            <p:spPr bwMode="auto">
              <a:xfrm>
                <a:off x="594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2" name="Line 10"/>
              <p:cNvSpPr>
                <a:spLocks noChangeShapeType="1"/>
              </p:cNvSpPr>
              <p:nvPr/>
            </p:nvSpPr>
            <p:spPr bwMode="auto">
              <a:xfrm>
                <a:off x="838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3" name="Line 11"/>
              <p:cNvSpPr>
                <a:spLocks noChangeShapeType="1"/>
              </p:cNvSpPr>
              <p:nvPr/>
            </p:nvSpPr>
            <p:spPr bwMode="auto">
              <a:xfrm>
                <a:off x="1071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4" name="Line 12"/>
              <p:cNvSpPr>
                <a:spLocks noChangeShapeType="1"/>
              </p:cNvSpPr>
              <p:nvPr/>
            </p:nvSpPr>
            <p:spPr bwMode="auto">
              <a:xfrm>
                <a:off x="1319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5" name="Line 13"/>
              <p:cNvSpPr>
                <a:spLocks noChangeShapeType="1"/>
              </p:cNvSpPr>
              <p:nvPr/>
            </p:nvSpPr>
            <p:spPr bwMode="auto">
              <a:xfrm>
                <a:off x="1553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Line 14"/>
              <p:cNvSpPr>
                <a:spLocks noChangeShapeType="1"/>
              </p:cNvSpPr>
              <p:nvPr/>
            </p:nvSpPr>
            <p:spPr bwMode="auto">
              <a:xfrm>
                <a:off x="1797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7" name="Line 15"/>
              <p:cNvSpPr>
                <a:spLocks noChangeShapeType="1"/>
              </p:cNvSpPr>
              <p:nvPr/>
            </p:nvSpPr>
            <p:spPr bwMode="auto">
              <a:xfrm>
                <a:off x="2030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8" name="Line 16"/>
              <p:cNvSpPr>
                <a:spLocks noChangeShapeType="1"/>
              </p:cNvSpPr>
              <p:nvPr/>
            </p:nvSpPr>
            <p:spPr bwMode="auto">
              <a:xfrm>
                <a:off x="227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39" name="Line 17"/>
              <p:cNvSpPr>
                <a:spLocks noChangeShapeType="1"/>
              </p:cNvSpPr>
              <p:nvPr/>
            </p:nvSpPr>
            <p:spPr bwMode="auto">
              <a:xfrm>
                <a:off x="2505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Line 18"/>
              <p:cNvSpPr>
                <a:spLocks noChangeShapeType="1"/>
              </p:cNvSpPr>
              <p:nvPr/>
            </p:nvSpPr>
            <p:spPr bwMode="auto">
              <a:xfrm>
                <a:off x="2785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1" name="Line 19"/>
              <p:cNvSpPr>
                <a:spLocks noChangeShapeType="1"/>
              </p:cNvSpPr>
              <p:nvPr/>
            </p:nvSpPr>
            <p:spPr bwMode="auto">
              <a:xfrm>
                <a:off x="3076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2" name="Line 20"/>
              <p:cNvSpPr>
                <a:spLocks noChangeShapeType="1"/>
              </p:cNvSpPr>
              <p:nvPr/>
            </p:nvSpPr>
            <p:spPr bwMode="auto">
              <a:xfrm>
                <a:off x="3357" y="219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3" name="Line 21"/>
              <p:cNvSpPr>
                <a:spLocks noChangeShapeType="1"/>
              </p:cNvSpPr>
              <p:nvPr/>
            </p:nvSpPr>
            <p:spPr bwMode="auto">
              <a:xfrm>
                <a:off x="364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4" name="Line 22"/>
              <p:cNvSpPr>
                <a:spLocks noChangeShapeType="1"/>
              </p:cNvSpPr>
              <p:nvPr/>
            </p:nvSpPr>
            <p:spPr bwMode="auto">
              <a:xfrm>
                <a:off x="3922" y="2196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5" name="Line 23"/>
              <p:cNvSpPr>
                <a:spLocks noChangeShapeType="1"/>
              </p:cNvSpPr>
              <p:nvPr/>
            </p:nvSpPr>
            <p:spPr bwMode="auto">
              <a:xfrm>
                <a:off x="4213" y="2202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46" name="Text Box 24"/>
              <p:cNvSpPr txBox="1">
                <a:spLocks noChangeArrowheads="1"/>
              </p:cNvSpPr>
              <p:nvPr/>
            </p:nvSpPr>
            <p:spPr bwMode="auto">
              <a:xfrm>
                <a:off x="4541" y="2227"/>
                <a:ext cx="1088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rIns="1800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ea typeface="楷体" panose="02010609060101010101" pitchFamily="49" charset="-122"/>
                  </a:rPr>
                  <a:t>使用中的块</a:t>
                </a:r>
              </a:p>
            </p:txBody>
          </p:sp>
        </p:grpSp>
        <p:grpSp>
          <p:nvGrpSpPr>
            <p:cNvPr id="11" name="Group 25"/>
            <p:cNvGrpSpPr>
              <a:grpSpLocks/>
            </p:cNvGrpSpPr>
            <p:nvPr/>
          </p:nvGrpSpPr>
          <p:grpSpPr bwMode="auto">
            <a:xfrm>
              <a:off x="1030" y="3490"/>
              <a:ext cx="4103" cy="319"/>
              <a:chOff x="352" y="2828"/>
              <a:chExt cx="4932" cy="375"/>
            </a:xfrm>
          </p:grpSpPr>
          <p:sp>
            <p:nvSpPr>
              <p:cNvPr id="13" name="Rectangle 26"/>
              <p:cNvSpPr>
                <a:spLocks noChangeArrowheads="1"/>
              </p:cNvSpPr>
              <p:nvPr/>
            </p:nvSpPr>
            <p:spPr bwMode="auto">
              <a:xfrm>
                <a:off x="352" y="2834"/>
                <a:ext cx="4160" cy="363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6000" anchor="ctr"/>
              <a:lstStyle/>
              <a:p>
                <a:r>
                  <a:rPr lang="en-US" altLang="zh-CN" sz="2000" b="1" dirty="0">
                    <a:ea typeface="楷体" panose="02010609060101010101" pitchFamily="49" charset="-122"/>
                  </a:rPr>
                  <a:t>0   0   1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0   0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1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1    0    0    </a:t>
                </a:r>
                <a:r>
                  <a:rPr lang="en-US" altLang="zh-CN" sz="2000" b="1" dirty="0" smtClean="0">
                    <a:ea typeface="楷体" panose="02010609060101010101" pitchFamily="49" charset="-122"/>
                  </a:rPr>
                  <a:t> 0    </a:t>
                </a:r>
                <a:r>
                  <a:rPr lang="en-US" altLang="zh-CN" sz="2000" b="1" dirty="0">
                    <a:ea typeface="楷体" panose="02010609060101010101" pitchFamily="49" charset="-122"/>
                  </a:rPr>
                  <a:t>1    1</a:t>
                </a:r>
              </a:p>
            </p:txBody>
          </p:sp>
          <p:sp>
            <p:nvSpPr>
              <p:cNvPr id="14" name="Line 27"/>
              <p:cNvSpPr>
                <a:spLocks noChangeShapeType="1"/>
              </p:cNvSpPr>
              <p:nvPr/>
            </p:nvSpPr>
            <p:spPr bwMode="auto">
              <a:xfrm>
                <a:off x="606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Line 28"/>
              <p:cNvSpPr>
                <a:spLocks noChangeShapeType="1"/>
              </p:cNvSpPr>
              <p:nvPr/>
            </p:nvSpPr>
            <p:spPr bwMode="auto">
              <a:xfrm>
                <a:off x="850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Line 29"/>
              <p:cNvSpPr>
                <a:spLocks noChangeShapeType="1"/>
              </p:cNvSpPr>
              <p:nvPr/>
            </p:nvSpPr>
            <p:spPr bwMode="auto">
              <a:xfrm>
                <a:off x="1083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7" name="Line 30"/>
              <p:cNvSpPr>
                <a:spLocks noChangeShapeType="1"/>
              </p:cNvSpPr>
              <p:nvPr/>
            </p:nvSpPr>
            <p:spPr bwMode="auto">
              <a:xfrm>
                <a:off x="1331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Line 31"/>
              <p:cNvSpPr>
                <a:spLocks noChangeShapeType="1"/>
              </p:cNvSpPr>
              <p:nvPr/>
            </p:nvSpPr>
            <p:spPr bwMode="auto">
              <a:xfrm>
                <a:off x="1565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Line 32"/>
              <p:cNvSpPr>
                <a:spLocks noChangeShapeType="1"/>
              </p:cNvSpPr>
              <p:nvPr/>
            </p:nvSpPr>
            <p:spPr bwMode="auto">
              <a:xfrm>
                <a:off x="1809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0" name="Line 33"/>
              <p:cNvSpPr>
                <a:spLocks noChangeShapeType="1"/>
              </p:cNvSpPr>
              <p:nvPr/>
            </p:nvSpPr>
            <p:spPr bwMode="auto">
              <a:xfrm>
                <a:off x="2042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1" name="Line 34"/>
              <p:cNvSpPr>
                <a:spLocks noChangeShapeType="1"/>
              </p:cNvSpPr>
              <p:nvPr/>
            </p:nvSpPr>
            <p:spPr bwMode="auto">
              <a:xfrm>
                <a:off x="228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2" name="Line 35"/>
              <p:cNvSpPr>
                <a:spLocks noChangeShapeType="1"/>
              </p:cNvSpPr>
              <p:nvPr/>
            </p:nvSpPr>
            <p:spPr bwMode="auto">
              <a:xfrm>
                <a:off x="2517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3" name="Line 36"/>
              <p:cNvSpPr>
                <a:spLocks noChangeShapeType="1"/>
              </p:cNvSpPr>
              <p:nvPr/>
            </p:nvSpPr>
            <p:spPr bwMode="auto">
              <a:xfrm>
                <a:off x="2797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Line 37"/>
              <p:cNvSpPr>
                <a:spLocks noChangeShapeType="1"/>
              </p:cNvSpPr>
              <p:nvPr/>
            </p:nvSpPr>
            <p:spPr bwMode="auto">
              <a:xfrm>
                <a:off x="3088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Line 38"/>
              <p:cNvSpPr>
                <a:spLocks noChangeShapeType="1"/>
              </p:cNvSpPr>
              <p:nvPr/>
            </p:nvSpPr>
            <p:spPr bwMode="auto">
              <a:xfrm>
                <a:off x="3369" y="2828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Line 39"/>
              <p:cNvSpPr>
                <a:spLocks noChangeShapeType="1"/>
              </p:cNvSpPr>
              <p:nvPr/>
            </p:nvSpPr>
            <p:spPr bwMode="auto">
              <a:xfrm>
                <a:off x="365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7" name="Line 40"/>
              <p:cNvSpPr>
                <a:spLocks noChangeShapeType="1"/>
              </p:cNvSpPr>
              <p:nvPr/>
            </p:nvSpPr>
            <p:spPr bwMode="auto">
              <a:xfrm>
                <a:off x="3934" y="283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8" name="Line 41"/>
              <p:cNvSpPr>
                <a:spLocks noChangeShapeType="1"/>
              </p:cNvSpPr>
              <p:nvPr/>
            </p:nvSpPr>
            <p:spPr bwMode="auto">
              <a:xfrm>
                <a:off x="4225" y="2840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ea typeface="楷体" panose="02010609060101010101" pitchFamily="49" charset="-122"/>
                </a:endParaRPr>
              </a:p>
            </p:txBody>
          </p:sp>
          <p:sp>
            <p:nvSpPr>
              <p:cNvPr id="29" name="Text Box 42"/>
              <p:cNvSpPr txBox="1">
                <a:spLocks noChangeArrowheads="1"/>
              </p:cNvSpPr>
              <p:nvPr/>
            </p:nvSpPr>
            <p:spPr bwMode="auto">
              <a:xfrm>
                <a:off x="4553" y="2864"/>
                <a:ext cx="731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ea typeface="楷体" panose="02010609060101010101" pitchFamily="49" charset="-122"/>
                  </a:rPr>
                  <a:t>空闲块</a:t>
                </a:r>
              </a:p>
            </p:txBody>
          </p:sp>
        </p:grpSp>
        <p:sp>
          <p:nvSpPr>
            <p:cNvPr id="12" name="Text Box 43"/>
            <p:cNvSpPr txBox="1">
              <a:spLocks noChangeArrowheads="1"/>
            </p:cNvSpPr>
            <p:nvPr/>
          </p:nvSpPr>
          <p:spPr bwMode="auto">
            <a:xfrm>
              <a:off x="1292" y="3884"/>
              <a:ext cx="30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ea typeface="楷体" panose="02010609060101010101" pitchFamily="49" charset="-122"/>
                </a:rPr>
                <a:t>文件系统状态：重复数据块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737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14C2-CB6E-4B6D-B095-89B72E1A9684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79</a:t>
            </a:fld>
            <a:endParaRPr lang="zh-CN" altLang="en-US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005013" y="115888"/>
            <a:ext cx="1854200" cy="1566862"/>
          </a:xfrm>
          <a:prstGeom prst="rect">
            <a:avLst/>
          </a:prstGeom>
          <a:solidFill>
            <a:srgbClr val="CC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文件控制块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文件目录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目录文件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目录项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树型目录结构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目录项分解法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目录检索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375150" y="115888"/>
            <a:ext cx="1860550" cy="1570037"/>
          </a:xfrm>
          <a:prstGeom prst="rect">
            <a:avLst/>
          </a:prstGeom>
          <a:solidFill>
            <a:srgbClr val="CC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文件系统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文件分类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文件管理任务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文件逻辑结构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文件物理结构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文件存取方式</a:t>
            </a:r>
          </a:p>
          <a:p>
            <a:pPr algn="ctr"/>
            <a:endParaRPr kumimoji="0" lang="en-US" altLang="zh-CN" sz="1400" b="1">
              <a:solidFill>
                <a:srgbClr val="0000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914650" y="4494213"/>
            <a:ext cx="2233613" cy="1198562"/>
          </a:xfrm>
          <a:prstGeom prst="rect">
            <a:avLst/>
          </a:prstGeom>
          <a:solidFill>
            <a:srgbClr val="CC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外存空间管理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主要数据结构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文件系统使用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文件系统安全、保护、保密、可靠性、一致性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255838" y="6151563"/>
            <a:ext cx="1524000" cy="496887"/>
          </a:xfrm>
          <a:prstGeom prst="rect">
            <a:avLst/>
          </a:prstGeom>
          <a:solidFill>
            <a:srgbClr val="CC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系统打开文件表</a:t>
            </a:r>
          </a:p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用户打开文件表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987550" y="2046288"/>
            <a:ext cx="1797050" cy="385762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6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文件目录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4364038" y="2046288"/>
            <a:ext cx="1871662" cy="385762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6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文件基本概念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2030413" y="3702050"/>
            <a:ext cx="1757362" cy="385763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6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文件系统实现</a:t>
            </a:r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2901950" y="2451100"/>
            <a:ext cx="814388" cy="458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H="1">
            <a:off x="4508500" y="2451100"/>
            <a:ext cx="792163" cy="3873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V="1">
            <a:off x="2924175" y="3270250"/>
            <a:ext cx="792163" cy="431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 flipH="1">
            <a:off x="5300663" y="1685925"/>
            <a:ext cx="0" cy="3603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>
            <a:off x="2851150" y="4062413"/>
            <a:ext cx="1073150" cy="4460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4211638" y="6135688"/>
            <a:ext cx="2520950" cy="519112"/>
          </a:xfrm>
          <a:prstGeom prst="rect">
            <a:avLst/>
          </a:prstGeom>
          <a:solidFill>
            <a:srgbClr val="CC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创建、打开、读写、关闭、删除、拷贝、重命名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7223125" y="6223000"/>
            <a:ext cx="1597025" cy="431800"/>
          </a:xfrm>
          <a:prstGeom prst="rect">
            <a:avLst/>
          </a:prstGeom>
          <a:solidFill>
            <a:srgbClr val="CC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文件存取控制</a:t>
            </a:r>
          </a:p>
        </p:txBody>
      </p:sp>
      <p:sp>
        <p:nvSpPr>
          <p:cNvPr id="22" name="Line 26"/>
          <p:cNvSpPr>
            <a:spLocks noChangeShapeType="1"/>
          </p:cNvSpPr>
          <p:nvPr/>
        </p:nvSpPr>
        <p:spPr bwMode="auto">
          <a:xfrm>
            <a:off x="2924175" y="1685925"/>
            <a:ext cx="0" cy="3603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Line 28"/>
          <p:cNvSpPr>
            <a:spLocks noChangeShapeType="1"/>
          </p:cNvSpPr>
          <p:nvPr/>
        </p:nvSpPr>
        <p:spPr bwMode="auto">
          <a:xfrm flipH="1">
            <a:off x="2987675" y="5719763"/>
            <a:ext cx="1081088" cy="431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4068763" y="5719763"/>
            <a:ext cx="1295400" cy="431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>
            <a:off x="4068763" y="5719763"/>
            <a:ext cx="4032250" cy="5032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AutoShape 31"/>
          <p:cNvSpPr>
            <a:spLocks noChangeArrowheads="1"/>
          </p:cNvSpPr>
          <p:nvPr/>
        </p:nvSpPr>
        <p:spPr bwMode="auto">
          <a:xfrm>
            <a:off x="3560763" y="2620963"/>
            <a:ext cx="1079500" cy="936625"/>
          </a:xfrm>
          <a:prstGeom prst="hexagon">
            <a:avLst>
              <a:gd name="adj" fmla="val 28814"/>
              <a:gd name="vf" fmla="val 115470"/>
            </a:avLst>
          </a:prstGeom>
          <a:solidFill>
            <a:srgbClr val="FFFF99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en-US" altLang="zh-CN" sz="1600" b="1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1600" b="1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</a:t>
            </a:r>
          </a:p>
          <a:p>
            <a:pPr algn="ctr"/>
            <a:r>
              <a:rPr kumimoji="0" lang="zh-CN" altLang="en-US" sz="1600" b="1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管理</a:t>
            </a:r>
          </a:p>
        </p:txBody>
      </p:sp>
    </p:spTree>
    <p:extLst>
      <p:ext uri="{BB962C8B-B14F-4D97-AF65-F5344CB8AC3E}">
        <p14:creationId xmlns:p14="http://schemas.microsoft.com/office/powerpoint/2010/main" val="206112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课堂作业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3025" indent="-282575"/>
            <a:r>
              <a:rPr lang="zh-CN" altLang="en-US" dirty="0"/>
              <a:t>一个树形结构的文件系统如图所示，框为目录</a:t>
            </a:r>
            <a:r>
              <a:rPr lang="zh-CN" altLang="en-US" dirty="0" smtClean="0"/>
              <a:t>，圆为文</a:t>
            </a:r>
            <a:endParaRPr lang="en-US" altLang="zh-CN" dirty="0"/>
          </a:p>
          <a:p>
            <a:pPr marL="190500" lvl="1" indent="0">
              <a:buNone/>
            </a:pPr>
            <a:endParaRPr lang="en-US" altLang="zh-CN" dirty="0" smtClean="0">
              <a:solidFill>
                <a:srgbClr val="0000FF"/>
              </a:solidFill>
            </a:endParaRPr>
          </a:p>
          <a:p>
            <a:pPr marL="190500" lvl="1" indent="0">
              <a:buNone/>
            </a:pPr>
            <a:r>
              <a:rPr lang="zh-CN" altLang="en-US" dirty="0" smtClean="0">
                <a:solidFill>
                  <a:srgbClr val="0000FF"/>
                </a:solidFill>
              </a:rPr>
              <a:t>可</a:t>
            </a:r>
            <a:r>
              <a:rPr lang="zh-CN" altLang="en-US" dirty="0">
                <a:solidFill>
                  <a:srgbClr val="0000FF"/>
                </a:solidFill>
              </a:rPr>
              <a:t>否进行下列操作</a:t>
            </a:r>
          </a:p>
          <a:p>
            <a:pPr marL="1235075" lvl="3" indent="-180975">
              <a:buFontTx/>
              <a:buAutoNum type="arabicPeriod"/>
            </a:pPr>
            <a:r>
              <a:rPr lang="zh-CN" altLang="en-US" dirty="0" smtClean="0"/>
              <a:t>将</a:t>
            </a:r>
            <a:r>
              <a:rPr lang="zh-CN" altLang="en-US" dirty="0"/>
              <a:t>在目录</a:t>
            </a:r>
            <a:r>
              <a:rPr lang="en-US" altLang="zh-CN" dirty="0"/>
              <a:t>D</a:t>
            </a:r>
            <a:r>
              <a:rPr lang="zh-CN" altLang="en-US" dirty="0"/>
              <a:t>中建立一个文件，命名为</a:t>
            </a:r>
            <a:r>
              <a:rPr lang="en-US" altLang="zh-CN" dirty="0" smtClean="0"/>
              <a:t>A</a:t>
            </a:r>
            <a:endParaRPr lang="zh-CN" altLang="en-US" dirty="0"/>
          </a:p>
          <a:p>
            <a:pPr marL="1235075" lvl="3" indent="-180975">
              <a:buFontTx/>
              <a:buAutoNum type="arabicPeriod"/>
            </a:pPr>
            <a:r>
              <a:rPr lang="zh-CN" altLang="en-US" dirty="0" smtClean="0"/>
              <a:t>目</a:t>
            </a:r>
            <a:r>
              <a:rPr lang="zh-CN" altLang="en-US" dirty="0"/>
              <a:t>录</a:t>
            </a:r>
            <a:r>
              <a:rPr lang="en-US" altLang="zh-CN" dirty="0"/>
              <a:t>C</a:t>
            </a:r>
            <a:r>
              <a:rPr lang="zh-CN" altLang="en-US" dirty="0"/>
              <a:t>改名为</a:t>
            </a:r>
            <a:r>
              <a:rPr lang="en-US" altLang="zh-CN" dirty="0" smtClean="0"/>
              <a:t>A</a:t>
            </a:r>
          </a:p>
          <a:p>
            <a:pPr marL="1054100" lvl="3" indent="0">
              <a:buNone/>
            </a:pPr>
            <a:endParaRPr lang="en-US" altLang="zh-CN" sz="2200" dirty="0" smtClean="0"/>
          </a:p>
          <a:p>
            <a:pPr marL="190500" lvl="1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若</a:t>
            </a:r>
            <a:r>
              <a:rPr lang="en-US" altLang="zh-CN" dirty="0">
                <a:solidFill>
                  <a:srgbClr val="0000FF"/>
                </a:solidFill>
              </a:rPr>
              <a:t>E</a:t>
            </a:r>
            <a:r>
              <a:rPr lang="zh-CN" altLang="en-US" dirty="0">
                <a:solidFill>
                  <a:srgbClr val="0000FF"/>
                </a:solidFill>
              </a:rPr>
              <a:t>和</a:t>
            </a:r>
            <a:r>
              <a:rPr lang="en-US" altLang="zh-CN" dirty="0">
                <a:solidFill>
                  <a:srgbClr val="0000FF"/>
                </a:solidFill>
              </a:rPr>
              <a:t>G</a:t>
            </a:r>
            <a:r>
              <a:rPr lang="zh-CN" altLang="en-US" dirty="0">
                <a:solidFill>
                  <a:srgbClr val="0000FF"/>
                </a:solidFill>
              </a:rPr>
              <a:t>分别为两个用户的目录</a:t>
            </a:r>
          </a:p>
          <a:p>
            <a:pPr marL="1235075" lvl="3" indent="-180975">
              <a:buFontTx/>
              <a:buAutoNum type="arabicPeriod"/>
            </a:pPr>
            <a:r>
              <a:rPr lang="zh-CN" altLang="en-US" dirty="0"/>
              <a:t>用户</a:t>
            </a:r>
            <a:r>
              <a:rPr lang="en-US" altLang="zh-CN" dirty="0"/>
              <a:t>E</a:t>
            </a:r>
            <a:r>
              <a:rPr lang="zh-CN" altLang="en-US" dirty="0"/>
              <a:t>欲共享文件</a:t>
            </a:r>
            <a:r>
              <a:rPr lang="en-US" altLang="zh-CN" dirty="0"/>
              <a:t>Q</a:t>
            </a:r>
            <a:r>
              <a:rPr lang="zh-CN" altLang="en-US" dirty="0"/>
              <a:t>，应有什么条件，如何操作？</a:t>
            </a:r>
          </a:p>
          <a:p>
            <a:pPr marL="1235075" lvl="3" indent="-180975">
              <a:buFontTx/>
              <a:buAutoNum type="arabicPeriod"/>
            </a:pPr>
            <a:r>
              <a:rPr lang="zh-CN" altLang="en-US" dirty="0"/>
              <a:t>在一段时间内，用户</a:t>
            </a:r>
            <a:r>
              <a:rPr lang="en-US" altLang="zh-CN" dirty="0"/>
              <a:t>G</a:t>
            </a:r>
            <a:r>
              <a:rPr lang="zh-CN" altLang="en-US" dirty="0"/>
              <a:t>主要使用文件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。为简便操作和提高速度，应如何处理？</a:t>
            </a:r>
          </a:p>
          <a:p>
            <a:pPr marL="1235075" lvl="3" indent="-180975">
              <a:buFontTx/>
              <a:buAutoNum type="arabicPeriod"/>
            </a:pPr>
            <a:r>
              <a:rPr lang="zh-CN" altLang="en-US" dirty="0"/>
              <a:t>用户</a:t>
            </a:r>
            <a:r>
              <a:rPr lang="en-US" altLang="zh-CN" dirty="0"/>
              <a:t>E</a:t>
            </a:r>
            <a:r>
              <a:rPr lang="zh-CN" altLang="en-US" dirty="0"/>
              <a:t>欲对文件</a:t>
            </a:r>
            <a:r>
              <a:rPr lang="en-US" altLang="zh-CN" dirty="0"/>
              <a:t>I</a:t>
            </a:r>
            <a:r>
              <a:rPr lang="zh-CN" altLang="en-US" dirty="0"/>
              <a:t>加以保护，不许别人使用，能否实现？如何实现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B379E-BF1E-4C4A-A1D7-A279DC72B310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80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045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课堂作业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3E13B-4FB9-4230-A6E1-4A4A3A264BC3}" type="datetime1">
              <a:rPr lang="zh-CN" altLang="en-US" smtClean="0"/>
              <a:pPr/>
              <a:t>2018/8/3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CH08 - File System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3B811-08A7-493A-864A-0A97D48BC524}" type="slidenum">
              <a:rPr lang="zh-CN" altLang="en-US" smtClean="0"/>
              <a:pPr/>
              <a:t>81</a:t>
            </a:fld>
            <a:endParaRPr lang="zh-CN" altLang="en-US" dirty="0"/>
          </a:p>
        </p:txBody>
      </p: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1547664" y="1556792"/>
            <a:ext cx="5957887" cy="4724400"/>
            <a:chOff x="1143" y="798"/>
            <a:chExt cx="3753" cy="2976"/>
          </a:xfrm>
        </p:grpSpPr>
        <p:sp>
          <p:nvSpPr>
            <p:cNvPr id="8" name="Text Box 3"/>
            <p:cNvSpPr txBox="1">
              <a:spLocks noChangeArrowheads="1"/>
            </p:cNvSpPr>
            <p:nvPr/>
          </p:nvSpPr>
          <p:spPr bwMode="auto">
            <a:xfrm>
              <a:off x="2487" y="798"/>
              <a:ext cx="672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/>
                <a:t>根目录</a:t>
              </a:r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1143" y="1392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A</a:t>
              </a: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1647" y="1392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B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2139" y="1392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C</a:t>
              </a: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3639" y="1392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D</a:t>
              </a: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 flipH="1">
              <a:off x="1287" y="1056"/>
              <a:ext cx="15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H="1">
              <a:off x="1815" y="1056"/>
              <a:ext cx="100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H="1">
              <a:off x="2295" y="1056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2823" y="1056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1719" y="1904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E</a:t>
              </a:r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487" y="1902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F</a:t>
              </a: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3360" y="1892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G</a:t>
              </a: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4128" y="1872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H</a:t>
              </a:r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H="1">
              <a:off x="1845" y="1650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2265" y="1653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 flipH="1">
              <a:off x="3486" y="1659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3783" y="1641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21"/>
            <p:cNvSpPr>
              <a:spLocks noChangeArrowheads="1"/>
            </p:cNvSpPr>
            <p:nvPr/>
          </p:nvSpPr>
          <p:spPr bwMode="auto">
            <a:xfrm>
              <a:off x="1593" y="2391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I</a:t>
              </a:r>
            </a:p>
          </p:txBody>
        </p:sp>
        <p:sp>
          <p:nvSpPr>
            <p:cNvPr id="26" name="Oval 22"/>
            <p:cNvSpPr>
              <a:spLocks noChangeArrowheads="1"/>
            </p:cNvSpPr>
            <p:nvPr/>
          </p:nvSpPr>
          <p:spPr bwMode="auto">
            <a:xfrm>
              <a:off x="2583" y="240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J</a:t>
              </a: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 flipH="1">
              <a:off x="1767" y="2160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2631" y="2160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25"/>
            <p:cNvSpPr txBox="1">
              <a:spLocks noChangeArrowheads="1"/>
            </p:cNvSpPr>
            <p:nvPr/>
          </p:nvSpPr>
          <p:spPr bwMode="auto">
            <a:xfrm>
              <a:off x="3177" y="2432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K</a:t>
              </a:r>
            </a:p>
          </p:txBody>
        </p:sp>
        <p:sp>
          <p:nvSpPr>
            <p:cNvPr id="30" name="Oval 26"/>
            <p:cNvSpPr>
              <a:spLocks noChangeArrowheads="1"/>
            </p:cNvSpPr>
            <p:nvPr/>
          </p:nvSpPr>
          <p:spPr bwMode="auto">
            <a:xfrm>
              <a:off x="3639" y="2391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L</a:t>
              </a:r>
            </a:p>
          </p:txBody>
        </p:sp>
        <p:sp>
          <p:nvSpPr>
            <p:cNvPr id="31" name="Oval 27"/>
            <p:cNvSpPr>
              <a:spLocks noChangeArrowheads="1"/>
            </p:cNvSpPr>
            <p:nvPr/>
          </p:nvSpPr>
          <p:spPr bwMode="auto">
            <a:xfrm>
              <a:off x="4080" y="238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M</a:t>
              </a:r>
            </a:p>
          </p:txBody>
        </p:sp>
        <p:sp>
          <p:nvSpPr>
            <p:cNvPr id="32" name="Oval 28"/>
            <p:cNvSpPr>
              <a:spLocks noChangeArrowheads="1"/>
            </p:cNvSpPr>
            <p:nvPr/>
          </p:nvSpPr>
          <p:spPr bwMode="auto">
            <a:xfrm>
              <a:off x="4560" y="2379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N</a:t>
              </a:r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 flipH="1">
              <a:off x="3303" y="214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3504" y="216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 flipH="1">
              <a:off x="4224" y="2112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4272" y="2112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2853" y="2976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O</a:t>
              </a: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3648" y="2976"/>
              <a:ext cx="288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b="1"/>
                <a:t>P</a:t>
              </a:r>
            </a:p>
          </p:txBody>
        </p:sp>
        <p:sp>
          <p:nvSpPr>
            <p:cNvPr id="39" name="Oval 35"/>
            <p:cNvSpPr>
              <a:spLocks noChangeArrowheads="1"/>
            </p:cNvSpPr>
            <p:nvPr/>
          </p:nvSpPr>
          <p:spPr bwMode="auto">
            <a:xfrm>
              <a:off x="2562" y="343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Q</a:t>
              </a:r>
            </a:p>
          </p:txBody>
        </p:sp>
        <p:sp>
          <p:nvSpPr>
            <p:cNvPr id="40" name="Oval 36"/>
            <p:cNvSpPr>
              <a:spLocks noChangeArrowheads="1"/>
            </p:cNvSpPr>
            <p:nvPr/>
          </p:nvSpPr>
          <p:spPr bwMode="auto">
            <a:xfrm>
              <a:off x="3072" y="3438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R</a:t>
              </a:r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3531" y="3435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S</a:t>
              </a:r>
            </a:p>
          </p:txBody>
        </p:sp>
        <p:sp>
          <p:nvSpPr>
            <p:cNvPr id="42" name="Oval 38"/>
            <p:cNvSpPr>
              <a:spLocks noChangeArrowheads="1"/>
            </p:cNvSpPr>
            <p:nvPr/>
          </p:nvSpPr>
          <p:spPr bwMode="auto">
            <a:xfrm>
              <a:off x="4005" y="3426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T</a:t>
              </a:r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 flipH="1">
              <a:off x="3024" y="2688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3312" y="268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1"/>
            <p:cNvSpPr>
              <a:spLocks noChangeShapeType="1"/>
            </p:cNvSpPr>
            <p:nvPr/>
          </p:nvSpPr>
          <p:spPr bwMode="auto">
            <a:xfrm flipH="1">
              <a:off x="2736" y="3216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>
              <a:off x="2976" y="3216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3"/>
            <p:cNvSpPr>
              <a:spLocks noChangeShapeType="1"/>
            </p:cNvSpPr>
            <p:nvPr/>
          </p:nvSpPr>
          <p:spPr bwMode="auto">
            <a:xfrm flipH="1">
              <a:off x="3696" y="32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>
              <a:off x="3792" y="3216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997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1D89CC5-1E91-4B07-A49D-F0591162D17E}" type="slidenum">
              <a:rPr lang="zh-CN" altLang="en-US" smtClean="0"/>
              <a:pPr>
                <a:defRPr/>
              </a:pPr>
              <a:t>82</a:t>
            </a:fld>
            <a:endParaRPr lang="en-US" altLang="zh-CN"/>
          </a:p>
        </p:txBody>
      </p:sp>
      <p:sp>
        <p:nvSpPr>
          <p:cNvPr id="293890" name="Text Box 15"/>
          <p:cNvSpPr txBox="1">
            <a:spLocks noChangeArrowheads="1"/>
          </p:cNvSpPr>
          <p:nvPr/>
        </p:nvSpPr>
        <p:spPr bwMode="auto">
          <a:xfrm>
            <a:off x="304800" y="2781300"/>
            <a:ext cx="883920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6000">
                <a:solidFill>
                  <a:srgbClr val="3737C3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谢谢！</a:t>
            </a:r>
            <a:endParaRPr lang="en-US" altLang="zh-CN" sz="6000">
              <a:solidFill>
                <a:srgbClr val="3737C3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72450" y="-26988"/>
            <a:ext cx="958850" cy="895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293892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25" y="188913"/>
            <a:ext cx="26225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99981347"/>
      </p:ext>
    </p:extLst>
  </p:cSld>
  <p:clrMapOvr>
    <a:masterClrMapping/>
  </p:clrMapOvr>
  <p:transition advTm="3985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1483</TotalTime>
  <Words>6084</Words>
  <Application>Microsoft Office PowerPoint</Application>
  <PresentationFormat>全屏显示(4:3)</PresentationFormat>
  <Paragraphs>2275</Paragraphs>
  <Slides>82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5" baseType="lpstr">
      <vt:lpstr>Monotype Sorts</vt:lpstr>
      <vt:lpstr>华文仿宋</vt:lpstr>
      <vt:lpstr>华文新魏</vt:lpstr>
      <vt:lpstr>楷体</vt:lpstr>
      <vt:lpstr>宋体</vt:lpstr>
      <vt:lpstr>微软雅黑</vt:lpstr>
      <vt:lpstr>Arial</vt:lpstr>
      <vt:lpstr>Calibri</vt:lpstr>
      <vt:lpstr>Segoe UI Symbol</vt:lpstr>
      <vt:lpstr>Symbol</vt:lpstr>
      <vt:lpstr>Times New Roman</vt:lpstr>
      <vt:lpstr>Wingdings</vt:lpstr>
      <vt:lpstr>Office Theme</vt:lpstr>
      <vt:lpstr>第8章  文件系统</vt:lpstr>
      <vt:lpstr>主要内容</vt:lpstr>
      <vt:lpstr>主要内容</vt:lpstr>
      <vt:lpstr>文件、记录与数据项</vt:lpstr>
      <vt:lpstr>文件、记录与数据项</vt:lpstr>
      <vt:lpstr>文件、记录与数据项</vt:lpstr>
      <vt:lpstr>文件类型</vt:lpstr>
      <vt:lpstr>文件系统模型</vt:lpstr>
      <vt:lpstr>文件系统层次结构</vt:lpstr>
      <vt:lpstr>文件系统层次结构</vt:lpstr>
      <vt:lpstr>主要内容</vt:lpstr>
      <vt:lpstr>逻辑结构与物理结构</vt:lpstr>
      <vt:lpstr>逻辑结构与物理结构</vt:lpstr>
      <vt:lpstr>无结构文件</vt:lpstr>
      <vt:lpstr>累积文件（Pile）</vt:lpstr>
      <vt:lpstr>顺序文件</vt:lpstr>
      <vt:lpstr>索引顺序文件</vt:lpstr>
      <vt:lpstr>索引文件</vt:lpstr>
      <vt:lpstr>哈希文件或直接文件</vt:lpstr>
      <vt:lpstr>文件的存取</vt:lpstr>
      <vt:lpstr>文件的存取</vt:lpstr>
      <vt:lpstr>主要内容</vt:lpstr>
      <vt:lpstr>连续分配</vt:lpstr>
      <vt:lpstr>链接分配</vt:lpstr>
      <vt:lpstr>链接分配</vt:lpstr>
      <vt:lpstr>链接分配</vt:lpstr>
      <vt:lpstr>索引分配</vt:lpstr>
      <vt:lpstr>索引分配</vt:lpstr>
      <vt:lpstr>索引分配</vt:lpstr>
      <vt:lpstr>索引分配</vt:lpstr>
      <vt:lpstr>主要内容</vt:lpstr>
      <vt:lpstr>目录管理的要求</vt:lpstr>
      <vt:lpstr>文件控制块和索引节点</vt:lpstr>
      <vt:lpstr>文件控制块和索引节点</vt:lpstr>
      <vt:lpstr>文件控制块和索引节点</vt:lpstr>
      <vt:lpstr>文件控制块和索引节点</vt:lpstr>
      <vt:lpstr>目录结构</vt:lpstr>
      <vt:lpstr>目录结构</vt:lpstr>
      <vt:lpstr>目录结构</vt:lpstr>
      <vt:lpstr>目录结构</vt:lpstr>
      <vt:lpstr>目录结构</vt:lpstr>
      <vt:lpstr>增删目录</vt:lpstr>
      <vt:lpstr>目录查询</vt:lpstr>
      <vt:lpstr>目录查询</vt:lpstr>
      <vt:lpstr>主要内容</vt:lpstr>
      <vt:lpstr>内存中所需的表目</vt:lpstr>
      <vt:lpstr>内存中所需的表目</vt:lpstr>
      <vt:lpstr>外存空闲空间管理</vt:lpstr>
      <vt:lpstr>外存空闲空间管理</vt:lpstr>
      <vt:lpstr>外存空闲空间管理</vt:lpstr>
      <vt:lpstr>成组链法</vt:lpstr>
      <vt:lpstr>成组链法</vt:lpstr>
      <vt:lpstr>成组链法</vt:lpstr>
      <vt:lpstr>成组链法</vt:lpstr>
      <vt:lpstr>成组链法</vt:lpstr>
      <vt:lpstr>成组链法</vt:lpstr>
      <vt:lpstr>成组链法</vt:lpstr>
      <vt:lpstr>成组链法</vt:lpstr>
      <vt:lpstr>成组链法</vt:lpstr>
      <vt:lpstr>成组链法</vt:lpstr>
      <vt:lpstr>成组链法</vt:lpstr>
      <vt:lpstr>成组链法</vt:lpstr>
      <vt:lpstr>成组链法</vt:lpstr>
      <vt:lpstr>主要内容</vt:lpstr>
      <vt:lpstr>文件共享的动机</vt:lpstr>
      <vt:lpstr>静态文件共享</vt:lpstr>
      <vt:lpstr>静态文件共享</vt:lpstr>
      <vt:lpstr>静态文件共享</vt:lpstr>
      <vt:lpstr>静态文件共享</vt:lpstr>
      <vt:lpstr>动态文件共享</vt:lpstr>
      <vt:lpstr>文件保护</vt:lpstr>
      <vt:lpstr>文件保护</vt:lpstr>
      <vt:lpstr>文件保护</vt:lpstr>
      <vt:lpstr>主要内容</vt:lpstr>
      <vt:lpstr>UNIX数据一致性检查过程</vt:lpstr>
      <vt:lpstr>UNIX数据一致性检查过程</vt:lpstr>
      <vt:lpstr>UNIX数据一致性检查过程</vt:lpstr>
      <vt:lpstr>UNIX数据一致性检查过程</vt:lpstr>
      <vt:lpstr>PowerPoint 演示文稿</vt:lpstr>
      <vt:lpstr>课堂作业</vt:lpstr>
      <vt:lpstr>课堂作业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第0章  课程简介</dc:title>
  <dc:creator>Mingsong Lu</dc:creator>
  <cp:lastModifiedBy>zhuzongwei1988@outlook.com</cp:lastModifiedBy>
  <cp:revision>379</cp:revision>
  <dcterms:created xsi:type="dcterms:W3CDTF">2015-03-10T09:46:44Z</dcterms:created>
  <dcterms:modified xsi:type="dcterms:W3CDTF">2018-08-03T04:42:51Z</dcterms:modified>
</cp:coreProperties>
</file>