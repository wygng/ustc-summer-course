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9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6" r:id="rId58"/>
    <p:sldId id="317" r:id="rId59"/>
    <p:sldId id="319" r:id="rId60"/>
    <p:sldId id="320" r:id="rId61"/>
    <p:sldId id="321" r:id="rId62"/>
    <p:sldId id="322" r:id="rId63"/>
    <p:sldId id="323" r:id="rId64"/>
    <p:sldId id="324" r:id="rId65"/>
    <p:sldId id="325" r:id="rId66"/>
    <p:sldId id="326" r:id="rId67"/>
    <p:sldId id="327" r:id="rId68"/>
    <p:sldId id="328" r:id="rId69"/>
    <p:sldId id="329" r:id="rId70"/>
    <p:sldId id="330" r:id="rId71"/>
    <p:sldId id="331" r:id="rId72"/>
    <p:sldId id="332" r:id="rId73"/>
    <p:sldId id="333" r:id="rId74"/>
    <p:sldId id="334" r:id="rId75"/>
    <p:sldId id="335" r:id="rId76"/>
    <p:sldId id="336" r:id="rId77"/>
    <p:sldId id="337" r:id="rId78"/>
    <p:sldId id="338" r:id="rId79"/>
    <p:sldId id="339" r:id="rId80"/>
    <p:sldId id="340" r:id="rId81"/>
    <p:sldId id="341" r:id="rId82"/>
    <p:sldId id="342" r:id="rId83"/>
    <p:sldId id="343" r:id="rId84"/>
    <p:sldId id="344" r:id="rId85"/>
    <p:sldId id="345" r:id="rId86"/>
    <p:sldId id="346" r:id="rId87"/>
    <p:sldId id="347" r:id="rId88"/>
    <p:sldId id="348" r:id="rId89"/>
    <p:sldId id="349" r:id="rId90"/>
    <p:sldId id="350" r:id="rId91"/>
    <p:sldId id="351" r:id="rId92"/>
    <p:sldId id="352" r:id="rId93"/>
    <p:sldId id="353" r:id="rId9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25" autoAdjust="0"/>
    <p:restoredTop sz="94660"/>
  </p:normalViewPr>
  <p:slideViewPr>
    <p:cSldViewPr snapToGrid="0">
      <p:cViewPr varScale="1">
        <p:scale>
          <a:sx n="84" d="100"/>
          <a:sy n="84" d="100"/>
        </p:scale>
        <p:origin x="1430"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E82BA1-E2D1-46E6-8340-747B43510923}" type="datetimeFigureOut">
              <a:rPr lang="zh-CN" altLang="en-US" smtClean="0"/>
              <a:pPr/>
              <a:t>2018/8/3</a:t>
            </a:fld>
            <a:endParaRPr lang="zh-CN" alt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3F40E8-B080-4069-9916-BB6BA31401C1}" type="slidenum">
              <a:rPr lang="zh-CN" altLang="en-US" smtClean="0"/>
              <a:pPr/>
              <a:t>‹#›</a:t>
            </a:fld>
            <a:endParaRPr lang="zh-CN" altLang="en-US"/>
          </a:p>
        </p:txBody>
      </p:sp>
    </p:spTree>
    <p:extLst>
      <p:ext uri="{BB962C8B-B14F-4D97-AF65-F5344CB8AC3E}">
        <p14:creationId xmlns:p14="http://schemas.microsoft.com/office/powerpoint/2010/main" val="2365257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053F40E8-B080-4069-9916-BB6BA31401C1}" type="slidenum">
              <a:rPr lang="zh-CN" altLang="en-US" smtClean="0"/>
              <a:pPr/>
              <a:t>1</a:t>
            </a:fld>
            <a:endParaRPr lang="zh-CN" altLang="en-US"/>
          </a:p>
        </p:txBody>
      </p:sp>
    </p:spTree>
    <p:extLst>
      <p:ext uri="{BB962C8B-B14F-4D97-AF65-F5344CB8AC3E}">
        <p14:creationId xmlns:p14="http://schemas.microsoft.com/office/powerpoint/2010/main" val="19575988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60169739-D473-4AEE-B1D4-2221777FD447}" type="slidenum">
              <a:rPr lang="zh-CN" altLang="en-US" smtClean="0"/>
              <a:pPr/>
              <a:t>2</a:t>
            </a:fld>
            <a:endParaRPr lang="zh-CN" altLang="en-US"/>
          </a:p>
        </p:txBody>
      </p:sp>
    </p:spTree>
    <p:extLst>
      <p:ext uri="{BB962C8B-B14F-4D97-AF65-F5344CB8AC3E}">
        <p14:creationId xmlns:p14="http://schemas.microsoft.com/office/powerpoint/2010/main" val="4094196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60169739-D473-4AEE-B1D4-2221777FD447}" type="slidenum">
              <a:rPr lang="zh-CN" altLang="en-US" smtClean="0"/>
              <a:pPr/>
              <a:t>3</a:t>
            </a:fld>
            <a:endParaRPr lang="zh-CN" altLang="en-US"/>
          </a:p>
        </p:txBody>
      </p:sp>
    </p:spTree>
    <p:extLst>
      <p:ext uri="{BB962C8B-B14F-4D97-AF65-F5344CB8AC3E}">
        <p14:creationId xmlns:p14="http://schemas.microsoft.com/office/powerpoint/2010/main" val="41552764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60169739-D473-4AEE-B1D4-2221777FD447}" type="slidenum">
              <a:rPr lang="zh-CN" altLang="en-US" smtClean="0"/>
              <a:pPr/>
              <a:t>14</a:t>
            </a:fld>
            <a:endParaRPr lang="zh-CN" altLang="en-US"/>
          </a:p>
        </p:txBody>
      </p:sp>
    </p:spTree>
    <p:extLst>
      <p:ext uri="{BB962C8B-B14F-4D97-AF65-F5344CB8AC3E}">
        <p14:creationId xmlns:p14="http://schemas.microsoft.com/office/powerpoint/2010/main" val="870226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60169739-D473-4AEE-B1D4-2221777FD447}" type="slidenum">
              <a:rPr lang="zh-CN" altLang="en-US" smtClean="0"/>
              <a:pPr/>
              <a:t>33</a:t>
            </a:fld>
            <a:endParaRPr lang="zh-CN" altLang="en-US"/>
          </a:p>
        </p:txBody>
      </p:sp>
    </p:spTree>
    <p:extLst>
      <p:ext uri="{BB962C8B-B14F-4D97-AF65-F5344CB8AC3E}">
        <p14:creationId xmlns:p14="http://schemas.microsoft.com/office/powerpoint/2010/main" val="2861551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60169739-D473-4AEE-B1D4-2221777FD447}" type="slidenum">
              <a:rPr lang="zh-CN" altLang="en-US" smtClean="0"/>
              <a:pPr/>
              <a:t>56</a:t>
            </a:fld>
            <a:endParaRPr lang="zh-CN" altLang="en-US"/>
          </a:p>
        </p:txBody>
      </p:sp>
    </p:spTree>
    <p:extLst>
      <p:ext uri="{BB962C8B-B14F-4D97-AF65-F5344CB8AC3E}">
        <p14:creationId xmlns:p14="http://schemas.microsoft.com/office/powerpoint/2010/main" val="16501987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fld id="{60169739-D473-4AEE-B1D4-2221777FD447}" type="slidenum">
              <a:rPr lang="zh-CN" altLang="en-US" smtClean="0"/>
              <a:pPr/>
              <a:t>63</a:t>
            </a:fld>
            <a:endParaRPr lang="zh-CN" altLang="en-US"/>
          </a:p>
        </p:txBody>
      </p:sp>
    </p:spTree>
    <p:extLst>
      <p:ext uri="{BB962C8B-B14F-4D97-AF65-F5344CB8AC3E}">
        <p14:creationId xmlns:p14="http://schemas.microsoft.com/office/powerpoint/2010/main" val="41185647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3" name="幻灯片图像占位符 1"/>
          <p:cNvSpPr>
            <a:spLocks noGrp="1" noRot="1" noChangeAspect="1"/>
          </p:cNvSpPr>
          <p:nvPr>
            <p:ph type="sldImg"/>
          </p:nvPr>
        </p:nvSpPr>
        <p:spPr bwMode="auto">
          <a:noFill/>
          <a:ln>
            <a:solidFill>
              <a:srgbClr val="000000"/>
            </a:solidFill>
            <a:miter lim="800000"/>
          </a:ln>
        </p:spPr>
      </p:sp>
      <p:sp>
        <p:nvSpPr>
          <p:cNvPr id="294914" name="备注占位符 2"/>
          <p:cNvSpPr>
            <a:spLocks noGrp="1"/>
          </p:cNvSpPr>
          <p:nvPr>
            <p:ph type="body" idx="1"/>
          </p:nvPr>
        </p:nvSpPr>
        <p:spPr bwMode="auto">
          <a:noFill/>
        </p:spPr>
        <p:txBody>
          <a:bodyPr wrap="square" numCol="1" anchor="t" anchorCtr="0" compatLnSpc="1"/>
          <a:lstStyle/>
          <a:p>
            <a:pPr>
              <a:spcBef>
                <a:spcPct val="0"/>
              </a:spcBef>
            </a:pPr>
            <a:endParaRPr lang="zh-CN" altLang="en-US" smtClean="0"/>
          </a:p>
        </p:txBody>
      </p:sp>
      <p:sp>
        <p:nvSpPr>
          <p:cNvPr id="294915"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4AAA4A30-F643-404A-80F4-58BF81F7EE2C}" type="slidenum">
              <a:rPr lang="zh-CN" altLang="en-US">
                <a:cs typeface="华文仿宋" panose="02010600040101010101" charset="-122"/>
              </a:rPr>
              <a:pPr fontAlgn="base">
                <a:spcBef>
                  <a:spcPct val="0"/>
                </a:spcBef>
                <a:spcAft>
                  <a:spcPct val="0"/>
                </a:spcAft>
              </a:pPr>
              <a:t>93</a:t>
            </a:fld>
            <a:endParaRPr lang="en-US" altLang="zh-CN">
              <a:cs typeface="华文仿宋" panose="02010600040101010101" charset="-122"/>
            </a:endParaRPr>
          </a:p>
        </p:txBody>
      </p:sp>
    </p:spTree>
    <p:extLst>
      <p:ext uri="{BB962C8B-B14F-4D97-AF65-F5344CB8AC3E}">
        <p14:creationId xmlns:p14="http://schemas.microsoft.com/office/powerpoint/2010/main" val="3076162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atin typeface="微软雅黑" pitchFamily="34" charset="-122"/>
                <a:ea typeface="微软雅黑" pitchFamily="34" charset="-122"/>
              </a:defRPr>
            </a:lvl1pPr>
          </a:lstStyle>
          <a:p>
            <a:r>
              <a:rPr lang="en-US" altLang="zh-CN" dirty="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en-US" dirty="0"/>
          </a:p>
        </p:txBody>
      </p:sp>
      <p:sp>
        <p:nvSpPr>
          <p:cNvPr id="4" name="Date Placeholder 3"/>
          <p:cNvSpPr>
            <a:spLocks noGrp="1"/>
          </p:cNvSpPr>
          <p:nvPr>
            <p:ph type="dt" sz="half" idx="10"/>
          </p:nvPr>
        </p:nvSpPr>
        <p:spPr/>
        <p:txBody>
          <a:bodyPr/>
          <a:lstStyle/>
          <a:p>
            <a:fld id="{422E4BA6-157B-482E-806A-9713FC176529}" type="datetime1">
              <a:rPr lang="zh-CN" altLang="en-US" smtClean="0"/>
              <a:pPr/>
              <a:t>2018/8/3</a:t>
            </a:fld>
            <a:endParaRPr lang="zh-CN" altLang="en-US"/>
          </a:p>
        </p:txBody>
      </p:sp>
      <p:sp>
        <p:nvSpPr>
          <p:cNvPr id="5" name="Footer Placeholder 4"/>
          <p:cNvSpPr>
            <a:spLocks noGrp="1"/>
          </p:cNvSpPr>
          <p:nvPr>
            <p:ph type="ftr" sz="quarter" idx="11"/>
          </p:nvPr>
        </p:nvSpPr>
        <p:spPr/>
        <p:txBody>
          <a:bodyPr/>
          <a:lstStyle/>
          <a:p>
            <a:r>
              <a:rPr lang="en-US" altLang="zh-CN"/>
              <a:t>CH09 - Device Management</a:t>
            </a:r>
            <a:endParaRPr lang="zh-CN" altLang="en-US"/>
          </a:p>
        </p:txBody>
      </p:sp>
      <p:sp>
        <p:nvSpPr>
          <p:cNvPr id="6" name="Slide Number Placeholder 5"/>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1028041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F0775D05-D569-4CDA-99C8-B639DACBD5A6}" type="datetime1">
              <a:rPr lang="zh-CN" altLang="en-US" smtClean="0"/>
              <a:pPr/>
              <a:t>2018/8/3</a:t>
            </a:fld>
            <a:endParaRPr lang="zh-CN" altLang="en-US"/>
          </a:p>
        </p:txBody>
      </p:sp>
      <p:sp>
        <p:nvSpPr>
          <p:cNvPr id="5" name="Footer Placeholder 4"/>
          <p:cNvSpPr>
            <a:spLocks noGrp="1"/>
          </p:cNvSpPr>
          <p:nvPr>
            <p:ph type="ftr" sz="quarter" idx="11"/>
          </p:nvPr>
        </p:nvSpPr>
        <p:spPr/>
        <p:txBody>
          <a:bodyPr/>
          <a:lstStyle/>
          <a:p>
            <a:r>
              <a:rPr lang="en-US" altLang="zh-CN"/>
              <a:t>CH09 - Device Management</a:t>
            </a:r>
            <a:endParaRPr lang="zh-CN" altLang="en-US"/>
          </a:p>
        </p:txBody>
      </p:sp>
      <p:sp>
        <p:nvSpPr>
          <p:cNvPr id="6" name="Slide Number Placeholder 5"/>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515203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ltLang="zh-CN"/>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F35AD12C-98C7-4FE0-A8E1-77B83DFF85B2}" type="datetime1">
              <a:rPr lang="zh-CN" altLang="en-US" smtClean="0"/>
              <a:pPr/>
              <a:t>2018/8/3</a:t>
            </a:fld>
            <a:endParaRPr lang="zh-CN" altLang="en-US"/>
          </a:p>
        </p:txBody>
      </p:sp>
      <p:sp>
        <p:nvSpPr>
          <p:cNvPr id="5" name="Footer Placeholder 4"/>
          <p:cNvSpPr>
            <a:spLocks noGrp="1"/>
          </p:cNvSpPr>
          <p:nvPr>
            <p:ph type="ftr" sz="quarter" idx="11"/>
          </p:nvPr>
        </p:nvSpPr>
        <p:spPr/>
        <p:txBody>
          <a:bodyPr/>
          <a:lstStyle/>
          <a:p>
            <a:r>
              <a:rPr lang="en-US" altLang="zh-CN"/>
              <a:t>CH09 - Device Management</a:t>
            </a:r>
            <a:endParaRPr lang="zh-CN" altLang="en-US"/>
          </a:p>
        </p:txBody>
      </p:sp>
      <p:sp>
        <p:nvSpPr>
          <p:cNvPr id="6" name="Slide Number Placeholder 5"/>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1323900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0F94EE6A-0AA2-457C-9A09-F52AF2FD6E50}" type="datetime1">
              <a:rPr lang="zh-CN" altLang="en-US" smtClean="0"/>
              <a:pPr/>
              <a:t>2018/8/3</a:t>
            </a:fld>
            <a:endParaRPr lang="zh-CN" altLang="en-US"/>
          </a:p>
        </p:txBody>
      </p:sp>
      <p:sp>
        <p:nvSpPr>
          <p:cNvPr id="6" name="Footer Placeholder 5"/>
          <p:cNvSpPr>
            <a:spLocks noGrp="1"/>
          </p:cNvSpPr>
          <p:nvPr>
            <p:ph type="ftr" sz="quarter" idx="11"/>
          </p:nvPr>
        </p:nvSpPr>
        <p:spPr/>
        <p:txBody>
          <a:bodyPr/>
          <a:lstStyle/>
          <a:p>
            <a:r>
              <a:rPr lang="en-US" altLang="zh-CN"/>
              <a:t>CH09 - Device Management</a:t>
            </a:r>
            <a:endParaRPr lang="zh-CN" altLang="en-US"/>
          </a:p>
        </p:txBody>
      </p:sp>
      <p:sp>
        <p:nvSpPr>
          <p:cNvPr id="7" name="Slide Number Placeholder 6"/>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2828087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44774CC6-172E-440D-AC11-9181AE8EB847}" type="datetime1">
              <a:rPr lang="zh-CN" altLang="en-US" smtClean="0"/>
              <a:pPr/>
              <a:t>2018/8/3</a:t>
            </a:fld>
            <a:endParaRPr lang="zh-CN" altLang="en-US"/>
          </a:p>
        </p:txBody>
      </p:sp>
      <p:sp>
        <p:nvSpPr>
          <p:cNvPr id="8" name="Footer Placeholder 7"/>
          <p:cNvSpPr>
            <a:spLocks noGrp="1"/>
          </p:cNvSpPr>
          <p:nvPr>
            <p:ph type="ftr" sz="quarter" idx="11"/>
          </p:nvPr>
        </p:nvSpPr>
        <p:spPr/>
        <p:txBody>
          <a:bodyPr/>
          <a:lstStyle/>
          <a:p>
            <a:r>
              <a:rPr lang="en-US" altLang="zh-CN"/>
              <a:t>CH09 - Device Management</a:t>
            </a:r>
            <a:endParaRPr lang="zh-CN" altLang="en-US"/>
          </a:p>
        </p:txBody>
      </p:sp>
      <p:sp>
        <p:nvSpPr>
          <p:cNvPr id="9" name="Slide Number Placeholder 8"/>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2195913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D6A54E06-AD8C-499D-AE91-49B591F7400F}" type="datetime1">
              <a:rPr lang="zh-CN" altLang="en-US" smtClean="0"/>
              <a:pPr/>
              <a:t>2018/8/3</a:t>
            </a:fld>
            <a:endParaRPr lang="zh-CN" altLang="en-US"/>
          </a:p>
        </p:txBody>
      </p:sp>
      <p:sp>
        <p:nvSpPr>
          <p:cNvPr id="4" name="Footer Placeholder 3"/>
          <p:cNvSpPr>
            <a:spLocks noGrp="1"/>
          </p:cNvSpPr>
          <p:nvPr>
            <p:ph type="ftr" sz="quarter" idx="11"/>
          </p:nvPr>
        </p:nvSpPr>
        <p:spPr/>
        <p:txBody>
          <a:bodyPr/>
          <a:lstStyle/>
          <a:p>
            <a:r>
              <a:rPr lang="en-US" altLang="zh-CN"/>
              <a:t>CH09 - Device Management</a:t>
            </a:r>
            <a:endParaRPr lang="zh-CN" altLang="en-US"/>
          </a:p>
        </p:txBody>
      </p:sp>
      <p:sp>
        <p:nvSpPr>
          <p:cNvPr id="5" name="Slide Number Placeholder 4"/>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3285435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4A5C88-B4D1-486C-B44C-171DEFB844BC}" type="datetime1">
              <a:rPr lang="zh-CN" altLang="en-US" smtClean="0"/>
              <a:pPr/>
              <a:t>2018/8/3</a:t>
            </a:fld>
            <a:endParaRPr lang="zh-CN" altLang="en-US"/>
          </a:p>
        </p:txBody>
      </p:sp>
      <p:sp>
        <p:nvSpPr>
          <p:cNvPr id="3" name="Footer Placeholder 2"/>
          <p:cNvSpPr>
            <a:spLocks noGrp="1"/>
          </p:cNvSpPr>
          <p:nvPr>
            <p:ph type="ftr" sz="quarter" idx="11"/>
          </p:nvPr>
        </p:nvSpPr>
        <p:spPr/>
        <p:txBody>
          <a:bodyPr/>
          <a:lstStyle/>
          <a:p>
            <a:r>
              <a:rPr lang="en-US" altLang="zh-CN"/>
              <a:t>CH09 - Device Management</a:t>
            </a:r>
            <a:endParaRPr lang="zh-CN" altLang="en-US"/>
          </a:p>
        </p:txBody>
      </p:sp>
      <p:sp>
        <p:nvSpPr>
          <p:cNvPr id="4" name="Slide Number Placeholder 3"/>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3846815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ltLang="zh-CN"/>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9EF1DBC3-79EE-4908-8B8C-5EE89FF5D55D}" type="datetime1">
              <a:rPr lang="zh-CN" altLang="en-US" smtClean="0"/>
              <a:pPr/>
              <a:t>2018/8/3</a:t>
            </a:fld>
            <a:endParaRPr lang="zh-CN" altLang="en-US"/>
          </a:p>
        </p:txBody>
      </p:sp>
      <p:sp>
        <p:nvSpPr>
          <p:cNvPr id="6" name="Footer Placeholder 5"/>
          <p:cNvSpPr>
            <a:spLocks noGrp="1"/>
          </p:cNvSpPr>
          <p:nvPr>
            <p:ph type="ftr" sz="quarter" idx="11"/>
          </p:nvPr>
        </p:nvSpPr>
        <p:spPr/>
        <p:txBody>
          <a:bodyPr/>
          <a:lstStyle/>
          <a:p>
            <a:r>
              <a:rPr lang="en-US" altLang="zh-CN"/>
              <a:t>CH09 - Device Management</a:t>
            </a:r>
            <a:endParaRPr lang="zh-CN" altLang="en-US"/>
          </a:p>
        </p:txBody>
      </p:sp>
      <p:sp>
        <p:nvSpPr>
          <p:cNvPr id="7" name="Slide Number Placeholder 6"/>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2044897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5238C56E-C738-4C87-AE60-351F2EFF4F6B}" type="datetime1">
              <a:rPr lang="zh-CN" altLang="en-US" smtClean="0"/>
              <a:pPr/>
              <a:t>2018/8/3</a:t>
            </a:fld>
            <a:endParaRPr lang="zh-CN" altLang="en-US"/>
          </a:p>
        </p:txBody>
      </p:sp>
      <p:sp>
        <p:nvSpPr>
          <p:cNvPr id="6" name="Footer Placeholder 5"/>
          <p:cNvSpPr>
            <a:spLocks noGrp="1"/>
          </p:cNvSpPr>
          <p:nvPr>
            <p:ph type="ftr" sz="quarter" idx="11"/>
          </p:nvPr>
        </p:nvSpPr>
        <p:spPr/>
        <p:txBody>
          <a:bodyPr/>
          <a:lstStyle/>
          <a:p>
            <a:r>
              <a:rPr lang="en-US" altLang="zh-CN"/>
              <a:t>CH09 - Device Management</a:t>
            </a:r>
            <a:endParaRPr lang="zh-CN" altLang="en-US"/>
          </a:p>
        </p:txBody>
      </p:sp>
      <p:sp>
        <p:nvSpPr>
          <p:cNvPr id="7" name="Slide Number Placeholder 6"/>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314876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F27B9923-4C88-4004-8148-8EBE773F41B9}" type="datetime1">
              <a:rPr lang="zh-CN" altLang="en-US" smtClean="0"/>
              <a:pPr/>
              <a:t>2018/8/3</a:t>
            </a:fld>
            <a:endParaRPr lang="zh-CN" altLang="en-US"/>
          </a:p>
        </p:txBody>
      </p:sp>
      <p:sp>
        <p:nvSpPr>
          <p:cNvPr id="5" name="Footer Placeholder 4"/>
          <p:cNvSpPr>
            <a:spLocks noGrp="1"/>
          </p:cNvSpPr>
          <p:nvPr>
            <p:ph type="ftr" sz="quarter" idx="11"/>
          </p:nvPr>
        </p:nvSpPr>
        <p:spPr/>
        <p:txBody>
          <a:bodyPr/>
          <a:lstStyle/>
          <a:p>
            <a:r>
              <a:rPr lang="en-US" altLang="zh-CN"/>
              <a:t>CH09 - Device Management</a:t>
            </a:r>
            <a:endParaRPr lang="zh-CN" altLang="en-US"/>
          </a:p>
        </p:txBody>
      </p:sp>
      <p:sp>
        <p:nvSpPr>
          <p:cNvPr id="6" name="Slide Number Placeholder 5"/>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2786777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C0CA3E6-A591-4E3E-A3F3-27570C8D7180}" type="datetime1">
              <a:rPr lang="zh-CN" altLang="en-US" smtClean="0"/>
              <a:pPr/>
              <a:t>2018/8/3</a:t>
            </a:fld>
            <a:endParaRPr lang="zh-CN" altLang="en-US"/>
          </a:p>
        </p:txBody>
      </p:sp>
      <p:sp>
        <p:nvSpPr>
          <p:cNvPr id="5" name="Footer Placeholder 4"/>
          <p:cNvSpPr>
            <a:spLocks noGrp="1"/>
          </p:cNvSpPr>
          <p:nvPr>
            <p:ph type="ftr" sz="quarter" idx="11"/>
          </p:nvPr>
        </p:nvSpPr>
        <p:spPr/>
        <p:txBody>
          <a:bodyPr/>
          <a:lstStyle/>
          <a:p>
            <a:r>
              <a:rPr lang="en-US" altLang="zh-CN"/>
              <a:t>CH09 - Device Management</a:t>
            </a:r>
            <a:endParaRPr lang="zh-CN" altLang="en-US"/>
          </a:p>
        </p:txBody>
      </p:sp>
      <p:sp>
        <p:nvSpPr>
          <p:cNvPr id="6" name="Slide Number Placeholder 5"/>
          <p:cNvSpPr>
            <a:spLocks noGrp="1"/>
          </p:cNvSpPr>
          <p:nvPr>
            <p:ph type="sldNum" sz="quarter" idx="12"/>
          </p:nvPr>
        </p:nvSpPr>
        <p:spPr/>
        <p:txBody>
          <a:body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1319854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3712" y="124058"/>
            <a:ext cx="7886700" cy="693274"/>
          </a:xfrm>
          <a:prstGeom prst="rect">
            <a:avLst/>
          </a:prstGeom>
        </p:spPr>
        <p:txBody>
          <a:bodyPr vert="horz" lIns="91440" tIns="45720" rIns="91440" bIns="45720" rtlCol="0" anchor="ctr">
            <a:normAutofit/>
          </a:bodyPr>
          <a:lstStyle/>
          <a:p>
            <a:r>
              <a:rPr lang="en-US" altLang="zh-CN" dirty="0"/>
              <a:t>Click to edit Master title style</a:t>
            </a:r>
            <a:endParaRPr lang="en-US" dirty="0"/>
          </a:p>
        </p:txBody>
      </p:sp>
      <p:sp>
        <p:nvSpPr>
          <p:cNvPr id="3" name="Text Placeholder 2"/>
          <p:cNvSpPr>
            <a:spLocks noGrp="1"/>
          </p:cNvSpPr>
          <p:nvPr>
            <p:ph type="body" idx="1"/>
          </p:nvPr>
        </p:nvSpPr>
        <p:spPr>
          <a:xfrm>
            <a:off x="628650" y="1317600"/>
            <a:ext cx="7886700" cy="4917600"/>
          </a:xfrm>
          <a:prstGeom prst="rect">
            <a:avLst/>
          </a:prstGeom>
        </p:spPr>
        <p:txBody>
          <a:bodyPr vert="horz" lIns="91440" tIns="45720" rIns="91440" bIns="45720" rtlCol="0">
            <a:normAutofit/>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100">
                <a:solidFill>
                  <a:schemeClr val="tx1">
                    <a:tint val="75000"/>
                  </a:schemeClr>
                </a:solidFill>
                <a:latin typeface="Segoe UI Symbol" panose="020B0502040204020203" pitchFamily="34" charset="0"/>
              </a:defRPr>
            </a:lvl1pPr>
          </a:lstStyle>
          <a:p>
            <a:fld id="{E92C008B-3150-4331-8DBD-ECA7C47B7AEC}" type="datetime1">
              <a:rPr lang="zh-CN" altLang="en-US" smtClean="0"/>
              <a:pPr/>
              <a:t>2018/8/3</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100">
                <a:solidFill>
                  <a:schemeClr val="tx1">
                    <a:tint val="75000"/>
                  </a:schemeClr>
                </a:solidFill>
                <a:latin typeface="Segoe UI Symbol" panose="020B0502040204020203" pitchFamily="34" charset="0"/>
              </a:defRPr>
            </a:lvl1pPr>
          </a:lstStyle>
          <a:p>
            <a:r>
              <a:rPr lang="en-US" altLang="zh-CN">
                <a:ea typeface="Segoe UI Symbol" panose="020B0502040204020203" pitchFamily="34" charset="0"/>
              </a:rPr>
              <a:t>CH09 - Device Management</a:t>
            </a:r>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100">
                <a:solidFill>
                  <a:schemeClr val="tx1">
                    <a:tint val="75000"/>
                  </a:schemeClr>
                </a:solidFill>
                <a:latin typeface="Segoe UI Symbol" panose="020B0502040204020203" pitchFamily="34" charset="0"/>
              </a:defRPr>
            </a:lvl1pPr>
          </a:lstStyle>
          <a:p>
            <a:fld id="{56BAEEBF-3716-487D-AE7C-1F66A971DC3D}" type="slidenum">
              <a:rPr lang="zh-CN" altLang="en-US" smtClean="0"/>
              <a:pPr/>
              <a:t>‹#›</a:t>
            </a:fld>
            <a:endParaRPr lang="zh-CN" altLang="en-US"/>
          </a:p>
        </p:txBody>
      </p:sp>
    </p:spTree>
    <p:extLst>
      <p:ext uri="{BB962C8B-B14F-4D97-AF65-F5344CB8AC3E}">
        <p14:creationId xmlns:p14="http://schemas.microsoft.com/office/powerpoint/2010/main" val="15612909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lnSpc>
          <a:spcPct val="90000"/>
        </a:lnSpc>
        <a:spcBef>
          <a:spcPct val="0"/>
        </a:spcBef>
        <a:buNone/>
        <a:defRPr sz="3600" kern="1200">
          <a:solidFill>
            <a:schemeClr val="tx1"/>
          </a:solidFill>
          <a:latin typeface="微软雅黑" pitchFamily="34" charset="-122"/>
          <a:ea typeface="微软雅黑" pitchFamily="34" charset="-122"/>
          <a:cs typeface="微软雅黑" pitchFamily="34" charset="-122"/>
        </a:defRPr>
      </a:lvl1pPr>
    </p:titleStyle>
    <p:bodyStyle>
      <a:lvl1pPr marL="228600" indent="-228600" algn="l" defTabSz="914400" rtl="0" eaLnBrk="1" latinLnBrk="0" hangingPunct="1">
        <a:lnSpc>
          <a:spcPct val="125000"/>
        </a:lnSpc>
        <a:spcBef>
          <a:spcPts val="1000"/>
        </a:spcBef>
        <a:buFont typeface="Arial" panose="020B0604020202020204" pitchFamily="34" charset="0"/>
        <a:buChar char="•"/>
        <a:defRPr sz="2400" kern="1200">
          <a:solidFill>
            <a:schemeClr val="tx1"/>
          </a:solidFill>
          <a:latin typeface="微软雅黑" pitchFamily="34" charset="-122"/>
          <a:ea typeface="微软雅黑" pitchFamily="34" charset="-122"/>
          <a:cs typeface="微软雅黑" pitchFamily="34" charset="-122"/>
        </a:defRPr>
      </a:lvl1pPr>
      <a:lvl2pPr marL="685800" indent="-228600" algn="l" defTabSz="914400" rtl="0" eaLnBrk="1" latinLnBrk="0" hangingPunct="1">
        <a:lnSpc>
          <a:spcPct val="125000"/>
        </a:lnSpc>
        <a:spcBef>
          <a:spcPts val="500"/>
        </a:spcBef>
        <a:buFont typeface="Arial" panose="020B0604020202020204" pitchFamily="34" charset="0"/>
        <a:buChar char="•"/>
        <a:defRPr sz="2000" kern="1200">
          <a:solidFill>
            <a:schemeClr val="tx1"/>
          </a:solidFill>
          <a:latin typeface="微软雅黑" pitchFamily="34" charset="-122"/>
          <a:ea typeface="微软雅黑" pitchFamily="34" charset="-122"/>
          <a:cs typeface="微软雅黑" pitchFamily="34" charset="-122"/>
        </a:defRPr>
      </a:lvl2pPr>
      <a:lvl3pPr marL="1143000" indent="-228600" algn="l" defTabSz="914400" rtl="0" eaLnBrk="1" latinLnBrk="0" hangingPunct="1">
        <a:lnSpc>
          <a:spcPct val="125000"/>
        </a:lnSpc>
        <a:spcBef>
          <a:spcPts val="500"/>
        </a:spcBef>
        <a:buFont typeface="Arial" panose="020B0604020202020204" pitchFamily="34" charset="0"/>
        <a:buChar char="•"/>
        <a:defRPr sz="1800" kern="1200">
          <a:solidFill>
            <a:schemeClr val="tx1"/>
          </a:solidFill>
          <a:latin typeface="微软雅黑" pitchFamily="34" charset="-122"/>
          <a:ea typeface="微软雅黑" pitchFamily="34" charset="-122"/>
          <a:cs typeface="微软雅黑" pitchFamily="34" charset="-122"/>
        </a:defRPr>
      </a:lvl3pPr>
      <a:lvl4pPr marL="1600200" indent="-228600" algn="l" defTabSz="914400" rtl="0" eaLnBrk="1" latinLnBrk="0" hangingPunct="1">
        <a:lnSpc>
          <a:spcPct val="125000"/>
        </a:lnSpc>
        <a:spcBef>
          <a:spcPts val="500"/>
        </a:spcBef>
        <a:buFont typeface="Arial" panose="020B0604020202020204" pitchFamily="34" charset="0"/>
        <a:buChar char="•"/>
        <a:defRPr sz="1800" kern="1200">
          <a:solidFill>
            <a:schemeClr val="tx1"/>
          </a:solidFill>
          <a:latin typeface="微软雅黑" pitchFamily="34" charset="-122"/>
          <a:ea typeface="微软雅黑" pitchFamily="34" charset="-122"/>
          <a:cs typeface="微软雅黑" pitchFamily="34" charset="-122"/>
        </a:defRPr>
      </a:lvl4pPr>
      <a:lvl5pPr marL="2057400" indent="-228600" algn="l" defTabSz="914400" rtl="0" eaLnBrk="1" latinLnBrk="0" hangingPunct="1">
        <a:lnSpc>
          <a:spcPct val="125000"/>
        </a:lnSpc>
        <a:spcBef>
          <a:spcPts val="500"/>
        </a:spcBef>
        <a:buFont typeface="Arial" panose="020B0604020202020204" pitchFamily="34" charset="0"/>
        <a:buChar char="•"/>
        <a:defRPr sz="1800" kern="1200">
          <a:solidFill>
            <a:schemeClr val="tx1"/>
          </a:solidFill>
          <a:latin typeface="微软雅黑" pitchFamily="34" charset="-122"/>
          <a:ea typeface="微软雅黑" pitchFamily="34" charset="-122"/>
          <a:cs typeface="微软雅黑" pitchFamily="3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gif"/><Relationship Id="rId1" Type="http://schemas.openxmlformats.org/officeDocument/2006/relationships/slideLayout" Target="../slideLayouts/slideLayout2.xml"/><Relationship Id="rId6" Type="http://schemas.openxmlformats.org/officeDocument/2006/relationships/image" Target="../media/image8.gif"/><Relationship Id="rId5" Type="http://schemas.openxmlformats.org/officeDocument/2006/relationships/image" Target="../media/image7.gif"/><Relationship Id="rId4" Type="http://schemas.openxmlformats.org/officeDocument/2006/relationships/image" Target="../media/image6.gi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2.e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024697"/>
          </a:xfrm>
        </p:spPr>
        <p:txBody>
          <a:bodyPr>
            <a:normAutofit/>
          </a:bodyPr>
          <a:lstStyle/>
          <a:p>
            <a:r>
              <a:rPr lang="zh-CN" altLang="en-US" sz="4800" dirty="0"/>
              <a:t>第</a:t>
            </a:r>
            <a:r>
              <a:rPr lang="en-US" altLang="zh-CN" sz="4800" dirty="0"/>
              <a:t>9</a:t>
            </a:r>
            <a:r>
              <a:rPr lang="zh-CN" altLang="en-US" sz="4800" dirty="0"/>
              <a:t>章  设备管理</a:t>
            </a:r>
          </a:p>
        </p:txBody>
      </p:sp>
      <p:sp>
        <p:nvSpPr>
          <p:cNvPr id="3" name="Subtitle 2"/>
          <p:cNvSpPr>
            <a:spLocks noGrp="1"/>
          </p:cNvSpPr>
          <p:nvPr>
            <p:ph type="subTitle" idx="1"/>
          </p:nvPr>
        </p:nvSpPr>
        <p:spPr>
          <a:xfrm>
            <a:off x="1143000" y="3815398"/>
            <a:ext cx="6858000" cy="1655762"/>
          </a:xfrm>
        </p:spPr>
        <p:txBody>
          <a:bodyPr>
            <a:normAutofit/>
          </a:bodyPr>
          <a:lstStyle/>
          <a:p>
            <a:r>
              <a:rPr lang="zh-CN" altLang="en-US" b="1" dirty="0" smtClean="0">
                <a:latin typeface="楷体" panose="02010609060101010101" pitchFamily="49" charset="-122"/>
                <a:ea typeface="楷体" panose="02010609060101010101" pitchFamily="49" charset="-122"/>
              </a:rPr>
              <a:t>朱宗卫</a:t>
            </a:r>
            <a:endParaRPr lang="en-US" altLang="zh-CN" b="1" dirty="0">
              <a:latin typeface="楷体" panose="02010609060101010101" pitchFamily="49" charset="-122"/>
              <a:ea typeface="楷体" panose="02010609060101010101" pitchFamily="49" charset="-122"/>
            </a:endParaRPr>
          </a:p>
          <a:p>
            <a:r>
              <a:rPr lang="zh-CN" altLang="en-US" b="1" dirty="0" smtClean="0">
                <a:latin typeface="楷体" panose="02010609060101010101" pitchFamily="49" charset="-122"/>
                <a:ea typeface="楷体" panose="02010609060101010101" pitchFamily="49" charset="-122"/>
              </a:rPr>
              <a:t>中国科学技术大学  软件学院</a:t>
            </a:r>
            <a:endParaRPr lang="en-US" altLang="zh-CN" b="1" dirty="0">
              <a:latin typeface="楷体" panose="02010609060101010101" pitchFamily="49" charset="-122"/>
              <a:ea typeface="楷体" panose="02010609060101010101" pitchFamily="49" charset="-122"/>
            </a:endParaRPr>
          </a:p>
          <a:p>
            <a:endParaRPr lang="zh-CN" altLang="en-US"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202053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p>
        </p:txBody>
      </p:sp>
      <p:sp>
        <p:nvSpPr>
          <p:cNvPr id="3" name="Content Placeholder 2"/>
          <p:cNvSpPr>
            <a:spLocks noGrp="1"/>
          </p:cNvSpPr>
          <p:nvPr>
            <p:ph idx="1"/>
          </p:nvPr>
        </p:nvSpPr>
        <p:spPr/>
        <p:txBody>
          <a:bodyPr/>
          <a:lstStyle/>
          <a:p>
            <a:r>
              <a:rPr lang="en-US" altLang="zh-CN" dirty="0"/>
              <a:t>I/O</a:t>
            </a:r>
            <a:r>
              <a:rPr lang="zh-CN" altLang="en-US" dirty="0"/>
              <a:t>管理基本知识</a:t>
            </a:r>
            <a:endParaRPr lang="en-US" altLang="zh-CN" dirty="0"/>
          </a:p>
          <a:p>
            <a:r>
              <a:rPr lang="en-US" altLang="zh-CN" dirty="0"/>
              <a:t>I/O</a:t>
            </a:r>
            <a:r>
              <a:rPr lang="zh-CN" altLang="en-US" dirty="0"/>
              <a:t>控制方式</a:t>
            </a:r>
            <a:endParaRPr lang="en-US" altLang="zh-CN" dirty="0"/>
          </a:p>
          <a:p>
            <a:r>
              <a:rPr lang="zh-CN" altLang="en-US" dirty="0"/>
              <a:t>缓冲技术</a:t>
            </a:r>
            <a:endParaRPr lang="en-US" altLang="zh-CN" dirty="0"/>
          </a:p>
          <a:p>
            <a:r>
              <a:rPr lang="zh-CN" altLang="en-US" dirty="0"/>
              <a:t>设备分配与回收</a:t>
            </a:r>
            <a:endParaRPr lang="en-US" altLang="zh-CN" dirty="0"/>
          </a:p>
          <a:p>
            <a:r>
              <a:rPr lang="zh-CN" altLang="en-US" dirty="0"/>
              <a:t>磁盘存储器的管理</a:t>
            </a:r>
            <a:endParaRPr lang="en-US" altLang="zh-CN" dirty="0"/>
          </a:p>
          <a:p>
            <a:r>
              <a:rPr lang="en-US" altLang="zh-CN" dirty="0"/>
              <a:t>RAID</a:t>
            </a:r>
            <a:r>
              <a:rPr lang="zh-CN" altLang="en-US" dirty="0"/>
              <a:t>技术</a:t>
            </a:r>
          </a:p>
        </p:txBody>
      </p:sp>
      <p:sp>
        <p:nvSpPr>
          <p:cNvPr id="4" name="Date Placeholder 3"/>
          <p:cNvSpPr>
            <a:spLocks noGrp="1"/>
          </p:cNvSpPr>
          <p:nvPr>
            <p:ph type="dt" sz="half" idx="10"/>
          </p:nvPr>
        </p:nvSpPr>
        <p:spPr/>
        <p:txBody>
          <a:bodyPr/>
          <a:lstStyle/>
          <a:p>
            <a:fld id="{1A1ECC62-C339-4D83-85BB-E6EEB9A3B86C}"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a:t>
            </a:fld>
            <a:endParaRPr lang="zh-CN" altLang="en-US" dirty="0"/>
          </a:p>
        </p:txBody>
      </p:sp>
    </p:spTree>
    <p:extLst>
      <p:ext uri="{BB962C8B-B14F-4D97-AF65-F5344CB8AC3E}">
        <p14:creationId xmlns:p14="http://schemas.microsoft.com/office/powerpoint/2010/main" val="2753530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p>
        </p:txBody>
      </p:sp>
      <p:sp>
        <p:nvSpPr>
          <p:cNvPr id="3" name="Content Placeholder 2"/>
          <p:cNvSpPr>
            <a:spLocks noGrp="1"/>
          </p:cNvSpPr>
          <p:nvPr>
            <p:ph idx="1"/>
          </p:nvPr>
        </p:nvSpPr>
        <p:spPr/>
        <p:txBody>
          <a:bodyPr/>
          <a:lstStyle/>
          <a:p>
            <a:r>
              <a:rPr lang="en-US" altLang="zh-CN" dirty="0">
                <a:solidFill>
                  <a:srgbClr val="FFC000"/>
                </a:solidFill>
              </a:rPr>
              <a:t>I/O</a:t>
            </a:r>
            <a:r>
              <a:rPr lang="zh-CN" altLang="en-US" dirty="0">
                <a:solidFill>
                  <a:srgbClr val="FFC000"/>
                </a:solidFill>
              </a:rPr>
              <a:t>管理基本知识</a:t>
            </a:r>
            <a:endParaRPr lang="en-US" altLang="zh-CN" dirty="0">
              <a:solidFill>
                <a:srgbClr val="FFC000"/>
              </a:solidFill>
            </a:endParaRPr>
          </a:p>
          <a:p>
            <a:r>
              <a:rPr lang="en-US" altLang="zh-CN" dirty="0">
                <a:solidFill>
                  <a:schemeClr val="bg1">
                    <a:lumMod val="85000"/>
                  </a:schemeClr>
                </a:solidFill>
              </a:rPr>
              <a:t>I/O</a:t>
            </a:r>
            <a:r>
              <a:rPr lang="zh-CN" altLang="en-US" dirty="0">
                <a:solidFill>
                  <a:schemeClr val="bg1">
                    <a:lumMod val="85000"/>
                  </a:schemeClr>
                </a:solidFill>
              </a:rPr>
              <a:t>控制方式</a:t>
            </a:r>
            <a:endParaRPr lang="en-US" altLang="zh-CN" dirty="0">
              <a:solidFill>
                <a:schemeClr val="bg1">
                  <a:lumMod val="85000"/>
                </a:schemeClr>
              </a:solidFill>
            </a:endParaRPr>
          </a:p>
          <a:p>
            <a:r>
              <a:rPr lang="zh-CN" altLang="en-US" dirty="0">
                <a:solidFill>
                  <a:schemeClr val="bg1">
                    <a:lumMod val="85000"/>
                  </a:schemeClr>
                </a:solidFill>
              </a:rPr>
              <a:t>缓冲技术</a:t>
            </a:r>
            <a:endParaRPr lang="en-US" altLang="zh-CN" dirty="0">
              <a:solidFill>
                <a:schemeClr val="bg1">
                  <a:lumMod val="85000"/>
                </a:schemeClr>
              </a:solidFill>
            </a:endParaRPr>
          </a:p>
          <a:p>
            <a:r>
              <a:rPr lang="zh-CN" altLang="en-US" dirty="0">
                <a:solidFill>
                  <a:schemeClr val="bg1">
                    <a:lumMod val="85000"/>
                  </a:schemeClr>
                </a:solidFill>
              </a:rPr>
              <a:t>设备分配与回收</a:t>
            </a:r>
            <a:endParaRPr lang="en-US" altLang="zh-CN" dirty="0">
              <a:solidFill>
                <a:schemeClr val="bg1">
                  <a:lumMod val="85000"/>
                </a:schemeClr>
              </a:solidFill>
            </a:endParaRPr>
          </a:p>
          <a:p>
            <a:r>
              <a:rPr lang="zh-CN" altLang="en-US" dirty="0">
                <a:solidFill>
                  <a:schemeClr val="bg1">
                    <a:lumMod val="85000"/>
                  </a:schemeClr>
                </a:solidFill>
              </a:rPr>
              <a:t>磁盘存储器的管理</a:t>
            </a:r>
            <a:endParaRPr lang="en-US" altLang="zh-CN" dirty="0">
              <a:solidFill>
                <a:schemeClr val="bg1">
                  <a:lumMod val="85000"/>
                </a:schemeClr>
              </a:solidFill>
            </a:endParaRPr>
          </a:p>
          <a:p>
            <a:r>
              <a:rPr lang="en-US" altLang="zh-CN" dirty="0">
                <a:solidFill>
                  <a:schemeClr val="bg1">
                    <a:lumMod val="85000"/>
                  </a:schemeClr>
                </a:solidFill>
              </a:rPr>
              <a:t>RAID</a:t>
            </a:r>
            <a:r>
              <a:rPr lang="zh-CN" altLang="en-US" dirty="0">
                <a:solidFill>
                  <a:schemeClr val="bg1">
                    <a:lumMod val="85000"/>
                  </a:schemeClr>
                </a:solidFill>
              </a:rPr>
              <a:t>技术</a:t>
            </a:r>
          </a:p>
        </p:txBody>
      </p:sp>
      <p:sp>
        <p:nvSpPr>
          <p:cNvPr id="4" name="Date Placeholder 3"/>
          <p:cNvSpPr>
            <a:spLocks noGrp="1"/>
          </p:cNvSpPr>
          <p:nvPr>
            <p:ph type="dt" sz="half" idx="10"/>
          </p:nvPr>
        </p:nvSpPr>
        <p:spPr/>
        <p:txBody>
          <a:bodyPr/>
          <a:lstStyle/>
          <a:p>
            <a:fld id="{7309D3C0-AFDC-4EEB-A40E-B9BA16FDA264}"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a:t>
            </a:fld>
            <a:endParaRPr lang="zh-CN" altLang="en-US" dirty="0"/>
          </a:p>
        </p:txBody>
      </p:sp>
    </p:spTree>
    <p:extLst>
      <p:ext uri="{BB962C8B-B14F-4D97-AF65-F5344CB8AC3E}">
        <p14:creationId xmlns:p14="http://schemas.microsoft.com/office/powerpoint/2010/main" val="2451109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外设的分类</a:t>
            </a:r>
          </a:p>
        </p:txBody>
      </p:sp>
      <p:sp>
        <p:nvSpPr>
          <p:cNvPr id="3" name="Content Placeholder 2"/>
          <p:cNvSpPr>
            <a:spLocks noGrp="1"/>
          </p:cNvSpPr>
          <p:nvPr>
            <p:ph idx="1"/>
          </p:nvPr>
        </p:nvSpPr>
        <p:spPr/>
        <p:txBody>
          <a:bodyPr/>
          <a:lstStyle/>
          <a:p>
            <a:r>
              <a:rPr lang="zh-CN" altLang="en-US" dirty="0"/>
              <a:t>按交互对象分类</a:t>
            </a:r>
            <a:endParaRPr lang="en-US" altLang="zh-CN" dirty="0"/>
          </a:p>
          <a:p>
            <a:pPr lvl="1"/>
            <a:r>
              <a:rPr lang="zh-CN" altLang="en-US" dirty="0"/>
              <a:t>人机交互设备：如显示器、打印机、键盘、鼠标</a:t>
            </a:r>
            <a:endParaRPr lang="en-US" altLang="zh-CN" dirty="0"/>
          </a:p>
          <a:p>
            <a:pPr lvl="1"/>
            <a:r>
              <a:rPr lang="zh-CN" altLang="en-US" dirty="0"/>
              <a:t>与其它电子设备交互的设备：磁盘、磁带、传感器、控制器</a:t>
            </a:r>
            <a:endParaRPr lang="en-US" altLang="zh-CN" dirty="0"/>
          </a:p>
          <a:p>
            <a:pPr lvl="1"/>
            <a:r>
              <a:rPr lang="zh-CN" altLang="en-US" dirty="0"/>
              <a:t>计算机之间的通信设备：网卡、调制解调器</a:t>
            </a:r>
            <a:endParaRPr lang="en-US" altLang="zh-CN" dirty="0"/>
          </a:p>
          <a:p>
            <a:endParaRPr lang="en-US" altLang="zh-CN" dirty="0"/>
          </a:p>
          <a:p>
            <a:r>
              <a:rPr lang="zh-CN" altLang="en-US" dirty="0"/>
              <a:t>按交互方向分类</a:t>
            </a:r>
            <a:endParaRPr lang="en-US" altLang="zh-CN" dirty="0"/>
          </a:p>
          <a:p>
            <a:pPr lvl="1"/>
            <a:r>
              <a:rPr lang="zh-CN" altLang="en-US" dirty="0"/>
              <a:t>输入设备：键盘、鼠标、扫描仪</a:t>
            </a:r>
            <a:endParaRPr lang="en-US" altLang="zh-CN" dirty="0"/>
          </a:p>
          <a:p>
            <a:pPr lvl="1"/>
            <a:r>
              <a:rPr lang="zh-CN" altLang="en-US" dirty="0"/>
              <a:t>输出设备：显示器、打印机</a:t>
            </a:r>
            <a:endParaRPr lang="en-US" altLang="zh-CN" dirty="0"/>
          </a:p>
          <a:p>
            <a:pPr lvl="1"/>
            <a:r>
              <a:rPr lang="zh-CN" altLang="en-US" dirty="0"/>
              <a:t>输入</a:t>
            </a:r>
            <a:r>
              <a:rPr lang="en-US" altLang="zh-CN" dirty="0"/>
              <a:t>/</a:t>
            </a:r>
            <a:r>
              <a:rPr lang="zh-CN" altLang="en-US" dirty="0"/>
              <a:t>输出设备：磁盘、网卡</a:t>
            </a:r>
          </a:p>
        </p:txBody>
      </p:sp>
      <p:sp>
        <p:nvSpPr>
          <p:cNvPr id="4" name="Date Placeholder 3"/>
          <p:cNvSpPr>
            <a:spLocks noGrp="1"/>
          </p:cNvSpPr>
          <p:nvPr>
            <p:ph type="dt" sz="half" idx="10"/>
          </p:nvPr>
        </p:nvSpPr>
        <p:spPr/>
        <p:txBody>
          <a:bodyPr/>
          <a:lstStyle/>
          <a:p>
            <a:fld id="{804B3C27-590F-4587-B05E-9D85CC880B75}"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a:t>
            </a:fld>
            <a:endParaRPr lang="zh-CN" altLang="en-US" dirty="0"/>
          </a:p>
        </p:txBody>
      </p:sp>
    </p:spTree>
    <p:extLst>
      <p:ext uri="{BB962C8B-B14F-4D97-AF65-F5344CB8AC3E}">
        <p14:creationId xmlns:p14="http://schemas.microsoft.com/office/powerpoint/2010/main" val="445515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外设的分类</a:t>
            </a:r>
          </a:p>
        </p:txBody>
      </p:sp>
      <p:sp>
        <p:nvSpPr>
          <p:cNvPr id="3" name="Content Placeholder 2"/>
          <p:cNvSpPr>
            <a:spLocks noGrp="1"/>
          </p:cNvSpPr>
          <p:nvPr>
            <p:ph idx="1"/>
          </p:nvPr>
        </p:nvSpPr>
        <p:spPr/>
        <p:txBody>
          <a:bodyPr>
            <a:normAutofit lnSpcReduction="10000"/>
          </a:bodyPr>
          <a:lstStyle/>
          <a:p>
            <a:r>
              <a:rPr lang="zh-CN" altLang="en-US" dirty="0"/>
              <a:t>从程序使用角度分类</a:t>
            </a:r>
            <a:endParaRPr lang="en-US" altLang="zh-CN" dirty="0"/>
          </a:p>
          <a:p>
            <a:pPr lvl="1"/>
            <a:r>
              <a:rPr lang="zh-CN" altLang="en-US" dirty="0"/>
              <a:t>逻辑设备：计算机程序中使用的设备</a:t>
            </a:r>
            <a:endParaRPr lang="en-US" altLang="zh-CN" dirty="0"/>
          </a:p>
          <a:p>
            <a:pPr lvl="1"/>
            <a:r>
              <a:rPr lang="zh-CN" altLang="en-US" dirty="0"/>
              <a:t>物理设备：实际完成</a:t>
            </a:r>
            <a:r>
              <a:rPr lang="en-US" altLang="zh-CN" dirty="0"/>
              <a:t>I/O</a:t>
            </a:r>
            <a:r>
              <a:rPr lang="zh-CN" altLang="en-US" dirty="0"/>
              <a:t>操作的设备</a:t>
            </a:r>
            <a:endParaRPr lang="en-US" altLang="zh-CN" dirty="0"/>
          </a:p>
          <a:p>
            <a:endParaRPr lang="en-US" altLang="zh-CN" dirty="0"/>
          </a:p>
          <a:p>
            <a:r>
              <a:rPr lang="zh-CN" altLang="en-US" dirty="0"/>
              <a:t>按外设特性分类</a:t>
            </a:r>
            <a:endParaRPr lang="en-US" altLang="zh-CN" dirty="0"/>
          </a:p>
          <a:p>
            <a:pPr lvl="1"/>
            <a:r>
              <a:rPr lang="zh-CN" altLang="en-US" dirty="0"/>
              <a:t>使用特性：存储、输入</a:t>
            </a:r>
            <a:r>
              <a:rPr lang="en-US" altLang="zh-CN" dirty="0"/>
              <a:t>/</a:t>
            </a:r>
            <a:r>
              <a:rPr lang="zh-CN" altLang="en-US" dirty="0"/>
              <a:t>输出、终端</a:t>
            </a:r>
            <a:endParaRPr lang="en-US" altLang="zh-CN" dirty="0"/>
          </a:p>
          <a:p>
            <a:pPr lvl="1"/>
            <a:r>
              <a:rPr lang="zh-CN" altLang="en-US" dirty="0"/>
              <a:t>数据传输率：低速（如键盘）、中速（打印机）、高速（磁盘、网卡）</a:t>
            </a:r>
            <a:endParaRPr lang="en-US" altLang="zh-CN" dirty="0"/>
          </a:p>
          <a:p>
            <a:pPr lvl="1"/>
            <a:r>
              <a:rPr lang="zh-CN" altLang="en-US" dirty="0"/>
              <a:t>信息组织特征</a:t>
            </a:r>
            <a:endParaRPr lang="en-US" altLang="zh-CN" dirty="0"/>
          </a:p>
          <a:p>
            <a:pPr lvl="2"/>
            <a:r>
              <a:rPr lang="zh-CN" altLang="en-US" dirty="0"/>
              <a:t>字符设备：以字符为单位存储或传输信息，一般不能被寻址</a:t>
            </a:r>
            <a:endParaRPr lang="en-US" altLang="zh-CN" dirty="0"/>
          </a:p>
          <a:p>
            <a:pPr lvl="2"/>
            <a:r>
              <a:rPr lang="zh-CN" altLang="en-US" dirty="0"/>
              <a:t>块设备：以数据块为单位存储或传输信息，一般可寻址</a:t>
            </a:r>
          </a:p>
        </p:txBody>
      </p:sp>
      <p:sp>
        <p:nvSpPr>
          <p:cNvPr id="4" name="Date Placeholder 3"/>
          <p:cNvSpPr>
            <a:spLocks noGrp="1"/>
          </p:cNvSpPr>
          <p:nvPr>
            <p:ph type="dt" sz="half" idx="10"/>
          </p:nvPr>
        </p:nvSpPr>
        <p:spPr/>
        <p:txBody>
          <a:bodyPr/>
          <a:lstStyle/>
          <a:p>
            <a:fld id="{B6FFD133-211D-4891-86DD-D2FCD8D8921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5</a:t>
            </a:fld>
            <a:endParaRPr lang="zh-CN" altLang="en-US" dirty="0"/>
          </a:p>
        </p:txBody>
      </p:sp>
    </p:spTree>
    <p:extLst>
      <p:ext uri="{BB962C8B-B14F-4D97-AF65-F5344CB8AC3E}">
        <p14:creationId xmlns:p14="http://schemas.microsoft.com/office/powerpoint/2010/main" val="1577975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外设的分类</a:t>
            </a:r>
          </a:p>
        </p:txBody>
      </p:sp>
      <p:sp>
        <p:nvSpPr>
          <p:cNvPr id="3" name="Content Placeholder 2"/>
          <p:cNvSpPr>
            <a:spLocks noGrp="1"/>
          </p:cNvSpPr>
          <p:nvPr>
            <p:ph idx="1"/>
          </p:nvPr>
        </p:nvSpPr>
        <p:spPr/>
        <p:txBody>
          <a:bodyPr/>
          <a:lstStyle/>
          <a:p>
            <a:r>
              <a:rPr lang="zh-CN" altLang="en-US" dirty="0"/>
              <a:t>从资源分配角度分类</a:t>
            </a:r>
            <a:endParaRPr lang="en-US" altLang="zh-CN" dirty="0"/>
          </a:p>
          <a:p>
            <a:pPr lvl="1"/>
            <a:r>
              <a:rPr lang="zh-CN" altLang="en-US" dirty="0"/>
              <a:t>独占设备：在一段时间内只允许有一个进程使用的设备，一般为低速</a:t>
            </a:r>
            <a:r>
              <a:rPr lang="en-US" altLang="zh-CN" dirty="0"/>
              <a:t>I/O</a:t>
            </a:r>
            <a:r>
              <a:rPr lang="zh-CN" altLang="en-US" dirty="0"/>
              <a:t>设备，如打印机，磁带等</a:t>
            </a:r>
            <a:endParaRPr lang="en-US" altLang="zh-CN" dirty="0"/>
          </a:p>
          <a:p>
            <a:pPr lvl="1"/>
            <a:endParaRPr lang="en-US" altLang="zh-CN" dirty="0"/>
          </a:p>
          <a:p>
            <a:pPr lvl="1"/>
            <a:r>
              <a:rPr lang="zh-CN" altLang="en-US" dirty="0"/>
              <a:t>共享设备：在一段时间内可有多个进程并发使用的设备，多个进程以交叉的方式来使用设备，其资源利用率高，如硬盘</a:t>
            </a:r>
            <a:endParaRPr lang="en-US" altLang="zh-CN" dirty="0"/>
          </a:p>
          <a:p>
            <a:pPr lvl="1"/>
            <a:endParaRPr lang="en-US" altLang="zh-CN" dirty="0"/>
          </a:p>
          <a:p>
            <a:pPr lvl="1"/>
            <a:r>
              <a:rPr lang="zh-CN" altLang="en-US" dirty="0"/>
              <a:t>虚拟设备：在一类设备上模拟另一类设备，常用共享设备模拟独占设备，用高速设备模拟低速设备，被模拟的设备称为虚设备</a:t>
            </a:r>
            <a:r>
              <a:rPr lang="en-US" altLang="zh-CN" dirty="0"/>
              <a:t>.</a:t>
            </a:r>
            <a:r>
              <a:rPr lang="zh-CN" altLang="en-US" dirty="0"/>
              <a:t>（实例：</a:t>
            </a:r>
            <a:r>
              <a:rPr lang="en-US" altLang="zh-CN" dirty="0" err="1"/>
              <a:t>SPOOLing</a:t>
            </a:r>
            <a:r>
              <a:rPr lang="zh-CN" altLang="en-US" dirty="0"/>
              <a:t>技术，利用虚设备技术</a:t>
            </a:r>
            <a:r>
              <a:rPr lang="en-US" altLang="zh-CN" dirty="0"/>
              <a:t>——</a:t>
            </a:r>
            <a:r>
              <a:rPr lang="zh-CN" altLang="en-US" dirty="0"/>
              <a:t>用硬盘模拟输入输出设备）</a:t>
            </a:r>
          </a:p>
        </p:txBody>
      </p:sp>
      <p:sp>
        <p:nvSpPr>
          <p:cNvPr id="4" name="Date Placeholder 3"/>
          <p:cNvSpPr>
            <a:spLocks noGrp="1"/>
          </p:cNvSpPr>
          <p:nvPr>
            <p:ph type="dt" sz="half" idx="10"/>
          </p:nvPr>
        </p:nvSpPr>
        <p:spPr/>
        <p:txBody>
          <a:bodyPr/>
          <a:lstStyle/>
          <a:p>
            <a:fld id="{89F63AE2-B886-429A-94F1-D8BBF1631C8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a:t>
            </a:fld>
            <a:endParaRPr lang="zh-CN" altLang="en-US" dirty="0"/>
          </a:p>
        </p:txBody>
      </p:sp>
    </p:spTree>
    <p:extLst>
      <p:ext uri="{BB962C8B-B14F-4D97-AF65-F5344CB8AC3E}">
        <p14:creationId xmlns:p14="http://schemas.microsoft.com/office/powerpoint/2010/main" val="4107242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外设的特点</a:t>
            </a:r>
          </a:p>
        </p:txBody>
      </p:sp>
      <p:sp>
        <p:nvSpPr>
          <p:cNvPr id="3" name="Content Placeholder 2"/>
          <p:cNvSpPr>
            <a:spLocks noGrp="1"/>
          </p:cNvSpPr>
          <p:nvPr>
            <p:ph idx="1"/>
          </p:nvPr>
        </p:nvSpPr>
        <p:spPr/>
        <p:txBody>
          <a:bodyPr/>
          <a:lstStyle/>
          <a:p>
            <a:r>
              <a:rPr lang="zh-CN" altLang="en-US" dirty="0"/>
              <a:t>种类多</a:t>
            </a:r>
            <a:endParaRPr lang="en-US" altLang="zh-CN" dirty="0"/>
          </a:p>
          <a:p>
            <a:r>
              <a:rPr lang="zh-CN" altLang="en-US" dirty="0"/>
              <a:t>差异大（控制方式和</a:t>
            </a:r>
            <a:r>
              <a:rPr lang="en-US" altLang="zh-CN" dirty="0"/>
              <a:t>I/O</a:t>
            </a:r>
            <a:r>
              <a:rPr lang="zh-CN" altLang="en-US" dirty="0"/>
              <a:t>速度）</a:t>
            </a:r>
          </a:p>
        </p:txBody>
      </p:sp>
      <p:sp>
        <p:nvSpPr>
          <p:cNvPr id="4" name="Date Placeholder 3"/>
          <p:cNvSpPr>
            <a:spLocks noGrp="1"/>
          </p:cNvSpPr>
          <p:nvPr>
            <p:ph type="dt" sz="half" idx="10"/>
          </p:nvPr>
        </p:nvSpPr>
        <p:spPr/>
        <p:txBody>
          <a:bodyPr/>
          <a:lstStyle/>
          <a:p>
            <a:fld id="{E9786248-25BA-41B3-9B58-1C74A47E312A}"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a:t>
            </a:fld>
            <a:endParaRPr lang="zh-CN" altLang="en-US" dirty="0"/>
          </a:p>
        </p:txBody>
      </p:sp>
    </p:spTree>
    <p:extLst>
      <p:ext uri="{BB962C8B-B14F-4D97-AF65-F5344CB8AC3E}">
        <p14:creationId xmlns:p14="http://schemas.microsoft.com/office/powerpoint/2010/main" val="1651581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设备与控制器之间的接口</a:t>
            </a:r>
          </a:p>
        </p:txBody>
      </p:sp>
      <p:sp>
        <p:nvSpPr>
          <p:cNvPr id="4" name="Date Placeholder 3"/>
          <p:cNvSpPr>
            <a:spLocks noGrp="1"/>
          </p:cNvSpPr>
          <p:nvPr>
            <p:ph type="dt" sz="half" idx="10"/>
          </p:nvPr>
        </p:nvSpPr>
        <p:spPr/>
        <p:txBody>
          <a:bodyPr/>
          <a:lstStyle/>
          <a:p>
            <a:fld id="{23CB0D23-68B0-4591-B1F6-2E38B690D3CA}"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a:t>
            </a:fld>
            <a:endParaRPr lang="zh-CN" altLang="en-US" dirty="0"/>
          </a:p>
        </p:txBody>
      </p:sp>
      <p:grpSp>
        <p:nvGrpSpPr>
          <p:cNvPr id="7" name="Group 17"/>
          <p:cNvGrpSpPr>
            <a:grpSpLocks/>
          </p:cNvGrpSpPr>
          <p:nvPr/>
        </p:nvGrpSpPr>
        <p:grpSpPr bwMode="auto">
          <a:xfrm>
            <a:off x="3924498" y="2637805"/>
            <a:ext cx="4679950" cy="2017712"/>
            <a:chOff x="1429" y="1842"/>
            <a:chExt cx="2948" cy="1271"/>
          </a:xfrm>
        </p:grpSpPr>
        <p:sp>
          <p:nvSpPr>
            <p:cNvPr id="8" name="Rectangle 6"/>
            <p:cNvSpPr>
              <a:spLocks noChangeArrowheads="1"/>
            </p:cNvSpPr>
            <p:nvPr/>
          </p:nvSpPr>
          <p:spPr bwMode="auto">
            <a:xfrm>
              <a:off x="2128" y="2146"/>
              <a:ext cx="1587" cy="953"/>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Text Box 4"/>
            <p:cNvSpPr txBox="1">
              <a:spLocks noChangeArrowheads="1"/>
            </p:cNvSpPr>
            <p:nvPr/>
          </p:nvSpPr>
          <p:spPr bwMode="auto">
            <a:xfrm>
              <a:off x="2291" y="2264"/>
              <a:ext cx="1224" cy="233"/>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缓冲       转换器</a:t>
              </a:r>
            </a:p>
          </p:txBody>
        </p:sp>
        <p:sp>
          <p:nvSpPr>
            <p:cNvPr id="10" name="Text Box 5"/>
            <p:cNvSpPr txBox="1">
              <a:spLocks noChangeArrowheads="1"/>
            </p:cNvSpPr>
            <p:nvPr/>
          </p:nvSpPr>
          <p:spPr bwMode="auto">
            <a:xfrm>
              <a:off x="2291" y="2701"/>
              <a:ext cx="1224" cy="233"/>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b="1">
                  <a:latin typeface="Times New Roman" panose="02020603050405020304" pitchFamily="18" charset="0"/>
                  <a:ea typeface="楷体" panose="02010609060101010101" pitchFamily="49" charset="-122"/>
                  <a:cs typeface="Times New Roman" panose="02020603050405020304" pitchFamily="18" charset="0"/>
                </a:rPr>
                <a:t>控制逻辑</a:t>
              </a:r>
            </a:p>
          </p:txBody>
        </p:sp>
        <p:sp>
          <p:nvSpPr>
            <p:cNvPr id="11" name="Line 7"/>
            <p:cNvSpPr>
              <a:spLocks noChangeShapeType="1"/>
            </p:cNvSpPr>
            <p:nvPr/>
          </p:nvSpPr>
          <p:spPr bwMode="auto">
            <a:xfrm>
              <a:off x="2781" y="2264"/>
              <a:ext cx="0" cy="23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 name="Line 8"/>
            <p:cNvSpPr>
              <a:spLocks noChangeShapeType="1"/>
            </p:cNvSpPr>
            <p:nvPr/>
          </p:nvSpPr>
          <p:spPr bwMode="auto">
            <a:xfrm>
              <a:off x="1429" y="2400"/>
              <a:ext cx="86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 name="Line 9"/>
            <p:cNvSpPr>
              <a:spLocks noChangeShapeType="1"/>
            </p:cNvSpPr>
            <p:nvPr/>
          </p:nvSpPr>
          <p:spPr bwMode="auto">
            <a:xfrm>
              <a:off x="1429" y="2809"/>
              <a:ext cx="862"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4" name="Line 10"/>
            <p:cNvSpPr>
              <a:spLocks noChangeShapeType="1"/>
            </p:cNvSpPr>
            <p:nvPr/>
          </p:nvSpPr>
          <p:spPr bwMode="auto">
            <a:xfrm>
              <a:off x="1429" y="2908"/>
              <a:ext cx="8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5" name="Line 11"/>
            <p:cNvSpPr>
              <a:spLocks noChangeShapeType="1"/>
            </p:cNvSpPr>
            <p:nvPr/>
          </p:nvSpPr>
          <p:spPr bwMode="auto">
            <a:xfrm>
              <a:off x="3515" y="2400"/>
              <a:ext cx="45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6" name="Text Box 12"/>
            <p:cNvSpPr txBox="1">
              <a:spLocks noChangeArrowheads="1"/>
            </p:cNvSpPr>
            <p:nvPr/>
          </p:nvSpPr>
          <p:spPr bwMode="auto">
            <a:xfrm>
              <a:off x="1501" y="2146"/>
              <a:ext cx="6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数据线</a:t>
              </a:r>
            </a:p>
          </p:txBody>
        </p:sp>
        <p:sp>
          <p:nvSpPr>
            <p:cNvPr id="17" name="Text Box 13"/>
            <p:cNvSpPr txBox="1">
              <a:spLocks noChangeArrowheads="1"/>
            </p:cNvSpPr>
            <p:nvPr/>
          </p:nvSpPr>
          <p:spPr bwMode="auto">
            <a:xfrm>
              <a:off x="1520" y="2586"/>
              <a:ext cx="6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状态线</a:t>
              </a:r>
            </a:p>
          </p:txBody>
        </p:sp>
        <p:sp>
          <p:nvSpPr>
            <p:cNvPr id="18" name="Text Box 14"/>
            <p:cNvSpPr txBox="1">
              <a:spLocks noChangeArrowheads="1"/>
            </p:cNvSpPr>
            <p:nvPr/>
          </p:nvSpPr>
          <p:spPr bwMode="auto">
            <a:xfrm>
              <a:off x="1510" y="2863"/>
              <a:ext cx="6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latin typeface="Times New Roman" panose="02020603050405020304" pitchFamily="18" charset="0"/>
                  <a:ea typeface="楷体" panose="02010609060101010101" pitchFamily="49" charset="-122"/>
                  <a:cs typeface="Times New Roman" panose="02020603050405020304" pitchFamily="18" charset="0"/>
                </a:rPr>
                <a:t>控制线</a:t>
              </a:r>
            </a:p>
          </p:txBody>
        </p:sp>
        <p:sp>
          <p:nvSpPr>
            <p:cNvPr id="19" name="Text Box 15"/>
            <p:cNvSpPr txBox="1">
              <a:spLocks noChangeArrowheads="1"/>
            </p:cNvSpPr>
            <p:nvPr/>
          </p:nvSpPr>
          <p:spPr bwMode="auto">
            <a:xfrm>
              <a:off x="3924" y="2146"/>
              <a:ext cx="453"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000" b="1">
                  <a:latin typeface="Times New Roman" panose="02020603050405020304" pitchFamily="18" charset="0"/>
                  <a:ea typeface="楷体" panose="02010609060101010101" pitchFamily="49" charset="-122"/>
                  <a:cs typeface="Times New Roman" panose="02020603050405020304" pitchFamily="18" charset="0"/>
                </a:rPr>
                <a:t>信号</a:t>
              </a:r>
            </a:p>
            <a:p>
              <a:pPr algn="ctr"/>
              <a:r>
                <a:rPr lang="zh-CN" altLang="en-US" sz="2000" b="1">
                  <a:latin typeface="Times New Roman" panose="02020603050405020304" pitchFamily="18" charset="0"/>
                  <a:ea typeface="楷体" panose="02010609060101010101" pitchFamily="49" charset="-122"/>
                  <a:cs typeface="Times New Roman" panose="02020603050405020304" pitchFamily="18" charset="0"/>
                </a:rPr>
                <a:t>数据</a:t>
              </a:r>
            </a:p>
          </p:txBody>
        </p:sp>
        <p:sp>
          <p:nvSpPr>
            <p:cNvPr id="20" name="Text Box 16"/>
            <p:cNvSpPr txBox="1">
              <a:spLocks noChangeArrowheads="1"/>
            </p:cNvSpPr>
            <p:nvPr/>
          </p:nvSpPr>
          <p:spPr bwMode="auto">
            <a:xfrm>
              <a:off x="2462" y="1842"/>
              <a:ext cx="81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Times New Roman" panose="02020603050405020304" pitchFamily="18" charset="0"/>
                  <a:ea typeface="楷体" panose="02010609060101010101" pitchFamily="49" charset="-122"/>
                  <a:cs typeface="Times New Roman" panose="02020603050405020304" pitchFamily="18" charset="0"/>
                </a:rPr>
                <a:t>I/O</a:t>
              </a:r>
              <a:r>
                <a:rPr lang="zh-CN" altLang="en-US" b="1">
                  <a:latin typeface="Times New Roman" panose="02020603050405020304" pitchFamily="18" charset="0"/>
                  <a:ea typeface="楷体" panose="02010609060101010101" pitchFamily="49" charset="-122"/>
                  <a:cs typeface="Times New Roman" panose="02020603050405020304" pitchFamily="18" charset="0"/>
                </a:rPr>
                <a:t>设备</a:t>
              </a:r>
            </a:p>
          </p:txBody>
        </p:sp>
      </p:grpSp>
      <p:grpSp>
        <p:nvGrpSpPr>
          <p:cNvPr id="21" name="Group 21"/>
          <p:cNvGrpSpPr>
            <a:grpSpLocks/>
          </p:cNvGrpSpPr>
          <p:nvPr/>
        </p:nvGrpSpPr>
        <p:grpSpPr bwMode="auto">
          <a:xfrm>
            <a:off x="612973" y="2348880"/>
            <a:ext cx="3240088" cy="3529012"/>
            <a:chOff x="340" y="1797"/>
            <a:chExt cx="2041" cy="2223"/>
          </a:xfrm>
        </p:grpSpPr>
        <p:sp>
          <p:nvSpPr>
            <p:cNvPr id="22" name="AutoShape 18"/>
            <p:cNvSpPr>
              <a:spLocks noChangeArrowheads="1"/>
            </p:cNvSpPr>
            <p:nvPr/>
          </p:nvSpPr>
          <p:spPr bwMode="auto">
            <a:xfrm>
              <a:off x="385" y="1797"/>
              <a:ext cx="1996" cy="590"/>
            </a:xfrm>
            <a:prstGeom prst="wedgeRoundRectCallout">
              <a:avLst>
                <a:gd name="adj1" fmla="val 59921"/>
                <a:gd name="adj2" fmla="val 72880"/>
                <a:gd name="adj3" fmla="val 16667"/>
              </a:avLst>
            </a:prstGeom>
            <a:solidFill>
              <a:schemeClr val="accent5">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在设备和设备控制器之间传送数据信号</a:t>
              </a:r>
            </a:p>
          </p:txBody>
        </p:sp>
        <p:sp>
          <p:nvSpPr>
            <p:cNvPr id="23" name="AutoShape 19"/>
            <p:cNvSpPr>
              <a:spLocks noChangeArrowheads="1"/>
            </p:cNvSpPr>
            <p:nvPr/>
          </p:nvSpPr>
          <p:spPr bwMode="auto">
            <a:xfrm>
              <a:off x="340" y="2523"/>
              <a:ext cx="1996" cy="590"/>
            </a:xfrm>
            <a:prstGeom prst="wedgeRoundRectCallout">
              <a:avLst>
                <a:gd name="adj1" fmla="val 62778"/>
                <a:gd name="adj2" fmla="val 18815"/>
                <a:gd name="adj3" fmla="val 16667"/>
              </a:avLst>
            </a:prstGeom>
            <a:solidFill>
              <a:schemeClr val="accent5">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b="1">
                  <a:solidFill>
                    <a:srgbClr val="0000FF"/>
                  </a:solidFill>
                  <a:latin typeface="Times New Roman" panose="02020603050405020304" pitchFamily="18" charset="0"/>
                  <a:ea typeface="楷体" panose="02010609060101010101" pitchFamily="49" charset="-122"/>
                  <a:cs typeface="Times New Roman" panose="02020603050405020304" pitchFamily="18" charset="0"/>
                </a:rPr>
                <a:t>用于传送指示设备当前状态的信号</a:t>
              </a:r>
            </a:p>
          </p:txBody>
        </p:sp>
        <p:sp>
          <p:nvSpPr>
            <p:cNvPr id="24" name="AutoShape 20"/>
            <p:cNvSpPr>
              <a:spLocks noChangeArrowheads="1"/>
            </p:cNvSpPr>
            <p:nvPr/>
          </p:nvSpPr>
          <p:spPr bwMode="auto">
            <a:xfrm>
              <a:off x="385" y="3257"/>
              <a:ext cx="1996" cy="763"/>
            </a:xfrm>
            <a:prstGeom prst="wedgeRoundRectCallout">
              <a:avLst>
                <a:gd name="adj1" fmla="val 59319"/>
                <a:gd name="adj2" fmla="val -79097"/>
                <a:gd name="adj3" fmla="val 16667"/>
              </a:avLst>
            </a:prstGeom>
            <a:solidFill>
              <a:schemeClr val="accent5">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b="1">
                  <a:solidFill>
                    <a:srgbClr val="0000FF"/>
                  </a:solidFill>
                  <a:latin typeface="Times New Roman" panose="02020603050405020304" pitchFamily="18" charset="0"/>
                  <a:ea typeface="楷体" panose="02010609060101010101" pitchFamily="49" charset="-122"/>
                  <a:cs typeface="Times New Roman" panose="02020603050405020304" pitchFamily="18" charset="0"/>
                </a:rPr>
                <a:t>作为设备控制器向</a:t>
              </a:r>
              <a:r>
                <a:rPr lang="en-US" altLang="zh-CN" b="1">
                  <a:solidFill>
                    <a:srgbClr val="0000FF"/>
                  </a:solidFill>
                  <a:latin typeface="Times New Roman" panose="02020603050405020304" pitchFamily="18" charset="0"/>
                  <a:ea typeface="楷体" panose="02010609060101010101" pitchFamily="49" charset="-122"/>
                  <a:cs typeface="Times New Roman" panose="02020603050405020304" pitchFamily="18" charset="0"/>
                </a:rPr>
                <a:t>I/O</a:t>
              </a:r>
              <a:r>
                <a:rPr lang="zh-CN" altLang="en-US" b="1">
                  <a:solidFill>
                    <a:srgbClr val="0000FF"/>
                  </a:solidFill>
                  <a:latin typeface="Times New Roman" panose="02020603050405020304" pitchFamily="18" charset="0"/>
                  <a:ea typeface="楷体" panose="02010609060101010101" pitchFamily="49" charset="-122"/>
                  <a:cs typeface="Times New Roman" panose="02020603050405020304" pitchFamily="18" charset="0"/>
                </a:rPr>
                <a:t>设备发送控制信号的通路</a:t>
              </a:r>
            </a:p>
          </p:txBody>
        </p:sp>
      </p:grpSp>
    </p:spTree>
    <p:extLst>
      <p:ext uri="{BB962C8B-B14F-4D97-AF65-F5344CB8AC3E}">
        <p14:creationId xmlns:p14="http://schemas.microsoft.com/office/powerpoint/2010/main" val="1309042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right)">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I/O</a:t>
            </a:r>
            <a:r>
              <a:rPr lang="zh-CN" altLang="en-US" dirty="0"/>
              <a:t>管理的目的</a:t>
            </a:r>
          </a:p>
        </p:txBody>
      </p:sp>
      <p:sp>
        <p:nvSpPr>
          <p:cNvPr id="3" name="Content Placeholder 2"/>
          <p:cNvSpPr>
            <a:spLocks noGrp="1"/>
          </p:cNvSpPr>
          <p:nvPr>
            <p:ph idx="1"/>
          </p:nvPr>
        </p:nvSpPr>
        <p:spPr/>
        <p:txBody>
          <a:bodyPr/>
          <a:lstStyle/>
          <a:p>
            <a:pPr>
              <a:lnSpc>
                <a:spcPct val="120000"/>
              </a:lnSpc>
            </a:pPr>
            <a:r>
              <a:rPr lang="zh-CN" altLang="en-US" dirty="0">
                <a:solidFill>
                  <a:srgbClr val="0000FF"/>
                </a:solidFill>
              </a:rPr>
              <a:t>提高效率</a:t>
            </a:r>
            <a:r>
              <a:rPr lang="zh-CN" altLang="en-US" dirty="0"/>
              <a:t>：提高</a:t>
            </a:r>
            <a:r>
              <a:rPr lang="en-US" altLang="zh-CN" dirty="0"/>
              <a:t>I/O</a:t>
            </a:r>
            <a:r>
              <a:rPr lang="zh-CN" altLang="en-US" dirty="0"/>
              <a:t>访问效率，匹配</a:t>
            </a:r>
            <a:r>
              <a:rPr lang="en-US" altLang="zh-CN" dirty="0"/>
              <a:t>CPU</a:t>
            </a:r>
            <a:r>
              <a:rPr lang="zh-CN" altLang="en-US" dirty="0"/>
              <a:t>和多种不同处理速度的外设</a:t>
            </a:r>
          </a:p>
          <a:p>
            <a:pPr>
              <a:lnSpc>
                <a:spcPct val="120000"/>
              </a:lnSpc>
            </a:pPr>
            <a:endParaRPr lang="en-US" altLang="zh-CN" dirty="0">
              <a:solidFill>
                <a:srgbClr val="0000FF"/>
              </a:solidFill>
            </a:endParaRPr>
          </a:p>
          <a:p>
            <a:pPr>
              <a:lnSpc>
                <a:spcPct val="120000"/>
              </a:lnSpc>
            </a:pPr>
            <a:r>
              <a:rPr lang="zh-CN" altLang="en-US" dirty="0">
                <a:solidFill>
                  <a:srgbClr val="0000FF"/>
                </a:solidFill>
              </a:rPr>
              <a:t>方便使用</a:t>
            </a:r>
            <a:r>
              <a:rPr lang="zh-CN" altLang="en-US" dirty="0"/>
              <a:t>：方便用户使用，对不同类型的设备使用统一方法，协调对设备的并发使用</a:t>
            </a:r>
          </a:p>
          <a:p>
            <a:pPr>
              <a:lnSpc>
                <a:spcPct val="120000"/>
              </a:lnSpc>
            </a:pPr>
            <a:endParaRPr lang="en-US" altLang="zh-CN" dirty="0">
              <a:solidFill>
                <a:srgbClr val="0000FF"/>
              </a:solidFill>
            </a:endParaRPr>
          </a:p>
          <a:p>
            <a:pPr>
              <a:lnSpc>
                <a:spcPct val="120000"/>
              </a:lnSpc>
            </a:pPr>
            <a:r>
              <a:rPr lang="zh-CN" altLang="en-US" dirty="0">
                <a:solidFill>
                  <a:srgbClr val="0000FF"/>
                </a:solidFill>
              </a:rPr>
              <a:t>方便控制</a:t>
            </a:r>
            <a:r>
              <a:rPr lang="zh-CN" altLang="en-US" dirty="0"/>
              <a:t>：方便</a:t>
            </a:r>
            <a:r>
              <a:rPr lang="en-US" altLang="zh-CN" dirty="0"/>
              <a:t>OS</a:t>
            </a:r>
            <a:r>
              <a:rPr lang="zh-CN" altLang="en-US" dirty="0"/>
              <a:t>内部对设备的控制，增加和删除设备，适应新的设备类型</a:t>
            </a:r>
          </a:p>
          <a:p>
            <a:endParaRPr lang="zh-CN" altLang="en-US" dirty="0"/>
          </a:p>
        </p:txBody>
      </p:sp>
      <p:sp>
        <p:nvSpPr>
          <p:cNvPr id="4" name="Date Placeholder 3"/>
          <p:cNvSpPr>
            <a:spLocks noGrp="1"/>
          </p:cNvSpPr>
          <p:nvPr>
            <p:ph type="dt" sz="half" idx="10"/>
          </p:nvPr>
        </p:nvSpPr>
        <p:spPr/>
        <p:txBody>
          <a:bodyPr/>
          <a:lstStyle/>
          <a:p>
            <a:fld id="{781EC827-1D63-4B57-B1C8-8EECD3D1F419}"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a:t>
            </a:fld>
            <a:endParaRPr lang="zh-CN" altLang="en-US" dirty="0"/>
          </a:p>
        </p:txBody>
      </p:sp>
    </p:spTree>
    <p:extLst>
      <p:ext uri="{BB962C8B-B14F-4D97-AF65-F5344CB8AC3E}">
        <p14:creationId xmlns:p14="http://schemas.microsoft.com/office/powerpoint/2010/main" val="2030851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I/O</a:t>
            </a:r>
            <a:r>
              <a:rPr lang="zh-CN" altLang="en-US" dirty="0"/>
              <a:t>管理的功能</a:t>
            </a:r>
          </a:p>
        </p:txBody>
      </p:sp>
      <p:sp>
        <p:nvSpPr>
          <p:cNvPr id="3" name="Content Placeholder 2"/>
          <p:cNvSpPr>
            <a:spLocks noGrp="1"/>
          </p:cNvSpPr>
          <p:nvPr>
            <p:ph idx="1"/>
          </p:nvPr>
        </p:nvSpPr>
        <p:spPr/>
        <p:txBody>
          <a:bodyPr/>
          <a:lstStyle/>
          <a:p>
            <a:pPr>
              <a:lnSpc>
                <a:spcPct val="120000"/>
              </a:lnSpc>
            </a:pPr>
            <a:r>
              <a:rPr lang="zh-CN" altLang="en-US" dirty="0"/>
              <a:t>提供设备使用的</a:t>
            </a:r>
            <a:r>
              <a:rPr lang="zh-CN" altLang="en-US" dirty="0">
                <a:solidFill>
                  <a:srgbClr val="0000FF"/>
                </a:solidFill>
              </a:rPr>
              <a:t>用户接口</a:t>
            </a:r>
            <a:r>
              <a:rPr lang="zh-CN" altLang="en-US" dirty="0"/>
              <a:t>：命令接口和编程接口</a:t>
            </a:r>
          </a:p>
          <a:p>
            <a:pPr>
              <a:lnSpc>
                <a:spcPct val="120000"/>
              </a:lnSpc>
            </a:pPr>
            <a:r>
              <a:rPr lang="zh-CN" altLang="en-US" dirty="0">
                <a:solidFill>
                  <a:srgbClr val="0000FF"/>
                </a:solidFill>
              </a:rPr>
              <a:t>设备分配和释放</a:t>
            </a:r>
            <a:r>
              <a:rPr lang="zh-CN" altLang="en-US" dirty="0"/>
              <a:t>：使用设备前，需要分配设备和相应的通道、控制器</a:t>
            </a:r>
          </a:p>
          <a:p>
            <a:pPr>
              <a:lnSpc>
                <a:spcPct val="120000"/>
              </a:lnSpc>
            </a:pPr>
            <a:r>
              <a:rPr lang="zh-CN" altLang="en-US" dirty="0">
                <a:solidFill>
                  <a:srgbClr val="0000FF"/>
                </a:solidFill>
              </a:rPr>
              <a:t>设备的访问和控制</a:t>
            </a:r>
            <a:r>
              <a:rPr lang="zh-CN" altLang="en-US" dirty="0"/>
              <a:t>：包括并发访问和差错处理（虚拟设备）</a:t>
            </a:r>
          </a:p>
          <a:p>
            <a:pPr>
              <a:lnSpc>
                <a:spcPct val="120000"/>
              </a:lnSpc>
            </a:pPr>
            <a:r>
              <a:rPr lang="en-US" altLang="zh-CN" dirty="0">
                <a:solidFill>
                  <a:srgbClr val="0000FF"/>
                </a:solidFill>
              </a:rPr>
              <a:t>I/O</a:t>
            </a:r>
            <a:r>
              <a:rPr lang="zh-CN" altLang="en-US" dirty="0">
                <a:solidFill>
                  <a:srgbClr val="0000FF"/>
                </a:solidFill>
              </a:rPr>
              <a:t>缓冲和调度</a:t>
            </a:r>
            <a:r>
              <a:rPr lang="zh-CN" altLang="en-US" dirty="0"/>
              <a:t>：目标是提高</a:t>
            </a:r>
            <a:r>
              <a:rPr lang="en-US" altLang="zh-CN" dirty="0"/>
              <a:t>I/O</a:t>
            </a:r>
            <a:r>
              <a:rPr lang="zh-CN" altLang="en-US" dirty="0"/>
              <a:t>访问效率</a:t>
            </a:r>
          </a:p>
          <a:p>
            <a:endParaRPr lang="zh-CN" altLang="en-US" dirty="0"/>
          </a:p>
        </p:txBody>
      </p:sp>
      <p:sp>
        <p:nvSpPr>
          <p:cNvPr id="4" name="Date Placeholder 3"/>
          <p:cNvSpPr>
            <a:spLocks noGrp="1"/>
          </p:cNvSpPr>
          <p:nvPr>
            <p:ph type="dt" sz="half" idx="10"/>
          </p:nvPr>
        </p:nvSpPr>
        <p:spPr/>
        <p:txBody>
          <a:bodyPr/>
          <a:lstStyle/>
          <a:p>
            <a:fld id="{4DCF66E6-F3D3-43B2-8A0A-03BA29445B16}"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10</a:t>
            </a:fld>
            <a:endParaRPr lang="zh-CN" altLang="en-US" dirty="0"/>
          </a:p>
        </p:txBody>
      </p:sp>
    </p:spTree>
    <p:extLst>
      <p:ext uri="{BB962C8B-B14F-4D97-AF65-F5344CB8AC3E}">
        <p14:creationId xmlns:p14="http://schemas.microsoft.com/office/powerpoint/2010/main" val="3786096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I/O</a:t>
            </a:r>
            <a:r>
              <a:rPr lang="zh-CN" altLang="en-US" dirty="0"/>
              <a:t>软件的设计目标</a:t>
            </a:r>
          </a:p>
        </p:txBody>
      </p:sp>
      <p:sp>
        <p:nvSpPr>
          <p:cNvPr id="3" name="Content Placeholder 2"/>
          <p:cNvSpPr>
            <a:spLocks noGrp="1"/>
          </p:cNvSpPr>
          <p:nvPr>
            <p:ph idx="1"/>
          </p:nvPr>
        </p:nvSpPr>
        <p:spPr/>
        <p:txBody>
          <a:bodyPr/>
          <a:lstStyle/>
          <a:p>
            <a:pPr>
              <a:lnSpc>
                <a:spcPct val="120000"/>
              </a:lnSpc>
            </a:pPr>
            <a:r>
              <a:rPr lang="zh-CN" altLang="en-US" dirty="0">
                <a:solidFill>
                  <a:srgbClr val="0000FF"/>
                </a:solidFill>
              </a:rPr>
              <a:t>设备独立性</a:t>
            </a:r>
            <a:r>
              <a:rPr lang="zh-CN" altLang="en-US" dirty="0"/>
              <a:t>：又称设备无关性，即应用程序所涉及的</a:t>
            </a:r>
            <a:r>
              <a:rPr lang="en-US" altLang="zh-CN" dirty="0"/>
              <a:t>I/O</a:t>
            </a:r>
            <a:r>
              <a:rPr lang="zh-CN" altLang="en-US" dirty="0"/>
              <a:t>设备与系统中具体使用的物理设备相互无关</a:t>
            </a:r>
          </a:p>
          <a:p>
            <a:pPr lvl="1">
              <a:lnSpc>
                <a:spcPct val="120000"/>
              </a:lnSpc>
            </a:pPr>
            <a:r>
              <a:rPr lang="zh-CN" altLang="en-US" dirty="0"/>
              <a:t>系统建立逻辑设备与物理设备的映射机制，应用进程通过逻辑设备名申请</a:t>
            </a:r>
            <a:r>
              <a:rPr lang="en-US" altLang="zh-CN" dirty="0"/>
              <a:t>I/O</a:t>
            </a:r>
            <a:r>
              <a:rPr lang="zh-CN" altLang="en-US" dirty="0"/>
              <a:t>，系统通过物理设备的驱动和控制实现具体的</a:t>
            </a:r>
            <a:r>
              <a:rPr lang="en-US" altLang="zh-CN" dirty="0"/>
              <a:t>I/O</a:t>
            </a:r>
          </a:p>
          <a:p>
            <a:pPr lvl="1">
              <a:lnSpc>
                <a:spcPct val="120000"/>
              </a:lnSpc>
            </a:pPr>
            <a:r>
              <a:rPr lang="zh-CN" altLang="en-US" dirty="0"/>
              <a:t>提高了设备分配的灵活性</a:t>
            </a:r>
          </a:p>
          <a:p>
            <a:pPr lvl="1">
              <a:lnSpc>
                <a:spcPct val="120000"/>
              </a:lnSpc>
            </a:pPr>
            <a:r>
              <a:rPr lang="zh-CN" altLang="en-US" dirty="0"/>
              <a:t>易于实现</a:t>
            </a:r>
            <a:r>
              <a:rPr lang="en-US" altLang="zh-CN" dirty="0"/>
              <a:t>I/O</a:t>
            </a:r>
            <a:r>
              <a:rPr lang="zh-CN" altLang="en-US" dirty="0"/>
              <a:t>重定向</a:t>
            </a:r>
          </a:p>
          <a:p>
            <a:endParaRPr lang="zh-CN" altLang="en-US" dirty="0"/>
          </a:p>
        </p:txBody>
      </p:sp>
      <p:sp>
        <p:nvSpPr>
          <p:cNvPr id="4" name="Date Placeholder 3"/>
          <p:cNvSpPr>
            <a:spLocks noGrp="1"/>
          </p:cNvSpPr>
          <p:nvPr>
            <p:ph type="dt" sz="half" idx="10"/>
          </p:nvPr>
        </p:nvSpPr>
        <p:spPr/>
        <p:txBody>
          <a:bodyPr/>
          <a:lstStyle/>
          <a:p>
            <a:fld id="{8CFDE3D0-9684-42C1-903F-D48E20D72440}"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11</a:t>
            </a:fld>
            <a:endParaRPr lang="zh-CN" altLang="en-US" dirty="0"/>
          </a:p>
        </p:txBody>
      </p:sp>
    </p:spTree>
    <p:extLst>
      <p:ext uri="{BB962C8B-B14F-4D97-AF65-F5344CB8AC3E}">
        <p14:creationId xmlns:p14="http://schemas.microsoft.com/office/powerpoint/2010/main" val="4285194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I/O</a:t>
            </a:r>
            <a:r>
              <a:rPr lang="zh-CN" altLang="en-US" dirty="0"/>
              <a:t>软件的设计目标</a:t>
            </a:r>
          </a:p>
        </p:txBody>
      </p:sp>
      <p:sp>
        <p:nvSpPr>
          <p:cNvPr id="3" name="Content Placeholder 2"/>
          <p:cNvSpPr>
            <a:spLocks noGrp="1"/>
          </p:cNvSpPr>
          <p:nvPr>
            <p:ph idx="1"/>
          </p:nvPr>
        </p:nvSpPr>
        <p:spPr/>
        <p:txBody>
          <a:bodyPr/>
          <a:lstStyle/>
          <a:p>
            <a:pPr>
              <a:lnSpc>
                <a:spcPct val="120000"/>
              </a:lnSpc>
            </a:pPr>
            <a:r>
              <a:rPr lang="zh-CN" altLang="en-US" dirty="0">
                <a:solidFill>
                  <a:srgbClr val="0000FF"/>
                </a:solidFill>
              </a:rPr>
              <a:t>统一命名</a:t>
            </a:r>
            <a:r>
              <a:rPr lang="zh-CN" altLang="en-US" dirty="0"/>
              <a:t>：对各类设备采用预先设计的、统一的逻辑名称命名，而不依赖于具体设备</a:t>
            </a:r>
          </a:p>
          <a:p>
            <a:pPr>
              <a:lnSpc>
                <a:spcPct val="120000"/>
              </a:lnSpc>
            </a:pPr>
            <a:r>
              <a:rPr lang="zh-CN" altLang="en-US" dirty="0">
                <a:solidFill>
                  <a:srgbClr val="0000FF"/>
                </a:solidFill>
              </a:rPr>
              <a:t>层次结构</a:t>
            </a:r>
            <a:r>
              <a:rPr lang="zh-CN" altLang="en-US" dirty="0"/>
              <a:t>：组成</a:t>
            </a:r>
            <a:r>
              <a:rPr lang="en-US" altLang="zh-CN" dirty="0"/>
              <a:t>I/O</a:t>
            </a:r>
            <a:r>
              <a:rPr lang="zh-CN" altLang="en-US" dirty="0"/>
              <a:t>软件的各个程序按照其功能和彼此接口划分成若干层次，与用户</a:t>
            </a:r>
            <a:r>
              <a:rPr lang="en-US" altLang="zh-CN" dirty="0"/>
              <a:t>I/O</a:t>
            </a:r>
            <a:r>
              <a:rPr lang="zh-CN" altLang="en-US" dirty="0"/>
              <a:t>程序相关的部分在高层，直接与硬件动作相关的部分在低层</a:t>
            </a:r>
          </a:p>
          <a:p>
            <a:pPr>
              <a:lnSpc>
                <a:spcPct val="120000"/>
              </a:lnSpc>
            </a:pPr>
            <a:r>
              <a:rPr lang="zh-CN" altLang="en-US" dirty="0">
                <a:solidFill>
                  <a:srgbClr val="0000FF"/>
                </a:solidFill>
              </a:rPr>
              <a:t>高效率</a:t>
            </a:r>
            <a:r>
              <a:rPr lang="zh-CN" altLang="en-US" dirty="0"/>
              <a:t>：合理分配各种设备，尽可能提高外设和</a:t>
            </a:r>
            <a:r>
              <a:rPr lang="en-US" altLang="zh-CN" dirty="0"/>
              <a:t>CPU</a:t>
            </a:r>
            <a:r>
              <a:rPr lang="zh-CN" altLang="en-US" dirty="0"/>
              <a:t>、外设之间的并行性</a:t>
            </a:r>
          </a:p>
          <a:p>
            <a:endParaRPr lang="zh-CN" altLang="en-US" dirty="0"/>
          </a:p>
        </p:txBody>
      </p:sp>
      <p:sp>
        <p:nvSpPr>
          <p:cNvPr id="4" name="Date Placeholder 3"/>
          <p:cNvSpPr>
            <a:spLocks noGrp="1"/>
          </p:cNvSpPr>
          <p:nvPr>
            <p:ph type="dt" sz="half" idx="10"/>
          </p:nvPr>
        </p:nvSpPr>
        <p:spPr/>
        <p:txBody>
          <a:bodyPr/>
          <a:lstStyle/>
          <a:p>
            <a:fld id="{8CB87DBC-ADC6-4433-AAD0-99E14B63924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12</a:t>
            </a:fld>
            <a:endParaRPr lang="zh-CN" altLang="en-US" dirty="0"/>
          </a:p>
        </p:txBody>
      </p:sp>
    </p:spTree>
    <p:extLst>
      <p:ext uri="{BB962C8B-B14F-4D97-AF65-F5344CB8AC3E}">
        <p14:creationId xmlns:p14="http://schemas.microsoft.com/office/powerpoint/2010/main" val="4095798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I/O</a:t>
            </a:r>
            <a:r>
              <a:rPr lang="zh-CN" altLang="en-US" dirty="0"/>
              <a:t>管理结构</a:t>
            </a:r>
          </a:p>
        </p:txBody>
      </p:sp>
      <p:sp>
        <p:nvSpPr>
          <p:cNvPr id="4" name="Date Placeholder 3"/>
          <p:cNvSpPr>
            <a:spLocks noGrp="1"/>
          </p:cNvSpPr>
          <p:nvPr>
            <p:ph type="dt" sz="half" idx="10"/>
          </p:nvPr>
        </p:nvSpPr>
        <p:spPr/>
        <p:txBody>
          <a:bodyPr/>
          <a:lstStyle/>
          <a:p>
            <a:fld id="{B8D24675-0195-435A-A68B-DF5C23FDEAC0}"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13</a:t>
            </a:fld>
            <a:endParaRPr lang="zh-CN" altLang="en-US" dirty="0"/>
          </a:p>
        </p:txBody>
      </p:sp>
      <p:sp>
        <p:nvSpPr>
          <p:cNvPr id="7" name="Rounded Rectangle 6"/>
          <p:cNvSpPr/>
          <p:nvPr/>
        </p:nvSpPr>
        <p:spPr>
          <a:xfrm>
            <a:off x="683568" y="1844824"/>
            <a:ext cx="2592288" cy="432048"/>
          </a:xfrm>
          <a:prstGeom prst="roundRect">
            <a:avLst>
              <a:gd name="adj" fmla="val 6172"/>
            </a:avLst>
          </a:prstGeom>
          <a:solidFill>
            <a:schemeClr val="accent5">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00FF"/>
                </a:solidFill>
                <a:latin typeface="楷体" panose="02010609060101010101" pitchFamily="49" charset="-122"/>
                <a:ea typeface="楷体" panose="02010609060101010101" pitchFamily="49" charset="-122"/>
              </a:rPr>
              <a:t>用户进程</a:t>
            </a:r>
          </a:p>
        </p:txBody>
      </p:sp>
      <p:sp>
        <p:nvSpPr>
          <p:cNvPr id="8" name="Rounded Rectangle 7"/>
          <p:cNvSpPr/>
          <p:nvPr/>
        </p:nvSpPr>
        <p:spPr>
          <a:xfrm>
            <a:off x="683568" y="2846250"/>
            <a:ext cx="2592288" cy="432048"/>
          </a:xfrm>
          <a:prstGeom prst="roundRect">
            <a:avLst>
              <a:gd name="adj" fmla="val 6172"/>
            </a:avLst>
          </a:prstGeom>
          <a:solidFill>
            <a:schemeClr val="accent5">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逻辑</a:t>
            </a:r>
            <a:r>
              <a:rPr lang="en-US" altLang="zh-CN"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I/O</a:t>
            </a:r>
            <a:endParaRPr lang="zh-CN" altLang="en-US"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Rounded Rectangle 8"/>
          <p:cNvSpPr/>
          <p:nvPr/>
        </p:nvSpPr>
        <p:spPr>
          <a:xfrm>
            <a:off x="683568" y="3573016"/>
            <a:ext cx="2592288" cy="432048"/>
          </a:xfrm>
          <a:prstGeom prst="roundRect">
            <a:avLst>
              <a:gd name="adj" fmla="val 6172"/>
            </a:avLst>
          </a:prstGeom>
          <a:solidFill>
            <a:schemeClr val="accent5">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设备</a:t>
            </a:r>
            <a:r>
              <a:rPr lang="en-US" altLang="zh-CN"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I/O</a:t>
            </a:r>
            <a:endParaRPr lang="zh-CN" altLang="en-US"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Rounded Rectangle 9"/>
          <p:cNvSpPr/>
          <p:nvPr/>
        </p:nvSpPr>
        <p:spPr>
          <a:xfrm>
            <a:off x="675350" y="4299782"/>
            <a:ext cx="2592288" cy="432048"/>
          </a:xfrm>
          <a:prstGeom prst="roundRect">
            <a:avLst>
              <a:gd name="adj" fmla="val 6172"/>
            </a:avLst>
          </a:prstGeom>
          <a:solidFill>
            <a:schemeClr val="accent5">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调度与控制</a:t>
            </a:r>
          </a:p>
        </p:txBody>
      </p:sp>
      <p:sp>
        <p:nvSpPr>
          <p:cNvPr id="11" name="Rounded Rectangle 10"/>
          <p:cNvSpPr/>
          <p:nvPr/>
        </p:nvSpPr>
        <p:spPr>
          <a:xfrm>
            <a:off x="675350" y="5445224"/>
            <a:ext cx="2592288" cy="432048"/>
          </a:xfrm>
          <a:prstGeom prst="roundRect">
            <a:avLst>
              <a:gd name="adj" fmla="val 6172"/>
            </a:avLst>
          </a:prstGeom>
          <a:solidFill>
            <a:schemeClr val="accent5">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I/O</a:t>
            </a:r>
            <a:r>
              <a:rPr lang="zh-CN" altLang="en-US"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硬件</a:t>
            </a:r>
          </a:p>
        </p:txBody>
      </p:sp>
      <p:cxnSp>
        <p:nvCxnSpPr>
          <p:cNvPr id="13" name="Straight Connector 12"/>
          <p:cNvCxnSpPr/>
          <p:nvPr/>
        </p:nvCxnSpPr>
        <p:spPr>
          <a:xfrm>
            <a:off x="395536" y="2564904"/>
            <a:ext cx="3096344"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95536" y="5085184"/>
            <a:ext cx="3096344"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5" name="Rounded Rectangular Callout 14"/>
          <p:cNvSpPr/>
          <p:nvPr/>
        </p:nvSpPr>
        <p:spPr>
          <a:xfrm>
            <a:off x="4716016" y="1268760"/>
            <a:ext cx="3888432" cy="2009538"/>
          </a:xfrm>
          <a:prstGeom prst="wedgeRoundRectCallout">
            <a:avLst>
              <a:gd name="adj1" fmla="val -85513"/>
              <a:gd name="adj2" fmla="val 43126"/>
              <a:gd name="adj3" fmla="val 16667"/>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tx1"/>
                </a:solidFill>
                <a:latin typeface="楷体" panose="02010609060101010101" pitchFamily="49" charset="-122"/>
                <a:ea typeface="楷体" panose="02010609060101010101" pitchFamily="49" charset="-122"/>
              </a:rPr>
              <a:t>虚拟设备：</a:t>
            </a:r>
            <a:endParaRPr lang="en-US" altLang="zh-CN" b="1" dirty="0">
              <a:solidFill>
                <a:schemeClr val="tx1"/>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b="1" dirty="0">
                <a:solidFill>
                  <a:schemeClr val="tx1"/>
                </a:solidFill>
                <a:latin typeface="楷体" panose="02010609060101010101" pitchFamily="49" charset="-122"/>
                <a:ea typeface="楷体" panose="02010609060101010101" pitchFamily="49" charset="-122"/>
              </a:rPr>
              <a:t>针对用户，提供操作命令；</a:t>
            </a:r>
            <a:endParaRPr lang="en-US" altLang="zh-CN" b="1" dirty="0">
              <a:solidFill>
                <a:schemeClr val="tx1"/>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b="1" dirty="0">
                <a:solidFill>
                  <a:schemeClr val="tx1"/>
                </a:solidFill>
                <a:latin typeface="楷体" panose="02010609060101010101" pitchFamily="49" charset="-122"/>
                <a:ea typeface="楷体" panose="02010609060101010101" pitchFamily="49" charset="-122"/>
              </a:rPr>
              <a:t>对于通信设备，则是通信体系结构，如通信协议栈；</a:t>
            </a:r>
            <a:endParaRPr lang="en-US" altLang="zh-CN" b="1" dirty="0">
              <a:solidFill>
                <a:schemeClr val="tx1"/>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b="1" dirty="0">
                <a:solidFill>
                  <a:schemeClr val="tx1"/>
                </a:solidFill>
                <a:latin typeface="楷体" panose="02010609060101010101" pitchFamily="49" charset="-122"/>
                <a:ea typeface="楷体" panose="02010609060101010101" pitchFamily="49" charset="-122"/>
              </a:rPr>
              <a:t>对于文件存储设备，是文件系统的逻辑控制结构</a:t>
            </a:r>
            <a:endParaRPr lang="en-US" altLang="zh-CN" b="1" dirty="0">
              <a:solidFill>
                <a:schemeClr val="tx1"/>
              </a:solidFill>
              <a:latin typeface="楷体" panose="02010609060101010101" pitchFamily="49" charset="-122"/>
              <a:ea typeface="楷体" panose="02010609060101010101" pitchFamily="49" charset="-122"/>
            </a:endParaRPr>
          </a:p>
        </p:txBody>
      </p:sp>
      <p:sp>
        <p:nvSpPr>
          <p:cNvPr id="16" name="Rounded Rectangular Callout 15"/>
          <p:cNvSpPr/>
          <p:nvPr/>
        </p:nvSpPr>
        <p:spPr>
          <a:xfrm>
            <a:off x="4716016" y="1916832"/>
            <a:ext cx="3888432" cy="2009538"/>
          </a:xfrm>
          <a:prstGeom prst="wedgeRoundRectCallout">
            <a:avLst>
              <a:gd name="adj1" fmla="val -85513"/>
              <a:gd name="adj2" fmla="val 43126"/>
              <a:gd name="adj3" fmla="val 16667"/>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tx1"/>
                </a:solidFill>
                <a:latin typeface="楷体" panose="02010609060101010101" pitchFamily="49" charset="-122"/>
                <a:ea typeface="楷体" panose="02010609060101010101" pitchFamily="49" charset="-122"/>
              </a:rPr>
              <a:t>逻辑设备与物理设备之间的过渡协调机构：</a:t>
            </a:r>
            <a:endParaRPr lang="en-US" altLang="zh-CN" b="1" dirty="0">
              <a:solidFill>
                <a:schemeClr val="tx1"/>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用户命令到设备操作序列的转换；</a:t>
            </a:r>
            <a:endParaRPr lang="en-US" altLang="zh-CN"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Arial" panose="020B0604020202020204" pitchFamily="34" charset="0"/>
              <a:buChar char="•"/>
            </a:pPr>
            <a:r>
              <a:rPr lang="en-US" altLang="zh-CN"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I/O</a:t>
            </a:r>
            <a:r>
              <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缓冲：提高</a:t>
            </a:r>
            <a:r>
              <a:rPr lang="en-US" altLang="zh-CN"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I/O</a:t>
            </a:r>
            <a:r>
              <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效率</a:t>
            </a:r>
            <a:endParaRPr lang="en-US" altLang="zh-CN"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7" name="Rounded Rectangular Callout 16"/>
          <p:cNvSpPr/>
          <p:nvPr/>
        </p:nvSpPr>
        <p:spPr>
          <a:xfrm>
            <a:off x="4716016" y="2636912"/>
            <a:ext cx="3888432" cy="2009538"/>
          </a:xfrm>
          <a:prstGeom prst="wedgeRoundRectCallout">
            <a:avLst>
              <a:gd name="adj1" fmla="val -85513"/>
              <a:gd name="adj2" fmla="val 43126"/>
              <a:gd name="adj3" fmla="val 16667"/>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控制物理设备的实体，直接面对硬件设备的控制细节，这部分通常为驱动程序。</a:t>
            </a:r>
            <a:endParaRPr lang="en-US" altLang="zh-CN"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Arial" panose="020B0604020202020204" pitchFamily="34" charset="0"/>
              <a:buChar char="•"/>
            </a:pPr>
            <a:r>
              <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并发</a:t>
            </a:r>
            <a:r>
              <a:rPr lang="en-US" altLang="zh-CN"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I/O</a:t>
            </a:r>
            <a:r>
              <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访问调度</a:t>
            </a:r>
            <a:endParaRPr lang="en-US" altLang="zh-CN"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Arial" panose="020B0604020202020204" pitchFamily="34" charset="0"/>
              <a:buChar char="•"/>
            </a:pPr>
            <a:r>
              <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设备控制和状态维护</a:t>
            </a:r>
            <a:endParaRPr lang="en-US" altLang="zh-CN"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Arial" panose="020B0604020202020204" pitchFamily="34" charset="0"/>
              <a:buChar char="•"/>
            </a:pPr>
            <a:r>
              <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中断处理</a:t>
            </a:r>
            <a:endParaRPr lang="en-US" altLang="zh-CN"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178255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5"/>
                                        </p:tgtEl>
                                      </p:cBhvr>
                                    </p:animEffect>
                                    <p:set>
                                      <p:cBhvr>
                                        <p:cTn id="12" dur="1" fill="hold">
                                          <p:stCondLst>
                                            <p:cond delay="499"/>
                                          </p:stCondLst>
                                        </p:cTn>
                                        <p:tgtEl>
                                          <p:spTgt spid="1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16"/>
                                        </p:tgtEl>
                                      </p:cBhvr>
                                    </p:animEffect>
                                    <p:set>
                                      <p:cBhvr>
                                        <p:cTn id="22" dur="1" fill="hold">
                                          <p:stCondLst>
                                            <p:cond delay="499"/>
                                          </p:stCondLst>
                                        </p:cTn>
                                        <p:tgtEl>
                                          <p:spTgt spid="1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17"/>
                                        </p:tgtEl>
                                      </p:cBhvr>
                                    </p:animEffect>
                                    <p:set>
                                      <p:cBhvr>
                                        <p:cTn id="32"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16" grpId="0" animBg="1"/>
      <p:bldP spid="16" grpId="1" animBg="1"/>
      <p:bldP spid="17" grpId="0" animBg="1"/>
      <p:bldP spid="17"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p>
        </p:txBody>
      </p:sp>
      <p:sp>
        <p:nvSpPr>
          <p:cNvPr id="3" name="Content Placeholder 2"/>
          <p:cNvSpPr>
            <a:spLocks noGrp="1"/>
          </p:cNvSpPr>
          <p:nvPr>
            <p:ph idx="1"/>
          </p:nvPr>
        </p:nvSpPr>
        <p:spPr/>
        <p:txBody>
          <a:bodyPr/>
          <a:lstStyle/>
          <a:p>
            <a:r>
              <a:rPr lang="en-US" altLang="zh-CN" dirty="0">
                <a:solidFill>
                  <a:schemeClr val="bg1">
                    <a:lumMod val="85000"/>
                  </a:schemeClr>
                </a:solidFill>
              </a:rPr>
              <a:t>I/O</a:t>
            </a:r>
            <a:r>
              <a:rPr lang="zh-CN" altLang="en-US" dirty="0">
                <a:solidFill>
                  <a:schemeClr val="bg1">
                    <a:lumMod val="85000"/>
                  </a:schemeClr>
                </a:solidFill>
              </a:rPr>
              <a:t>管理基本知识</a:t>
            </a:r>
            <a:endParaRPr lang="en-US" altLang="zh-CN" dirty="0">
              <a:solidFill>
                <a:schemeClr val="bg1">
                  <a:lumMod val="85000"/>
                </a:schemeClr>
              </a:solidFill>
            </a:endParaRPr>
          </a:p>
          <a:p>
            <a:r>
              <a:rPr lang="en-US" altLang="zh-CN" dirty="0">
                <a:solidFill>
                  <a:srgbClr val="FFC000"/>
                </a:solidFill>
              </a:rPr>
              <a:t>I/O</a:t>
            </a:r>
            <a:r>
              <a:rPr lang="zh-CN" altLang="en-US" dirty="0">
                <a:solidFill>
                  <a:srgbClr val="FFC000"/>
                </a:solidFill>
              </a:rPr>
              <a:t>控制方式</a:t>
            </a:r>
            <a:endParaRPr lang="en-US" altLang="zh-CN" dirty="0">
              <a:solidFill>
                <a:srgbClr val="FFC000"/>
              </a:solidFill>
            </a:endParaRPr>
          </a:p>
          <a:p>
            <a:r>
              <a:rPr lang="zh-CN" altLang="en-US" dirty="0">
                <a:solidFill>
                  <a:schemeClr val="bg1">
                    <a:lumMod val="85000"/>
                  </a:schemeClr>
                </a:solidFill>
              </a:rPr>
              <a:t>缓冲技术</a:t>
            </a:r>
            <a:endParaRPr lang="en-US" altLang="zh-CN" dirty="0">
              <a:solidFill>
                <a:schemeClr val="bg1">
                  <a:lumMod val="85000"/>
                </a:schemeClr>
              </a:solidFill>
            </a:endParaRPr>
          </a:p>
          <a:p>
            <a:r>
              <a:rPr lang="zh-CN" altLang="en-US" dirty="0">
                <a:solidFill>
                  <a:schemeClr val="bg1">
                    <a:lumMod val="85000"/>
                  </a:schemeClr>
                </a:solidFill>
              </a:rPr>
              <a:t>设备分配与回收</a:t>
            </a:r>
            <a:endParaRPr lang="en-US" altLang="zh-CN" dirty="0">
              <a:solidFill>
                <a:schemeClr val="bg1">
                  <a:lumMod val="85000"/>
                </a:schemeClr>
              </a:solidFill>
            </a:endParaRPr>
          </a:p>
          <a:p>
            <a:r>
              <a:rPr lang="zh-CN" altLang="en-US" dirty="0">
                <a:solidFill>
                  <a:schemeClr val="bg1">
                    <a:lumMod val="85000"/>
                  </a:schemeClr>
                </a:solidFill>
              </a:rPr>
              <a:t>磁盘存储器的管理</a:t>
            </a:r>
            <a:endParaRPr lang="en-US" altLang="zh-CN" dirty="0">
              <a:solidFill>
                <a:schemeClr val="bg1">
                  <a:lumMod val="85000"/>
                </a:schemeClr>
              </a:solidFill>
            </a:endParaRPr>
          </a:p>
          <a:p>
            <a:r>
              <a:rPr lang="en-US" altLang="zh-CN" dirty="0">
                <a:solidFill>
                  <a:schemeClr val="bg1">
                    <a:lumMod val="85000"/>
                  </a:schemeClr>
                </a:solidFill>
              </a:rPr>
              <a:t>RAID</a:t>
            </a:r>
            <a:r>
              <a:rPr lang="zh-CN" altLang="en-US" dirty="0">
                <a:solidFill>
                  <a:schemeClr val="bg1">
                    <a:lumMod val="85000"/>
                  </a:schemeClr>
                </a:solidFill>
              </a:rPr>
              <a:t>技术</a:t>
            </a:r>
          </a:p>
        </p:txBody>
      </p:sp>
      <p:sp>
        <p:nvSpPr>
          <p:cNvPr id="4" name="Date Placeholder 3"/>
          <p:cNvSpPr>
            <a:spLocks noGrp="1"/>
          </p:cNvSpPr>
          <p:nvPr>
            <p:ph type="dt" sz="half" idx="10"/>
          </p:nvPr>
        </p:nvSpPr>
        <p:spPr/>
        <p:txBody>
          <a:bodyPr/>
          <a:lstStyle/>
          <a:p>
            <a:fld id="{E7A618E7-2DCC-4EE3-ACFF-F02691F8C974}"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14</a:t>
            </a:fld>
            <a:endParaRPr lang="zh-CN" altLang="en-US" dirty="0"/>
          </a:p>
        </p:txBody>
      </p:sp>
    </p:spTree>
    <p:extLst>
      <p:ext uri="{BB962C8B-B14F-4D97-AF65-F5344CB8AC3E}">
        <p14:creationId xmlns:p14="http://schemas.microsoft.com/office/powerpoint/2010/main" val="2199730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PC</a:t>
            </a:r>
            <a:r>
              <a:rPr lang="zh-CN" altLang="en-US" dirty="0"/>
              <a:t>中的各类总线</a:t>
            </a:r>
          </a:p>
        </p:txBody>
      </p:sp>
      <p:sp>
        <p:nvSpPr>
          <p:cNvPr id="4" name="Date Placeholder 3"/>
          <p:cNvSpPr>
            <a:spLocks noGrp="1"/>
          </p:cNvSpPr>
          <p:nvPr>
            <p:ph type="dt" sz="half" idx="10"/>
          </p:nvPr>
        </p:nvSpPr>
        <p:spPr/>
        <p:txBody>
          <a:bodyPr/>
          <a:lstStyle/>
          <a:p>
            <a:fld id="{F2B99C49-59EC-46A8-B5B0-E896A0FC08A6}"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15</a:t>
            </a:fld>
            <a:endParaRPr lang="zh-CN" altLang="en-US" dirty="0"/>
          </a:p>
        </p:txBody>
      </p:sp>
      <p:pic>
        <p:nvPicPr>
          <p:cNvPr id="7" name="Picture 6"/>
          <p:cNvPicPr>
            <a:picLocks noChangeAspect="1"/>
          </p:cNvPicPr>
          <p:nvPr/>
        </p:nvPicPr>
        <p:blipFill>
          <a:blip r:embed="rId2"/>
          <a:stretch>
            <a:fillRect/>
          </a:stretch>
        </p:blipFill>
        <p:spPr>
          <a:xfrm>
            <a:off x="1475656" y="1700808"/>
            <a:ext cx="5981365" cy="4508122"/>
          </a:xfrm>
          <a:prstGeom prst="rect">
            <a:avLst/>
          </a:prstGeom>
        </p:spPr>
      </p:pic>
    </p:spTree>
    <p:extLst>
      <p:ext uri="{BB962C8B-B14F-4D97-AF65-F5344CB8AC3E}">
        <p14:creationId xmlns:p14="http://schemas.microsoft.com/office/powerpoint/2010/main" val="13956678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程序</a:t>
            </a:r>
            <a:r>
              <a:rPr lang="en-US" altLang="zh-CN" dirty="0"/>
              <a:t>I/O</a:t>
            </a:r>
            <a:r>
              <a:rPr lang="zh-CN" altLang="en-US" dirty="0"/>
              <a:t>方式</a:t>
            </a:r>
          </a:p>
        </p:txBody>
      </p:sp>
      <p:sp>
        <p:nvSpPr>
          <p:cNvPr id="3" name="Content Placeholder 2"/>
          <p:cNvSpPr>
            <a:spLocks noGrp="1"/>
          </p:cNvSpPr>
          <p:nvPr>
            <p:ph idx="1"/>
          </p:nvPr>
        </p:nvSpPr>
        <p:spPr/>
        <p:txBody>
          <a:bodyPr/>
          <a:lstStyle/>
          <a:p>
            <a:pPr>
              <a:lnSpc>
                <a:spcPct val="110000"/>
              </a:lnSpc>
            </a:pPr>
            <a:r>
              <a:rPr lang="en-US" altLang="zh-CN" dirty="0"/>
              <a:t>I/O</a:t>
            </a:r>
            <a:r>
              <a:rPr lang="zh-CN" altLang="en-US" dirty="0"/>
              <a:t>操作由程序发起，并等待操作完成。数据的每次读写通过</a:t>
            </a:r>
            <a:r>
              <a:rPr lang="en-US" altLang="zh-CN" dirty="0"/>
              <a:t>CPU</a:t>
            </a:r>
            <a:r>
              <a:rPr lang="zh-CN" altLang="en-US" dirty="0"/>
              <a:t>。</a:t>
            </a:r>
          </a:p>
          <a:p>
            <a:pPr>
              <a:lnSpc>
                <a:spcPct val="110000"/>
              </a:lnSpc>
            </a:pPr>
            <a:r>
              <a:rPr lang="zh-CN" altLang="en-US" dirty="0">
                <a:solidFill>
                  <a:srgbClr val="00B050"/>
                </a:solidFill>
              </a:rPr>
              <a:t>优点</a:t>
            </a:r>
            <a:endParaRPr lang="en-US" altLang="zh-CN" dirty="0">
              <a:solidFill>
                <a:srgbClr val="00B050"/>
              </a:solidFill>
            </a:endParaRPr>
          </a:p>
          <a:p>
            <a:pPr lvl="1">
              <a:lnSpc>
                <a:spcPct val="110000"/>
              </a:lnSpc>
            </a:pPr>
            <a:r>
              <a:rPr lang="zh-CN" altLang="en-US" dirty="0"/>
              <a:t>几乎不需要其它任何硬件机构的支持</a:t>
            </a:r>
            <a:endParaRPr lang="en-US" altLang="zh-CN" dirty="0"/>
          </a:p>
          <a:p>
            <a:pPr>
              <a:lnSpc>
                <a:spcPct val="110000"/>
              </a:lnSpc>
            </a:pPr>
            <a:r>
              <a:rPr lang="zh-CN" altLang="en-US" dirty="0">
                <a:solidFill>
                  <a:srgbClr val="FF3300"/>
                </a:solidFill>
              </a:rPr>
              <a:t>缺点</a:t>
            </a:r>
          </a:p>
          <a:p>
            <a:pPr lvl="1">
              <a:lnSpc>
                <a:spcPct val="110000"/>
              </a:lnSpc>
            </a:pPr>
            <a:r>
              <a:rPr lang="zh-CN" altLang="en-US" dirty="0"/>
              <a:t>在外设进行数据处理时，</a:t>
            </a:r>
            <a:r>
              <a:rPr lang="en-US" altLang="zh-CN" dirty="0"/>
              <a:t>CPU</a:t>
            </a:r>
            <a:r>
              <a:rPr lang="zh-CN" altLang="en-US" dirty="0"/>
              <a:t>只能忙等待</a:t>
            </a:r>
          </a:p>
          <a:p>
            <a:pPr lvl="1">
              <a:lnSpc>
                <a:spcPct val="110000"/>
              </a:lnSpc>
            </a:pPr>
            <a:r>
              <a:rPr lang="en-US" altLang="zh-CN" dirty="0"/>
              <a:t>CPU</a:t>
            </a:r>
            <a:r>
              <a:rPr lang="zh-CN" altLang="en-US" dirty="0"/>
              <a:t>与外设只能串行工作</a:t>
            </a:r>
          </a:p>
        </p:txBody>
      </p:sp>
      <p:sp>
        <p:nvSpPr>
          <p:cNvPr id="4" name="Date Placeholder 3"/>
          <p:cNvSpPr>
            <a:spLocks noGrp="1"/>
          </p:cNvSpPr>
          <p:nvPr>
            <p:ph type="dt" sz="half" idx="10"/>
          </p:nvPr>
        </p:nvSpPr>
        <p:spPr/>
        <p:txBody>
          <a:bodyPr/>
          <a:lstStyle/>
          <a:p>
            <a:fld id="{4456FAD4-5786-4423-B6D1-3F01778B9B17}"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16</a:t>
            </a:fld>
            <a:endParaRPr lang="zh-CN" altLang="en-US" dirty="0"/>
          </a:p>
        </p:txBody>
      </p:sp>
    </p:spTree>
    <p:extLst>
      <p:ext uri="{BB962C8B-B14F-4D97-AF65-F5344CB8AC3E}">
        <p14:creationId xmlns:p14="http://schemas.microsoft.com/office/powerpoint/2010/main" val="604100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程序</a:t>
            </a:r>
            <a:r>
              <a:rPr lang="en-US" altLang="zh-CN" dirty="0"/>
              <a:t>I/O</a:t>
            </a:r>
            <a:r>
              <a:rPr lang="zh-CN" altLang="en-US" dirty="0"/>
              <a:t>方式</a:t>
            </a:r>
          </a:p>
        </p:txBody>
      </p:sp>
      <p:sp>
        <p:nvSpPr>
          <p:cNvPr id="3" name="Content Placeholder 2"/>
          <p:cNvSpPr>
            <a:spLocks noGrp="1"/>
          </p:cNvSpPr>
          <p:nvPr>
            <p:ph idx="1"/>
          </p:nvPr>
        </p:nvSpPr>
        <p:spPr/>
        <p:txBody>
          <a:bodyPr/>
          <a:lstStyle/>
          <a:p>
            <a:r>
              <a:rPr lang="zh-CN" altLang="en-US" dirty="0"/>
              <a:t>处理过程</a:t>
            </a:r>
          </a:p>
        </p:txBody>
      </p:sp>
      <p:sp>
        <p:nvSpPr>
          <p:cNvPr id="4" name="Date Placeholder 3"/>
          <p:cNvSpPr>
            <a:spLocks noGrp="1"/>
          </p:cNvSpPr>
          <p:nvPr>
            <p:ph type="dt" sz="half" idx="10"/>
          </p:nvPr>
        </p:nvSpPr>
        <p:spPr/>
        <p:txBody>
          <a:bodyPr/>
          <a:lstStyle/>
          <a:p>
            <a:fld id="{34D89186-2613-4F1A-9134-7ACC11D9074E}"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17</a:t>
            </a:fld>
            <a:endParaRPr lang="zh-CN" altLang="en-US" dirty="0"/>
          </a:p>
        </p:txBody>
      </p:sp>
      <p:sp>
        <p:nvSpPr>
          <p:cNvPr id="7" name="Text Box 9"/>
          <p:cNvSpPr txBox="1">
            <a:spLocks noChangeAspect="1" noChangeArrowheads="1"/>
          </p:cNvSpPr>
          <p:nvPr/>
        </p:nvSpPr>
        <p:spPr bwMode="auto">
          <a:xfrm>
            <a:off x="1999159" y="1988840"/>
            <a:ext cx="996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1800" b="1" dirty="0">
                <a:ea typeface="楷体" panose="02010609060101010101" pitchFamily="49" charset="-122"/>
              </a:rPr>
              <a:t>CPU</a:t>
            </a:r>
          </a:p>
        </p:txBody>
      </p:sp>
      <p:sp>
        <p:nvSpPr>
          <p:cNvPr id="8" name="Text Box 10"/>
          <p:cNvSpPr txBox="1">
            <a:spLocks noChangeAspect="1" noChangeArrowheads="1"/>
          </p:cNvSpPr>
          <p:nvPr/>
        </p:nvSpPr>
        <p:spPr bwMode="auto">
          <a:xfrm>
            <a:off x="1299071" y="5128915"/>
            <a:ext cx="2400300" cy="69215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15000"/>
              </a:spcBef>
            </a:pPr>
            <a:r>
              <a:rPr lang="zh-CN" altLang="en-US" sz="1800" b="1">
                <a:ea typeface="楷体" panose="02010609060101010101" pitchFamily="49" charset="-122"/>
              </a:rPr>
              <a:t>执行下一条指令</a:t>
            </a:r>
          </a:p>
          <a:p>
            <a:pPr algn="ctr">
              <a:spcBef>
                <a:spcPct val="15000"/>
              </a:spcBef>
            </a:pPr>
            <a:r>
              <a:rPr lang="zh-CN" altLang="en-US" sz="1800" b="1">
                <a:ea typeface="楷体" panose="02010609060101010101" pitchFamily="49" charset="-122"/>
              </a:rPr>
              <a:t>开始数据传送 </a:t>
            </a:r>
          </a:p>
        </p:txBody>
      </p:sp>
      <p:sp>
        <p:nvSpPr>
          <p:cNvPr id="9" name="Line 11"/>
          <p:cNvSpPr>
            <a:spLocks noChangeAspect="1" noChangeShapeType="1"/>
          </p:cNvSpPr>
          <p:nvPr/>
        </p:nvSpPr>
        <p:spPr bwMode="auto">
          <a:xfrm>
            <a:off x="2488109" y="2282528"/>
            <a:ext cx="0" cy="3333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0" name="Line 12"/>
          <p:cNvSpPr>
            <a:spLocks noChangeAspect="1" noChangeShapeType="1"/>
          </p:cNvSpPr>
          <p:nvPr/>
        </p:nvSpPr>
        <p:spPr bwMode="auto">
          <a:xfrm>
            <a:off x="2496046" y="2977853"/>
            <a:ext cx="0" cy="2667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1" name="Line 13"/>
          <p:cNvSpPr>
            <a:spLocks noChangeAspect="1" noChangeShapeType="1"/>
          </p:cNvSpPr>
          <p:nvPr/>
        </p:nvSpPr>
        <p:spPr bwMode="auto">
          <a:xfrm>
            <a:off x="2496046" y="4147840"/>
            <a:ext cx="0" cy="40005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2" name="Freeform 14"/>
          <p:cNvSpPr>
            <a:spLocks noChangeAspect="1"/>
          </p:cNvSpPr>
          <p:nvPr/>
        </p:nvSpPr>
        <p:spPr bwMode="auto">
          <a:xfrm>
            <a:off x="2483346" y="3100090"/>
            <a:ext cx="1666875" cy="1652588"/>
          </a:xfrm>
          <a:custGeom>
            <a:avLst/>
            <a:gdLst>
              <a:gd name="T0" fmla="*/ 192 w 1200"/>
              <a:gd name="T1" fmla="*/ 1248 h 1248"/>
              <a:gd name="T2" fmla="*/ 1200 w 1200"/>
              <a:gd name="T3" fmla="*/ 1248 h 1248"/>
              <a:gd name="T4" fmla="*/ 1200 w 1200"/>
              <a:gd name="T5" fmla="*/ 0 h 1248"/>
              <a:gd name="T6" fmla="*/ 0 w 1200"/>
              <a:gd name="T7" fmla="*/ 0 h 1248"/>
            </a:gdLst>
            <a:ahLst/>
            <a:cxnLst>
              <a:cxn ang="0">
                <a:pos x="T0" y="T1"/>
              </a:cxn>
              <a:cxn ang="0">
                <a:pos x="T2" y="T3"/>
              </a:cxn>
              <a:cxn ang="0">
                <a:pos x="T4" y="T5"/>
              </a:cxn>
              <a:cxn ang="0">
                <a:pos x="T6" y="T7"/>
              </a:cxn>
            </a:cxnLst>
            <a:rect l="0" t="0" r="r" b="b"/>
            <a:pathLst>
              <a:path w="1200" h="1248">
                <a:moveTo>
                  <a:pt x="192" y="1248"/>
                </a:moveTo>
                <a:lnTo>
                  <a:pt x="1200" y="1248"/>
                </a:lnTo>
                <a:lnTo>
                  <a:pt x="1200" y="0"/>
                </a:lnTo>
                <a:lnTo>
                  <a:pt x="0" y="0"/>
                </a:lnTo>
              </a:path>
            </a:pathLst>
          </a:custGeom>
          <a:noFill/>
          <a:ln w="19050" cmpd="sng">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3" name="Text Box 16"/>
          <p:cNvSpPr txBox="1">
            <a:spLocks noChangeAspect="1" noChangeArrowheads="1"/>
          </p:cNvSpPr>
          <p:nvPr/>
        </p:nvSpPr>
        <p:spPr bwMode="auto">
          <a:xfrm>
            <a:off x="2586534" y="4085928"/>
            <a:ext cx="533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ea typeface="楷体" panose="02010609060101010101" pitchFamily="49" charset="-122"/>
              </a:rPr>
              <a:t>否</a:t>
            </a:r>
          </a:p>
        </p:txBody>
      </p:sp>
      <p:sp>
        <p:nvSpPr>
          <p:cNvPr id="14" name="Text Box 17"/>
          <p:cNvSpPr txBox="1">
            <a:spLocks noChangeAspect="1" noChangeArrowheads="1"/>
          </p:cNvSpPr>
          <p:nvPr/>
        </p:nvSpPr>
        <p:spPr bwMode="auto">
          <a:xfrm>
            <a:off x="852984" y="3220740"/>
            <a:ext cx="466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ea typeface="楷体" panose="02010609060101010101" pitchFamily="49" charset="-122"/>
              </a:rPr>
              <a:t>是</a:t>
            </a:r>
          </a:p>
        </p:txBody>
      </p:sp>
      <p:sp>
        <p:nvSpPr>
          <p:cNvPr id="15" name="Text Box 18"/>
          <p:cNvSpPr txBox="1">
            <a:spLocks noChangeAspect="1" noChangeArrowheads="1"/>
          </p:cNvSpPr>
          <p:nvPr/>
        </p:nvSpPr>
        <p:spPr bwMode="auto">
          <a:xfrm>
            <a:off x="5853609" y="2063453"/>
            <a:ext cx="13335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1800" b="1">
                <a:ea typeface="楷体" panose="02010609060101010101" pitchFamily="49" charset="-122"/>
              </a:rPr>
              <a:t>外围设备</a:t>
            </a:r>
          </a:p>
        </p:txBody>
      </p:sp>
      <p:sp>
        <p:nvSpPr>
          <p:cNvPr id="16" name="Line 24"/>
          <p:cNvSpPr>
            <a:spLocks noChangeAspect="1" noChangeShapeType="1"/>
          </p:cNvSpPr>
          <p:nvPr/>
        </p:nvSpPr>
        <p:spPr bwMode="auto">
          <a:xfrm>
            <a:off x="6453684" y="2463503"/>
            <a:ext cx="0" cy="2667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7" name="Line 25"/>
          <p:cNvSpPr>
            <a:spLocks noChangeAspect="1" noChangeShapeType="1"/>
          </p:cNvSpPr>
          <p:nvPr/>
        </p:nvSpPr>
        <p:spPr bwMode="auto">
          <a:xfrm>
            <a:off x="6453684" y="3000078"/>
            <a:ext cx="0" cy="40005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8" name="Line 26"/>
          <p:cNvSpPr>
            <a:spLocks noChangeAspect="1" noChangeShapeType="1"/>
          </p:cNvSpPr>
          <p:nvPr/>
        </p:nvSpPr>
        <p:spPr bwMode="auto">
          <a:xfrm>
            <a:off x="6453684" y="3730328"/>
            <a:ext cx="0" cy="3333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9" name="Line 27"/>
          <p:cNvSpPr>
            <a:spLocks noChangeAspect="1" noChangeShapeType="1"/>
          </p:cNvSpPr>
          <p:nvPr/>
        </p:nvSpPr>
        <p:spPr bwMode="auto">
          <a:xfrm>
            <a:off x="6453684" y="4665365"/>
            <a:ext cx="0" cy="3333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0" name="Line 28"/>
          <p:cNvSpPr>
            <a:spLocks noChangeAspect="1" noChangeShapeType="1"/>
          </p:cNvSpPr>
          <p:nvPr/>
        </p:nvSpPr>
        <p:spPr bwMode="auto">
          <a:xfrm>
            <a:off x="6453684" y="5324178"/>
            <a:ext cx="0" cy="3333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1" name="Text Box 29"/>
          <p:cNvSpPr txBox="1">
            <a:spLocks noChangeAspect="1" noChangeArrowheads="1"/>
          </p:cNvSpPr>
          <p:nvPr/>
        </p:nvSpPr>
        <p:spPr bwMode="auto">
          <a:xfrm>
            <a:off x="6520359" y="4662190"/>
            <a:ext cx="466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ea typeface="楷体" panose="02010609060101010101" pitchFamily="49" charset="-122"/>
              </a:rPr>
              <a:t>是</a:t>
            </a:r>
          </a:p>
        </p:txBody>
      </p:sp>
      <p:sp>
        <p:nvSpPr>
          <p:cNvPr id="22" name="Text Box 30"/>
          <p:cNvSpPr txBox="1">
            <a:spLocks noChangeAspect="1" noChangeArrowheads="1"/>
          </p:cNvSpPr>
          <p:nvPr/>
        </p:nvSpPr>
        <p:spPr bwMode="auto">
          <a:xfrm>
            <a:off x="5186859" y="3997028"/>
            <a:ext cx="533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ea typeface="楷体" panose="02010609060101010101" pitchFamily="49" charset="-122"/>
              </a:rPr>
              <a:t>否</a:t>
            </a:r>
          </a:p>
        </p:txBody>
      </p:sp>
      <p:sp>
        <p:nvSpPr>
          <p:cNvPr id="23" name="Freeform 31"/>
          <p:cNvSpPr>
            <a:spLocks noChangeAspect="1"/>
          </p:cNvSpPr>
          <p:nvPr/>
        </p:nvSpPr>
        <p:spPr bwMode="auto">
          <a:xfrm>
            <a:off x="5053509" y="3196928"/>
            <a:ext cx="1400175" cy="1200150"/>
          </a:xfrm>
          <a:custGeom>
            <a:avLst/>
            <a:gdLst>
              <a:gd name="T0" fmla="*/ 336 w 1008"/>
              <a:gd name="T1" fmla="*/ 864 h 864"/>
              <a:gd name="T2" fmla="*/ 0 w 1008"/>
              <a:gd name="T3" fmla="*/ 864 h 864"/>
              <a:gd name="T4" fmla="*/ 0 w 1008"/>
              <a:gd name="T5" fmla="*/ 0 h 864"/>
              <a:gd name="T6" fmla="*/ 1008 w 1008"/>
              <a:gd name="T7" fmla="*/ 0 h 864"/>
            </a:gdLst>
            <a:ahLst/>
            <a:cxnLst>
              <a:cxn ang="0">
                <a:pos x="T0" y="T1"/>
              </a:cxn>
              <a:cxn ang="0">
                <a:pos x="T2" y="T3"/>
              </a:cxn>
              <a:cxn ang="0">
                <a:pos x="T4" y="T5"/>
              </a:cxn>
              <a:cxn ang="0">
                <a:pos x="T6" y="T7"/>
              </a:cxn>
            </a:cxnLst>
            <a:rect l="0" t="0" r="r" b="b"/>
            <a:pathLst>
              <a:path w="1008" h="864">
                <a:moveTo>
                  <a:pt x="336" y="864"/>
                </a:moveTo>
                <a:lnTo>
                  <a:pt x="0" y="864"/>
                </a:lnTo>
                <a:lnTo>
                  <a:pt x="0" y="0"/>
                </a:lnTo>
                <a:lnTo>
                  <a:pt x="1008" y="0"/>
                </a:lnTo>
              </a:path>
            </a:pathLst>
          </a:custGeom>
          <a:noFill/>
          <a:ln w="19050" cmpd="sng">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4" name="Line 32"/>
          <p:cNvSpPr>
            <a:spLocks noChangeAspect="1" noChangeShapeType="1"/>
          </p:cNvSpPr>
          <p:nvPr/>
        </p:nvSpPr>
        <p:spPr bwMode="auto">
          <a:xfrm>
            <a:off x="6453684" y="5995690"/>
            <a:ext cx="0" cy="40005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5" name="Line 33"/>
          <p:cNvSpPr>
            <a:spLocks noChangeAspect="1" noChangeShapeType="1"/>
          </p:cNvSpPr>
          <p:nvPr/>
        </p:nvSpPr>
        <p:spPr bwMode="auto">
          <a:xfrm>
            <a:off x="2510334" y="5805190"/>
            <a:ext cx="0" cy="4667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26" name="Group 34"/>
          <p:cNvGrpSpPr>
            <a:grpSpLocks/>
          </p:cNvGrpSpPr>
          <p:nvPr/>
        </p:nvGrpSpPr>
        <p:grpSpPr bwMode="auto">
          <a:xfrm>
            <a:off x="3470771" y="2812753"/>
            <a:ext cx="1944688" cy="2232025"/>
            <a:chOff x="2562" y="1979"/>
            <a:chExt cx="1225" cy="1406"/>
          </a:xfrm>
        </p:grpSpPr>
        <p:sp>
          <p:nvSpPr>
            <p:cNvPr id="27" name="Line 35"/>
            <p:cNvSpPr>
              <a:spLocks noChangeShapeType="1"/>
            </p:cNvSpPr>
            <p:nvPr/>
          </p:nvSpPr>
          <p:spPr bwMode="auto">
            <a:xfrm>
              <a:off x="2562" y="2614"/>
              <a:ext cx="1089" cy="771"/>
            </a:xfrm>
            <a:prstGeom prst="line">
              <a:avLst/>
            </a:prstGeom>
            <a:noFill/>
            <a:ln w="76200">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8" name="Line 36"/>
            <p:cNvSpPr>
              <a:spLocks noChangeShapeType="1"/>
            </p:cNvSpPr>
            <p:nvPr/>
          </p:nvSpPr>
          <p:spPr bwMode="auto">
            <a:xfrm>
              <a:off x="2562" y="1979"/>
              <a:ext cx="1225" cy="45"/>
            </a:xfrm>
            <a:prstGeom prst="line">
              <a:avLst/>
            </a:prstGeom>
            <a:noFill/>
            <a:ln w="76200">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29" name="Text Box 5"/>
          <p:cNvSpPr txBox="1">
            <a:spLocks noChangeAspect="1" noChangeArrowheads="1"/>
          </p:cNvSpPr>
          <p:nvPr/>
        </p:nvSpPr>
        <p:spPr bwMode="auto">
          <a:xfrm>
            <a:off x="1621334" y="4552653"/>
            <a:ext cx="1731962" cy="37623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1800" b="1" dirty="0">
                <a:solidFill>
                  <a:srgbClr val="FF0000"/>
                </a:solidFill>
                <a:ea typeface="楷体" panose="02010609060101010101" pitchFamily="49" charset="-122"/>
              </a:rPr>
              <a:t>等待</a:t>
            </a:r>
          </a:p>
        </p:txBody>
      </p:sp>
      <p:sp>
        <p:nvSpPr>
          <p:cNvPr id="30" name="Text Box 6"/>
          <p:cNvSpPr txBox="1">
            <a:spLocks noChangeAspect="1" noChangeArrowheads="1"/>
          </p:cNvSpPr>
          <p:nvPr/>
        </p:nvSpPr>
        <p:spPr bwMode="auto">
          <a:xfrm>
            <a:off x="1616571" y="2620665"/>
            <a:ext cx="1733550" cy="376238"/>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1800" b="1">
                <a:ea typeface="楷体" panose="02010609060101010101" pitchFamily="49" charset="-122"/>
              </a:rPr>
              <a:t>发</a:t>
            </a:r>
            <a:r>
              <a:rPr lang="en-US" altLang="zh-CN" sz="1800" b="1">
                <a:ea typeface="楷体" panose="02010609060101010101" pitchFamily="49" charset="-122"/>
              </a:rPr>
              <a:t>Start</a:t>
            </a:r>
            <a:r>
              <a:rPr lang="zh-CN" altLang="en-US" sz="1800" b="1">
                <a:ea typeface="楷体" panose="02010609060101010101" pitchFamily="49" charset="-122"/>
              </a:rPr>
              <a:t>指令</a:t>
            </a:r>
          </a:p>
        </p:txBody>
      </p:sp>
      <p:sp>
        <p:nvSpPr>
          <p:cNvPr id="31" name="AutoShape 7"/>
          <p:cNvSpPr>
            <a:spLocks noChangeAspect="1" noChangeArrowheads="1"/>
          </p:cNvSpPr>
          <p:nvPr/>
        </p:nvSpPr>
        <p:spPr bwMode="auto">
          <a:xfrm>
            <a:off x="1186359" y="3220740"/>
            <a:ext cx="2600325" cy="998538"/>
          </a:xfrm>
          <a:prstGeom prst="diamond">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2" name="Text Box 8"/>
          <p:cNvSpPr txBox="1">
            <a:spLocks noChangeAspect="1" noChangeArrowheads="1"/>
          </p:cNvSpPr>
          <p:nvPr/>
        </p:nvSpPr>
        <p:spPr bwMode="auto">
          <a:xfrm>
            <a:off x="1786434" y="3420765"/>
            <a:ext cx="1533525" cy="54927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zh-CN" altLang="en-US" sz="1800" b="1">
                <a:solidFill>
                  <a:srgbClr val="000F2E"/>
                </a:solidFill>
                <a:ea typeface="楷体" panose="02010609060101010101" pitchFamily="49" charset="-122"/>
              </a:rPr>
              <a:t>设备标志触发器为</a:t>
            </a:r>
            <a:r>
              <a:rPr lang="zh-CN" altLang="en-US" sz="1600" b="1">
                <a:solidFill>
                  <a:srgbClr val="000F2E"/>
                </a:solidFill>
                <a:ea typeface="楷体" panose="02010609060101010101" pitchFamily="49" charset="-122"/>
              </a:rPr>
              <a:t>“</a:t>
            </a:r>
            <a:r>
              <a:rPr lang="en-US" altLang="zh-CN" sz="1600" b="1">
                <a:solidFill>
                  <a:srgbClr val="000F2E"/>
                </a:solidFill>
                <a:ea typeface="楷体" panose="02010609060101010101" pitchFamily="49" charset="-122"/>
              </a:rPr>
              <a:t>Done”</a:t>
            </a:r>
            <a:r>
              <a:rPr lang="zh-CN" altLang="en-US" sz="1800" b="1">
                <a:solidFill>
                  <a:srgbClr val="000F2E"/>
                </a:solidFill>
                <a:ea typeface="楷体" panose="02010609060101010101" pitchFamily="49" charset="-122"/>
              </a:rPr>
              <a:t>？</a:t>
            </a:r>
          </a:p>
        </p:txBody>
      </p:sp>
      <p:sp>
        <p:nvSpPr>
          <p:cNvPr id="33" name="Text Box 19"/>
          <p:cNvSpPr txBox="1">
            <a:spLocks noChangeAspect="1" noChangeArrowheads="1"/>
          </p:cNvSpPr>
          <p:nvPr/>
        </p:nvSpPr>
        <p:spPr bwMode="auto">
          <a:xfrm>
            <a:off x="5382121" y="2730203"/>
            <a:ext cx="2133600" cy="37623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1800" b="1">
                <a:ea typeface="楷体" panose="02010609060101010101" pitchFamily="49" charset="-122"/>
              </a:rPr>
              <a:t>接收到</a:t>
            </a:r>
            <a:r>
              <a:rPr lang="en-US" altLang="zh-CN" sz="1800" b="1">
                <a:ea typeface="楷体" panose="02010609060101010101" pitchFamily="49" charset="-122"/>
              </a:rPr>
              <a:t>Start</a:t>
            </a:r>
            <a:r>
              <a:rPr lang="zh-CN" altLang="en-US" sz="1800" b="1">
                <a:ea typeface="楷体" panose="02010609060101010101" pitchFamily="49" charset="-122"/>
              </a:rPr>
              <a:t>指令</a:t>
            </a:r>
          </a:p>
        </p:txBody>
      </p:sp>
      <p:sp>
        <p:nvSpPr>
          <p:cNvPr id="34" name="Text Box 20"/>
          <p:cNvSpPr txBox="1">
            <a:spLocks noChangeAspect="1" noChangeArrowheads="1"/>
          </p:cNvSpPr>
          <p:nvPr/>
        </p:nvSpPr>
        <p:spPr bwMode="auto">
          <a:xfrm>
            <a:off x="5126534" y="3396953"/>
            <a:ext cx="2663825" cy="37623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1800" b="1">
                <a:ea typeface="楷体" panose="02010609060101010101" pitchFamily="49" charset="-122"/>
              </a:rPr>
              <a:t>作接收或发送数据准备</a:t>
            </a:r>
          </a:p>
        </p:txBody>
      </p:sp>
      <p:sp>
        <p:nvSpPr>
          <p:cNvPr id="35" name="AutoShape 21"/>
          <p:cNvSpPr>
            <a:spLocks noChangeAspect="1" noChangeArrowheads="1"/>
          </p:cNvSpPr>
          <p:nvPr/>
        </p:nvSpPr>
        <p:spPr bwMode="auto">
          <a:xfrm>
            <a:off x="5488484" y="4063703"/>
            <a:ext cx="1933575" cy="665162"/>
          </a:xfrm>
          <a:prstGeom prst="diamond">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b="1">
                <a:solidFill>
                  <a:srgbClr val="000F2E"/>
                </a:solidFill>
                <a:ea typeface="楷体" panose="02010609060101010101" pitchFamily="49" charset="-122"/>
              </a:rPr>
              <a:t>准备好？</a:t>
            </a:r>
          </a:p>
        </p:txBody>
      </p:sp>
      <p:sp>
        <p:nvSpPr>
          <p:cNvPr id="36" name="Text Box 22"/>
          <p:cNvSpPr txBox="1">
            <a:spLocks noChangeAspect="1" noChangeArrowheads="1"/>
          </p:cNvSpPr>
          <p:nvPr/>
        </p:nvSpPr>
        <p:spPr bwMode="auto">
          <a:xfrm>
            <a:off x="4918571" y="4995565"/>
            <a:ext cx="3067050" cy="376238"/>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1800" b="1">
                <a:ea typeface="楷体" panose="02010609060101010101" pitchFamily="49" charset="-122"/>
              </a:rPr>
              <a:t>标志触发器置为“</a:t>
            </a:r>
            <a:r>
              <a:rPr lang="en-US" altLang="zh-CN" sz="1800" b="1">
                <a:ea typeface="楷体" panose="02010609060101010101" pitchFamily="49" charset="-122"/>
              </a:rPr>
              <a:t>Done”</a:t>
            </a:r>
          </a:p>
        </p:txBody>
      </p:sp>
      <p:sp>
        <p:nvSpPr>
          <p:cNvPr id="37" name="Text Box 23"/>
          <p:cNvSpPr txBox="1">
            <a:spLocks noChangeAspect="1" noChangeArrowheads="1"/>
          </p:cNvSpPr>
          <p:nvPr/>
        </p:nvSpPr>
        <p:spPr bwMode="auto">
          <a:xfrm>
            <a:off x="4780459" y="5662315"/>
            <a:ext cx="3333750" cy="376238"/>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1800" b="1">
                <a:ea typeface="楷体" panose="02010609060101010101" pitchFamily="49" charset="-122"/>
              </a:rPr>
              <a:t>等待</a:t>
            </a:r>
            <a:r>
              <a:rPr lang="en-US" altLang="zh-CN" sz="1800" b="1">
                <a:ea typeface="楷体" panose="02010609060101010101" pitchFamily="49" charset="-122"/>
              </a:rPr>
              <a:t>CPU</a:t>
            </a:r>
            <a:r>
              <a:rPr lang="zh-CN" altLang="en-US" sz="1800" b="1">
                <a:ea typeface="楷体" panose="02010609060101010101" pitchFamily="49" charset="-122"/>
              </a:rPr>
              <a:t>来的下一条指令</a:t>
            </a:r>
          </a:p>
        </p:txBody>
      </p:sp>
      <p:grpSp>
        <p:nvGrpSpPr>
          <p:cNvPr id="38" name="Group 39"/>
          <p:cNvGrpSpPr>
            <a:grpSpLocks/>
          </p:cNvGrpSpPr>
          <p:nvPr/>
        </p:nvGrpSpPr>
        <p:grpSpPr bwMode="auto">
          <a:xfrm>
            <a:off x="827584" y="3716040"/>
            <a:ext cx="466725" cy="1752600"/>
            <a:chOff x="777" y="2548"/>
            <a:chExt cx="294" cy="1104"/>
          </a:xfrm>
        </p:grpSpPr>
        <p:sp>
          <p:nvSpPr>
            <p:cNvPr id="39" name="Freeform 15"/>
            <p:cNvSpPr>
              <a:spLocks noChangeAspect="1"/>
            </p:cNvSpPr>
            <p:nvPr/>
          </p:nvSpPr>
          <p:spPr bwMode="auto">
            <a:xfrm>
              <a:off x="777" y="2550"/>
              <a:ext cx="294" cy="1102"/>
            </a:xfrm>
            <a:custGeom>
              <a:avLst/>
              <a:gdLst>
                <a:gd name="T0" fmla="*/ 192 w 336"/>
                <a:gd name="T1" fmla="*/ 0 h 1344"/>
                <a:gd name="T2" fmla="*/ 0 w 336"/>
                <a:gd name="T3" fmla="*/ 0 h 1344"/>
                <a:gd name="T4" fmla="*/ 0 w 336"/>
                <a:gd name="T5" fmla="*/ 1344 h 1344"/>
                <a:gd name="T6" fmla="*/ 336 w 336"/>
                <a:gd name="T7" fmla="*/ 1344 h 1344"/>
              </a:gdLst>
              <a:ahLst/>
              <a:cxnLst>
                <a:cxn ang="0">
                  <a:pos x="T0" y="T1"/>
                </a:cxn>
                <a:cxn ang="0">
                  <a:pos x="T2" y="T3"/>
                </a:cxn>
                <a:cxn ang="0">
                  <a:pos x="T4" y="T5"/>
                </a:cxn>
                <a:cxn ang="0">
                  <a:pos x="T6" y="T7"/>
                </a:cxn>
              </a:cxnLst>
              <a:rect l="0" t="0" r="r" b="b"/>
              <a:pathLst>
                <a:path w="336" h="1344">
                  <a:moveTo>
                    <a:pt x="192" y="0"/>
                  </a:moveTo>
                  <a:lnTo>
                    <a:pt x="0" y="0"/>
                  </a:lnTo>
                  <a:lnTo>
                    <a:pt x="0" y="1344"/>
                  </a:lnTo>
                  <a:lnTo>
                    <a:pt x="336" y="1344"/>
                  </a:lnTo>
                </a:path>
              </a:pathLst>
            </a:custGeom>
            <a:noFill/>
            <a:ln w="19050" cmpd="sng">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0" name="Line 38"/>
            <p:cNvSpPr>
              <a:spLocks noChangeShapeType="1"/>
            </p:cNvSpPr>
            <p:nvPr/>
          </p:nvSpPr>
          <p:spPr bwMode="auto">
            <a:xfrm>
              <a:off x="880" y="2548"/>
              <a:ext cx="1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Tree>
    <p:extLst>
      <p:ext uri="{BB962C8B-B14F-4D97-AF65-F5344CB8AC3E}">
        <p14:creationId xmlns:p14="http://schemas.microsoft.com/office/powerpoint/2010/main" val="3213369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程序中断方式</a:t>
            </a:r>
          </a:p>
        </p:txBody>
      </p:sp>
      <p:sp>
        <p:nvSpPr>
          <p:cNvPr id="3" name="Content Placeholder 2"/>
          <p:cNvSpPr>
            <a:spLocks noGrp="1"/>
          </p:cNvSpPr>
          <p:nvPr>
            <p:ph idx="1"/>
          </p:nvPr>
        </p:nvSpPr>
        <p:spPr/>
        <p:txBody>
          <a:bodyPr/>
          <a:lstStyle/>
          <a:p>
            <a:pPr marL="444500" indent="-444500">
              <a:lnSpc>
                <a:spcPct val="105000"/>
              </a:lnSpc>
              <a:spcBef>
                <a:spcPct val="10000"/>
              </a:spcBef>
            </a:pPr>
            <a:r>
              <a:rPr lang="zh-CN" altLang="en-US" dirty="0">
                <a:solidFill>
                  <a:srgbClr val="0000FF"/>
                </a:solidFill>
              </a:rPr>
              <a:t>将</a:t>
            </a:r>
            <a:r>
              <a:rPr lang="en-US" altLang="zh-CN" dirty="0">
                <a:solidFill>
                  <a:srgbClr val="0000FF"/>
                </a:solidFill>
              </a:rPr>
              <a:t>CPU</a:t>
            </a:r>
            <a:r>
              <a:rPr lang="zh-CN" altLang="en-US" dirty="0">
                <a:solidFill>
                  <a:srgbClr val="0000FF"/>
                </a:solidFill>
              </a:rPr>
              <a:t>从忙等待中解放出来</a:t>
            </a:r>
            <a:endParaRPr lang="en-US" altLang="zh-CN" dirty="0">
              <a:solidFill>
                <a:srgbClr val="0000FF"/>
              </a:solidFill>
            </a:endParaRPr>
          </a:p>
          <a:p>
            <a:pPr marL="844550" lvl="1" indent="-444500">
              <a:lnSpc>
                <a:spcPct val="105000"/>
              </a:lnSpc>
              <a:spcBef>
                <a:spcPct val="10000"/>
              </a:spcBef>
            </a:pPr>
            <a:r>
              <a:rPr lang="en-US" altLang="zh-CN" dirty="0"/>
              <a:t>I/O</a:t>
            </a:r>
            <a:r>
              <a:rPr lang="zh-CN" altLang="en-US" dirty="0"/>
              <a:t>操作由程序发起，在操作完成时（如数据可读或已经写入）由外设向</a:t>
            </a:r>
            <a:r>
              <a:rPr lang="en-US" altLang="zh-CN" dirty="0"/>
              <a:t>CPU</a:t>
            </a:r>
            <a:r>
              <a:rPr lang="zh-CN" altLang="en-US" dirty="0"/>
              <a:t>发出中断，通知该程序。数据的每次读写通过</a:t>
            </a:r>
            <a:r>
              <a:rPr lang="en-US" altLang="zh-CN" dirty="0"/>
              <a:t>CPU</a:t>
            </a:r>
            <a:endParaRPr lang="zh-CN" altLang="en-US" dirty="0"/>
          </a:p>
          <a:p>
            <a:pPr marL="444500" indent="-444500">
              <a:lnSpc>
                <a:spcPct val="105000"/>
              </a:lnSpc>
              <a:spcBef>
                <a:spcPct val="10000"/>
              </a:spcBef>
            </a:pPr>
            <a:endParaRPr lang="en-US" altLang="zh-CN" dirty="0">
              <a:solidFill>
                <a:srgbClr val="00B050"/>
              </a:solidFill>
            </a:endParaRPr>
          </a:p>
          <a:p>
            <a:pPr marL="444500" indent="-444500">
              <a:lnSpc>
                <a:spcPct val="105000"/>
              </a:lnSpc>
              <a:spcBef>
                <a:spcPct val="10000"/>
              </a:spcBef>
            </a:pPr>
            <a:r>
              <a:rPr lang="zh-CN" altLang="en-US" dirty="0">
                <a:solidFill>
                  <a:srgbClr val="00B050"/>
                </a:solidFill>
              </a:rPr>
              <a:t>优点</a:t>
            </a:r>
            <a:endParaRPr lang="en-US" altLang="zh-CN" dirty="0">
              <a:solidFill>
                <a:srgbClr val="00B050"/>
              </a:solidFill>
            </a:endParaRPr>
          </a:p>
          <a:p>
            <a:pPr marL="844550" lvl="1" indent="-444500">
              <a:lnSpc>
                <a:spcPct val="105000"/>
              </a:lnSpc>
              <a:spcBef>
                <a:spcPct val="10000"/>
              </a:spcBef>
            </a:pPr>
            <a:r>
              <a:rPr lang="zh-CN" altLang="en-US" dirty="0"/>
              <a:t>在外设进行数据处理时，</a:t>
            </a:r>
            <a:r>
              <a:rPr lang="en-US" altLang="zh-CN" dirty="0"/>
              <a:t>CPU</a:t>
            </a:r>
            <a:r>
              <a:rPr lang="zh-CN" altLang="en-US" dirty="0"/>
              <a:t>不必等待，可以继续执行该程序或其他程序。</a:t>
            </a:r>
          </a:p>
          <a:p>
            <a:pPr marL="444500" indent="-444500">
              <a:lnSpc>
                <a:spcPct val="105000"/>
              </a:lnSpc>
              <a:spcBef>
                <a:spcPct val="10000"/>
              </a:spcBef>
            </a:pPr>
            <a:endParaRPr lang="en-US" altLang="zh-CN" dirty="0">
              <a:solidFill>
                <a:srgbClr val="FF3300"/>
              </a:solidFill>
            </a:endParaRPr>
          </a:p>
          <a:p>
            <a:pPr marL="444500" indent="-444500">
              <a:lnSpc>
                <a:spcPct val="105000"/>
              </a:lnSpc>
              <a:spcBef>
                <a:spcPct val="10000"/>
              </a:spcBef>
            </a:pPr>
            <a:r>
              <a:rPr lang="zh-CN" altLang="en-US" dirty="0">
                <a:solidFill>
                  <a:srgbClr val="FF3300"/>
                </a:solidFill>
              </a:rPr>
              <a:t>缺点</a:t>
            </a:r>
            <a:endParaRPr lang="en-US" altLang="zh-CN" dirty="0">
              <a:solidFill>
                <a:srgbClr val="FF3300"/>
              </a:solidFill>
            </a:endParaRPr>
          </a:p>
          <a:p>
            <a:pPr marL="844550" lvl="1" indent="-444500">
              <a:lnSpc>
                <a:spcPct val="105000"/>
              </a:lnSpc>
              <a:spcBef>
                <a:spcPct val="10000"/>
              </a:spcBef>
            </a:pPr>
            <a:r>
              <a:rPr lang="en-US" altLang="zh-CN" dirty="0"/>
              <a:t>CPU</a:t>
            </a:r>
            <a:r>
              <a:rPr lang="zh-CN" altLang="en-US" dirty="0"/>
              <a:t>依然参与数据的搬运（从外设的局部存储搬运到内存）</a:t>
            </a:r>
          </a:p>
          <a:p>
            <a:endParaRPr lang="zh-CN" altLang="en-US" dirty="0"/>
          </a:p>
        </p:txBody>
      </p:sp>
      <p:sp>
        <p:nvSpPr>
          <p:cNvPr id="4" name="Date Placeholder 3"/>
          <p:cNvSpPr>
            <a:spLocks noGrp="1"/>
          </p:cNvSpPr>
          <p:nvPr>
            <p:ph type="dt" sz="half" idx="10"/>
          </p:nvPr>
        </p:nvSpPr>
        <p:spPr/>
        <p:txBody>
          <a:bodyPr/>
          <a:lstStyle/>
          <a:p>
            <a:fld id="{BCB88C45-16E3-4EAE-81E0-707CF7E84BEC}"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18</a:t>
            </a:fld>
            <a:endParaRPr lang="zh-CN" altLang="en-US" dirty="0"/>
          </a:p>
        </p:txBody>
      </p:sp>
    </p:spTree>
    <p:extLst>
      <p:ext uri="{BB962C8B-B14F-4D97-AF65-F5344CB8AC3E}">
        <p14:creationId xmlns:p14="http://schemas.microsoft.com/office/powerpoint/2010/main" val="26461976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程序中断方式</a:t>
            </a:r>
          </a:p>
        </p:txBody>
      </p:sp>
      <p:sp>
        <p:nvSpPr>
          <p:cNvPr id="3" name="Content Placeholder 2"/>
          <p:cNvSpPr>
            <a:spLocks noGrp="1"/>
          </p:cNvSpPr>
          <p:nvPr>
            <p:ph idx="1"/>
          </p:nvPr>
        </p:nvSpPr>
        <p:spPr/>
        <p:txBody>
          <a:bodyPr/>
          <a:lstStyle/>
          <a:p>
            <a:r>
              <a:rPr lang="zh-CN" altLang="en-US" dirty="0"/>
              <a:t>处理过程</a:t>
            </a:r>
          </a:p>
        </p:txBody>
      </p:sp>
      <p:sp>
        <p:nvSpPr>
          <p:cNvPr id="4" name="Date Placeholder 3"/>
          <p:cNvSpPr>
            <a:spLocks noGrp="1"/>
          </p:cNvSpPr>
          <p:nvPr>
            <p:ph type="dt" sz="half" idx="10"/>
          </p:nvPr>
        </p:nvSpPr>
        <p:spPr/>
        <p:txBody>
          <a:bodyPr/>
          <a:lstStyle/>
          <a:p>
            <a:fld id="{A227E805-CABA-49DB-A3DA-08C5C88B0C1E}"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19</a:t>
            </a:fld>
            <a:endParaRPr lang="zh-CN" altLang="en-US" dirty="0"/>
          </a:p>
        </p:txBody>
      </p:sp>
      <p:sp>
        <p:nvSpPr>
          <p:cNvPr id="7" name="Text Box 5"/>
          <p:cNvSpPr txBox="1">
            <a:spLocks noChangeAspect="1" noChangeArrowheads="1"/>
          </p:cNvSpPr>
          <p:nvPr/>
        </p:nvSpPr>
        <p:spPr bwMode="auto">
          <a:xfrm>
            <a:off x="1187624" y="2435697"/>
            <a:ext cx="2733675" cy="660400"/>
          </a:xfrm>
          <a:prstGeom prst="rect">
            <a:avLst/>
          </a:prstGeom>
          <a:solidFill>
            <a:srgbClr val="FF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15000"/>
              </a:spcBef>
            </a:pPr>
            <a:r>
              <a:rPr lang="zh-CN" altLang="en-US" sz="1800" b="1">
                <a:solidFill>
                  <a:srgbClr val="000F2E"/>
                </a:solidFill>
                <a:ea typeface="楷体" panose="02010609060101010101" pitchFamily="49" charset="-122"/>
              </a:rPr>
              <a:t>接收到</a:t>
            </a:r>
            <a:r>
              <a:rPr lang="en-US" altLang="zh-CN" sz="1800" b="1">
                <a:solidFill>
                  <a:srgbClr val="000F2E"/>
                </a:solidFill>
                <a:ea typeface="楷体" panose="02010609060101010101" pitchFamily="49" charset="-122"/>
              </a:rPr>
              <a:t>CPU</a:t>
            </a:r>
            <a:r>
              <a:rPr lang="zh-CN" altLang="en-US" sz="1800" b="1">
                <a:solidFill>
                  <a:srgbClr val="000F2E"/>
                </a:solidFill>
                <a:ea typeface="楷体" panose="02010609060101010101" pitchFamily="49" charset="-122"/>
              </a:rPr>
              <a:t>发来的</a:t>
            </a:r>
            <a:r>
              <a:rPr lang="en-US" altLang="zh-CN" sz="1800" b="1">
                <a:solidFill>
                  <a:srgbClr val="000F2E"/>
                </a:solidFill>
                <a:ea typeface="楷体" panose="02010609060101010101" pitchFamily="49" charset="-122"/>
              </a:rPr>
              <a:t>Start</a:t>
            </a:r>
            <a:r>
              <a:rPr lang="zh-CN" altLang="en-US" sz="1800" b="1">
                <a:solidFill>
                  <a:srgbClr val="000F2E"/>
                </a:solidFill>
                <a:ea typeface="楷体" panose="02010609060101010101" pitchFamily="49" charset="-122"/>
              </a:rPr>
              <a:t>指令</a:t>
            </a:r>
          </a:p>
        </p:txBody>
      </p:sp>
      <p:sp>
        <p:nvSpPr>
          <p:cNvPr id="8" name="AutoShape 6"/>
          <p:cNvSpPr>
            <a:spLocks noChangeAspect="1" noChangeArrowheads="1"/>
          </p:cNvSpPr>
          <p:nvPr/>
        </p:nvSpPr>
        <p:spPr bwMode="auto">
          <a:xfrm>
            <a:off x="1187624" y="4431184"/>
            <a:ext cx="2538413" cy="901700"/>
          </a:xfrm>
          <a:prstGeom prst="diamond">
            <a:avLst/>
          </a:prstGeom>
          <a:solidFill>
            <a:srgbClr val="FF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b="1">
                <a:solidFill>
                  <a:srgbClr val="000F2E"/>
                </a:solidFill>
                <a:ea typeface="楷体" panose="02010609060101010101" pitchFamily="49" charset="-122"/>
              </a:rPr>
              <a:t>缓冲寄存器满？</a:t>
            </a:r>
          </a:p>
        </p:txBody>
      </p:sp>
      <p:sp>
        <p:nvSpPr>
          <p:cNvPr id="9" name="Text Box 7"/>
          <p:cNvSpPr txBox="1">
            <a:spLocks noChangeAspect="1" noChangeArrowheads="1"/>
          </p:cNvSpPr>
          <p:nvPr/>
        </p:nvSpPr>
        <p:spPr bwMode="auto">
          <a:xfrm>
            <a:off x="1962324" y="1792759"/>
            <a:ext cx="9747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1800" b="1">
                <a:ea typeface="楷体" panose="02010609060101010101" pitchFamily="49" charset="-122"/>
              </a:rPr>
              <a:t>设备</a:t>
            </a:r>
          </a:p>
        </p:txBody>
      </p:sp>
      <p:sp>
        <p:nvSpPr>
          <p:cNvPr id="10" name="Text Box 8"/>
          <p:cNvSpPr txBox="1">
            <a:spLocks noChangeAspect="1" noChangeArrowheads="1"/>
          </p:cNvSpPr>
          <p:nvPr/>
        </p:nvSpPr>
        <p:spPr bwMode="auto">
          <a:xfrm>
            <a:off x="1382887" y="5645622"/>
            <a:ext cx="2344737" cy="369332"/>
          </a:xfrm>
          <a:prstGeom prst="rect">
            <a:avLst/>
          </a:prstGeom>
          <a:solidFill>
            <a:srgbClr val="FF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15000"/>
              </a:spcBef>
            </a:pPr>
            <a:r>
              <a:rPr lang="zh-CN" altLang="en-US" sz="1800" b="1" dirty="0">
                <a:solidFill>
                  <a:srgbClr val="000F2E"/>
                </a:solidFill>
                <a:ea typeface="楷体" panose="02010609060101010101" pitchFamily="49" charset="-122"/>
              </a:rPr>
              <a:t>控制器发</a:t>
            </a:r>
            <a:r>
              <a:rPr lang="zh-CN" altLang="en-US" sz="1800" b="1" dirty="0">
                <a:solidFill>
                  <a:srgbClr val="FF0000"/>
                </a:solidFill>
                <a:ea typeface="楷体" panose="02010609060101010101" pitchFamily="49" charset="-122"/>
              </a:rPr>
              <a:t>中断信号</a:t>
            </a:r>
          </a:p>
        </p:txBody>
      </p:sp>
      <p:sp>
        <p:nvSpPr>
          <p:cNvPr id="11" name="Line 9"/>
          <p:cNvSpPr>
            <a:spLocks noChangeAspect="1" noChangeShapeType="1"/>
          </p:cNvSpPr>
          <p:nvPr/>
        </p:nvSpPr>
        <p:spPr bwMode="auto">
          <a:xfrm>
            <a:off x="2448099" y="2127722"/>
            <a:ext cx="0" cy="32226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2" name="Line 10"/>
          <p:cNvSpPr>
            <a:spLocks noChangeAspect="1" noChangeShapeType="1"/>
          </p:cNvSpPr>
          <p:nvPr/>
        </p:nvSpPr>
        <p:spPr bwMode="auto">
          <a:xfrm>
            <a:off x="2462387" y="5334472"/>
            <a:ext cx="1587" cy="31908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3" name="Text Box 11"/>
          <p:cNvSpPr txBox="1">
            <a:spLocks noChangeAspect="1" noChangeArrowheads="1"/>
          </p:cNvSpPr>
          <p:nvPr/>
        </p:nvSpPr>
        <p:spPr bwMode="auto">
          <a:xfrm>
            <a:off x="2552874" y="5202709"/>
            <a:ext cx="5222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ea typeface="楷体" panose="02010609060101010101" pitchFamily="49" charset="-122"/>
              </a:rPr>
              <a:t>是</a:t>
            </a:r>
          </a:p>
        </p:txBody>
      </p:sp>
      <p:sp>
        <p:nvSpPr>
          <p:cNvPr id="14" name="Text Box 12"/>
          <p:cNvSpPr txBox="1">
            <a:spLocks noChangeAspect="1" noChangeArrowheads="1"/>
          </p:cNvSpPr>
          <p:nvPr/>
        </p:nvSpPr>
        <p:spPr bwMode="auto">
          <a:xfrm>
            <a:off x="5604049" y="1484784"/>
            <a:ext cx="13001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1800" b="1">
                <a:ea typeface="楷体" panose="02010609060101010101" pitchFamily="49" charset="-122"/>
              </a:rPr>
              <a:t>CPU</a:t>
            </a:r>
          </a:p>
        </p:txBody>
      </p:sp>
      <p:sp>
        <p:nvSpPr>
          <p:cNvPr id="15" name="Text Box 13"/>
          <p:cNvSpPr txBox="1">
            <a:spLocks noChangeAspect="1" noChangeArrowheads="1"/>
          </p:cNvSpPr>
          <p:nvPr/>
        </p:nvSpPr>
        <p:spPr bwMode="auto">
          <a:xfrm>
            <a:off x="4781724" y="2945284"/>
            <a:ext cx="2992438" cy="379413"/>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1800" b="1">
                <a:solidFill>
                  <a:srgbClr val="000F2E"/>
                </a:solidFill>
                <a:ea typeface="楷体" panose="02010609060101010101" pitchFamily="49" charset="-122"/>
              </a:rPr>
              <a:t>调度程序调度其它进程</a:t>
            </a:r>
          </a:p>
        </p:txBody>
      </p:sp>
      <p:sp>
        <p:nvSpPr>
          <p:cNvPr id="16" name="AutoShape 14"/>
          <p:cNvSpPr>
            <a:spLocks noChangeAspect="1" noChangeArrowheads="1"/>
          </p:cNvSpPr>
          <p:nvPr/>
        </p:nvSpPr>
        <p:spPr bwMode="auto">
          <a:xfrm>
            <a:off x="4765849" y="4302597"/>
            <a:ext cx="3059113" cy="579437"/>
          </a:xfrm>
          <a:prstGeom prst="diamond">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b="1" dirty="0">
                <a:solidFill>
                  <a:srgbClr val="FF0000"/>
                </a:solidFill>
                <a:ea typeface="楷体" panose="02010609060101010101" pitchFamily="49" charset="-122"/>
              </a:rPr>
              <a:t>收到中断信号</a:t>
            </a:r>
            <a:r>
              <a:rPr lang="zh-CN" altLang="en-US" sz="1800" b="1" dirty="0">
                <a:solidFill>
                  <a:srgbClr val="000F2E"/>
                </a:solidFill>
                <a:ea typeface="楷体" panose="02010609060101010101" pitchFamily="49" charset="-122"/>
              </a:rPr>
              <a:t>了吗？</a:t>
            </a:r>
          </a:p>
        </p:txBody>
      </p:sp>
      <p:sp>
        <p:nvSpPr>
          <p:cNvPr id="17" name="Text Box 15"/>
          <p:cNvSpPr txBox="1">
            <a:spLocks noChangeAspect="1" noChangeArrowheads="1"/>
          </p:cNvSpPr>
          <p:nvPr/>
        </p:nvSpPr>
        <p:spPr bwMode="auto">
          <a:xfrm>
            <a:off x="5481812" y="5139209"/>
            <a:ext cx="1692275" cy="379413"/>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1800" b="1">
                <a:solidFill>
                  <a:srgbClr val="000F2E"/>
                </a:solidFill>
                <a:ea typeface="楷体" panose="02010609060101010101" pitchFamily="49" charset="-122"/>
              </a:rPr>
              <a:t>中断处理</a:t>
            </a:r>
          </a:p>
        </p:txBody>
      </p:sp>
      <p:sp>
        <p:nvSpPr>
          <p:cNvPr id="18" name="Text Box 16"/>
          <p:cNvSpPr txBox="1">
            <a:spLocks noChangeAspect="1" noChangeArrowheads="1"/>
          </p:cNvSpPr>
          <p:nvPr/>
        </p:nvSpPr>
        <p:spPr bwMode="auto">
          <a:xfrm>
            <a:off x="5223049" y="5783734"/>
            <a:ext cx="2211388" cy="379413"/>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1800" b="1">
                <a:solidFill>
                  <a:srgbClr val="000F2E"/>
                </a:solidFill>
                <a:ea typeface="楷体" panose="02010609060101010101" pitchFamily="49" charset="-122"/>
              </a:rPr>
              <a:t>被中断进程执行</a:t>
            </a:r>
          </a:p>
        </p:txBody>
      </p:sp>
      <p:sp>
        <p:nvSpPr>
          <p:cNvPr id="19" name="Line 17"/>
          <p:cNvSpPr>
            <a:spLocks noChangeAspect="1" noChangeShapeType="1"/>
          </p:cNvSpPr>
          <p:nvPr/>
        </p:nvSpPr>
        <p:spPr bwMode="auto">
          <a:xfrm>
            <a:off x="6258099" y="1792759"/>
            <a:ext cx="0" cy="2571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0" name="Line 18"/>
          <p:cNvSpPr>
            <a:spLocks noChangeAspect="1" noChangeShapeType="1"/>
          </p:cNvSpPr>
          <p:nvPr/>
        </p:nvSpPr>
        <p:spPr bwMode="auto">
          <a:xfrm>
            <a:off x="6285087" y="2648422"/>
            <a:ext cx="1587" cy="29051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1" name="Line 19"/>
          <p:cNvSpPr>
            <a:spLocks noChangeAspect="1" noChangeShapeType="1"/>
          </p:cNvSpPr>
          <p:nvPr/>
        </p:nvSpPr>
        <p:spPr bwMode="auto">
          <a:xfrm>
            <a:off x="6300962" y="3346922"/>
            <a:ext cx="0" cy="3206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2" name="Line 20"/>
          <p:cNvSpPr>
            <a:spLocks noChangeAspect="1" noChangeShapeType="1"/>
          </p:cNvSpPr>
          <p:nvPr/>
        </p:nvSpPr>
        <p:spPr bwMode="auto">
          <a:xfrm>
            <a:off x="6313662" y="4882034"/>
            <a:ext cx="1587" cy="252413"/>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3" name="Line 21"/>
          <p:cNvSpPr>
            <a:spLocks noChangeAspect="1" noChangeShapeType="1"/>
          </p:cNvSpPr>
          <p:nvPr/>
        </p:nvSpPr>
        <p:spPr bwMode="auto">
          <a:xfrm>
            <a:off x="6327949" y="5537672"/>
            <a:ext cx="1588" cy="254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4" name="Text Box 22"/>
          <p:cNvSpPr txBox="1">
            <a:spLocks noChangeAspect="1" noChangeArrowheads="1"/>
          </p:cNvSpPr>
          <p:nvPr/>
        </p:nvSpPr>
        <p:spPr bwMode="auto">
          <a:xfrm>
            <a:off x="6351762" y="4807422"/>
            <a:ext cx="457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ea typeface="楷体" panose="02010609060101010101" pitchFamily="49" charset="-122"/>
              </a:rPr>
              <a:t>是</a:t>
            </a:r>
          </a:p>
        </p:txBody>
      </p:sp>
      <p:sp>
        <p:nvSpPr>
          <p:cNvPr id="25" name="Text Box 23"/>
          <p:cNvSpPr txBox="1">
            <a:spLocks noChangeAspect="1" noChangeArrowheads="1"/>
          </p:cNvSpPr>
          <p:nvPr/>
        </p:nvSpPr>
        <p:spPr bwMode="auto">
          <a:xfrm>
            <a:off x="4767437" y="4045422"/>
            <a:ext cx="5175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ea typeface="楷体" panose="02010609060101010101" pitchFamily="49" charset="-122"/>
              </a:rPr>
              <a:t>否</a:t>
            </a:r>
          </a:p>
        </p:txBody>
      </p:sp>
      <p:sp>
        <p:nvSpPr>
          <p:cNvPr id="26" name="Line 24"/>
          <p:cNvSpPr>
            <a:spLocks noChangeAspect="1" noChangeShapeType="1"/>
          </p:cNvSpPr>
          <p:nvPr/>
        </p:nvSpPr>
        <p:spPr bwMode="auto">
          <a:xfrm>
            <a:off x="6327949" y="6167909"/>
            <a:ext cx="0" cy="1936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7" name="Line 25"/>
          <p:cNvSpPr>
            <a:spLocks noChangeAspect="1" noChangeShapeType="1"/>
          </p:cNvSpPr>
          <p:nvPr/>
        </p:nvSpPr>
        <p:spPr bwMode="auto">
          <a:xfrm>
            <a:off x="2462387" y="6039322"/>
            <a:ext cx="0" cy="25876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8" name="Line 26"/>
          <p:cNvSpPr>
            <a:spLocks noChangeAspect="1" noChangeShapeType="1"/>
          </p:cNvSpPr>
          <p:nvPr/>
        </p:nvSpPr>
        <p:spPr bwMode="auto">
          <a:xfrm>
            <a:off x="2462387" y="3089747"/>
            <a:ext cx="1587" cy="45561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9" name="Freeform 27"/>
          <p:cNvSpPr>
            <a:spLocks noChangeAspect="1"/>
          </p:cNvSpPr>
          <p:nvPr/>
        </p:nvSpPr>
        <p:spPr bwMode="auto">
          <a:xfrm>
            <a:off x="2489374" y="3337397"/>
            <a:ext cx="1757363" cy="1544637"/>
          </a:xfrm>
          <a:custGeom>
            <a:avLst/>
            <a:gdLst>
              <a:gd name="T0" fmla="*/ 912 w 1296"/>
              <a:gd name="T1" fmla="*/ 720 h 720"/>
              <a:gd name="T2" fmla="*/ 1296 w 1296"/>
              <a:gd name="T3" fmla="*/ 720 h 720"/>
              <a:gd name="T4" fmla="*/ 1296 w 1296"/>
              <a:gd name="T5" fmla="*/ 0 h 720"/>
              <a:gd name="T6" fmla="*/ 0 w 1296"/>
              <a:gd name="T7" fmla="*/ 0 h 720"/>
            </a:gdLst>
            <a:ahLst/>
            <a:cxnLst>
              <a:cxn ang="0">
                <a:pos x="T0" y="T1"/>
              </a:cxn>
              <a:cxn ang="0">
                <a:pos x="T2" y="T3"/>
              </a:cxn>
              <a:cxn ang="0">
                <a:pos x="T4" y="T5"/>
              </a:cxn>
              <a:cxn ang="0">
                <a:pos x="T6" y="T7"/>
              </a:cxn>
            </a:cxnLst>
            <a:rect l="0" t="0" r="r" b="b"/>
            <a:pathLst>
              <a:path w="1296" h="720">
                <a:moveTo>
                  <a:pt x="912" y="720"/>
                </a:moveTo>
                <a:lnTo>
                  <a:pt x="1296" y="720"/>
                </a:lnTo>
                <a:lnTo>
                  <a:pt x="1296" y="0"/>
                </a:lnTo>
                <a:lnTo>
                  <a:pt x="0" y="0"/>
                </a:lnTo>
              </a:path>
            </a:pathLst>
          </a:custGeom>
          <a:noFill/>
          <a:ln w="28575" cmpd="sng">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0" name="Text Box 28"/>
          <p:cNvSpPr txBox="1">
            <a:spLocks noChangeAspect="1" noChangeArrowheads="1"/>
          </p:cNvSpPr>
          <p:nvPr/>
        </p:nvSpPr>
        <p:spPr bwMode="auto">
          <a:xfrm>
            <a:off x="1187624" y="3529484"/>
            <a:ext cx="2733675" cy="660400"/>
          </a:xfrm>
          <a:prstGeom prst="rect">
            <a:avLst/>
          </a:prstGeom>
          <a:solidFill>
            <a:srgbClr val="FF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15000"/>
              </a:spcBef>
            </a:pPr>
            <a:r>
              <a:rPr lang="zh-CN" altLang="en-US" sz="1800" b="1">
                <a:solidFill>
                  <a:srgbClr val="000F2E"/>
                </a:solidFill>
                <a:ea typeface="楷体" panose="02010609060101010101" pitchFamily="49" charset="-122"/>
              </a:rPr>
              <a:t>准备数据并将其置入缓冲寄存器</a:t>
            </a:r>
          </a:p>
        </p:txBody>
      </p:sp>
      <p:sp>
        <p:nvSpPr>
          <p:cNvPr id="31" name="Line 29"/>
          <p:cNvSpPr>
            <a:spLocks noChangeAspect="1" noChangeShapeType="1"/>
          </p:cNvSpPr>
          <p:nvPr/>
        </p:nvSpPr>
        <p:spPr bwMode="auto">
          <a:xfrm>
            <a:off x="2465562" y="4212109"/>
            <a:ext cx="0" cy="2254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2" name="Text Box 30"/>
          <p:cNvSpPr txBox="1">
            <a:spLocks noChangeAspect="1" noChangeArrowheads="1"/>
          </p:cNvSpPr>
          <p:nvPr/>
        </p:nvSpPr>
        <p:spPr bwMode="auto">
          <a:xfrm>
            <a:off x="3660949" y="4496272"/>
            <a:ext cx="4540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a:ea typeface="楷体" panose="02010609060101010101" pitchFamily="49" charset="-122"/>
              </a:rPr>
              <a:t>否</a:t>
            </a:r>
          </a:p>
        </p:txBody>
      </p:sp>
      <p:sp>
        <p:nvSpPr>
          <p:cNvPr id="33" name="Text Box 31"/>
          <p:cNvSpPr txBox="1">
            <a:spLocks noChangeAspect="1" noChangeArrowheads="1"/>
          </p:cNvSpPr>
          <p:nvPr/>
        </p:nvSpPr>
        <p:spPr bwMode="auto">
          <a:xfrm>
            <a:off x="4961112" y="2049934"/>
            <a:ext cx="2732087" cy="695325"/>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15000"/>
              </a:spcBef>
            </a:pPr>
            <a:r>
              <a:rPr lang="zh-CN" altLang="en-US" sz="1800" b="1">
                <a:solidFill>
                  <a:srgbClr val="000F2E"/>
                </a:solidFill>
                <a:ea typeface="楷体" panose="02010609060101010101" pitchFamily="49" charset="-122"/>
              </a:rPr>
              <a:t>向设备发</a:t>
            </a:r>
            <a:r>
              <a:rPr lang="en-US" altLang="zh-CN" sz="1800" b="1">
                <a:solidFill>
                  <a:srgbClr val="000F2E"/>
                </a:solidFill>
                <a:ea typeface="楷体" panose="02010609060101010101" pitchFamily="49" charset="-122"/>
              </a:rPr>
              <a:t>Start</a:t>
            </a:r>
            <a:r>
              <a:rPr lang="zh-CN" altLang="en-US" sz="1800" b="1">
                <a:solidFill>
                  <a:srgbClr val="000F2E"/>
                </a:solidFill>
                <a:ea typeface="楷体" panose="02010609060101010101" pitchFamily="49" charset="-122"/>
              </a:rPr>
              <a:t>指令，</a:t>
            </a:r>
          </a:p>
          <a:p>
            <a:pPr algn="ctr">
              <a:spcBef>
                <a:spcPct val="15000"/>
              </a:spcBef>
            </a:pPr>
            <a:r>
              <a:rPr lang="zh-CN" altLang="en-US" sz="1800" b="1">
                <a:solidFill>
                  <a:srgbClr val="000F2E"/>
                </a:solidFill>
                <a:ea typeface="楷体" panose="02010609060101010101" pitchFamily="49" charset="-122"/>
              </a:rPr>
              <a:t>置中断允许位为“</a:t>
            </a:r>
            <a:r>
              <a:rPr lang="en-US" altLang="zh-CN" sz="1800" b="1">
                <a:solidFill>
                  <a:srgbClr val="000F2E"/>
                </a:solidFill>
                <a:ea typeface="楷体" panose="02010609060101010101" pitchFamily="49" charset="-122"/>
              </a:rPr>
              <a:t>1”</a:t>
            </a:r>
          </a:p>
        </p:txBody>
      </p:sp>
      <p:sp>
        <p:nvSpPr>
          <p:cNvPr id="34" name="Text Box 32"/>
          <p:cNvSpPr txBox="1">
            <a:spLocks noChangeAspect="1" noChangeArrowheads="1"/>
          </p:cNvSpPr>
          <p:nvPr/>
        </p:nvSpPr>
        <p:spPr bwMode="auto">
          <a:xfrm>
            <a:off x="5481812" y="3659659"/>
            <a:ext cx="1822450" cy="379413"/>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1800" b="1">
                <a:solidFill>
                  <a:srgbClr val="000F2E"/>
                </a:solidFill>
                <a:ea typeface="楷体" panose="02010609060101010101" pitchFamily="49" charset="-122"/>
              </a:rPr>
              <a:t>其它进程执行</a:t>
            </a:r>
          </a:p>
        </p:txBody>
      </p:sp>
      <p:sp>
        <p:nvSpPr>
          <p:cNvPr id="35" name="Line 33"/>
          <p:cNvSpPr>
            <a:spLocks noChangeAspect="1" noChangeShapeType="1"/>
          </p:cNvSpPr>
          <p:nvPr/>
        </p:nvSpPr>
        <p:spPr bwMode="auto">
          <a:xfrm>
            <a:off x="6289849" y="4061297"/>
            <a:ext cx="1588" cy="25241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6" name="Freeform 34"/>
          <p:cNvSpPr>
            <a:spLocks noChangeAspect="1"/>
          </p:cNvSpPr>
          <p:nvPr/>
        </p:nvSpPr>
        <p:spPr bwMode="auto">
          <a:xfrm>
            <a:off x="4637262" y="3567584"/>
            <a:ext cx="1625600" cy="1028700"/>
          </a:xfrm>
          <a:custGeom>
            <a:avLst/>
            <a:gdLst>
              <a:gd name="T0" fmla="*/ 96 w 1200"/>
              <a:gd name="T1" fmla="*/ 768 h 768"/>
              <a:gd name="T2" fmla="*/ 0 w 1200"/>
              <a:gd name="T3" fmla="*/ 768 h 768"/>
              <a:gd name="T4" fmla="*/ 0 w 1200"/>
              <a:gd name="T5" fmla="*/ 0 h 768"/>
              <a:gd name="T6" fmla="*/ 1200 w 1200"/>
              <a:gd name="T7" fmla="*/ 0 h 768"/>
            </a:gdLst>
            <a:ahLst/>
            <a:cxnLst>
              <a:cxn ang="0">
                <a:pos x="T0" y="T1"/>
              </a:cxn>
              <a:cxn ang="0">
                <a:pos x="T2" y="T3"/>
              </a:cxn>
              <a:cxn ang="0">
                <a:pos x="T4" y="T5"/>
              </a:cxn>
              <a:cxn ang="0">
                <a:pos x="T6" y="T7"/>
              </a:cxn>
            </a:cxnLst>
            <a:rect l="0" t="0" r="r" b="b"/>
            <a:pathLst>
              <a:path w="1200" h="768">
                <a:moveTo>
                  <a:pt x="96" y="768"/>
                </a:moveTo>
                <a:lnTo>
                  <a:pt x="0" y="768"/>
                </a:lnTo>
                <a:lnTo>
                  <a:pt x="0" y="0"/>
                </a:lnTo>
                <a:lnTo>
                  <a:pt x="1200" y="0"/>
                </a:lnTo>
              </a:path>
            </a:pathLst>
          </a:custGeom>
          <a:noFill/>
          <a:ln w="28575" cmpd="sng">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37" name="Group 40"/>
          <p:cNvGrpSpPr>
            <a:grpSpLocks/>
          </p:cNvGrpSpPr>
          <p:nvPr/>
        </p:nvGrpSpPr>
        <p:grpSpPr bwMode="auto">
          <a:xfrm>
            <a:off x="3829224" y="2369022"/>
            <a:ext cx="1368425" cy="3168650"/>
            <a:chOff x="3152" y="1661"/>
            <a:chExt cx="862" cy="1996"/>
          </a:xfrm>
        </p:grpSpPr>
        <p:sp>
          <p:nvSpPr>
            <p:cNvPr id="38" name="Line 38"/>
            <p:cNvSpPr>
              <a:spLocks noChangeShapeType="1"/>
            </p:cNvSpPr>
            <p:nvPr/>
          </p:nvSpPr>
          <p:spPr bwMode="auto">
            <a:xfrm flipV="1">
              <a:off x="3152" y="3203"/>
              <a:ext cx="862" cy="454"/>
            </a:xfrm>
            <a:prstGeom prst="line">
              <a:avLst/>
            </a:prstGeom>
            <a:noFill/>
            <a:ln w="76200">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9" name="Line 39"/>
            <p:cNvSpPr>
              <a:spLocks noChangeShapeType="1"/>
            </p:cNvSpPr>
            <p:nvPr/>
          </p:nvSpPr>
          <p:spPr bwMode="auto">
            <a:xfrm flipV="1">
              <a:off x="3198" y="1661"/>
              <a:ext cx="680" cy="227"/>
            </a:xfrm>
            <a:prstGeom prst="line">
              <a:avLst/>
            </a:prstGeom>
            <a:noFill/>
            <a:ln w="76200">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Tree>
    <p:extLst>
      <p:ext uri="{BB962C8B-B14F-4D97-AF65-F5344CB8AC3E}">
        <p14:creationId xmlns:p14="http://schemas.microsoft.com/office/powerpoint/2010/main" val="459662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500" fill="hold"/>
                                        <p:tgtEl>
                                          <p:spTgt spid="37"/>
                                        </p:tgtEl>
                                        <p:attrNameLst>
                                          <p:attrName>ppt_w</p:attrName>
                                        </p:attrNameLst>
                                      </p:cBhvr>
                                      <p:tavLst>
                                        <p:tav tm="0">
                                          <p:val>
                                            <p:fltVal val="0"/>
                                          </p:val>
                                        </p:tav>
                                        <p:tav tm="100000">
                                          <p:val>
                                            <p:strVal val="#ppt_w"/>
                                          </p:val>
                                        </p:tav>
                                      </p:tavLst>
                                    </p:anim>
                                    <p:anim calcmode="lin" valueType="num">
                                      <p:cBhvr>
                                        <p:cTn id="8" dur="500" fill="hold"/>
                                        <p:tgtEl>
                                          <p:spTgt spid="3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DMA</a:t>
            </a:r>
            <a:r>
              <a:rPr lang="zh-CN" altLang="en-US" dirty="0"/>
              <a:t>方式</a:t>
            </a:r>
          </a:p>
        </p:txBody>
      </p:sp>
      <p:sp>
        <p:nvSpPr>
          <p:cNvPr id="3" name="Content Placeholder 2"/>
          <p:cNvSpPr>
            <a:spLocks noGrp="1"/>
          </p:cNvSpPr>
          <p:nvPr>
            <p:ph idx="1"/>
          </p:nvPr>
        </p:nvSpPr>
        <p:spPr/>
        <p:txBody>
          <a:bodyPr/>
          <a:lstStyle/>
          <a:p>
            <a:r>
              <a:rPr lang="zh-CN" altLang="en-US" dirty="0">
                <a:solidFill>
                  <a:srgbClr val="0000FF"/>
                </a:solidFill>
              </a:rPr>
              <a:t>将</a:t>
            </a:r>
            <a:r>
              <a:rPr lang="en-US" altLang="zh-CN" dirty="0">
                <a:solidFill>
                  <a:srgbClr val="0000FF"/>
                </a:solidFill>
              </a:rPr>
              <a:t>CPU</a:t>
            </a:r>
            <a:r>
              <a:rPr lang="zh-CN" altLang="en-US" dirty="0">
                <a:solidFill>
                  <a:srgbClr val="0000FF"/>
                </a:solidFill>
              </a:rPr>
              <a:t>从数据搬运中解放出来</a:t>
            </a:r>
            <a:endParaRPr lang="en-US" altLang="zh-CN" dirty="0">
              <a:solidFill>
                <a:srgbClr val="0000FF"/>
              </a:solidFill>
            </a:endParaRPr>
          </a:p>
          <a:p>
            <a:pPr lvl="1"/>
            <a:r>
              <a:rPr lang="zh-CN" altLang="en-US" dirty="0"/>
              <a:t>由程序设置</a:t>
            </a:r>
            <a:r>
              <a:rPr lang="en-US" altLang="zh-CN" dirty="0"/>
              <a:t>DMA</a:t>
            </a:r>
            <a:r>
              <a:rPr lang="zh-CN" altLang="en-US" dirty="0"/>
              <a:t>控制器中的若干寄存器值（如内存始址，传送字节数），然后发起</a:t>
            </a:r>
            <a:r>
              <a:rPr lang="en-US" altLang="zh-CN" dirty="0"/>
              <a:t>I/O</a:t>
            </a:r>
            <a:r>
              <a:rPr lang="zh-CN" altLang="en-US" dirty="0"/>
              <a:t>操作，</a:t>
            </a:r>
            <a:r>
              <a:rPr lang="zh-CN" altLang="en-US" dirty="0">
                <a:solidFill>
                  <a:srgbClr val="0000FF"/>
                </a:solidFill>
              </a:rPr>
              <a:t>而后者完成内存与外设的成批数据交换</a:t>
            </a:r>
            <a:endParaRPr lang="en-US" altLang="zh-CN" dirty="0"/>
          </a:p>
          <a:p>
            <a:pPr lvl="1"/>
            <a:r>
              <a:rPr lang="zh-CN" altLang="en-US" dirty="0"/>
              <a:t>操作完成后借助中断机制通知</a:t>
            </a:r>
            <a:r>
              <a:rPr lang="en-US" altLang="zh-CN" dirty="0"/>
              <a:t>CPU</a:t>
            </a:r>
          </a:p>
          <a:p>
            <a:endParaRPr lang="en-US" altLang="zh-CN" dirty="0">
              <a:solidFill>
                <a:srgbClr val="FF3300"/>
              </a:solidFill>
            </a:endParaRPr>
          </a:p>
          <a:p>
            <a:r>
              <a:rPr lang="zh-CN" altLang="en-US" dirty="0">
                <a:solidFill>
                  <a:srgbClr val="00B050"/>
                </a:solidFill>
              </a:rPr>
              <a:t>优点</a:t>
            </a:r>
            <a:endParaRPr lang="en-US" altLang="zh-CN" dirty="0">
              <a:solidFill>
                <a:srgbClr val="00B050"/>
              </a:solidFill>
            </a:endParaRPr>
          </a:p>
          <a:p>
            <a:pPr lvl="1"/>
            <a:r>
              <a:rPr lang="en-US" altLang="zh-CN" dirty="0"/>
              <a:t>CPU</a:t>
            </a:r>
            <a:r>
              <a:rPr lang="zh-CN" altLang="en-US" dirty="0"/>
              <a:t>只需干预</a:t>
            </a:r>
            <a:r>
              <a:rPr lang="en-US" altLang="zh-CN" dirty="0"/>
              <a:t>I/O</a:t>
            </a:r>
            <a:r>
              <a:rPr lang="zh-CN" altLang="en-US" dirty="0"/>
              <a:t>操作的开始和结束，而其中的每一批数据读写无需</a:t>
            </a:r>
            <a:r>
              <a:rPr lang="en-US" altLang="zh-CN" dirty="0"/>
              <a:t>CPU</a:t>
            </a:r>
            <a:r>
              <a:rPr lang="zh-CN" altLang="en-US" dirty="0"/>
              <a:t>控制，适于高速设备</a:t>
            </a:r>
          </a:p>
          <a:p>
            <a:endParaRPr lang="zh-CN" altLang="en-US" dirty="0"/>
          </a:p>
        </p:txBody>
      </p:sp>
      <p:sp>
        <p:nvSpPr>
          <p:cNvPr id="4" name="Date Placeholder 3"/>
          <p:cNvSpPr>
            <a:spLocks noGrp="1"/>
          </p:cNvSpPr>
          <p:nvPr>
            <p:ph type="dt" sz="half" idx="10"/>
          </p:nvPr>
        </p:nvSpPr>
        <p:spPr/>
        <p:txBody>
          <a:bodyPr/>
          <a:lstStyle/>
          <a:p>
            <a:fld id="{ECFFF3CD-9145-4D54-8C35-EE5C81385476}"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20</a:t>
            </a:fld>
            <a:endParaRPr lang="zh-CN" altLang="en-US" dirty="0"/>
          </a:p>
        </p:txBody>
      </p:sp>
    </p:spTree>
    <p:extLst>
      <p:ext uri="{BB962C8B-B14F-4D97-AF65-F5344CB8AC3E}">
        <p14:creationId xmlns:p14="http://schemas.microsoft.com/office/powerpoint/2010/main" val="39216277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DMA</a:t>
            </a:r>
            <a:r>
              <a:rPr lang="zh-CN" altLang="en-US" dirty="0"/>
              <a:t>方式</a:t>
            </a:r>
          </a:p>
        </p:txBody>
      </p:sp>
      <p:pic>
        <p:nvPicPr>
          <p:cNvPr id="7" name="Content Placeholder 6"/>
          <p:cNvPicPr>
            <a:picLocks noGrp="1" noChangeAspect="1"/>
          </p:cNvPicPr>
          <p:nvPr>
            <p:ph idx="1"/>
          </p:nvPr>
        </p:nvPicPr>
        <p:blipFill>
          <a:blip r:embed="rId2"/>
          <a:stretch>
            <a:fillRect/>
          </a:stretch>
        </p:blipFill>
        <p:spPr>
          <a:xfrm>
            <a:off x="1259632" y="1556792"/>
            <a:ext cx="6766705" cy="4662260"/>
          </a:xfrm>
          <a:prstGeom prst="rect">
            <a:avLst/>
          </a:prstGeom>
        </p:spPr>
      </p:pic>
      <p:sp>
        <p:nvSpPr>
          <p:cNvPr id="4" name="Date Placeholder 3"/>
          <p:cNvSpPr>
            <a:spLocks noGrp="1"/>
          </p:cNvSpPr>
          <p:nvPr>
            <p:ph type="dt" sz="half" idx="10"/>
          </p:nvPr>
        </p:nvSpPr>
        <p:spPr/>
        <p:txBody>
          <a:bodyPr/>
          <a:lstStyle/>
          <a:p>
            <a:fld id="{A6B505A4-0341-4299-8E75-21D6DDC2B2C7}"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21</a:t>
            </a:fld>
            <a:endParaRPr lang="zh-CN" altLang="en-US" dirty="0"/>
          </a:p>
        </p:txBody>
      </p:sp>
    </p:spTree>
    <p:extLst>
      <p:ext uri="{BB962C8B-B14F-4D97-AF65-F5344CB8AC3E}">
        <p14:creationId xmlns:p14="http://schemas.microsoft.com/office/powerpoint/2010/main" val="24130010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DMA</a:t>
            </a:r>
            <a:r>
              <a:rPr lang="zh-CN" altLang="en-US" dirty="0"/>
              <a:t>方式</a:t>
            </a:r>
          </a:p>
        </p:txBody>
      </p:sp>
      <p:sp>
        <p:nvSpPr>
          <p:cNvPr id="4" name="Date Placeholder 3"/>
          <p:cNvSpPr>
            <a:spLocks noGrp="1"/>
          </p:cNvSpPr>
          <p:nvPr>
            <p:ph type="dt" sz="half" idx="10"/>
          </p:nvPr>
        </p:nvSpPr>
        <p:spPr/>
        <p:txBody>
          <a:bodyPr/>
          <a:lstStyle/>
          <a:p>
            <a:fld id="{C89909D3-585D-42AE-AD44-D6C768F7BFFE}"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22</a:t>
            </a:fld>
            <a:endParaRPr lang="zh-CN" altLang="en-US" dirty="0"/>
          </a:p>
        </p:txBody>
      </p:sp>
      <p:grpSp>
        <p:nvGrpSpPr>
          <p:cNvPr id="7" name="Group 5"/>
          <p:cNvGrpSpPr>
            <a:grpSpLocks/>
          </p:cNvGrpSpPr>
          <p:nvPr/>
        </p:nvGrpSpPr>
        <p:grpSpPr bwMode="auto">
          <a:xfrm>
            <a:off x="1682080" y="1267544"/>
            <a:ext cx="5410200" cy="5257800"/>
            <a:chOff x="912" y="216"/>
            <a:chExt cx="3721" cy="3508"/>
          </a:xfrm>
        </p:grpSpPr>
        <p:sp>
          <p:nvSpPr>
            <p:cNvPr id="8" name="Freeform 6"/>
            <p:cNvSpPr>
              <a:spLocks/>
            </p:cNvSpPr>
            <p:nvPr/>
          </p:nvSpPr>
          <p:spPr bwMode="auto">
            <a:xfrm>
              <a:off x="3114" y="216"/>
              <a:ext cx="1519" cy="3508"/>
            </a:xfrm>
            <a:custGeom>
              <a:avLst/>
              <a:gdLst>
                <a:gd name="T0" fmla="*/ 0 w 1519"/>
                <a:gd name="T1" fmla="*/ 3362 h 3508"/>
                <a:gd name="T2" fmla="*/ 1373 w 1519"/>
                <a:gd name="T3" fmla="*/ 3362 h 3508"/>
                <a:gd name="T4" fmla="*/ 1373 w 1519"/>
                <a:gd name="T5" fmla="*/ 0 h 3508"/>
                <a:gd name="T6" fmla="*/ 1519 w 1519"/>
                <a:gd name="T7" fmla="*/ 147 h 3508"/>
                <a:gd name="T8" fmla="*/ 1519 w 1519"/>
                <a:gd name="T9" fmla="*/ 3508 h 3508"/>
                <a:gd name="T10" fmla="*/ 1373 w 1519"/>
                <a:gd name="T11" fmla="*/ 3362 h 3508"/>
                <a:gd name="T12" fmla="*/ 1519 w 1519"/>
                <a:gd name="T13" fmla="*/ 3508 h 3508"/>
                <a:gd name="T14" fmla="*/ 146 w 1519"/>
                <a:gd name="T15" fmla="*/ 3508 h 3508"/>
                <a:gd name="T16" fmla="*/ 0 w 1519"/>
                <a:gd name="T17" fmla="*/ 3362 h 3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9" h="3508">
                  <a:moveTo>
                    <a:pt x="0" y="3362"/>
                  </a:moveTo>
                  <a:lnTo>
                    <a:pt x="1373" y="3362"/>
                  </a:lnTo>
                  <a:lnTo>
                    <a:pt x="1373" y="0"/>
                  </a:lnTo>
                  <a:lnTo>
                    <a:pt x="1519" y="147"/>
                  </a:lnTo>
                  <a:lnTo>
                    <a:pt x="1519" y="3508"/>
                  </a:lnTo>
                  <a:lnTo>
                    <a:pt x="1373" y="3362"/>
                  </a:lnTo>
                  <a:lnTo>
                    <a:pt x="1519" y="3508"/>
                  </a:lnTo>
                  <a:lnTo>
                    <a:pt x="146" y="3508"/>
                  </a:lnTo>
                  <a:lnTo>
                    <a:pt x="0" y="3362"/>
                  </a:lnTo>
                  <a:close/>
                </a:path>
              </a:pathLst>
            </a:custGeom>
            <a:solidFill>
              <a:srgbClr val="FFFFFF"/>
            </a:solidFill>
            <a:ln w="9525">
              <a:solidFill>
                <a:srgbClr val="000000"/>
              </a:solidFill>
              <a:prstDash val="solid"/>
              <a:round/>
              <a:headEnd/>
              <a:tailEnd/>
            </a:ln>
          </p:spPr>
          <p:txBody>
            <a:bodyPr/>
            <a:lstStyle/>
            <a:p>
              <a:endParaRPr lang="zh-CN" altLang="en-US"/>
            </a:p>
          </p:txBody>
        </p:sp>
        <p:sp>
          <p:nvSpPr>
            <p:cNvPr id="9" name="Rectangle 7"/>
            <p:cNvSpPr>
              <a:spLocks noChangeArrowheads="1"/>
            </p:cNvSpPr>
            <p:nvPr/>
          </p:nvSpPr>
          <p:spPr bwMode="auto">
            <a:xfrm>
              <a:off x="3114" y="216"/>
              <a:ext cx="1373" cy="3362"/>
            </a:xfrm>
            <a:prstGeom prst="rect">
              <a:avLst/>
            </a:prstGeom>
            <a:solidFill>
              <a:srgbClr val="FFFFFF"/>
            </a:solidFill>
            <a:ln w="9525">
              <a:solidFill>
                <a:srgbClr val="000000"/>
              </a:solidFill>
              <a:miter lim="800000"/>
              <a:headEnd/>
              <a:tailEnd/>
            </a:ln>
          </p:spPr>
          <p:txBody>
            <a:bodyPr/>
            <a:lstStyle/>
            <a:p>
              <a:endParaRPr lang="zh-CN" altLang="en-US"/>
            </a:p>
          </p:txBody>
        </p:sp>
        <p:sp>
          <p:nvSpPr>
            <p:cNvPr id="10" name="Rectangle 8"/>
            <p:cNvSpPr>
              <a:spLocks noChangeArrowheads="1"/>
            </p:cNvSpPr>
            <p:nvPr/>
          </p:nvSpPr>
          <p:spPr bwMode="auto">
            <a:xfrm>
              <a:off x="3277" y="363"/>
              <a:ext cx="1052" cy="501"/>
            </a:xfrm>
            <a:prstGeom prst="rect">
              <a:avLst/>
            </a:prstGeom>
            <a:solidFill>
              <a:srgbClr val="FFFFFF"/>
            </a:solidFill>
            <a:ln w="9525">
              <a:solidFill>
                <a:srgbClr val="000000"/>
              </a:solidFill>
              <a:miter lim="800000"/>
              <a:headEnd/>
              <a:tailEnd/>
            </a:ln>
          </p:spPr>
          <p:txBody>
            <a:bodyPr/>
            <a:lstStyle/>
            <a:p>
              <a:endParaRPr lang="zh-CN" altLang="en-US"/>
            </a:p>
          </p:txBody>
        </p:sp>
        <p:sp>
          <p:nvSpPr>
            <p:cNvPr id="11" name="Rectangle 9"/>
            <p:cNvSpPr>
              <a:spLocks noChangeArrowheads="1"/>
            </p:cNvSpPr>
            <p:nvPr/>
          </p:nvSpPr>
          <p:spPr bwMode="auto">
            <a:xfrm>
              <a:off x="3604" y="356"/>
              <a:ext cx="360"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00"/>
                  </a:solidFill>
                  <a:ea typeface="宋体" panose="02010600030101010101" pitchFamily="2" charset="-122"/>
                </a:rPr>
                <a:t>Data</a:t>
              </a:r>
              <a:endParaRPr lang="en-US" altLang="zh-CN" sz="2000" b="1">
                <a:ea typeface="宋体" panose="02010600030101010101" pitchFamily="2" charset="-122"/>
              </a:endParaRPr>
            </a:p>
          </p:txBody>
        </p:sp>
        <p:sp>
          <p:nvSpPr>
            <p:cNvPr id="12" name="Rectangle 10"/>
            <p:cNvSpPr>
              <a:spLocks noChangeArrowheads="1"/>
            </p:cNvSpPr>
            <p:nvPr/>
          </p:nvSpPr>
          <p:spPr bwMode="auto">
            <a:xfrm>
              <a:off x="3552" y="590"/>
              <a:ext cx="466"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00"/>
                  </a:solidFill>
                  <a:ea typeface="宋体" panose="02010600030101010101" pitchFamily="2" charset="-122"/>
                </a:rPr>
                <a:t>Count</a:t>
              </a:r>
              <a:endParaRPr lang="en-US" altLang="zh-CN" sz="2000" b="1">
                <a:ea typeface="宋体" panose="02010600030101010101" pitchFamily="2" charset="-122"/>
              </a:endParaRPr>
            </a:p>
          </p:txBody>
        </p:sp>
        <p:sp>
          <p:nvSpPr>
            <p:cNvPr id="13" name="Rectangle 11"/>
            <p:cNvSpPr>
              <a:spLocks noChangeArrowheads="1"/>
            </p:cNvSpPr>
            <p:nvPr/>
          </p:nvSpPr>
          <p:spPr bwMode="auto">
            <a:xfrm>
              <a:off x="3277" y="947"/>
              <a:ext cx="1052" cy="493"/>
            </a:xfrm>
            <a:prstGeom prst="rect">
              <a:avLst/>
            </a:prstGeom>
            <a:solidFill>
              <a:srgbClr val="FFFFFF"/>
            </a:solidFill>
            <a:ln w="9525">
              <a:solidFill>
                <a:srgbClr val="000000"/>
              </a:solidFill>
              <a:miter lim="800000"/>
              <a:headEnd/>
              <a:tailEnd/>
            </a:ln>
          </p:spPr>
          <p:txBody>
            <a:bodyPr/>
            <a:lstStyle/>
            <a:p>
              <a:endParaRPr lang="zh-CN" altLang="en-US"/>
            </a:p>
          </p:txBody>
        </p:sp>
        <p:sp>
          <p:nvSpPr>
            <p:cNvPr id="14" name="Rectangle 12"/>
            <p:cNvSpPr>
              <a:spLocks noChangeArrowheads="1"/>
            </p:cNvSpPr>
            <p:nvPr/>
          </p:nvSpPr>
          <p:spPr bwMode="auto">
            <a:xfrm>
              <a:off x="3604" y="940"/>
              <a:ext cx="360"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00"/>
                  </a:solidFill>
                  <a:ea typeface="宋体" panose="02010600030101010101" pitchFamily="2" charset="-122"/>
                </a:rPr>
                <a:t>Data</a:t>
              </a:r>
              <a:endParaRPr lang="en-US" altLang="zh-CN" sz="2000" b="1">
                <a:ea typeface="宋体" panose="02010600030101010101" pitchFamily="2" charset="-122"/>
              </a:endParaRPr>
            </a:p>
          </p:txBody>
        </p:sp>
        <p:sp>
          <p:nvSpPr>
            <p:cNvPr id="15" name="Rectangle 13"/>
            <p:cNvSpPr>
              <a:spLocks noChangeArrowheads="1"/>
            </p:cNvSpPr>
            <p:nvPr/>
          </p:nvSpPr>
          <p:spPr bwMode="auto">
            <a:xfrm>
              <a:off x="3406" y="1175"/>
              <a:ext cx="78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2000" b="1">
                  <a:solidFill>
                    <a:srgbClr val="000000"/>
                  </a:solidFill>
                  <a:ea typeface="宋体" panose="02010600030101010101" pitchFamily="2" charset="-122"/>
                </a:rPr>
                <a:t>Register</a:t>
              </a:r>
              <a:endParaRPr lang="en-US" altLang="zh-CN" sz="2000" b="1">
                <a:ea typeface="宋体" panose="02010600030101010101" pitchFamily="2" charset="-122"/>
              </a:endParaRPr>
            </a:p>
          </p:txBody>
        </p:sp>
        <p:sp>
          <p:nvSpPr>
            <p:cNvPr id="16" name="Rectangle 14"/>
            <p:cNvSpPr>
              <a:spLocks noChangeArrowheads="1"/>
            </p:cNvSpPr>
            <p:nvPr/>
          </p:nvSpPr>
          <p:spPr bwMode="auto">
            <a:xfrm>
              <a:off x="3277" y="1532"/>
              <a:ext cx="1052" cy="585"/>
            </a:xfrm>
            <a:prstGeom prst="rect">
              <a:avLst/>
            </a:prstGeom>
            <a:solidFill>
              <a:srgbClr val="FFFFFF"/>
            </a:solidFill>
            <a:ln w="9525">
              <a:solidFill>
                <a:srgbClr val="000000"/>
              </a:solidFill>
              <a:miter lim="800000"/>
              <a:headEnd/>
              <a:tailEnd/>
            </a:ln>
          </p:spPr>
          <p:txBody>
            <a:bodyPr/>
            <a:lstStyle/>
            <a:p>
              <a:endParaRPr lang="zh-CN" altLang="en-US"/>
            </a:p>
          </p:txBody>
        </p:sp>
        <p:sp>
          <p:nvSpPr>
            <p:cNvPr id="17" name="Rectangle 15"/>
            <p:cNvSpPr>
              <a:spLocks noChangeArrowheads="1"/>
            </p:cNvSpPr>
            <p:nvPr/>
          </p:nvSpPr>
          <p:spPr bwMode="auto">
            <a:xfrm>
              <a:off x="3453" y="1602"/>
              <a:ext cx="611"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00"/>
                  </a:solidFill>
                  <a:ea typeface="宋体" panose="02010600030101010101" pitchFamily="2" charset="-122"/>
                </a:rPr>
                <a:t>Address</a:t>
              </a:r>
              <a:endParaRPr lang="en-US" altLang="zh-CN" sz="2000" b="1">
                <a:ea typeface="宋体" panose="02010600030101010101" pitchFamily="2" charset="-122"/>
              </a:endParaRPr>
            </a:p>
          </p:txBody>
        </p:sp>
        <p:sp>
          <p:nvSpPr>
            <p:cNvPr id="18" name="Rectangle 16"/>
            <p:cNvSpPr>
              <a:spLocks noChangeArrowheads="1"/>
            </p:cNvSpPr>
            <p:nvPr/>
          </p:nvSpPr>
          <p:spPr bwMode="auto">
            <a:xfrm>
              <a:off x="3406" y="1835"/>
              <a:ext cx="620"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00"/>
                  </a:solidFill>
                  <a:ea typeface="宋体" panose="02010600030101010101" pitchFamily="2" charset="-122"/>
                </a:rPr>
                <a:t>Register</a:t>
              </a:r>
              <a:endParaRPr lang="en-US" altLang="zh-CN" sz="2000" b="1">
                <a:ea typeface="宋体" panose="02010600030101010101" pitchFamily="2" charset="-122"/>
              </a:endParaRPr>
            </a:p>
          </p:txBody>
        </p:sp>
        <p:sp>
          <p:nvSpPr>
            <p:cNvPr id="19" name="Rectangle 17"/>
            <p:cNvSpPr>
              <a:spLocks noChangeArrowheads="1"/>
            </p:cNvSpPr>
            <p:nvPr/>
          </p:nvSpPr>
          <p:spPr bwMode="auto">
            <a:xfrm>
              <a:off x="3277" y="2263"/>
              <a:ext cx="1052" cy="1169"/>
            </a:xfrm>
            <a:prstGeom prst="rect">
              <a:avLst/>
            </a:prstGeom>
            <a:solidFill>
              <a:srgbClr val="FFFFFF"/>
            </a:solidFill>
            <a:ln w="9525">
              <a:solidFill>
                <a:srgbClr val="000000"/>
              </a:solidFill>
              <a:miter lim="800000"/>
              <a:headEnd/>
              <a:tailEnd/>
            </a:ln>
          </p:spPr>
          <p:txBody>
            <a:bodyPr/>
            <a:lstStyle/>
            <a:p>
              <a:endParaRPr lang="zh-CN" altLang="en-US"/>
            </a:p>
          </p:txBody>
        </p:sp>
        <p:sp>
          <p:nvSpPr>
            <p:cNvPr id="20" name="Rectangle 18"/>
            <p:cNvSpPr>
              <a:spLocks noChangeArrowheads="1"/>
            </p:cNvSpPr>
            <p:nvPr/>
          </p:nvSpPr>
          <p:spPr bwMode="auto">
            <a:xfrm>
              <a:off x="3453" y="2625"/>
              <a:ext cx="582"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00"/>
                  </a:solidFill>
                  <a:ea typeface="宋体" panose="02010600030101010101" pitchFamily="2" charset="-122"/>
                </a:rPr>
                <a:t>Control</a:t>
              </a:r>
              <a:endParaRPr lang="en-US" altLang="zh-CN" sz="2000" b="1">
                <a:ea typeface="宋体" panose="02010600030101010101" pitchFamily="2" charset="-122"/>
              </a:endParaRPr>
            </a:p>
          </p:txBody>
        </p:sp>
        <p:sp>
          <p:nvSpPr>
            <p:cNvPr id="21" name="Rectangle 19"/>
            <p:cNvSpPr>
              <a:spLocks noChangeArrowheads="1"/>
            </p:cNvSpPr>
            <p:nvPr/>
          </p:nvSpPr>
          <p:spPr bwMode="auto">
            <a:xfrm>
              <a:off x="3552" y="2859"/>
              <a:ext cx="417"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solidFill>
                    <a:srgbClr val="000000"/>
                  </a:solidFill>
                  <a:ea typeface="宋体" panose="02010600030101010101" pitchFamily="2" charset="-122"/>
                </a:rPr>
                <a:t>Logic</a:t>
              </a:r>
              <a:endParaRPr lang="en-US" altLang="zh-CN" sz="2000" b="1">
                <a:ea typeface="宋体" panose="02010600030101010101" pitchFamily="2" charset="-122"/>
              </a:endParaRPr>
            </a:p>
          </p:txBody>
        </p:sp>
        <p:sp>
          <p:nvSpPr>
            <p:cNvPr id="22" name="Rectangle 20"/>
            <p:cNvSpPr>
              <a:spLocks noChangeArrowheads="1"/>
            </p:cNvSpPr>
            <p:nvPr/>
          </p:nvSpPr>
          <p:spPr bwMode="auto">
            <a:xfrm>
              <a:off x="1309" y="2303"/>
              <a:ext cx="1064"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ea typeface="宋体" panose="02010600030101010101" pitchFamily="2" charset="-122"/>
                </a:rPr>
                <a:t>DMA Request</a:t>
              </a:r>
            </a:p>
          </p:txBody>
        </p:sp>
        <p:sp>
          <p:nvSpPr>
            <p:cNvPr id="23" name="Freeform 21"/>
            <p:cNvSpPr>
              <a:spLocks/>
            </p:cNvSpPr>
            <p:nvPr/>
          </p:nvSpPr>
          <p:spPr bwMode="auto">
            <a:xfrm>
              <a:off x="2465" y="2374"/>
              <a:ext cx="76" cy="70"/>
            </a:xfrm>
            <a:custGeom>
              <a:avLst/>
              <a:gdLst>
                <a:gd name="T0" fmla="*/ 76 w 76"/>
                <a:gd name="T1" fmla="*/ 0 h 70"/>
                <a:gd name="T2" fmla="*/ 76 w 76"/>
                <a:gd name="T3" fmla="*/ 70 h 70"/>
                <a:gd name="T4" fmla="*/ 0 w 76"/>
                <a:gd name="T5" fmla="*/ 35 h 70"/>
                <a:gd name="T6" fmla="*/ 76 w 76"/>
                <a:gd name="T7" fmla="*/ 0 h 70"/>
              </a:gdLst>
              <a:ahLst/>
              <a:cxnLst>
                <a:cxn ang="0">
                  <a:pos x="T0" y="T1"/>
                </a:cxn>
                <a:cxn ang="0">
                  <a:pos x="T2" y="T3"/>
                </a:cxn>
                <a:cxn ang="0">
                  <a:pos x="T4" y="T5"/>
                </a:cxn>
                <a:cxn ang="0">
                  <a:pos x="T6" y="T7"/>
                </a:cxn>
              </a:cxnLst>
              <a:rect l="0" t="0" r="r" b="b"/>
              <a:pathLst>
                <a:path w="76" h="70">
                  <a:moveTo>
                    <a:pt x="76" y="0"/>
                  </a:moveTo>
                  <a:lnTo>
                    <a:pt x="76" y="70"/>
                  </a:lnTo>
                  <a:lnTo>
                    <a:pt x="0" y="35"/>
                  </a:lnTo>
                  <a:lnTo>
                    <a:pt x="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22"/>
            <p:cNvSpPr>
              <a:spLocks/>
            </p:cNvSpPr>
            <p:nvPr/>
          </p:nvSpPr>
          <p:spPr bwMode="auto">
            <a:xfrm>
              <a:off x="2465" y="2374"/>
              <a:ext cx="76" cy="70"/>
            </a:xfrm>
            <a:custGeom>
              <a:avLst/>
              <a:gdLst>
                <a:gd name="T0" fmla="*/ 76 w 76"/>
                <a:gd name="T1" fmla="*/ 0 h 70"/>
                <a:gd name="T2" fmla="*/ 76 w 76"/>
                <a:gd name="T3" fmla="*/ 70 h 70"/>
                <a:gd name="T4" fmla="*/ 0 w 76"/>
                <a:gd name="T5" fmla="*/ 35 h 70"/>
                <a:gd name="T6" fmla="*/ 76 w 76"/>
                <a:gd name="T7" fmla="*/ 0 h 70"/>
              </a:gdLst>
              <a:ahLst/>
              <a:cxnLst>
                <a:cxn ang="0">
                  <a:pos x="T0" y="T1"/>
                </a:cxn>
                <a:cxn ang="0">
                  <a:pos x="T2" y="T3"/>
                </a:cxn>
                <a:cxn ang="0">
                  <a:pos x="T4" y="T5"/>
                </a:cxn>
                <a:cxn ang="0">
                  <a:pos x="T6" y="T7"/>
                </a:cxn>
              </a:cxnLst>
              <a:rect l="0" t="0" r="r" b="b"/>
              <a:pathLst>
                <a:path w="76" h="70">
                  <a:moveTo>
                    <a:pt x="76" y="0"/>
                  </a:moveTo>
                  <a:lnTo>
                    <a:pt x="76" y="70"/>
                  </a:lnTo>
                  <a:lnTo>
                    <a:pt x="0" y="35"/>
                  </a:lnTo>
                  <a:lnTo>
                    <a:pt x="76"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 name="Line 23"/>
            <p:cNvSpPr>
              <a:spLocks noChangeShapeType="1"/>
            </p:cNvSpPr>
            <p:nvPr/>
          </p:nvSpPr>
          <p:spPr bwMode="auto">
            <a:xfrm>
              <a:off x="2541" y="2409"/>
              <a:ext cx="73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Rectangle 24"/>
            <p:cNvSpPr>
              <a:spLocks noChangeArrowheads="1"/>
            </p:cNvSpPr>
            <p:nvPr/>
          </p:nvSpPr>
          <p:spPr bwMode="auto">
            <a:xfrm>
              <a:off x="912" y="2526"/>
              <a:ext cx="1462"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ea typeface="宋体" panose="02010600030101010101" pitchFamily="2" charset="-122"/>
                </a:rPr>
                <a:t>DMA Acknowledge</a:t>
              </a:r>
            </a:p>
          </p:txBody>
        </p:sp>
        <p:sp>
          <p:nvSpPr>
            <p:cNvPr id="27" name="Freeform 25"/>
            <p:cNvSpPr>
              <a:spLocks/>
            </p:cNvSpPr>
            <p:nvPr/>
          </p:nvSpPr>
          <p:spPr bwMode="auto">
            <a:xfrm>
              <a:off x="3201" y="2590"/>
              <a:ext cx="76" cy="76"/>
            </a:xfrm>
            <a:custGeom>
              <a:avLst/>
              <a:gdLst>
                <a:gd name="T0" fmla="*/ 0 w 76"/>
                <a:gd name="T1" fmla="*/ 0 h 76"/>
                <a:gd name="T2" fmla="*/ 0 w 76"/>
                <a:gd name="T3" fmla="*/ 76 h 76"/>
                <a:gd name="T4" fmla="*/ 76 w 76"/>
                <a:gd name="T5" fmla="*/ 41 h 76"/>
                <a:gd name="T6" fmla="*/ 0 w 76"/>
                <a:gd name="T7" fmla="*/ 0 h 76"/>
              </a:gdLst>
              <a:ahLst/>
              <a:cxnLst>
                <a:cxn ang="0">
                  <a:pos x="T0" y="T1"/>
                </a:cxn>
                <a:cxn ang="0">
                  <a:pos x="T2" y="T3"/>
                </a:cxn>
                <a:cxn ang="0">
                  <a:pos x="T4" y="T5"/>
                </a:cxn>
                <a:cxn ang="0">
                  <a:pos x="T6" y="T7"/>
                </a:cxn>
              </a:cxnLst>
              <a:rect l="0" t="0" r="r" b="b"/>
              <a:pathLst>
                <a:path w="76" h="76">
                  <a:moveTo>
                    <a:pt x="0" y="0"/>
                  </a:moveTo>
                  <a:lnTo>
                    <a:pt x="0" y="76"/>
                  </a:lnTo>
                  <a:lnTo>
                    <a:pt x="76" y="4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26"/>
            <p:cNvSpPr>
              <a:spLocks/>
            </p:cNvSpPr>
            <p:nvPr/>
          </p:nvSpPr>
          <p:spPr bwMode="auto">
            <a:xfrm>
              <a:off x="3201" y="2590"/>
              <a:ext cx="76" cy="76"/>
            </a:xfrm>
            <a:custGeom>
              <a:avLst/>
              <a:gdLst>
                <a:gd name="T0" fmla="*/ 0 w 76"/>
                <a:gd name="T1" fmla="*/ 0 h 76"/>
                <a:gd name="T2" fmla="*/ 0 w 76"/>
                <a:gd name="T3" fmla="*/ 76 h 76"/>
                <a:gd name="T4" fmla="*/ 76 w 76"/>
                <a:gd name="T5" fmla="*/ 41 h 76"/>
                <a:gd name="T6" fmla="*/ 0 w 76"/>
                <a:gd name="T7" fmla="*/ 0 h 76"/>
              </a:gdLst>
              <a:ahLst/>
              <a:cxnLst>
                <a:cxn ang="0">
                  <a:pos x="T0" y="T1"/>
                </a:cxn>
                <a:cxn ang="0">
                  <a:pos x="T2" y="T3"/>
                </a:cxn>
                <a:cxn ang="0">
                  <a:pos x="T4" y="T5"/>
                </a:cxn>
                <a:cxn ang="0">
                  <a:pos x="T6" y="T7"/>
                </a:cxn>
              </a:cxnLst>
              <a:rect l="0" t="0" r="r" b="b"/>
              <a:pathLst>
                <a:path w="76" h="76">
                  <a:moveTo>
                    <a:pt x="0" y="0"/>
                  </a:moveTo>
                  <a:lnTo>
                    <a:pt x="0" y="76"/>
                  </a:lnTo>
                  <a:lnTo>
                    <a:pt x="76" y="41"/>
                  </a:lnTo>
                  <a:lnTo>
                    <a:pt x="0"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 name="Line 27"/>
            <p:cNvSpPr>
              <a:spLocks noChangeShapeType="1"/>
            </p:cNvSpPr>
            <p:nvPr/>
          </p:nvSpPr>
          <p:spPr bwMode="auto">
            <a:xfrm>
              <a:off x="2465" y="2631"/>
              <a:ext cx="73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Rectangle 28"/>
            <p:cNvSpPr>
              <a:spLocks noChangeArrowheads="1"/>
            </p:cNvSpPr>
            <p:nvPr/>
          </p:nvSpPr>
          <p:spPr bwMode="auto">
            <a:xfrm>
              <a:off x="1507" y="2742"/>
              <a:ext cx="708"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ea typeface="宋体" panose="02010600030101010101" pitchFamily="2" charset="-122"/>
                </a:rPr>
                <a:t>Interrupt</a:t>
              </a:r>
            </a:p>
          </p:txBody>
        </p:sp>
        <p:sp>
          <p:nvSpPr>
            <p:cNvPr id="31" name="Freeform 29"/>
            <p:cNvSpPr>
              <a:spLocks/>
            </p:cNvSpPr>
            <p:nvPr/>
          </p:nvSpPr>
          <p:spPr bwMode="auto">
            <a:xfrm>
              <a:off x="2465" y="2812"/>
              <a:ext cx="76" cy="71"/>
            </a:xfrm>
            <a:custGeom>
              <a:avLst/>
              <a:gdLst>
                <a:gd name="T0" fmla="*/ 76 w 76"/>
                <a:gd name="T1" fmla="*/ 0 h 71"/>
                <a:gd name="T2" fmla="*/ 76 w 76"/>
                <a:gd name="T3" fmla="*/ 71 h 71"/>
                <a:gd name="T4" fmla="*/ 0 w 76"/>
                <a:gd name="T5" fmla="*/ 35 h 71"/>
                <a:gd name="T6" fmla="*/ 76 w 76"/>
                <a:gd name="T7" fmla="*/ 0 h 71"/>
              </a:gdLst>
              <a:ahLst/>
              <a:cxnLst>
                <a:cxn ang="0">
                  <a:pos x="T0" y="T1"/>
                </a:cxn>
                <a:cxn ang="0">
                  <a:pos x="T2" y="T3"/>
                </a:cxn>
                <a:cxn ang="0">
                  <a:pos x="T4" y="T5"/>
                </a:cxn>
                <a:cxn ang="0">
                  <a:pos x="T6" y="T7"/>
                </a:cxn>
              </a:cxnLst>
              <a:rect l="0" t="0" r="r" b="b"/>
              <a:pathLst>
                <a:path w="76" h="71">
                  <a:moveTo>
                    <a:pt x="76" y="0"/>
                  </a:moveTo>
                  <a:lnTo>
                    <a:pt x="76" y="71"/>
                  </a:lnTo>
                  <a:lnTo>
                    <a:pt x="0" y="35"/>
                  </a:lnTo>
                  <a:lnTo>
                    <a:pt x="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30"/>
            <p:cNvSpPr>
              <a:spLocks/>
            </p:cNvSpPr>
            <p:nvPr/>
          </p:nvSpPr>
          <p:spPr bwMode="auto">
            <a:xfrm>
              <a:off x="2465" y="2812"/>
              <a:ext cx="76" cy="71"/>
            </a:xfrm>
            <a:custGeom>
              <a:avLst/>
              <a:gdLst>
                <a:gd name="T0" fmla="*/ 76 w 76"/>
                <a:gd name="T1" fmla="*/ 0 h 71"/>
                <a:gd name="T2" fmla="*/ 76 w 76"/>
                <a:gd name="T3" fmla="*/ 71 h 71"/>
                <a:gd name="T4" fmla="*/ 0 w 76"/>
                <a:gd name="T5" fmla="*/ 35 h 71"/>
                <a:gd name="T6" fmla="*/ 76 w 76"/>
                <a:gd name="T7" fmla="*/ 0 h 71"/>
              </a:gdLst>
              <a:ahLst/>
              <a:cxnLst>
                <a:cxn ang="0">
                  <a:pos x="T0" y="T1"/>
                </a:cxn>
                <a:cxn ang="0">
                  <a:pos x="T2" y="T3"/>
                </a:cxn>
                <a:cxn ang="0">
                  <a:pos x="T4" y="T5"/>
                </a:cxn>
                <a:cxn ang="0">
                  <a:pos x="T6" y="T7"/>
                </a:cxn>
              </a:cxnLst>
              <a:rect l="0" t="0" r="r" b="b"/>
              <a:pathLst>
                <a:path w="76" h="71">
                  <a:moveTo>
                    <a:pt x="76" y="0"/>
                  </a:moveTo>
                  <a:lnTo>
                    <a:pt x="76" y="71"/>
                  </a:lnTo>
                  <a:lnTo>
                    <a:pt x="0" y="35"/>
                  </a:lnTo>
                  <a:lnTo>
                    <a:pt x="76"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 name="Line 31"/>
            <p:cNvSpPr>
              <a:spLocks noChangeShapeType="1"/>
            </p:cNvSpPr>
            <p:nvPr/>
          </p:nvSpPr>
          <p:spPr bwMode="auto">
            <a:xfrm>
              <a:off x="2541" y="2847"/>
              <a:ext cx="73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Rectangle 32"/>
            <p:cNvSpPr>
              <a:spLocks noChangeArrowheads="1"/>
            </p:cNvSpPr>
            <p:nvPr/>
          </p:nvSpPr>
          <p:spPr bwMode="auto">
            <a:xfrm>
              <a:off x="2004" y="2964"/>
              <a:ext cx="389"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ea typeface="宋体" panose="02010600030101010101" pitchFamily="2" charset="-122"/>
                </a:rPr>
                <a:t>Read</a:t>
              </a:r>
            </a:p>
          </p:txBody>
        </p:sp>
        <p:sp>
          <p:nvSpPr>
            <p:cNvPr id="35" name="Freeform 33"/>
            <p:cNvSpPr>
              <a:spLocks/>
            </p:cNvSpPr>
            <p:nvPr/>
          </p:nvSpPr>
          <p:spPr bwMode="auto">
            <a:xfrm>
              <a:off x="3201" y="3029"/>
              <a:ext cx="76" cy="76"/>
            </a:xfrm>
            <a:custGeom>
              <a:avLst/>
              <a:gdLst>
                <a:gd name="T0" fmla="*/ 0 w 76"/>
                <a:gd name="T1" fmla="*/ 0 h 76"/>
                <a:gd name="T2" fmla="*/ 0 w 76"/>
                <a:gd name="T3" fmla="*/ 76 h 76"/>
                <a:gd name="T4" fmla="*/ 76 w 76"/>
                <a:gd name="T5" fmla="*/ 41 h 76"/>
                <a:gd name="T6" fmla="*/ 0 w 76"/>
                <a:gd name="T7" fmla="*/ 0 h 76"/>
              </a:gdLst>
              <a:ahLst/>
              <a:cxnLst>
                <a:cxn ang="0">
                  <a:pos x="T0" y="T1"/>
                </a:cxn>
                <a:cxn ang="0">
                  <a:pos x="T2" y="T3"/>
                </a:cxn>
                <a:cxn ang="0">
                  <a:pos x="T4" y="T5"/>
                </a:cxn>
                <a:cxn ang="0">
                  <a:pos x="T6" y="T7"/>
                </a:cxn>
              </a:cxnLst>
              <a:rect l="0" t="0" r="r" b="b"/>
              <a:pathLst>
                <a:path w="76" h="76">
                  <a:moveTo>
                    <a:pt x="0" y="0"/>
                  </a:moveTo>
                  <a:lnTo>
                    <a:pt x="0" y="76"/>
                  </a:lnTo>
                  <a:lnTo>
                    <a:pt x="76" y="4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34"/>
            <p:cNvSpPr>
              <a:spLocks/>
            </p:cNvSpPr>
            <p:nvPr/>
          </p:nvSpPr>
          <p:spPr bwMode="auto">
            <a:xfrm>
              <a:off x="3201" y="3029"/>
              <a:ext cx="76" cy="76"/>
            </a:xfrm>
            <a:custGeom>
              <a:avLst/>
              <a:gdLst>
                <a:gd name="T0" fmla="*/ 0 w 76"/>
                <a:gd name="T1" fmla="*/ 0 h 76"/>
                <a:gd name="T2" fmla="*/ 0 w 76"/>
                <a:gd name="T3" fmla="*/ 76 h 76"/>
                <a:gd name="T4" fmla="*/ 76 w 76"/>
                <a:gd name="T5" fmla="*/ 41 h 76"/>
                <a:gd name="T6" fmla="*/ 0 w 76"/>
                <a:gd name="T7" fmla="*/ 0 h 76"/>
              </a:gdLst>
              <a:ahLst/>
              <a:cxnLst>
                <a:cxn ang="0">
                  <a:pos x="T0" y="T1"/>
                </a:cxn>
                <a:cxn ang="0">
                  <a:pos x="T2" y="T3"/>
                </a:cxn>
                <a:cxn ang="0">
                  <a:pos x="T4" y="T5"/>
                </a:cxn>
                <a:cxn ang="0">
                  <a:pos x="T6" y="T7"/>
                </a:cxn>
              </a:cxnLst>
              <a:rect l="0" t="0" r="r" b="b"/>
              <a:pathLst>
                <a:path w="76" h="76">
                  <a:moveTo>
                    <a:pt x="0" y="0"/>
                  </a:moveTo>
                  <a:lnTo>
                    <a:pt x="0" y="76"/>
                  </a:lnTo>
                  <a:lnTo>
                    <a:pt x="76" y="41"/>
                  </a:lnTo>
                  <a:lnTo>
                    <a:pt x="0"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 name="Line 35"/>
            <p:cNvSpPr>
              <a:spLocks noChangeShapeType="1"/>
            </p:cNvSpPr>
            <p:nvPr/>
          </p:nvSpPr>
          <p:spPr bwMode="auto">
            <a:xfrm>
              <a:off x="2465" y="3070"/>
              <a:ext cx="73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Rectangle 36"/>
            <p:cNvSpPr>
              <a:spLocks noChangeArrowheads="1"/>
            </p:cNvSpPr>
            <p:nvPr/>
          </p:nvSpPr>
          <p:spPr bwMode="auto">
            <a:xfrm>
              <a:off x="1904" y="3180"/>
              <a:ext cx="436"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ea typeface="宋体" panose="02010600030101010101" pitchFamily="2" charset="-122"/>
                </a:rPr>
                <a:t>Write</a:t>
              </a:r>
            </a:p>
          </p:txBody>
        </p:sp>
        <p:sp>
          <p:nvSpPr>
            <p:cNvPr id="39" name="Freeform 37"/>
            <p:cNvSpPr>
              <a:spLocks/>
            </p:cNvSpPr>
            <p:nvPr/>
          </p:nvSpPr>
          <p:spPr bwMode="auto">
            <a:xfrm>
              <a:off x="3201" y="3251"/>
              <a:ext cx="76" cy="70"/>
            </a:xfrm>
            <a:custGeom>
              <a:avLst/>
              <a:gdLst>
                <a:gd name="T0" fmla="*/ 0 w 76"/>
                <a:gd name="T1" fmla="*/ 0 h 70"/>
                <a:gd name="T2" fmla="*/ 0 w 76"/>
                <a:gd name="T3" fmla="*/ 70 h 70"/>
                <a:gd name="T4" fmla="*/ 76 w 76"/>
                <a:gd name="T5" fmla="*/ 35 h 70"/>
                <a:gd name="T6" fmla="*/ 0 w 76"/>
                <a:gd name="T7" fmla="*/ 0 h 70"/>
              </a:gdLst>
              <a:ahLst/>
              <a:cxnLst>
                <a:cxn ang="0">
                  <a:pos x="T0" y="T1"/>
                </a:cxn>
                <a:cxn ang="0">
                  <a:pos x="T2" y="T3"/>
                </a:cxn>
                <a:cxn ang="0">
                  <a:pos x="T4" y="T5"/>
                </a:cxn>
                <a:cxn ang="0">
                  <a:pos x="T6" y="T7"/>
                </a:cxn>
              </a:cxnLst>
              <a:rect l="0" t="0" r="r" b="b"/>
              <a:pathLst>
                <a:path w="76" h="70">
                  <a:moveTo>
                    <a:pt x="0" y="0"/>
                  </a:moveTo>
                  <a:lnTo>
                    <a:pt x="0" y="70"/>
                  </a:lnTo>
                  <a:lnTo>
                    <a:pt x="76" y="3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38"/>
            <p:cNvSpPr>
              <a:spLocks/>
            </p:cNvSpPr>
            <p:nvPr/>
          </p:nvSpPr>
          <p:spPr bwMode="auto">
            <a:xfrm>
              <a:off x="3201" y="3251"/>
              <a:ext cx="76" cy="70"/>
            </a:xfrm>
            <a:custGeom>
              <a:avLst/>
              <a:gdLst>
                <a:gd name="T0" fmla="*/ 0 w 76"/>
                <a:gd name="T1" fmla="*/ 0 h 70"/>
                <a:gd name="T2" fmla="*/ 0 w 76"/>
                <a:gd name="T3" fmla="*/ 70 h 70"/>
                <a:gd name="T4" fmla="*/ 76 w 76"/>
                <a:gd name="T5" fmla="*/ 35 h 70"/>
                <a:gd name="T6" fmla="*/ 0 w 76"/>
                <a:gd name="T7" fmla="*/ 0 h 70"/>
              </a:gdLst>
              <a:ahLst/>
              <a:cxnLst>
                <a:cxn ang="0">
                  <a:pos x="T0" y="T1"/>
                </a:cxn>
                <a:cxn ang="0">
                  <a:pos x="T2" y="T3"/>
                </a:cxn>
                <a:cxn ang="0">
                  <a:pos x="T4" y="T5"/>
                </a:cxn>
                <a:cxn ang="0">
                  <a:pos x="T6" y="T7"/>
                </a:cxn>
              </a:cxnLst>
              <a:rect l="0" t="0" r="r" b="b"/>
              <a:pathLst>
                <a:path w="76" h="70">
                  <a:moveTo>
                    <a:pt x="0" y="0"/>
                  </a:moveTo>
                  <a:lnTo>
                    <a:pt x="0" y="70"/>
                  </a:lnTo>
                  <a:lnTo>
                    <a:pt x="76" y="35"/>
                  </a:lnTo>
                  <a:lnTo>
                    <a:pt x="0"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 name="Line 39"/>
            <p:cNvSpPr>
              <a:spLocks noChangeShapeType="1"/>
            </p:cNvSpPr>
            <p:nvPr/>
          </p:nvSpPr>
          <p:spPr bwMode="auto">
            <a:xfrm>
              <a:off x="2465" y="3286"/>
              <a:ext cx="73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Rectangle 40"/>
            <p:cNvSpPr>
              <a:spLocks noChangeArrowheads="1"/>
            </p:cNvSpPr>
            <p:nvPr/>
          </p:nvSpPr>
          <p:spPr bwMode="auto">
            <a:xfrm>
              <a:off x="1110" y="1865"/>
              <a:ext cx="1062"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dirty="0">
                  <a:ea typeface="宋体" panose="02010600030101010101" pitchFamily="2" charset="-122"/>
                </a:rPr>
                <a:t>Address Lines</a:t>
              </a:r>
            </a:p>
          </p:txBody>
        </p:sp>
        <p:sp>
          <p:nvSpPr>
            <p:cNvPr id="43" name="Freeform 41"/>
            <p:cNvSpPr>
              <a:spLocks/>
            </p:cNvSpPr>
            <p:nvPr/>
          </p:nvSpPr>
          <p:spPr bwMode="auto">
            <a:xfrm>
              <a:off x="3201" y="1935"/>
              <a:ext cx="76" cy="71"/>
            </a:xfrm>
            <a:custGeom>
              <a:avLst/>
              <a:gdLst>
                <a:gd name="T0" fmla="*/ 0 w 76"/>
                <a:gd name="T1" fmla="*/ 0 h 71"/>
                <a:gd name="T2" fmla="*/ 0 w 76"/>
                <a:gd name="T3" fmla="*/ 71 h 71"/>
                <a:gd name="T4" fmla="*/ 76 w 76"/>
                <a:gd name="T5" fmla="*/ 35 h 71"/>
                <a:gd name="T6" fmla="*/ 0 w 76"/>
                <a:gd name="T7" fmla="*/ 0 h 71"/>
              </a:gdLst>
              <a:ahLst/>
              <a:cxnLst>
                <a:cxn ang="0">
                  <a:pos x="T0" y="T1"/>
                </a:cxn>
                <a:cxn ang="0">
                  <a:pos x="T2" y="T3"/>
                </a:cxn>
                <a:cxn ang="0">
                  <a:pos x="T4" y="T5"/>
                </a:cxn>
                <a:cxn ang="0">
                  <a:pos x="T6" y="T7"/>
                </a:cxn>
              </a:cxnLst>
              <a:rect l="0" t="0" r="r" b="b"/>
              <a:pathLst>
                <a:path w="76" h="71">
                  <a:moveTo>
                    <a:pt x="0" y="0"/>
                  </a:moveTo>
                  <a:lnTo>
                    <a:pt x="0" y="71"/>
                  </a:lnTo>
                  <a:lnTo>
                    <a:pt x="76" y="3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42"/>
            <p:cNvSpPr>
              <a:spLocks/>
            </p:cNvSpPr>
            <p:nvPr/>
          </p:nvSpPr>
          <p:spPr bwMode="auto">
            <a:xfrm>
              <a:off x="3201" y="1935"/>
              <a:ext cx="76" cy="71"/>
            </a:xfrm>
            <a:custGeom>
              <a:avLst/>
              <a:gdLst>
                <a:gd name="T0" fmla="*/ 0 w 76"/>
                <a:gd name="T1" fmla="*/ 0 h 71"/>
                <a:gd name="T2" fmla="*/ 0 w 76"/>
                <a:gd name="T3" fmla="*/ 71 h 71"/>
                <a:gd name="T4" fmla="*/ 76 w 76"/>
                <a:gd name="T5" fmla="*/ 35 h 71"/>
                <a:gd name="T6" fmla="*/ 0 w 76"/>
                <a:gd name="T7" fmla="*/ 0 h 71"/>
              </a:gdLst>
              <a:ahLst/>
              <a:cxnLst>
                <a:cxn ang="0">
                  <a:pos x="T0" y="T1"/>
                </a:cxn>
                <a:cxn ang="0">
                  <a:pos x="T2" y="T3"/>
                </a:cxn>
                <a:cxn ang="0">
                  <a:pos x="T4" y="T5"/>
                </a:cxn>
                <a:cxn ang="0">
                  <a:pos x="T6" y="T7"/>
                </a:cxn>
              </a:cxnLst>
              <a:rect l="0" t="0" r="r" b="b"/>
              <a:pathLst>
                <a:path w="76" h="71">
                  <a:moveTo>
                    <a:pt x="0" y="0"/>
                  </a:moveTo>
                  <a:lnTo>
                    <a:pt x="0" y="71"/>
                  </a:lnTo>
                  <a:lnTo>
                    <a:pt x="76" y="35"/>
                  </a:lnTo>
                  <a:lnTo>
                    <a:pt x="0"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 name="Line 43"/>
            <p:cNvSpPr>
              <a:spLocks noChangeShapeType="1"/>
            </p:cNvSpPr>
            <p:nvPr/>
          </p:nvSpPr>
          <p:spPr bwMode="auto">
            <a:xfrm>
              <a:off x="2465" y="1970"/>
              <a:ext cx="73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Rectangle 44"/>
            <p:cNvSpPr>
              <a:spLocks noChangeArrowheads="1"/>
            </p:cNvSpPr>
            <p:nvPr/>
          </p:nvSpPr>
          <p:spPr bwMode="auto">
            <a:xfrm>
              <a:off x="1408" y="1058"/>
              <a:ext cx="810"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b="1">
                  <a:ea typeface="宋体" panose="02010600030101010101" pitchFamily="2" charset="-122"/>
                </a:rPr>
                <a:t>Data Lines</a:t>
              </a:r>
            </a:p>
          </p:txBody>
        </p:sp>
        <p:sp>
          <p:nvSpPr>
            <p:cNvPr id="47" name="Freeform 45"/>
            <p:cNvSpPr>
              <a:spLocks noEditPoints="1"/>
            </p:cNvSpPr>
            <p:nvPr/>
          </p:nvSpPr>
          <p:spPr bwMode="auto">
            <a:xfrm>
              <a:off x="2465" y="1128"/>
              <a:ext cx="812" cy="76"/>
            </a:xfrm>
            <a:custGeom>
              <a:avLst/>
              <a:gdLst>
                <a:gd name="T0" fmla="*/ 76 w 812"/>
                <a:gd name="T1" fmla="*/ 0 h 76"/>
                <a:gd name="T2" fmla="*/ 76 w 812"/>
                <a:gd name="T3" fmla="*/ 76 h 76"/>
                <a:gd name="T4" fmla="*/ 0 w 812"/>
                <a:gd name="T5" fmla="*/ 36 h 76"/>
                <a:gd name="T6" fmla="*/ 76 w 812"/>
                <a:gd name="T7" fmla="*/ 0 h 76"/>
                <a:gd name="T8" fmla="*/ 736 w 812"/>
                <a:gd name="T9" fmla="*/ 0 h 76"/>
                <a:gd name="T10" fmla="*/ 736 w 812"/>
                <a:gd name="T11" fmla="*/ 76 h 76"/>
                <a:gd name="T12" fmla="*/ 812 w 812"/>
                <a:gd name="T13" fmla="*/ 36 h 76"/>
                <a:gd name="T14" fmla="*/ 736 w 812"/>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2" h="76">
                  <a:moveTo>
                    <a:pt x="76" y="0"/>
                  </a:moveTo>
                  <a:lnTo>
                    <a:pt x="76" y="76"/>
                  </a:lnTo>
                  <a:lnTo>
                    <a:pt x="0" y="36"/>
                  </a:lnTo>
                  <a:lnTo>
                    <a:pt x="76" y="0"/>
                  </a:lnTo>
                  <a:close/>
                  <a:moveTo>
                    <a:pt x="736" y="0"/>
                  </a:moveTo>
                  <a:lnTo>
                    <a:pt x="736" y="76"/>
                  </a:lnTo>
                  <a:lnTo>
                    <a:pt x="812" y="36"/>
                  </a:lnTo>
                  <a:lnTo>
                    <a:pt x="73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46"/>
            <p:cNvSpPr>
              <a:spLocks/>
            </p:cNvSpPr>
            <p:nvPr/>
          </p:nvSpPr>
          <p:spPr bwMode="auto">
            <a:xfrm>
              <a:off x="2465" y="1128"/>
              <a:ext cx="76" cy="76"/>
            </a:xfrm>
            <a:custGeom>
              <a:avLst/>
              <a:gdLst>
                <a:gd name="T0" fmla="*/ 76 w 76"/>
                <a:gd name="T1" fmla="*/ 0 h 76"/>
                <a:gd name="T2" fmla="*/ 76 w 76"/>
                <a:gd name="T3" fmla="*/ 76 h 76"/>
                <a:gd name="T4" fmla="*/ 0 w 76"/>
                <a:gd name="T5" fmla="*/ 36 h 76"/>
                <a:gd name="T6" fmla="*/ 76 w 76"/>
                <a:gd name="T7" fmla="*/ 0 h 76"/>
              </a:gdLst>
              <a:ahLst/>
              <a:cxnLst>
                <a:cxn ang="0">
                  <a:pos x="T0" y="T1"/>
                </a:cxn>
                <a:cxn ang="0">
                  <a:pos x="T2" y="T3"/>
                </a:cxn>
                <a:cxn ang="0">
                  <a:pos x="T4" y="T5"/>
                </a:cxn>
                <a:cxn ang="0">
                  <a:pos x="T6" y="T7"/>
                </a:cxn>
              </a:cxnLst>
              <a:rect l="0" t="0" r="r" b="b"/>
              <a:pathLst>
                <a:path w="76" h="76">
                  <a:moveTo>
                    <a:pt x="76" y="0"/>
                  </a:moveTo>
                  <a:lnTo>
                    <a:pt x="76" y="76"/>
                  </a:lnTo>
                  <a:lnTo>
                    <a:pt x="0" y="36"/>
                  </a:lnTo>
                  <a:lnTo>
                    <a:pt x="76"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 name="Freeform 47"/>
            <p:cNvSpPr>
              <a:spLocks/>
            </p:cNvSpPr>
            <p:nvPr/>
          </p:nvSpPr>
          <p:spPr bwMode="auto">
            <a:xfrm>
              <a:off x="3201" y="1128"/>
              <a:ext cx="76" cy="76"/>
            </a:xfrm>
            <a:custGeom>
              <a:avLst/>
              <a:gdLst>
                <a:gd name="T0" fmla="*/ 0 w 76"/>
                <a:gd name="T1" fmla="*/ 0 h 76"/>
                <a:gd name="T2" fmla="*/ 0 w 76"/>
                <a:gd name="T3" fmla="*/ 76 h 76"/>
                <a:gd name="T4" fmla="*/ 76 w 76"/>
                <a:gd name="T5" fmla="*/ 36 h 76"/>
                <a:gd name="T6" fmla="*/ 0 w 76"/>
                <a:gd name="T7" fmla="*/ 0 h 76"/>
              </a:gdLst>
              <a:ahLst/>
              <a:cxnLst>
                <a:cxn ang="0">
                  <a:pos x="T0" y="T1"/>
                </a:cxn>
                <a:cxn ang="0">
                  <a:pos x="T2" y="T3"/>
                </a:cxn>
                <a:cxn ang="0">
                  <a:pos x="T4" y="T5"/>
                </a:cxn>
                <a:cxn ang="0">
                  <a:pos x="T6" y="T7"/>
                </a:cxn>
              </a:cxnLst>
              <a:rect l="0" t="0" r="r" b="b"/>
              <a:pathLst>
                <a:path w="76" h="76">
                  <a:moveTo>
                    <a:pt x="0" y="0"/>
                  </a:moveTo>
                  <a:lnTo>
                    <a:pt x="0" y="76"/>
                  </a:lnTo>
                  <a:lnTo>
                    <a:pt x="76" y="36"/>
                  </a:lnTo>
                  <a:lnTo>
                    <a:pt x="0"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 name="Line 48"/>
            <p:cNvSpPr>
              <a:spLocks noChangeShapeType="1"/>
            </p:cNvSpPr>
            <p:nvPr/>
          </p:nvSpPr>
          <p:spPr bwMode="auto">
            <a:xfrm>
              <a:off x="2541" y="1164"/>
              <a:ext cx="66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Freeform 49"/>
            <p:cNvSpPr>
              <a:spLocks/>
            </p:cNvSpPr>
            <p:nvPr/>
          </p:nvSpPr>
          <p:spPr bwMode="auto">
            <a:xfrm>
              <a:off x="3201" y="1643"/>
              <a:ext cx="76" cy="70"/>
            </a:xfrm>
            <a:custGeom>
              <a:avLst/>
              <a:gdLst>
                <a:gd name="T0" fmla="*/ 0 w 76"/>
                <a:gd name="T1" fmla="*/ 0 h 70"/>
                <a:gd name="T2" fmla="*/ 0 w 76"/>
                <a:gd name="T3" fmla="*/ 70 h 70"/>
                <a:gd name="T4" fmla="*/ 76 w 76"/>
                <a:gd name="T5" fmla="*/ 35 h 70"/>
                <a:gd name="T6" fmla="*/ 0 w 76"/>
                <a:gd name="T7" fmla="*/ 0 h 70"/>
              </a:gdLst>
              <a:ahLst/>
              <a:cxnLst>
                <a:cxn ang="0">
                  <a:pos x="T0" y="T1"/>
                </a:cxn>
                <a:cxn ang="0">
                  <a:pos x="T2" y="T3"/>
                </a:cxn>
                <a:cxn ang="0">
                  <a:pos x="T4" y="T5"/>
                </a:cxn>
                <a:cxn ang="0">
                  <a:pos x="T6" y="T7"/>
                </a:cxn>
              </a:cxnLst>
              <a:rect l="0" t="0" r="r" b="b"/>
              <a:pathLst>
                <a:path w="76" h="70">
                  <a:moveTo>
                    <a:pt x="0" y="0"/>
                  </a:moveTo>
                  <a:lnTo>
                    <a:pt x="0" y="70"/>
                  </a:lnTo>
                  <a:lnTo>
                    <a:pt x="76" y="3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50"/>
            <p:cNvSpPr>
              <a:spLocks/>
            </p:cNvSpPr>
            <p:nvPr/>
          </p:nvSpPr>
          <p:spPr bwMode="auto">
            <a:xfrm>
              <a:off x="3201" y="1643"/>
              <a:ext cx="76" cy="70"/>
            </a:xfrm>
            <a:custGeom>
              <a:avLst/>
              <a:gdLst>
                <a:gd name="T0" fmla="*/ 0 w 76"/>
                <a:gd name="T1" fmla="*/ 0 h 70"/>
                <a:gd name="T2" fmla="*/ 0 w 76"/>
                <a:gd name="T3" fmla="*/ 70 h 70"/>
                <a:gd name="T4" fmla="*/ 76 w 76"/>
                <a:gd name="T5" fmla="*/ 35 h 70"/>
                <a:gd name="T6" fmla="*/ 0 w 76"/>
                <a:gd name="T7" fmla="*/ 0 h 70"/>
              </a:gdLst>
              <a:ahLst/>
              <a:cxnLst>
                <a:cxn ang="0">
                  <a:pos x="T0" y="T1"/>
                </a:cxn>
                <a:cxn ang="0">
                  <a:pos x="T2" y="T3"/>
                </a:cxn>
                <a:cxn ang="0">
                  <a:pos x="T4" y="T5"/>
                </a:cxn>
                <a:cxn ang="0">
                  <a:pos x="T6" y="T7"/>
                </a:cxn>
              </a:cxnLst>
              <a:rect l="0" t="0" r="r" b="b"/>
              <a:pathLst>
                <a:path w="76" h="70">
                  <a:moveTo>
                    <a:pt x="0" y="0"/>
                  </a:moveTo>
                  <a:lnTo>
                    <a:pt x="0" y="70"/>
                  </a:lnTo>
                  <a:lnTo>
                    <a:pt x="76" y="35"/>
                  </a:lnTo>
                  <a:lnTo>
                    <a:pt x="0"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 name="Line 51"/>
            <p:cNvSpPr>
              <a:spLocks noChangeShapeType="1"/>
            </p:cNvSpPr>
            <p:nvPr/>
          </p:nvSpPr>
          <p:spPr bwMode="auto">
            <a:xfrm>
              <a:off x="2950" y="1678"/>
              <a:ext cx="25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Freeform 52"/>
            <p:cNvSpPr>
              <a:spLocks/>
            </p:cNvSpPr>
            <p:nvPr/>
          </p:nvSpPr>
          <p:spPr bwMode="auto">
            <a:xfrm>
              <a:off x="3201" y="544"/>
              <a:ext cx="76" cy="76"/>
            </a:xfrm>
            <a:custGeom>
              <a:avLst/>
              <a:gdLst>
                <a:gd name="T0" fmla="*/ 0 w 76"/>
                <a:gd name="T1" fmla="*/ 0 h 76"/>
                <a:gd name="T2" fmla="*/ 0 w 76"/>
                <a:gd name="T3" fmla="*/ 76 h 76"/>
                <a:gd name="T4" fmla="*/ 76 w 76"/>
                <a:gd name="T5" fmla="*/ 35 h 76"/>
                <a:gd name="T6" fmla="*/ 0 w 76"/>
                <a:gd name="T7" fmla="*/ 0 h 76"/>
              </a:gdLst>
              <a:ahLst/>
              <a:cxnLst>
                <a:cxn ang="0">
                  <a:pos x="T0" y="T1"/>
                </a:cxn>
                <a:cxn ang="0">
                  <a:pos x="T2" y="T3"/>
                </a:cxn>
                <a:cxn ang="0">
                  <a:pos x="T4" y="T5"/>
                </a:cxn>
                <a:cxn ang="0">
                  <a:pos x="T6" y="T7"/>
                </a:cxn>
              </a:cxnLst>
              <a:rect l="0" t="0" r="r" b="b"/>
              <a:pathLst>
                <a:path w="76" h="76">
                  <a:moveTo>
                    <a:pt x="0" y="0"/>
                  </a:moveTo>
                  <a:lnTo>
                    <a:pt x="0" y="76"/>
                  </a:lnTo>
                  <a:lnTo>
                    <a:pt x="76" y="3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53"/>
            <p:cNvSpPr>
              <a:spLocks/>
            </p:cNvSpPr>
            <p:nvPr/>
          </p:nvSpPr>
          <p:spPr bwMode="auto">
            <a:xfrm>
              <a:off x="3201" y="544"/>
              <a:ext cx="76" cy="76"/>
            </a:xfrm>
            <a:custGeom>
              <a:avLst/>
              <a:gdLst>
                <a:gd name="T0" fmla="*/ 0 w 76"/>
                <a:gd name="T1" fmla="*/ 0 h 76"/>
                <a:gd name="T2" fmla="*/ 0 w 76"/>
                <a:gd name="T3" fmla="*/ 76 h 76"/>
                <a:gd name="T4" fmla="*/ 76 w 76"/>
                <a:gd name="T5" fmla="*/ 35 h 76"/>
                <a:gd name="T6" fmla="*/ 0 w 76"/>
                <a:gd name="T7" fmla="*/ 0 h 76"/>
              </a:gdLst>
              <a:ahLst/>
              <a:cxnLst>
                <a:cxn ang="0">
                  <a:pos x="T0" y="T1"/>
                </a:cxn>
                <a:cxn ang="0">
                  <a:pos x="T2" y="T3"/>
                </a:cxn>
                <a:cxn ang="0">
                  <a:pos x="T4" y="T5"/>
                </a:cxn>
                <a:cxn ang="0">
                  <a:pos x="T6" y="T7"/>
                </a:cxn>
              </a:cxnLst>
              <a:rect l="0" t="0" r="r" b="b"/>
              <a:pathLst>
                <a:path w="76" h="76">
                  <a:moveTo>
                    <a:pt x="0" y="0"/>
                  </a:moveTo>
                  <a:lnTo>
                    <a:pt x="0" y="76"/>
                  </a:lnTo>
                  <a:lnTo>
                    <a:pt x="76" y="35"/>
                  </a:lnTo>
                  <a:lnTo>
                    <a:pt x="0"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 name="Line 54"/>
            <p:cNvSpPr>
              <a:spLocks noChangeShapeType="1"/>
            </p:cNvSpPr>
            <p:nvPr/>
          </p:nvSpPr>
          <p:spPr bwMode="auto">
            <a:xfrm>
              <a:off x="2950" y="579"/>
              <a:ext cx="25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55"/>
            <p:cNvSpPr>
              <a:spLocks noChangeShapeType="1"/>
            </p:cNvSpPr>
            <p:nvPr/>
          </p:nvSpPr>
          <p:spPr bwMode="auto">
            <a:xfrm>
              <a:off x="2950" y="579"/>
              <a:ext cx="1" cy="109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6174382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通道控制方式</a:t>
            </a:r>
          </a:p>
        </p:txBody>
      </p:sp>
      <p:sp>
        <p:nvSpPr>
          <p:cNvPr id="3" name="Content Placeholder 2"/>
          <p:cNvSpPr>
            <a:spLocks noGrp="1"/>
          </p:cNvSpPr>
          <p:nvPr>
            <p:ph idx="1"/>
          </p:nvPr>
        </p:nvSpPr>
        <p:spPr/>
        <p:txBody>
          <a:bodyPr/>
          <a:lstStyle/>
          <a:p>
            <a:r>
              <a:rPr lang="zh-CN" altLang="en-US" dirty="0"/>
              <a:t>引入通道的目的</a:t>
            </a:r>
            <a:endParaRPr lang="en-US" altLang="zh-CN" dirty="0"/>
          </a:p>
          <a:p>
            <a:pPr lvl="1"/>
            <a:endParaRPr lang="en-US" altLang="zh-CN" dirty="0"/>
          </a:p>
          <a:p>
            <a:pPr lvl="1"/>
            <a:r>
              <a:rPr lang="zh-CN" altLang="en-US" dirty="0"/>
              <a:t>为了使</a:t>
            </a:r>
            <a:r>
              <a:rPr lang="en-US" altLang="zh-CN" dirty="0"/>
              <a:t>CPU</a:t>
            </a:r>
            <a:r>
              <a:rPr lang="zh-CN" altLang="en-US" dirty="0"/>
              <a:t>从</a:t>
            </a:r>
            <a:r>
              <a:rPr lang="en-US" altLang="zh-CN" dirty="0"/>
              <a:t>I/O</a:t>
            </a:r>
            <a:r>
              <a:rPr lang="zh-CN" altLang="en-US" dirty="0">
                <a:solidFill>
                  <a:srgbClr val="0000FF"/>
                </a:solidFill>
              </a:rPr>
              <a:t>事务</a:t>
            </a:r>
            <a:r>
              <a:rPr lang="zh-CN" altLang="en-US" dirty="0"/>
              <a:t>中解脱出来，同时为了提高</a:t>
            </a:r>
            <a:r>
              <a:rPr lang="en-US" altLang="zh-CN" dirty="0"/>
              <a:t>CPU</a:t>
            </a:r>
            <a:r>
              <a:rPr lang="zh-CN" altLang="en-US" dirty="0"/>
              <a:t>与设备，设备与设备之间的</a:t>
            </a:r>
            <a:r>
              <a:rPr lang="zh-CN" altLang="en-US" dirty="0">
                <a:solidFill>
                  <a:srgbClr val="0000FF"/>
                </a:solidFill>
              </a:rPr>
              <a:t>并行工作能力</a:t>
            </a:r>
            <a:endParaRPr lang="en-US" altLang="zh-CN" dirty="0">
              <a:solidFill>
                <a:srgbClr val="0000FF"/>
              </a:solidFill>
            </a:endParaRPr>
          </a:p>
          <a:p>
            <a:pPr lvl="1"/>
            <a:endParaRPr lang="en-US" altLang="zh-CN" dirty="0"/>
          </a:p>
          <a:p>
            <a:pPr lvl="1"/>
            <a:r>
              <a:rPr lang="zh-CN" altLang="en-US" dirty="0"/>
              <a:t>执行一个通道程序可以完成</a:t>
            </a:r>
            <a:r>
              <a:rPr lang="zh-CN" altLang="en-US" dirty="0">
                <a:solidFill>
                  <a:srgbClr val="0000FF"/>
                </a:solidFill>
              </a:rPr>
              <a:t>几批</a:t>
            </a:r>
            <a:r>
              <a:rPr lang="en-US" altLang="zh-CN" dirty="0">
                <a:solidFill>
                  <a:srgbClr val="0000FF"/>
                </a:solidFill>
              </a:rPr>
              <a:t>I/O</a:t>
            </a:r>
            <a:r>
              <a:rPr lang="zh-CN" altLang="en-US" dirty="0">
                <a:solidFill>
                  <a:srgbClr val="0000FF"/>
                </a:solidFill>
              </a:rPr>
              <a:t>操作</a:t>
            </a:r>
          </a:p>
        </p:txBody>
      </p:sp>
      <p:sp>
        <p:nvSpPr>
          <p:cNvPr id="4" name="Date Placeholder 3"/>
          <p:cNvSpPr>
            <a:spLocks noGrp="1"/>
          </p:cNvSpPr>
          <p:nvPr>
            <p:ph type="dt" sz="half" idx="10"/>
          </p:nvPr>
        </p:nvSpPr>
        <p:spPr/>
        <p:txBody>
          <a:bodyPr/>
          <a:lstStyle/>
          <a:p>
            <a:fld id="{D418AE6A-AB40-44A3-9D93-3961E09B5780}"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23</a:t>
            </a:fld>
            <a:endParaRPr lang="zh-CN" altLang="en-US" dirty="0"/>
          </a:p>
        </p:txBody>
      </p:sp>
    </p:spTree>
    <p:extLst>
      <p:ext uri="{BB962C8B-B14F-4D97-AF65-F5344CB8AC3E}">
        <p14:creationId xmlns:p14="http://schemas.microsoft.com/office/powerpoint/2010/main" val="14030197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通道控制方式</a:t>
            </a:r>
          </a:p>
        </p:txBody>
      </p:sp>
      <p:sp>
        <p:nvSpPr>
          <p:cNvPr id="3" name="Content Placeholder 2"/>
          <p:cNvSpPr>
            <a:spLocks noGrp="1"/>
          </p:cNvSpPr>
          <p:nvPr>
            <p:ph idx="1"/>
          </p:nvPr>
        </p:nvSpPr>
        <p:spPr/>
        <p:txBody>
          <a:bodyPr>
            <a:normAutofit lnSpcReduction="10000"/>
          </a:bodyPr>
          <a:lstStyle/>
          <a:p>
            <a:r>
              <a:rPr lang="zh-CN" altLang="en-US" dirty="0"/>
              <a:t>通道控制器</a:t>
            </a:r>
            <a:endParaRPr lang="en-US" altLang="zh-CN" dirty="0"/>
          </a:p>
          <a:p>
            <a:pPr lvl="1"/>
            <a:endParaRPr lang="en-US" altLang="zh-CN" sz="2400" dirty="0"/>
          </a:p>
          <a:p>
            <a:pPr lvl="1"/>
            <a:r>
              <a:rPr lang="zh-CN" altLang="en-US" sz="2400" dirty="0"/>
              <a:t>有自己的专用存储器</a:t>
            </a:r>
            <a:endParaRPr lang="en-US" altLang="zh-CN" dirty="0"/>
          </a:p>
          <a:p>
            <a:pPr lvl="1"/>
            <a:endParaRPr lang="en-US" altLang="zh-CN" sz="2400" dirty="0"/>
          </a:p>
          <a:p>
            <a:pPr lvl="1"/>
            <a:r>
              <a:rPr lang="zh-CN" altLang="en-US" sz="2400" dirty="0"/>
              <a:t>可以执行由通道指令组成的通道程序</a:t>
            </a:r>
            <a:endParaRPr lang="en-US" altLang="zh-CN" dirty="0"/>
          </a:p>
          <a:p>
            <a:pPr lvl="1"/>
            <a:endParaRPr lang="en-US" altLang="zh-CN" sz="2400" dirty="0"/>
          </a:p>
          <a:p>
            <a:pPr lvl="1"/>
            <a:r>
              <a:rPr lang="zh-CN" altLang="en-US" sz="2400" dirty="0"/>
              <a:t>可以进行较为复杂的</a:t>
            </a:r>
            <a:r>
              <a:rPr lang="en-US" altLang="zh-CN" sz="2400" dirty="0"/>
              <a:t>I/O</a:t>
            </a:r>
            <a:r>
              <a:rPr lang="zh-CN" altLang="en-US" sz="2400" dirty="0"/>
              <a:t>控制，如网卡上信道访问控制</a:t>
            </a:r>
            <a:endParaRPr lang="en-US" altLang="zh-CN" sz="2400" dirty="0"/>
          </a:p>
          <a:p>
            <a:pPr lvl="1"/>
            <a:endParaRPr lang="en-US" altLang="zh-CN" sz="2400" dirty="0"/>
          </a:p>
          <a:p>
            <a:pPr lvl="1"/>
            <a:r>
              <a:rPr lang="zh-CN" altLang="en-US" sz="2400" dirty="0"/>
              <a:t>通道程序通常由操作系统构造，放在内存里</a:t>
            </a:r>
            <a:endParaRPr lang="zh-CN" altLang="en-US" dirty="0"/>
          </a:p>
        </p:txBody>
      </p:sp>
      <p:sp>
        <p:nvSpPr>
          <p:cNvPr id="4" name="Date Placeholder 3"/>
          <p:cNvSpPr>
            <a:spLocks noGrp="1"/>
          </p:cNvSpPr>
          <p:nvPr>
            <p:ph type="dt" sz="half" idx="10"/>
          </p:nvPr>
        </p:nvSpPr>
        <p:spPr/>
        <p:txBody>
          <a:bodyPr/>
          <a:lstStyle/>
          <a:p>
            <a:fld id="{0EEA23C8-480A-4575-9482-8ADB3EB7EAD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24</a:t>
            </a:fld>
            <a:endParaRPr lang="zh-CN" altLang="en-US" dirty="0"/>
          </a:p>
        </p:txBody>
      </p:sp>
    </p:spTree>
    <p:extLst>
      <p:ext uri="{BB962C8B-B14F-4D97-AF65-F5344CB8AC3E}">
        <p14:creationId xmlns:p14="http://schemas.microsoft.com/office/powerpoint/2010/main" val="13218004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通道控制方式</a:t>
            </a:r>
          </a:p>
        </p:txBody>
      </p:sp>
      <p:sp>
        <p:nvSpPr>
          <p:cNvPr id="3" name="Content Placeholder 2"/>
          <p:cNvSpPr>
            <a:spLocks noGrp="1"/>
          </p:cNvSpPr>
          <p:nvPr>
            <p:ph idx="1"/>
          </p:nvPr>
        </p:nvSpPr>
        <p:spPr/>
        <p:txBody>
          <a:bodyPr/>
          <a:lstStyle/>
          <a:p>
            <a:r>
              <a:rPr lang="zh-CN" altLang="en-US" dirty="0"/>
              <a:t>通道的分类</a:t>
            </a:r>
            <a:endParaRPr lang="en-US" altLang="zh-CN" dirty="0"/>
          </a:p>
          <a:p>
            <a:pPr lvl="1"/>
            <a:endParaRPr lang="en-US" altLang="zh-CN" dirty="0"/>
          </a:p>
          <a:p>
            <a:pPr lvl="1"/>
            <a:r>
              <a:rPr lang="zh-CN" altLang="en-US" b="1" dirty="0"/>
              <a:t>字节多路通道</a:t>
            </a:r>
            <a:r>
              <a:rPr lang="zh-CN" altLang="en-US" dirty="0"/>
              <a:t>：连接多个字符设备</a:t>
            </a:r>
            <a:endParaRPr lang="en-US" altLang="zh-CN" dirty="0"/>
          </a:p>
          <a:p>
            <a:pPr lvl="1"/>
            <a:endParaRPr lang="en-US" altLang="zh-CN" dirty="0"/>
          </a:p>
          <a:p>
            <a:pPr lvl="1"/>
            <a:r>
              <a:rPr lang="zh-CN" altLang="en-US" b="1" dirty="0"/>
              <a:t>选择性通道</a:t>
            </a:r>
            <a:r>
              <a:rPr lang="zh-CN" altLang="en-US" dirty="0"/>
              <a:t>：可以连接多个外设，但一次只能访问一个外设</a:t>
            </a:r>
            <a:endParaRPr lang="en-US" altLang="zh-CN" dirty="0"/>
          </a:p>
          <a:p>
            <a:pPr lvl="1"/>
            <a:endParaRPr lang="en-US" altLang="zh-CN" dirty="0"/>
          </a:p>
          <a:p>
            <a:pPr lvl="1"/>
            <a:r>
              <a:rPr lang="zh-CN" altLang="en-US" b="1" dirty="0"/>
              <a:t>成组多路通道</a:t>
            </a:r>
            <a:r>
              <a:rPr lang="zh-CN" altLang="en-US" dirty="0"/>
              <a:t>：可以并发访问多个外设，同时连接多个中速设备</a:t>
            </a:r>
            <a:endParaRPr lang="en-US" altLang="zh-CN" dirty="0"/>
          </a:p>
          <a:p>
            <a:pPr lvl="1"/>
            <a:endParaRPr lang="en-US" altLang="zh-CN" dirty="0"/>
          </a:p>
        </p:txBody>
      </p:sp>
      <p:sp>
        <p:nvSpPr>
          <p:cNvPr id="4" name="Date Placeholder 3"/>
          <p:cNvSpPr>
            <a:spLocks noGrp="1"/>
          </p:cNvSpPr>
          <p:nvPr>
            <p:ph type="dt" sz="half" idx="10"/>
          </p:nvPr>
        </p:nvSpPr>
        <p:spPr/>
        <p:txBody>
          <a:bodyPr/>
          <a:lstStyle/>
          <a:p>
            <a:fld id="{30ACD63D-076E-4883-8171-B4953EA441F9}"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25</a:t>
            </a:fld>
            <a:endParaRPr lang="zh-CN" altLang="en-US" dirty="0"/>
          </a:p>
        </p:txBody>
      </p:sp>
    </p:spTree>
    <p:extLst>
      <p:ext uri="{BB962C8B-B14F-4D97-AF65-F5344CB8AC3E}">
        <p14:creationId xmlns:p14="http://schemas.microsoft.com/office/powerpoint/2010/main" val="16552538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通道控制方式</a:t>
            </a:r>
          </a:p>
        </p:txBody>
      </p:sp>
      <p:sp>
        <p:nvSpPr>
          <p:cNvPr id="3" name="Content Placeholder 2"/>
          <p:cNvSpPr>
            <a:spLocks noGrp="1"/>
          </p:cNvSpPr>
          <p:nvPr>
            <p:ph idx="1"/>
          </p:nvPr>
        </p:nvSpPr>
        <p:spPr/>
        <p:txBody>
          <a:bodyPr/>
          <a:lstStyle/>
          <a:p>
            <a:r>
              <a:rPr lang="zh-CN" altLang="en-US" dirty="0"/>
              <a:t>字节多路通道</a:t>
            </a:r>
            <a:endParaRPr lang="en-US" altLang="zh-CN" dirty="0"/>
          </a:p>
          <a:p>
            <a:pPr lvl="1"/>
            <a:r>
              <a:rPr lang="zh-CN" altLang="en-US" dirty="0"/>
              <a:t>字节多路通道</a:t>
            </a:r>
            <a:r>
              <a:rPr lang="zh-CN" altLang="en-US" dirty="0">
                <a:solidFill>
                  <a:srgbClr val="0000FF"/>
                </a:solidFill>
              </a:rPr>
              <a:t>以字节为单位</a:t>
            </a:r>
            <a:r>
              <a:rPr lang="zh-CN" altLang="en-US" dirty="0"/>
              <a:t>传输信息</a:t>
            </a:r>
            <a:endParaRPr lang="en-US" altLang="zh-CN" dirty="0"/>
          </a:p>
          <a:p>
            <a:pPr lvl="1"/>
            <a:r>
              <a:rPr lang="zh-CN" altLang="en-US" dirty="0"/>
              <a:t>它可以</a:t>
            </a:r>
            <a:r>
              <a:rPr lang="zh-CN" altLang="en-US" dirty="0">
                <a:solidFill>
                  <a:srgbClr val="0000FF"/>
                </a:solidFill>
              </a:rPr>
              <a:t>分时地</a:t>
            </a:r>
            <a:r>
              <a:rPr lang="zh-CN" altLang="en-US" dirty="0"/>
              <a:t>执行多个通道程序。当一个通道程序控制某台设备传送一个字节后，通道硬件就控制转去执行另一个通道程序，控制另一台设备传送信息</a:t>
            </a:r>
          </a:p>
          <a:p>
            <a:pPr lvl="1"/>
            <a:r>
              <a:rPr lang="zh-CN" altLang="en-US" dirty="0"/>
              <a:t>主要连接以字节为单位的低速</a:t>
            </a:r>
            <a:r>
              <a:rPr lang="en-US" altLang="zh-CN" dirty="0"/>
              <a:t>I/O</a:t>
            </a:r>
            <a:r>
              <a:rPr lang="zh-CN" altLang="en-US" dirty="0"/>
              <a:t>设备，如打印机，终端</a:t>
            </a:r>
          </a:p>
          <a:p>
            <a:pPr lvl="1"/>
            <a:endParaRPr lang="en-US" altLang="zh-CN" dirty="0"/>
          </a:p>
        </p:txBody>
      </p:sp>
      <p:sp>
        <p:nvSpPr>
          <p:cNvPr id="4" name="Date Placeholder 3"/>
          <p:cNvSpPr>
            <a:spLocks noGrp="1"/>
          </p:cNvSpPr>
          <p:nvPr>
            <p:ph type="dt" sz="half" idx="10"/>
          </p:nvPr>
        </p:nvSpPr>
        <p:spPr/>
        <p:txBody>
          <a:bodyPr/>
          <a:lstStyle/>
          <a:p>
            <a:fld id="{81D8E7DD-447B-4C38-8338-3AD366BD94E0}"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26</a:t>
            </a:fld>
            <a:endParaRPr lang="zh-CN" altLang="en-US" dirty="0"/>
          </a:p>
        </p:txBody>
      </p:sp>
    </p:spTree>
    <p:extLst>
      <p:ext uri="{BB962C8B-B14F-4D97-AF65-F5344CB8AC3E}">
        <p14:creationId xmlns:p14="http://schemas.microsoft.com/office/powerpoint/2010/main" val="675805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通道控制方式</a:t>
            </a:r>
          </a:p>
        </p:txBody>
      </p:sp>
      <p:sp>
        <p:nvSpPr>
          <p:cNvPr id="3" name="Content Placeholder 2"/>
          <p:cNvSpPr>
            <a:spLocks noGrp="1"/>
          </p:cNvSpPr>
          <p:nvPr>
            <p:ph idx="1"/>
          </p:nvPr>
        </p:nvSpPr>
        <p:spPr/>
        <p:txBody>
          <a:bodyPr/>
          <a:lstStyle/>
          <a:p>
            <a:r>
              <a:rPr lang="zh-CN" altLang="en-US" dirty="0"/>
              <a:t>字节多路通道的工作原理</a:t>
            </a:r>
          </a:p>
        </p:txBody>
      </p:sp>
      <p:sp>
        <p:nvSpPr>
          <p:cNvPr id="4" name="Date Placeholder 3"/>
          <p:cNvSpPr>
            <a:spLocks noGrp="1"/>
          </p:cNvSpPr>
          <p:nvPr>
            <p:ph type="dt" sz="half" idx="10"/>
          </p:nvPr>
        </p:nvSpPr>
        <p:spPr/>
        <p:txBody>
          <a:bodyPr/>
          <a:lstStyle/>
          <a:p>
            <a:fld id="{DB45F2F2-EDFE-4CA4-9FEC-4336A0A4A326}"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27</a:t>
            </a:fld>
            <a:endParaRPr lang="zh-CN" altLang="en-US" dirty="0"/>
          </a:p>
        </p:txBody>
      </p:sp>
      <p:sp>
        <p:nvSpPr>
          <p:cNvPr id="7" name="Rectangle 5"/>
          <p:cNvSpPr>
            <a:spLocks noChangeArrowheads="1"/>
          </p:cNvSpPr>
          <p:nvPr/>
        </p:nvSpPr>
        <p:spPr bwMode="auto">
          <a:xfrm>
            <a:off x="2029271" y="2807221"/>
            <a:ext cx="2232025" cy="279082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8" name="Oval 6"/>
          <p:cNvSpPr>
            <a:spLocks noChangeArrowheads="1"/>
          </p:cNvSpPr>
          <p:nvPr/>
        </p:nvSpPr>
        <p:spPr bwMode="auto">
          <a:xfrm>
            <a:off x="3483421" y="2965971"/>
            <a:ext cx="215900" cy="215900"/>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9" name="Oval 7"/>
          <p:cNvSpPr>
            <a:spLocks noChangeArrowheads="1"/>
          </p:cNvSpPr>
          <p:nvPr/>
        </p:nvSpPr>
        <p:spPr bwMode="auto">
          <a:xfrm>
            <a:off x="3758059" y="3481908"/>
            <a:ext cx="215900" cy="215900"/>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10" name="Oval 8"/>
          <p:cNvSpPr>
            <a:spLocks noChangeArrowheads="1"/>
          </p:cNvSpPr>
          <p:nvPr/>
        </p:nvSpPr>
        <p:spPr bwMode="auto">
          <a:xfrm>
            <a:off x="3934271" y="4069283"/>
            <a:ext cx="215900" cy="215900"/>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11" name="Oval 9"/>
          <p:cNvSpPr>
            <a:spLocks noChangeArrowheads="1"/>
          </p:cNvSpPr>
          <p:nvPr/>
        </p:nvSpPr>
        <p:spPr bwMode="auto">
          <a:xfrm>
            <a:off x="3785046" y="4604271"/>
            <a:ext cx="215900" cy="215900"/>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12" name="Oval 10"/>
          <p:cNvSpPr>
            <a:spLocks noChangeArrowheads="1"/>
          </p:cNvSpPr>
          <p:nvPr/>
        </p:nvSpPr>
        <p:spPr bwMode="auto">
          <a:xfrm>
            <a:off x="3492946" y="5139258"/>
            <a:ext cx="215900" cy="215900"/>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13" name="Oval 11"/>
          <p:cNvSpPr>
            <a:spLocks noChangeArrowheads="1"/>
          </p:cNvSpPr>
          <p:nvPr/>
        </p:nvSpPr>
        <p:spPr bwMode="auto">
          <a:xfrm>
            <a:off x="2865884" y="4148658"/>
            <a:ext cx="215900" cy="215900"/>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14" name="Line 12"/>
          <p:cNvSpPr>
            <a:spLocks noChangeShapeType="1"/>
          </p:cNvSpPr>
          <p:nvPr/>
        </p:nvSpPr>
        <p:spPr bwMode="auto">
          <a:xfrm>
            <a:off x="1087884" y="4259783"/>
            <a:ext cx="176688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5" name="Line 13"/>
          <p:cNvSpPr>
            <a:spLocks noChangeShapeType="1"/>
          </p:cNvSpPr>
          <p:nvPr/>
        </p:nvSpPr>
        <p:spPr bwMode="auto">
          <a:xfrm flipV="1">
            <a:off x="3013521" y="3178696"/>
            <a:ext cx="509588" cy="9699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6" name="Text Box 14"/>
          <p:cNvSpPr txBox="1">
            <a:spLocks noChangeArrowheads="1"/>
          </p:cNvSpPr>
          <p:nvPr/>
        </p:nvSpPr>
        <p:spPr bwMode="auto">
          <a:xfrm>
            <a:off x="6820346" y="2896121"/>
            <a:ext cx="1223963" cy="415925"/>
          </a:xfrm>
          <a:prstGeom prst="rect">
            <a:avLst/>
          </a:prstGeom>
          <a:solidFill>
            <a:srgbClr val="FF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楷体" panose="02010609060101010101" pitchFamily="49" charset="-122"/>
              </a:rPr>
              <a:t>控制器</a:t>
            </a:r>
            <a:r>
              <a:rPr lang="en-US" altLang="zh-CN" sz="2000" b="1">
                <a:ea typeface="楷体" panose="02010609060101010101" pitchFamily="49" charset="-122"/>
              </a:rPr>
              <a:t>A</a:t>
            </a:r>
          </a:p>
        </p:txBody>
      </p:sp>
      <p:sp>
        <p:nvSpPr>
          <p:cNvPr id="17" name="Text Box 15"/>
          <p:cNvSpPr txBox="1">
            <a:spLocks noChangeArrowheads="1"/>
          </p:cNvSpPr>
          <p:nvPr/>
        </p:nvSpPr>
        <p:spPr bwMode="auto">
          <a:xfrm>
            <a:off x="6825109" y="3424758"/>
            <a:ext cx="1223962" cy="415925"/>
          </a:xfrm>
          <a:prstGeom prst="rect">
            <a:avLst/>
          </a:prstGeom>
          <a:solidFill>
            <a:srgbClr val="FF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楷体" panose="02010609060101010101" pitchFamily="49" charset="-122"/>
              </a:rPr>
              <a:t>控制器</a:t>
            </a:r>
            <a:r>
              <a:rPr lang="en-US" altLang="zh-CN" sz="2000" b="1">
                <a:ea typeface="楷体" panose="02010609060101010101" pitchFamily="49" charset="-122"/>
              </a:rPr>
              <a:t>B</a:t>
            </a:r>
          </a:p>
        </p:txBody>
      </p:sp>
      <p:sp>
        <p:nvSpPr>
          <p:cNvPr id="18" name="Text Box 16"/>
          <p:cNvSpPr txBox="1">
            <a:spLocks noChangeArrowheads="1"/>
          </p:cNvSpPr>
          <p:nvPr/>
        </p:nvSpPr>
        <p:spPr bwMode="auto">
          <a:xfrm>
            <a:off x="6839396" y="3972446"/>
            <a:ext cx="1223963" cy="415925"/>
          </a:xfrm>
          <a:prstGeom prst="rect">
            <a:avLst/>
          </a:prstGeom>
          <a:solidFill>
            <a:srgbClr val="FF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楷体" panose="02010609060101010101" pitchFamily="49" charset="-122"/>
              </a:rPr>
              <a:t>控制器</a:t>
            </a:r>
            <a:r>
              <a:rPr lang="en-US" altLang="zh-CN" sz="2000" b="1">
                <a:ea typeface="楷体" panose="02010609060101010101" pitchFamily="49" charset="-122"/>
              </a:rPr>
              <a:t>C</a:t>
            </a:r>
          </a:p>
        </p:txBody>
      </p:sp>
      <p:sp>
        <p:nvSpPr>
          <p:cNvPr id="19" name="Text Box 17"/>
          <p:cNvSpPr txBox="1">
            <a:spLocks noChangeArrowheads="1"/>
          </p:cNvSpPr>
          <p:nvPr/>
        </p:nvSpPr>
        <p:spPr bwMode="auto">
          <a:xfrm>
            <a:off x="6848921" y="5072583"/>
            <a:ext cx="1223963" cy="415925"/>
          </a:xfrm>
          <a:prstGeom prst="rect">
            <a:avLst/>
          </a:prstGeom>
          <a:solidFill>
            <a:srgbClr val="FF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楷体" panose="02010609060101010101" pitchFamily="49" charset="-122"/>
              </a:rPr>
              <a:t>控制器</a:t>
            </a:r>
            <a:r>
              <a:rPr lang="en-US" altLang="zh-CN" sz="2000" b="1">
                <a:ea typeface="楷体" panose="02010609060101010101" pitchFamily="49" charset="-122"/>
              </a:rPr>
              <a:t>N</a:t>
            </a:r>
          </a:p>
        </p:txBody>
      </p:sp>
      <p:sp>
        <p:nvSpPr>
          <p:cNvPr id="20" name="Text Box 18"/>
          <p:cNvSpPr txBox="1">
            <a:spLocks noChangeArrowheads="1"/>
          </p:cNvSpPr>
          <p:nvPr/>
        </p:nvSpPr>
        <p:spPr bwMode="auto">
          <a:xfrm>
            <a:off x="6848921" y="4520133"/>
            <a:ext cx="1223963" cy="415925"/>
          </a:xfrm>
          <a:prstGeom prst="rect">
            <a:avLst/>
          </a:prstGeom>
          <a:solidFill>
            <a:srgbClr val="FF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b="1">
                <a:ea typeface="楷体" panose="02010609060101010101" pitchFamily="49" charset="-122"/>
              </a:rPr>
              <a:t>……</a:t>
            </a:r>
          </a:p>
        </p:txBody>
      </p:sp>
      <p:sp>
        <p:nvSpPr>
          <p:cNvPr id="21" name="Line 19"/>
          <p:cNvSpPr>
            <a:spLocks noChangeShapeType="1"/>
          </p:cNvSpPr>
          <p:nvPr/>
        </p:nvSpPr>
        <p:spPr bwMode="auto">
          <a:xfrm>
            <a:off x="3694559" y="3088208"/>
            <a:ext cx="313531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2" name="Line 20"/>
          <p:cNvSpPr>
            <a:spLocks noChangeShapeType="1"/>
          </p:cNvSpPr>
          <p:nvPr/>
        </p:nvSpPr>
        <p:spPr bwMode="auto">
          <a:xfrm>
            <a:off x="3713609" y="5263083"/>
            <a:ext cx="313531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3" name="Line 21"/>
          <p:cNvSpPr>
            <a:spLocks noChangeShapeType="1"/>
          </p:cNvSpPr>
          <p:nvPr/>
        </p:nvSpPr>
        <p:spPr bwMode="auto">
          <a:xfrm>
            <a:off x="3973959" y="3607321"/>
            <a:ext cx="284321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4" name="Line 22"/>
          <p:cNvSpPr>
            <a:spLocks noChangeShapeType="1"/>
          </p:cNvSpPr>
          <p:nvPr/>
        </p:nvSpPr>
        <p:spPr bwMode="auto">
          <a:xfrm>
            <a:off x="4002534" y="4721746"/>
            <a:ext cx="284321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5" name="Line 23"/>
          <p:cNvSpPr>
            <a:spLocks noChangeShapeType="1"/>
          </p:cNvSpPr>
          <p:nvPr/>
        </p:nvSpPr>
        <p:spPr bwMode="auto">
          <a:xfrm>
            <a:off x="4137471" y="4174058"/>
            <a:ext cx="269875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6" name="Line 29"/>
          <p:cNvSpPr>
            <a:spLocks noChangeShapeType="1"/>
          </p:cNvSpPr>
          <p:nvPr/>
        </p:nvSpPr>
        <p:spPr bwMode="auto">
          <a:xfrm>
            <a:off x="8049071" y="3088208"/>
            <a:ext cx="57626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7" name="Line 30"/>
          <p:cNvSpPr>
            <a:spLocks noChangeShapeType="1"/>
          </p:cNvSpPr>
          <p:nvPr/>
        </p:nvSpPr>
        <p:spPr bwMode="auto">
          <a:xfrm>
            <a:off x="8053834" y="3626371"/>
            <a:ext cx="5762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8" name="Line 31"/>
          <p:cNvSpPr>
            <a:spLocks noChangeShapeType="1"/>
          </p:cNvSpPr>
          <p:nvPr/>
        </p:nvSpPr>
        <p:spPr bwMode="auto">
          <a:xfrm>
            <a:off x="8072884" y="4186758"/>
            <a:ext cx="5762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9" name="Line 32"/>
          <p:cNvSpPr>
            <a:spLocks noChangeShapeType="1"/>
          </p:cNvSpPr>
          <p:nvPr/>
        </p:nvSpPr>
        <p:spPr bwMode="auto">
          <a:xfrm>
            <a:off x="8077646" y="4724921"/>
            <a:ext cx="57626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0" name="Line 33"/>
          <p:cNvSpPr>
            <a:spLocks noChangeShapeType="1"/>
          </p:cNvSpPr>
          <p:nvPr/>
        </p:nvSpPr>
        <p:spPr bwMode="auto">
          <a:xfrm>
            <a:off x="8072884" y="5272608"/>
            <a:ext cx="5762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1" name="Text Box 34"/>
          <p:cNvSpPr txBox="1">
            <a:spLocks noChangeArrowheads="1"/>
          </p:cNvSpPr>
          <p:nvPr/>
        </p:nvSpPr>
        <p:spPr bwMode="auto">
          <a:xfrm>
            <a:off x="25846" y="3761308"/>
            <a:ext cx="3168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i="1">
                <a:ea typeface="楷体" panose="02010609060101010101" pitchFamily="49" charset="-122"/>
              </a:rPr>
              <a:t>A</a:t>
            </a:r>
            <a:r>
              <a:rPr lang="en-US" altLang="zh-CN" sz="2000" b="1" baseline="-25000">
                <a:ea typeface="楷体" panose="02010609060101010101" pitchFamily="49" charset="-122"/>
              </a:rPr>
              <a:t>1</a:t>
            </a:r>
            <a:r>
              <a:rPr lang="en-US" altLang="zh-CN" sz="2000" b="1" i="1">
                <a:ea typeface="楷体" panose="02010609060101010101" pitchFamily="49" charset="-122"/>
              </a:rPr>
              <a:t>B</a:t>
            </a:r>
            <a:r>
              <a:rPr lang="en-US" altLang="zh-CN" sz="2000" b="1" baseline="-25000">
                <a:ea typeface="楷体" panose="02010609060101010101" pitchFamily="49" charset="-122"/>
              </a:rPr>
              <a:t>1</a:t>
            </a:r>
            <a:r>
              <a:rPr lang="en-US" altLang="zh-CN" sz="2000" b="1" i="1">
                <a:ea typeface="楷体" panose="02010609060101010101" pitchFamily="49" charset="-122"/>
              </a:rPr>
              <a:t>C</a:t>
            </a:r>
            <a:r>
              <a:rPr lang="en-US" altLang="zh-CN" sz="2000" b="1" baseline="-25000">
                <a:ea typeface="楷体" panose="02010609060101010101" pitchFamily="49" charset="-122"/>
              </a:rPr>
              <a:t>1</a:t>
            </a:r>
            <a:r>
              <a:rPr lang="en-US" altLang="zh-CN" sz="2000" b="1">
                <a:ea typeface="楷体" panose="02010609060101010101" pitchFamily="49" charset="-122"/>
              </a:rPr>
              <a:t>…</a:t>
            </a:r>
            <a:r>
              <a:rPr lang="en-US" altLang="zh-CN" sz="2000" b="1" i="1">
                <a:ea typeface="楷体" panose="02010609060101010101" pitchFamily="49" charset="-122"/>
              </a:rPr>
              <a:t>N</a:t>
            </a:r>
            <a:r>
              <a:rPr lang="en-US" altLang="zh-CN" sz="2000" b="1" baseline="-25000">
                <a:ea typeface="楷体" panose="02010609060101010101" pitchFamily="49" charset="-122"/>
              </a:rPr>
              <a:t>1</a:t>
            </a:r>
            <a:r>
              <a:rPr lang="en-US" altLang="zh-CN" sz="2000" b="1">
                <a:ea typeface="楷体" panose="02010609060101010101" pitchFamily="49" charset="-122"/>
              </a:rPr>
              <a:t>…</a:t>
            </a:r>
            <a:r>
              <a:rPr lang="en-US" altLang="zh-CN" sz="2000" b="1" baseline="-25000">
                <a:ea typeface="楷体" panose="02010609060101010101" pitchFamily="49" charset="-122"/>
              </a:rPr>
              <a:t>.</a:t>
            </a:r>
            <a:r>
              <a:rPr lang="en-US" altLang="zh-CN" sz="2000" b="1" i="1">
                <a:ea typeface="楷体" panose="02010609060101010101" pitchFamily="49" charset="-122"/>
              </a:rPr>
              <a:t>A</a:t>
            </a:r>
            <a:r>
              <a:rPr lang="en-US" altLang="zh-CN" sz="2000" b="1" i="1" baseline="-25000">
                <a:ea typeface="楷体" panose="02010609060101010101" pitchFamily="49" charset="-122"/>
              </a:rPr>
              <a:t>n</a:t>
            </a:r>
            <a:r>
              <a:rPr lang="en-US" altLang="zh-CN" sz="2000" b="1" i="1">
                <a:ea typeface="楷体" panose="02010609060101010101" pitchFamily="49" charset="-122"/>
              </a:rPr>
              <a:t>B</a:t>
            </a:r>
            <a:r>
              <a:rPr lang="en-US" altLang="zh-CN" sz="2000" b="1" i="1" baseline="-25000">
                <a:ea typeface="楷体" panose="02010609060101010101" pitchFamily="49" charset="-122"/>
              </a:rPr>
              <a:t>n</a:t>
            </a:r>
            <a:r>
              <a:rPr lang="en-US" altLang="zh-CN" sz="2000" b="1" i="1">
                <a:ea typeface="楷体" panose="02010609060101010101" pitchFamily="49" charset="-122"/>
              </a:rPr>
              <a:t>C</a:t>
            </a:r>
            <a:r>
              <a:rPr lang="en-US" altLang="zh-CN" sz="2000" b="1" i="1" baseline="-25000">
                <a:ea typeface="楷体" panose="02010609060101010101" pitchFamily="49" charset="-122"/>
              </a:rPr>
              <a:t>n</a:t>
            </a:r>
            <a:r>
              <a:rPr lang="en-US" altLang="zh-CN" sz="2000" b="1" i="1">
                <a:ea typeface="楷体" panose="02010609060101010101" pitchFamily="49" charset="-122"/>
              </a:rPr>
              <a:t>…N</a:t>
            </a:r>
            <a:r>
              <a:rPr lang="en-US" altLang="zh-CN" sz="2000" b="1" i="1" baseline="-25000">
                <a:ea typeface="楷体" panose="02010609060101010101" pitchFamily="49" charset="-122"/>
              </a:rPr>
              <a:t>n</a:t>
            </a:r>
          </a:p>
        </p:txBody>
      </p:sp>
      <p:sp>
        <p:nvSpPr>
          <p:cNvPr id="32" name="Text Box 35"/>
          <p:cNvSpPr txBox="1">
            <a:spLocks noChangeArrowheads="1"/>
          </p:cNvSpPr>
          <p:nvPr/>
        </p:nvSpPr>
        <p:spPr bwMode="auto">
          <a:xfrm>
            <a:off x="4451796" y="2689746"/>
            <a:ext cx="2232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i="1">
                <a:ea typeface="楷体" panose="02010609060101010101" pitchFamily="49" charset="-122"/>
              </a:rPr>
              <a:t>A</a:t>
            </a:r>
            <a:r>
              <a:rPr lang="en-US" altLang="zh-CN" sz="2000" b="1" baseline="-25000">
                <a:ea typeface="楷体" panose="02010609060101010101" pitchFamily="49" charset="-122"/>
              </a:rPr>
              <a:t>1</a:t>
            </a:r>
            <a:r>
              <a:rPr lang="en-US" altLang="zh-CN" sz="2000" b="1" i="1">
                <a:ea typeface="楷体" panose="02010609060101010101" pitchFamily="49" charset="-122"/>
              </a:rPr>
              <a:t>A</a:t>
            </a:r>
            <a:r>
              <a:rPr lang="en-US" altLang="zh-CN" sz="2000" b="1" baseline="-25000">
                <a:ea typeface="楷体" panose="02010609060101010101" pitchFamily="49" charset="-122"/>
              </a:rPr>
              <a:t>2</a:t>
            </a:r>
            <a:r>
              <a:rPr lang="en-US" altLang="zh-CN" sz="2000" b="1" i="1">
                <a:ea typeface="楷体" panose="02010609060101010101" pitchFamily="49" charset="-122"/>
              </a:rPr>
              <a:t>A</a:t>
            </a:r>
            <a:r>
              <a:rPr lang="en-US" altLang="zh-CN" sz="2000" b="1" baseline="-25000">
                <a:ea typeface="楷体" panose="02010609060101010101" pitchFamily="49" charset="-122"/>
              </a:rPr>
              <a:t>3</a:t>
            </a:r>
            <a:r>
              <a:rPr lang="en-US" altLang="zh-CN" sz="2000" b="1">
                <a:ea typeface="楷体" panose="02010609060101010101" pitchFamily="49" charset="-122"/>
              </a:rPr>
              <a:t>…</a:t>
            </a:r>
            <a:r>
              <a:rPr lang="en-US" altLang="zh-CN" sz="2000" b="1" baseline="-25000">
                <a:ea typeface="楷体" panose="02010609060101010101" pitchFamily="49" charset="-122"/>
              </a:rPr>
              <a:t> </a:t>
            </a:r>
            <a:r>
              <a:rPr lang="zh-CN" altLang="en-US" sz="2000" b="1">
                <a:solidFill>
                  <a:srgbClr val="FF3300"/>
                </a:solidFill>
                <a:ea typeface="楷体" panose="02010609060101010101" pitchFamily="49" charset="-122"/>
              </a:rPr>
              <a:t>子通道</a:t>
            </a:r>
            <a:r>
              <a:rPr lang="en-US" altLang="zh-CN" sz="2000" b="1">
                <a:solidFill>
                  <a:srgbClr val="FF3300"/>
                </a:solidFill>
                <a:ea typeface="楷体" panose="02010609060101010101" pitchFamily="49" charset="-122"/>
              </a:rPr>
              <a:t>A</a:t>
            </a:r>
            <a:endParaRPr lang="en-US" altLang="zh-CN" sz="2000" b="1" i="1">
              <a:solidFill>
                <a:srgbClr val="FF3300"/>
              </a:solidFill>
              <a:ea typeface="楷体" panose="02010609060101010101" pitchFamily="49" charset="-122"/>
            </a:endParaRPr>
          </a:p>
        </p:txBody>
      </p:sp>
      <p:sp>
        <p:nvSpPr>
          <p:cNvPr id="33" name="Text Box 36"/>
          <p:cNvSpPr txBox="1">
            <a:spLocks noChangeArrowheads="1"/>
          </p:cNvSpPr>
          <p:nvPr/>
        </p:nvSpPr>
        <p:spPr bwMode="auto">
          <a:xfrm>
            <a:off x="4467671" y="3218383"/>
            <a:ext cx="2232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i="1">
                <a:ea typeface="楷体" panose="02010609060101010101" pitchFamily="49" charset="-122"/>
              </a:rPr>
              <a:t>B</a:t>
            </a:r>
            <a:r>
              <a:rPr lang="en-US" altLang="zh-CN" sz="2000" b="1" baseline="-25000">
                <a:ea typeface="楷体" panose="02010609060101010101" pitchFamily="49" charset="-122"/>
              </a:rPr>
              <a:t>1</a:t>
            </a:r>
            <a:r>
              <a:rPr lang="en-US" altLang="zh-CN" sz="2000" b="1" i="1">
                <a:ea typeface="楷体" panose="02010609060101010101" pitchFamily="49" charset="-122"/>
              </a:rPr>
              <a:t>B</a:t>
            </a:r>
            <a:r>
              <a:rPr lang="en-US" altLang="zh-CN" sz="2000" b="1" baseline="-25000">
                <a:ea typeface="楷体" panose="02010609060101010101" pitchFamily="49" charset="-122"/>
              </a:rPr>
              <a:t>2</a:t>
            </a:r>
            <a:r>
              <a:rPr lang="en-US" altLang="zh-CN" sz="2000" b="1" i="1">
                <a:ea typeface="楷体" panose="02010609060101010101" pitchFamily="49" charset="-122"/>
              </a:rPr>
              <a:t>B</a:t>
            </a:r>
            <a:r>
              <a:rPr lang="en-US" altLang="zh-CN" sz="2000" b="1" baseline="-25000">
                <a:ea typeface="楷体" panose="02010609060101010101" pitchFamily="49" charset="-122"/>
              </a:rPr>
              <a:t>3</a:t>
            </a:r>
            <a:r>
              <a:rPr lang="en-US" altLang="zh-CN" sz="2000" b="1">
                <a:ea typeface="楷体" panose="02010609060101010101" pitchFamily="49" charset="-122"/>
              </a:rPr>
              <a:t>…</a:t>
            </a:r>
            <a:r>
              <a:rPr lang="en-US" altLang="zh-CN" sz="2000" b="1" baseline="-25000">
                <a:ea typeface="楷体" panose="02010609060101010101" pitchFamily="49" charset="-122"/>
              </a:rPr>
              <a:t> </a:t>
            </a:r>
            <a:r>
              <a:rPr lang="zh-CN" altLang="en-US" sz="2000" b="1">
                <a:solidFill>
                  <a:srgbClr val="FF3300"/>
                </a:solidFill>
                <a:ea typeface="楷体" panose="02010609060101010101" pitchFamily="49" charset="-122"/>
              </a:rPr>
              <a:t>子通道</a:t>
            </a:r>
            <a:r>
              <a:rPr lang="en-US" altLang="zh-CN" sz="2000" b="1">
                <a:solidFill>
                  <a:srgbClr val="FF3300"/>
                </a:solidFill>
                <a:ea typeface="楷体" panose="02010609060101010101" pitchFamily="49" charset="-122"/>
              </a:rPr>
              <a:t>B</a:t>
            </a:r>
            <a:endParaRPr lang="en-US" altLang="zh-CN" sz="2000" b="1" i="1">
              <a:solidFill>
                <a:srgbClr val="FF3300"/>
              </a:solidFill>
              <a:ea typeface="楷体" panose="02010609060101010101" pitchFamily="49" charset="-122"/>
            </a:endParaRPr>
          </a:p>
        </p:txBody>
      </p:sp>
      <p:sp>
        <p:nvSpPr>
          <p:cNvPr id="34" name="Text Box 37"/>
          <p:cNvSpPr txBox="1">
            <a:spLocks noChangeArrowheads="1"/>
          </p:cNvSpPr>
          <p:nvPr/>
        </p:nvSpPr>
        <p:spPr bwMode="auto">
          <a:xfrm>
            <a:off x="4477196" y="3761308"/>
            <a:ext cx="2232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i="1">
                <a:ea typeface="楷体" panose="02010609060101010101" pitchFamily="49" charset="-122"/>
              </a:rPr>
              <a:t>C</a:t>
            </a:r>
            <a:r>
              <a:rPr lang="en-US" altLang="zh-CN" sz="2000" b="1" baseline="-25000">
                <a:ea typeface="楷体" panose="02010609060101010101" pitchFamily="49" charset="-122"/>
              </a:rPr>
              <a:t>1</a:t>
            </a:r>
            <a:r>
              <a:rPr lang="en-US" altLang="zh-CN" sz="2000" b="1" i="1">
                <a:ea typeface="楷体" panose="02010609060101010101" pitchFamily="49" charset="-122"/>
              </a:rPr>
              <a:t>C</a:t>
            </a:r>
            <a:r>
              <a:rPr lang="en-US" altLang="zh-CN" sz="2000" b="1" baseline="-25000">
                <a:ea typeface="楷体" panose="02010609060101010101" pitchFamily="49" charset="-122"/>
              </a:rPr>
              <a:t>2</a:t>
            </a:r>
            <a:r>
              <a:rPr lang="en-US" altLang="zh-CN" sz="2000" b="1" i="1">
                <a:ea typeface="楷体" panose="02010609060101010101" pitchFamily="49" charset="-122"/>
              </a:rPr>
              <a:t>C</a:t>
            </a:r>
            <a:r>
              <a:rPr lang="en-US" altLang="zh-CN" sz="2000" b="1" baseline="-25000">
                <a:ea typeface="楷体" panose="02010609060101010101" pitchFamily="49" charset="-122"/>
              </a:rPr>
              <a:t>3</a:t>
            </a:r>
            <a:r>
              <a:rPr lang="en-US" altLang="zh-CN" sz="2000" b="1">
                <a:ea typeface="楷体" panose="02010609060101010101" pitchFamily="49" charset="-122"/>
              </a:rPr>
              <a:t>…</a:t>
            </a:r>
            <a:r>
              <a:rPr lang="en-US" altLang="zh-CN" sz="2000" b="1" baseline="-25000">
                <a:ea typeface="楷体" panose="02010609060101010101" pitchFamily="49" charset="-122"/>
              </a:rPr>
              <a:t> </a:t>
            </a:r>
            <a:r>
              <a:rPr lang="zh-CN" altLang="en-US" sz="2000" b="1">
                <a:solidFill>
                  <a:srgbClr val="FF3300"/>
                </a:solidFill>
                <a:ea typeface="楷体" panose="02010609060101010101" pitchFamily="49" charset="-122"/>
              </a:rPr>
              <a:t>子通道</a:t>
            </a:r>
            <a:r>
              <a:rPr lang="en-US" altLang="zh-CN" sz="2000" b="1">
                <a:solidFill>
                  <a:srgbClr val="FF3300"/>
                </a:solidFill>
                <a:ea typeface="楷体" panose="02010609060101010101" pitchFamily="49" charset="-122"/>
              </a:rPr>
              <a:t>C</a:t>
            </a:r>
            <a:endParaRPr lang="en-US" altLang="zh-CN" sz="2000" b="1" i="1">
              <a:solidFill>
                <a:srgbClr val="FF3300"/>
              </a:solidFill>
              <a:ea typeface="楷体" panose="02010609060101010101" pitchFamily="49" charset="-122"/>
            </a:endParaRPr>
          </a:p>
        </p:txBody>
      </p:sp>
      <p:sp>
        <p:nvSpPr>
          <p:cNvPr id="35" name="Text Box 38"/>
          <p:cNvSpPr txBox="1">
            <a:spLocks noChangeArrowheads="1"/>
          </p:cNvSpPr>
          <p:nvPr/>
        </p:nvSpPr>
        <p:spPr bwMode="auto">
          <a:xfrm>
            <a:off x="4550221" y="4840808"/>
            <a:ext cx="2232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i="1">
                <a:ea typeface="楷体" panose="02010609060101010101" pitchFamily="49" charset="-122"/>
              </a:rPr>
              <a:t>N</a:t>
            </a:r>
            <a:r>
              <a:rPr lang="en-US" altLang="zh-CN" sz="2000" b="1" baseline="-25000">
                <a:ea typeface="楷体" panose="02010609060101010101" pitchFamily="49" charset="-122"/>
              </a:rPr>
              <a:t>1</a:t>
            </a:r>
            <a:r>
              <a:rPr lang="en-US" altLang="zh-CN" sz="2000" b="1" i="1">
                <a:ea typeface="楷体" panose="02010609060101010101" pitchFamily="49" charset="-122"/>
              </a:rPr>
              <a:t>N</a:t>
            </a:r>
            <a:r>
              <a:rPr lang="en-US" altLang="zh-CN" sz="2000" b="1" baseline="-25000">
                <a:ea typeface="楷体" panose="02010609060101010101" pitchFamily="49" charset="-122"/>
              </a:rPr>
              <a:t>2</a:t>
            </a:r>
            <a:r>
              <a:rPr lang="en-US" altLang="zh-CN" sz="2000" b="1" i="1">
                <a:ea typeface="楷体" panose="02010609060101010101" pitchFamily="49" charset="-122"/>
              </a:rPr>
              <a:t>N</a:t>
            </a:r>
            <a:r>
              <a:rPr lang="en-US" altLang="zh-CN" sz="2000" b="1" baseline="-25000">
                <a:ea typeface="楷体" panose="02010609060101010101" pitchFamily="49" charset="-122"/>
              </a:rPr>
              <a:t>3</a:t>
            </a:r>
            <a:r>
              <a:rPr lang="en-US" altLang="zh-CN" sz="2000" b="1">
                <a:ea typeface="楷体" panose="02010609060101010101" pitchFamily="49" charset="-122"/>
              </a:rPr>
              <a:t>…</a:t>
            </a:r>
            <a:r>
              <a:rPr lang="en-US" altLang="zh-CN" sz="2000" b="1" baseline="-25000">
                <a:ea typeface="楷体" panose="02010609060101010101" pitchFamily="49" charset="-122"/>
              </a:rPr>
              <a:t> </a:t>
            </a:r>
            <a:r>
              <a:rPr lang="zh-CN" altLang="en-US" sz="2000" b="1">
                <a:solidFill>
                  <a:srgbClr val="FF3300"/>
                </a:solidFill>
                <a:ea typeface="楷体" panose="02010609060101010101" pitchFamily="49" charset="-122"/>
              </a:rPr>
              <a:t>子通道</a:t>
            </a:r>
            <a:r>
              <a:rPr lang="en-US" altLang="zh-CN" sz="2000" b="1">
                <a:solidFill>
                  <a:srgbClr val="FF3300"/>
                </a:solidFill>
                <a:ea typeface="楷体" panose="02010609060101010101" pitchFamily="49" charset="-122"/>
              </a:rPr>
              <a:t>N</a:t>
            </a:r>
            <a:endParaRPr lang="en-US" altLang="zh-CN" sz="2000" b="1" i="1">
              <a:solidFill>
                <a:srgbClr val="FF3300"/>
              </a:solidFill>
              <a:ea typeface="楷体" panose="02010609060101010101" pitchFamily="49" charset="-122"/>
            </a:endParaRPr>
          </a:p>
        </p:txBody>
      </p:sp>
      <p:sp>
        <p:nvSpPr>
          <p:cNvPr id="36" name="Text Box 39"/>
          <p:cNvSpPr txBox="1">
            <a:spLocks noChangeArrowheads="1"/>
          </p:cNvSpPr>
          <p:nvPr/>
        </p:nvSpPr>
        <p:spPr bwMode="auto">
          <a:xfrm>
            <a:off x="8488809" y="2492896"/>
            <a:ext cx="538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pPr>
              <a:spcBef>
                <a:spcPct val="50000"/>
              </a:spcBef>
            </a:pPr>
            <a:r>
              <a:rPr lang="zh-CN" altLang="en-US" sz="2000" b="1">
                <a:ea typeface="楷体" panose="02010609060101010101" pitchFamily="49" charset="-122"/>
              </a:rPr>
              <a:t>设备</a:t>
            </a:r>
          </a:p>
        </p:txBody>
      </p:sp>
      <p:pic>
        <p:nvPicPr>
          <p:cNvPr id="37" name="Picture 41" descr="black_red_md_wht"/>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8523734" y="2843733"/>
            <a:ext cx="485775" cy="476250"/>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42" descr="9"/>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595171" y="3462858"/>
            <a:ext cx="377825" cy="377825"/>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43" descr="ani_045"/>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8618984" y="4002608"/>
            <a:ext cx="360362" cy="360363"/>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44" descr="01-03-001-09"/>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8572946" y="4528071"/>
            <a:ext cx="463550" cy="385762"/>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5" descr="cd1"/>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8628509" y="5072583"/>
            <a:ext cx="360362" cy="360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09464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通道控制方式</a:t>
            </a:r>
          </a:p>
        </p:txBody>
      </p:sp>
      <p:sp>
        <p:nvSpPr>
          <p:cNvPr id="3" name="Content Placeholder 2"/>
          <p:cNvSpPr>
            <a:spLocks noGrp="1"/>
          </p:cNvSpPr>
          <p:nvPr>
            <p:ph idx="1"/>
          </p:nvPr>
        </p:nvSpPr>
        <p:spPr/>
        <p:txBody>
          <a:bodyPr/>
          <a:lstStyle/>
          <a:p>
            <a:r>
              <a:rPr lang="zh-CN" altLang="en-US" dirty="0"/>
              <a:t>选择通道</a:t>
            </a:r>
            <a:endParaRPr lang="en-US" altLang="zh-CN" dirty="0"/>
          </a:p>
          <a:p>
            <a:pPr lvl="1"/>
            <a:r>
              <a:rPr lang="zh-CN" altLang="en-US" dirty="0"/>
              <a:t>选择通道每次传送</a:t>
            </a:r>
            <a:r>
              <a:rPr lang="zh-CN" altLang="en-US" dirty="0">
                <a:solidFill>
                  <a:srgbClr val="FF0000"/>
                </a:solidFill>
              </a:rPr>
              <a:t>一批数据</a:t>
            </a:r>
            <a:r>
              <a:rPr lang="zh-CN" altLang="en-US" dirty="0"/>
              <a:t>，故传送速度很高</a:t>
            </a:r>
            <a:endParaRPr lang="en-US" altLang="zh-CN" dirty="0"/>
          </a:p>
          <a:p>
            <a:pPr lvl="1"/>
            <a:r>
              <a:rPr lang="zh-CN" altLang="en-US" dirty="0"/>
              <a:t>选择通道在一段时间内只能执行一个通道程序，只允许一台设备进行数据传输</a:t>
            </a:r>
            <a:endParaRPr lang="en-US" altLang="zh-CN" dirty="0"/>
          </a:p>
          <a:p>
            <a:pPr lvl="1"/>
            <a:r>
              <a:rPr lang="zh-CN" altLang="en-US" dirty="0"/>
              <a:t>当这台设备数据传输完成后，再选择与通道连接的另一台设备，执行它的相应的通道程序</a:t>
            </a:r>
            <a:endParaRPr lang="en-US" altLang="zh-CN" dirty="0"/>
          </a:p>
          <a:p>
            <a:pPr lvl="1"/>
            <a:r>
              <a:rPr lang="zh-CN" altLang="en-US" dirty="0"/>
              <a:t>主要连接磁盘、磁带等高速</a:t>
            </a:r>
            <a:r>
              <a:rPr lang="en-US" altLang="zh-CN" dirty="0"/>
              <a:t>I/O</a:t>
            </a:r>
            <a:r>
              <a:rPr lang="zh-CN" altLang="en-US" dirty="0"/>
              <a:t>设备</a:t>
            </a:r>
          </a:p>
          <a:p>
            <a:pPr lvl="1"/>
            <a:endParaRPr lang="zh-CN" altLang="en-US" dirty="0"/>
          </a:p>
          <a:p>
            <a:pPr lvl="1"/>
            <a:endParaRPr lang="zh-CN" altLang="en-US" dirty="0">
              <a:solidFill>
                <a:srgbClr val="FF0066"/>
              </a:solidFill>
            </a:endParaRPr>
          </a:p>
          <a:p>
            <a:pPr lvl="1"/>
            <a:endParaRPr lang="zh-CN" altLang="en-US" dirty="0"/>
          </a:p>
        </p:txBody>
      </p:sp>
      <p:sp>
        <p:nvSpPr>
          <p:cNvPr id="4" name="Date Placeholder 3"/>
          <p:cNvSpPr>
            <a:spLocks noGrp="1"/>
          </p:cNvSpPr>
          <p:nvPr>
            <p:ph type="dt" sz="half" idx="10"/>
          </p:nvPr>
        </p:nvSpPr>
        <p:spPr/>
        <p:txBody>
          <a:bodyPr/>
          <a:lstStyle/>
          <a:p>
            <a:fld id="{8251AF7E-50B1-4694-BA7D-FA5413F3840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28</a:t>
            </a:fld>
            <a:endParaRPr lang="zh-CN" altLang="en-US" dirty="0"/>
          </a:p>
        </p:txBody>
      </p:sp>
      <p:sp>
        <p:nvSpPr>
          <p:cNvPr id="7" name="AutoShape 10"/>
          <p:cNvSpPr>
            <a:spLocks noChangeArrowheads="1"/>
          </p:cNvSpPr>
          <p:nvPr/>
        </p:nvSpPr>
        <p:spPr bwMode="auto">
          <a:xfrm>
            <a:off x="5107335" y="4472136"/>
            <a:ext cx="769938" cy="466725"/>
          </a:xfrm>
          <a:prstGeom prst="flowChartMagneticDisk">
            <a:avLst/>
          </a:prstGeom>
          <a:solidFill>
            <a:srgbClr val="FFFF99"/>
          </a:solidFill>
          <a:ln w="38100">
            <a:solidFill>
              <a:srgbClr val="FF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AutoShape 11"/>
          <p:cNvSpPr>
            <a:spLocks noChangeArrowheads="1"/>
          </p:cNvSpPr>
          <p:nvPr/>
        </p:nvSpPr>
        <p:spPr bwMode="auto">
          <a:xfrm>
            <a:off x="5107335" y="5229374"/>
            <a:ext cx="769938" cy="466725"/>
          </a:xfrm>
          <a:prstGeom prst="flowChartMagneticDisk">
            <a:avLst/>
          </a:prstGeom>
          <a:solidFill>
            <a:srgbClr val="FFCCFF"/>
          </a:solidFill>
          <a:ln w="38100">
            <a:solidFill>
              <a:srgbClr val="FF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AutoShape 12"/>
          <p:cNvSpPr>
            <a:spLocks noChangeArrowheads="1"/>
          </p:cNvSpPr>
          <p:nvPr/>
        </p:nvSpPr>
        <p:spPr bwMode="auto">
          <a:xfrm>
            <a:off x="5107335" y="5986611"/>
            <a:ext cx="769938" cy="466725"/>
          </a:xfrm>
          <a:prstGeom prst="flowChartMagneticDisk">
            <a:avLst/>
          </a:prstGeom>
          <a:solidFill>
            <a:schemeClr val="accent1"/>
          </a:solidFill>
          <a:ln w="38100">
            <a:solidFill>
              <a:srgbClr val="FF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Text Box 13"/>
          <p:cNvSpPr txBox="1">
            <a:spLocks noChangeArrowheads="1"/>
          </p:cNvSpPr>
          <p:nvPr/>
        </p:nvSpPr>
        <p:spPr bwMode="auto">
          <a:xfrm>
            <a:off x="2411760" y="5226199"/>
            <a:ext cx="1244600" cy="434975"/>
          </a:xfrm>
          <a:prstGeom prst="rect">
            <a:avLst/>
          </a:prstGeom>
          <a:noFill/>
          <a:ln w="38100">
            <a:solidFill>
              <a:srgbClr val="FF006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solidFill>
                  <a:srgbClr val="009900"/>
                </a:solidFill>
                <a:ea typeface="宋体" panose="02010600030101010101" pitchFamily="2" charset="-122"/>
              </a:rPr>
              <a:t>选择通道</a:t>
            </a:r>
          </a:p>
        </p:txBody>
      </p:sp>
      <p:sp>
        <p:nvSpPr>
          <p:cNvPr id="11" name="AutoShape 14"/>
          <p:cNvSpPr>
            <a:spLocks noChangeArrowheads="1"/>
          </p:cNvSpPr>
          <p:nvPr/>
        </p:nvSpPr>
        <p:spPr bwMode="auto">
          <a:xfrm>
            <a:off x="4400898" y="4764236"/>
            <a:ext cx="192087" cy="174625"/>
          </a:xfrm>
          <a:prstGeom prst="flowChartConnector">
            <a:avLst/>
          </a:prstGeom>
          <a:solidFill>
            <a:schemeClr val="accent1"/>
          </a:solidFill>
          <a:ln w="9525">
            <a:solidFill>
              <a:srgbClr val="FF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AutoShape 15"/>
          <p:cNvSpPr>
            <a:spLocks noChangeArrowheads="1"/>
          </p:cNvSpPr>
          <p:nvPr/>
        </p:nvSpPr>
        <p:spPr bwMode="auto">
          <a:xfrm>
            <a:off x="4400898" y="5346849"/>
            <a:ext cx="192087" cy="174625"/>
          </a:xfrm>
          <a:prstGeom prst="flowChartConnector">
            <a:avLst/>
          </a:prstGeom>
          <a:solidFill>
            <a:schemeClr val="accent1"/>
          </a:solidFill>
          <a:ln w="9525">
            <a:solidFill>
              <a:srgbClr val="FF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AutoShape 16"/>
          <p:cNvSpPr>
            <a:spLocks noChangeArrowheads="1"/>
          </p:cNvSpPr>
          <p:nvPr/>
        </p:nvSpPr>
        <p:spPr bwMode="auto">
          <a:xfrm>
            <a:off x="4400898" y="5870724"/>
            <a:ext cx="192087" cy="174625"/>
          </a:xfrm>
          <a:prstGeom prst="flowChartConnector">
            <a:avLst/>
          </a:prstGeom>
          <a:solidFill>
            <a:schemeClr val="accent1"/>
          </a:solidFill>
          <a:ln w="9525">
            <a:solidFill>
              <a:srgbClr val="FF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7"/>
          <p:cNvSpPr>
            <a:spLocks noChangeShapeType="1"/>
          </p:cNvSpPr>
          <p:nvPr/>
        </p:nvSpPr>
        <p:spPr bwMode="auto">
          <a:xfrm flipV="1">
            <a:off x="4592985" y="4705499"/>
            <a:ext cx="514350" cy="11588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8"/>
          <p:cNvSpPr>
            <a:spLocks noChangeShapeType="1"/>
          </p:cNvSpPr>
          <p:nvPr/>
        </p:nvSpPr>
        <p:spPr bwMode="auto">
          <a:xfrm>
            <a:off x="4592985" y="5462736"/>
            <a:ext cx="51435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9"/>
          <p:cNvSpPr>
            <a:spLocks noChangeShapeType="1"/>
          </p:cNvSpPr>
          <p:nvPr/>
        </p:nvSpPr>
        <p:spPr bwMode="auto">
          <a:xfrm>
            <a:off x="4592985" y="5986611"/>
            <a:ext cx="514350" cy="2333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20"/>
          <p:cNvSpPr>
            <a:spLocks noChangeShapeType="1"/>
          </p:cNvSpPr>
          <p:nvPr/>
        </p:nvSpPr>
        <p:spPr bwMode="auto">
          <a:xfrm flipV="1">
            <a:off x="3823048" y="4938861"/>
            <a:ext cx="577850" cy="407988"/>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6038344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通道控制方式</a:t>
            </a:r>
          </a:p>
        </p:txBody>
      </p:sp>
      <p:sp>
        <p:nvSpPr>
          <p:cNvPr id="3" name="Content Placeholder 2"/>
          <p:cNvSpPr>
            <a:spLocks noGrp="1"/>
          </p:cNvSpPr>
          <p:nvPr>
            <p:ph idx="1"/>
          </p:nvPr>
        </p:nvSpPr>
        <p:spPr/>
        <p:txBody>
          <a:bodyPr>
            <a:normAutofit/>
          </a:bodyPr>
          <a:lstStyle/>
          <a:p>
            <a:r>
              <a:rPr lang="zh-CN" altLang="en-US" dirty="0"/>
              <a:t>成组多路通道</a:t>
            </a:r>
            <a:endParaRPr lang="en-US" altLang="zh-CN" dirty="0"/>
          </a:p>
          <a:p>
            <a:pPr lvl="1"/>
            <a:r>
              <a:rPr lang="zh-CN" altLang="en-US" dirty="0"/>
              <a:t>允许先为一台设备执行一条通道指令，然后自动转接，为另一台设备执行一条通道指令</a:t>
            </a:r>
            <a:endParaRPr lang="en-US" altLang="zh-CN" dirty="0"/>
          </a:p>
          <a:p>
            <a:pPr lvl="1"/>
            <a:r>
              <a:rPr lang="zh-CN" altLang="en-US" dirty="0"/>
              <a:t>主要连接高速设备</a:t>
            </a:r>
            <a:endParaRPr lang="en-US" altLang="zh-CN" dirty="0"/>
          </a:p>
          <a:p>
            <a:pPr lvl="1"/>
            <a:r>
              <a:rPr lang="zh-CN" altLang="en-US" dirty="0"/>
              <a:t>对于连接多台磁盘的成组多路通道，可以启动它们同时执行移臂定位操作，按序交叉的传输一批数据</a:t>
            </a:r>
            <a:endParaRPr lang="en-US" altLang="zh-CN" dirty="0"/>
          </a:p>
          <a:p>
            <a:pPr lvl="1"/>
            <a:r>
              <a:rPr lang="zh-CN" altLang="en-US" dirty="0">
                <a:solidFill>
                  <a:srgbClr val="0000FF"/>
                </a:solidFill>
              </a:rPr>
              <a:t>成组多路通道实际上是对通道程序采用多道程序设计的硬件实现</a:t>
            </a:r>
            <a:endParaRPr lang="en-US" altLang="zh-CN" dirty="0">
              <a:solidFill>
                <a:srgbClr val="0000FF"/>
              </a:solidFill>
            </a:endParaRPr>
          </a:p>
          <a:p>
            <a:pPr lvl="1"/>
            <a:r>
              <a:rPr lang="zh-CN" altLang="en-US" dirty="0"/>
              <a:t>能够结合选择通道速度高和字节多路通道能分时并行操作的优点</a:t>
            </a:r>
          </a:p>
        </p:txBody>
      </p:sp>
      <p:sp>
        <p:nvSpPr>
          <p:cNvPr id="4" name="Date Placeholder 3"/>
          <p:cNvSpPr>
            <a:spLocks noGrp="1"/>
          </p:cNvSpPr>
          <p:nvPr>
            <p:ph type="dt" sz="half" idx="10"/>
          </p:nvPr>
        </p:nvSpPr>
        <p:spPr/>
        <p:txBody>
          <a:bodyPr/>
          <a:lstStyle/>
          <a:p>
            <a:fld id="{5D4A7314-431E-442B-BD80-00C053371FB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29</a:t>
            </a:fld>
            <a:endParaRPr lang="zh-CN" altLang="en-US" dirty="0"/>
          </a:p>
        </p:txBody>
      </p:sp>
    </p:spTree>
    <p:extLst>
      <p:ext uri="{BB962C8B-B14F-4D97-AF65-F5344CB8AC3E}">
        <p14:creationId xmlns:p14="http://schemas.microsoft.com/office/powerpoint/2010/main" val="9170222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通道控制方式</a:t>
            </a:r>
          </a:p>
        </p:txBody>
      </p:sp>
      <p:sp>
        <p:nvSpPr>
          <p:cNvPr id="3" name="Content Placeholder 2"/>
          <p:cNvSpPr>
            <a:spLocks noGrp="1"/>
          </p:cNvSpPr>
          <p:nvPr>
            <p:ph idx="1"/>
          </p:nvPr>
        </p:nvSpPr>
        <p:spPr/>
        <p:txBody>
          <a:bodyPr/>
          <a:lstStyle/>
          <a:p>
            <a:r>
              <a:rPr lang="zh-CN" altLang="en-US" dirty="0"/>
              <a:t>通道的硬件连接结构</a:t>
            </a:r>
          </a:p>
        </p:txBody>
      </p:sp>
      <p:sp>
        <p:nvSpPr>
          <p:cNvPr id="4" name="Date Placeholder 3"/>
          <p:cNvSpPr>
            <a:spLocks noGrp="1"/>
          </p:cNvSpPr>
          <p:nvPr>
            <p:ph type="dt" sz="half" idx="10"/>
          </p:nvPr>
        </p:nvSpPr>
        <p:spPr/>
        <p:txBody>
          <a:bodyPr/>
          <a:lstStyle/>
          <a:p>
            <a:fld id="{E8EA4108-6B3A-4D8E-805A-91518D9332DC}"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30</a:t>
            </a:fld>
            <a:endParaRPr lang="zh-CN" altLang="en-US" dirty="0"/>
          </a:p>
        </p:txBody>
      </p:sp>
      <p:sp>
        <p:nvSpPr>
          <p:cNvPr id="7" name="Rectangle 5"/>
          <p:cNvSpPr>
            <a:spLocks noChangeArrowheads="1"/>
          </p:cNvSpPr>
          <p:nvPr/>
        </p:nvSpPr>
        <p:spPr bwMode="auto">
          <a:xfrm>
            <a:off x="899046" y="2780928"/>
            <a:ext cx="1295400" cy="6477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ea typeface="宋体" panose="02010600030101010101" pitchFamily="2" charset="-122"/>
              </a:rPr>
              <a:t>CPU</a:t>
            </a:r>
          </a:p>
        </p:txBody>
      </p:sp>
      <p:sp>
        <p:nvSpPr>
          <p:cNvPr id="8" name="Rectangle 6"/>
          <p:cNvSpPr>
            <a:spLocks noChangeArrowheads="1"/>
          </p:cNvSpPr>
          <p:nvPr/>
        </p:nvSpPr>
        <p:spPr bwMode="auto">
          <a:xfrm>
            <a:off x="899046" y="4004891"/>
            <a:ext cx="1295400" cy="6477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b="1">
                <a:ea typeface="宋体" panose="02010600030101010101" pitchFamily="2" charset="-122"/>
              </a:rPr>
              <a:t>内存</a:t>
            </a:r>
          </a:p>
        </p:txBody>
      </p:sp>
      <p:sp>
        <p:nvSpPr>
          <p:cNvPr id="9" name="Rectangle 7"/>
          <p:cNvSpPr>
            <a:spLocks noChangeArrowheads="1"/>
          </p:cNvSpPr>
          <p:nvPr/>
        </p:nvSpPr>
        <p:spPr bwMode="auto">
          <a:xfrm>
            <a:off x="2915171" y="4004891"/>
            <a:ext cx="1295400" cy="6477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b="1">
                <a:ea typeface="宋体" panose="02010600030101010101" pitchFamily="2" charset="-122"/>
              </a:rPr>
              <a:t>通道</a:t>
            </a:r>
          </a:p>
        </p:txBody>
      </p:sp>
      <p:sp>
        <p:nvSpPr>
          <p:cNvPr id="10" name="Rectangle 8"/>
          <p:cNvSpPr>
            <a:spLocks noChangeArrowheads="1"/>
          </p:cNvSpPr>
          <p:nvPr/>
        </p:nvSpPr>
        <p:spPr bwMode="auto">
          <a:xfrm>
            <a:off x="4955108" y="3995366"/>
            <a:ext cx="1295400" cy="6477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b="1">
                <a:ea typeface="宋体" panose="02010600030101010101" pitchFamily="2" charset="-122"/>
              </a:rPr>
              <a:t>控制</a:t>
            </a:r>
          </a:p>
        </p:txBody>
      </p:sp>
      <p:sp>
        <p:nvSpPr>
          <p:cNvPr id="11" name="Rectangle 9"/>
          <p:cNvSpPr>
            <a:spLocks noChangeArrowheads="1"/>
          </p:cNvSpPr>
          <p:nvPr/>
        </p:nvSpPr>
        <p:spPr bwMode="auto">
          <a:xfrm>
            <a:off x="6949008" y="4004891"/>
            <a:ext cx="1295400" cy="6477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b="1">
                <a:ea typeface="宋体" panose="02010600030101010101" pitchFamily="2" charset="-122"/>
              </a:rPr>
              <a:t>设备</a:t>
            </a:r>
          </a:p>
        </p:txBody>
      </p:sp>
      <p:sp>
        <p:nvSpPr>
          <p:cNvPr id="12" name="AutoShape 10"/>
          <p:cNvSpPr>
            <a:spLocks noChangeArrowheads="1"/>
          </p:cNvSpPr>
          <p:nvPr/>
        </p:nvSpPr>
        <p:spPr bwMode="auto">
          <a:xfrm>
            <a:off x="2196033" y="4220791"/>
            <a:ext cx="719138" cy="215900"/>
          </a:xfrm>
          <a:prstGeom prst="leftRightArrow">
            <a:avLst>
              <a:gd name="adj1" fmla="val 50000"/>
              <a:gd name="adj2" fmla="val 6661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AutoShape 11"/>
          <p:cNvSpPr>
            <a:spLocks noChangeArrowheads="1"/>
          </p:cNvSpPr>
          <p:nvPr/>
        </p:nvSpPr>
        <p:spPr bwMode="auto">
          <a:xfrm>
            <a:off x="4212158" y="4220791"/>
            <a:ext cx="719138" cy="215900"/>
          </a:xfrm>
          <a:prstGeom prst="leftRightArrow">
            <a:avLst>
              <a:gd name="adj1" fmla="val 50000"/>
              <a:gd name="adj2" fmla="val 6661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AutoShape 12"/>
          <p:cNvSpPr>
            <a:spLocks noChangeArrowheads="1"/>
          </p:cNvSpPr>
          <p:nvPr/>
        </p:nvSpPr>
        <p:spPr bwMode="auto">
          <a:xfrm>
            <a:off x="6228283" y="4220791"/>
            <a:ext cx="719138" cy="215900"/>
          </a:xfrm>
          <a:prstGeom prst="leftRightArrow">
            <a:avLst>
              <a:gd name="adj1" fmla="val 50000"/>
              <a:gd name="adj2" fmla="val 6661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3"/>
          <p:cNvSpPr>
            <a:spLocks noChangeShapeType="1"/>
          </p:cNvSpPr>
          <p:nvPr/>
        </p:nvSpPr>
        <p:spPr bwMode="auto">
          <a:xfrm>
            <a:off x="1548333" y="3428628"/>
            <a:ext cx="0" cy="576263"/>
          </a:xfrm>
          <a:prstGeom prst="line">
            <a:avLst/>
          </a:prstGeom>
          <a:noFill/>
          <a:ln w="28575">
            <a:solidFill>
              <a:srgbClr val="00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4"/>
          <p:cNvSpPr>
            <a:spLocks noChangeShapeType="1"/>
          </p:cNvSpPr>
          <p:nvPr/>
        </p:nvSpPr>
        <p:spPr bwMode="auto">
          <a:xfrm>
            <a:off x="2196033" y="3068266"/>
            <a:ext cx="1295400" cy="936625"/>
          </a:xfrm>
          <a:prstGeom prst="line">
            <a:avLst/>
          </a:prstGeom>
          <a:noFill/>
          <a:ln w="28575">
            <a:solidFill>
              <a:schemeClr val="tx1"/>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9142251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通道控制方式</a:t>
            </a:r>
          </a:p>
        </p:txBody>
      </p:sp>
      <p:sp>
        <p:nvSpPr>
          <p:cNvPr id="3" name="Content Placeholder 2"/>
          <p:cNvSpPr>
            <a:spLocks noGrp="1"/>
          </p:cNvSpPr>
          <p:nvPr>
            <p:ph idx="1"/>
          </p:nvPr>
        </p:nvSpPr>
        <p:spPr/>
        <p:txBody>
          <a:bodyPr/>
          <a:lstStyle/>
          <a:p>
            <a:r>
              <a:rPr lang="zh-CN" altLang="en-US" dirty="0"/>
              <a:t>设备、控制器、通道、内存之间的关系</a:t>
            </a:r>
            <a:endParaRPr lang="en-US" altLang="zh-CN" dirty="0"/>
          </a:p>
          <a:p>
            <a:r>
              <a:rPr lang="zh-CN" altLang="en-US" dirty="0">
                <a:solidFill>
                  <a:srgbClr val="0000FF"/>
                </a:solidFill>
              </a:rPr>
              <a:t>单通道</a:t>
            </a:r>
            <a:r>
              <a:rPr lang="en-US" altLang="zh-CN" dirty="0">
                <a:solidFill>
                  <a:srgbClr val="0000FF"/>
                </a:solidFill>
              </a:rPr>
              <a:t>I/O</a:t>
            </a:r>
            <a:r>
              <a:rPr lang="zh-CN" altLang="en-US" dirty="0">
                <a:solidFill>
                  <a:srgbClr val="0000FF"/>
                </a:solidFill>
              </a:rPr>
              <a:t>系统</a:t>
            </a:r>
          </a:p>
        </p:txBody>
      </p:sp>
      <p:sp>
        <p:nvSpPr>
          <p:cNvPr id="4" name="Date Placeholder 3"/>
          <p:cNvSpPr>
            <a:spLocks noGrp="1"/>
          </p:cNvSpPr>
          <p:nvPr>
            <p:ph type="dt" sz="half" idx="10"/>
          </p:nvPr>
        </p:nvSpPr>
        <p:spPr/>
        <p:txBody>
          <a:bodyPr/>
          <a:lstStyle/>
          <a:p>
            <a:fld id="{1DD8A1D3-90FB-422A-88E7-BE84366D6168}"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31</a:t>
            </a:fld>
            <a:endParaRPr lang="zh-CN" altLang="en-US" dirty="0"/>
          </a:p>
        </p:txBody>
      </p:sp>
      <p:sp>
        <p:nvSpPr>
          <p:cNvPr id="7" name="Line 26"/>
          <p:cNvSpPr>
            <a:spLocks noChangeShapeType="1"/>
          </p:cNvSpPr>
          <p:nvPr/>
        </p:nvSpPr>
        <p:spPr bwMode="auto">
          <a:xfrm flipV="1">
            <a:off x="1724545" y="3087141"/>
            <a:ext cx="6858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Line 27"/>
          <p:cNvSpPr>
            <a:spLocks noChangeShapeType="1"/>
          </p:cNvSpPr>
          <p:nvPr/>
        </p:nvSpPr>
        <p:spPr bwMode="auto">
          <a:xfrm>
            <a:off x="1724545" y="4153941"/>
            <a:ext cx="68580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Line 28"/>
          <p:cNvSpPr>
            <a:spLocks noChangeShapeType="1"/>
          </p:cNvSpPr>
          <p:nvPr/>
        </p:nvSpPr>
        <p:spPr bwMode="auto">
          <a:xfrm flipV="1">
            <a:off x="3477145" y="2448966"/>
            <a:ext cx="1066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29"/>
          <p:cNvSpPr>
            <a:spLocks noChangeShapeType="1"/>
          </p:cNvSpPr>
          <p:nvPr/>
        </p:nvSpPr>
        <p:spPr bwMode="auto">
          <a:xfrm>
            <a:off x="3477145" y="3163341"/>
            <a:ext cx="1066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30"/>
          <p:cNvSpPr>
            <a:spLocks noChangeShapeType="1"/>
          </p:cNvSpPr>
          <p:nvPr/>
        </p:nvSpPr>
        <p:spPr bwMode="auto">
          <a:xfrm flipV="1">
            <a:off x="3477145" y="4687341"/>
            <a:ext cx="1066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31"/>
          <p:cNvSpPr>
            <a:spLocks noChangeShapeType="1"/>
          </p:cNvSpPr>
          <p:nvPr/>
        </p:nvSpPr>
        <p:spPr bwMode="auto">
          <a:xfrm>
            <a:off x="3477145" y="5296941"/>
            <a:ext cx="1066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32"/>
          <p:cNvSpPr>
            <a:spLocks noChangeShapeType="1"/>
          </p:cNvSpPr>
          <p:nvPr/>
        </p:nvSpPr>
        <p:spPr bwMode="auto">
          <a:xfrm flipV="1">
            <a:off x="5839345" y="2248941"/>
            <a:ext cx="11430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33"/>
          <p:cNvSpPr>
            <a:spLocks noChangeShapeType="1"/>
          </p:cNvSpPr>
          <p:nvPr/>
        </p:nvSpPr>
        <p:spPr bwMode="auto">
          <a:xfrm>
            <a:off x="5839345" y="2587079"/>
            <a:ext cx="11430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34"/>
          <p:cNvSpPr>
            <a:spLocks noChangeShapeType="1"/>
          </p:cNvSpPr>
          <p:nvPr/>
        </p:nvSpPr>
        <p:spPr bwMode="auto">
          <a:xfrm flipV="1">
            <a:off x="5839345" y="3315741"/>
            <a:ext cx="11430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35"/>
          <p:cNvSpPr>
            <a:spLocks noChangeShapeType="1"/>
          </p:cNvSpPr>
          <p:nvPr/>
        </p:nvSpPr>
        <p:spPr bwMode="auto">
          <a:xfrm>
            <a:off x="5839345" y="3620541"/>
            <a:ext cx="11430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36"/>
          <p:cNvSpPr>
            <a:spLocks noChangeShapeType="1"/>
          </p:cNvSpPr>
          <p:nvPr/>
        </p:nvSpPr>
        <p:spPr bwMode="auto">
          <a:xfrm flipV="1">
            <a:off x="5867920" y="4349204"/>
            <a:ext cx="1143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37"/>
          <p:cNvSpPr>
            <a:spLocks noChangeShapeType="1"/>
          </p:cNvSpPr>
          <p:nvPr/>
        </p:nvSpPr>
        <p:spPr bwMode="auto">
          <a:xfrm>
            <a:off x="5839345" y="4734966"/>
            <a:ext cx="12192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38"/>
          <p:cNvSpPr>
            <a:spLocks noChangeShapeType="1"/>
          </p:cNvSpPr>
          <p:nvPr/>
        </p:nvSpPr>
        <p:spPr bwMode="auto">
          <a:xfrm flipV="1">
            <a:off x="5853633" y="5373141"/>
            <a:ext cx="1219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39"/>
          <p:cNvSpPr>
            <a:spLocks noChangeShapeType="1"/>
          </p:cNvSpPr>
          <p:nvPr/>
        </p:nvSpPr>
        <p:spPr bwMode="auto">
          <a:xfrm>
            <a:off x="5839345" y="5830341"/>
            <a:ext cx="12192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Text Box 11"/>
          <p:cNvSpPr txBox="1">
            <a:spLocks noChangeArrowheads="1"/>
          </p:cNvSpPr>
          <p:nvPr/>
        </p:nvSpPr>
        <p:spPr bwMode="auto">
          <a:xfrm>
            <a:off x="719658" y="3939629"/>
            <a:ext cx="990600" cy="406400"/>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宋体" panose="02010600030101010101" pitchFamily="2" charset="-122"/>
              </a:rPr>
              <a:t>存储器</a:t>
            </a:r>
          </a:p>
        </p:txBody>
      </p:sp>
      <p:sp>
        <p:nvSpPr>
          <p:cNvPr id="22" name="Text Box 12"/>
          <p:cNvSpPr txBox="1">
            <a:spLocks noChangeArrowheads="1"/>
          </p:cNvSpPr>
          <p:nvPr/>
        </p:nvSpPr>
        <p:spPr bwMode="auto">
          <a:xfrm>
            <a:off x="2424633" y="2858541"/>
            <a:ext cx="1066800" cy="4064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宋体" panose="02010600030101010101" pitchFamily="2" charset="-122"/>
              </a:rPr>
              <a:t>通道</a:t>
            </a:r>
            <a:r>
              <a:rPr lang="en-US" altLang="zh-CN" sz="2000" b="1">
                <a:ea typeface="宋体" panose="02010600030101010101" pitchFamily="2" charset="-122"/>
              </a:rPr>
              <a:t>1</a:t>
            </a:r>
          </a:p>
        </p:txBody>
      </p:sp>
      <p:sp>
        <p:nvSpPr>
          <p:cNvPr id="23" name="Text Box 13"/>
          <p:cNvSpPr txBox="1">
            <a:spLocks noChangeArrowheads="1"/>
          </p:cNvSpPr>
          <p:nvPr/>
        </p:nvSpPr>
        <p:spPr bwMode="auto">
          <a:xfrm>
            <a:off x="2410345" y="5042941"/>
            <a:ext cx="1066800" cy="4064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宋体" panose="02010600030101010101" pitchFamily="2" charset="-122"/>
              </a:rPr>
              <a:t>通道</a:t>
            </a:r>
            <a:r>
              <a:rPr lang="en-US" altLang="zh-CN" sz="2000" b="1">
                <a:ea typeface="宋体" panose="02010600030101010101" pitchFamily="2" charset="-122"/>
              </a:rPr>
              <a:t>2</a:t>
            </a:r>
          </a:p>
        </p:txBody>
      </p:sp>
      <p:sp>
        <p:nvSpPr>
          <p:cNvPr id="24" name="Text Box 14"/>
          <p:cNvSpPr txBox="1">
            <a:spLocks noChangeArrowheads="1"/>
          </p:cNvSpPr>
          <p:nvPr/>
        </p:nvSpPr>
        <p:spPr bwMode="auto">
          <a:xfrm>
            <a:off x="4543945" y="2325141"/>
            <a:ext cx="1295400" cy="406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宋体" panose="02010600030101010101" pitchFamily="2" charset="-122"/>
              </a:rPr>
              <a:t>控制器</a:t>
            </a:r>
            <a:r>
              <a:rPr lang="en-US" altLang="zh-CN" sz="2000" b="1">
                <a:ea typeface="宋体" panose="02010600030101010101" pitchFamily="2" charset="-122"/>
              </a:rPr>
              <a:t>1</a:t>
            </a:r>
          </a:p>
        </p:txBody>
      </p:sp>
      <p:sp>
        <p:nvSpPr>
          <p:cNvPr id="25" name="Text Box 15"/>
          <p:cNvSpPr txBox="1">
            <a:spLocks noChangeArrowheads="1"/>
          </p:cNvSpPr>
          <p:nvPr/>
        </p:nvSpPr>
        <p:spPr bwMode="auto">
          <a:xfrm>
            <a:off x="4543945" y="3372891"/>
            <a:ext cx="1295400" cy="406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宋体" panose="02010600030101010101" pitchFamily="2" charset="-122"/>
              </a:rPr>
              <a:t>控制器</a:t>
            </a:r>
            <a:r>
              <a:rPr lang="en-US" altLang="zh-CN" sz="2000" b="1">
                <a:ea typeface="宋体" panose="02010600030101010101" pitchFamily="2" charset="-122"/>
              </a:rPr>
              <a:t>2</a:t>
            </a:r>
          </a:p>
        </p:txBody>
      </p:sp>
      <p:sp>
        <p:nvSpPr>
          <p:cNvPr id="26" name="Text Box 16"/>
          <p:cNvSpPr txBox="1">
            <a:spLocks noChangeArrowheads="1"/>
          </p:cNvSpPr>
          <p:nvPr/>
        </p:nvSpPr>
        <p:spPr bwMode="auto">
          <a:xfrm>
            <a:off x="6982345" y="2025104"/>
            <a:ext cx="1233488" cy="406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ea typeface="宋体" panose="02010600030101010101" pitchFamily="2" charset="-122"/>
              </a:rPr>
              <a:t>I/O</a:t>
            </a:r>
            <a:r>
              <a:rPr lang="zh-CN" altLang="en-US" sz="2000" b="1">
                <a:ea typeface="宋体" panose="02010600030101010101" pitchFamily="2" charset="-122"/>
              </a:rPr>
              <a:t>设备</a:t>
            </a:r>
            <a:r>
              <a:rPr lang="en-US" altLang="zh-CN" sz="2000" b="1">
                <a:ea typeface="宋体" panose="02010600030101010101" pitchFamily="2" charset="-122"/>
              </a:rPr>
              <a:t>1</a:t>
            </a:r>
          </a:p>
        </p:txBody>
      </p:sp>
      <p:sp>
        <p:nvSpPr>
          <p:cNvPr id="27" name="Text Box 17"/>
          <p:cNvSpPr txBox="1">
            <a:spLocks noChangeArrowheads="1"/>
          </p:cNvSpPr>
          <p:nvPr/>
        </p:nvSpPr>
        <p:spPr bwMode="auto">
          <a:xfrm>
            <a:off x="6996633" y="2558504"/>
            <a:ext cx="1219200" cy="406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ea typeface="宋体" panose="02010600030101010101" pitchFamily="2" charset="-122"/>
              </a:rPr>
              <a:t>I/O</a:t>
            </a:r>
            <a:r>
              <a:rPr lang="zh-CN" altLang="en-US" sz="2000" b="1">
                <a:ea typeface="宋体" panose="02010600030101010101" pitchFamily="2" charset="-122"/>
              </a:rPr>
              <a:t>设备</a:t>
            </a:r>
            <a:r>
              <a:rPr lang="en-US" altLang="zh-CN" sz="2000" b="1">
                <a:ea typeface="宋体" panose="02010600030101010101" pitchFamily="2" charset="-122"/>
              </a:rPr>
              <a:t>2</a:t>
            </a:r>
          </a:p>
        </p:txBody>
      </p:sp>
      <p:sp>
        <p:nvSpPr>
          <p:cNvPr id="28" name="Text Box 18"/>
          <p:cNvSpPr txBox="1">
            <a:spLocks noChangeArrowheads="1"/>
          </p:cNvSpPr>
          <p:nvPr/>
        </p:nvSpPr>
        <p:spPr bwMode="auto">
          <a:xfrm>
            <a:off x="6996633" y="3091904"/>
            <a:ext cx="1219200" cy="406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ea typeface="宋体" panose="02010600030101010101" pitchFamily="2" charset="-122"/>
              </a:rPr>
              <a:t>I/O</a:t>
            </a:r>
            <a:r>
              <a:rPr lang="zh-CN" altLang="en-US" sz="2000" b="1">
                <a:ea typeface="宋体" panose="02010600030101010101" pitchFamily="2" charset="-122"/>
              </a:rPr>
              <a:t>设备</a:t>
            </a:r>
            <a:r>
              <a:rPr lang="en-US" altLang="zh-CN" sz="2000" b="1">
                <a:ea typeface="宋体" panose="02010600030101010101" pitchFamily="2" charset="-122"/>
              </a:rPr>
              <a:t>3</a:t>
            </a:r>
          </a:p>
        </p:txBody>
      </p:sp>
      <p:sp>
        <p:nvSpPr>
          <p:cNvPr id="29" name="Text Box 19"/>
          <p:cNvSpPr txBox="1">
            <a:spLocks noChangeArrowheads="1"/>
          </p:cNvSpPr>
          <p:nvPr/>
        </p:nvSpPr>
        <p:spPr bwMode="auto">
          <a:xfrm>
            <a:off x="6996633" y="3625304"/>
            <a:ext cx="1219200" cy="406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ea typeface="宋体" panose="02010600030101010101" pitchFamily="2" charset="-122"/>
              </a:rPr>
              <a:t>I/O</a:t>
            </a:r>
            <a:r>
              <a:rPr lang="zh-CN" altLang="en-US" sz="2000" b="1">
                <a:ea typeface="宋体" panose="02010600030101010101" pitchFamily="2" charset="-122"/>
              </a:rPr>
              <a:t>设备</a:t>
            </a:r>
            <a:r>
              <a:rPr lang="en-US" altLang="zh-CN" sz="2000" b="1">
                <a:ea typeface="宋体" panose="02010600030101010101" pitchFamily="2" charset="-122"/>
              </a:rPr>
              <a:t>4</a:t>
            </a:r>
          </a:p>
        </p:txBody>
      </p:sp>
      <p:sp>
        <p:nvSpPr>
          <p:cNvPr id="30" name="Text Box 20"/>
          <p:cNvSpPr txBox="1">
            <a:spLocks noChangeArrowheads="1"/>
          </p:cNvSpPr>
          <p:nvPr/>
        </p:nvSpPr>
        <p:spPr bwMode="auto">
          <a:xfrm>
            <a:off x="4562995" y="4461916"/>
            <a:ext cx="1295400" cy="406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宋体" panose="02010600030101010101" pitchFamily="2" charset="-122"/>
              </a:rPr>
              <a:t>控制器</a:t>
            </a:r>
            <a:r>
              <a:rPr lang="en-US" altLang="zh-CN" sz="2000" b="1">
                <a:ea typeface="宋体" panose="02010600030101010101" pitchFamily="2" charset="-122"/>
              </a:rPr>
              <a:t>1</a:t>
            </a:r>
          </a:p>
        </p:txBody>
      </p:sp>
      <p:sp>
        <p:nvSpPr>
          <p:cNvPr id="31" name="Text Box 21"/>
          <p:cNvSpPr txBox="1">
            <a:spLocks noChangeArrowheads="1"/>
          </p:cNvSpPr>
          <p:nvPr/>
        </p:nvSpPr>
        <p:spPr bwMode="auto">
          <a:xfrm>
            <a:off x="4562995" y="5523954"/>
            <a:ext cx="1295400" cy="406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宋体" panose="02010600030101010101" pitchFamily="2" charset="-122"/>
              </a:rPr>
              <a:t>控制器</a:t>
            </a:r>
            <a:r>
              <a:rPr lang="en-US" altLang="zh-CN" sz="2000" b="1">
                <a:ea typeface="宋体" panose="02010600030101010101" pitchFamily="2" charset="-122"/>
              </a:rPr>
              <a:t>2</a:t>
            </a:r>
          </a:p>
        </p:txBody>
      </p:sp>
      <p:sp>
        <p:nvSpPr>
          <p:cNvPr id="32" name="Text Box 22"/>
          <p:cNvSpPr txBox="1">
            <a:spLocks noChangeArrowheads="1"/>
          </p:cNvSpPr>
          <p:nvPr/>
        </p:nvSpPr>
        <p:spPr bwMode="auto">
          <a:xfrm>
            <a:off x="7010920" y="4158704"/>
            <a:ext cx="1233488" cy="406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ea typeface="宋体" panose="02010600030101010101" pitchFamily="2" charset="-122"/>
              </a:rPr>
              <a:t>I/O</a:t>
            </a:r>
            <a:r>
              <a:rPr lang="zh-CN" altLang="en-US" sz="2000" b="1">
                <a:ea typeface="宋体" panose="02010600030101010101" pitchFamily="2" charset="-122"/>
              </a:rPr>
              <a:t>设备</a:t>
            </a:r>
            <a:r>
              <a:rPr lang="en-US" altLang="zh-CN" sz="2000" b="1">
                <a:ea typeface="宋体" panose="02010600030101010101" pitchFamily="2" charset="-122"/>
              </a:rPr>
              <a:t>5</a:t>
            </a:r>
          </a:p>
        </p:txBody>
      </p:sp>
      <p:sp>
        <p:nvSpPr>
          <p:cNvPr id="33" name="Text Box 23"/>
          <p:cNvSpPr txBox="1">
            <a:spLocks noChangeArrowheads="1"/>
          </p:cNvSpPr>
          <p:nvPr/>
        </p:nvSpPr>
        <p:spPr bwMode="auto">
          <a:xfrm>
            <a:off x="7025208" y="4692104"/>
            <a:ext cx="1219200" cy="406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ea typeface="宋体" panose="02010600030101010101" pitchFamily="2" charset="-122"/>
              </a:rPr>
              <a:t>I/O</a:t>
            </a:r>
            <a:r>
              <a:rPr lang="zh-CN" altLang="en-US" sz="2000" b="1">
                <a:ea typeface="宋体" panose="02010600030101010101" pitchFamily="2" charset="-122"/>
              </a:rPr>
              <a:t>设备</a:t>
            </a:r>
            <a:r>
              <a:rPr lang="en-US" altLang="zh-CN" sz="2000" b="1">
                <a:ea typeface="宋体" panose="02010600030101010101" pitchFamily="2" charset="-122"/>
              </a:rPr>
              <a:t>6</a:t>
            </a:r>
          </a:p>
        </p:txBody>
      </p:sp>
      <p:sp>
        <p:nvSpPr>
          <p:cNvPr id="34" name="Text Box 24"/>
          <p:cNvSpPr txBox="1">
            <a:spLocks noChangeArrowheads="1"/>
          </p:cNvSpPr>
          <p:nvPr/>
        </p:nvSpPr>
        <p:spPr bwMode="auto">
          <a:xfrm>
            <a:off x="7025208" y="5225504"/>
            <a:ext cx="1219200" cy="406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ea typeface="宋体" panose="02010600030101010101" pitchFamily="2" charset="-122"/>
              </a:rPr>
              <a:t>I/O</a:t>
            </a:r>
            <a:r>
              <a:rPr lang="zh-CN" altLang="en-US" sz="2000" b="1">
                <a:ea typeface="宋体" panose="02010600030101010101" pitchFamily="2" charset="-122"/>
              </a:rPr>
              <a:t>设备</a:t>
            </a:r>
            <a:r>
              <a:rPr lang="en-US" altLang="zh-CN" sz="2000" b="1">
                <a:ea typeface="宋体" panose="02010600030101010101" pitchFamily="2" charset="-122"/>
              </a:rPr>
              <a:t>7</a:t>
            </a:r>
          </a:p>
        </p:txBody>
      </p:sp>
      <p:sp>
        <p:nvSpPr>
          <p:cNvPr id="35" name="Text Box 25"/>
          <p:cNvSpPr txBox="1">
            <a:spLocks noChangeArrowheads="1"/>
          </p:cNvSpPr>
          <p:nvPr/>
        </p:nvSpPr>
        <p:spPr bwMode="auto">
          <a:xfrm>
            <a:off x="7025208" y="5758904"/>
            <a:ext cx="1219200" cy="406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ea typeface="宋体" panose="02010600030101010101" pitchFamily="2" charset="-122"/>
              </a:rPr>
              <a:t>I/O</a:t>
            </a:r>
            <a:r>
              <a:rPr lang="zh-CN" altLang="en-US" sz="2000" b="1">
                <a:ea typeface="宋体" panose="02010600030101010101" pitchFamily="2" charset="-122"/>
              </a:rPr>
              <a:t>设备</a:t>
            </a:r>
            <a:r>
              <a:rPr lang="en-US" altLang="zh-CN" sz="2000" b="1">
                <a:ea typeface="宋体" panose="02010600030101010101" pitchFamily="2" charset="-122"/>
              </a:rPr>
              <a:t>8</a:t>
            </a:r>
          </a:p>
        </p:txBody>
      </p:sp>
    </p:spTree>
    <p:extLst>
      <p:ext uri="{BB962C8B-B14F-4D97-AF65-F5344CB8AC3E}">
        <p14:creationId xmlns:p14="http://schemas.microsoft.com/office/powerpoint/2010/main" val="4149849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通道控制方式</a:t>
            </a:r>
          </a:p>
        </p:txBody>
      </p:sp>
      <p:sp>
        <p:nvSpPr>
          <p:cNvPr id="3" name="Content Placeholder 2"/>
          <p:cNvSpPr>
            <a:spLocks noGrp="1"/>
          </p:cNvSpPr>
          <p:nvPr>
            <p:ph idx="1"/>
          </p:nvPr>
        </p:nvSpPr>
        <p:spPr/>
        <p:txBody>
          <a:bodyPr/>
          <a:lstStyle/>
          <a:p>
            <a:r>
              <a:rPr lang="zh-CN" altLang="en-US" dirty="0"/>
              <a:t>设备、控制器、通道、内存之间的关系</a:t>
            </a:r>
            <a:endParaRPr lang="en-US" altLang="zh-CN" dirty="0"/>
          </a:p>
          <a:p>
            <a:r>
              <a:rPr lang="zh-CN" altLang="en-US" dirty="0">
                <a:solidFill>
                  <a:srgbClr val="0000FF"/>
                </a:solidFill>
              </a:rPr>
              <a:t>多通道</a:t>
            </a:r>
            <a:r>
              <a:rPr lang="en-US" altLang="zh-CN" dirty="0">
                <a:solidFill>
                  <a:srgbClr val="0000FF"/>
                </a:solidFill>
              </a:rPr>
              <a:t>I/O</a:t>
            </a:r>
            <a:r>
              <a:rPr lang="zh-CN" altLang="en-US" dirty="0">
                <a:solidFill>
                  <a:srgbClr val="0000FF"/>
                </a:solidFill>
              </a:rPr>
              <a:t>系统，交叉连接</a:t>
            </a:r>
          </a:p>
        </p:txBody>
      </p:sp>
      <p:sp>
        <p:nvSpPr>
          <p:cNvPr id="4" name="Date Placeholder 3"/>
          <p:cNvSpPr>
            <a:spLocks noGrp="1"/>
          </p:cNvSpPr>
          <p:nvPr>
            <p:ph type="dt" sz="half" idx="10"/>
          </p:nvPr>
        </p:nvSpPr>
        <p:spPr/>
        <p:txBody>
          <a:bodyPr/>
          <a:lstStyle/>
          <a:p>
            <a:fld id="{D12EC118-968A-4F0A-8B50-A140FDAF4478}"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32</a:t>
            </a:fld>
            <a:endParaRPr lang="zh-CN" altLang="en-US" dirty="0"/>
          </a:p>
        </p:txBody>
      </p:sp>
      <p:sp>
        <p:nvSpPr>
          <p:cNvPr id="7" name="Line 19"/>
          <p:cNvSpPr>
            <a:spLocks noChangeShapeType="1"/>
          </p:cNvSpPr>
          <p:nvPr/>
        </p:nvSpPr>
        <p:spPr bwMode="auto">
          <a:xfrm>
            <a:off x="1507753" y="4344740"/>
            <a:ext cx="38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Line 20"/>
          <p:cNvSpPr>
            <a:spLocks noChangeShapeType="1"/>
          </p:cNvSpPr>
          <p:nvPr/>
        </p:nvSpPr>
        <p:spPr bwMode="auto">
          <a:xfrm>
            <a:off x="1507753" y="4511427"/>
            <a:ext cx="38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Line 21"/>
          <p:cNvSpPr>
            <a:spLocks noChangeShapeType="1"/>
          </p:cNvSpPr>
          <p:nvPr/>
        </p:nvSpPr>
        <p:spPr bwMode="auto">
          <a:xfrm flipV="1">
            <a:off x="1888753" y="3654177"/>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22"/>
          <p:cNvSpPr>
            <a:spLocks noChangeShapeType="1"/>
          </p:cNvSpPr>
          <p:nvPr/>
        </p:nvSpPr>
        <p:spPr bwMode="auto">
          <a:xfrm flipV="1">
            <a:off x="1888753" y="4525715"/>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23"/>
          <p:cNvSpPr>
            <a:spLocks noChangeShapeType="1"/>
          </p:cNvSpPr>
          <p:nvPr/>
        </p:nvSpPr>
        <p:spPr bwMode="auto">
          <a:xfrm>
            <a:off x="1888753" y="3654177"/>
            <a:ext cx="609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24"/>
          <p:cNvSpPr>
            <a:spLocks noChangeShapeType="1"/>
          </p:cNvSpPr>
          <p:nvPr/>
        </p:nvSpPr>
        <p:spPr bwMode="auto">
          <a:xfrm>
            <a:off x="1888753" y="5206752"/>
            <a:ext cx="609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25"/>
          <p:cNvSpPr>
            <a:spLocks noChangeShapeType="1"/>
          </p:cNvSpPr>
          <p:nvPr/>
        </p:nvSpPr>
        <p:spPr bwMode="auto">
          <a:xfrm>
            <a:off x="3579440" y="3549402"/>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26"/>
          <p:cNvSpPr>
            <a:spLocks noChangeShapeType="1"/>
          </p:cNvSpPr>
          <p:nvPr/>
        </p:nvSpPr>
        <p:spPr bwMode="auto">
          <a:xfrm>
            <a:off x="3579440" y="5116265"/>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27"/>
          <p:cNvSpPr>
            <a:spLocks noChangeShapeType="1"/>
          </p:cNvSpPr>
          <p:nvPr/>
        </p:nvSpPr>
        <p:spPr bwMode="auto">
          <a:xfrm>
            <a:off x="3946153" y="5244852"/>
            <a:ext cx="914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28"/>
          <p:cNvSpPr>
            <a:spLocks noChangeShapeType="1"/>
          </p:cNvSpPr>
          <p:nvPr/>
        </p:nvSpPr>
        <p:spPr bwMode="auto">
          <a:xfrm flipV="1">
            <a:off x="3946153" y="3549402"/>
            <a:ext cx="0" cy="1712913"/>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29"/>
          <p:cNvSpPr>
            <a:spLocks noChangeShapeType="1"/>
          </p:cNvSpPr>
          <p:nvPr/>
        </p:nvSpPr>
        <p:spPr bwMode="auto">
          <a:xfrm>
            <a:off x="4327153" y="3730377"/>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30"/>
          <p:cNvSpPr>
            <a:spLocks noChangeShapeType="1"/>
          </p:cNvSpPr>
          <p:nvPr/>
        </p:nvSpPr>
        <p:spPr bwMode="auto">
          <a:xfrm>
            <a:off x="4327153" y="3730377"/>
            <a:ext cx="0" cy="1371600"/>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31"/>
          <p:cNvSpPr>
            <a:spLocks noChangeShapeType="1"/>
          </p:cNvSpPr>
          <p:nvPr/>
        </p:nvSpPr>
        <p:spPr bwMode="auto">
          <a:xfrm>
            <a:off x="6536953" y="3120777"/>
            <a:ext cx="0" cy="228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32"/>
          <p:cNvSpPr>
            <a:spLocks noChangeShapeType="1"/>
          </p:cNvSpPr>
          <p:nvPr/>
        </p:nvSpPr>
        <p:spPr bwMode="auto">
          <a:xfrm>
            <a:off x="6917953" y="3268415"/>
            <a:ext cx="0" cy="228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33"/>
          <p:cNvSpPr>
            <a:spLocks noChangeShapeType="1"/>
          </p:cNvSpPr>
          <p:nvPr/>
        </p:nvSpPr>
        <p:spPr bwMode="auto">
          <a:xfrm>
            <a:off x="6522665" y="3120777"/>
            <a:ext cx="762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34"/>
          <p:cNvSpPr>
            <a:spLocks noChangeShapeType="1"/>
          </p:cNvSpPr>
          <p:nvPr/>
        </p:nvSpPr>
        <p:spPr bwMode="auto">
          <a:xfrm>
            <a:off x="6551240" y="3925640"/>
            <a:ext cx="762000" cy="0"/>
          </a:xfrm>
          <a:prstGeom prst="line">
            <a:avLst/>
          </a:prstGeom>
          <a:noFill/>
          <a:ln w="9525">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35"/>
          <p:cNvSpPr>
            <a:spLocks noChangeShapeType="1"/>
          </p:cNvSpPr>
          <p:nvPr/>
        </p:nvSpPr>
        <p:spPr bwMode="auto">
          <a:xfrm>
            <a:off x="6551240" y="4630490"/>
            <a:ext cx="762000" cy="0"/>
          </a:xfrm>
          <a:prstGeom prst="line">
            <a:avLst/>
          </a:prstGeom>
          <a:noFill/>
          <a:ln w="9525">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36"/>
          <p:cNvSpPr>
            <a:spLocks noChangeShapeType="1"/>
          </p:cNvSpPr>
          <p:nvPr/>
        </p:nvSpPr>
        <p:spPr bwMode="auto">
          <a:xfrm>
            <a:off x="6536953" y="5406777"/>
            <a:ext cx="762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37"/>
          <p:cNvSpPr>
            <a:spLocks noChangeShapeType="1"/>
          </p:cNvSpPr>
          <p:nvPr/>
        </p:nvSpPr>
        <p:spPr bwMode="auto">
          <a:xfrm>
            <a:off x="6917953" y="3273177"/>
            <a:ext cx="38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38"/>
          <p:cNvSpPr>
            <a:spLocks noChangeShapeType="1"/>
          </p:cNvSpPr>
          <p:nvPr/>
        </p:nvSpPr>
        <p:spPr bwMode="auto">
          <a:xfrm>
            <a:off x="6917953" y="4063752"/>
            <a:ext cx="381000" cy="0"/>
          </a:xfrm>
          <a:prstGeom prst="line">
            <a:avLst/>
          </a:prstGeom>
          <a:noFill/>
          <a:ln w="9525">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39"/>
          <p:cNvSpPr>
            <a:spLocks noChangeShapeType="1"/>
          </p:cNvSpPr>
          <p:nvPr/>
        </p:nvSpPr>
        <p:spPr bwMode="auto">
          <a:xfrm>
            <a:off x="6917953" y="4797177"/>
            <a:ext cx="381000" cy="0"/>
          </a:xfrm>
          <a:prstGeom prst="line">
            <a:avLst/>
          </a:prstGeom>
          <a:noFill/>
          <a:ln w="9525">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40"/>
          <p:cNvSpPr>
            <a:spLocks noChangeShapeType="1"/>
          </p:cNvSpPr>
          <p:nvPr/>
        </p:nvSpPr>
        <p:spPr bwMode="auto">
          <a:xfrm>
            <a:off x="6917953" y="5559177"/>
            <a:ext cx="38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41"/>
          <p:cNvSpPr>
            <a:spLocks noChangeShapeType="1"/>
          </p:cNvSpPr>
          <p:nvPr/>
        </p:nvSpPr>
        <p:spPr bwMode="auto">
          <a:xfrm>
            <a:off x="6184528" y="3597027"/>
            <a:ext cx="346075" cy="0"/>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42"/>
          <p:cNvSpPr>
            <a:spLocks noChangeShapeType="1"/>
          </p:cNvSpPr>
          <p:nvPr/>
        </p:nvSpPr>
        <p:spPr bwMode="auto">
          <a:xfrm>
            <a:off x="6184528" y="5173415"/>
            <a:ext cx="741362" cy="0"/>
          </a:xfrm>
          <a:prstGeom prst="line">
            <a:avLst/>
          </a:prstGeom>
          <a:noFill/>
          <a:ln w="952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Text Box 10"/>
          <p:cNvSpPr txBox="1">
            <a:spLocks noChangeArrowheads="1"/>
          </p:cNvSpPr>
          <p:nvPr/>
        </p:nvSpPr>
        <p:spPr bwMode="auto">
          <a:xfrm>
            <a:off x="517153" y="4230440"/>
            <a:ext cx="990600" cy="406400"/>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宋体" panose="02010600030101010101" pitchFamily="2" charset="-122"/>
              </a:rPr>
              <a:t>存储器</a:t>
            </a:r>
          </a:p>
        </p:txBody>
      </p:sp>
      <p:sp>
        <p:nvSpPr>
          <p:cNvPr id="32" name="Text Box 11"/>
          <p:cNvSpPr txBox="1">
            <a:spLocks noChangeArrowheads="1"/>
          </p:cNvSpPr>
          <p:nvPr/>
        </p:nvSpPr>
        <p:spPr bwMode="auto">
          <a:xfrm>
            <a:off x="2517403" y="3438277"/>
            <a:ext cx="1066800" cy="4064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宋体" panose="02010600030101010101" pitchFamily="2" charset="-122"/>
              </a:rPr>
              <a:t>通道</a:t>
            </a:r>
            <a:r>
              <a:rPr lang="en-US" altLang="zh-CN" sz="2000" b="1">
                <a:ea typeface="宋体" panose="02010600030101010101" pitchFamily="2" charset="-122"/>
              </a:rPr>
              <a:t>1</a:t>
            </a:r>
          </a:p>
        </p:txBody>
      </p:sp>
      <p:sp>
        <p:nvSpPr>
          <p:cNvPr id="33" name="Text Box 12"/>
          <p:cNvSpPr txBox="1">
            <a:spLocks noChangeArrowheads="1"/>
          </p:cNvSpPr>
          <p:nvPr/>
        </p:nvSpPr>
        <p:spPr bwMode="auto">
          <a:xfrm>
            <a:off x="2503115" y="4990852"/>
            <a:ext cx="1066800" cy="4064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宋体" panose="02010600030101010101" pitchFamily="2" charset="-122"/>
              </a:rPr>
              <a:t>通道</a:t>
            </a:r>
            <a:r>
              <a:rPr lang="en-US" altLang="zh-CN" sz="2000" b="1">
                <a:ea typeface="宋体" panose="02010600030101010101" pitchFamily="2" charset="-122"/>
              </a:rPr>
              <a:t>2</a:t>
            </a:r>
          </a:p>
        </p:txBody>
      </p:sp>
      <p:sp>
        <p:nvSpPr>
          <p:cNvPr id="34" name="Text Box 13"/>
          <p:cNvSpPr txBox="1">
            <a:spLocks noChangeArrowheads="1"/>
          </p:cNvSpPr>
          <p:nvPr/>
        </p:nvSpPr>
        <p:spPr bwMode="auto">
          <a:xfrm>
            <a:off x="4874840" y="3420815"/>
            <a:ext cx="1295400" cy="406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宋体" panose="02010600030101010101" pitchFamily="2" charset="-122"/>
              </a:rPr>
              <a:t>控制器</a:t>
            </a:r>
            <a:r>
              <a:rPr lang="en-US" altLang="zh-CN" sz="2000" b="1">
                <a:ea typeface="宋体" panose="02010600030101010101" pitchFamily="2" charset="-122"/>
              </a:rPr>
              <a:t>1</a:t>
            </a:r>
          </a:p>
        </p:txBody>
      </p:sp>
      <p:sp>
        <p:nvSpPr>
          <p:cNvPr id="35" name="Text Box 14"/>
          <p:cNvSpPr txBox="1">
            <a:spLocks noChangeArrowheads="1"/>
          </p:cNvSpPr>
          <p:nvPr/>
        </p:nvSpPr>
        <p:spPr bwMode="auto">
          <a:xfrm>
            <a:off x="4874840" y="4976565"/>
            <a:ext cx="1295400" cy="406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a:ea typeface="宋体" panose="02010600030101010101" pitchFamily="2" charset="-122"/>
              </a:rPr>
              <a:t>控制器</a:t>
            </a:r>
            <a:r>
              <a:rPr lang="en-US" altLang="zh-CN" sz="2000" b="1">
                <a:ea typeface="宋体" panose="02010600030101010101" pitchFamily="2" charset="-122"/>
              </a:rPr>
              <a:t>2</a:t>
            </a:r>
          </a:p>
        </p:txBody>
      </p:sp>
      <p:sp>
        <p:nvSpPr>
          <p:cNvPr id="36" name="Text Box 15"/>
          <p:cNvSpPr txBox="1">
            <a:spLocks noChangeArrowheads="1"/>
          </p:cNvSpPr>
          <p:nvPr/>
        </p:nvSpPr>
        <p:spPr bwMode="auto">
          <a:xfrm>
            <a:off x="7298953" y="2996952"/>
            <a:ext cx="1233487" cy="406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ea typeface="宋体" panose="02010600030101010101" pitchFamily="2" charset="-122"/>
              </a:rPr>
              <a:t>I/O</a:t>
            </a:r>
            <a:r>
              <a:rPr lang="zh-CN" altLang="en-US" sz="2000" b="1">
                <a:ea typeface="宋体" panose="02010600030101010101" pitchFamily="2" charset="-122"/>
              </a:rPr>
              <a:t>设备</a:t>
            </a:r>
            <a:r>
              <a:rPr lang="en-US" altLang="zh-CN" sz="2000" b="1">
                <a:ea typeface="宋体" panose="02010600030101010101" pitchFamily="2" charset="-122"/>
              </a:rPr>
              <a:t>1</a:t>
            </a:r>
          </a:p>
        </p:txBody>
      </p:sp>
      <p:sp>
        <p:nvSpPr>
          <p:cNvPr id="37" name="Text Box 16"/>
          <p:cNvSpPr txBox="1">
            <a:spLocks noChangeArrowheads="1"/>
          </p:cNvSpPr>
          <p:nvPr/>
        </p:nvSpPr>
        <p:spPr bwMode="auto">
          <a:xfrm>
            <a:off x="7313240" y="3776415"/>
            <a:ext cx="1219200" cy="406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ea typeface="宋体" panose="02010600030101010101" pitchFamily="2" charset="-122"/>
              </a:rPr>
              <a:t>I/O</a:t>
            </a:r>
            <a:r>
              <a:rPr lang="zh-CN" altLang="en-US" sz="2000" b="1">
                <a:ea typeface="宋体" panose="02010600030101010101" pitchFamily="2" charset="-122"/>
              </a:rPr>
              <a:t>设备</a:t>
            </a:r>
            <a:r>
              <a:rPr lang="en-US" altLang="zh-CN" sz="2000" b="1">
                <a:ea typeface="宋体" panose="02010600030101010101" pitchFamily="2" charset="-122"/>
              </a:rPr>
              <a:t>2</a:t>
            </a:r>
          </a:p>
        </p:txBody>
      </p:sp>
      <p:sp>
        <p:nvSpPr>
          <p:cNvPr id="38" name="Text Box 17"/>
          <p:cNvSpPr txBox="1">
            <a:spLocks noChangeArrowheads="1"/>
          </p:cNvSpPr>
          <p:nvPr/>
        </p:nvSpPr>
        <p:spPr bwMode="auto">
          <a:xfrm>
            <a:off x="7313240" y="4520952"/>
            <a:ext cx="1219200" cy="406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ea typeface="宋体" panose="02010600030101010101" pitchFamily="2" charset="-122"/>
              </a:rPr>
              <a:t>I/O</a:t>
            </a:r>
            <a:r>
              <a:rPr lang="zh-CN" altLang="en-US" sz="2000" b="1">
                <a:ea typeface="宋体" panose="02010600030101010101" pitchFamily="2" charset="-122"/>
              </a:rPr>
              <a:t>设备</a:t>
            </a:r>
            <a:r>
              <a:rPr lang="en-US" altLang="zh-CN" sz="2000" b="1">
                <a:ea typeface="宋体" panose="02010600030101010101" pitchFamily="2" charset="-122"/>
              </a:rPr>
              <a:t>3</a:t>
            </a:r>
          </a:p>
        </p:txBody>
      </p:sp>
      <p:sp>
        <p:nvSpPr>
          <p:cNvPr id="39" name="Text Box 18"/>
          <p:cNvSpPr txBox="1">
            <a:spLocks noChangeArrowheads="1"/>
          </p:cNvSpPr>
          <p:nvPr/>
        </p:nvSpPr>
        <p:spPr bwMode="auto">
          <a:xfrm>
            <a:off x="7313240" y="5271840"/>
            <a:ext cx="1219200" cy="406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ea typeface="宋体" panose="02010600030101010101" pitchFamily="2" charset="-122"/>
              </a:rPr>
              <a:t>I/O</a:t>
            </a:r>
            <a:r>
              <a:rPr lang="zh-CN" altLang="en-US" sz="2000" b="1">
                <a:ea typeface="宋体" panose="02010600030101010101" pitchFamily="2" charset="-122"/>
              </a:rPr>
              <a:t>设备</a:t>
            </a:r>
            <a:r>
              <a:rPr lang="en-US" altLang="zh-CN" sz="2000" b="1">
                <a:ea typeface="宋体" panose="02010600030101010101" pitchFamily="2" charset="-122"/>
              </a:rPr>
              <a:t>4</a:t>
            </a:r>
          </a:p>
        </p:txBody>
      </p:sp>
    </p:spTree>
    <p:extLst>
      <p:ext uri="{BB962C8B-B14F-4D97-AF65-F5344CB8AC3E}">
        <p14:creationId xmlns:p14="http://schemas.microsoft.com/office/powerpoint/2010/main" val="32122537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p>
        </p:txBody>
      </p:sp>
      <p:sp>
        <p:nvSpPr>
          <p:cNvPr id="3" name="Content Placeholder 2"/>
          <p:cNvSpPr>
            <a:spLocks noGrp="1"/>
          </p:cNvSpPr>
          <p:nvPr>
            <p:ph idx="1"/>
          </p:nvPr>
        </p:nvSpPr>
        <p:spPr/>
        <p:txBody>
          <a:bodyPr/>
          <a:lstStyle/>
          <a:p>
            <a:r>
              <a:rPr lang="en-US" altLang="zh-CN" dirty="0">
                <a:solidFill>
                  <a:schemeClr val="bg1">
                    <a:lumMod val="85000"/>
                  </a:schemeClr>
                </a:solidFill>
              </a:rPr>
              <a:t>I/O</a:t>
            </a:r>
            <a:r>
              <a:rPr lang="zh-CN" altLang="en-US" dirty="0">
                <a:solidFill>
                  <a:schemeClr val="bg1">
                    <a:lumMod val="85000"/>
                  </a:schemeClr>
                </a:solidFill>
              </a:rPr>
              <a:t>管理基本知识</a:t>
            </a:r>
            <a:endParaRPr lang="en-US" altLang="zh-CN" dirty="0">
              <a:solidFill>
                <a:schemeClr val="bg1">
                  <a:lumMod val="85000"/>
                </a:schemeClr>
              </a:solidFill>
            </a:endParaRPr>
          </a:p>
          <a:p>
            <a:r>
              <a:rPr lang="en-US" altLang="zh-CN" dirty="0">
                <a:solidFill>
                  <a:schemeClr val="bg1">
                    <a:lumMod val="85000"/>
                  </a:schemeClr>
                </a:solidFill>
              </a:rPr>
              <a:t>I/O</a:t>
            </a:r>
            <a:r>
              <a:rPr lang="zh-CN" altLang="en-US" dirty="0">
                <a:solidFill>
                  <a:schemeClr val="bg1">
                    <a:lumMod val="85000"/>
                  </a:schemeClr>
                </a:solidFill>
              </a:rPr>
              <a:t>控制方式</a:t>
            </a:r>
            <a:endParaRPr lang="en-US" altLang="zh-CN" dirty="0">
              <a:solidFill>
                <a:schemeClr val="bg1">
                  <a:lumMod val="85000"/>
                </a:schemeClr>
              </a:solidFill>
            </a:endParaRPr>
          </a:p>
          <a:p>
            <a:r>
              <a:rPr lang="zh-CN" altLang="en-US" dirty="0">
                <a:solidFill>
                  <a:srgbClr val="FFC000"/>
                </a:solidFill>
              </a:rPr>
              <a:t>缓冲技术</a:t>
            </a:r>
            <a:endParaRPr lang="en-US" altLang="zh-CN" dirty="0">
              <a:solidFill>
                <a:srgbClr val="FFC000"/>
              </a:solidFill>
            </a:endParaRPr>
          </a:p>
          <a:p>
            <a:r>
              <a:rPr lang="zh-CN" altLang="en-US" dirty="0">
                <a:solidFill>
                  <a:schemeClr val="bg1">
                    <a:lumMod val="85000"/>
                  </a:schemeClr>
                </a:solidFill>
              </a:rPr>
              <a:t>设备分配与回收</a:t>
            </a:r>
            <a:endParaRPr lang="en-US" altLang="zh-CN" dirty="0">
              <a:solidFill>
                <a:schemeClr val="bg1">
                  <a:lumMod val="85000"/>
                </a:schemeClr>
              </a:solidFill>
            </a:endParaRPr>
          </a:p>
          <a:p>
            <a:r>
              <a:rPr lang="zh-CN" altLang="en-US" dirty="0">
                <a:solidFill>
                  <a:schemeClr val="bg1">
                    <a:lumMod val="85000"/>
                  </a:schemeClr>
                </a:solidFill>
              </a:rPr>
              <a:t>磁盘存储器的管理</a:t>
            </a:r>
            <a:endParaRPr lang="en-US" altLang="zh-CN" dirty="0">
              <a:solidFill>
                <a:schemeClr val="bg1">
                  <a:lumMod val="85000"/>
                </a:schemeClr>
              </a:solidFill>
            </a:endParaRPr>
          </a:p>
          <a:p>
            <a:r>
              <a:rPr lang="en-US" altLang="zh-CN" dirty="0">
                <a:solidFill>
                  <a:schemeClr val="bg1">
                    <a:lumMod val="85000"/>
                  </a:schemeClr>
                </a:solidFill>
              </a:rPr>
              <a:t>RAID</a:t>
            </a:r>
            <a:r>
              <a:rPr lang="zh-CN" altLang="en-US" dirty="0">
                <a:solidFill>
                  <a:schemeClr val="bg1">
                    <a:lumMod val="85000"/>
                  </a:schemeClr>
                </a:solidFill>
              </a:rPr>
              <a:t>技术</a:t>
            </a:r>
          </a:p>
        </p:txBody>
      </p:sp>
      <p:sp>
        <p:nvSpPr>
          <p:cNvPr id="4" name="Date Placeholder 3"/>
          <p:cNvSpPr>
            <a:spLocks noGrp="1"/>
          </p:cNvSpPr>
          <p:nvPr>
            <p:ph type="dt" sz="half" idx="10"/>
          </p:nvPr>
        </p:nvSpPr>
        <p:spPr/>
        <p:txBody>
          <a:bodyPr/>
          <a:lstStyle/>
          <a:p>
            <a:fld id="{B8EA000A-9843-4EAD-A4C5-F9F2E9C7CBDE}"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33</a:t>
            </a:fld>
            <a:endParaRPr lang="zh-CN" altLang="en-US" dirty="0"/>
          </a:p>
        </p:txBody>
      </p:sp>
    </p:spTree>
    <p:extLst>
      <p:ext uri="{BB962C8B-B14F-4D97-AF65-F5344CB8AC3E}">
        <p14:creationId xmlns:p14="http://schemas.microsoft.com/office/powerpoint/2010/main" val="27991745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缓冲技术的引入</a:t>
            </a:r>
          </a:p>
        </p:txBody>
      </p:sp>
      <p:sp>
        <p:nvSpPr>
          <p:cNvPr id="3" name="Content Placeholder 2"/>
          <p:cNvSpPr>
            <a:spLocks noGrp="1"/>
          </p:cNvSpPr>
          <p:nvPr>
            <p:ph idx="1"/>
          </p:nvPr>
        </p:nvSpPr>
        <p:spPr/>
        <p:txBody>
          <a:bodyPr/>
          <a:lstStyle/>
          <a:p>
            <a:pPr>
              <a:lnSpc>
                <a:spcPct val="110000"/>
              </a:lnSpc>
              <a:spcBef>
                <a:spcPct val="10000"/>
              </a:spcBef>
            </a:pPr>
            <a:r>
              <a:rPr lang="zh-CN" altLang="en-US" dirty="0">
                <a:solidFill>
                  <a:srgbClr val="0000FF"/>
                </a:solidFill>
              </a:rPr>
              <a:t>缓和</a:t>
            </a:r>
            <a:r>
              <a:rPr lang="en-US" altLang="zh-CN" dirty="0">
                <a:solidFill>
                  <a:srgbClr val="0000FF"/>
                </a:solidFill>
              </a:rPr>
              <a:t>CPU</a:t>
            </a:r>
            <a:r>
              <a:rPr lang="zh-CN" altLang="en-US" dirty="0">
                <a:solidFill>
                  <a:srgbClr val="0000FF"/>
                </a:solidFill>
              </a:rPr>
              <a:t>与</a:t>
            </a:r>
            <a:r>
              <a:rPr lang="en-US" altLang="zh-CN" dirty="0">
                <a:solidFill>
                  <a:srgbClr val="0000FF"/>
                </a:solidFill>
              </a:rPr>
              <a:t>I/O</a:t>
            </a:r>
            <a:r>
              <a:rPr lang="zh-CN" altLang="en-US" dirty="0">
                <a:solidFill>
                  <a:srgbClr val="0000FF"/>
                </a:solidFill>
              </a:rPr>
              <a:t>设备之间速度不匹配的矛盾</a:t>
            </a:r>
          </a:p>
          <a:p>
            <a:pPr>
              <a:lnSpc>
                <a:spcPct val="110000"/>
              </a:lnSpc>
              <a:spcBef>
                <a:spcPct val="10000"/>
              </a:spcBef>
            </a:pPr>
            <a:r>
              <a:rPr lang="zh-CN" altLang="en-US" dirty="0"/>
              <a:t>减少对</a:t>
            </a:r>
            <a:r>
              <a:rPr lang="en-US" altLang="zh-CN" dirty="0"/>
              <a:t>CPU</a:t>
            </a:r>
            <a:r>
              <a:rPr lang="zh-CN" altLang="en-US" dirty="0"/>
              <a:t>的中断频率，放宽对</a:t>
            </a:r>
            <a:r>
              <a:rPr lang="en-US" altLang="zh-CN" dirty="0"/>
              <a:t>CPU</a:t>
            </a:r>
            <a:r>
              <a:rPr lang="zh-CN" altLang="en-US" dirty="0"/>
              <a:t>中断响应时间的限制</a:t>
            </a:r>
          </a:p>
          <a:p>
            <a:pPr>
              <a:lnSpc>
                <a:spcPct val="110000"/>
              </a:lnSpc>
              <a:spcBef>
                <a:spcPct val="10000"/>
              </a:spcBef>
            </a:pPr>
            <a:r>
              <a:rPr lang="zh-CN" altLang="en-US" dirty="0"/>
              <a:t>提高</a:t>
            </a:r>
            <a:r>
              <a:rPr lang="en-US" altLang="zh-CN" dirty="0"/>
              <a:t>CPU</a:t>
            </a:r>
            <a:r>
              <a:rPr lang="zh-CN" altLang="en-US" dirty="0"/>
              <a:t>和</a:t>
            </a:r>
            <a:r>
              <a:rPr lang="en-US" altLang="zh-CN" dirty="0"/>
              <a:t>I/O</a:t>
            </a:r>
            <a:r>
              <a:rPr lang="zh-CN" altLang="en-US" dirty="0"/>
              <a:t>设备之间的并行性</a:t>
            </a:r>
          </a:p>
          <a:p>
            <a:endParaRPr lang="zh-CN" altLang="en-US" dirty="0"/>
          </a:p>
        </p:txBody>
      </p:sp>
      <p:sp>
        <p:nvSpPr>
          <p:cNvPr id="4" name="Date Placeholder 3"/>
          <p:cNvSpPr>
            <a:spLocks noGrp="1"/>
          </p:cNvSpPr>
          <p:nvPr>
            <p:ph type="dt" sz="half" idx="10"/>
          </p:nvPr>
        </p:nvSpPr>
        <p:spPr/>
        <p:txBody>
          <a:bodyPr/>
          <a:lstStyle/>
          <a:p>
            <a:fld id="{E37CE641-F1A4-4E0C-AD47-0AF80BCA0408}"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34</a:t>
            </a:fld>
            <a:endParaRPr lang="zh-CN" altLang="en-US" dirty="0"/>
          </a:p>
        </p:txBody>
      </p:sp>
      <p:sp>
        <p:nvSpPr>
          <p:cNvPr id="7" name="Rectangle 8"/>
          <p:cNvSpPr>
            <a:spLocks noChangeArrowheads="1"/>
          </p:cNvSpPr>
          <p:nvPr/>
        </p:nvSpPr>
        <p:spPr bwMode="auto">
          <a:xfrm>
            <a:off x="3341688" y="3776142"/>
            <a:ext cx="2005012" cy="588962"/>
          </a:xfrm>
          <a:prstGeom prst="rect">
            <a:avLst/>
          </a:prstGeom>
          <a:gradFill rotWithShape="1">
            <a:gsLst>
              <a:gs pos="0">
                <a:schemeClr val="bg1"/>
              </a:gs>
              <a:gs pos="50000">
                <a:srgbClr val="FFCCFF"/>
              </a:gs>
              <a:gs pos="100000">
                <a:schemeClr val="bg1"/>
              </a:gs>
            </a:gsLst>
            <a:lin ang="189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b="1">
                <a:solidFill>
                  <a:srgbClr val="000F2E"/>
                </a:solidFill>
                <a:ea typeface="楷体" panose="02010609060101010101" pitchFamily="49" charset="-122"/>
              </a:rPr>
              <a:t>缓冲区</a:t>
            </a:r>
          </a:p>
        </p:txBody>
      </p:sp>
      <p:sp>
        <p:nvSpPr>
          <p:cNvPr id="8" name="Text Box 9"/>
          <p:cNvSpPr txBox="1">
            <a:spLocks noChangeArrowheads="1"/>
          </p:cNvSpPr>
          <p:nvPr/>
        </p:nvSpPr>
        <p:spPr bwMode="auto">
          <a:xfrm>
            <a:off x="1676400" y="3804717"/>
            <a:ext cx="9667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ea typeface="楷体" panose="02010609060101010101" pitchFamily="49" charset="-122"/>
              </a:rPr>
              <a:t>CPU</a:t>
            </a:r>
          </a:p>
        </p:txBody>
      </p:sp>
      <p:sp>
        <p:nvSpPr>
          <p:cNvPr id="9" name="Text Box 10"/>
          <p:cNvSpPr txBox="1">
            <a:spLocks noChangeArrowheads="1"/>
          </p:cNvSpPr>
          <p:nvPr/>
        </p:nvSpPr>
        <p:spPr bwMode="auto">
          <a:xfrm>
            <a:off x="6372200" y="3837538"/>
            <a:ext cx="9255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dirty="0">
                <a:ea typeface="楷体" panose="02010609060101010101" pitchFamily="49" charset="-122"/>
              </a:rPr>
              <a:t>外设</a:t>
            </a:r>
          </a:p>
        </p:txBody>
      </p:sp>
      <p:sp>
        <p:nvSpPr>
          <p:cNvPr id="10" name="Line 11"/>
          <p:cNvSpPr>
            <a:spLocks noChangeShapeType="1"/>
          </p:cNvSpPr>
          <p:nvPr/>
        </p:nvSpPr>
        <p:spPr bwMode="auto">
          <a:xfrm>
            <a:off x="2443163" y="4022204"/>
            <a:ext cx="898525" cy="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1" name="Line 12"/>
          <p:cNvSpPr>
            <a:spLocks noChangeShapeType="1"/>
          </p:cNvSpPr>
          <p:nvPr/>
        </p:nvSpPr>
        <p:spPr bwMode="auto">
          <a:xfrm>
            <a:off x="5335588" y="4022204"/>
            <a:ext cx="898525" cy="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Tree>
    <p:extLst>
      <p:ext uri="{BB962C8B-B14F-4D97-AF65-F5344CB8AC3E}">
        <p14:creationId xmlns:p14="http://schemas.microsoft.com/office/powerpoint/2010/main" val="40106295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高速缓存</a:t>
            </a:r>
          </a:p>
        </p:txBody>
      </p:sp>
      <p:sp>
        <p:nvSpPr>
          <p:cNvPr id="3" name="Content Placeholder 2"/>
          <p:cNvSpPr>
            <a:spLocks noGrp="1"/>
          </p:cNvSpPr>
          <p:nvPr>
            <p:ph idx="1"/>
          </p:nvPr>
        </p:nvSpPr>
        <p:spPr/>
        <p:txBody>
          <a:bodyPr/>
          <a:lstStyle/>
          <a:p>
            <a:pPr>
              <a:lnSpc>
                <a:spcPct val="110000"/>
              </a:lnSpc>
              <a:spcBef>
                <a:spcPct val="10000"/>
              </a:spcBef>
            </a:pPr>
            <a:r>
              <a:rPr lang="zh-CN" altLang="en-US" dirty="0"/>
              <a:t>磁盘高速缓存</a:t>
            </a:r>
            <a:endParaRPr lang="en-US" altLang="zh-CN" dirty="0"/>
          </a:p>
          <a:p>
            <a:pPr lvl="1">
              <a:lnSpc>
                <a:spcPct val="110000"/>
              </a:lnSpc>
              <a:spcBef>
                <a:spcPct val="10000"/>
              </a:spcBef>
            </a:pPr>
            <a:r>
              <a:rPr lang="zh-CN" altLang="en-US" dirty="0"/>
              <a:t>利用</a:t>
            </a:r>
            <a:r>
              <a:rPr lang="zh-CN" altLang="en-US" dirty="0">
                <a:solidFill>
                  <a:srgbClr val="0000FF"/>
                </a:solidFill>
              </a:rPr>
              <a:t>内存中的存储空</a:t>
            </a:r>
            <a:r>
              <a:rPr lang="zh-CN" altLang="en-US" dirty="0"/>
              <a:t>间暂存从磁盘中读出的一系列盘块中的信息（并非体系结构中的</a:t>
            </a:r>
            <a:r>
              <a:rPr lang="en-US" altLang="zh-CN" dirty="0"/>
              <a:t>Cache</a:t>
            </a:r>
            <a:r>
              <a:rPr lang="zh-CN" altLang="en-US" dirty="0"/>
              <a:t>）</a:t>
            </a:r>
            <a:endParaRPr lang="en-US" altLang="zh-CN" dirty="0"/>
          </a:p>
          <a:p>
            <a:pPr lvl="1">
              <a:lnSpc>
                <a:spcPct val="110000"/>
              </a:lnSpc>
              <a:spcBef>
                <a:spcPct val="10000"/>
              </a:spcBef>
            </a:pPr>
            <a:r>
              <a:rPr lang="zh-CN" altLang="en-US" dirty="0"/>
              <a:t>是一组在逻辑上属于磁盘、而物理上驻留在内存中的盘块</a:t>
            </a:r>
          </a:p>
          <a:p>
            <a:pPr lvl="1">
              <a:lnSpc>
                <a:spcPct val="110000"/>
              </a:lnSpc>
              <a:spcBef>
                <a:spcPct val="10000"/>
              </a:spcBef>
            </a:pPr>
            <a:r>
              <a:rPr lang="zh-CN" altLang="en-US" dirty="0"/>
              <a:t>两种形式</a:t>
            </a:r>
          </a:p>
          <a:p>
            <a:pPr lvl="2">
              <a:lnSpc>
                <a:spcPct val="110000"/>
              </a:lnSpc>
              <a:spcBef>
                <a:spcPct val="10000"/>
              </a:spcBef>
            </a:pPr>
            <a:r>
              <a:rPr lang="zh-CN" altLang="en-US" dirty="0"/>
              <a:t>在内存中开辟一单独存储空间作为高速缓存</a:t>
            </a:r>
          </a:p>
          <a:p>
            <a:pPr lvl="2">
              <a:lnSpc>
                <a:spcPct val="110000"/>
              </a:lnSpc>
              <a:spcBef>
                <a:spcPct val="10000"/>
              </a:spcBef>
            </a:pPr>
            <a:r>
              <a:rPr lang="zh-CN" altLang="en-US" dirty="0"/>
              <a:t>把所有未利用的内存空间作为高速缓存</a:t>
            </a:r>
          </a:p>
          <a:p>
            <a:endParaRPr lang="zh-CN" altLang="en-US" dirty="0"/>
          </a:p>
        </p:txBody>
      </p:sp>
      <p:sp>
        <p:nvSpPr>
          <p:cNvPr id="4" name="Date Placeholder 3"/>
          <p:cNvSpPr>
            <a:spLocks noGrp="1"/>
          </p:cNvSpPr>
          <p:nvPr>
            <p:ph type="dt" sz="half" idx="10"/>
          </p:nvPr>
        </p:nvSpPr>
        <p:spPr/>
        <p:txBody>
          <a:bodyPr/>
          <a:lstStyle/>
          <a:p>
            <a:fld id="{76DCAAC1-4D78-4DF8-A09E-B91EB89E780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35</a:t>
            </a:fld>
            <a:endParaRPr lang="zh-CN" altLang="en-US" dirty="0"/>
          </a:p>
        </p:txBody>
      </p:sp>
    </p:spTree>
    <p:extLst>
      <p:ext uri="{BB962C8B-B14F-4D97-AF65-F5344CB8AC3E}">
        <p14:creationId xmlns:p14="http://schemas.microsoft.com/office/powerpoint/2010/main" val="24702410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单缓冲技术</a:t>
            </a:r>
          </a:p>
        </p:txBody>
      </p:sp>
      <p:sp>
        <p:nvSpPr>
          <p:cNvPr id="3" name="Content Placeholder 2"/>
          <p:cNvSpPr>
            <a:spLocks noGrp="1"/>
          </p:cNvSpPr>
          <p:nvPr>
            <p:ph idx="1"/>
          </p:nvPr>
        </p:nvSpPr>
        <p:spPr/>
        <p:txBody>
          <a:bodyPr/>
          <a:lstStyle/>
          <a:p>
            <a:r>
              <a:rPr lang="zh-CN" altLang="en-US" dirty="0"/>
              <a:t>基本原理</a:t>
            </a:r>
            <a:endParaRPr lang="en-US" altLang="zh-CN" dirty="0"/>
          </a:p>
          <a:p>
            <a:pPr lvl="1"/>
            <a:r>
              <a:rPr lang="zh-CN" altLang="en-US" dirty="0"/>
              <a:t>一个缓冲区，</a:t>
            </a:r>
            <a:r>
              <a:rPr lang="en-US" altLang="zh-CN" dirty="0"/>
              <a:t>CPU</a:t>
            </a:r>
            <a:r>
              <a:rPr lang="zh-CN" altLang="en-US" dirty="0"/>
              <a:t>和外设轮流使用，一方处理完之后接着等待对方处理</a:t>
            </a:r>
          </a:p>
          <a:p>
            <a:pPr lvl="1"/>
            <a:endParaRPr lang="zh-CN" altLang="en-US" dirty="0"/>
          </a:p>
        </p:txBody>
      </p:sp>
      <p:sp>
        <p:nvSpPr>
          <p:cNvPr id="4" name="Date Placeholder 3"/>
          <p:cNvSpPr>
            <a:spLocks noGrp="1"/>
          </p:cNvSpPr>
          <p:nvPr>
            <p:ph type="dt" sz="half" idx="10"/>
          </p:nvPr>
        </p:nvSpPr>
        <p:spPr/>
        <p:txBody>
          <a:bodyPr/>
          <a:lstStyle/>
          <a:p>
            <a:fld id="{09A9293B-DCF6-4647-A3E4-C4C4D4762D24}"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36</a:t>
            </a:fld>
            <a:endParaRPr lang="zh-CN" altLang="en-US" dirty="0"/>
          </a:p>
        </p:txBody>
      </p:sp>
      <p:grpSp>
        <p:nvGrpSpPr>
          <p:cNvPr id="7" name="Group 5"/>
          <p:cNvGrpSpPr>
            <a:grpSpLocks/>
          </p:cNvGrpSpPr>
          <p:nvPr/>
        </p:nvGrpSpPr>
        <p:grpSpPr bwMode="auto">
          <a:xfrm>
            <a:off x="1075358" y="3140968"/>
            <a:ext cx="5734050" cy="1233487"/>
            <a:chOff x="950" y="2387"/>
            <a:chExt cx="3612" cy="777"/>
          </a:xfrm>
        </p:grpSpPr>
        <p:sp>
          <p:nvSpPr>
            <p:cNvPr id="8" name="Text Box 6"/>
            <p:cNvSpPr txBox="1">
              <a:spLocks noChangeArrowheads="1"/>
            </p:cNvSpPr>
            <p:nvPr/>
          </p:nvSpPr>
          <p:spPr bwMode="auto">
            <a:xfrm>
              <a:off x="2137" y="2387"/>
              <a:ext cx="8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b="1">
                  <a:ea typeface="楷体" panose="02010609060101010101" pitchFamily="49" charset="-122"/>
                </a:rPr>
                <a:t>操作系统</a:t>
              </a:r>
            </a:p>
          </p:txBody>
        </p:sp>
        <p:sp>
          <p:nvSpPr>
            <p:cNvPr id="9" name="Text Box 7"/>
            <p:cNvSpPr txBox="1">
              <a:spLocks noChangeArrowheads="1"/>
            </p:cNvSpPr>
            <p:nvPr/>
          </p:nvSpPr>
          <p:spPr bwMode="auto">
            <a:xfrm>
              <a:off x="3668" y="2387"/>
              <a:ext cx="8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b="1">
                  <a:ea typeface="楷体" panose="02010609060101010101" pitchFamily="49" charset="-122"/>
                </a:rPr>
                <a:t>用户进程</a:t>
              </a:r>
            </a:p>
          </p:txBody>
        </p:sp>
        <p:sp>
          <p:nvSpPr>
            <p:cNvPr id="10" name="AutoShape 8"/>
            <p:cNvSpPr>
              <a:spLocks noChangeArrowheads="1"/>
            </p:cNvSpPr>
            <p:nvPr/>
          </p:nvSpPr>
          <p:spPr bwMode="auto">
            <a:xfrm>
              <a:off x="2022" y="2637"/>
              <a:ext cx="998" cy="499"/>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11" name="Text Box 9"/>
            <p:cNvSpPr txBox="1">
              <a:spLocks noChangeArrowheads="1"/>
            </p:cNvSpPr>
            <p:nvPr/>
          </p:nvSpPr>
          <p:spPr bwMode="auto">
            <a:xfrm>
              <a:off x="2232" y="2773"/>
              <a:ext cx="590" cy="21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0" lang="zh-CN" altLang="en-US" sz="1600" b="1">
                  <a:ea typeface="楷体" panose="02010609060101010101" pitchFamily="49" charset="-122"/>
                </a:rPr>
                <a:t>缓冲区</a:t>
              </a:r>
            </a:p>
          </p:txBody>
        </p:sp>
        <p:sp>
          <p:nvSpPr>
            <p:cNvPr id="12" name="AutoShape 10"/>
            <p:cNvSpPr>
              <a:spLocks noChangeArrowheads="1"/>
            </p:cNvSpPr>
            <p:nvPr/>
          </p:nvSpPr>
          <p:spPr bwMode="auto">
            <a:xfrm>
              <a:off x="3564" y="2637"/>
              <a:ext cx="998" cy="499"/>
            </a:xfrm>
            <a:prstGeom prst="roundRect">
              <a:avLst>
                <a:gd name="adj" fmla="val 16667"/>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13" name="Text Box 11"/>
            <p:cNvSpPr txBox="1">
              <a:spLocks noChangeArrowheads="1"/>
            </p:cNvSpPr>
            <p:nvPr/>
          </p:nvSpPr>
          <p:spPr bwMode="auto">
            <a:xfrm>
              <a:off x="3774" y="2773"/>
              <a:ext cx="590" cy="21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0" lang="zh-CN" altLang="en-US" sz="1600" b="1">
                  <a:ea typeface="楷体" panose="02010609060101010101" pitchFamily="49" charset="-122"/>
                </a:rPr>
                <a:t>工作区</a:t>
              </a:r>
            </a:p>
          </p:txBody>
        </p:sp>
        <p:sp>
          <p:nvSpPr>
            <p:cNvPr id="14" name="Line 12"/>
            <p:cNvSpPr>
              <a:spLocks noChangeShapeType="1"/>
            </p:cNvSpPr>
            <p:nvPr/>
          </p:nvSpPr>
          <p:spPr bwMode="auto">
            <a:xfrm>
              <a:off x="1544" y="2874"/>
              <a:ext cx="68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5" name="Line 13"/>
            <p:cNvSpPr>
              <a:spLocks noChangeShapeType="1"/>
            </p:cNvSpPr>
            <p:nvPr/>
          </p:nvSpPr>
          <p:spPr bwMode="auto">
            <a:xfrm>
              <a:off x="2824" y="2878"/>
              <a:ext cx="953"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6" name="Text Box 14"/>
            <p:cNvSpPr txBox="1">
              <a:spLocks noChangeArrowheads="1"/>
            </p:cNvSpPr>
            <p:nvPr/>
          </p:nvSpPr>
          <p:spPr bwMode="auto">
            <a:xfrm>
              <a:off x="950" y="2754"/>
              <a:ext cx="6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800" b="1">
                  <a:ea typeface="楷体" panose="02010609060101010101" pitchFamily="49" charset="-122"/>
                </a:rPr>
                <a:t>I/O</a:t>
              </a:r>
              <a:r>
                <a:rPr kumimoji="0" lang="zh-CN" altLang="en-US" sz="1800" b="1">
                  <a:ea typeface="楷体" panose="02010609060101010101" pitchFamily="49" charset="-122"/>
                </a:rPr>
                <a:t>设备</a:t>
              </a:r>
            </a:p>
          </p:txBody>
        </p:sp>
        <p:sp>
          <p:nvSpPr>
            <p:cNvPr id="17" name="Text Box 15"/>
            <p:cNvSpPr txBox="1">
              <a:spLocks noChangeArrowheads="1"/>
            </p:cNvSpPr>
            <p:nvPr/>
          </p:nvSpPr>
          <p:spPr bwMode="auto">
            <a:xfrm>
              <a:off x="1596" y="2675"/>
              <a:ext cx="40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输入</a:t>
              </a:r>
            </a:p>
          </p:txBody>
        </p:sp>
        <p:sp>
          <p:nvSpPr>
            <p:cNvPr id="18" name="Text Box 16"/>
            <p:cNvSpPr txBox="1">
              <a:spLocks noChangeArrowheads="1"/>
            </p:cNvSpPr>
            <p:nvPr/>
          </p:nvSpPr>
          <p:spPr bwMode="auto">
            <a:xfrm>
              <a:off x="3093" y="2675"/>
              <a:ext cx="40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传送</a:t>
              </a:r>
            </a:p>
          </p:txBody>
        </p:sp>
        <p:sp>
          <p:nvSpPr>
            <p:cNvPr id="19" name="Text Box 17"/>
            <p:cNvSpPr txBox="1">
              <a:spLocks noChangeArrowheads="1"/>
            </p:cNvSpPr>
            <p:nvPr/>
          </p:nvSpPr>
          <p:spPr bwMode="auto">
            <a:xfrm>
              <a:off x="1667" y="2856"/>
              <a:ext cx="22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T</a:t>
              </a:r>
            </a:p>
          </p:txBody>
        </p:sp>
        <p:sp>
          <p:nvSpPr>
            <p:cNvPr id="20" name="Text Box 18"/>
            <p:cNvSpPr txBox="1">
              <a:spLocks noChangeArrowheads="1"/>
            </p:cNvSpPr>
            <p:nvPr/>
          </p:nvSpPr>
          <p:spPr bwMode="auto">
            <a:xfrm>
              <a:off x="3197" y="2850"/>
              <a:ext cx="22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M</a:t>
              </a:r>
            </a:p>
          </p:txBody>
        </p:sp>
        <p:sp>
          <p:nvSpPr>
            <p:cNvPr id="21" name="Text Box 19"/>
            <p:cNvSpPr txBox="1">
              <a:spLocks noChangeArrowheads="1"/>
            </p:cNvSpPr>
            <p:nvPr/>
          </p:nvSpPr>
          <p:spPr bwMode="auto">
            <a:xfrm>
              <a:off x="3947" y="2952"/>
              <a:ext cx="22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C</a:t>
              </a:r>
            </a:p>
          </p:txBody>
        </p:sp>
        <p:sp>
          <p:nvSpPr>
            <p:cNvPr id="22" name="Text Box 20"/>
            <p:cNvSpPr txBox="1">
              <a:spLocks noChangeArrowheads="1"/>
            </p:cNvSpPr>
            <p:nvPr/>
          </p:nvSpPr>
          <p:spPr bwMode="auto">
            <a:xfrm>
              <a:off x="3875" y="2592"/>
              <a:ext cx="40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处理</a:t>
              </a:r>
            </a:p>
          </p:txBody>
        </p:sp>
      </p:grpSp>
      <p:grpSp>
        <p:nvGrpSpPr>
          <p:cNvPr id="23" name="Group 22"/>
          <p:cNvGrpSpPr>
            <a:grpSpLocks/>
          </p:cNvGrpSpPr>
          <p:nvPr/>
        </p:nvGrpSpPr>
        <p:grpSpPr bwMode="auto">
          <a:xfrm>
            <a:off x="1100758" y="4584005"/>
            <a:ext cx="1157287" cy="941388"/>
            <a:chOff x="1102" y="3164"/>
            <a:chExt cx="729" cy="593"/>
          </a:xfrm>
        </p:grpSpPr>
        <p:grpSp>
          <p:nvGrpSpPr>
            <p:cNvPr id="24" name="Group 23"/>
            <p:cNvGrpSpPr>
              <a:grpSpLocks/>
            </p:cNvGrpSpPr>
            <p:nvPr/>
          </p:nvGrpSpPr>
          <p:grpSpPr bwMode="auto">
            <a:xfrm>
              <a:off x="1111" y="3370"/>
              <a:ext cx="674" cy="378"/>
              <a:chOff x="1338" y="3294"/>
              <a:chExt cx="674" cy="378"/>
            </a:xfrm>
          </p:grpSpPr>
          <p:sp>
            <p:nvSpPr>
              <p:cNvPr id="28" name="Line 24"/>
              <p:cNvSpPr>
                <a:spLocks noChangeShapeType="1"/>
              </p:cNvSpPr>
              <p:nvPr/>
            </p:nvSpPr>
            <p:spPr bwMode="auto">
              <a:xfrm>
                <a:off x="1338" y="3294"/>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9" name="Line 25"/>
              <p:cNvSpPr>
                <a:spLocks noChangeShapeType="1"/>
              </p:cNvSpPr>
              <p:nvPr/>
            </p:nvSpPr>
            <p:spPr bwMode="auto">
              <a:xfrm>
                <a:off x="1565" y="3475"/>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0" name="Line 26"/>
              <p:cNvSpPr>
                <a:spLocks noChangeShapeType="1"/>
              </p:cNvSpPr>
              <p:nvPr/>
            </p:nvSpPr>
            <p:spPr bwMode="auto">
              <a:xfrm>
                <a:off x="1785" y="3672"/>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1" name="Line 27"/>
              <p:cNvSpPr>
                <a:spLocks noChangeShapeType="1"/>
              </p:cNvSpPr>
              <p:nvPr/>
            </p:nvSpPr>
            <p:spPr bwMode="auto">
              <a:xfrm>
                <a:off x="1565" y="3294"/>
                <a:ext cx="0" cy="181"/>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2" name="Line 28"/>
              <p:cNvSpPr>
                <a:spLocks noChangeShapeType="1"/>
              </p:cNvSpPr>
              <p:nvPr/>
            </p:nvSpPr>
            <p:spPr bwMode="auto">
              <a:xfrm>
                <a:off x="1791" y="3476"/>
                <a:ext cx="0" cy="181"/>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25" name="Text Box 29"/>
            <p:cNvSpPr txBox="1">
              <a:spLocks noChangeArrowheads="1"/>
            </p:cNvSpPr>
            <p:nvPr/>
          </p:nvSpPr>
          <p:spPr bwMode="auto">
            <a:xfrm>
              <a:off x="1102" y="3164"/>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T</a:t>
              </a:r>
              <a:r>
                <a:rPr kumimoji="0" lang="en-US" altLang="zh-CN" sz="1600" b="1" baseline="-25000">
                  <a:ea typeface="楷体" panose="02010609060101010101" pitchFamily="49" charset="-122"/>
                </a:rPr>
                <a:t>1</a:t>
              </a:r>
            </a:p>
          </p:txBody>
        </p:sp>
        <p:sp>
          <p:nvSpPr>
            <p:cNvPr id="26" name="Text Box 30"/>
            <p:cNvSpPr txBox="1">
              <a:spLocks noChangeArrowheads="1"/>
            </p:cNvSpPr>
            <p:nvPr/>
          </p:nvSpPr>
          <p:spPr bwMode="auto">
            <a:xfrm>
              <a:off x="1338" y="3339"/>
              <a:ext cx="31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M</a:t>
              </a:r>
              <a:r>
                <a:rPr kumimoji="0" lang="en-US" altLang="zh-CN" sz="1600" b="1" baseline="-25000">
                  <a:ea typeface="楷体" panose="02010609060101010101" pitchFamily="49" charset="-122"/>
                </a:rPr>
                <a:t>1</a:t>
              </a:r>
            </a:p>
          </p:txBody>
        </p:sp>
        <p:sp>
          <p:nvSpPr>
            <p:cNvPr id="27" name="Text Box 31"/>
            <p:cNvSpPr txBox="1">
              <a:spLocks noChangeArrowheads="1"/>
            </p:cNvSpPr>
            <p:nvPr/>
          </p:nvSpPr>
          <p:spPr bwMode="auto">
            <a:xfrm>
              <a:off x="1559" y="3545"/>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C</a:t>
              </a:r>
              <a:r>
                <a:rPr kumimoji="0" lang="en-US" altLang="zh-CN" sz="1600" b="1" baseline="-25000">
                  <a:ea typeface="楷体" panose="02010609060101010101" pitchFamily="49" charset="-122"/>
                </a:rPr>
                <a:t>1</a:t>
              </a:r>
            </a:p>
          </p:txBody>
        </p:sp>
      </p:grpSp>
      <p:grpSp>
        <p:nvGrpSpPr>
          <p:cNvPr id="33" name="Group 32"/>
          <p:cNvGrpSpPr>
            <a:grpSpLocks/>
          </p:cNvGrpSpPr>
          <p:nvPr/>
        </p:nvGrpSpPr>
        <p:grpSpPr bwMode="auto">
          <a:xfrm>
            <a:off x="1829420" y="4588768"/>
            <a:ext cx="1157288" cy="941387"/>
            <a:chOff x="1102" y="3164"/>
            <a:chExt cx="729" cy="593"/>
          </a:xfrm>
        </p:grpSpPr>
        <p:grpSp>
          <p:nvGrpSpPr>
            <p:cNvPr id="34" name="Group 33"/>
            <p:cNvGrpSpPr>
              <a:grpSpLocks/>
            </p:cNvGrpSpPr>
            <p:nvPr/>
          </p:nvGrpSpPr>
          <p:grpSpPr bwMode="auto">
            <a:xfrm>
              <a:off x="1111" y="3370"/>
              <a:ext cx="674" cy="378"/>
              <a:chOff x="1338" y="3294"/>
              <a:chExt cx="674" cy="378"/>
            </a:xfrm>
          </p:grpSpPr>
          <p:sp>
            <p:nvSpPr>
              <p:cNvPr id="38" name="Line 34"/>
              <p:cNvSpPr>
                <a:spLocks noChangeShapeType="1"/>
              </p:cNvSpPr>
              <p:nvPr/>
            </p:nvSpPr>
            <p:spPr bwMode="auto">
              <a:xfrm>
                <a:off x="1338" y="3294"/>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9" name="Line 35"/>
              <p:cNvSpPr>
                <a:spLocks noChangeShapeType="1"/>
              </p:cNvSpPr>
              <p:nvPr/>
            </p:nvSpPr>
            <p:spPr bwMode="auto">
              <a:xfrm>
                <a:off x="1565" y="3475"/>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0" name="Line 36"/>
              <p:cNvSpPr>
                <a:spLocks noChangeShapeType="1"/>
              </p:cNvSpPr>
              <p:nvPr/>
            </p:nvSpPr>
            <p:spPr bwMode="auto">
              <a:xfrm>
                <a:off x="1785" y="3672"/>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1" name="Line 37"/>
              <p:cNvSpPr>
                <a:spLocks noChangeShapeType="1"/>
              </p:cNvSpPr>
              <p:nvPr/>
            </p:nvSpPr>
            <p:spPr bwMode="auto">
              <a:xfrm>
                <a:off x="1565" y="3294"/>
                <a:ext cx="0" cy="181"/>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2" name="Line 38"/>
              <p:cNvSpPr>
                <a:spLocks noChangeShapeType="1"/>
              </p:cNvSpPr>
              <p:nvPr/>
            </p:nvSpPr>
            <p:spPr bwMode="auto">
              <a:xfrm>
                <a:off x="1791" y="3476"/>
                <a:ext cx="0" cy="181"/>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35" name="Text Box 39"/>
            <p:cNvSpPr txBox="1">
              <a:spLocks noChangeArrowheads="1"/>
            </p:cNvSpPr>
            <p:nvPr/>
          </p:nvSpPr>
          <p:spPr bwMode="auto">
            <a:xfrm>
              <a:off x="1102" y="3164"/>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T</a:t>
              </a:r>
              <a:r>
                <a:rPr kumimoji="0" lang="en-US" altLang="zh-CN" sz="1600" b="1" baseline="-25000">
                  <a:ea typeface="楷体" panose="02010609060101010101" pitchFamily="49" charset="-122"/>
                </a:rPr>
                <a:t>2</a:t>
              </a:r>
            </a:p>
          </p:txBody>
        </p:sp>
        <p:sp>
          <p:nvSpPr>
            <p:cNvPr id="36" name="Text Box 40"/>
            <p:cNvSpPr txBox="1">
              <a:spLocks noChangeArrowheads="1"/>
            </p:cNvSpPr>
            <p:nvPr/>
          </p:nvSpPr>
          <p:spPr bwMode="auto">
            <a:xfrm>
              <a:off x="1338" y="3339"/>
              <a:ext cx="31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M</a:t>
              </a:r>
              <a:r>
                <a:rPr kumimoji="0" lang="en-US" altLang="zh-CN" sz="1600" b="1" baseline="-25000">
                  <a:ea typeface="楷体" panose="02010609060101010101" pitchFamily="49" charset="-122"/>
                </a:rPr>
                <a:t>2</a:t>
              </a:r>
            </a:p>
          </p:txBody>
        </p:sp>
        <p:sp>
          <p:nvSpPr>
            <p:cNvPr id="37" name="Text Box 41"/>
            <p:cNvSpPr txBox="1">
              <a:spLocks noChangeArrowheads="1"/>
            </p:cNvSpPr>
            <p:nvPr/>
          </p:nvSpPr>
          <p:spPr bwMode="auto">
            <a:xfrm>
              <a:off x="1559" y="3545"/>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C</a:t>
              </a:r>
              <a:r>
                <a:rPr kumimoji="0" lang="en-US" altLang="zh-CN" sz="1600" b="1" baseline="-25000">
                  <a:ea typeface="楷体" panose="02010609060101010101" pitchFamily="49" charset="-122"/>
                </a:rPr>
                <a:t>2</a:t>
              </a:r>
            </a:p>
          </p:txBody>
        </p:sp>
      </p:grpSp>
      <p:grpSp>
        <p:nvGrpSpPr>
          <p:cNvPr id="43" name="Group 42"/>
          <p:cNvGrpSpPr>
            <a:grpSpLocks/>
          </p:cNvGrpSpPr>
          <p:nvPr/>
        </p:nvGrpSpPr>
        <p:grpSpPr bwMode="auto">
          <a:xfrm>
            <a:off x="2569195" y="4584005"/>
            <a:ext cx="1157288" cy="941388"/>
            <a:chOff x="1102" y="3164"/>
            <a:chExt cx="729" cy="593"/>
          </a:xfrm>
        </p:grpSpPr>
        <p:grpSp>
          <p:nvGrpSpPr>
            <p:cNvPr id="44" name="Group 43"/>
            <p:cNvGrpSpPr>
              <a:grpSpLocks/>
            </p:cNvGrpSpPr>
            <p:nvPr/>
          </p:nvGrpSpPr>
          <p:grpSpPr bwMode="auto">
            <a:xfrm>
              <a:off x="1111" y="3370"/>
              <a:ext cx="674" cy="378"/>
              <a:chOff x="1338" y="3294"/>
              <a:chExt cx="674" cy="378"/>
            </a:xfrm>
          </p:grpSpPr>
          <p:sp>
            <p:nvSpPr>
              <p:cNvPr id="48" name="Line 44"/>
              <p:cNvSpPr>
                <a:spLocks noChangeShapeType="1"/>
              </p:cNvSpPr>
              <p:nvPr/>
            </p:nvSpPr>
            <p:spPr bwMode="auto">
              <a:xfrm>
                <a:off x="1338" y="3294"/>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9" name="Line 45"/>
              <p:cNvSpPr>
                <a:spLocks noChangeShapeType="1"/>
              </p:cNvSpPr>
              <p:nvPr/>
            </p:nvSpPr>
            <p:spPr bwMode="auto">
              <a:xfrm>
                <a:off x="1565" y="3475"/>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50" name="Line 46"/>
              <p:cNvSpPr>
                <a:spLocks noChangeShapeType="1"/>
              </p:cNvSpPr>
              <p:nvPr/>
            </p:nvSpPr>
            <p:spPr bwMode="auto">
              <a:xfrm>
                <a:off x="1785" y="3672"/>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51" name="Line 47"/>
              <p:cNvSpPr>
                <a:spLocks noChangeShapeType="1"/>
              </p:cNvSpPr>
              <p:nvPr/>
            </p:nvSpPr>
            <p:spPr bwMode="auto">
              <a:xfrm>
                <a:off x="1565" y="3294"/>
                <a:ext cx="0" cy="181"/>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52" name="Line 48"/>
              <p:cNvSpPr>
                <a:spLocks noChangeShapeType="1"/>
              </p:cNvSpPr>
              <p:nvPr/>
            </p:nvSpPr>
            <p:spPr bwMode="auto">
              <a:xfrm>
                <a:off x="1791" y="3476"/>
                <a:ext cx="0" cy="181"/>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45" name="Text Box 49"/>
            <p:cNvSpPr txBox="1">
              <a:spLocks noChangeArrowheads="1"/>
            </p:cNvSpPr>
            <p:nvPr/>
          </p:nvSpPr>
          <p:spPr bwMode="auto">
            <a:xfrm>
              <a:off x="1102" y="3164"/>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T</a:t>
              </a:r>
              <a:r>
                <a:rPr kumimoji="0" lang="en-US" altLang="zh-CN" sz="1600" b="1" baseline="-25000">
                  <a:ea typeface="楷体" panose="02010609060101010101" pitchFamily="49" charset="-122"/>
                </a:rPr>
                <a:t>3</a:t>
              </a:r>
            </a:p>
          </p:txBody>
        </p:sp>
        <p:sp>
          <p:nvSpPr>
            <p:cNvPr id="46" name="Text Box 50"/>
            <p:cNvSpPr txBox="1">
              <a:spLocks noChangeArrowheads="1"/>
            </p:cNvSpPr>
            <p:nvPr/>
          </p:nvSpPr>
          <p:spPr bwMode="auto">
            <a:xfrm>
              <a:off x="1338" y="3339"/>
              <a:ext cx="31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M</a:t>
              </a:r>
              <a:r>
                <a:rPr kumimoji="0" lang="en-US" altLang="zh-CN" sz="1600" b="1" baseline="-25000">
                  <a:ea typeface="楷体" panose="02010609060101010101" pitchFamily="49" charset="-122"/>
                </a:rPr>
                <a:t>3</a:t>
              </a:r>
            </a:p>
          </p:txBody>
        </p:sp>
        <p:sp>
          <p:nvSpPr>
            <p:cNvPr id="47" name="Text Box 51"/>
            <p:cNvSpPr txBox="1">
              <a:spLocks noChangeArrowheads="1"/>
            </p:cNvSpPr>
            <p:nvPr/>
          </p:nvSpPr>
          <p:spPr bwMode="auto">
            <a:xfrm>
              <a:off x="1559" y="3545"/>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C</a:t>
              </a:r>
              <a:r>
                <a:rPr kumimoji="0" lang="en-US" altLang="zh-CN" sz="1600" b="1" baseline="-25000">
                  <a:ea typeface="楷体" panose="02010609060101010101" pitchFamily="49" charset="-122"/>
                </a:rPr>
                <a:t>3</a:t>
              </a:r>
            </a:p>
          </p:txBody>
        </p:sp>
      </p:grpSp>
      <p:grpSp>
        <p:nvGrpSpPr>
          <p:cNvPr id="53" name="Group 52"/>
          <p:cNvGrpSpPr>
            <a:grpSpLocks/>
          </p:cNvGrpSpPr>
          <p:nvPr/>
        </p:nvGrpSpPr>
        <p:grpSpPr bwMode="auto">
          <a:xfrm>
            <a:off x="3285158" y="4584005"/>
            <a:ext cx="1157287" cy="941388"/>
            <a:chOff x="1102" y="3164"/>
            <a:chExt cx="729" cy="593"/>
          </a:xfrm>
        </p:grpSpPr>
        <p:grpSp>
          <p:nvGrpSpPr>
            <p:cNvPr id="54" name="Group 53"/>
            <p:cNvGrpSpPr>
              <a:grpSpLocks/>
            </p:cNvGrpSpPr>
            <p:nvPr/>
          </p:nvGrpSpPr>
          <p:grpSpPr bwMode="auto">
            <a:xfrm>
              <a:off x="1111" y="3370"/>
              <a:ext cx="674" cy="378"/>
              <a:chOff x="1338" y="3294"/>
              <a:chExt cx="674" cy="378"/>
            </a:xfrm>
          </p:grpSpPr>
          <p:sp>
            <p:nvSpPr>
              <p:cNvPr id="58" name="Line 54"/>
              <p:cNvSpPr>
                <a:spLocks noChangeShapeType="1"/>
              </p:cNvSpPr>
              <p:nvPr/>
            </p:nvSpPr>
            <p:spPr bwMode="auto">
              <a:xfrm>
                <a:off x="1338" y="3294"/>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59" name="Line 55"/>
              <p:cNvSpPr>
                <a:spLocks noChangeShapeType="1"/>
              </p:cNvSpPr>
              <p:nvPr/>
            </p:nvSpPr>
            <p:spPr bwMode="auto">
              <a:xfrm>
                <a:off x="1565" y="3475"/>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60" name="Line 56"/>
              <p:cNvSpPr>
                <a:spLocks noChangeShapeType="1"/>
              </p:cNvSpPr>
              <p:nvPr/>
            </p:nvSpPr>
            <p:spPr bwMode="auto">
              <a:xfrm>
                <a:off x="1785" y="3672"/>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61" name="Line 57"/>
              <p:cNvSpPr>
                <a:spLocks noChangeShapeType="1"/>
              </p:cNvSpPr>
              <p:nvPr/>
            </p:nvSpPr>
            <p:spPr bwMode="auto">
              <a:xfrm>
                <a:off x="1565" y="3294"/>
                <a:ext cx="0" cy="181"/>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62" name="Line 58"/>
              <p:cNvSpPr>
                <a:spLocks noChangeShapeType="1"/>
              </p:cNvSpPr>
              <p:nvPr/>
            </p:nvSpPr>
            <p:spPr bwMode="auto">
              <a:xfrm>
                <a:off x="1791" y="3476"/>
                <a:ext cx="0" cy="181"/>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55" name="Text Box 59"/>
            <p:cNvSpPr txBox="1">
              <a:spLocks noChangeArrowheads="1"/>
            </p:cNvSpPr>
            <p:nvPr/>
          </p:nvSpPr>
          <p:spPr bwMode="auto">
            <a:xfrm>
              <a:off x="1102" y="3164"/>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T</a:t>
              </a:r>
              <a:r>
                <a:rPr kumimoji="0" lang="en-US" altLang="zh-CN" sz="1600" b="1" baseline="-25000">
                  <a:ea typeface="楷体" panose="02010609060101010101" pitchFamily="49" charset="-122"/>
                </a:rPr>
                <a:t>4</a:t>
              </a:r>
            </a:p>
          </p:txBody>
        </p:sp>
        <p:sp>
          <p:nvSpPr>
            <p:cNvPr id="56" name="Text Box 60"/>
            <p:cNvSpPr txBox="1">
              <a:spLocks noChangeArrowheads="1"/>
            </p:cNvSpPr>
            <p:nvPr/>
          </p:nvSpPr>
          <p:spPr bwMode="auto">
            <a:xfrm>
              <a:off x="1338" y="3339"/>
              <a:ext cx="31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M</a:t>
              </a:r>
              <a:r>
                <a:rPr kumimoji="0" lang="en-US" altLang="zh-CN" sz="1600" b="1" baseline="-25000">
                  <a:ea typeface="楷体" panose="02010609060101010101" pitchFamily="49" charset="-122"/>
                </a:rPr>
                <a:t>4</a:t>
              </a:r>
            </a:p>
          </p:txBody>
        </p:sp>
        <p:sp>
          <p:nvSpPr>
            <p:cNvPr id="57" name="Text Box 61"/>
            <p:cNvSpPr txBox="1">
              <a:spLocks noChangeArrowheads="1"/>
            </p:cNvSpPr>
            <p:nvPr/>
          </p:nvSpPr>
          <p:spPr bwMode="auto">
            <a:xfrm>
              <a:off x="1559" y="3545"/>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C</a:t>
              </a:r>
              <a:r>
                <a:rPr kumimoji="0" lang="en-US" altLang="zh-CN" sz="1600" b="1" baseline="-25000">
                  <a:ea typeface="楷体" panose="02010609060101010101" pitchFamily="49" charset="-122"/>
                </a:rPr>
                <a:t>4</a:t>
              </a:r>
            </a:p>
          </p:txBody>
        </p:sp>
      </p:grpSp>
      <p:grpSp>
        <p:nvGrpSpPr>
          <p:cNvPr id="63" name="Group 62"/>
          <p:cNvGrpSpPr>
            <a:grpSpLocks/>
          </p:cNvGrpSpPr>
          <p:nvPr/>
        </p:nvGrpSpPr>
        <p:grpSpPr bwMode="auto">
          <a:xfrm>
            <a:off x="4032870" y="4574480"/>
            <a:ext cx="431800" cy="336550"/>
            <a:chOff x="158" y="2205"/>
            <a:chExt cx="272" cy="212"/>
          </a:xfrm>
        </p:grpSpPr>
        <p:sp>
          <p:nvSpPr>
            <p:cNvPr id="64" name="Line 63"/>
            <p:cNvSpPr>
              <a:spLocks noChangeShapeType="1"/>
            </p:cNvSpPr>
            <p:nvPr/>
          </p:nvSpPr>
          <p:spPr bwMode="auto">
            <a:xfrm>
              <a:off x="167" y="2411"/>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65" name="Text Box 64"/>
            <p:cNvSpPr txBox="1">
              <a:spLocks noChangeArrowheads="1"/>
            </p:cNvSpPr>
            <p:nvPr/>
          </p:nvSpPr>
          <p:spPr bwMode="auto">
            <a:xfrm>
              <a:off x="158" y="2205"/>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T</a:t>
              </a:r>
              <a:r>
                <a:rPr kumimoji="0" lang="en-US" altLang="zh-CN" sz="1600" b="1" baseline="-25000">
                  <a:ea typeface="楷体" panose="02010609060101010101" pitchFamily="49" charset="-122"/>
                </a:rPr>
                <a:t>5</a:t>
              </a:r>
            </a:p>
          </p:txBody>
        </p:sp>
      </p:grpSp>
      <p:sp>
        <p:nvSpPr>
          <p:cNvPr id="66" name="Line 65"/>
          <p:cNvSpPr>
            <a:spLocks noChangeShapeType="1"/>
          </p:cNvSpPr>
          <p:nvPr/>
        </p:nvSpPr>
        <p:spPr bwMode="auto">
          <a:xfrm>
            <a:off x="1043608" y="5727005"/>
            <a:ext cx="35988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67" name="Text Box 66"/>
          <p:cNvSpPr txBox="1">
            <a:spLocks noChangeArrowheads="1"/>
          </p:cNvSpPr>
          <p:nvPr/>
        </p:nvSpPr>
        <p:spPr bwMode="auto">
          <a:xfrm>
            <a:off x="4605958" y="5539680"/>
            <a:ext cx="2873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t</a:t>
            </a:r>
          </a:p>
        </p:txBody>
      </p:sp>
      <p:sp>
        <p:nvSpPr>
          <p:cNvPr id="68" name="Text Box 67"/>
          <p:cNvSpPr txBox="1">
            <a:spLocks noChangeArrowheads="1"/>
          </p:cNvSpPr>
          <p:nvPr/>
        </p:nvSpPr>
        <p:spPr bwMode="auto">
          <a:xfrm>
            <a:off x="5291758" y="4725293"/>
            <a:ext cx="31686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2000" b="1">
                <a:ea typeface="楷体" panose="02010609060101010101" pitchFamily="49" charset="-122"/>
              </a:rPr>
              <a:t>系统处理每一块数据的时间为：</a:t>
            </a:r>
            <a:r>
              <a:rPr kumimoji="0" lang="en-US" altLang="zh-CN" sz="2000" b="1">
                <a:ea typeface="楷体" panose="02010609060101010101" pitchFamily="49" charset="-122"/>
              </a:rPr>
              <a:t>Max(</a:t>
            </a:r>
            <a:r>
              <a:rPr kumimoji="0" lang="en-US" altLang="zh-CN" sz="2000" b="1" i="1">
                <a:ea typeface="楷体" panose="02010609060101010101" pitchFamily="49" charset="-122"/>
              </a:rPr>
              <a:t>C</a:t>
            </a:r>
            <a:r>
              <a:rPr kumimoji="0" lang="en-US" altLang="zh-CN" sz="2000" b="1">
                <a:ea typeface="楷体" panose="02010609060101010101" pitchFamily="49" charset="-122"/>
              </a:rPr>
              <a:t>,</a:t>
            </a:r>
            <a:r>
              <a:rPr kumimoji="0" lang="en-US" altLang="zh-CN" sz="2000" b="1" i="1">
                <a:ea typeface="楷体" panose="02010609060101010101" pitchFamily="49" charset="-122"/>
              </a:rPr>
              <a:t>T</a:t>
            </a:r>
            <a:r>
              <a:rPr kumimoji="0" lang="en-US" altLang="zh-CN" sz="2000" b="1">
                <a:ea typeface="楷体" panose="02010609060101010101" pitchFamily="49" charset="-122"/>
              </a:rPr>
              <a:t>)+</a:t>
            </a:r>
            <a:r>
              <a:rPr kumimoji="0" lang="en-US" altLang="zh-CN" sz="2000" b="1" i="1">
                <a:ea typeface="楷体" panose="02010609060101010101" pitchFamily="49" charset="-122"/>
              </a:rPr>
              <a:t>M</a:t>
            </a:r>
          </a:p>
        </p:txBody>
      </p:sp>
    </p:spTree>
    <p:extLst>
      <p:ext uri="{BB962C8B-B14F-4D97-AF65-F5344CB8AC3E}">
        <p14:creationId xmlns:p14="http://schemas.microsoft.com/office/powerpoint/2010/main" val="4115055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left)">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wipe(left)">
                                      <p:cBhvr>
                                        <p:cTn id="17" dur="500"/>
                                        <p:tgtEl>
                                          <p:spTgt spid="4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wipe(left)">
                                      <p:cBhvr>
                                        <p:cTn id="22" dur="500"/>
                                        <p:tgtEl>
                                          <p:spTgt spid="5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3"/>
                                        </p:tgtEl>
                                        <p:attrNameLst>
                                          <p:attrName>style.visibility</p:attrName>
                                        </p:attrNameLst>
                                      </p:cBhvr>
                                      <p:to>
                                        <p:strVal val="visible"/>
                                      </p:to>
                                    </p:set>
                                    <p:animEffect transition="in" filter="wipe(left)">
                                      <p:cBhvr>
                                        <p:cTn id="27" dur="500"/>
                                        <p:tgtEl>
                                          <p:spTgt spid="63"/>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68"/>
                                        </p:tgtEl>
                                        <p:attrNameLst>
                                          <p:attrName>style.visibility</p:attrName>
                                        </p:attrNameLst>
                                      </p:cBhvr>
                                      <p:to>
                                        <p:strVal val="visible"/>
                                      </p:to>
                                    </p:set>
                                    <p:animEffect transition="in" filter="box(out)">
                                      <p:cBhvr>
                                        <p:cTn id="32"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双缓冲技术</a:t>
            </a:r>
          </a:p>
        </p:txBody>
      </p:sp>
      <p:sp>
        <p:nvSpPr>
          <p:cNvPr id="3" name="Content Placeholder 2"/>
          <p:cNvSpPr>
            <a:spLocks noGrp="1"/>
          </p:cNvSpPr>
          <p:nvPr>
            <p:ph idx="1"/>
          </p:nvPr>
        </p:nvSpPr>
        <p:spPr/>
        <p:txBody>
          <a:bodyPr/>
          <a:lstStyle/>
          <a:p>
            <a:r>
              <a:rPr lang="zh-CN" altLang="en-US" dirty="0"/>
              <a:t>基本原理</a:t>
            </a:r>
            <a:endParaRPr lang="en-US" altLang="zh-CN" dirty="0"/>
          </a:p>
          <a:p>
            <a:pPr lvl="1"/>
            <a:r>
              <a:rPr lang="zh-CN" altLang="en-US" dirty="0"/>
              <a:t>两个缓冲区，</a:t>
            </a:r>
            <a:r>
              <a:rPr lang="en-US" altLang="zh-CN" dirty="0"/>
              <a:t>CPU</a:t>
            </a:r>
            <a:r>
              <a:rPr lang="zh-CN" altLang="en-US" dirty="0"/>
              <a:t>和外设都可以连续处理而无需等待对方。要求</a:t>
            </a:r>
            <a:r>
              <a:rPr lang="en-US" altLang="zh-CN" dirty="0"/>
              <a:t>CPU</a:t>
            </a:r>
            <a:r>
              <a:rPr lang="zh-CN" altLang="en-US" dirty="0"/>
              <a:t>和外设的速度相近</a:t>
            </a:r>
          </a:p>
          <a:p>
            <a:pPr lvl="1"/>
            <a:endParaRPr lang="zh-CN" altLang="en-US" dirty="0"/>
          </a:p>
        </p:txBody>
      </p:sp>
      <p:sp>
        <p:nvSpPr>
          <p:cNvPr id="4" name="Date Placeholder 3"/>
          <p:cNvSpPr>
            <a:spLocks noGrp="1"/>
          </p:cNvSpPr>
          <p:nvPr>
            <p:ph type="dt" sz="half" idx="10"/>
          </p:nvPr>
        </p:nvSpPr>
        <p:spPr/>
        <p:txBody>
          <a:bodyPr/>
          <a:lstStyle/>
          <a:p>
            <a:fld id="{B21486B8-B828-466F-9A03-B272722CB59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37</a:t>
            </a:fld>
            <a:endParaRPr lang="zh-CN" altLang="en-US" dirty="0"/>
          </a:p>
        </p:txBody>
      </p:sp>
      <p:grpSp>
        <p:nvGrpSpPr>
          <p:cNvPr id="7" name="Group 68"/>
          <p:cNvGrpSpPr>
            <a:grpSpLocks/>
          </p:cNvGrpSpPr>
          <p:nvPr/>
        </p:nvGrpSpPr>
        <p:grpSpPr bwMode="auto">
          <a:xfrm>
            <a:off x="1979439" y="3212976"/>
            <a:ext cx="5816600" cy="1271588"/>
            <a:chOff x="1111" y="2387"/>
            <a:chExt cx="3664" cy="801"/>
          </a:xfrm>
        </p:grpSpPr>
        <p:sp>
          <p:nvSpPr>
            <p:cNvPr id="8" name="Text Box 69"/>
            <p:cNvSpPr txBox="1">
              <a:spLocks noChangeArrowheads="1"/>
            </p:cNvSpPr>
            <p:nvPr/>
          </p:nvSpPr>
          <p:spPr bwMode="auto">
            <a:xfrm>
              <a:off x="2350" y="2387"/>
              <a:ext cx="81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2000" b="1">
                  <a:ea typeface="楷体" panose="02010609060101010101" pitchFamily="49" charset="-122"/>
                </a:rPr>
                <a:t>操作系统</a:t>
              </a:r>
            </a:p>
          </p:txBody>
        </p:sp>
        <p:sp>
          <p:nvSpPr>
            <p:cNvPr id="9" name="Text Box 70"/>
            <p:cNvSpPr txBox="1">
              <a:spLocks noChangeArrowheads="1"/>
            </p:cNvSpPr>
            <p:nvPr/>
          </p:nvSpPr>
          <p:spPr bwMode="auto">
            <a:xfrm>
              <a:off x="3881" y="2387"/>
              <a:ext cx="81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2000" b="1">
                  <a:ea typeface="楷体" panose="02010609060101010101" pitchFamily="49" charset="-122"/>
                </a:rPr>
                <a:t>用户进程</a:t>
              </a:r>
            </a:p>
          </p:txBody>
        </p:sp>
        <p:sp>
          <p:nvSpPr>
            <p:cNvPr id="10" name="AutoShape 71"/>
            <p:cNvSpPr>
              <a:spLocks noChangeArrowheads="1"/>
            </p:cNvSpPr>
            <p:nvPr/>
          </p:nvSpPr>
          <p:spPr bwMode="auto">
            <a:xfrm>
              <a:off x="2235" y="2659"/>
              <a:ext cx="998" cy="499"/>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11" name="Text Box 72"/>
            <p:cNvSpPr txBox="1">
              <a:spLocks noChangeArrowheads="1"/>
            </p:cNvSpPr>
            <p:nvPr/>
          </p:nvSpPr>
          <p:spPr bwMode="auto">
            <a:xfrm>
              <a:off x="2445" y="2704"/>
              <a:ext cx="590" cy="16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p>
              <a:pPr algn="ctr">
                <a:spcBef>
                  <a:spcPct val="50000"/>
                </a:spcBef>
              </a:pPr>
              <a:r>
                <a:rPr kumimoji="0" lang="zh-CN" altLang="en-US" sz="1600" b="1">
                  <a:ea typeface="楷体" panose="02010609060101010101" pitchFamily="49" charset="-122"/>
                </a:rPr>
                <a:t>缓冲区</a:t>
              </a:r>
              <a:r>
                <a:rPr kumimoji="0" lang="en-US" altLang="zh-CN" sz="1600" b="1">
                  <a:ea typeface="楷体" panose="02010609060101010101" pitchFamily="49" charset="-122"/>
                </a:rPr>
                <a:t>1</a:t>
              </a:r>
            </a:p>
          </p:txBody>
        </p:sp>
        <p:sp>
          <p:nvSpPr>
            <p:cNvPr id="12" name="AutoShape 73"/>
            <p:cNvSpPr>
              <a:spLocks noChangeArrowheads="1"/>
            </p:cNvSpPr>
            <p:nvPr/>
          </p:nvSpPr>
          <p:spPr bwMode="auto">
            <a:xfrm>
              <a:off x="3777" y="2659"/>
              <a:ext cx="998" cy="499"/>
            </a:xfrm>
            <a:prstGeom prst="roundRect">
              <a:avLst>
                <a:gd name="adj" fmla="val 16667"/>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13" name="Text Box 74"/>
            <p:cNvSpPr txBox="1">
              <a:spLocks noChangeArrowheads="1"/>
            </p:cNvSpPr>
            <p:nvPr/>
          </p:nvSpPr>
          <p:spPr bwMode="auto">
            <a:xfrm>
              <a:off x="3987" y="2795"/>
              <a:ext cx="590" cy="21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0" lang="zh-CN" altLang="en-US" sz="1600" b="1">
                  <a:ea typeface="楷体" panose="02010609060101010101" pitchFamily="49" charset="-122"/>
                </a:rPr>
                <a:t>工作区</a:t>
              </a:r>
            </a:p>
          </p:txBody>
        </p:sp>
        <p:sp>
          <p:nvSpPr>
            <p:cNvPr id="14" name="Text Box 75"/>
            <p:cNvSpPr txBox="1">
              <a:spLocks noChangeArrowheads="1"/>
            </p:cNvSpPr>
            <p:nvPr/>
          </p:nvSpPr>
          <p:spPr bwMode="auto">
            <a:xfrm>
              <a:off x="2441" y="2940"/>
              <a:ext cx="590" cy="16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p>
              <a:pPr algn="ctr">
                <a:spcBef>
                  <a:spcPct val="50000"/>
                </a:spcBef>
              </a:pPr>
              <a:r>
                <a:rPr kumimoji="0" lang="zh-CN" altLang="en-US" sz="1600" b="1">
                  <a:ea typeface="楷体" panose="02010609060101010101" pitchFamily="49" charset="-122"/>
                </a:rPr>
                <a:t>缓冲区</a:t>
              </a:r>
              <a:r>
                <a:rPr kumimoji="0" lang="en-US" altLang="zh-CN" sz="1600" b="1">
                  <a:ea typeface="楷体" panose="02010609060101010101" pitchFamily="49" charset="-122"/>
                </a:rPr>
                <a:t>2</a:t>
              </a:r>
            </a:p>
          </p:txBody>
        </p:sp>
        <p:sp>
          <p:nvSpPr>
            <p:cNvPr id="15" name="Line 76"/>
            <p:cNvSpPr>
              <a:spLocks noChangeShapeType="1"/>
            </p:cNvSpPr>
            <p:nvPr/>
          </p:nvSpPr>
          <p:spPr bwMode="auto">
            <a:xfrm>
              <a:off x="1781" y="2886"/>
              <a:ext cx="49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6" name="Line 77"/>
            <p:cNvSpPr>
              <a:spLocks noChangeShapeType="1"/>
            </p:cNvSpPr>
            <p:nvPr/>
          </p:nvSpPr>
          <p:spPr bwMode="auto">
            <a:xfrm flipV="1">
              <a:off x="2280" y="2774"/>
              <a:ext cx="159" cy="113"/>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7" name="Text Box 78"/>
            <p:cNvSpPr txBox="1">
              <a:spLocks noChangeArrowheads="1"/>
            </p:cNvSpPr>
            <p:nvPr/>
          </p:nvSpPr>
          <p:spPr bwMode="auto">
            <a:xfrm>
              <a:off x="1111" y="2733"/>
              <a:ext cx="6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2000" b="1">
                  <a:ea typeface="楷体" panose="02010609060101010101" pitchFamily="49" charset="-122"/>
                </a:rPr>
                <a:t>I/O</a:t>
              </a:r>
              <a:r>
                <a:rPr kumimoji="0" lang="zh-CN" altLang="en-US" sz="2000" b="1">
                  <a:ea typeface="楷体" panose="02010609060101010101" pitchFamily="49" charset="-122"/>
                </a:rPr>
                <a:t>设备</a:t>
              </a:r>
            </a:p>
          </p:txBody>
        </p:sp>
        <p:sp>
          <p:nvSpPr>
            <p:cNvPr id="18" name="Line 79"/>
            <p:cNvSpPr>
              <a:spLocks noChangeShapeType="1"/>
            </p:cNvSpPr>
            <p:nvPr/>
          </p:nvSpPr>
          <p:spPr bwMode="auto">
            <a:xfrm flipV="1">
              <a:off x="3036" y="2903"/>
              <a:ext cx="159" cy="1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9" name="Line 80"/>
            <p:cNvSpPr>
              <a:spLocks noChangeShapeType="1"/>
            </p:cNvSpPr>
            <p:nvPr/>
          </p:nvSpPr>
          <p:spPr bwMode="auto">
            <a:xfrm>
              <a:off x="3188" y="2903"/>
              <a:ext cx="793"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0" name="Freeform 81"/>
            <p:cNvSpPr>
              <a:spLocks/>
            </p:cNvSpPr>
            <p:nvPr/>
          </p:nvSpPr>
          <p:spPr bwMode="auto">
            <a:xfrm>
              <a:off x="2280" y="2772"/>
              <a:ext cx="106" cy="159"/>
            </a:xfrm>
            <a:custGeom>
              <a:avLst/>
              <a:gdLst>
                <a:gd name="T0" fmla="*/ 0 w 106"/>
                <a:gd name="T1" fmla="*/ 23 h 159"/>
                <a:gd name="T2" fmla="*/ 91 w 106"/>
                <a:gd name="T3" fmla="*/ 23 h 159"/>
                <a:gd name="T4" fmla="*/ 91 w 106"/>
                <a:gd name="T5" fmla="*/ 159 h 159"/>
              </a:gdLst>
              <a:ahLst/>
              <a:cxnLst>
                <a:cxn ang="0">
                  <a:pos x="T0" y="T1"/>
                </a:cxn>
                <a:cxn ang="0">
                  <a:pos x="T2" y="T3"/>
                </a:cxn>
                <a:cxn ang="0">
                  <a:pos x="T4" y="T5"/>
                </a:cxn>
              </a:cxnLst>
              <a:rect l="0" t="0" r="r" b="b"/>
              <a:pathLst>
                <a:path w="106" h="159">
                  <a:moveTo>
                    <a:pt x="0" y="23"/>
                  </a:moveTo>
                  <a:cubicBezTo>
                    <a:pt x="38" y="11"/>
                    <a:pt x="76" y="0"/>
                    <a:pt x="91" y="23"/>
                  </a:cubicBezTo>
                  <a:cubicBezTo>
                    <a:pt x="106" y="46"/>
                    <a:pt x="91" y="136"/>
                    <a:pt x="91" y="159"/>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1" name="Freeform 82"/>
            <p:cNvSpPr>
              <a:spLocks/>
            </p:cNvSpPr>
            <p:nvPr/>
          </p:nvSpPr>
          <p:spPr bwMode="auto">
            <a:xfrm>
              <a:off x="3071" y="2879"/>
              <a:ext cx="152" cy="136"/>
            </a:xfrm>
            <a:custGeom>
              <a:avLst/>
              <a:gdLst>
                <a:gd name="T0" fmla="*/ 152 w 152"/>
                <a:gd name="T1" fmla="*/ 136 h 136"/>
                <a:gd name="T2" fmla="*/ 15 w 152"/>
                <a:gd name="T3" fmla="*/ 90 h 136"/>
                <a:gd name="T4" fmla="*/ 61 w 152"/>
                <a:gd name="T5" fmla="*/ 0 h 136"/>
              </a:gdLst>
              <a:ahLst/>
              <a:cxnLst>
                <a:cxn ang="0">
                  <a:pos x="T0" y="T1"/>
                </a:cxn>
                <a:cxn ang="0">
                  <a:pos x="T2" y="T3"/>
                </a:cxn>
                <a:cxn ang="0">
                  <a:pos x="T4" y="T5"/>
                </a:cxn>
              </a:cxnLst>
              <a:rect l="0" t="0" r="r" b="b"/>
              <a:pathLst>
                <a:path w="152" h="136">
                  <a:moveTo>
                    <a:pt x="152" y="136"/>
                  </a:moveTo>
                  <a:cubicBezTo>
                    <a:pt x="91" y="124"/>
                    <a:pt x="30" y="113"/>
                    <a:pt x="15" y="90"/>
                  </a:cubicBezTo>
                  <a:cubicBezTo>
                    <a:pt x="0" y="67"/>
                    <a:pt x="53" y="15"/>
                    <a:pt x="61"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2" name="Text Box 83"/>
            <p:cNvSpPr txBox="1">
              <a:spLocks noChangeArrowheads="1"/>
            </p:cNvSpPr>
            <p:nvPr/>
          </p:nvSpPr>
          <p:spPr bwMode="auto">
            <a:xfrm>
              <a:off x="3317" y="2698"/>
              <a:ext cx="40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传送</a:t>
              </a:r>
            </a:p>
          </p:txBody>
        </p:sp>
        <p:sp>
          <p:nvSpPr>
            <p:cNvPr id="23" name="Text Box 84"/>
            <p:cNvSpPr txBox="1">
              <a:spLocks noChangeArrowheads="1"/>
            </p:cNvSpPr>
            <p:nvPr/>
          </p:nvSpPr>
          <p:spPr bwMode="auto">
            <a:xfrm>
              <a:off x="1813" y="2681"/>
              <a:ext cx="40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输入</a:t>
              </a:r>
            </a:p>
          </p:txBody>
        </p:sp>
        <p:sp>
          <p:nvSpPr>
            <p:cNvPr id="24" name="Text Box 85"/>
            <p:cNvSpPr txBox="1">
              <a:spLocks noChangeArrowheads="1"/>
            </p:cNvSpPr>
            <p:nvPr/>
          </p:nvSpPr>
          <p:spPr bwMode="auto">
            <a:xfrm>
              <a:off x="1879" y="2880"/>
              <a:ext cx="22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T</a:t>
              </a:r>
            </a:p>
          </p:txBody>
        </p:sp>
        <p:sp>
          <p:nvSpPr>
            <p:cNvPr id="25" name="Text Box 86"/>
            <p:cNvSpPr txBox="1">
              <a:spLocks noChangeArrowheads="1"/>
            </p:cNvSpPr>
            <p:nvPr/>
          </p:nvSpPr>
          <p:spPr bwMode="auto">
            <a:xfrm>
              <a:off x="3409" y="2874"/>
              <a:ext cx="22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M</a:t>
              </a:r>
            </a:p>
          </p:txBody>
        </p:sp>
        <p:sp>
          <p:nvSpPr>
            <p:cNvPr id="26" name="Text Box 87"/>
            <p:cNvSpPr txBox="1">
              <a:spLocks noChangeArrowheads="1"/>
            </p:cNvSpPr>
            <p:nvPr/>
          </p:nvSpPr>
          <p:spPr bwMode="auto">
            <a:xfrm>
              <a:off x="4159" y="2976"/>
              <a:ext cx="22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C</a:t>
              </a:r>
            </a:p>
          </p:txBody>
        </p:sp>
        <p:sp>
          <p:nvSpPr>
            <p:cNvPr id="27" name="Text Box 88"/>
            <p:cNvSpPr txBox="1">
              <a:spLocks noChangeArrowheads="1"/>
            </p:cNvSpPr>
            <p:nvPr/>
          </p:nvSpPr>
          <p:spPr bwMode="auto">
            <a:xfrm>
              <a:off x="4087" y="2616"/>
              <a:ext cx="40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处理</a:t>
              </a:r>
            </a:p>
          </p:txBody>
        </p:sp>
      </p:grpSp>
      <p:grpSp>
        <p:nvGrpSpPr>
          <p:cNvPr id="29" name="Group 129"/>
          <p:cNvGrpSpPr>
            <a:grpSpLocks/>
          </p:cNvGrpSpPr>
          <p:nvPr/>
        </p:nvGrpSpPr>
        <p:grpSpPr bwMode="auto">
          <a:xfrm>
            <a:off x="1479376" y="4727451"/>
            <a:ext cx="1157288" cy="941388"/>
            <a:chOff x="1102" y="3164"/>
            <a:chExt cx="729" cy="593"/>
          </a:xfrm>
        </p:grpSpPr>
        <p:grpSp>
          <p:nvGrpSpPr>
            <p:cNvPr id="30" name="Group 130"/>
            <p:cNvGrpSpPr>
              <a:grpSpLocks/>
            </p:cNvGrpSpPr>
            <p:nvPr/>
          </p:nvGrpSpPr>
          <p:grpSpPr bwMode="auto">
            <a:xfrm>
              <a:off x="1111" y="3370"/>
              <a:ext cx="674" cy="378"/>
              <a:chOff x="1338" y="3294"/>
              <a:chExt cx="674" cy="378"/>
            </a:xfrm>
          </p:grpSpPr>
          <p:sp>
            <p:nvSpPr>
              <p:cNvPr id="34" name="Line 131"/>
              <p:cNvSpPr>
                <a:spLocks noChangeShapeType="1"/>
              </p:cNvSpPr>
              <p:nvPr/>
            </p:nvSpPr>
            <p:spPr bwMode="auto">
              <a:xfrm>
                <a:off x="1338" y="3294"/>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5" name="Line 132"/>
              <p:cNvSpPr>
                <a:spLocks noChangeShapeType="1"/>
              </p:cNvSpPr>
              <p:nvPr/>
            </p:nvSpPr>
            <p:spPr bwMode="auto">
              <a:xfrm>
                <a:off x="1565" y="3475"/>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6" name="Line 133"/>
              <p:cNvSpPr>
                <a:spLocks noChangeShapeType="1"/>
              </p:cNvSpPr>
              <p:nvPr/>
            </p:nvSpPr>
            <p:spPr bwMode="auto">
              <a:xfrm>
                <a:off x="1785" y="3672"/>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7" name="Line 134"/>
              <p:cNvSpPr>
                <a:spLocks noChangeShapeType="1"/>
              </p:cNvSpPr>
              <p:nvPr/>
            </p:nvSpPr>
            <p:spPr bwMode="auto">
              <a:xfrm>
                <a:off x="1565" y="3294"/>
                <a:ext cx="0" cy="181"/>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8" name="Line 135"/>
              <p:cNvSpPr>
                <a:spLocks noChangeShapeType="1"/>
              </p:cNvSpPr>
              <p:nvPr/>
            </p:nvSpPr>
            <p:spPr bwMode="auto">
              <a:xfrm>
                <a:off x="1791" y="3476"/>
                <a:ext cx="0" cy="181"/>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31" name="Text Box 136"/>
            <p:cNvSpPr txBox="1">
              <a:spLocks noChangeArrowheads="1"/>
            </p:cNvSpPr>
            <p:nvPr/>
          </p:nvSpPr>
          <p:spPr bwMode="auto">
            <a:xfrm>
              <a:off x="1102" y="3164"/>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T</a:t>
              </a:r>
              <a:r>
                <a:rPr kumimoji="0" lang="en-US" altLang="zh-CN" sz="1600" b="1" baseline="-25000">
                  <a:ea typeface="楷体" panose="02010609060101010101" pitchFamily="49" charset="-122"/>
                </a:rPr>
                <a:t>1</a:t>
              </a:r>
            </a:p>
          </p:txBody>
        </p:sp>
        <p:sp>
          <p:nvSpPr>
            <p:cNvPr id="32" name="Text Box 137"/>
            <p:cNvSpPr txBox="1">
              <a:spLocks noChangeArrowheads="1"/>
            </p:cNvSpPr>
            <p:nvPr/>
          </p:nvSpPr>
          <p:spPr bwMode="auto">
            <a:xfrm>
              <a:off x="1338" y="3339"/>
              <a:ext cx="31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M</a:t>
              </a:r>
              <a:r>
                <a:rPr kumimoji="0" lang="en-US" altLang="zh-CN" sz="1600" b="1" baseline="-25000">
                  <a:ea typeface="楷体" panose="02010609060101010101" pitchFamily="49" charset="-122"/>
                </a:rPr>
                <a:t>1</a:t>
              </a:r>
            </a:p>
          </p:txBody>
        </p:sp>
        <p:sp>
          <p:nvSpPr>
            <p:cNvPr id="33" name="Text Box 138"/>
            <p:cNvSpPr txBox="1">
              <a:spLocks noChangeArrowheads="1"/>
            </p:cNvSpPr>
            <p:nvPr/>
          </p:nvSpPr>
          <p:spPr bwMode="auto">
            <a:xfrm>
              <a:off x="1559" y="3545"/>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C</a:t>
              </a:r>
              <a:r>
                <a:rPr kumimoji="0" lang="en-US" altLang="zh-CN" sz="1600" b="1" baseline="-25000">
                  <a:ea typeface="楷体" panose="02010609060101010101" pitchFamily="49" charset="-122"/>
                </a:rPr>
                <a:t>1</a:t>
              </a:r>
            </a:p>
          </p:txBody>
        </p:sp>
      </p:grpSp>
      <p:grpSp>
        <p:nvGrpSpPr>
          <p:cNvPr id="39" name="Group 139"/>
          <p:cNvGrpSpPr>
            <a:grpSpLocks/>
          </p:cNvGrpSpPr>
          <p:nvPr/>
        </p:nvGrpSpPr>
        <p:grpSpPr bwMode="auto">
          <a:xfrm>
            <a:off x="1838151" y="4724276"/>
            <a:ext cx="1157288" cy="941388"/>
            <a:chOff x="1102" y="3164"/>
            <a:chExt cx="729" cy="593"/>
          </a:xfrm>
        </p:grpSpPr>
        <p:grpSp>
          <p:nvGrpSpPr>
            <p:cNvPr id="40" name="Group 140"/>
            <p:cNvGrpSpPr>
              <a:grpSpLocks/>
            </p:cNvGrpSpPr>
            <p:nvPr/>
          </p:nvGrpSpPr>
          <p:grpSpPr bwMode="auto">
            <a:xfrm>
              <a:off x="1111" y="3370"/>
              <a:ext cx="674" cy="378"/>
              <a:chOff x="1338" y="3294"/>
              <a:chExt cx="674" cy="378"/>
            </a:xfrm>
          </p:grpSpPr>
          <p:sp>
            <p:nvSpPr>
              <p:cNvPr id="44" name="Line 141"/>
              <p:cNvSpPr>
                <a:spLocks noChangeShapeType="1"/>
              </p:cNvSpPr>
              <p:nvPr/>
            </p:nvSpPr>
            <p:spPr bwMode="auto">
              <a:xfrm>
                <a:off x="1338" y="3294"/>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5" name="Line 142"/>
              <p:cNvSpPr>
                <a:spLocks noChangeShapeType="1"/>
              </p:cNvSpPr>
              <p:nvPr/>
            </p:nvSpPr>
            <p:spPr bwMode="auto">
              <a:xfrm>
                <a:off x="1565" y="3475"/>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6" name="Line 143"/>
              <p:cNvSpPr>
                <a:spLocks noChangeShapeType="1"/>
              </p:cNvSpPr>
              <p:nvPr/>
            </p:nvSpPr>
            <p:spPr bwMode="auto">
              <a:xfrm>
                <a:off x="1785" y="3672"/>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7" name="Line 144"/>
              <p:cNvSpPr>
                <a:spLocks noChangeShapeType="1"/>
              </p:cNvSpPr>
              <p:nvPr/>
            </p:nvSpPr>
            <p:spPr bwMode="auto">
              <a:xfrm>
                <a:off x="1565" y="3294"/>
                <a:ext cx="0" cy="181"/>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8" name="Line 145"/>
              <p:cNvSpPr>
                <a:spLocks noChangeShapeType="1"/>
              </p:cNvSpPr>
              <p:nvPr/>
            </p:nvSpPr>
            <p:spPr bwMode="auto">
              <a:xfrm>
                <a:off x="1791" y="3476"/>
                <a:ext cx="0" cy="181"/>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41" name="Text Box 146"/>
            <p:cNvSpPr txBox="1">
              <a:spLocks noChangeArrowheads="1"/>
            </p:cNvSpPr>
            <p:nvPr/>
          </p:nvSpPr>
          <p:spPr bwMode="auto">
            <a:xfrm>
              <a:off x="1102" y="3164"/>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T</a:t>
              </a:r>
              <a:r>
                <a:rPr kumimoji="0" lang="en-US" altLang="zh-CN" sz="1600" b="1" baseline="-25000">
                  <a:ea typeface="楷体" panose="02010609060101010101" pitchFamily="49" charset="-122"/>
                </a:rPr>
                <a:t>2</a:t>
              </a:r>
            </a:p>
          </p:txBody>
        </p:sp>
        <p:sp>
          <p:nvSpPr>
            <p:cNvPr id="42" name="Text Box 147"/>
            <p:cNvSpPr txBox="1">
              <a:spLocks noChangeArrowheads="1"/>
            </p:cNvSpPr>
            <p:nvPr/>
          </p:nvSpPr>
          <p:spPr bwMode="auto">
            <a:xfrm>
              <a:off x="1338" y="3339"/>
              <a:ext cx="31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M</a:t>
              </a:r>
              <a:r>
                <a:rPr kumimoji="0" lang="en-US" altLang="zh-CN" sz="1600" b="1" baseline="-25000">
                  <a:ea typeface="楷体" panose="02010609060101010101" pitchFamily="49" charset="-122"/>
                </a:rPr>
                <a:t>2</a:t>
              </a:r>
            </a:p>
          </p:txBody>
        </p:sp>
        <p:sp>
          <p:nvSpPr>
            <p:cNvPr id="43" name="Text Box 148"/>
            <p:cNvSpPr txBox="1">
              <a:spLocks noChangeArrowheads="1"/>
            </p:cNvSpPr>
            <p:nvPr/>
          </p:nvSpPr>
          <p:spPr bwMode="auto">
            <a:xfrm>
              <a:off x="1559" y="3545"/>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C</a:t>
              </a:r>
              <a:r>
                <a:rPr kumimoji="0" lang="en-US" altLang="zh-CN" sz="1600" b="1" baseline="-25000">
                  <a:ea typeface="楷体" panose="02010609060101010101" pitchFamily="49" charset="-122"/>
                </a:rPr>
                <a:t>2</a:t>
              </a:r>
            </a:p>
          </p:txBody>
        </p:sp>
      </p:grpSp>
      <p:grpSp>
        <p:nvGrpSpPr>
          <p:cNvPr id="49" name="Group 149"/>
          <p:cNvGrpSpPr>
            <a:grpSpLocks/>
          </p:cNvGrpSpPr>
          <p:nvPr/>
        </p:nvGrpSpPr>
        <p:grpSpPr bwMode="auto">
          <a:xfrm>
            <a:off x="2190576" y="4727451"/>
            <a:ext cx="1157288" cy="941388"/>
            <a:chOff x="1102" y="3164"/>
            <a:chExt cx="729" cy="593"/>
          </a:xfrm>
        </p:grpSpPr>
        <p:grpSp>
          <p:nvGrpSpPr>
            <p:cNvPr id="50" name="Group 150"/>
            <p:cNvGrpSpPr>
              <a:grpSpLocks/>
            </p:cNvGrpSpPr>
            <p:nvPr/>
          </p:nvGrpSpPr>
          <p:grpSpPr bwMode="auto">
            <a:xfrm>
              <a:off x="1111" y="3370"/>
              <a:ext cx="674" cy="378"/>
              <a:chOff x="1338" y="3294"/>
              <a:chExt cx="674" cy="378"/>
            </a:xfrm>
          </p:grpSpPr>
          <p:sp>
            <p:nvSpPr>
              <p:cNvPr id="54" name="Line 151"/>
              <p:cNvSpPr>
                <a:spLocks noChangeShapeType="1"/>
              </p:cNvSpPr>
              <p:nvPr/>
            </p:nvSpPr>
            <p:spPr bwMode="auto">
              <a:xfrm>
                <a:off x="1338" y="3294"/>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55" name="Line 152"/>
              <p:cNvSpPr>
                <a:spLocks noChangeShapeType="1"/>
              </p:cNvSpPr>
              <p:nvPr/>
            </p:nvSpPr>
            <p:spPr bwMode="auto">
              <a:xfrm>
                <a:off x="1565" y="3475"/>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56" name="Line 153"/>
              <p:cNvSpPr>
                <a:spLocks noChangeShapeType="1"/>
              </p:cNvSpPr>
              <p:nvPr/>
            </p:nvSpPr>
            <p:spPr bwMode="auto">
              <a:xfrm>
                <a:off x="1785" y="3672"/>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57" name="Line 154"/>
              <p:cNvSpPr>
                <a:spLocks noChangeShapeType="1"/>
              </p:cNvSpPr>
              <p:nvPr/>
            </p:nvSpPr>
            <p:spPr bwMode="auto">
              <a:xfrm>
                <a:off x="1565" y="3294"/>
                <a:ext cx="0" cy="181"/>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58" name="Line 155"/>
              <p:cNvSpPr>
                <a:spLocks noChangeShapeType="1"/>
              </p:cNvSpPr>
              <p:nvPr/>
            </p:nvSpPr>
            <p:spPr bwMode="auto">
              <a:xfrm>
                <a:off x="1791" y="3476"/>
                <a:ext cx="0" cy="181"/>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51" name="Text Box 156"/>
            <p:cNvSpPr txBox="1">
              <a:spLocks noChangeArrowheads="1"/>
            </p:cNvSpPr>
            <p:nvPr/>
          </p:nvSpPr>
          <p:spPr bwMode="auto">
            <a:xfrm>
              <a:off x="1102" y="3164"/>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T</a:t>
              </a:r>
              <a:r>
                <a:rPr kumimoji="0" lang="en-US" altLang="zh-CN" sz="1600" b="1" baseline="-25000">
                  <a:ea typeface="楷体" panose="02010609060101010101" pitchFamily="49" charset="-122"/>
                </a:rPr>
                <a:t>3</a:t>
              </a:r>
            </a:p>
          </p:txBody>
        </p:sp>
        <p:sp>
          <p:nvSpPr>
            <p:cNvPr id="52" name="Text Box 157"/>
            <p:cNvSpPr txBox="1">
              <a:spLocks noChangeArrowheads="1"/>
            </p:cNvSpPr>
            <p:nvPr/>
          </p:nvSpPr>
          <p:spPr bwMode="auto">
            <a:xfrm>
              <a:off x="1338" y="3339"/>
              <a:ext cx="31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M</a:t>
              </a:r>
              <a:r>
                <a:rPr kumimoji="0" lang="en-US" altLang="zh-CN" sz="1600" b="1" baseline="-25000">
                  <a:ea typeface="楷体" panose="02010609060101010101" pitchFamily="49" charset="-122"/>
                </a:rPr>
                <a:t>3</a:t>
              </a:r>
            </a:p>
          </p:txBody>
        </p:sp>
        <p:sp>
          <p:nvSpPr>
            <p:cNvPr id="53" name="Text Box 158"/>
            <p:cNvSpPr txBox="1">
              <a:spLocks noChangeArrowheads="1"/>
            </p:cNvSpPr>
            <p:nvPr/>
          </p:nvSpPr>
          <p:spPr bwMode="auto">
            <a:xfrm>
              <a:off x="1559" y="3545"/>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C</a:t>
              </a:r>
              <a:r>
                <a:rPr kumimoji="0" lang="en-US" altLang="zh-CN" sz="1600" b="1" baseline="-25000">
                  <a:ea typeface="楷体" panose="02010609060101010101" pitchFamily="49" charset="-122"/>
                </a:rPr>
                <a:t>3</a:t>
              </a:r>
            </a:p>
          </p:txBody>
        </p:sp>
      </p:grpSp>
      <p:grpSp>
        <p:nvGrpSpPr>
          <p:cNvPr id="59" name="Group 159"/>
          <p:cNvGrpSpPr>
            <a:grpSpLocks/>
          </p:cNvGrpSpPr>
          <p:nvPr/>
        </p:nvGrpSpPr>
        <p:grpSpPr bwMode="auto">
          <a:xfrm>
            <a:off x="2550939" y="4727451"/>
            <a:ext cx="1157287" cy="941388"/>
            <a:chOff x="1102" y="3164"/>
            <a:chExt cx="729" cy="593"/>
          </a:xfrm>
        </p:grpSpPr>
        <p:grpSp>
          <p:nvGrpSpPr>
            <p:cNvPr id="60" name="Group 160"/>
            <p:cNvGrpSpPr>
              <a:grpSpLocks/>
            </p:cNvGrpSpPr>
            <p:nvPr/>
          </p:nvGrpSpPr>
          <p:grpSpPr bwMode="auto">
            <a:xfrm>
              <a:off x="1111" y="3370"/>
              <a:ext cx="674" cy="378"/>
              <a:chOff x="1338" y="3294"/>
              <a:chExt cx="674" cy="378"/>
            </a:xfrm>
          </p:grpSpPr>
          <p:sp>
            <p:nvSpPr>
              <p:cNvPr id="64" name="Line 161"/>
              <p:cNvSpPr>
                <a:spLocks noChangeShapeType="1"/>
              </p:cNvSpPr>
              <p:nvPr/>
            </p:nvSpPr>
            <p:spPr bwMode="auto">
              <a:xfrm>
                <a:off x="1338" y="3294"/>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65" name="Line 162"/>
              <p:cNvSpPr>
                <a:spLocks noChangeShapeType="1"/>
              </p:cNvSpPr>
              <p:nvPr/>
            </p:nvSpPr>
            <p:spPr bwMode="auto">
              <a:xfrm>
                <a:off x="1565" y="3475"/>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66" name="Line 163"/>
              <p:cNvSpPr>
                <a:spLocks noChangeShapeType="1"/>
              </p:cNvSpPr>
              <p:nvPr/>
            </p:nvSpPr>
            <p:spPr bwMode="auto">
              <a:xfrm>
                <a:off x="1785" y="3672"/>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67" name="Line 164"/>
              <p:cNvSpPr>
                <a:spLocks noChangeShapeType="1"/>
              </p:cNvSpPr>
              <p:nvPr/>
            </p:nvSpPr>
            <p:spPr bwMode="auto">
              <a:xfrm>
                <a:off x="1565" y="3294"/>
                <a:ext cx="0" cy="181"/>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68" name="Line 165"/>
              <p:cNvSpPr>
                <a:spLocks noChangeShapeType="1"/>
              </p:cNvSpPr>
              <p:nvPr/>
            </p:nvSpPr>
            <p:spPr bwMode="auto">
              <a:xfrm>
                <a:off x="1791" y="3476"/>
                <a:ext cx="0" cy="181"/>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61" name="Text Box 166"/>
            <p:cNvSpPr txBox="1">
              <a:spLocks noChangeArrowheads="1"/>
            </p:cNvSpPr>
            <p:nvPr/>
          </p:nvSpPr>
          <p:spPr bwMode="auto">
            <a:xfrm>
              <a:off x="1102" y="3164"/>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T</a:t>
              </a:r>
              <a:r>
                <a:rPr kumimoji="0" lang="en-US" altLang="zh-CN" sz="1600" b="1" baseline="-25000">
                  <a:ea typeface="楷体" panose="02010609060101010101" pitchFamily="49" charset="-122"/>
                </a:rPr>
                <a:t>4</a:t>
              </a:r>
            </a:p>
          </p:txBody>
        </p:sp>
        <p:sp>
          <p:nvSpPr>
            <p:cNvPr id="62" name="Text Box 167"/>
            <p:cNvSpPr txBox="1">
              <a:spLocks noChangeArrowheads="1"/>
            </p:cNvSpPr>
            <p:nvPr/>
          </p:nvSpPr>
          <p:spPr bwMode="auto">
            <a:xfrm>
              <a:off x="1338" y="3339"/>
              <a:ext cx="31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M</a:t>
              </a:r>
              <a:r>
                <a:rPr kumimoji="0" lang="en-US" altLang="zh-CN" sz="1600" b="1" baseline="-25000">
                  <a:ea typeface="楷体" panose="02010609060101010101" pitchFamily="49" charset="-122"/>
                </a:rPr>
                <a:t>4</a:t>
              </a:r>
            </a:p>
          </p:txBody>
        </p:sp>
        <p:sp>
          <p:nvSpPr>
            <p:cNvPr id="63" name="Text Box 168"/>
            <p:cNvSpPr txBox="1">
              <a:spLocks noChangeArrowheads="1"/>
            </p:cNvSpPr>
            <p:nvPr/>
          </p:nvSpPr>
          <p:spPr bwMode="auto">
            <a:xfrm>
              <a:off x="1559" y="3545"/>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C</a:t>
              </a:r>
              <a:r>
                <a:rPr kumimoji="0" lang="en-US" altLang="zh-CN" sz="1600" b="1" baseline="-25000">
                  <a:ea typeface="楷体" panose="02010609060101010101" pitchFamily="49" charset="-122"/>
                </a:rPr>
                <a:t>4</a:t>
              </a:r>
            </a:p>
          </p:txBody>
        </p:sp>
      </p:grpSp>
      <p:grpSp>
        <p:nvGrpSpPr>
          <p:cNvPr id="69" name="Group 169"/>
          <p:cNvGrpSpPr>
            <a:grpSpLocks/>
          </p:cNvGrpSpPr>
          <p:nvPr/>
        </p:nvGrpSpPr>
        <p:grpSpPr bwMode="auto">
          <a:xfrm>
            <a:off x="2911301" y="4725864"/>
            <a:ext cx="431800" cy="336550"/>
            <a:chOff x="158" y="2205"/>
            <a:chExt cx="272" cy="212"/>
          </a:xfrm>
        </p:grpSpPr>
        <p:sp>
          <p:nvSpPr>
            <p:cNvPr id="70" name="Line 170"/>
            <p:cNvSpPr>
              <a:spLocks noChangeShapeType="1"/>
            </p:cNvSpPr>
            <p:nvPr/>
          </p:nvSpPr>
          <p:spPr bwMode="auto">
            <a:xfrm>
              <a:off x="167" y="2411"/>
              <a:ext cx="2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71" name="Text Box 171"/>
            <p:cNvSpPr txBox="1">
              <a:spLocks noChangeArrowheads="1"/>
            </p:cNvSpPr>
            <p:nvPr/>
          </p:nvSpPr>
          <p:spPr bwMode="auto">
            <a:xfrm>
              <a:off x="158" y="2205"/>
              <a:ext cx="2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T</a:t>
              </a:r>
              <a:r>
                <a:rPr kumimoji="0" lang="en-US" altLang="zh-CN" sz="1600" b="1" baseline="-25000">
                  <a:ea typeface="楷体" panose="02010609060101010101" pitchFamily="49" charset="-122"/>
                </a:rPr>
                <a:t>5</a:t>
              </a:r>
            </a:p>
          </p:txBody>
        </p:sp>
      </p:grpSp>
      <p:sp>
        <p:nvSpPr>
          <p:cNvPr id="72" name="Line 172"/>
          <p:cNvSpPr>
            <a:spLocks noChangeShapeType="1"/>
          </p:cNvSpPr>
          <p:nvPr/>
        </p:nvSpPr>
        <p:spPr bwMode="auto">
          <a:xfrm>
            <a:off x="971376" y="5805364"/>
            <a:ext cx="35988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73" name="Text Box 173"/>
          <p:cNvSpPr txBox="1">
            <a:spLocks noChangeArrowheads="1"/>
          </p:cNvSpPr>
          <p:nvPr/>
        </p:nvSpPr>
        <p:spPr bwMode="auto">
          <a:xfrm>
            <a:off x="4533726" y="5618039"/>
            <a:ext cx="2873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t</a:t>
            </a:r>
          </a:p>
        </p:txBody>
      </p:sp>
    </p:spTree>
    <p:extLst>
      <p:ext uri="{BB962C8B-B14F-4D97-AF65-F5344CB8AC3E}">
        <p14:creationId xmlns:p14="http://schemas.microsoft.com/office/powerpoint/2010/main" val="1520901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wipe(left)">
                                      <p:cBhvr>
                                        <p:cTn id="12" dur="500"/>
                                        <p:tgtEl>
                                          <p:spTgt spid="3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wipe(left)">
                                      <p:cBhvr>
                                        <p:cTn id="17" dur="500"/>
                                        <p:tgtEl>
                                          <p:spTgt spid="4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9"/>
                                        </p:tgtEl>
                                        <p:attrNameLst>
                                          <p:attrName>style.visibility</p:attrName>
                                        </p:attrNameLst>
                                      </p:cBhvr>
                                      <p:to>
                                        <p:strVal val="visible"/>
                                      </p:to>
                                    </p:set>
                                    <p:animEffect transition="in" filter="wipe(left)">
                                      <p:cBhvr>
                                        <p:cTn id="22" dur="500"/>
                                        <p:tgtEl>
                                          <p:spTgt spid="5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9"/>
                                        </p:tgtEl>
                                        <p:attrNameLst>
                                          <p:attrName>style.visibility</p:attrName>
                                        </p:attrNameLst>
                                      </p:cBhvr>
                                      <p:to>
                                        <p:strVal val="visible"/>
                                      </p:to>
                                    </p:set>
                                    <p:animEffect transition="in" filter="wipe(left)">
                                      <p:cBhvr>
                                        <p:cTn id="27"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环形缓冲技术</a:t>
            </a:r>
          </a:p>
        </p:txBody>
      </p:sp>
      <p:sp>
        <p:nvSpPr>
          <p:cNvPr id="3" name="Content Placeholder 2"/>
          <p:cNvSpPr>
            <a:spLocks noGrp="1"/>
          </p:cNvSpPr>
          <p:nvPr>
            <p:ph idx="1"/>
          </p:nvPr>
        </p:nvSpPr>
        <p:spPr/>
        <p:txBody>
          <a:bodyPr/>
          <a:lstStyle/>
          <a:p>
            <a:r>
              <a:rPr lang="zh-CN" altLang="en-US" dirty="0"/>
              <a:t>基本原理</a:t>
            </a:r>
            <a:endParaRPr lang="en-US" altLang="zh-CN" dirty="0"/>
          </a:p>
          <a:p>
            <a:pPr lvl="1"/>
            <a:r>
              <a:rPr lang="zh-CN" altLang="en-US" dirty="0"/>
              <a:t>多个缓冲区，</a:t>
            </a:r>
            <a:r>
              <a:rPr lang="en-US" altLang="zh-CN" dirty="0"/>
              <a:t>CPU</a:t>
            </a:r>
            <a:r>
              <a:rPr lang="zh-CN" altLang="en-US" dirty="0"/>
              <a:t>和外设的处理速度可以相差较大</a:t>
            </a:r>
          </a:p>
        </p:txBody>
      </p:sp>
      <p:sp>
        <p:nvSpPr>
          <p:cNvPr id="4" name="Date Placeholder 3"/>
          <p:cNvSpPr>
            <a:spLocks noGrp="1"/>
          </p:cNvSpPr>
          <p:nvPr>
            <p:ph type="dt" sz="half" idx="10"/>
          </p:nvPr>
        </p:nvSpPr>
        <p:spPr/>
        <p:txBody>
          <a:bodyPr/>
          <a:lstStyle/>
          <a:p>
            <a:fld id="{4081791E-0A86-4FDA-B73A-87B594CA2407}"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38</a:t>
            </a:fld>
            <a:endParaRPr lang="zh-CN" altLang="en-US" dirty="0"/>
          </a:p>
        </p:txBody>
      </p:sp>
      <p:grpSp>
        <p:nvGrpSpPr>
          <p:cNvPr id="7" name="Group 66"/>
          <p:cNvGrpSpPr>
            <a:grpSpLocks/>
          </p:cNvGrpSpPr>
          <p:nvPr/>
        </p:nvGrpSpPr>
        <p:grpSpPr bwMode="auto">
          <a:xfrm>
            <a:off x="1547664" y="3284984"/>
            <a:ext cx="5811837" cy="1622425"/>
            <a:chOff x="1033" y="2318"/>
            <a:chExt cx="3661" cy="1022"/>
          </a:xfrm>
        </p:grpSpPr>
        <p:sp>
          <p:nvSpPr>
            <p:cNvPr id="8" name="Text Box 67"/>
            <p:cNvSpPr txBox="1">
              <a:spLocks noChangeArrowheads="1"/>
            </p:cNvSpPr>
            <p:nvPr/>
          </p:nvSpPr>
          <p:spPr bwMode="auto">
            <a:xfrm>
              <a:off x="2269" y="2318"/>
              <a:ext cx="81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2000" b="1">
                  <a:ea typeface="楷体" panose="02010609060101010101" pitchFamily="49" charset="-122"/>
                </a:rPr>
                <a:t>操作系统</a:t>
              </a:r>
            </a:p>
          </p:txBody>
        </p:sp>
        <p:sp>
          <p:nvSpPr>
            <p:cNvPr id="9" name="Text Box 68"/>
            <p:cNvSpPr txBox="1">
              <a:spLocks noChangeArrowheads="1"/>
            </p:cNvSpPr>
            <p:nvPr/>
          </p:nvSpPr>
          <p:spPr bwMode="auto">
            <a:xfrm>
              <a:off x="3800" y="2318"/>
              <a:ext cx="81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2000" b="1">
                  <a:ea typeface="楷体" panose="02010609060101010101" pitchFamily="49" charset="-122"/>
                </a:rPr>
                <a:t>用户进程</a:t>
              </a:r>
            </a:p>
          </p:txBody>
        </p:sp>
        <p:sp>
          <p:nvSpPr>
            <p:cNvPr id="10" name="AutoShape 69"/>
            <p:cNvSpPr>
              <a:spLocks noChangeArrowheads="1"/>
            </p:cNvSpPr>
            <p:nvPr/>
          </p:nvSpPr>
          <p:spPr bwMode="auto">
            <a:xfrm>
              <a:off x="2154" y="2569"/>
              <a:ext cx="998" cy="771"/>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11" name="Text Box 70"/>
            <p:cNvSpPr txBox="1">
              <a:spLocks noChangeArrowheads="1"/>
            </p:cNvSpPr>
            <p:nvPr/>
          </p:nvSpPr>
          <p:spPr bwMode="auto">
            <a:xfrm>
              <a:off x="2364" y="2614"/>
              <a:ext cx="590" cy="16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p>
              <a:pPr algn="ctr">
                <a:spcBef>
                  <a:spcPct val="50000"/>
                </a:spcBef>
              </a:pPr>
              <a:r>
                <a:rPr kumimoji="0" lang="zh-CN" altLang="en-US" sz="1600" b="1">
                  <a:ea typeface="楷体" panose="02010609060101010101" pitchFamily="49" charset="-122"/>
                </a:rPr>
                <a:t>缓冲区</a:t>
              </a:r>
              <a:r>
                <a:rPr kumimoji="0" lang="en-US" altLang="zh-CN" sz="1600" b="1">
                  <a:ea typeface="楷体" panose="02010609060101010101" pitchFamily="49" charset="-122"/>
                </a:rPr>
                <a:t>1</a:t>
              </a:r>
            </a:p>
          </p:txBody>
        </p:sp>
        <p:sp>
          <p:nvSpPr>
            <p:cNvPr id="12" name="AutoShape 71"/>
            <p:cNvSpPr>
              <a:spLocks noChangeArrowheads="1"/>
            </p:cNvSpPr>
            <p:nvPr/>
          </p:nvSpPr>
          <p:spPr bwMode="auto">
            <a:xfrm>
              <a:off x="3696" y="2705"/>
              <a:ext cx="998" cy="499"/>
            </a:xfrm>
            <a:prstGeom prst="roundRect">
              <a:avLst>
                <a:gd name="adj" fmla="val 16667"/>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13" name="Text Box 72"/>
            <p:cNvSpPr txBox="1">
              <a:spLocks noChangeArrowheads="1"/>
            </p:cNvSpPr>
            <p:nvPr/>
          </p:nvSpPr>
          <p:spPr bwMode="auto">
            <a:xfrm>
              <a:off x="3906" y="2841"/>
              <a:ext cx="590" cy="21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0" lang="zh-CN" altLang="en-US" sz="1600" b="1">
                  <a:ea typeface="楷体" panose="02010609060101010101" pitchFamily="49" charset="-122"/>
                </a:rPr>
                <a:t>工作区</a:t>
              </a:r>
            </a:p>
          </p:txBody>
        </p:sp>
        <p:sp>
          <p:nvSpPr>
            <p:cNvPr id="14" name="Text Box 73"/>
            <p:cNvSpPr txBox="1">
              <a:spLocks noChangeArrowheads="1"/>
            </p:cNvSpPr>
            <p:nvPr/>
          </p:nvSpPr>
          <p:spPr bwMode="auto">
            <a:xfrm>
              <a:off x="2360" y="2808"/>
              <a:ext cx="590" cy="16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p>
              <a:pPr algn="ctr">
                <a:spcBef>
                  <a:spcPct val="50000"/>
                </a:spcBef>
              </a:pPr>
              <a:r>
                <a:rPr kumimoji="0" lang="zh-CN" altLang="en-US" sz="1600" b="1">
                  <a:ea typeface="楷体" panose="02010609060101010101" pitchFamily="49" charset="-122"/>
                </a:rPr>
                <a:t>缓冲区</a:t>
              </a:r>
              <a:r>
                <a:rPr kumimoji="0" lang="en-US" altLang="zh-CN" sz="1600" b="1">
                  <a:ea typeface="楷体" panose="02010609060101010101" pitchFamily="49" charset="-122"/>
                </a:rPr>
                <a:t>2</a:t>
              </a:r>
            </a:p>
          </p:txBody>
        </p:sp>
        <p:sp>
          <p:nvSpPr>
            <p:cNvPr id="15" name="Text Box 74"/>
            <p:cNvSpPr txBox="1">
              <a:spLocks noChangeArrowheads="1"/>
            </p:cNvSpPr>
            <p:nvPr/>
          </p:nvSpPr>
          <p:spPr bwMode="auto">
            <a:xfrm>
              <a:off x="2353" y="3131"/>
              <a:ext cx="590" cy="16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p>
              <a:pPr algn="ctr">
                <a:spcBef>
                  <a:spcPct val="50000"/>
                </a:spcBef>
              </a:pPr>
              <a:r>
                <a:rPr kumimoji="0" lang="zh-CN" altLang="en-US" sz="1600" b="1">
                  <a:ea typeface="楷体" panose="02010609060101010101" pitchFamily="49" charset="-122"/>
                </a:rPr>
                <a:t>缓冲区</a:t>
              </a:r>
              <a:r>
                <a:rPr kumimoji="0" lang="en-US" altLang="zh-CN" sz="1600" b="1">
                  <a:ea typeface="楷体" panose="02010609060101010101" pitchFamily="49" charset="-122"/>
                </a:rPr>
                <a:t>n</a:t>
              </a:r>
            </a:p>
          </p:txBody>
        </p:sp>
        <p:sp>
          <p:nvSpPr>
            <p:cNvPr id="16" name="Line 75"/>
            <p:cNvSpPr>
              <a:spLocks noChangeShapeType="1"/>
            </p:cNvSpPr>
            <p:nvPr/>
          </p:nvSpPr>
          <p:spPr bwMode="auto">
            <a:xfrm>
              <a:off x="2660" y="2984"/>
              <a:ext cx="0" cy="136"/>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17" name="Group 76"/>
            <p:cNvGrpSpPr>
              <a:grpSpLocks/>
            </p:cNvGrpSpPr>
            <p:nvPr/>
          </p:nvGrpSpPr>
          <p:grpSpPr bwMode="auto">
            <a:xfrm>
              <a:off x="1997" y="2831"/>
              <a:ext cx="311" cy="227"/>
              <a:chOff x="1589" y="3420"/>
              <a:chExt cx="311" cy="227"/>
            </a:xfrm>
          </p:grpSpPr>
          <p:sp>
            <p:nvSpPr>
              <p:cNvPr id="31" name="Oval 77"/>
              <p:cNvSpPr>
                <a:spLocks noChangeArrowheads="1"/>
              </p:cNvSpPr>
              <p:nvPr/>
            </p:nvSpPr>
            <p:spPr bwMode="auto">
              <a:xfrm>
                <a:off x="1631" y="3420"/>
                <a:ext cx="226" cy="227"/>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2" name="AutoShape 78"/>
              <p:cNvSpPr>
                <a:spLocks noChangeArrowheads="1"/>
              </p:cNvSpPr>
              <p:nvPr/>
            </p:nvSpPr>
            <p:spPr bwMode="auto">
              <a:xfrm>
                <a:off x="1589" y="3489"/>
                <a:ext cx="91" cy="68"/>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3" name="AutoShape 79"/>
              <p:cNvSpPr>
                <a:spLocks noChangeArrowheads="1"/>
              </p:cNvSpPr>
              <p:nvPr/>
            </p:nvSpPr>
            <p:spPr bwMode="auto">
              <a:xfrm rot="10800000">
                <a:off x="1809" y="3500"/>
                <a:ext cx="91" cy="68"/>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grpSp>
          <p:nvGrpSpPr>
            <p:cNvPr id="18" name="Group 80"/>
            <p:cNvGrpSpPr>
              <a:grpSpLocks/>
            </p:cNvGrpSpPr>
            <p:nvPr/>
          </p:nvGrpSpPr>
          <p:grpSpPr bwMode="auto">
            <a:xfrm>
              <a:off x="2991" y="2827"/>
              <a:ext cx="311" cy="227"/>
              <a:chOff x="1589" y="3420"/>
              <a:chExt cx="311" cy="227"/>
            </a:xfrm>
          </p:grpSpPr>
          <p:sp>
            <p:nvSpPr>
              <p:cNvPr id="28" name="Oval 81"/>
              <p:cNvSpPr>
                <a:spLocks noChangeArrowheads="1"/>
              </p:cNvSpPr>
              <p:nvPr/>
            </p:nvSpPr>
            <p:spPr bwMode="auto">
              <a:xfrm>
                <a:off x="1631" y="3420"/>
                <a:ext cx="226" cy="227"/>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29" name="AutoShape 82"/>
              <p:cNvSpPr>
                <a:spLocks noChangeArrowheads="1"/>
              </p:cNvSpPr>
              <p:nvPr/>
            </p:nvSpPr>
            <p:spPr bwMode="auto">
              <a:xfrm>
                <a:off x="1589" y="3489"/>
                <a:ext cx="91" cy="68"/>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0" name="AutoShape 83"/>
              <p:cNvSpPr>
                <a:spLocks noChangeArrowheads="1"/>
              </p:cNvSpPr>
              <p:nvPr/>
            </p:nvSpPr>
            <p:spPr bwMode="auto">
              <a:xfrm rot="10800000">
                <a:off x="1809" y="3500"/>
                <a:ext cx="91" cy="68"/>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sp>
          <p:nvSpPr>
            <p:cNvPr id="19" name="Line 84"/>
            <p:cNvSpPr>
              <a:spLocks noChangeShapeType="1"/>
            </p:cNvSpPr>
            <p:nvPr/>
          </p:nvSpPr>
          <p:spPr bwMode="auto">
            <a:xfrm>
              <a:off x="1675" y="2943"/>
              <a:ext cx="3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0" name="Text Box 85"/>
            <p:cNvSpPr txBox="1">
              <a:spLocks noChangeArrowheads="1"/>
            </p:cNvSpPr>
            <p:nvPr/>
          </p:nvSpPr>
          <p:spPr bwMode="auto">
            <a:xfrm>
              <a:off x="1033" y="2797"/>
              <a:ext cx="6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2000" b="1">
                  <a:ea typeface="楷体" panose="02010609060101010101" pitchFamily="49" charset="-122"/>
                </a:rPr>
                <a:t>I/O</a:t>
              </a:r>
              <a:r>
                <a:rPr kumimoji="0" lang="zh-CN" altLang="en-US" sz="2000" b="1">
                  <a:ea typeface="楷体" panose="02010609060101010101" pitchFamily="49" charset="-122"/>
                </a:rPr>
                <a:t>设备</a:t>
              </a:r>
            </a:p>
          </p:txBody>
        </p:sp>
        <p:sp>
          <p:nvSpPr>
            <p:cNvPr id="21" name="Line 86"/>
            <p:cNvSpPr>
              <a:spLocks noChangeShapeType="1"/>
            </p:cNvSpPr>
            <p:nvPr/>
          </p:nvSpPr>
          <p:spPr bwMode="auto">
            <a:xfrm>
              <a:off x="3250" y="2932"/>
              <a:ext cx="657"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2" name="Text Box 87"/>
            <p:cNvSpPr txBox="1">
              <a:spLocks noChangeArrowheads="1"/>
            </p:cNvSpPr>
            <p:nvPr/>
          </p:nvSpPr>
          <p:spPr bwMode="auto">
            <a:xfrm>
              <a:off x="3298" y="2727"/>
              <a:ext cx="40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传送</a:t>
              </a:r>
            </a:p>
          </p:txBody>
        </p:sp>
        <p:sp>
          <p:nvSpPr>
            <p:cNvPr id="23" name="Text Box 88"/>
            <p:cNvSpPr txBox="1">
              <a:spLocks noChangeArrowheads="1"/>
            </p:cNvSpPr>
            <p:nvPr/>
          </p:nvSpPr>
          <p:spPr bwMode="auto">
            <a:xfrm>
              <a:off x="1690" y="2744"/>
              <a:ext cx="40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输入</a:t>
              </a:r>
            </a:p>
          </p:txBody>
        </p:sp>
        <p:sp>
          <p:nvSpPr>
            <p:cNvPr id="24" name="Text Box 89"/>
            <p:cNvSpPr txBox="1">
              <a:spLocks noChangeArrowheads="1"/>
            </p:cNvSpPr>
            <p:nvPr/>
          </p:nvSpPr>
          <p:spPr bwMode="auto">
            <a:xfrm>
              <a:off x="1764" y="2930"/>
              <a:ext cx="22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T</a:t>
              </a:r>
            </a:p>
          </p:txBody>
        </p:sp>
        <p:sp>
          <p:nvSpPr>
            <p:cNvPr id="25" name="Text Box 90"/>
            <p:cNvSpPr txBox="1">
              <a:spLocks noChangeArrowheads="1"/>
            </p:cNvSpPr>
            <p:nvPr/>
          </p:nvSpPr>
          <p:spPr bwMode="auto">
            <a:xfrm>
              <a:off x="3369" y="2924"/>
              <a:ext cx="22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M</a:t>
              </a:r>
            </a:p>
          </p:txBody>
        </p:sp>
        <p:sp>
          <p:nvSpPr>
            <p:cNvPr id="26" name="Text Box 91"/>
            <p:cNvSpPr txBox="1">
              <a:spLocks noChangeArrowheads="1"/>
            </p:cNvSpPr>
            <p:nvPr/>
          </p:nvSpPr>
          <p:spPr bwMode="auto">
            <a:xfrm>
              <a:off x="4092" y="3020"/>
              <a:ext cx="22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C</a:t>
              </a:r>
            </a:p>
          </p:txBody>
        </p:sp>
        <p:sp>
          <p:nvSpPr>
            <p:cNvPr id="27" name="Text Box 92"/>
            <p:cNvSpPr txBox="1">
              <a:spLocks noChangeArrowheads="1"/>
            </p:cNvSpPr>
            <p:nvPr/>
          </p:nvSpPr>
          <p:spPr bwMode="auto">
            <a:xfrm>
              <a:off x="4020" y="2660"/>
              <a:ext cx="40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处理</a:t>
              </a:r>
            </a:p>
          </p:txBody>
        </p:sp>
      </p:grpSp>
    </p:spTree>
    <p:extLst>
      <p:ext uri="{BB962C8B-B14F-4D97-AF65-F5344CB8AC3E}">
        <p14:creationId xmlns:p14="http://schemas.microsoft.com/office/powerpoint/2010/main" val="19658715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环形缓冲技术</a:t>
            </a:r>
          </a:p>
        </p:txBody>
      </p:sp>
      <p:sp>
        <p:nvSpPr>
          <p:cNvPr id="4" name="Date Placeholder 3"/>
          <p:cNvSpPr>
            <a:spLocks noGrp="1"/>
          </p:cNvSpPr>
          <p:nvPr>
            <p:ph type="dt" sz="half" idx="10"/>
          </p:nvPr>
        </p:nvSpPr>
        <p:spPr/>
        <p:txBody>
          <a:bodyPr/>
          <a:lstStyle/>
          <a:p>
            <a:fld id="{0A9BDB5D-9F9A-4CCF-88CB-9D8886044A06}"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39</a:t>
            </a:fld>
            <a:endParaRPr lang="zh-CN" altLang="en-US" dirty="0"/>
          </a:p>
        </p:txBody>
      </p:sp>
      <p:grpSp>
        <p:nvGrpSpPr>
          <p:cNvPr id="7" name="Group 32"/>
          <p:cNvGrpSpPr>
            <a:grpSpLocks/>
          </p:cNvGrpSpPr>
          <p:nvPr/>
        </p:nvGrpSpPr>
        <p:grpSpPr bwMode="auto">
          <a:xfrm>
            <a:off x="250825" y="1412776"/>
            <a:ext cx="5811838" cy="1622425"/>
            <a:chOff x="1033" y="2318"/>
            <a:chExt cx="3661" cy="1022"/>
          </a:xfrm>
        </p:grpSpPr>
        <p:sp>
          <p:nvSpPr>
            <p:cNvPr id="8" name="Text Box 33"/>
            <p:cNvSpPr txBox="1">
              <a:spLocks noChangeArrowheads="1"/>
            </p:cNvSpPr>
            <p:nvPr/>
          </p:nvSpPr>
          <p:spPr bwMode="auto">
            <a:xfrm>
              <a:off x="2269" y="2318"/>
              <a:ext cx="81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2000" b="1">
                  <a:ea typeface="楷体" panose="02010609060101010101" pitchFamily="49" charset="-122"/>
                </a:rPr>
                <a:t>操作系统</a:t>
              </a:r>
            </a:p>
          </p:txBody>
        </p:sp>
        <p:sp>
          <p:nvSpPr>
            <p:cNvPr id="9" name="Text Box 34"/>
            <p:cNvSpPr txBox="1">
              <a:spLocks noChangeArrowheads="1"/>
            </p:cNvSpPr>
            <p:nvPr/>
          </p:nvSpPr>
          <p:spPr bwMode="auto">
            <a:xfrm>
              <a:off x="3800" y="2318"/>
              <a:ext cx="81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2000" b="1">
                  <a:ea typeface="楷体" panose="02010609060101010101" pitchFamily="49" charset="-122"/>
                </a:rPr>
                <a:t>用户进程</a:t>
              </a:r>
            </a:p>
          </p:txBody>
        </p:sp>
        <p:sp>
          <p:nvSpPr>
            <p:cNvPr id="10" name="AutoShape 35"/>
            <p:cNvSpPr>
              <a:spLocks noChangeArrowheads="1"/>
            </p:cNvSpPr>
            <p:nvPr/>
          </p:nvSpPr>
          <p:spPr bwMode="auto">
            <a:xfrm>
              <a:off x="2154" y="2569"/>
              <a:ext cx="998" cy="771"/>
            </a:xfrm>
            <a:prstGeom prst="roundRect">
              <a:avLst>
                <a:gd name="adj" fmla="val 16667"/>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11" name="Text Box 36"/>
            <p:cNvSpPr txBox="1">
              <a:spLocks noChangeArrowheads="1"/>
            </p:cNvSpPr>
            <p:nvPr/>
          </p:nvSpPr>
          <p:spPr bwMode="auto">
            <a:xfrm>
              <a:off x="2364" y="2614"/>
              <a:ext cx="590" cy="16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p>
              <a:pPr algn="ctr">
                <a:spcBef>
                  <a:spcPct val="50000"/>
                </a:spcBef>
              </a:pPr>
              <a:r>
                <a:rPr kumimoji="0" lang="zh-CN" altLang="en-US" sz="1600" b="1">
                  <a:ea typeface="楷体" panose="02010609060101010101" pitchFamily="49" charset="-122"/>
                </a:rPr>
                <a:t>缓冲区</a:t>
              </a:r>
              <a:r>
                <a:rPr kumimoji="0" lang="en-US" altLang="zh-CN" sz="1600" b="1">
                  <a:ea typeface="楷体" panose="02010609060101010101" pitchFamily="49" charset="-122"/>
                </a:rPr>
                <a:t>1</a:t>
              </a:r>
            </a:p>
          </p:txBody>
        </p:sp>
        <p:sp>
          <p:nvSpPr>
            <p:cNvPr id="12" name="AutoShape 37"/>
            <p:cNvSpPr>
              <a:spLocks noChangeArrowheads="1"/>
            </p:cNvSpPr>
            <p:nvPr/>
          </p:nvSpPr>
          <p:spPr bwMode="auto">
            <a:xfrm>
              <a:off x="3696" y="2705"/>
              <a:ext cx="998" cy="499"/>
            </a:xfrm>
            <a:prstGeom prst="roundRect">
              <a:avLst>
                <a:gd name="adj" fmla="val 16667"/>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13" name="Text Box 38"/>
            <p:cNvSpPr txBox="1">
              <a:spLocks noChangeArrowheads="1"/>
            </p:cNvSpPr>
            <p:nvPr/>
          </p:nvSpPr>
          <p:spPr bwMode="auto">
            <a:xfrm>
              <a:off x="3906" y="2841"/>
              <a:ext cx="590" cy="21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0" lang="zh-CN" altLang="en-US" sz="1600" b="1">
                  <a:ea typeface="楷体" panose="02010609060101010101" pitchFamily="49" charset="-122"/>
                </a:rPr>
                <a:t>工作区</a:t>
              </a:r>
            </a:p>
          </p:txBody>
        </p:sp>
        <p:sp>
          <p:nvSpPr>
            <p:cNvPr id="14" name="Text Box 39"/>
            <p:cNvSpPr txBox="1">
              <a:spLocks noChangeArrowheads="1"/>
            </p:cNvSpPr>
            <p:nvPr/>
          </p:nvSpPr>
          <p:spPr bwMode="auto">
            <a:xfrm>
              <a:off x="2360" y="2808"/>
              <a:ext cx="590" cy="16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p>
              <a:pPr algn="ctr">
                <a:spcBef>
                  <a:spcPct val="50000"/>
                </a:spcBef>
              </a:pPr>
              <a:r>
                <a:rPr kumimoji="0" lang="zh-CN" altLang="en-US" sz="1600" b="1">
                  <a:ea typeface="楷体" panose="02010609060101010101" pitchFamily="49" charset="-122"/>
                </a:rPr>
                <a:t>缓冲区</a:t>
              </a:r>
              <a:r>
                <a:rPr kumimoji="0" lang="en-US" altLang="zh-CN" sz="1600" b="1">
                  <a:ea typeface="楷体" panose="02010609060101010101" pitchFamily="49" charset="-122"/>
                </a:rPr>
                <a:t>2</a:t>
              </a:r>
            </a:p>
          </p:txBody>
        </p:sp>
        <p:sp>
          <p:nvSpPr>
            <p:cNvPr id="15" name="Text Box 40"/>
            <p:cNvSpPr txBox="1">
              <a:spLocks noChangeArrowheads="1"/>
            </p:cNvSpPr>
            <p:nvPr/>
          </p:nvSpPr>
          <p:spPr bwMode="auto">
            <a:xfrm>
              <a:off x="2353" y="3131"/>
              <a:ext cx="590" cy="16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p>
              <a:pPr algn="ctr">
                <a:spcBef>
                  <a:spcPct val="50000"/>
                </a:spcBef>
              </a:pPr>
              <a:r>
                <a:rPr kumimoji="0" lang="zh-CN" altLang="en-US" sz="1600" b="1">
                  <a:ea typeface="楷体" panose="02010609060101010101" pitchFamily="49" charset="-122"/>
                </a:rPr>
                <a:t>缓冲区</a:t>
              </a:r>
              <a:r>
                <a:rPr kumimoji="0" lang="en-US" altLang="zh-CN" sz="1600" b="1">
                  <a:ea typeface="楷体" panose="02010609060101010101" pitchFamily="49" charset="-122"/>
                </a:rPr>
                <a:t>n</a:t>
              </a:r>
            </a:p>
          </p:txBody>
        </p:sp>
        <p:sp>
          <p:nvSpPr>
            <p:cNvPr id="16" name="Line 41"/>
            <p:cNvSpPr>
              <a:spLocks noChangeShapeType="1"/>
            </p:cNvSpPr>
            <p:nvPr/>
          </p:nvSpPr>
          <p:spPr bwMode="auto">
            <a:xfrm>
              <a:off x="2660" y="2984"/>
              <a:ext cx="0" cy="136"/>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17" name="Group 42"/>
            <p:cNvGrpSpPr>
              <a:grpSpLocks/>
            </p:cNvGrpSpPr>
            <p:nvPr/>
          </p:nvGrpSpPr>
          <p:grpSpPr bwMode="auto">
            <a:xfrm>
              <a:off x="1997" y="2831"/>
              <a:ext cx="311" cy="227"/>
              <a:chOff x="1589" y="3420"/>
              <a:chExt cx="311" cy="227"/>
            </a:xfrm>
          </p:grpSpPr>
          <p:sp>
            <p:nvSpPr>
              <p:cNvPr id="31" name="Oval 43"/>
              <p:cNvSpPr>
                <a:spLocks noChangeArrowheads="1"/>
              </p:cNvSpPr>
              <p:nvPr/>
            </p:nvSpPr>
            <p:spPr bwMode="auto">
              <a:xfrm>
                <a:off x="1631" y="3420"/>
                <a:ext cx="226" cy="227"/>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2" name="AutoShape 44"/>
              <p:cNvSpPr>
                <a:spLocks noChangeArrowheads="1"/>
              </p:cNvSpPr>
              <p:nvPr/>
            </p:nvSpPr>
            <p:spPr bwMode="auto">
              <a:xfrm>
                <a:off x="1589" y="3489"/>
                <a:ext cx="91" cy="68"/>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3" name="AutoShape 45"/>
              <p:cNvSpPr>
                <a:spLocks noChangeArrowheads="1"/>
              </p:cNvSpPr>
              <p:nvPr/>
            </p:nvSpPr>
            <p:spPr bwMode="auto">
              <a:xfrm rot="10800000">
                <a:off x="1809" y="3500"/>
                <a:ext cx="91" cy="68"/>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grpSp>
          <p:nvGrpSpPr>
            <p:cNvPr id="18" name="Group 46"/>
            <p:cNvGrpSpPr>
              <a:grpSpLocks/>
            </p:cNvGrpSpPr>
            <p:nvPr/>
          </p:nvGrpSpPr>
          <p:grpSpPr bwMode="auto">
            <a:xfrm>
              <a:off x="2991" y="2827"/>
              <a:ext cx="311" cy="227"/>
              <a:chOff x="1589" y="3420"/>
              <a:chExt cx="311" cy="227"/>
            </a:xfrm>
          </p:grpSpPr>
          <p:sp>
            <p:nvSpPr>
              <p:cNvPr id="28" name="Oval 47"/>
              <p:cNvSpPr>
                <a:spLocks noChangeArrowheads="1"/>
              </p:cNvSpPr>
              <p:nvPr/>
            </p:nvSpPr>
            <p:spPr bwMode="auto">
              <a:xfrm>
                <a:off x="1631" y="3420"/>
                <a:ext cx="226" cy="227"/>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29" name="AutoShape 48"/>
              <p:cNvSpPr>
                <a:spLocks noChangeArrowheads="1"/>
              </p:cNvSpPr>
              <p:nvPr/>
            </p:nvSpPr>
            <p:spPr bwMode="auto">
              <a:xfrm>
                <a:off x="1589" y="3489"/>
                <a:ext cx="91" cy="68"/>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0" name="AutoShape 49"/>
              <p:cNvSpPr>
                <a:spLocks noChangeArrowheads="1"/>
              </p:cNvSpPr>
              <p:nvPr/>
            </p:nvSpPr>
            <p:spPr bwMode="auto">
              <a:xfrm rot="10800000">
                <a:off x="1809" y="3500"/>
                <a:ext cx="91" cy="68"/>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sp>
          <p:nvSpPr>
            <p:cNvPr id="19" name="Line 50"/>
            <p:cNvSpPr>
              <a:spLocks noChangeShapeType="1"/>
            </p:cNvSpPr>
            <p:nvPr/>
          </p:nvSpPr>
          <p:spPr bwMode="auto">
            <a:xfrm>
              <a:off x="1675" y="2943"/>
              <a:ext cx="3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0" name="Text Box 51"/>
            <p:cNvSpPr txBox="1">
              <a:spLocks noChangeArrowheads="1"/>
            </p:cNvSpPr>
            <p:nvPr/>
          </p:nvSpPr>
          <p:spPr bwMode="auto">
            <a:xfrm>
              <a:off x="1033" y="2797"/>
              <a:ext cx="6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2000" b="1">
                  <a:ea typeface="楷体" panose="02010609060101010101" pitchFamily="49" charset="-122"/>
                </a:rPr>
                <a:t>I/O</a:t>
              </a:r>
              <a:r>
                <a:rPr kumimoji="0" lang="zh-CN" altLang="en-US" sz="2000" b="1">
                  <a:ea typeface="楷体" panose="02010609060101010101" pitchFamily="49" charset="-122"/>
                </a:rPr>
                <a:t>设备</a:t>
              </a:r>
            </a:p>
          </p:txBody>
        </p:sp>
        <p:sp>
          <p:nvSpPr>
            <p:cNvPr id="21" name="Line 52"/>
            <p:cNvSpPr>
              <a:spLocks noChangeShapeType="1"/>
            </p:cNvSpPr>
            <p:nvPr/>
          </p:nvSpPr>
          <p:spPr bwMode="auto">
            <a:xfrm>
              <a:off x="3250" y="2932"/>
              <a:ext cx="657"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2" name="Text Box 53"/>
            <p:cNvSpPr txBox="1">
              <a:spLocks noChangeArrowheads="1"/>
            </p:cNvSpPr>
            <p:nvPr/>
          </p:nvSpPr>
          <p:spPr bwMode="auto">
            <a:xfrm>
              <a:off x="3298" y="2727"/>
              <a:ext cx="40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传送</a:t>
              </a:r>
            </a:p>
          </p:txBody>
        </p:sp>
        <p:sp>
          <p:nvSpPr>
            <p:cNvPr id="23" name="Text Box 54"/>
            <p:cNvSpPr txBox="1">
              <a:spLocks noChangeArrowheads="1"/>
            </p:cNvSpPr>
            <p:nvPr/>
          </p:nvSpPr>
          <p:spPr bwMode="auto">
            <a:xfrm>
              <a:off x="1690" y="2744"/>
              <a:ext cx="40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输入</a:t>
              </a:r>
            </a:p>
          </p:txBody>
        </p:sp>
        <p:sp>
          <p:nvSpPr>
            <p:cNvPr id="24" name="Text Box 55"/>
            <p:cNvSpPr txBox="1">
              <a:spLocks noChangeArrowheads="1"/>
            </p:cNvSpPr>
            <p:nvPr/>
          </p:nvSpPr>
          <p:spPr bwMode="auto">
            <a:xfrm>
              <a:off x="1764" y="2930"/>
              <a:ext cx="22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T</a:t>
              </a:r>
            </a:p>
          </p:txBody>
        </p:sp>
        <p:sp>
          <p:nvSpPr>
            <p:cNvPr id="25" name="Text Box 56"/>
            <p:cNvSpPr txBox="1">
              <a:spLocks noChangeArrowheads="1"/>
            </p:cNvSpPr>
            <p:nvPr/>
          </p:nvSpPr>
          <p:spPr bwMode="auto">
            <a:xfrm>
              <a:off x="3369" y="2924"/>
              <a:ext cx="22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M</a:t>
              </a:r>
            </a:p>
          </p:txBody>
        </p:sp>
        <p:sp>
          <p:nvSpPr>
            <p:cNvPr id="26" name="Text Box 57"/>
            <p:cNvSpPr txBox="1">
              <a:spLocks noChangeArrowheads="1"/>
            </p:cNvSpPr>
            <p:nvPr/>
          </p:nvSpPr>
          <p:spPr bwMode="auto">
            <a:xfrm>
              <a:off x="4092" y="3020"/>
              <a:ext cx="22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i="1">
                  <a:ea typeface="楷体" panose="02010609060101010101" pitchFamily="49" charset="-122"/>
                </a:rPr>
                <a:t>C</a:t>
              </a:r>
            </a:p>
          </p:txBody>
        </p:sp>
        <p:sp>
          <p:nvSpPr>
            <p:cNvPr id="27" name="Text Box 58"/>
            <p:cNvSpPr txBox="1">
              <a:spLocks noChangeArrowheads="1"/>
            </p:cNvSpPr>
            <p:nvPr/>
          </p:nvSpPr>
          <p:spPr bwMode="auto">
            <a:xfrm>
              <a:off x="4020" y="2660"/>
              <a:ext cx="40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处理</a:t>
              </a:r>
            </a:p>
          </p:txBody>
        </p:sp>
      </p:grpSp>
      <p:sp>
        <p:nvSpPr>
          <p:cNvPr id="34" name="AutoShape 59"/>
          <p:cNvSpPr>
            <a:spLocks noChangeArrowheads="1"/>
          </p:cNvSpPr>
          <p:nvPr/>
        </p:nvSpPr>
        <p:spPr bwMode="auto">
          <a:xfrm>
            <a:off x="2338388" y="3284984"/>
            <a:ext cx="865187" cy="576262"/>
          </a:xfrm>
          <a:prstGeom prst="downArrow">
            <a:avLst>
              <a:gd name="adj1" fmla="val 50000"/>
              <a:gd name="adj2" fmla="val 25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b="1" dirty="0">
                <a:ea typeface="楷体" panose="02010609060101010101" pitchFamily="49" charset="-122"/>
              </a:rPr>
              <a:t>组</a:t>
            </a:r>
          </a:p>
          <a:p>
            <a:pPr algn="ctr"/>
            <a:r>
              <a:rPr kumimoji="0" lang="zh-CN" altLang="en-US" sz="1600" b="1" dirty="0">
                <a:ea typeface="楷体" panose="02010609060101010101" pitchFamily="49" charset="-122"/>
              </a:rPr>
              <a:t>成</a:t>
            </a:r>
          </a:p>
        </p:txBody>
      </p:sp>
      <p:grpSp>
        <p:nvGrpSpPr>
          <p:cNvPr id="35" name="Group 60"/>
          <p:cNvGrpSpPr>
            <a:grpSpLocks/>
          </p:cNvGrpSpPr>
          <p:nvPr/>
        </p:nvGrpSpPr>
        <p:grpSpPr bwMode="auto">
          <a:xfrm>
            <a:off x="538163" y="3884613"/>
            <a:ext cx="4835525" cy="2352675"/>
            <a:chOff x="1195" y="2432"/>
            <a:chExt cx="3046" cy="1482"/>
          </a:xfrm>
        </p:grpSpPr>
        <p:sp>
          <p:nvSpPr>
            <p:cNvPr id="36" name="Oval 61"/>
            <p:cNvSpPr>
              <a:spLocks noChangeArrowheads="1"/>
            </p:cNvSpPr>
            <p:nvPr/>
          </p:nvSpPr>
          <p:spPr bwMode="auto">
            <a:xfrm>
              <a:off x="1247" y="2771"/>
              <a:ext cx="907" cy="90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7" name="Rectangle 62"/>
            <p:cNvSpPr>
              <a:spLocks noChangeArrowheads="1"/>
            </p:cNvSpPr>
            <p:nvPr/>
          </p:nvSpPr>
          <p:spPr bwMode="auto">
            <a:xfrm>
              <a:off x="1606" y="2680"/>
              <a:ext cx="182" cy="18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楷体" panose="02010609060101010101" pitchFamily="49" charset="-122"/>
                </a:rPr>
                <a:t>R</a:t>
              </a:r>
            </a:p>
          </p:txBody>
        </p:sp>
        <p:sp>
          <p:nvSpPr>
            <p:cNvPr id="38" name="Rectangle 63"/>
            <p:cNvSpPr>
              <a:spLocks noChangeArrowheads="1"/>
            </p:cNvSpPr>
            <p:nvPr/>
          </p:nvSpPr>
          <p:spPr bwMode="auto">
            <a:xfrm>
              <a:off x="1996" y="2952"/>
              <a:ext cx="182" cy="18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楷体" panose="02010609060101010101" pitchFamily="49" charset="-122"/>
                </a:rPr>
                <a:t>R</a:t>
              </a:r>
            </a:p>
          </p:txBody>
        </p:sp>
        <p:sp>
          <p:nvSpPr>
            <p:cNvPr id="39" name="Rectangle 64"/>
            <p:cNvSpPr>
              <a:spLocks noChangeArrowheads="1"/>
            </p:cNvSpPr>
            <p:nvPr/>
          </p:nvSpPr>
          <p:spPr bwMode="auto">
            <a:xfrm>
              <a:off x="2000" y="3315"/>
              <a:ext cx="182" cy="18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楷体" panose="02010609060101010101" pitchFamily="49" charset="-122"/>
                </a:rPr>
                <a:t>G</a:t>
              </a:r>
            </a:p>
          </p:txBody>
        </p:sp>
        <p:sp>
          <p:nvSpPr>
            <p:cNvPr id="40" name="Rectangle 65"/>
            <p:cNvSpPr>
              <a:spLocks noChangeArrowheads="1"/>
            </p:cNvSpPr>
            <p:nvPr/>
          </p:nvSpPr>
          <p:spPr bwMode="auto">
            <a:xfrm>
              <a:off x="1603" y="3566"/>
              <a:ext cx="182" cy="18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楷体" panose="02010609060101010101" pitchFamily="49" charset="-122"/>
                </a:rPr>
                <a:t>G</a:t>
              </a:r>
            </a:p>
          </p:txBody>
        </p:sp>
        <p:sp>
          <p:nvSpPr>
            <p:cNvPr id="41" name="Rectangle 66"/>
            <p:cNvSpPr>
              <a:spLocks noChangeArrowheads="1"/>
            </p:cNvSpPr>
            <p:nvPr/>
          </p:nvSpPr>
          <p:spPr bwMode="auto">
            <a:xfrm>
              <a:off x="1198" y="2967"/>
              <a:ext cx="182" cy="18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楷体" panose="02010609060101010101" pitchFamily="49" charset="-122"/>
                </a:rPr>
                <a:t>G</a:t>
              </a:r>
            </a:p>
          </p:txBody>
        </p:sp>
        <p:sp>
          <p:nvSpPr>
            <p:cNvPr id="42" name="Rectangle 67"/>
            <p:cNvSpPr>
              <a:spLocks noChangeArrowheads="1"/>
            </p:cNvSpPr>
            <p:nvPr/>
          </p:nvSpPr>
          <p:spPr bwMode="auto">
            <a:xfrm>
              <a:off x="1195" y="3315"/>
              <a:ext cx="182" cy="18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楷体" panose="02010609060101010101" pitchFamily="49" charset="-122"/>
                </a:rPr>
                <a:t>G</a:t>
              </a:r>
            </a:p>
          </p:txBody>
        </p:sp>
        <p:sp>
          <p:nvSpPr>
            <p:cNvPr id="43" name="Text Box 68"/>
            <p:cNvSpPr txBox="1">
              <a:spLocks noChangeArrowheads="1"/>
            </p:cNvSpPr>
            <p:nvPr/>
          </p:nvSpPr>
          <p:spPr bwMode="auto">
            <a:xfrm>
              <a:off x="1609" y="2822"/>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1</a:t>
              </a:r>
            </a:p>
          </p:txBody>
        </p:sp>
        <p:sp>
          <p:nvSpPr>
            <p:cNvPr id="44" name="Text Box 69"/>
            <p:cNvSpPr txBox="1">
              <a:spLocks noChangeArrowheads="1"/>
            </p:cNvSpPr>
            <p:nvPr/>
          </p:nvSpPr>
          <p:spPr bwMode="auto">
            <a:xfrm>
              <a:off x="1860" y="2940"/>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2</a:t>
              </a:r>
            </a:p>
          </p:txBody>
        </p:sp>
        <p:sp>
          <p:nvSpPr>
            <p:cNvPr id="45" name="Text Box 70"/>
            <p:cNvSpPr txBox="1">
              <a:spLocks noChangeArrowheads="1"/>
            </p:cNvSpPr>
            <p:nvPr/>
          </p:nvSpPr>
          <p:spPr bwMode="auto">
            <a:xfrm>
              <a:off x="1861" y="3291"/>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3</a:t>
              </a:r>
            </a:p>
          </p:txBody>
        </p:sp>
        <p:sp>
          <p:nvSpPr>
            <p:cNvPr id="46" name="Text Box 71"/>
            <p:cNvSpPr txBox="1">
              <a:spLocks noChangeArrowheads="1"/>
            </p:cNvSpPr>
            <p:nvPr/>
          </p:nvSpPr>
          <p:spPr bwMode="auto">
            <a:xfrm>
              <a:off x="1610" y="3388"/>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4</a:t>
              </a:r>
            </a:p>
          </p:txBody>
        </p:sp>
        <p:sp>
          <p:nvSpPr>
            <p:cNvPr id="47" name="Text Box 72"/>
            <p:cNvSpPr txBox="1">
              <a:spLocks noChangeArrowheads="1"/>
            </p:cNvSpPr>
            <p:nvPr/>
          </p:nvSpPr>
          <p:spPr bwMode="auto">
            <a:xfrm>
              <a:off x="1338" y="3303"/>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5</a:t>
              </a:r>
            </a:p>
          </p:txBody>
        </p:sp>
        <p:sp>
          <p:nvSpPr>
            <p:cNvPr id="48" name="Text Box 73"/>
            <p:cNvSpPr txBox="1">
              <a:spLocks noChangeArrowheads="1"/>
            </p:cNvSpPr>
            <p:nvPr/>
          </p:nvSpPr>
          <p:spPr bwMode="auto">
            <a:xfrm>
              <a:off x="1338" y="2952"/>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6</a:t>
              </a:r>
            </a:p>
          </p:txBody>
        </p:sp>
        <p:sp>
          <p:nvSpPr>
            <p:cNvPr id="49" name="Line 74"/>
            <p:cNvSpPr>
              <a:spLocks noChangeShapeType="1"/>
            </p:cNvSpPr>
            <p:nvPr/>
          </p:nvSpPr>
          <p:spPr bwMode="auto">
            <a:xfrm>
              <a:off x="1701" y="2523"/>
              <a:ext cx="0" cy="136"/>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50" name="Text Box 75"/>
            <p:cNvSpPr txBox="1">
              <a:spLocks noChangeArrowheads="1"/>
            </p:cNvSpPr>
            <p:nvPr/>
          </p:nvSpPr>
          <p:spPr bwMode="auto">
            <a:xfrm>
              <a:off x="1695" y="2472"/>
              <a:ext cx="40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Nexti</a:t>
              </a:r>
            </a:p>
          </p:txBody>
        </p:sp>
        <p:sp>
          <p:nvSpPr>
            <p:cNvPr id="51" name="Line 76"/>
            <p:cNvSpPr>
              <a:spLocks noChangeShapeType="1"/>
            </p:cNvSpPr>
            <p:nvPr/>
          </p:nvSpPr>
          <p:spPr bwMode="auto">
            <a:xfrm flipH="1">
              <a:off x="2182" y="3397"/>
              <a:ext cx="181"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52" name="Text Box 77"/>
            <p:cNvSpPr txBox="1">
              <a:spLocks noChangeArrowheads="1"/>
            </p:cNvSpPr>
            <p:nvPr/>
          </p:nvSpPr>
          <p:spPr bwMode="auto">
            <a:xfrm>
              <a:off x="2148" y="3394"/>
              <a:ext cx="45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Nextg</a:t>
              </a:r>
            </a:p>
          </p:txBody>
        </p:sp>
        <p:sp>
          <p:nvSpPr>
            <p:cNvPr id="53" name="Oval 78"/>
            <p:cNvSpPr>
              <a:spLocks noChangeArrowheads="1"/>
            </p:cNvSpPr>
            <p:nvPr/>
          </p:nvSpPr>
          <p:spPr bwMode="auto">
            <a:xfrm>
              <a:off x="2751" y="2731"/>
              <a:ext cx="907" cy="90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54" name="Rectangle 79"/>
            <p:cNvSpPr>
              <a:spLocks noChangeArrowheads="1"/>
            </p:cNvSpPr>
            <p:nvPr/>
          </p:nvSpPr>
          <p:spPr bwMode="auto">
            <a:xfrm>
              <a:off x="3110" y="2640"/>
              <a:ext cx="182" cy="18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楷体" panose="02010609060101010101" pitchFamily="49" charset="-122"/>
                </a:rPr>
                <a:t>R</a:t>
              </a:r>
            </a:p>
          </p:txBody>
        </p:sp>
        <p:sp>
          <p:nvSpPr>
            <p:cNvPr id="55" name="Rectangle 80"/>
            <p:cNvSpPr>
              <a:spLocks noChangeArrowheads="1"/>
            </p:cNvSpPr>
            <p:nvPr/>
          </p:nvSpPr>
          <p:spPr bwMode="auto">
            <a:xfrm>
              <a:off x="3500" y="2912"/>
              <a:ext cx="182" cy="18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楷体" panose="02010609060101010101" pitchFamily="49" charset="-122"/>
                </a:rPr>
                <a:t>R</a:t>
              </a:r>
            </a:p>
          </p:txBody>
        </p:sp>
        <p:sp>
          <p:nvSpPr>
            <p:cNvPr id="56" name="Rectangle 81"/>
            <p:cNvSpPr>
              <a:spLocks noChangeArrowheads="1"/>
            </p:cNvSpPr>
            <p:nvPr/>
          </p:nvSpPr>
          <p:spPr bwMode="auto">
            <a:xfrm>
              <a:off x="3504" y="3275"/>
              <a:ext cx="182" cy="182"/>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楷体" panose="02010609060101010101" pitchFamily="49" charset="-122"/>
                </a:rPr>
                <a:t>C</a:t>
              </a:r>
            </a:p>
          </p:txBody>
        </p:sp>
        <p:sp>
          <p:nvSpPr>
            <p:cNvPr id="57" name="Rectangle 82"/>
            <p:cNvSpPr>
              <a:spLocks noChangeArrowheads="1"/>
            </p:cNvSpPr>
            <p:nvPr/>
          </p:nvSpPr>
          <p:spPr bwMode="auto">
            <a:xfrm>
              <a:off x="3107" y="3526"/>
              <a:ext cx="182" cy="18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楷体" panose="02010609060101010101" pitchFamily="49" charset="-122"/>
                </a:rPr>
                <a:t>G</a:t>
              </a:r>
            </a:p>
          </p:txBody>
        </p:sp>
        <p:sp>
          <p:nvSpPr>
            <p:cNvPr id="58" name="Rectangle 83"/>
            <p:cNvSpPr>
              <a:spLocks noChangeArrowheads="1"/>
            </p:cNvSpPr>
            <p:nvPr/>
          </p:nvSpPr>
          <p:spPr bwMode="auto">
            <a:xfrm>
              <a:off x="2702" y="2927"/>
              <a:ext cx="182" cy="18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楷体" panose="02010609060101010101" pitchFamily="49" charset="-122"/>
                </a:rPr>
                <a:t>G</a:t>
              </a:r>
            </a:p>
          </p:txBody>
        </p:sp>
        <p:sp>
          <p:nvSpPr>
            <p:cNvPr id="59" name="Rectangle 84"/>
            <p:cNvSpPr>
              <a:spLocks noChangeArrowheads="1"/>
            </p:cNvSpPr>
            <p:nvPr/>
          </p:nvSpPr>
          <p:spPr bwMode="auto">
            <a:xfrm>
              <a:off x="2699" y="3275"/>
              <a:ext cx="182" cy="18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楷体" panose="02010609060101010101" pitchFamily="49" charset="-122"/>
                </a:rPr>
                <a:t>G</a:t>
              </a:r>
            </a:p>
          </p:txBody>
        </p:sp>
        <p:sp>
          <p:nvSpPr>
            <p:cNvPr id="60" name="Text Box 85"/>
            <p:cNvSpPr txBox="1">
              <a:spLocks noChangeArrowheads="1"/>
            </p:cNvSpPr>
            <p:nvPr/>
          </p:nvSpPr>
          <p:spPr bwMode="auto">
            <a:xfrm>
              <a:off x="3113" y="2782"/>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1</a:t>
              </a:r>
            </a:p>
          </p:txBody>
        </p:sp>
        <p:sp>
          <p:nvSpPr>
            <p:cNvPr id="61" name="Text Box 86"/>
            <p:cNvSpPr txBox="1">
              <a:spLocks noChangeArrowheads="1"/>
            </p:cNvSpPr>
            <p:nvPr/>
          </p:nvSpPr>
          <p:spPr bwMode="auto">
            <a:xfrm>
              <a:off x="3364" y="2900"/>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2</a:t>
              </a:r>
            </a:p>
          </p:txBody>
        </p:sp>
        <p:sp>
          <p:nvSpPr>
            <p:cNvPr id="62" name="Text Box 87"/>
            <p:cNvSpPr txBox="1">
              <a:spLocks noChangeArrowheads="1"/>
            </p:cNvSpPr>
            <p:nvPr/>
          </p:nvSpPr>
          <p:spPr bwMode="auto">
            <a:xfrm>
              <a:off x="3365" y="3251"/>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3</a:t>
              </a:r>
            </a:p>
          </p:txBody>
        </p:sp>
        <p:sp>
          <p:nvSpPr>
            <p:cNvPr id="63" name="Text Box 88"/>
            <p:cNvSpPr txBox="1">
              <a:spLocks noChangeArrowheads="1"/>
            </p:cNvSpPr>
            <p:nvPr/>
          </p:nvSpPr>
          <p:spPr bwMode="auto">
            <a:xfrm>
              <a:off x="3114" y="3348"/>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4</a:t>
              </a:r>
            </a:p>
          </p:txBody>
        </p:sp>
        <p:sp>
          <p:nvSpPr>
            <p:cNvPr id="64" name="Text Box 89"/>
            <p:cNvSpPr txBox="1">
              <a:spLocks noChangeArrowheads="1"/>
            </p:cNvSpPr>
            <p:nvPr/>
          </p:nvSpPr>
          <p:spPr bwMode="auto">
            <a:xfrm>
              <a:off x="2842" y="3263"/>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5</a:t>
              </a:r>
            </a:p>
          </p:txBody>
        </p:sp>
        <p:sp>
          <p:nvSpPr>
            <p:cNvPr id="65" name="Text Box 90"/>
            <p:cNvSpPr txBox="1">
              <a:spLocks noChangeArrowheads="1"/>
            </p:cNvSpPr>
            <p:nvPr/>
          </p:nvSpPr>
          <p:spPr bwMode="auto">
            <a:xfrm>
              <a:off x="2842" y="2912"/>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6</a:t>
              </a:r>
            </a:p>
          </p:txBody>
        </p:sp>
        <p:sp>
          <p:nvSpPr>
            <p:cNvPr id="66" name="Line 91"/>
            <p:cNvSpPr>
              <a:spLocks noChangeShapeType="1"/>
            </p:cNvSpPr>
            <p:nvPr/>
          </p:nvSpPr>
          <p:spPr bwMode="auto">
            <a:xfrm>
              <a:off x="3205" y="2483"/>
              <a:ext cx="0" cy="136"/>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67" name="Text Box 92"/>
            <p:cNvSpPr txBox="1">
              <a:spLocks noChangeArrowheads="1"/>
            </p:cNvSpPr>
            <p:nvPr/>
          </p:nvSpPr>
          <p:spPr bwMode="auto">
            <a:xfrm>
              <a:off x="3199" y="2432"/>
              <a:ext cx="40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Nexti</a:t>
              </a:r>
            </a:p>
          </p:txBody>
        </p:sp>
        <p:sp>
          <p:nvSpPr>
            <p:cNvPr id="68" name="Line 93"/>
            <p:cNvSpPr>
              <a:spLocks noChangeShapeType="1"/>
            </p:cNvSpPr>
            <p:nvPr/>
          </p:nvSpPr>
          <p:spPr bwMode="auto">
            <a:xfrm flipH="1">
              <a:off x="3686" y="3357"/>
              <a:ext cx="181"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69" name="Text Box 94"/>
            <p:cNvSpPr txBox="1">
              <a:spLocks noChangeArrowheads="1"/>
            </p:cNvSpPr>
            <p:nvPr/>
          </p:nvSpPr>
          <p:spPr bwMode="auto">
            <a:xfrm>
              <a:off x="3652" y="3354"/>
              <a:ext cx="58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Current</a:t>
              </a:r>
            </a:p>
          </p:txBody>
        </p:sp>
        <p:sp>
          <p:nvSpPr>
            <p:cNvPr id="70" name="Text Box 95"/>
            <p:cNvSpPr txBox="1">
              <a:spLocks noChangeArrowheads="1"/>
            </p:cNvSpPr>
            <p:nvPr/>
          </p:nvSpPr>
          <p:spPr bwMode="auto">
            <a:xfrm>
              <a:off x="3288" y="3702"/>
              <a:ext cx="45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Nextg</a:t>
              </a:r>
            </a:p>
          </p:txBody>
        </p:sp>
        <p:sp>
          <p:nvSpPr>
            <p:cNvPr id="71" name="Line 96"/>
            <p:cNvSpPr>
              <a:spLocks noChangeShapeType="1"/>
            </p:cNvSpPr>
            <p:nvPr/>
          </p:nvSpPr>
          <p:spPr bwMode="auto">
            <a:xfrm flipV="1">
              <a:off x="3204" y="3708"/>
              <a:ext cx="0" cy="182"/>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72" name="Text Box 97"/>
          <p:cNvSpPr txBox="1">
            <a:spLocks noChangeArrowheads="1"/>
          </p:cNvSpPr>
          <p:nvPr/>
        </p:nvSpPr>
        <p:spPr bwMode="auto">
          <a:xfrm>
            <a:off x="5291138" y="3092450"/>
            <a:ext cx="3671887"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9875" indent="-269875">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buFont typeface="Wingdings" panose="05000000000000000000" pitchFamily="2" charset="2"/>
              <a:buBlip>
                <a:blip r:embed="rId2"/>
              </a:buBlip>
            </a:pPr>
            <a:r>
              <a:rPr kumimoji="0" lang="zh-CN" altLang="en-US" sz="2000" b="1">
                <a:latin typeface="+mn-lt"/>
                <a:ea typeface="楷体" panose="02010609060101010101" pitchFamily="49" charset="-122"/>
              </a:rPr>
              <a:t>多个缓冲区：用于输入数据的空缓冲区</a:t>
            </a:r>
            <a:r>
              <a:rPr kumimoji="0" lang="en-US" altLang="zh-CN" sz="2000" b="1">
                <a:latin typeface="+mn-lt"/>
                <a:ea typeface="楷体" panose="02010609060101010101" pitchFamily="49" charset="-122"/>
              </a:rPr>
              <a:t>R</a:t>
            </a:r>
            <a:r>
              <a:rPr kumimoji="0" lang="zh-CN" altLang="en-US" sz="2000" b="1">
                <a:latin typeface="+mn-lt"/>
                <a:ea typeface="楷体" panose="02010609060101010101" pitchFamily="49" charset="-122"/>
              </a:rPr>
              <a:t>、已装满数据的缓冲区</a:t>
            </a:r>
            <a:r>
              <a:rPr kumimoji="0" lang="en-US" altLang="zh-CN" sz="2000" b="1">
                <a:latin typeface="+mn-lt"/>
                <a:ea typeface="楷体" panose="02010609060101010101" pitchFamily="49" charset="-122"/>
              </a:rPr>
              <a:t>G</a:t>
            </a:r>
            <a:r>
              <a:rPr kumimoji="0" lang="zh-CN" altLang="en-US" sz="2000" b="1">
                <a:latin typeface="+mn-lt"/>
                <a:ea typeface="楷体" panose="02010609060101010101" pitchFamily="49" charset="-122"/>
              </a:rPr>
              <a:t>、计算进程正在使用的现行缓冲区</a:t>
            </a:r>
            <a:r>
              <a:rPr kumimoji="0" lang="en-US" altLang="zh-CN" sz="2000" b="1">
                <a:latin typeface="+mn-lt"/>
                <a:ea typeface="楷体" panose="02010609060101010101" pitchFamily="49" charset="-122"/>
              </a:rPr>
              <a:t>C</a:t>
            </a:r>
          </a:p>
          <a:p>
            <a:pPr>
              <a:spcBef>
                <a:spcPct val="50000"/>
              </a:spcBef>
              <a:buFont typeface="Wingdings" panose="05000000000000000000" pitchFamily="2" charset="2"/>
              <a:buBlip>
                <a:blip r:embed="rId2"/>
              </a:buBlip>
            </a:pPr>
            <a:r>
              <a:rPr kumimoji="0" lang="zh-CN" altLang="en-US" sz="2000" b="1">
                <a:latin typeface="+mn-lt"/>
                <a:ea typeface="楷体" panose="02010609060101010101" pitchFamily="49" charset="-122"/>
              </a:rPr>
              <a:t>多个指针：</a:t>
            </a:r>
          </a:p>
          <a:p>
            <a:pPr>
              <a:buFont typeface="Wingdings" panose="05000000000000000000" pitchFamily="2" charset="2"/>
              <a:buBlip>
                <a:blip r:embed="rId3"/>
              </a:buBlip>
            </a:pPr>
            <a:r>
              <a:rPr kumimoji="0" lang="en-US" altLang="zh-CN" sz="2000" b="1">
                <a:latin typeface="+mn-lt"/>
                <a:ea typeface="楷体" panose="02010609060101010101" pitchFamily="49" charset="-122"/>
              </a:rPr>
              <a:t>Nextg</a:t>
            </a:r>
            <a:r>
              <a:rPr kumimoji="0" lang="zh-CN" altLang="en-US" sz="2000" b="1">
                <a:latin typeface="+mn-lt"/>
                <a:ea typeface="楷体" panose="02010609060101010101" pitchFamily="49" charset="-122"/>
              </a:rPr>
              <a:t>：计算进程下次可用</a:t>
            </a:r>
          </a:p>
          <a:p>
            <a:pPr>
              <a:buFont typeface="Wingdings" panose="05000000000000000000" pitchFamily="2" charset="2"/>
              <a:buBlip>
                <a:blip r:embed="rId3"/>
              </a:buBlip>
            </a:pPr>
            <a:r>
              <a:rPr kumimoji="0" lang="en-US" altLang="zh-CN" sz="2000" b="1">
                <a:latin typeface="+mn-lt"/>
                <a:ea typeface="楷体" panose="02010609060101010101" pitchFamily="49" charset="-122"/>
              </a:rPr>
              <a:t>Nexti</a:t>
            </a:r>
            <a:r>
              <a:rPr kumimoji="0" lang="zh-CN" altLang="en-US" sz="2000" b="1">
                <a:latin typeface="+mn-lt"/>
                <a:ea typeface="楷体" panose="02010609060101010101" pitchFamily="49" charset="-122"/>
              </a:rPr>
              <a:t>：输入进程下次可用</a:t>
            </a:r>
          </a:p>
          <a:p>
            <a:pPr>
              <a:buFont typeface="Wingdings" panose="05000000000000000000" pitchFamily="2" charset="2"/>
              <a:buBlip>
                <a:blip r:embed="rId3"/>
              </a:buBlip>
            </a:pPr>
            <a:r>
              <a:rPr kumimoji="0" lang="en-US" altLang="zh-CN" sz="2000" b="1">
                <a:latin typeface="+mn-lt"/>
                <a:ea typeface="楷体" panose="02010609060101010101" pitchFamily="49" charset="-122"/>
              </a:rPr>
              <a:t>Current</a:t>
            </a:r>
            <a:r>
              <a:rPr kumimoji="0" lang="zh-CN" altLang="en-US" sz="2000" b="1">
                <a:latin typeface="+mn-lt"/>
                <a:ea typeface="楷体" panose="02010609060101010101" pitchFamily="49" charset="-122"/>
              </a:rPr>
              <a:t>：计算进程正在使用</a:t>
            </a:r>
          </a:p>
          <a:p>
            <a:pPr>
              <a:spcBef>
                <a:spcPct val="50000"/>
              </a:spcBef>
              <a:buFont typeface="Wingdings" panose="05000000000000000000" pitchFamily="2" charset="2"/>
              <a:buBlip>
                <a:blip r:embed="rId2"/>
              </a:buBlip>
            </a:pPr>
            <a:r>
              <a:rPr kumimoji="0" lang="zh-CN" altLang="en-US" sz="2000" b="1">
                <a:latin typeface="+mn-lt"/>
                <a:ea typeface="楷体" panose="02010609060101010101" pitchFamily="49" charset="-122"/>
              </a:rPr>
              <a:t>缓冲区使用、进程同步</a:t>
            </a:r>
          </a:p>
        </p:txBody>
      </p:sp>
    </p:spTree>
    <p:extLst>
      <p:ext uri="{BB962C8B-B14F-4D97-AF65-F5344CB8AC3E}">
        <p14:creationId xmlns:p14="http://schemas.microsoft.com/office/powerpoint/2010/main" val="1444742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up)">
                                      <p:cBhvr>
                                        <p:cTn id="7" dur="500"/>
                                        <p:tgtEl>
                                          <p:spTgt spid="34"/>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box(out)">
                                      <p:cBhvr>
                                        <p:cTn id="11" dur="500"/>
                                        <p:tgtEl>
                                          <p:spTgt spid="3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7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环形缓冲技术</a:t>
            </a:r>
          </a:p>
        </p:txBody>
      </p:sp>
      <p:sp>
        <p:nvSpPr>
          <p:cNvPr id="3" name="Content Placeholder 2"/>
          <p:cNvSpPr>
            <a:spLocks noGrp="1"/>
          </p:cNvSpPr>
          <p:nvPr>
            <p:ph idx="1"/>
          </p:nvPr>
        </p:nvSpPr>
        <p:spPr>
          <a:xfrm>
            <a:off x="457200" y="1268760"/>
            <a:ext cx="4330824" cy="5256584"/>
          </a:xfrm>
        </p:spPr>
        <p:txBody>
          <a:bodyPr/>
          <a:lstStyle/>
          <a:p>
            <a:pPr marL="319088" indent="-274638">
              <a:lnSpc>
                <a:spcPct val="110000"/>
              </a:lnSpc>
              <a:spcBef>
                <a:spcPct val="10000"/>
              </a:spcBef>
            </a:pPr>
            <a:r>
              <a:rPr lang="en-US" altLang="zh-CN" dirty="0" err="1"/>
              <a:t>Getbuf</a:t>
            </a:r>
            <a:r>
              <a:rPr lang="zh-CN" altLang="en-US" dirty="0"/>
              <a:t>过程</a:t>
            </a:r>
            <a:endParaRPr lang="en-US" altLang="zh-CN" dirty="0"/>
          </a:p>
          <a:p>
            <a:pPr marL="719138" lvl="1" indent="-274638">
              <a:lnSpc>
                <a:spcPct val="110000"/>
              </a:lnSpc>
              <a:spcBef>
                <a:spcPct val="10000"/>
              </a:spcBef>
            </a:pPr>
            <a:r>
              <a:rPr lang="zh-CN" altLang="en-US" dirty="0">
                <a:solidFill>
                  <a:srgbClr val="0000FF"/>
                </a:solidFill>
              </a:rPr>
              <a:t>当计算进程需要使用缓冲区的数据时调用</a:t>
            </a:r>
            <a:r>
              <a:rPr lang="en-US" altLang="zh-CN" dirty="0" err="1">
                <a:solidFill>
                  <a:srgbClr val="0000FF"/>
                </a:solidFill>
              </a:rPr>
              <a:t>Getbuf</a:t>
            </a:r>
            <a:r>
              <a:rPr lang="zh-CN" altLang="en-US" dirty="0">
                <a:solidFill>
                  <a:srgbClr val="0000FF"/>
                </a:solidFill>
              </a:rPr>
              <a:t>过程</a:t>
            </a:r>
          </a:p>
          <a:p>
            <a:pPr marL="765175" lvl="1" indent="-266700">
              <a:lnSpc>
                <a:spcPct val="110000"/>
              </a:lnSpc>
              <a:spcBef>
                <a:spcPct val="10000"/>
              </a:spcBef>
            </a:pPr>
            <a:r>
              <a:rPr lang="zh-CN" altLang="en-US" dirty="0"/>
              <a:t>将指针</a:t>
            </a:r>
            <a:r>
              <a:rPr lang="en-US" altLang="zh-CN" dirty="0" err="1"/>
              <a:t>Nextg</a:t>
            </a:r>
            <a:r>
              <a:rPr lang="zh-CN" altLang="en-US" dirty="0"/>
              <a:t>所指示的缓冲区提供给</a:t>
            </a:r>
            <a:r>
              <a:rPr lang="zh-CN" altLang="en-US" dirty="0">
                <a:solidFill>
                  <a:srgbClr val="0000FF"/>
                </a:solidFill>
              </a:rPr>
              <a:t>计算进程</a:t>
            </a:r>
            <a:r>
              <a:rPr lang="zh-CN" altLang="en-US" dirty="0"/>
              <a:t>使用</a:t>
            </a:r>
            <a:endParaRPr lang="en-US" altLang="zh-CN" dirty="0"/>
          </a:p>
          <a:p>
            <a:pPr marL="765175" lvl="1" indent="-266700">
              <a:lnSpc>
                <a:spcPct val="110000"/>
              </a:lnSpc>
              <a:spcBef>
                <a:spcPct val="10000"/>
              </a:spcBef>
            </a:pPr>
            <a:r>
              <a:rPr lang="zh-CN" altLang="en-US" dirty="0"/>
              <a:t>将该缓冲区改为现行工作缓冲区</a:t>
            </a:r>
          </a:p>
          <a:p>
            <a:pPr marL="765175" lvl="1" indent="-266700">
              <a:lnSpc>
                <a:spcPct val="110000"/>
              </a:lnSpc>
              <a:spcBef>
                <a:spcPct val="10000"/>
              </a:spcBef>
            </a:pPr>
            <a:r>
              <a:rPr lang="zh-CN" altLang="en-US" dirty="0"/>
              <a:t>令</a:t>
            </a:r>
            <a:r>
              <a:rPr lang="en-US" altLang="zh-CN" dirty="0"/>
              <a:t>Current</a:t>
            </a:r>
            <a:r>
              <a:rPr lang="zh-CN" altLang="en-US" dirty="0"/>
              <a:t>指针指向该缓冲区的第一个单元</a:t>
            </a:r>
          </a:p>
          <a:p>
            <a:pPr marL="765175" lvl="1" indent="-266700">
              <a:lnSpc>
                <a:spcPct val="110000"/>
              </a:lnSpc>
              <a:spcBef>
                <a:spcPct val="10000"/>
              </a:spcBef>
            </a:pPr>
            <a:r>
              <a:rPr lang="zh-CN" altLang="en-US" dirty="0"/>
              <a:t>将</a:t>
            </a:r>
            <a:r>
              <a:rPr lang="en-US" altLang="zh-CN" dirty="0" err="1"/>
              <a:t>Nextg</a:t>
            </a:r>
            <a:r>
              <a:rPr lang="zh-CN" altLang="en-US" dirty="0"/>
              <a:t>移向下一个</a:t>
            </a:r>
            <a:r>
              <a:rPr lang="en-US" altLang="zh-CN" dirty="0"/>
              <a:t>G</a:t>
            </a:r>
            <a:r>
              <a:rPr lang="zh-CN" altLang="en-US" dirty="0"/>
              <a:t>缓冲区</a:t>
            </a:r>
          </a:p>
        </p:txBody>
      </p:sp>
      <p:sp>
        <p:nvSpPr>
          <p:cNvPr id="4" name="Date Placeholder 3"/>
          <p:cNvSpPr>
            <a:spLocks noGrp="1"/>
          </p:cNvSpPr>
          <p:nvPr>
            <p:ph type="dt" sz="half" idx="10"/>
          </p:nvPr>
        </p:nvSpPr>
        <p:spPr/>
        <p:txBody>
          <a:bodyPr/>
          <a:lstStyle/>
          <a:p>
            <a:fld id="{D3CAE6C8-05B2-41B1-8439-1D452A3138C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40</a:t>
            </a:fld>
            <a:endParaRPr lang="zh-CN" altLang="en-US" dirty="0"/>
          </a:p>
        </p:txBody>
      </p:sp>
      <p:sp>
        <p:nvSpPr>
          <p:cNvPr id="7" name="Oval 33"/>
          <p:cNvSpPr>
            <a:spLocks noChangeArrowheads="1"/>
          </p:cNvSpPr>
          <p:nvPr/>
        </p:nvSpPr>
        <p:spPr bwMode="auto">
          <a:xfrm>
            <a:off x="6166718" y="1743075"/>
            <a:ext cx="1439863" cy="14398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34"/>
          <p:cNvSpPr>
            <a:spLocks noChangeArrowheads="1"/>
          </p:cNvSpPr>
          <p:nvPr/>
        </p:nvSpPr>
        <p:spPr bwMode="auto">
          <a:xfrm>
            <a:off x="6736631" y="1598613"/>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9" name="Rectangle 35"/>
          <p:cNvSpPr>
            <a:spLocks noChangeArrowheads="1"/>
          </p:cNvSpPr>
          <p:nvPr/>
        </p:nvSpPr>
        <p:spPr bwMode="auto">
          <a:xfrm>
            <a:off x="7355756" y="2030413"/>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10" name="Rectangle 36"/>
          <p:cNvSpPr>
            <a:spLocks noChangeArrowheads="1"/>
          </p:cNvSpPr>
          <p:nvPr/>
        </p:nvSpPr>
        <p:spPr bwMode="auto">
          <a:xfrm>
            <a:off x="7362106" y="2606675"/>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1" name="Rectangle 37"/>
          <p:cNvSpPr>
            <a:spLocks noChangeArrowheads="1"/>
          </p:cNvSpPr>
          <p:nvPr/>
        </p:nvSpPr>
        <p:spPr bwMode="auto">
          <a:xfrm>
            <a:off x="6731868" y="3005138"/>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2" name="Rectangle 38"/>
          <p:cNvSpPr>
            <a:spLocks noChangeArrowheads="1"/>
          </p:cNvSpPr>
          <p:nvPr/>
        </p:nvSpPr>
        <p:spPr bwMode="auto">
          <a:xfrm>
            <a:off x="6088931" y="2054225"/>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3" name="Rectangle 39"/>
          <p:cNvSpPr>
            <a:spLocks noChangeArrowheads="1"/>
          </p:cNvSpPr>
          <p:nvPr/>
        </p:nvSpPr>
        <p:spPr bwMode="auto">
          <a:xfrm>
            <a:off x="6084168" y="2606675"/>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4" name="Text Box 40"/>
          <p:cNvSpPr txBox="1">
            <a:spLocks noChangeArrowheads="1"/>
          </p:cNvSpPr>
          <p:nvPr/>
        </p:nvSpPr>
        <p:spPr bwMode="auto">
          <a:xfrm>
            <a:off x="6741393" y="1824038"/>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1</a:t>
            </a:r>
          </a:p>
        </p:txBody>
      </p:sp>
      <p:sp>
        <p:nvSpPr>
          <p:cNvPr id="15" name="Text Box 41"/>
          <p:cNvSpPr txBox="1">
            <a:spLocks noChangeArrowheads="1"/>
          </p:cNvSpPr>
          <p:nvPr/>
        </p:nvSpPr>
        <p:spPr bwMode="auto">
          <a:xfrm>
            <a:off x="7139856" y="2011363"/>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2</a:t>
            </a:r>
          </a:p>
        </p:txBody>
      </p:sp>
      <p:sp>
        <p:nvSpPr>
          <p:cNvPr id="16" name="Text Box 42"/>
          <p:cNvSpPr txBox="1">
            <a:spLocks noChangeArrowheads="1"/>
          </p:cNvSpPr>
          <p:nvPr/>
        </p:nvSpPr>
        <p:spPr bwMode="auto">
          <a:xfrm>
            <a:off x="7141443" y="2568575"/>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3</a:t>
            </a:r>
          </a:p>
        </p:txBody>
      </p:sp>
      <p:sp>
        <p:nvSpPr>
          <p:cNvPr id="17" name="Text Box 43"/>
          <p:cNvSpPr txBox="1">
            <a:spLocks noChangeArrowheads="1"/>
          </p:cNvSpPr>
          <p:nvPr/>
        </p:nvSpPr>
        <p:spPr bwMode="auto">
          <a:xfrm>
            <a:off x="6742981" y="2722563"/>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4</a:t>
            </a:r>
          </a:p>
        </p:txBody>
      </p:sp>
      <p:sp>
        <p:nvSpPr>
          <p:cNvPr id="18" name="Text Box 44"/>
          <p:cNvSpPr txBox="1">
            <a:spLocks noChangeArrowheads="1"/>
          </p:cNvSpPr>
          <p:nvPr/>
        </p:nvSpPr>
        <p:spPr bwMode="auto">
          <a:xfrm>
            <a:off x="6311181" y="2587625"/>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5</a:t>
            </a:r>
          </a:p>
        </p:txBody>
      </p:sp>
      <p:sp>
        <p:nvSpPr>
          <p:cNvPr id="19" name="Text Box 45"/>
          <p:cNvSpPr txBox="1">
            <a:spLocks noChangeArrowheads="1"/>
          </p:cNvSpPr>
          <p:nvPr/>
        </p:nvSpPr>
        <p:spPr bwMode="auto">
          <a:xfrm>
            <a:off x="6311181" y="2030413"/>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6</a:t>
            </a:r>
          </a:p>
        </p:txBody>
      </p:sp>
      <p:sp>
        <p:nvSpPr>
          <p:cNvPr id="20" name="Line 46"/>
          <p:cNvSpPr>
            <a:spLocks noChangeShapeType="1"/>
          </p:cNvSpPr>
          <p:nvPr/>
        </p:nvSpPr>
        <p:spPr bwMode="auto">
          <a:xfrm>
            <a:off x="6887443" y="1349375"/>
            <a:ext cx="0" cy="21590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Text Box 47"/>
          <p:cNvSpPr txBox="1">
            <a:spLocks noChangeArrowheads="1"/>
          </p:cNvSpPr>
          <p:nvPr/>
        </p:nvSpPr>
        <p:spPr bwMode="auto">
          <a:xfrm>
            <a:off x="6877918" y="1268413"/>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Nexti</a:t>
            </a:r>
          </a:p>
        </p:txBody>
      </p:sp>
      <p:grpSp>
        <p:nvGrpSpPr>
          <p:cNvPr id="22" name="Group 77"/>
          <p:cNvGrpSpPr>
            <a:grpSpLocks/>
          </p:cNvGrpSpPr>
          <p:nvPr/>
        </p:nvGrpSpPr>
        <p:grpSpPr bwMode="auto">
          <a:xfrm>
            <a:off x="7597056" y="2732088"/>
            <a:ext cx="720725" cy="336550"/>
            <a:chOff x="5101" y="1948"/>
            <a:chExt cx="454" cy="212"/>
          </a:xfrm>
        </p:grpSpPr>
        <p:sp>
          <p:nvSpPr>
            <p:cNvPr id="23" name="Line 48"/>
            <p:cNvSpPr>
              <a:spLocks noChangeShapeType="1"/>
            </p:cNvSpPr>
            <p:nvPr/>
          </p:nvSpPr>
          <p:spPr bwMode="auto">
            <a:xfrm flipH="1">
              <a:off x="5135" y="1951"/>
              <a:ext cx="181"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Text Box 49"/>
            <p:cNvSpPr txBox="1">
              <a:spLocks noChangeArrowheads="1"/>
            </p:cNvSpPr>
            <p:nvPr/>
          </p:nvSpPr>
          <p:spPr bwMode="auto">
            <a:xfrm>
              <a:off x="5101" y="1948"/>
              <a:ext cx="45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Nextg</a:t>
              </a:r>
            </a:p>
          </p:txBody>
        </p:sp>
      </p:grpSp>
      <p:grpSp>
        <p:nvGrpSpPr>
          <p:cNvPr id="25" name="Group 79"/>
          <p:cNvGrpSpPr>
            <a:grpSpLocks/>
          </p:cNvGrpSpPr>
          <p:nvPr/>
        </p:nvGrpSpPr>
        <p:grpSpPr bwMode="auto">
          <a:xfrm>
            <a:off x="7366868" y="2603500"/>
            <a:ext cx="1176338" cy="465138"/>
            <a:chOff x="4956" y="1867"/>
            <a:chExt cx="741" cy="293"/>
          </a:xfrm>
        </p:grpSpPr>
        <p:sp>
          <p:nvSpPr>
            <p:cNvPr id="26" name="Rectangle 71"/>
            <p:cNvSpPr>
              <a:spLocks noChangeArrowheads="1"/>
            </p:cNvSpPr>
            <p:nvPr/>
          </p:nvSpPr>
          <p:spPr bwMode="auto">
            <a:xfrm>
              <a:off x="4956" y="1867"/>
              <a:ext cx="182" cy="182"/>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C</a:t>
              </a:r>
            </a:p>
          </p:txBody>
        </p:sp>
        <p:grpSp>
          <p:nvGrpSpPr>
            <p:cNvPr id="27" name="Group 78"/>
            <p:cNvGrpSpPr>
              <a:grpSpLocks/>
            </p:cNvGrpSpPr>
            <p:nvPr/>
          </p:nvGrpSpPr>
          <p:grpSpPr bwMode="auto">
            <a:xfrm>
              <a:off x="5108" y="1948"/>
              <a:ext cx="589" cy="212"/>
              <a:chOff x="5103" y="2341"/>
              <a:chExt cx="589" cy="212"/>
            </a:xfrm>
          </p:grpSpPr>
          <p:sp>
            <p:nvSpPr>
              <p:cNvPr id="28" name="Line 75"/>
              <p:cNvSpPr>
                <a:spLocks noChangeShapeType="1"/>
              </p:cNvSpPr>
              <p:nvPr/>
            </p:nvSpPr>
            <p:spPr bwMode="auto">
              <a:xfrm flipH="1">
                <a:off x="5137" y="2344"/>
                <a:ext cx="181"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Text Box 76"/>
              <p:cNvSpPr txBox="1">
                <a:spLocks noChangeArrowheads="1"/>
              </p:cNvSpPr>
              <p:nvPr/>
            </p:nvSpPr>
            <p:spPr bwMode="auto">
              <a:xfrm>
                <a:off x="5103" y="2341"/>
                <a:ext cx="58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Current</a:t>
                </a:r>
              </a:p>
            </p:txBody>
          </p:sp>
        </p:grpSp>
      </p:grpSp>
      <p:grpSp>
        <p:nvGrpSpPr>
          <p:cNvPr id="30" name="Group 82"/>
          <p:cNvGrpSpPr>
            <a:grpSpLocks/>
          </p:cNvGrpSpPr>
          <p:nvPr/>
        </p:nvGrpSpPr>
        <p:grpSpPr bwMode="auto">
          <a:xfrm>
            <a:off x="6889031" y="3284538"/>
            <a:ext cx="742950" cy="336550"/>
            <a:chOff x="4791" y="3883"/>
            <a:chExt cx="468" cy="212"/>
          </a:xfrm>
        </p:grpSpPr>
        <p:sp>
          <p:nvSpPr>
            <p:cNvPr id="31" name="Text Box 80"/>
            <p:cNvSpPr txBox="1">
              <a:spLocks noChangeArrowheads="1"/>
            </p:cNvSpPr>
            <p:nvPr/>
          </p:nvSpPr>
          <p:spPr bwMode="auto">
            <a:xfrm>
              <a:off x="4805" y="3883"/>
              <a:ext cx="45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Nextg</a:t>
              </a:r>
            </a:p>
          </p:txBody>
        </p:sp>
        <p:sp>
          <p:nvSpPr>
            <p:cNvPr id="32" name="Line 81"/>
            <p:cNvSpPr>
              <a:spLocks noChangeShapeType="1"/>
            </p:cNvSpPr>
            <p:nvPr/>
          </p:nvSpPr>
          <p:spPr bwMode="auto">
            <a:xfrm flipV="1">
              <a:off x="4791" y="3889"/>
              <a:ext cx="0" cy="182"/>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 name="Group 85"/>
          <p:cNvGrpSpPr>
            <a:grpSpLocks/>
          </p:cNvGrpSpPr>
          <p:nvPr/>
        </p:nvGrpSpPr>
        <p:grpSpPr bwMode="auto">
          <a:xfrm>
            <a:off x="6119093" y="3644900"/>
            <a:ext cx="2447925" cy="2800350"/>
            <a:chOff x="4170" y="2296"/>
            <a:chExt cx="1542" cy="1764"/>
          </a:xfrm>
        </p:grpSpPr>
        <p:grpSp>
          <p:nvGrpSpPr>
            <p:cNvPr id="34" name="Group 83"/>
            <p:cNvGrpSpPr>
              <a:grpSpLocks/>
            </p:cNvGrpSpPr>
            <p:nvPr/>
          </p:nvGrpSpPr>
          <p:grpSpPr bwMode="auto">
            <a:xfrm>
              <a:off x="4170" y="2578"/>
              <a:ext cx="1542" cy="1482"/>
              <a:chOff x="4150" y="2477"/>
              <a:chExt cx="1542" cy="1482"/>
            </a:xfrm>
          </p:grpSpPr>
          <p:sp>
            <p:nvSpPr>
              <p:cNvPr id="36" name="Oval 50"/>
              <p:cNvSpPr>
                <a:spLocks noChangeArrowheads="1"/>
              </p:cNvSpPr>
              <p:nvPr/>
            </p:nvSpPr>
            <p:spPr bwMode="auto">
              <a:xfrm>
                <a:off x="4202" y="2776"/>
                <a:ext cx="907" cy="90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Rectangle 51"/>
              <p:cNvSpPr>
                <a:spLocks noChangeArrowheads="1"/>
              </p:cNvSpPr>
              <p:nvPr/>
            </p:nvSpPr>
            <p:spPr bwMode="auto">
              <a:xfrm>
                <a:off x="4561" y="2685"/>
                <a:ext cx="182" cy="18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38" name="Rectangle 52"/>
              <p:cNvSpPr>
                <a:spLocks noChangeArrowheads="1"/>
              </p:cNvSpPr>
              <p:nvPr/>
            </p:nvSpPr>
            <p:spPr bwMode="auto">
              <a:xfrm>
                <a:off x="4951" y="2957"/>
                <a:ext cx="182" cy="18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39" name="Rectangle 53"/>
              <p:cNvSpPr>
                <a:spLocks noChangeArrowheads="1"/>
              </p:cNvSpPr>
              <p:nvPr/>
            </p:nvSpPr>
            <p:spPr bwMode="auto">
              <a:xfrm>
                <a:off x="4955" y="3320"/>
                <a:ext cx="182" cy="182"/>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C</a:t>
                </a:r>
              </a:p>
            </p:txBody>
          </p:sp>
          <p:sp>
            <p:nvSpPr>
              <p:cNvPr id="40" name="Rectangle 54"/>
              <p:cNvSpPr>
                <a:spLocks noChangeArrowheads="1"/>
              </p:cNvSpPr>
              <p:nvPr/>
            </p:nvSpPr>
            <p:spPr bwMode="auto">
              <a:xfrm>
                <a:off x="4558" y="3571"/>
                <a:ext cx="182" cy="18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41" name="Rectangle 55"/>
              <p:cNvSpPr>
                <a:spLocks noChangeArrowheads="1"/>
              </p:cNvSpPr>
              <p:nvPr/>
            </p:nvSpPr>
            <p:spPr bwMode="auto">
              <a:xfrm>
                <a:off x="4153" y="2972"/>
                <a:ext cx="182" cy="18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42" name="Rectangle 56"/>
              <p:cNvSpPr>
                <a:spLocks noChangeArrowheads="1"/>
              </p:cNvSpPr>
              <p:nvPr/>
            </p:nvSpPr>
            <p:spPr bwMode="auto">
              <a:xfrm>
                <a:off x="4150" y="3320"/>
                <a:ext cx="182" cy="18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43" name="Text Box 57"/>
              <p:cNvSpPr txBox="1">
                <a:spLocks noChangeArrowheads="1"/>
              </p:cNvSpPr>
              <p:nvPr/>
            </p:nvSpPr>
            <p:spPr bwMode="auto">
              <a:xfrm>
                <a:off x="4564" y="2827"/>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1</a:t>
                </a:r>
              </a:p>
            </p:txBody>
          </p:sp>
          <p:sp>
            <p:nvSpPr>
              <p:cNvPr id="44" name="Text Box 58"/>
              <p:cNvSpPr txBox="1">
                <a:spLocks noChangeArrowheads="1"/>
              </p:cNvSpPr>
              <p:nvPr/>
            </p:nvSpPr>
            <p:spPr bwMode="auto">
              <a:xfrm>
                <a:off x="4815" y="2945"/>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2</a:t>
                </a:r>
              </a:p>
            </p:txBody>
          </p:sp>
          <p:sp>
            <p:nvSpPr>
              <p:cNvPr id="45" name="Text Box 59"/>
              <p:cNvSpPr txBox="1">
                <a:spLocks noChangeArrowheads="1"/>
              </p:cNvSpPr>
              <p:nvPr/>
            </p:nvSpPr>
            <p:spPr bwMode="auto">
              <a:xfrm>
                <a:off x="4816" y="3296"/>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3</a:t>
                </a:r>
              </a:p>
            </p:txBody>
          </p:sp>
          <p:sp>
            <p:nvSpPr>
              <p:cNvPr id="46" name="Text Box 60"/>
              <p:cNvSpPr txBox="1">
                <a:spLocks noChangeArrowheads="1"/>
              </p:cNvSpPr>
              <p:nvPr/>
            </p:nvSpPr>
            <p:spPr bwMode="auto">
              <a:xfrm>
                <a:off x="4565" y="3393"/>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4</a:t>
                </a:r>
              </a:p>
            </p:txBody>
          </p:sp>
          <p:sp>
            <p:nvSpPr>
              <p:cNvPr id="47" name="Text Box 61"/>
              <p:cNvSpPr txBox="1">
                <a:spLocks noChangeArrowheads="1"/>
              </p:cNvSpPr>
              <p:nvPr/>
            </p:nvSpPr>
            <p:spPr bwMode="auto">
              <a:xfrm>
                <a:off x="4293" y="3308"/>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5</a:t>
                </a:r>
              </a:p>
            </p:txBody>
          </p:sp>
          <p:sp>
            <p:nvSpPr>
              <p:cNvPr id="48" name="Text Box 62"/>
              <p:cNvSpPr txBox="1">
                <a:spLocks noChangeArrowheads="1"/>
              </p:cNvSpPr>
              <p:nvPr/>
            </p:nvSpPr>
            <p:spPr bwMode="auto">
              <a:xfrm>
                <a:off x="4293" y="2957"/>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6</a:t>
                </a:r>
              </a:p>
            </p:txBody>
          </p:sp>
          <p:sp>
            <p:nvSpPr>
              <p:cNvPr id="49" name="Line 63"/>
              <p:cNvSpPr>
                <a:spLocks noChangeShapeType="1"/>
              </p:cNvSpPr>
              <p:nvPr/>
            </p:nvSpPr>
            <p:spPr bwMode="auto">
              <a:xfrm>
                <a:off x="4656" y="2528"/>
                <a:ext cx="0" cy="136"/>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Text Box 64"/>
              <p:cNvSpPr txBox="1">
                <a:spLocks noChangeArrowheads="1"/>
              </p:cNvSpPr>
              <p:nvPr/>
            </p:nvSpPr>
            <p:spPr bwMode="auto">
              <a:xfrm>
                <a:off x="4650" y="2477"/>
                <a:ext cx="40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Nexti</a:t>
                </a:r>
              </a:p>
            </p:txBody>
          </p:sp>
          <p:sp>
            <p:nvSpPr>
              <p:cNvPr id="51" name="Line 65"/>
              <p:cNvSpPr>
                <a:spLocks noChangeShapeType="1"/>
              </p:cNvSpPr>
              <p:nvPr/>
            </p:nvSpPr>
            <p:spPr bwMode="auto">
              <a:xfrm flipH="1">
                <a:off x="5137" y="3402"/>
                <a:ext cx="181"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Text Box 66"/>
              <p:cNvSpPr txBox="1">
                <a:spLocks noChangeArrowheads="1"/>
              </p:cNvSpPr>
              <p:nvPr/>
            </p:nvSpPr>
            <p:spPr bwMode="auto">
              <a:xfrm>
                <a:off x="5103" y="3399"/>
                <a:ext cx="58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Current</a:t>
                </a:r>
              </a:p>
            </p:txBody>
          </p:sp>
          <p:sp>
            <p:nvSpPr>
              <p:cNvPr id="53" name="Text Box 67"/>
              <p:cNvSpPr txBox="1">
                <a:spLocks noChangeArrowheads="1"/>
              </p:cNvSpPr>
              <p:nvPr/>
            </p:nvSpPr>
            <p:spPr bwMode="auto">
              <a:xfrm>
                <a:off x="4669" y="3747"/>
                <a:ext cx="45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Nextg</a:t>
                </a:r>
              </a:p>
            </p:txBody>
          </p:sp>
          <p:sp>
            <p:nvSpPr>
              <p:cNvPr id="54" name="Line 68"/>
              <p:cNvSpPr>
                <a:spLocks noChangeShapeType="1"/>
              </p:cNvSpPr>
              <p:nvPr/>
            </p:nvSpPr>
            <p:spPr bwMode="auto">
              <a:xfrm flipV="1">
                <a:off x="4655" y="3753"/>
                <a:ext cx="0" cy="182"/>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5" name="AutoShape 84"/>
            <p:cNvSpPr>
              <a:spLocks noChangeArrowheads="1"/>
            </p:cNvSpPr>
            <p:nvPr/>
          </p:nvSpPr>
          <p:spPr bwMode="auto">
            <a:xfrm>
              <a:off x="4604" y="2296"/>
              <a:ext cx="136" cy="272"/>
            </a:xfrm>
            <a:prstGeom prst="downArrow">
              <a:avLst>
                <a:gd name="adj1" fmla="val 50000"/>
                <a:gd name="adj2" fmla="val 50000"/>
              </a:avLst>
            </a:prstGeom>
            <a:solidFill>
              <a:srgbClr val="0033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Tree>
    <p:extLst>
      <p:ext uri="{BB962C8B-B14F-4D97-AF65-F5344CB8AC3E}">
        <p14:creationId xmlns:p14="http://schemas.microsoft.com/office/powerpoint/2010/main" val="3576229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500" fill="hold"/>
                                        <p:tgtEl>
                                          <p:spTgt spid="10"/>
                                        </p:tgtEl>
                                        <p:attrNameLst>
                                          <p:attrName>r</p:attrName>
                                        </p:attrNameLst>
                                      </p:cBhvr>
                                    </p:animRot>
                                  </p:childTnLst>
                                </p:cTn>
                              </p:par>
                            </p:childTnLst>
                          </p:cTn>
                        </p:par>
                        <p:par>
                          <p:cTn id="7" fill="hold">
                            <p:stCondLst>
                              <p:cond delay="500"/>
                            </p:stCondLst>
                            <p:childTnLst>
                              <p:par>
                                <p:cTn id="8" presetID="1" presetClass="emph" presetSubtype="2" fill="hold" nodeType="afterEffect">
                                  <p:stCondLst>
                                    <p:cond delay="0"/>
                                  </p:stCondLst>
                                  <p:childTnLst>
                                    <p:animClr clrSpc="rgb" dir="cw">
                                      <p:cBhvr>
                                        <p:cTn id="9" dur="500" fill="hold"/>
                                        <p:tgtEl>
                                          <p:spTgt spid="10"/>
                                        </p:tgtEl>
                                        <p:attrNameLst>
                                          <p:attrName>fillcolor</p:attrName>
                                        </p:attrNameLst>
                                      </p:cBhvr>
                                      <p:to>
                                        <a:schemeClr val="folHlink"/>
                                      </p:to>
                                    </p:animClr>
                                    <p:set>
                                      <p:cBhvr>
                                        <p:cTn id="10" dur="500" fill="hold"/>
                                        <p:tgtEl>
                                          <p:spTgt spid="10"/>
                                        </p:tgtEl>
                                        <p:attrNameLst>
                                          <p:attrName>fill.type</p:attrName>
                                        </p:attrNameLst>
                                      </p:cBhvr>
                                      <p:to>
                                        <p:strVal val="solid"/>
                                      </p:to>
                                    </p:set>
                                    <p:set>
                                      <p:cBhvr>
                                        <p:cTn id="11" dur="500" fill="hold"/>
                                        <p:tgtEl>
                                          <p:spTgt spid="10"/>
                                        </p:tgtEl>
                                        <p:attrNameLst>
                                          <p:attrName>fill.on</p:attrName>
                                        </p:attrNameLst>
                                      </p:cBhvr>
                                      <p:to>
                                        <p:strVal val="true"/>
                                      </p:to>
                                    </p:se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nodeType="clickEffect">
                                  <p:stCondLst>
                                    <p:cond delay="0"/>
                                  </p:stCondLst>
                                  <p:childTnLst>
                                    <p:set>
                                      <p:cBhvr>
                                        <p:cTn id="15" dur="1" fill="hold">
                                          <p:stCondLst>
                                            <p:cond delay="0"/>
                                          </p:stCondLst>
                                        </p:cTn>
                                        <p:tgtEl>
                                          <p:spTgt spid="22"/>
                                        </p:tgtEl>
                                        <p:attrNameLst>
                                          <p:attrName>style.visibility</p:attrName>
                                        </p:attrNameLst>
                                      </p:cBhvr>
                                      <p:to>
                                        <p:strVal val="hidden"/>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3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wipe(up)">
                                      <p:cBhvr>
                                        <p:cTn id="26"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环形缓冲技术</a:t>
            </a:r>
          </a:p>
        </p:txBody>
      </p:sp>
      <p:sp>
        <p:nvSpPr>
          <p:cNvPr id="3" name="Content Placeholder 2"/>
          <p:cNvSpPr>
            <a:spLocks noGrp="1"/>
          </p:cNvSpPr>
          <p:nvPr>
            <p:ph idx="1"/>
          </p:nvPr>
        </p:nvSpPr>
        <p:spPr>
          <a:xfrm>
            <a:off x="457200" y="1268760"/>
            <a:ext cx="4402832" cy="5256584"/>
          </a:xfrm>
        </p:spPr>
        <p:txBody>
          <a:bodyPr/>
          <a:lstStyle/>
          <a:p>
            <a:pPr marL="319088" indent="-274638">
              <a:lnSpc>
                <a:spcPct val="110000"/>
              </a:lnSpc>
              <a:spcBef>
                <a:spcPct val="10000"/>
              </a:spcBef>
            </a:pPr>
            <a:r>
              <a:rPr lang="en-US" altLang="zh-CN" dirty="0" err="1"/>
              <a:t>Getbuf</a:t>
            </a:r>
            <a:r>
              <a:rPr lang="zh-CN" altLang="en-US" dirty="0"/>
              <a:t>过程</a:t>
            </a:r>
            <a:endParaRPr lang="en-US" altLang="zh-CN" dirty="0"/>
          </a:p>
          <a:p>
            <a:pPr marL="719138" lvl="1" indent="-274638">
              <a:lnSpc>
                <a:spcPct val="110000"/>
              </a:lnSpc>
              <a:spcBef>
                <a:spcPct val="10000"/>
              </a:spcBef>
            </a:pPr>
            <a:r>
              <a:rPr lang="zh-CN" altLang="en-US" dirty="0">
                <a:solidFill>
                  <a:srgbClr val="0000FF"/>
                </a:solidFill>
              </a:rPr>
              <a:t>当输入进程需要使用空缓冲区来装入数据时也调用</a:t>
            </a:r>
            <a:r>
              <a:rPr lang="en-US" altLang="zh-CN" dirty="0" err="1">
                <a:solidFill>
                  <a:srgbClr val="0000FF"/>
                </a:solidFill>
              </a:rPr>
              <a:t>Getbuf</a:t>
            </a:r>
            <a:r>
              <a:rPr lang="zh-CN" altLang="en-US" dirty="0">
                <a:solidFill>
                  <a:srgbClr val="0000FF"/>
                </a:solidFill>
              </a:rPr>
              <a:t>过程</a:t>
            </a:r>
          </a:p>
          <a:p>
            <a:pPr marL="765175" lvl="1" indent="-266700">
              <a:lnSpc>
                <a:spcPct val="110000"/>
              </a:lnSpc>
              <a:spcBef>
                <a:spcPct val="10000"/>
              </a:spcBef>
            </a:pPr>
            <a:r>
              <a:rPr lang="zh-CN" altLang="en-US" dirty="0"/>
              <a:t>将指针</a:t>
            </a:r>
            <a:r>
              <a:rPr lang="en-US" altLang="zh-CN" dirty="0" err="1"/>
              <a:t>Nexti</a:t>
            </a:r>
            <a:r>
              <a:rPr lang="zh-CN" altLang="en-US" dirty="0"/>
              <a:t>所指示的缓冲区提供给</a:t>
            </a:r>
            <a:r>
              <a:rPr lang="zh-CN" altLang="en-US" dirty="0">
                <a:solidFill>
                  <a:srgbClr val="0000FF"/>
                </a:solidFill>
              </a:rPr>
              <a:t>输入进程</a:t>
            </a:r>
            <a:r>
              <a:rPr lang="zh-CN" altLang="en-US" dirty="0"/>
              <a:t>使用</a:t>
            </a:r>
            <a:endParaRPr lang="en-US" altLang="zh-CN" dirty="0"/>
          </a:p>
          <a:p>
            <a:pPr marL="765175" lvl="1" indent="-266700">
              <a:lnSpc>
                <a:spcPct val="110000"/>
              </a:lnSpc>
              <a:spcBef>
                <a:spcPct val="10000"/>
              </a:spcBef>
            </a:pPr>
            <a:r>
              <a:rPr lang="zh-CN" altLang="en-US" dirty="0"/>
              <a:t>将</a:t>
            </a:r>
            <a:r>
              <a:rPr lang="en-US" altLang="zh-CN" dirty="0" err="1"/>
              <a:t>Nexti</a:t>
            </a:r>
            <a:r>
              <a:rPr lang="zh-CN" altLang="en-US" dirty="0"/>
              <a:t>移向下一个</a:t>
            </a:r>
            <a:r>
              <a:rPr lang="en-US" altLang="zh-CN" dirty="0"/>
              <a:t>R</a:t>
            </a:r>
            <a:r>
              <a:rPr lang="zh-CN" altLang="en-US" dirty="0"/>
              <a:t>缓冲区</a:t>
            </a:r>
          </a:p>
        </p:txBody>
      </p:sp>
      <p:sp>
        <p:nvSpPr>
          <p:cNvPr id="4" name="Date Placeholder 3"/>
          <p:cNvSpPr>
            <a:spLocks noGrp="1"/>
          </p:cNvSpPr>
          <p:nvPr>
            <p:ph type="dt" sz="half" idx="10"/>
          </p:nvPr>
        </p:nvSpPr>
        <p:spPr/>
        <p:txBody>
          <a:bodyPr/>
          <a:lstStyle/>
          <a:p>
            <a:fld id="{E6974A6A-F5D1-4B07-AE16-052EAA808CD8}"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41</a:t>
            </a:fld>
            <a:endParaRPr lang="zh-CN" altLang="en-US" dirty="0"/>
          </a:p>
        </p:txBody>
      </p:sp>
      <p:sp>
        <p:nvSpPr>
          <p:cNvPr id="7" name="Oval 6"/>
          <p:cNvSpPr>
            <a:spLocks noChangeArrowheads="1"/>
          </p:cNvSpPr>
          <p:nvPr/>
        </p:nvSpPr>
        <p:spPr bwMode="auto">
          <a:xfrm>
            <a:off x="5950694" y="2238846"/>
            <a:ext cx="1439863" cy="143986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7"/>
          <p:cNvSpPr>
            <a:spLocks noChangeArrowheads="1"/>
          </p:cNvSpPr>
          <p:nvPr/>
        </p:nvSpPr>
        <p:spPr bwMode="auto">
          <a:xfrm>
            <a:off x="6520607" y="2094383"/>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9" name="Rectangle 8"/>
          <p:cNvSpPr>
            <a:spLocks noChangeArrowheads="1"/>
          </p:cNvSpPr>
          <p:nvPr/>
        </p:nvSpPr>
        <p:spPr bwMode="auto">
          <a:xfrm>
            <a:off x="7139732" y="2526183"/>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10" name="Rectangle 9"/>
          <p:cNvSpPr>
            <a:spLocks noChangeArrowheads="1"/>
          </p:cNvSpPr>
          <p:nvPr/>
        </p:nvSpPr>
        <p:spPr bwMode="auto">
          <a:xfrm>
            <a:off x="7146082" y="3102446"/>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1" name="Rectangle 10"/>
          <p:cNvSpPr>
            <a:spLocks noChangeArrowheads="1"/>
          </p:cNvSpPr>
          <p:nvPr/>
        </p:nvSpPr>
        <p:spPr bwMode="auto">
          <a:xfrm>
            <a:off x="6515844" y="3500908"/>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2" name="Rectangle 11"/>
          <p:cNvSpPr>
            <a:spLocks noChangeArrowheads="1"/>
          </p:cNvSpPr>
          <p:nvPr/>
        </p:nvSpPr>
        <p:spPr bwMode="auto">
          <a:xfrm>
            <a:off x="5872907" y="2549996"/>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3" name="Rectangle 12"/>
          <p:cNvSpPr>
            <a:spLocks noChangeArrowheads="1"/>
          </p:cNvSpPr>
          <p:nvPr/>
        </p:nvSpPr>
        <p:spPr bwMode="auto">
          <a:xfrm>
            <a:off x="5868144" y="3102446"/>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4" name="Text Box 13"/>
          <p:cNvSpPr txBox="1">
            <a:spLocks noChangeArrowheads="1"/>
          </p:cNvSpPr>
          <p:nvPr/>
        </p:nvSpPr>
        <p:spPr bwMode="auto">
          <a:xfrm>
            <a:off x="6525369" y="2319808"/>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1</a:t>
            </a:r>
          </a:p>
        </p:txBody>
      </p:sp>
      <p:sp>
        <p:nvSpPr>
          <p:cNvPr id="15" name="Text Box 14"/>
          <p:cNvSpPr txBox="1">
            <a:spLocks noChangeArrowheads="1"/>
          </p:cNvSpPr>
          <p:nvPr/>
        </p:nvSpPr>
        <p:spPr bwMode="auto">
          <a:xfrm>
            <a:off x="6923832" y="2507133"/>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2</a:t>
            </a:r>
          </a:p>
        </p:txBody>
      </p:sp>
      <p:sp>
        <p:nvSpPr>
          <p:cNvPr id="16" name="Text Box 15"/>
          <p:cNvSpPr txBox="1">
            <a:spLocks noChangeArrowheads="1"/>
          </p:cNvSpPr>
          <p:nvPr/>
        </p:nvSpPr>
        <p:spPr bwMode="auto">
          <a:xfrm>
            <a:off x="6925419" y="3064346"/>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3</a:t>
            </a:r>
          </a:p>
        </p:txBody>
      </p:sp>
      <p:sp>
        <p:nvSpPr>
          <p:cNvPr id="17" name="Text Box 16"/>
          <p:cNvSpPr txBox="1">
            <a:spLocks noChangeArrowheads="1"/>
          </p:cNvSpPr>
          <p:nvPr/>
        </p:nvSpPr>
        <p:spPr bwMode="auto">
          <a:xfrm>
            <a:off x="6526957" y="3218333"/>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4</a:t>
            </a:r>
          </a:p>
        </p:txBody>
      </p:sp>
      <p:sp>
        <p:nvSpPr>
          <p:cNvPr id="18" name="Text Box 17"/>
          <p:cNvSpPr txBox="1">
            <a:spLocks noChangeArrowheads="1"/>
          </p:cNvSpPr>
          <p:nvPr/>
        </p:nvSpPr>
        <p:spPr bwMode="auto">
          <a:xfrm>
            <a:off x="6095157" y="3083396"/>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5</a:t>
            </a:r>
          </a:p>
        </p:txBody>
      </p:sp>
      <p:sp>
        <p:nvSpPr>
          <p:cNvPr id="19" name="Text Box 18"/>
          <p:cNvSpPr txBox="1">
            <a:spLocks noChangeArrowheads="1"/>
          </p:cNvSpPr>
          <p:nvPr/>
        </p:nvSpPr>
        <p:spPr bwMode="auto">
          <a:xfrm>
            <a:off x="6095157" y="2526183"/>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6</a:t>
            </a:r>
          </a:p>
        </p:txBody>
      </p:sp>
      <p:grpSp>
        <p:nvGrpSpPr>
          <p:cNvPr id="20" name="Group 47"/>
          <p:cNvGrpSpPr>
            <a:grpSpLocks/>
          </p:cNvGrpSpPr>
          <p:nvPr/>
        </p:nvGrpSpPr>
        <p:grpSpPr bwMode="auto">
          <a:xfrm>
            <a:off x="6661894" y="1764183"/>
            <a:ext cx="647700" cy="336550"/>
            <a:chOff x="4648" y="1026"/>
            <a:chExt cx="408" cy="212"/>
          </a:xfrm>
        </p:grpSpPr>
        <p:sp>
          <p:nvSpPr>
            <p:cNvPr id="21" name="Line 19"/>
            <p:cNvSpPr>
              <a:spLocks noChangeShapeType="1"/>
            </p:cNvSpPr>
            <p:nvPr/>
          </p:nvSpPr>
          <p:spPr bwMode="auto">
            <a:xfrm>
              <a:off x="4654" y="1077"/>
              <a:ext cx="0" cy="136"/>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Text Box 20"/>
            <p:cNvSpPr txBox="1">
              <a:spLocks noChangeArrowheads="1"/>
            </p:cNvSpPr>
            <p:nvPr/>
          </p:nvSpPr>
          <p:spPr bwMode="auto">
            <a:xfrm>
              <a:off x="4648" y="1026"/>
              <a:ext cx="40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Nexti</a:t>
              </a:r>
            </a:p>
          </p:txBody>
        </p:sp>
      </p:grpSp>
      <p:sp>
        <p:nvSpPr>
          <p:cNvPr id="23" name="Line 21"/>
          <p:cNvSpPr>
            <a:spLocks noChangeShapeType="1"/>
          </p:cNvSpPr>
          <p:nvPr/>
        </p:nvSpPr>
        <p:spPr bwMode="auto">
          <a:xfrm flipH="1">
            <a:off x="7435007" y="3232621"/>
            <a:ext cx="287337"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Text Box 22"/>
          <p:cNvSpPr txBox="1">
            <a:spLocks noChangeArrowheads="1"/>
          </p:cNvSpPr>
          <p:nvPr/>
        </p:nvSpPr>
        <p:spPr bwMode="auto">
          <a:xfrm>
            <a:off x="7381032" y="3227858"/>
            <a:ext cx="720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Nextg</a:t>
            </a:r>
          </a:p>
        </p:txBody>
      </p:sp>
      <p:grpSp>
        <p:nvGrpSpPr>
          <p:cNvPr id="25" name="Group 49"/>
          <p:cNvGrpSpPr>
            <a:grpSpLocks/>
          </p:cNvGrpSpPr>
          <p:nvPr/>
        </p:nvGrpSpPr>
        <p:grpSpPr bwMode="auto">
          <a:xfrm>
            <a:off x="7384207" y="2683346"/>
            <a:ext cx="720725" cy="336550"/>
            <a:chOff x="5193" y="2432"/>
            <a:chExt cx="454" cy="212"/>
          </a:xfrm>
        </p:grpSpPr>
        <p:sp>
          <p:nvSpPr>
            <p:cNvPr id="26" name="Line 45"/>
            <p:cNvSpPr>
              <a:spLocks noChangeShapeType="1"/>
            </p:cNvSpPr>
            <p:nvPr/>
          </p:nvSpPr>
          <p:spPr bwMode="auto">
            <a:xfrm flipH="1">
              <a:off x="5227" y="2435"/>
              <a:ext cx="181"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Text Box 46"/>
            <p:cNvSpPr txBox="1">
              <a:spLocks noChangeArrowheads="1"/>
            </p:cNvSpPr>
            <p:nvPr/>
          </p:nvSpPr>
          <p:spPr bwMode="auto">
            <a:xfrm>
              <a:off x="5193" y="2432"/>
              <a:ext cx="45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Nexti</a:t>
              </a:r>
            </a:p>
          </p:txBody>
        </p:sp>
      </p:grpSp>
      <p:grpSp>
        <p:nvGrpSpPr>
          <p:cNvPr id="28" name="Group 51"/>
          <p:cNvGrpSpPr>
            <a:grpSpLocks/>
          </p:cNvGrpSpPr>
          <p:nvPr/>
        </p:nvGrpSpPr>
        <p:grpSpPr bwMode="auto">
          <a:xfrm>
            <a:off x="5871319" y="3924771"/>
            <a:ext cx="2305050" cy="2168525"/>
            <a:chOff x="4150" y="2387"/>
            <a:chExt cx="1452" cy="1366"/>
          </a:xfrm>
        </p:grpSpPr>
        <p:sp>
          <p:nvSpPr>
            <p:cNvPr id="29" name="Oval 24"/>
            <p:cNvSpPr>
              <a:spLocks noChangeArrowheads="1"/>
            </p:cNvSpPr>
            <p:nvPr/>
          </p:nvSpPr>
          <p:spPr bwMode="auto">
            <a:xfrm>
              <a:off x="4202" y="2776"/>
              <a:ext cx="907" cy="90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Rectangle 25"/>
            <p:cNvSpPr>
              <a:spLocks noChangeArrowheads="1"/>
            </p:cNvSpPr>
            <p:nvPr/>
          </p:nvSpPr>
          <p:spPr bwMode="auto">
            <a:xfrm>
              <a:off x="4561" y="2685"/>
              <a:ext cx="182" cy="182"/>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31" name="Rectangle 26"/>
            <p:cNvSpPr>
              <a:spLocks noChangeArrowheads="1"/>
            </p:cNvSpPr>
            <p:nvPr/>
          </p:nvSpPr>
          <p:spPr bwMode="auto">
            <a:xfrm>
              <a:off x="4951" y="2957"/>
              <a:ext cx="182" cy="18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32" name="Rectangle 27"/>
            <p:cNvSpPr>
              <a:spLocks noChangeArrowheads="1"/>
            </p:cNvSpPr>
            <p:nvPr/>
          </p:nvSpPr>
          <p:spPr bwMode="auto">
            <a:xfrm>
              <a:off x="4955" y="3320"/>
              <a:ext cx="182" cy="18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33" name="Rectangle 28"/>
            <p:cNvSpPr>
              <a:spLocks noChangeArrowheads="1"/>
            </p:cNvSpPr>
            <p:nvPr/>
          </p:nvSpPr>
          <p:spPr bwMode="auto">
            <a:xfrm>
              <a:off x="4558" y="3571"/>
              <a:ext cx="182" cy="18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34" name="Rectangle 29"/>
            <p:cNvSpPr>
              <a:spLocks noChangeArrowheads="1"/>
            </p:cNvSpPr>
            <p:nvPr/>
          </p:nvSpPr>
          <p:spPr bwMode="auto">
            <a:xfrm>
              <a:off x="4153" y="2972"/>
              <a:ext cx="182" cy="18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35" name="Rectangle 30"/>
            <p:cNvSpPr>
              <a:spLocks noChangeArrowheads="1"/>
            </p:cNvSpPr>
            <p:nvPr/>
          </p:nvSpPr>
          <p:spPr bwMode="auto">
            <a:xfrm>
              <a:off x="4150" y="3320"/>
              <a:ext cx="182" cy="18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36" name="Text Box 31"/>
            <p:cNvSpPr txBox="1">
              <a:spLocks noChangeArrowheads="1"/>
            </p:cNvSpPr>
            <p:nvPr/>
          </p:nvSpPr>
          <p:spPr bwMode="auto">
            <a:xfrm>
              <a:off x="4564" y="2827"/>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1</a:t>
              </a:r>
            </a:p>
          </p:txBody>
        </p:sp>
        <p:sp>
          <p:nvSpPr>
            <p:cNvPr id="37" name="Text Box 32"/>
            <p:cNvSpPr txBox="1">
              <a:spLocks noChangeArrowheads="1"/>
            </p:cNvSpPr>
            <p:nvPr/>
          </p:nvSpPr>
          <p:spPr bwMode="auto">
            <a:xfrm>
              <a:off x="4815" y="2945"/>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2</a:t>
              </a:r>
            </a:p>
          </p:txBody>
        </p:sp>
        <p:sp>
          <p:nvSpPr>
            <p:cNvPr id="38" name="Text Box 33"/>
            <p:cNvSpPr txBox="1">
              <a:spLocks noChangeArrowheads="1"/>
            </p:cNvSpPr>
            <p:nvPr/>
          </p:nvSpPr>
          <p:spPr bwMode="auto">
            <a:xfrm>
              <a:off x="4816" y="3296"/>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3</a:t>
              </a:r>
            </a:p>
          </p:txBody>
        </p:sp>
        <p:sp>
          <p:nvSpPr>
            <p:cNvPr id="39" name="Text Box 34"/>
            <p:cNvSpPr txBox="1">
              <a:spLocks noChangeArrowheads="1"/>
            </p:cNvSpPr>
            <p:nvPr/>
          </p:nvSpPr>
          <p:spPr bwMode="auto">
            <a:xfrm>
              <a:off x="4565" y="3393"/>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4</a:t>
              </a:r>
            </a:p>
          </p:txBody>
        </p:sp>
        <p:sp>
          <p:nvSpPr>
            <p:cNvPr id="40" name="Text Box 35"/>
            <p:cNvSpPr txBox="1">
              <a:spLocks noChangeArrowheads="1"/>
            </p:cNvSpPr>
            <p:nvPr/>
          </p:nvSpPr>
          <p:spPr bwMode="auto">
            <a:xfrm>
              <a:off x="4293" y="3308"/>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5</a:t>
              </a:r>
            </a:p>
          </p:txBody>
        </p:sp>
        <p:sp>
          <p:nvSpPr>
            <p:cNvPr id="41" name="Text Box 36"/>
            <p:cNvSpPr txBox="1">
              <a:spLocks noChangeArrowheads="1"/>
            </p:cNvSpPr>
            <p:nvPr/>
          </p:nvSpPr>
          <p:spPr bwMode="auto">
            <a:xfrm>
              <a:off x="4293" y="2957"/>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6</a:t>
              </a:r>
            </a:p>
          </p:txBody>
        </p:sp>
        <p:sp>
          <p:nvSpPr>
            <p:cNvPr id="42" name="Line 39"/>
            <p:cNvSpPr>
              <a:spLocks noChangeShapeType="1"/>
            </p:cNvSpPr>
            <p:nvPr/>
          </p:nvSpPr>
          <p:spPr bwMode="auto">
            <a:xfrm flipH="1">
              <a:off x="5137" y="3402"/>
              <a:ext cx="181"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Text Box 40"/>
            <p:cNvSpPr txBox="1">
              <a:spLocks noChangeArrowheads="1"/>
            </p:cNvSpPr>
            <p:nvPr/>
          </p:nvSpPr>
          <p:spPr bwMode="auto">
            <a:xfrm>
              <a:off x="5103" y="3399"/>
              <a:ext cx="4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Nextg</a:t>
              </a:r>
            </a:p>
          </p:txBody>
        </p:sp>
        <p:sp>
          <p:nvSpPr>
            <p:cNvPr id="44" name="Line 43"/>
            <p:cNvSpPr>
              <a:spLocks noChangeShapeType="1"/>
            </p:cNvSpPr>
            <p:nvPr/>
          </p:nvSpPr>
          <p:spPr bwMode="auto">
            <a:xfrm flipH="1">
              <a:off x="5142" y="3060"/>
              <a:ext cx="181"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Text Box 44"/>
            <p:cNvSpPr txBox="1">
              <a:spLocks noChangeArrowheads="1"/>
            </p:cNvSpPr>
            <p:nvPr/>
          </p:nvSpPr>
          <p:spPr bwMode="auto">
            <a:xfrm>
              <a:off x="5108" y="3057"/>
              <a:ext cx="49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Nexti</a:t>
              </a:r>
            </a:p>
          </p:txBody>
        </p:sp>
        <p:sp>
          <p:nvSpPr>
            <p:cNvPr id="46" name="AutoShape 50"/>
            <p:cNvSpPr>
              <a:spLocks noChangeArrowheads="1"/>
            </p:cNvSpPr>
            <p:nvPr/>
          </p:nvSpPr>
          <p:spPr bwMode="auto">
            <a:xfrm>
              <a:off x="4604" y="2387"/>
              <a:ext cx="136" cy="227"/>
            </a:xfrm>
            <a:prstGeom prst="downArrow">
              <a:avLst>
                <a:gd name="adj1" fmla="val 50000"/>
                <a:gd name="adj2" fmla="val 41728"/>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Tree>
    <p:extLst>
      <p:ext uri="{BB962C8B-B14F-4D97-AF65-F5344CB8AC3E}">
        <p14:creationId xmlns:p14="http://schemas.microsoft.com/office/powerpoint/2010/main" val="4293437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500" fill="hold"/>
                                        <p:tgtEl>
                                          <p:spTgt spid="8"/>
                                        </p:tgtEl>
                                        <p:attrNameLst>
                                          <p:attrName>r</p:attrName>
                                        </p:attrNameLst>
                                      </p:cBhvr>
                                    </p:animRot>
                                  </p:childTnLst>
                                </p:cTn>
                              </p:par>
                            </p:childTnLst>
                          </p:cTn>
                        </p:par>
                        <p:par>
                          <p:cTn id="7" fill="hold">
                            <p:stCondLst>
                              <p:cond delay="500"/>
                            </p:stCondLst>
                            <p:childTnLst>
                              <p:par>
                                <p:cTn id="8" presetID="1" presetClass="emph" presetSubtype="2" fill="hold" nodeType="afterEffect">
                                  <p:stCondLst>
                                    <p:cond delay="0"/>
                                  </p:stCondLst>
                                  <p:childTnLst>
                                    <p:animClr clrSpc="rgb" dir="cw">
                                      <p:cBhvr>
                                        <p:cTn id="9" dur="500" fill="hold"/>
                                        <p:tgtEl>
                                          <p:spTgt spid="8"/>
                                        </p:tgtEl>
                                        <p:attrNameLst>
                                          <p:attrName>fillcolor</p:attrName>
                                        </p:attrNameLst>
                                      </p:cBhvr>
                                      <p:to>
                                        <a:schemeClr val="folHlink"/>
                                      </p:to>
                                    </p:animClr>
                                    <p:set>
                                      <p:cBhvr>
                                        <p:cTn id="10" dur="500" fill="hold"/>
                                        <p:tgtEl>
                                          <p:spTgt spid="8"/>
                                        </p:tgtEl>
                                        <p:attrNameLst>
                                          <p:attrName>fill.type</p:attrName>
                                        </p:attrNameLst>
                                      </p:cBhvr>
                                      <p:to>
                                        <p:strVal val="solid"/>
                                      </p:to>
                                    </p:set>
                                    <p:set>
                                      <p:cBhvr>
                                        <p:cTn id="11" dur="500" fill="hold"/>
                                        <p:tgtEl>
                                          <p:spTgt spid="8"/>
                                        </p:tgtEl>
                                        <p:attrNameLst>
                                          <p:attrName>fill.on</p:attrName>
                                        </p:attrNameLst>
                                      </p:cBhvr>
                                      <p:to>
                                        <p:strVal val="true"/>
                                      </p:to>
                                    </p:set>
                                  </p:childTnLst>
                                </p:cTn>
                              </p:par>
                            </p:childTnLst>
                          </p:cTn>
                        </p:par>
                        <p:par>
                          <p:cTn id="12" fill="hold">
                            <p:stCondLst>
                              <p:cond delay="1000"/>
                            </p:stCondLst>
                            <p:childTnLst>
                              <p:par>
                                <p:cTn id="13" presetID="1" presetClass="exit" presetSubtype="0" fill="hold" nodeType="afterEffect">
                                  <p:stCondLst>
                                    <p:cond delay="0"/>
                                  </p:stCondLst>
                                  <p:childTnLst>
                                    <p:set>
                                      <p:cBhvr>
                                        <p:cTn id="14" dur="1" fill="hold">
                                          <p:stCondLst>
                                            <p:cond delay="0"/>
                                          </p:stCondLst>
                                        </p:cTn>
                                        <p:tgtEl>
                                          <p:spTgt spid="20"/>
                                        </p:tgtEl>
                                        <p:attrNameLst>
                                          <p:attrName>style.visibility</p:attrName>
                                        </p:attrNameLst>
                                      </p:cBhvr>
                                      <p:to>
                                        <p:strVal val="hidden"/>
                                      </p:to>
                                    </p:set>
                                  </p:childTnLst>
                                </p:cTn>
                              </p:par>
                            </p:childTnLst>
                          </p:cTn>
                        </p:par>
                        <p:par>
                          <p:cTn id="15" fill="hold">
                            <p:stCondLst>
                              <p:cond delay="1000"/>
                            </p:stCondLst>
                            <p:childTnLst>
                              <p:par>
                                <p:cTn id="16" presetID="1" presetClass="entr" presetSubtype="0" fill="hold" nodeType="afterEffect">
                                  <p:stCondLst>
                                    <p:cond delay="0"/>
                                  </p:stCondLst>
                                  <p:childTnLst>
                                    <p:set>
                                      <p:cBhvr>
                                        <p:cTn id="17" dur="1" fill="hold">
                                          <p:stCondLst>
                                            <p:cond delay="0"/>
                                          </p:stCondLst>
                                        </p:cTn>
                                        <p:tgtEl>
                                          <p:spTgt spid="2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ipe(up)">
                                      <p:cBhvr>
                                        <p:cTn id="2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环形缓冲技术</a:t>
            </a:r>
          </a:p>
        </p:txBody>
      </p:sp>
      <p:sp>
        <p:nvSpPr>
          <p:cNvPr id="3" name="Content Placeholder 2"/>
          <p:cNvSpPr>
            <a:spLocks noGrp="1"/>
          </p:cNvSpPr>
          <p:nvPr>
            <p:ph idx="1"/>
          </p:nvPr>
        </p:nvSpPr>
        <p:spPr>
          <a:xfrm>
            <a:off x="457200" y="1268760"/>
            <a:ext cx="4042792" cy="5256584"/>
          </a:xfrm>
        </p:spPr>
        <p:txBody>
          <a:bodyPr/>
          <a:lstStyle/>
          <a:p>
            <a:pPr marL="319088" indent="-274638">
              <a:lnSpc>
                <a:spcPct val="110000"/>
              </a:lnSpc>
              <a:spcBef>
                <a:spcPct val="10000"/>
              </a:spcBef>
            </a:pPr>
            <a:r>
              <a:rPr lang="en-US" altLang="zh-CN" dirty="0" err="1"/>
              <a:t>Releasebuf</a:t>
            </a:r>
            <a:r>
              <a:rPr lang="zh-CN" altLang="en-US" dirty="0"/>
              <a:t>过程</a:t>
            </a:r>
            <a:endParaRPr lang="en-US" altLang="zh-CN" dirty="0"/>
          </a:p>
          <a:p>
            <a:pPr marL="719138" lvl="1" indent="-274638">
              <a:lnSpc>
                <a:spcPct val="110000"/>
              </a:lnSpc>
              <a:spcBef>
                <a:spcPct val="10000"/>
              </a:spcBef>
            </a:pPr>
            <a:r>
              <a:rPr lang="zh-CN" altLang="en-US" dirty="0">
                <a:solidFill>
                  <a:srgbClr val="FF3300"/>
                </a:solidFill>
              </a:rPr>
              <a:t>当计算进程把</a:t>
            </a:r>
            <a:r>
              <a:rPr lang="en-US" altLang="zh-CN" dirty="0">
                <a:solidFill>
                  <a:srgbClr val="FF3300"/>
                </a:solidFill>
              </a:rPr>
              <a:t>C</a:t>
            </a:r>
            <a:r>
              <a:rPr lang="zh-CN" altLang="en-US" dirty="0">
                <a:solidFill>
                  <a:srgbClr val="FF3300"/>
                </a:solidFill>
              </a:rPr>
              <a:t>缓冲区数据提取完时，调用</a:t>
            </a:r>
            <a:r>
              <a:rPr lang="en-US" altLang="zh-CN" dirty="0" err="1">
                <a:solidFill>
                  <a:srgbClr val="FF3300"/>
                </a:solidFill>
              </a:rPr>
              <a:t>Releasebuf</a:t>
            </a:r>
            <a:r>
              <a:rPr lang="zh-CN" altLang="en-US" dirty="0">
                <a:solidFill>
                  <a:srgbClr val="FF3300"/>
                </a:solidFill>
              </a:rPr>
              <a:t>过程</a:t>
            </a:r>
          </a:p>
          <a:p>
            <a:pPr marL="765175" lvl="1" indent="-266700">
              <a:lnSpc>
                <a:spcPct val="110000"/>
              </a:lnSpc>
              <a:spcBef>
                <a:spcPct val="10000"/>
              </a:spcBef>
            </a:pPr>
            <a:r>
              <a:rPr lang="zh-CN" altLang="en-US" dirty="0"/>
              <a:t>将</a:t>
            </a:r>
            <a:r>
              <a:rPr lang="en-US" altLang="zh-CN" dirty="0"/>
              <a:t>C</a:t>
            </a:r>
            <a:r>
              <a:rPr lang="zh-CN" altLang="en-US" dirty="0"/>
              <a:t>缓冲区释放</a:t>
            </a:r>
            <a:endParaRPr lang="en-US" altLang="zh-CN" dirty="0"/>
          </a:p>
          <a:p>
            <a:pPr marL="765175" lvl="1" indent="-266700">
              <a:lnSpc>
                <a:spcPct val="110000"/>
              </a:lnSpc>
              <a:spcBef>
                <a:spcPct val="10000"/>
              </a:spcBef>
            </a:pPr>
            <a:r>
              <a:rPr lang="zh-CN" altLang="en-US" dirty="0"/>
              <a:t>将该缓冲区由当前工作缓冲区</a:t>
            </a:r>
            <a:r>
              <a:rPr lang="en-US" altLang="zh-CN" dirty="0"/>
              <a:t>C</a:t>
            </a:r>
            <a:r>
              <a:rPr lang="zh-CN" altLang="en-US" dirty="0"/>
              <a:t>改为空缓冲区</a:t>
            </a:r>
            <a:r>
              <a:rPr lang="en-US" altLang="zh-CN" dirty="0"/>
              <a:t>R</a:t>
            </a:r>
            <a:endParaRPr lang="zh-CN" altLang="en-US" dirty="0"/>
          </a:p>
        </p:txBody>
      </p:sp>
      <p:sp>
        <p:nvSpPr>
          <p:cNvPr id="4" name="Date Placeholder 3"/>
          <p:cNvSpPr>
            <a:spLocks noGrp="1"/>
          </p:cNvSpPr>
          <p:nvPr>
            <p:ph type="dt" sz="half" idx="10"/>
          </p:nvPr>
        </p:nvSpPr>
        <p:spPr/>
        <p:txBody>
          <a:bodyPr/>
          <a:lstStyle/>
          <a:p>
            <a:fld id="{D9A93EE7-DE39-427B-81DE-0DFEF4AAD92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42</a:t>
            </a:fld>
            <a:endParaRPr lang="zh-CN" altLang="en-US" dirty="0"/>
          </a:p>
        </p:txBody>
      </p:sp>
      <p:sp>
        <p:nvSpPr>
          <p:cNvPr id="7" name="Oval 48"/>
          <p:cNvSpPr>
            <a:spLocks noChangeArrowheads="1"/>
          </p:cNvSpPr>
          <p:nvPr/>
        </p:nvSpPr>
        <p:spPr bwMode="auto">
          <a:xfrm>
            <a:off x="6166718" y="1743075"/>
            <a:ext cx="1439863" cy="14398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49"/>
          <p:cNvSpPr>
            <a:spLocks noChangeArrowheads="1"/>
          </p:cNvSpPr>
          <p:nvPr/>
        </p:nvSpPr>
        <p:spPr bwMode="auto">
          <a:xfrm>
            <a:off x="6736631" y="1598613"/>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9" name="Rectangle 50"/>
          <p:cNvSpPr>
            <a:spLocks noChangeArrowheads="1"/>
          </p:cNvSpPr>
          <p:nvPr/>
        </p:nvSpPr>
        <p:spPr bwMode="auto">
          <a:xfrm>
            <a:off x="7355756" y="2030413"/>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10" name="Rectangle 51"/>
          <p:cNvSpPr>
            <a:spLocks noChangeArrowheads="1"/>
          </p:cNvSpPr>
          <p:nvPr/>
        </p:nvSpPr>
        <p:spPr bwMode="auto">
          <a:xfrm>
            <a:off x="7362106" y="2606675"/>
            <a:ext cx="288925" cy="288925"/>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C</a:t>
            </a:r>
          </a:p>
        </p:txBody>
      </p:sp>
      <p:sp>
        <p:nvSpPr>
          <p:cNvPr id="11" name="Rectangle 52"/>
          <p:cNvSpPr>
            <a:spLocks noChangeArrowheads="1"/>
          </p:cNvSpPr>
          <p:nvPr/>
        </p:nvSpPr>
        <p:spPr bwMode="auto">
          <a:xfrm>
            <a:off x="6731868" y="3005138"/>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2" name="Rectangle 53"/>
          <p:cNvSpPr>
            <a:spLocks noChangeArrowheads="1"/>
          </p:cNvSpPr>
          <p:nvPr/>
        </p:nvSpPr>
        <p:spPr bwMode="auto">
          <a:xfrm>
            <a:off x="6088931" y="2054225"/>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3" name="Rectangle 54"/>
          <p:cNvSpPr>
            <a:spLocks noChangeArrowheads="1"/>
          </p:cNvSpPr>
          <p:nvPr/>
        </p:nvSpPr>
        <p:spPr bwMode="auto">
          <a:xfrm>
            <a:off x="6084168" y="2606675"/>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4" name="Text Box 55"/>
          <p:cNvSpPr txBox="1">
            <a:spLocks noChangeArrowheads="1"/>
          </p:cNvSpPr>
          <p:nvPr/>
        </p:nvSpPr>
        <p:spPr bwMode="auto">
          <a:xfrm>
            <a:off x="6741393" y="1824038"/>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1</a:t>
            </a:r>
          </a:p>
        </p:txBody>
      </p:sp>
      <p:sp>
        <p:nvSpPr>
          <p:cNvPr id="15" name="Text Box 56"/>
          <p:cNvSpPr txBox="1">
            <a:spLocks noChangeArrowheads="1"/>
          </p:cNvSpPr>
          <p:nvPr/>
        </p:nvSpPr>
        <p:spPr bwMode="auto">
          <a:xfrm>
            <a:off x="7139856" y="2011363"/>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2</a:t>
            </a:r>
          </a:p>
        </p:txBody>
      </p:sp>
      <p:sp>
        <p:nvSpPr>
          <p:cNvPr id="16" name="Text Box 57"/>
          <p:cNvSpPr txBox="1">
            <a:spLocks noChangeArrowheads="1"/>
          </p:cNvSpPr>
          <p:nvPr/>
        </p:nvSpPr>
        <p:spPr bwMode="auto">
          <a:xfrm>
            <a:off x="7141443" y="2568575"/>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3</a:t>
            </a:r>
          </a:p>
        </p:txBody>
      </p:sp>
      <p:sp>
        <p:nvSpPr>
          <p:cNvPr id="17" name="Text Box 58"/>
          <p:cNvSpPr txBox="1">
            <a:spLocks noChangeArrowheads="1"/>
          </p:cNvSpPr>
          <p:nvPr/>
        </p:nvSpPr>
        <p:spPr bwMode="auto">
          <a:xfrm>
            <a:off x="6742981" y="2722563"/>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4</a:t>
            </a:r>
          </a:p>
        </p:txBody>
      </p:sp>
      <p:sp>
        <p:nvSpPr>
          <p:cNvPr id="18" name="Text Box 59"/>
          <p:cNvSpPr txBox="1">
            <a:spLocks noChangeArrowheads="1"/>
          </p:cNvSpPr>
          <p:nvPr/>
        </p:nvSpPr>
        <p:spPr bwMode="auto">
          <a:xfrm>
            <a:off x="6311181" y="2587625"/>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5</a:t>
            </a:r>
          </a:p>
        </p:txBody>
      </p:sp>
      <p:sp>
        <p:nvSpPr>
          <p:cNvPr id="19" name="Text Box 60"/>
          <p:cNvSpPr txBox="1">
            <a:spLocks noChangeArrowheads="1"/>
          </p:cNvSpPr>
          <p:nvPr/>
        </p:nvSpPr>
        <p:spPr bwMode="auto">
          <a:xfrm>
            <a:off x="6311181" y="2030413"/>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6</a:t>
            </a:r>
          </a:p>
        </p:txBody>
      </p:sp>
      <p:sp>
        <p:nvSpPr>
          <p:cNvPr id="20" name="Line 61"/>
          <p:cNvSpPr>
            <a:spLocks noChangeShapeType="1"/>
          </p:cNvSpPr>
          <p:nvPr/>
        </p:nvSpPr>
        <p:spPr bwMode="auto">
          <a:xfrm>
            <a:off x="6887443" y="1349375"/>
            <a:ext cx="0" cy="21590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Text Box 62"/>
          <p:cNvSpPr txBox="1">
            <a:spLocks noChangeArrowheads="1"/>
          </p:cNvSpPr>
          <p:nvPr/>
        </p:nvSpPr>
        <p:spPr bwMode="auto">
          <a:xfrm>
            <a:off x="6877918" y="1268413"/>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Nexti</a:t>
            </a:r>
          </a:p>
        </p:txBody>
      </p:sp>
      <p:grpSp>
        <p:nvGrpSpPr>
          <p:cNvPr id="22" name="Group 68"/>
          <p:cNvGrpSpPr>
            <a:grpSpLocks/>
          </p:cNvGrpSpPr>
          <p:nvPr/>
        </p:nvGrpSpPr>
        <p:grpSpPr bwMode="auto">
          <a:xfrm>
            <a:off x="7597056" y="2732088"/>
            <a:ext cx="935037" cy="336550"/>
            <a:chOff x="5103" y="1721"/>
            <a:chExt cx="589" cy="212"/>
          </a:xfrm>
        </p:grpSpPr>
        <p:sp>
          <p:nvSpPr>
            <p:cNvPr id="23" name="Line 63"/>
            <p:cNvSpPr>
              <a:spLocks noChangeShapeType="1"/>
            </p:cNvSpPr>
            <p:nvPr/>
          </p:nvSpPr>
          <p:spPr bwMode="auto">
            <a:xfrm flipH="1">
              <a:off x="5137" y="1724"/>
              <a:ext cx="181"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Text Box 64"/>
            <p:cNvSpPr txBox="1">
              <a:spLocks noChangeArrowheads="1"/>
            </p:cNvSpPr>
            <p:nvPr/>
          </p:nvSpPr>
          <p:spPr bwMode="auto">
            <a:xfrm>
              <a:off x="5103" y="1721"/>
              <a:ext cx="58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Current</a:t>
              </a:r>
            </a:p>
          </p:txBody>
        </p:sp>
      </p:grpSp>
      <p:sp>
        <p:nvSpPr>
          <p:cNvPr id="25" name="Text Box 65"/>
          <p:cNvSpPr txBox="1">
            <a:spLocks noChangeArrowheads="1"/>
          </p:cNvSpPr>
          <p:nvPr/>
        </p:nvSpPr>
        <p:spPr bwMode="auto">
          <a:xfrm>
            <a:off x="6908081" y="3284538"/>
            <a:ext cx="720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Nextg</a:t>
            </a:r>
          </a:p>
        </p:txBody>
      </p:sp>
      <p:sp>
        <p:nvSpPr>
          <p:cNvPr id="26" name="Line 66"/>
          <p:cNvSpPr>
            <a:spLocks noChangeShapeType="1"/>
          </p:cNvSpPr>
          <p:nvPr/>
        </p:nvSpPr>
        <p:spPr bwMode="auto">
          <a:xfrm flipV="1">
            <a:off x="6885856" y="3294063"/>
            <a:ext cx="0" cy="288925"/>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Rectangle 69"/>
          <p:cNvSpPr>
            <a:spLocks noChangeArrowheads="1"/>
          </p:cNvSpPr>
          <p:nvPr/>
        </p:nvSpPr>
        <p:spPr bwMode="auto">
          <a:xfrm>
            <a:off x="7365281" y="2597150"/>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grpSp>
        <p:nvGrpSpPr>
          <p:cNvPr id="28" name="Group 94"/>
          <p:cNvGrpSpPr>
            <a:grpSpLocks/>
          </p:cNvGrpSpPr>
          <p:nvPr/>
        </p:nvGrpSpPr>
        <p:grpSpPr bwMode="auto">
          <a:xfrm>
            <a:off x="6084168" y="3740150"/>
            <a:ext cx="1566863" cy="2784475"/>
            <a:chOff x="4150" y="2356"/>
            <a:chExt cx="987" cy="1754"/>
          </a:xfrm>
        </p:grpSpPr>
        <p:grpSp>
          <p:nvGrpSpPr>
            <p:cNvPr id="29" name="Group 92"/>
            <p:cNvGrpSpPr>
              <a:grpSpLocks/>
            </p:cNvGrpSpPr>
            <p:nvPr/>
          </p:nvGrpSpPr>
          <p:grpSpPr bwMode="auto">
            <a:xfrm>
              <a:off x="4150" y="2628"/>
              <a:ext cx="987" cy="1482"/>
              <a:chOff x="4160" y="2568"/>
              <a:chExt cx="987" cy="1482"/>
            </a:xfrm>
          </p:grpSpPr>
          <p:sp>
            <p:nvSpPr>
              <p:cNvPr id="31" name="Oval 70"/>
              <p:cNvSpPr>
                <a:spLocks noChangeArrowheads="1"/>
              </p:cNvSpPr>
              <p:nvPr/>
            </p:nvSpPr>
            <p:spPr bwMode="auto">
              <a:xfrm>
                <a:off x="4212" y="2867"/>
                <a:ext cx="907" cy="90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Rectangle 71"/>
              <p:cNvSpPr>
                <a:spLocks noChangeArrowheads="1"/>
              </p:cNvSpPr>
              <p:nvPr/>
            </p:nvSpPr>
            <p:spPr bwMode="auto">
              <a:xfrm>
                <a:off x="4571" y="2776"/>
                <a:ext cx="182" cy="18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33" name="Rectangle 72"/>
              <p:cNvSpPr>
                <a:spLocks noChangeArrowheads="1"/>
              </p:cNvSpPr>
              <p:nvPr/>
            </p:nvSpPr>
            <p:spPr bwMode="auto">
              <a:xfrm>
                <a:off x="4961" y="3048"/>
                <a:ext cx="182" cy="18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34" name="Rectangle 73"/>
              <p:cNvSpPr>
                <a:spLocks noChangeArrowheads="1"/>
              </p:cNvSpPr>
              <p:nvPr/>
            </p:nvSpPr>
            <p:spPr bwMode="auto">
              <a:xfrm>
                <a:off x="4965" y="3411"/>
                <a:ext cx="182" cy="18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35" name="Rectangle 74"/>
              <p:cNvSpPr>
                <a:spLocks noChangeArrowheads="1"/>
              </p:cNvSpPr>
              <p:nvPr/>
            </p:nvSpPr>
            <p:spPr bwMode="auto">
              <a:xfrm>
                <a:off x="4568" y="3662"/>
                <a:ext cx="182" cy="18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36" name="Rectangle 75"/>
              <p:cNvSpPr>
                <a:spLocks noChangeArrowheads="1"/>
              </p:cNvSpPr>
              <p:nvPr/>
            </p:nvSpPr>
            <p:spPr bwMode="auto">
              <a:xfrm>
                <a:off x="4163" y="3063"/>
                <a:ext cx="182" cy="18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37" name="Rectangle 76"/>
              <p:cNvSpPr>
                <a:spLocks noChangeArrowheads="1"/>
              </p:cNvSpPr>
              <p:nvPr/>
            </p:nvSpPr>
            <p:spPr bwMode="auto">
              <a:xfrm>
                <a:off x="4160" y="3411"/>
                <a:ext cx="182" cy="18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38" name="Text Box 77"/>
              <p:cNvSpPr txBox="1">
                <a:spLocks noChangeArrowheads="1"/>
              </p:cNvSpPr>
              <p:nvPr/>
            </p:nvSpPr>
            <p:spPr bwMode="auto">
              <a:xfrm>
                <a:off x="4574" y="2918"/>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1</a:t>
                </a:r>
              </a:p>
            </p:txBody>
          </p:sp>
          <p:sp>
            <p:nvSpPr>
              <p:cNvPr id="39" name="Text Box 78"/>
              <p:cNvSpPr txBox="1">
                <a:spLocks noChangeArrowheads="1"/>
              </p:cNvSpPr>
              <p:nvPr/>
            </p:nvSpPr>
            <p:spPr bwMode="auto">
              <a:xfrm>
                <a:off x="4825" y="3036"/>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2</a:t>
                </a:r>
              </a:p>
            </p:txBody>
          </p:sp>
          <p:sp>
            <p:nvSpPr>
              <p:cNvPr id="40" name="Text Box 79"/>
              <p:cNvSpPr txBox="1">
                <a:spLocks noChangeArrowheads="1"/>
              </p:cNvSpPr>
              <p:nvPr/>
            </p:nvSpPr>
            <p:spPr bwMode="auto">
              <a:xfrm>
                <a:off x="4826" y="3387"/>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3</a:t>
                </a:r>
              </a:p>
            </p:txBody>
          </p:sp>
          <p:sp>
            <p:nvSpPr>
              <p:cNvPr id="41" name="Text Box 80"/>
              <p:cNvSpPr txBox="1">
                <a:spLocks noChangeArrowheads="1"/>
              </p:cNvSpPr>
              <p:nvPr/>
            </p:nvSpPr>
            <p:spPr bwMode="auto">
              <a:xfrm>
                <a:off x="4575" y="3484"/>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4</a:t>
                </a:r>
              </a:p>
            </p:txBody>
          </p:sp>
          <p:sp>
            <p:nvSpPr>
              <p:cNvPr id="42" name="Text Box 81"/>
              <p:cNvSpPr txBox="1">
                <a:spLocks noChangeArrowheads="1"/>
              </p:cNvSpPr>
              <p:nvPr/>
            </p:nvSpPr>
            <p:spPr bwMode="auto">
              <a:xfrm>
                <a:off x="4303" y="3399"/>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5</a:t>
                </a:r>
              </a:p>
            </p:txBody>
          </p:sp>
          <p:sp>
            <p:nvSpPr>
              <p:cNvPr id="43" name="Text Box 82"/>
              <p:cNvSpPr txBox="1">
                <a:spLocks noChangeArrowheads="1"/>
              </p:cNvSpPr>
              <p:nvPr/>
            </p:nvSpPr>
            <p:spPr bwMode="auto">
              <a:xfrm>
                <a:off x="4303" y="3048"/>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6</a:t>
                </a:r>
              </a:p>
            </p:txBody>
          </p:sp>
          <p:sp>
            <p:nvSpPr>
              <p:cNvPr id="44" name="Line 83"/>
              <p:cNvSpPr>
                <a:spLocks noChangeShapeType="1"/>
              </p:cNvSpPr>
              <p:nvPr/>
            </p:nvSpPr>
            <p:spPr bwMode="auto">
              <a:xfrm>
                <a:off x="4666" y="2619"/>
                <a:ext cx="0" cy="136"/>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Text Box 84"/>
              <p:cNvSpPr txBox="1">
                <a:spLocks noChangeArrowheads="1"/>
              </p:cNvSpPr>
              <p:nvPr/>
            </p:nvSpPr>
            <p:spPr bwMode="auto">
              <a:xfrm>
                <a:off x="4660" y="2568"/>
                <a:ext cx="40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Nexti</a:t>
                </a:r>
              </a:p>
            </p:txBody>
          </p:sp>
          <p:sp>
            <p:nvSpPr>
              <p:cNvPr id="46" name="Text Box 88"/>
              <p:cNvSpPr txBox="1">
                <a:spLocks noChangeArrowheads="1"/>
              </p:cNvSpPr>
              <p:nvPr/>
            </p:nvSpPr>
            <p:spPr bwMode="auto">
              <a:xfrm>
                <a:off x="4679" y="3838"/>
                <a:ext cx="45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Nextg</a:t>
                </a:r>
              </a:p>
            </p:txBody>
          </p:sp>
          <p:sp>
            <p:nvSpPr>
              <p:cNvPr id="47" name="Line 89"/>
              <p:cNvSpPr>
                <a:spLocks noChangeShapeType="1"/>
              </p:cNvSpPr>
              <p:nvPr/>
            </p:nvSpPr>
            <p:spPr bwMode="auto">
              <a:xfrm flipV="1">
                <a:off x="4665" y="3844"/>
                <a:ext cx="0" cy="182"/>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0" name="AutoShape 93"/>
            <p:cNvSpPr>
              <a:spLocks noChangeArrowheads="1"/>
            </p:cNvSpPr>
            <p:nvPr/>
          </p:nvSpPr>
          <p:spPr bwMode="auto">
            <a:xfrm>
              <a:off x="4584" y="2356"/>
              <a:ext cx="136" cy="273"/>
            </a:xfrm>
            <a:prstGeom prst="downArrow">
              <a:avLst>
                <a:gd name="adj1" fmla="val 50000"/>
                <a:gd name="adj2" fmla="val 50184"/>
              </a:avLst>
            </a:prstGeom>
            <a:solidFill>
              <a:srgbClr val="0033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Tree>
    <p:extLst>
      <p:ext uri="{BB962C8B-B14F-4D97-AF65-F5344CB8AC3E}">
        <p14:creationId xmlns:p14="http://schemas.microsoft.com/office/powerpoint/2010/main" val="2264768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500" fill="hold"/>
                                        <p:tgtEl>
                                          <p:spTgt spid="10"/>
                                        </p:tgtEl>
                                        <p:attrNameLst>
                                          <p:attrName>r</p:attrName>
                                        </p:attrNameLst>
                                      </p:cBhvr>
                                    </p:animRot>
                                  </p:childTnLst>
                                </p:cTn>
                              </p:par>
                            </p:childTnLst>
                          </p:cTn>
                        </p:par>
                        <p:par>
                          <p:cTn id="7" fill="hold">
                            <p:stCondLst>
                              <p:cond delay="500"/>
                            </p:stCondLst>
                            <p:childTnLst>
                              <p:par>
                                <p:cTn id="8" presetID="1" presetClass="exit" presetSubtype="0" fill="hold" nodeType="afterEffect">
                                  <p:stCondLst>
                                    <p:cond delay="0"/>
                                  </p:stCondLst>
                                  <p:childTnLst>
                                    <p:set>
                                      <p:cBhvr>
                                        <p:cTn id="9" dur="1" fill="hold">
                                          <p:stCondLst>
                                            <p:cond delay="0"/>
                                          </p:stCondLst>
                                        </p:cTn>
                                        <p:tgtEl>
                                          <p:spTgt spid="22"/>
                                        </p:tgtEl>
                                        <p:attrNameLst>
                                          <p:attrName>style.visibility</p:attrName>
                                        </p:attrNameLst>
                                      </p:cBhvr>
                                      <p:to>
                                        <p:strVal val="hidden"/>
                                      </p:to>
                                    </p:set>
                                  </p:childTnLst>
                                </p:cTn>
                              </p:par>
                            </p:childTnLst>
                          </p:cTn>
                        </p:par>
                        <p:par>
                          <p:cTn id="10" fill="hold">
                            <p:stCondLst>
                              <p:cond delay="500"/>
                            </p:stCondLst>
                            <p:childTnLst>
                              <p:par>
                                <p:cTn id="11" presetID="1" presetClass="entr" presetSubtype="0" fill="hold" grpId="0" nodeType="after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up)">
                                      <p:cBhvr>
                                        <p:cTn id="1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环形缓冲技术</a:t>
            </a:r>
          </a:p>
        </p:txBody>
      </p:sp>
      <p:sp>
        <p:nvSpPr>
          <p:cNvPr id="3" name="Content Placeholder 2"/>
          <p:cNvSpPr>
            <a:spLocks noGrp="1"/>
          </p:cNvSpPr>
          <p:nvPr>
            <p:ph idx="1"/>
          </p:nvPr>
        </p:nvSpPr>
        <p:spPr>
          <a:xfrm>
            <a:off x="457200" y="1268760"/>
            <a:ext cx="4258816" cy="5256584"/>
          </a:xfrm>
        </p:spPr>
        <p:txBody>
          <a:bodyPr/>
          <a:lstStyle/>
          <a:p>
            <a:pPr marL="319088" indent="-274638">
              <a:lnSpc>
                <a:spcPct val="110000"/>
              </a:lnSpc>
              <a:spcBef>
                <a:spcPct val="10000"/>
              </a:spcBef>
            </a:pPr>
            <a:r>
              <a:rPr lang="en-US" altLang="zh-CN" dirty="0" err="1"/>
              <a:t>Releasebuf</a:t>
            </a:r>
            <a:r>
              <a:rPr lang="zh-CN" altLang="en-US" dirty="0"/>
              <a:t>过程</a:t>
            </a:r>
            <a:endParaRPr lang="en-US" altLang="zh-CN" dirty="0"/>
          </a:p>
          <a:p>
            <a:pPr marL="719138" lvl="1" indent="-274638">
              <a:lnSpc>
                <a:spcPct val="110000"/>
              </a:lnSpc>
              <a:spcBef>
                <a:spcPct val="10000"/>
              </a:spcBef>
            </a:pPr>
            <a:r>
              <a:rPr lang="zh-CN" altLang="en-US" dirty="0">
                <a:solidFill>
                  <a:srgbClr val="FF3300"/>
                </a:solidFill>
              </a:rPr>
              <a:t>当输入进程把缓冲区装满时，调用</a:t>
            </a:r>
            <a:r>
              <a:rPr lang="en-US" altLang="zh-CN" dirty="0" err="1">
                <a:solidFill>
                  <a:srgbClr val="FF3300"/>
                </a:solidFill>
              </a:rPr>
              <a:t>Releasebuf</a:t>
            </a:r>
            <a:r>
              <a:rPr lang="zh-CN" altLang="en-US" dirty="0">
                <a:solidFill>
                  <a:srgbClr val="FF3300"/>
                </a:solidFill>
              </a:rPr>
              <a:t>过程</a:t>
            </a:r>
          </a:p>
          <a:p>
            <a:pPr marL="765175" lvl="1" indent="-266700">
              <a:lnSpc>
                <a:spcPct val="110000"/>
              </a:lnSpc>
              <a:spcBef>
                <a:spcPct val="10000"/>
              </a:spcBef>
            </a:pPr>
            <a:r>
              <a:rPr lang="zh-CN" altLang="en-US" dirty="0"/>
              <a:t>将缓冲区释放</a:t>
            </a:r>
            <a:endParaRPr lang="en-US" altLang="zh-CN" dirty="0"/>
          </a:p>
          <a:p>
            <a:pPr marL="765175" lvl="1" indent="-266700">
              <a:lnSpc>
                <a:spcPct val="110000"/>
              </a:lnSpc>
              <a:spcBef>
                <a:spcPct val="10000"/>
              </a:spcBef>
            </a:pPr>
            <a:r>
              <a:rPr lang="zh-CN" altLang="en-US" dirty="0"/>
              <a:t>将该缓冲区改为满缓冲区</a:t>
            </a:r>
            <a:r>
              <a:rPr lang="en-US" altLang="zh-CN" dirty="0"/>
              <a:t>G</a:t>
            </a:r>
            <a:endParaRPr lang="zh-CN" altLang="en-US" dirty="0"/>
          </a:p>
        </p:txBody>
      </p:sp>
      <p:sp>
        <p:nvSpPr>
          <p:cNvPr id="4" name="Date Placeholder 3"/>
          <p:cNvSpPr>
            <a:spLocks noGrp="1"/>
          </p:cNvSpPr>
          <p:nvPr>
            <p:ph type="dt" sz="half" idx="10"/>
          </p:nvPr>
        </p:nvSpPr>
        <p:spPr/>
        <p:txBody>
          <a:bodyPr/>
          <a:lstStyle/>
          <a:p>
            <a:fld id="{ECC8A777-97E9-4651-ABDF-248D35E05E4D}"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43</a:t>
            </a:fld>
            <a:endParaRPr lang="zh-CN" altLang="en-US" dirty="0"/>
          </a:p>
        </p:txBody>
      </p:sp>
      <p:sp>
        <p:nvSpPr>
          <p:cNvPr id="7" name="Oval 47"/>
          <p:cNvSpPr>
            <a:spLocks noChangeArrowheads="1"/>
          </p:cNvSpPr>
          <p:nvPr/>
        </p:nvSpPr>
        <p:spPr bwMode="auto">
          <a:xfrm>
            <a:off x="6094710" y="1701701"/>
            <a:ext cx="1439863" cy="143986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48"/>
          <p:cNvSpPr>
            <a:spLocks noChangeArrowheads="1"/>
          </p:cNvSpPr>
          <p:nvPr/>
        </p:nvSpPr>
        <p:spPr bwMode="auto">
          <a:xfrm>
            <a:off x="6664623" y="1557238"/>
            <a:ext cx="288925" cy="288925"/>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9" name="Rectangle 49"/>
          <p:cNvSpPr>
            <a:spLocks noChangeArrowheads="1"/>
          </p:cNvSpPr>
          <p:nvPr/>
        </p:nvSpPr>
        <p:spPr bwMode="auto">
          <a:xfrm>
            <a:off x="7283748" y="1989038"/>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10" name="Rectangle 50"/>
          <p:cNvSpPr>
            <a:spLocks noChangeArrowheads="1"/>
          </p:cNvSpPr>
          <p:nvPr/>
        </p:nvSpPr>
        <p:spPr bwMode="auto">
          <a:xfrm>
            <a:off x="7290098" y="2565301"/>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1" name="Rectangle 51"/>
          <p:cNvSpPr>
            <a:spLocks noChangeArrowheads="1"/>
          </p:cNvSpPr>
          <p:nvPr/>
        </p:nvSpPr>
        <p:spPr bwMode="auto">
          <a:xfrm>
            <a:off x="6659860" y="2963763"/>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2" name="Rectangle 52"/>
          <p:cNvSpPr>
            <a:spLocks noChangeArrowheads="1"/>
          </p:cNvSpPr>
          <p:nvPr/>
        </p:nvSpPr>
        <p:spPr bwMode="auto">
          <a:xfrm>
            <a:off x="6016923" y="2012851"/>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3" name="Rectangle 53"/>
          <p:cNvSpPr>
            <a:spLocks noChangeArrowheads="1"/>
          </p:cNvSpPr>
          <p:nvPr/>
        </p:nvSpPr>
        <p:spPr bwMode="auto">
          <a:xfrm>
            <a:off x="6012160" y="2565301"/>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4" name="Text Box 54"/>
          <p:cNvSpPr txBox="1">
            <a:spLocks noChangeArrowheads="1"/>
          </p:cNvSpPr>
          <p:nvPr/>
        </p:nvSpPr>
        <p:spPr bwMode="auto">
          <a:xfrm>
            <a:off x="6669385" y="1782663"/>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1</a:t>
            </a:r>
          </a:p>
        </p:txBody>
      </p:sp>
      <p:sp>
        <p:nvSpPr>
          <p:cNvPr id="15" name="Text Box 55"/>
          <p:cNvSpPr txBox="1">
            <a:spLocks noChangeArrowheads="1"/>
          </p:cNvSpPr>
          <p:nvPr/>
        </p:nvSpPr>
        <p:spPr bwMode="auto">
          <a:xfrm>
            <a:off x="7067848" y="1969988"/>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2</a:t>
            </a:r>
          </a:p>
        </p:txBody>
      </p:sp>
      <p:sp>
        <p:nvSpPr>
          <p:cNvPr id="16" name="Text Box 56"/>
          <p:cNvSpPr txBox="1">
            <a:spLocks noChangeArrowheads="1"/>
          </p:cNvSpPr>
          <p:nvPr/>
        </p:nvSpPr>
        <p:spPr bwMode="auto">
          <a:xfrm>
            <a:off x="7069435" y="2527201"/>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3</a:t>
            </a:r>
          </a:p>
        </p:txBody>
      </p:sp>
      <p:sp>
        <p:nvSpPr>
          <p:cNvPr id="17" name="Text Box 57"/>
          <p:cNvSpPr txBox="1">
            <a:spLocks noChangeArrowheads="1"/>
          </p:cNvSpPr>
          <p:nvPr/>
        </p:nvSpPr>
        <p:spPr bwMode="auto">
          <a:xfrm>
            <a:off x="6670973" y="2681188"/>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4</a:t>
            </a:r>
          </a:p>
        </p:txBody>
      </p:sp>
      <p:sp>
        <p:nvSpPr>
          <p:cNvPr id="18" name="Text Box 58"/>
          <p:cNvSpPr txBox="1">
            <a:spLocks noChangeArrowheads="1"/>
          </p:cNvSpPr>
          <p:nvPr/>
        </p:nvSpPr>
        <p:spPr bwMode="auto">
          <a:xfrm>
            <a:off x="6239173" y="2546251"/>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5</a:t>
            </a:r>
          </a:p>
        </p:txBody>
      </p:sp>
      <p:sp>
        <p:nvSpPr>
          <p:cNvPr id="19" name="Text Box 59"/>
          <p:cNvSpPr txBox="1">
            <a:spLocks noChangeArrowheads="1"/>
          </p:cNvSpPr>
          <p:nvPr/>
        </p:nvSpPr>
        <p:spPr bwMode="auto">
          <a:xfrm>
            <a:off x="6239173" y="1989038"/>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6</a:t>
            </a:r>
          </a:p>
        </p:txBody>
      </p:sp>
      <p:sp>
        <p:nvSpPr>
          <p:cNvPr id="20" name="Line 60"/>
          <p:cNvSpPr>
            <a:spLocks noChangeShapeType="1"/>
          </p:cNvSpPr>
          <p:nvPr/>
        </p:nvSpPr>
        <p:spPr bwMode="auto">
          <a:xfrm flipH="1">
            <a:off x="7579023" y="2695476"/>
            <a:ext cx="287337"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Text Box 61"/>
          <p:cNvSpPr txBox="1">
            <a:spLocks noChangeArrowheads="1"/>
          </p:cNvSpPr>
          <p:nvPr/>
        </p:nvSpPr>
        <p:spPr bwMode="auto">
          <a:xfrm>
            <a:off x="7525048" y="2690713"/>
            <a:ext cx="7191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Nextg</a:t>
            </a:r>
          </a:p>
        </p:txBody>
      </p:sp>
      <p:sp>
        <p:nvSpPr>
          <p:cNvPr id="22" name="Line 62"/>
          <p:cNvSpPr>
            <a:spLocks noChangeShapeType="1"/>
          </p:cNvSpPr>
          <p:nvPr/>
        </p:nvSpPr>
        <p:spPr bwMode="auto">
          <a:xfrm flipH="1">
            <a:off x="7586960" y="2152551"/>
            <a:ext cx="287338"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Text Box 63"/>
          <p:cNvSpPr txBox="1">
            <a:spLocks noChangeArrowheads="1"/>
          </p:cNvSpPr>
          <p:nvPr/>
        </p:nvSpPr>
        <p:spPr bwMode="auto">
          <a:xfrm>
            <a:off x="7532985" y="2147788"/>
            <a:ext cx="784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Nexti</a:t>
            </a:r>
          </a:p>
        </p:txBody>
      </p:sp>
      <p:sp>
        <p:nvSpPr>
          <p:cNvPr id="24" name="Rectangle 65"/>
          <p:cNvSpPr>
            <a:spLocks noChangeArrowheads="1"/>
          </p:cNvSpPr>
          <p:nvPr/>
        </p:nvSpPr>
        <p:spPr bwMode="auto">
          <a:xfrm>
            <a:off x="6664623" y="1557238"/>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grpSp>
        <p:nvGrpSpPr>
          <p:cNvPr id="25" name="Group 86"/>
          <p:cNvGrpSpPr>
            <a:grpSpLocks/>
          </p:cNvGrpSpPr>
          <p:nvPr/>
        </p:nvGrpSpPr>
        <p:grpSpPr bwMode="auto">
          <a:xfrm>
            <a:off x="6015335" y="3805138"/>
            <a:ext cx="2305050" cy="2216150"/>
            <a:chOff x="4240" y="2170"/>
            <a:chExt cx="1452" cy="1396"/>
          </a:xfrm>
        </p:grpSpPr>
        <p:grpSp>
          <p:nvGrpSpPr>
            <p:cNvPr id="26" name="Group 84"/>
            <p:cNvGrpSpPr>
              <a:grpSpLocks/>
            </p:cNvGrpSpPr>
            <p:nvPr/>
          </p:nvGrpSpPr>
          <p:grpSpPr bwMode="auto">
            <a:xfrm>
              <a:off x="4240" y="2498"/>
              <a:ext cx="1452" cy="1068"/>
              <a:chOff x="4190" y="2332"/>
              <a:chExt cx="1452" cy="1068"/>
            </a:xfrm>
          </p:grpSpPr>
          <p:sp>
            <p:nvSpPr>
              <p:cNvPr id="28" name="Oval 66"/>
              <p:cNvSpPr>
                <a:spLocks noChangeArrowheads="1"/>
              </p:cNvSpPr>
              <p:nvPr/>
            </p:nvSpPr>
            <p:spPr bwMode="auto">
              <a:xfrm>
                <a:off x="4242" y="2423"/>
                <a:ext cx="907" cy="90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Rectangle 67"/>
              <p:cNvSpPr>
                <a:spLocks noChangeArrowheads="1"/>
              </p:cNvSpPr>
              <p:nvPr/>
            </p:nvSpPr>
            <p:spPr bwMode="auto">
              <a:xfrm>
                <a:off x="4601" y="2332"/>
                <a:ext cx="182" cy="18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30" name="Rectangle 68"/>
              <p:cNvSpPr>
                <a:spLocks noChangeArrowheads="1"/>
              </p:cNvSpPr>
              <p:nvPr/>
            </p:nvSpPr>
            <p:spPr bwMode="auto">
              <a:xfrm>
                <a:off x="4991" y="2604"/>
                <a:ext cx="182" cy="18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31" name="Rectangle 69"/>
              <p:cNvSpPr>
                <a:spLocks noChangeArrowheads="1"/>
              </p:cNvSpPr>
              <p:nvPr/>
            </p:nvSpPr>
            <p:spPr bwMode="auto">
              <a:xfrm>
                <a:off x="4995" y="2967"/>
                <a:ext cx="182" cy="18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32" name="Rectangle 70"/>
              <p:cNvSpPr>
                <a:spLocks noChangeArrowheads="1"/>
              </p:cNvSpPr>
              <p:nvPr/>
            </p:nvSpPr>
            <p:spPr bwMode="auto">
              <a:xfrm>
                <a:off x="4598" y="3218"/>
                <a:ext cx="182" cy="18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33" name="Rectangle 71"/>
              <p:cNvSpPr>
                <a:spLocks noChangeArrowheads="1"/>
              </p:cNvSpPr>
              <p:nvPr/>
            </p:nvSpPr>
            <p:spPr bwMode="auto">
              <a:xfrm>
                <a:off x="4193" y="2619"/>
                <a:ext cx="182" cy="18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34" name="Rectangle 72"/>
              <p:cNvSpPr>
                <a:spLocks noChangeArrowheads="1"/>
              </p:cNvSpPr>
              <p:nvPr/>
            </p:nvSpPr>
            <p:spPr bwMode="auto">
              <a:xfrm>
                <a:off x="4190" y="2967"/>
                <a:ext cx="182" cy="18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35" name="Text Box 73"/>
              <p:cNvSpPr txBox="1">
                <a:spLocks noChangeArrowheads="1"/>
              </p:cNvSpPr>
              <p:nvPr/>
            </p:nvSpPr>
            <p:spPr bwMode="auto">
              <a:xfrm>
                <a:off x="4604" y="2474"/>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1</a:t>
                </a:r>
              </a:p>
            </p:txBody>
          </p:sp>
          <p:sp>
            <p:nvSpPr>
              <p:cNvPr id="36" name="Text Box 74"/>
              <p:cNvSpPr txBox="1">
                <a:spLocks noChangeArrowheads="1"/>
              </p:cNvSpPr>
              <p:nvPr/>
            </p:nvSpPr>
            <p:spPr bwMode="auto">
              <a:xfrm>
                <a:off x="4855" y="2592"/>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2</a:t>
                </a:r>
              </a:p>
            </p:txBody>
          </p:sp>
          <p:sp>
            <p:nvSpPr>
              <p:cNvPr id="37" name="Text Box 75"/>
              <p:cNvSpPr txBox="1">
                <a:spLocks noChangeArrowheads="1"/>
              </p:cNvSpPr>
              <p:nvPr/>
            </p:nvSpPr>
            <p:spPr bwMode="auto">
              <a:xfrm>
                <a:off x="4856" y="2943"/>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3</a:t>
                </a:r>
              </a:p>
            </p:txBody>
          </p:sp>
          <p:sp>
            <p:nvSpPr>
              <p:cNvPr id="38" name="Text Box 76"/>
              <p:cNvSpPr txBox="1">
                <a:spLocks noChangeArrowheads="1"/>
              </p:cNvSpPr>
              <p:nvPr/>
            </p:nvSpPr>
            <p:spPr bwMode="auto">
              <a:xfrm>
                <a:off x="4605" y="3040"/>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4</a:t>
                </a:r>
              </a:p>
            </p:txBody>
          </p:sp>
          <p:sp>
            <p:nvSpPr>
              <p:cNvPr id="39" name="Text Box 77"/>
              <p:cNvSpPr txBox="1">
                <a:spLocks noChangeArrowheads="1"/>
              </p:cNvSpPr>
              <p:nvPr/>
            </p:nvSpPr>
            <p:spPr bwMode="auto">
              <a:xfrm>
                <a:off x="4333" y="2955"/>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5</a:t>
                </a:r>
              </a:p>
            </p:txBody>
          </p:sp>
          <p:sp>
            <p:nvSpPr>
              <p:cNvPr id="40" name="Text Box 78"/>
              <p:cNvSpPr txBox="1">
                <a:spLocks noChangeArrowheads="1"/>
              </p:cNvSpPr>
              <p:nvPr/>
            </p:nvSpPr>
            <p:spPr bwMode="auto">
              <a:xfrm>
                <a:off x="4333" y="2604"/>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6</a:t>
                </a:r>
              </a:p>
            </p:txBody>
          </p:sp>
          <p:sp>
            <p:nvSpPr>
              <p:cNvPr id="41" name="Line 79"/>
              <p:cNvSpPr>
                <a:spLocks noChangeShapeType="1"/>
              </p:cNvSpPr>
              <p:nvPr/>
            </p:nvSpPr>
            <p:spPr bwMode="auto">
              <a:xfrm flipH="1">
                <a:off x="5177" y="3049"/>
                <a:ext cx="181"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Text Box 80"/>
              <p:cNvSpPr txBox="1">
                <a:spLocks noChangeArrowheads="1"/>
              </p:cNvSpPr>
              <p:nvPr/>
            </p:nvSpPr>
            <p:spPr bwMode="auto">
              <a:xfrm>
                <a:off x="5143" y="3046"/>
                <a:ext cx="4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Nextg</a:t>
                </a:r>
              </a:p>
            </p:txBody>
          </p:sp>
          <p:sp>
            <p:nvSpPr>
              <p:cNvPr id="43" name="Line 81"/>
              <p:cNvSpPr>
                <a:spLocks noChangeShapeType="1"/>
              </p:cNvSpPr>
              <p:nvPr/>
            </p:nvSpPr>
            <p:spPr bwMode="auto">
              <a:xfrm flipH="1">
                <a:off x="5182" y="2707"/>
                <a:ext cx="181"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Text Box 82"/>
              <p:cNvSpPr txBox="1">
                <a:spLocks noChangeArrowheads="1"/>
              </p:cNvSpPr>
              <p:nvPr/>
            </p:nvSpPr>
            <p:spPr bwMode="auto">
              <a:xfrm>
                <a:off x="5148" y="2704"/>
                <a:ext cx="49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Nexti</a:t>
                </a:r>
              </a:p>
            </p:txBody>
          </p:sp>
        </p:grpSp>
        <p:sp>
          <p:nvSpPr>
            <p:cNvPr id="27" name="AutoShape 85"/>
            <p:cNvSpPr>
              <a:spLocks noChangeArrowheads="1"/>
            </p:cNvSpPr>
            <p:nvPr/>
          </p:nvSpPr>
          <p:spPr bwMode="auto">
            <a:xfrm>
              <a:off x="4644" y="2170"/>
              <a:ext cx="182" cy="272"/>
            </a:xfrm>
            <a:prstGeom prst="downArrow">
              <a:avLst>
                <a:gd name="adj1" fmla="val 50000"/>
                <a:gd name="adj2" fmla="val 37363"/>
              </a:avLst>
            </a:prstGeom>
            <a:solidFill>
              <a:srgbClr val="0033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Tree>
    <p:extLst>
      <p:ext uri="{BB962C8B-B14F-4D97-AF65-F5344CB8AC3E}">
        <p14:creationId xmlns:p14="http://schemas.microsoft.com/office/powerpoint/2010/main" val="2725847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500" fill="hold"/>
                                        <p:tgtEl>
                                          <p:spTgt spid="8"/>
                                        </p:tgtEl>
                                        <p:attrNameLst>
                                          <p:attrName>r</p:attrName>
                                        </p:attrNameLst>
                                      </p:cBhvr>
                                    </p:animRo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0"/>
                                          </p:stCondLst>
                                        </p:cTn>
                                        <p:tgtEl>
                                          <p:spTgt spid="2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wipe(up)">
                                      <p:cBhvr>
                                        <p:cTn id="1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环形缓冲技术</a:t>
            </a:r>
          </a:p>
        </p:txBody>
      </p:sp>
      <p:sp>
        <p:nvSpPr>
          <p:cNvPr id="4" name="Date Placeholder 3"/>
          <p:cNvSpPr>
            <a:spLocks noGrp="1"/>
          </p:cNvSpPr>
          <p:nvPr>
            <p:ph type="dt" sz="half" idx="10"/>
          </p:nvPr>
        </p:nvSpPr>
        <p:spPr/>
        <p:txBody>
          <a:bodyPr/>
          <a:lstStyle/>
          <a:p>
            <a:fld id="{DFDF9FC2-B090-455A-A3D7-2680B0A1F307}"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44</a:t>
            </a:fld>
            <a:endParaRPr lang="zh-CN" altLang="en-US" dirty="0"/>
          </a:p>
        </p:txBody>
      </p:sp>
      <p:sp>
        <p:nvSpPr>
          <p:cNvPr id="7" name="Oval 46"/>
          <p:cNvSpPr>
            <a:spLocks noChangeArrowheads="1"/>
          </p:cNvSpPr>
          <p:nvPr/>
        </p:nvSpPr>
        <p:spPr bwMode="auto">
          <a:xfrm>
            <a:off x="1357263" y="3183582"/>
            <a:ext cx="1439863" cy="14398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47"/>
          <p:cNvSpPr>
            <a:spLocks noChangeArrowheads="1"/>
          </p:cNvSpPr>
          <p:nvPr/>
        </p:nvSpPr>
        <p:spPr bwMode="auto">
          <a:xfrm>
            <a:off x="1927176" y="3039120"/>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9" name="Rectangle 48"/>
          <p:cNvSpPr>
            <a:spLocks noChangeArrowheads="1"/>
          </p:cNvSpPr>
          <p:nvPr/>
        </p:nvSpPr>
        <p:spPr bwMode="auto">
          <a:xfrm>
            <a:off x="2546301" y="3470920"/>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10" name="Rectangle 49"/>
          <p:cNvSpPr>
            <a:spLocks noChangeArrowheads="1"/>
          </p:cNvSpPr>
          <p:nvPr/>
        </p:nvSpPr>
        <p:spPr bwMode="auto">
          <a:xfrm>
            <a:off x="2552651" y="4047182"/>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1" name="Rectangle 50"/>
          <p:cNvSpPr>
            <a:spLocks noChangeArrowheads="1"/>
          </p:cNvSpPr>
          <p:nvPr/>
        </p:nvSpPr>
        <p:spPr bwMode="auto">
          <a:xfrm>
            <a:off x="1922413" y="4445645"/>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2" name="Rectangle 51"/>
          <p:cNvSpPr>
            <a:spLocks noChangeArrowheads="1"/>
          </p:cNvSpPr>
          <p:nvPr/>
        </p:nvSpPr>
        <p:spPr bwMode="auto">
          <a:xfrm>
            <a:off x="1279476" y="3494732"/>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3" name="Rectangle 52"/>
          <p:cNvSpPr>
            <a:spLocks noChangeArrowheads="1"/>
          </p:cNvSpPr>
          <p:nvPr/>
        </p:nvSpPr>
        <p:spPr bwMode="auto">
          <a:xfrm>
            <a:off x="1274713" y="4047182"/>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4" name="Text Box 53"/>
          <p:cNvSpPr txBox="1">
            <a:spLocks noChangeArrowheads="1"/>
          </p:cNvSpPr>
          <p:nvPr/>
        </p:nvSpPr>
        <p:spPr bwMode="auto">
          <a:xfrm>
            <a:off x="1931938" y="3264545"/>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1</a:t>
            </a:r>
          </a:p>
        </p:txBody>
      </p:sp>
      <p:sp>
        <p:nvSpPr>
          <p:cNvPr id="15" name="Text Box 54"/>
          <p:cNvSpPr txBox="1">
            <a:spLocks noChangeArrowheads="1"/>
          </p:cNvSpPr>
          <p:nvPr/>
        </p:nvSpPr>
        <p:spPr bwMode="auto">
          <a:xfrm>
            <a:off x="2330401" y="3451870"/>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2</a:t>
            </a:r>
          </a:p>
        </p:txBody>
      </p:sp>
      <p:sp>
        <p:nvSpPr>
          <p:cNvPr id="16" name="Text Box 55"/>
          <p:cNvSpPr txBox="1">
            <a:spLocks noChangeArrowheads="1"/>
          </p:cNvSpPr>
          <p:nvPr/>
        </p:nvSpPr>
        <p:spPr bwMode="auto">
          <a:xfrm>
            <a:off x="2331988" y="4009082"/>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3</a:t>
            </a:r>
          </a:p>
        </p:txBody>
      </p:sp>
      <p:sp>
        <p:nvSpPr>
          <p:cNvPr id="17" name="Text Box 56"/>
          <p:cNvSpPr txBox="1">
            <a:spLocks noChangeArrowheads="1"/>
          </p:cNvSpPr>
          <p:nvPr/>
        </p:nvSpPr>
        <p:spPr bwMode="auto">
          <a:xfrm>
            <a:off x="1933526" y="4163070"/>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4</a:t>
            </a:r>
          </a:p>
        </p:txBody>
      </p:sp>
      <p:sp>
        <p:nvSpPr>
          <p:cNvPr id="18" name="Text Box 57"/>
          <p:cNvSpPr txBox="1">
            <a:spLocks noChangeArrowheads="1"/>
          </p:cNvSpPr>
          <p:nvPr/>
        </p:nvSpPr>
        <p:spPr bwMode="auto">
          <a:xfrm>
            <a:off x="1501726" y="4028132"/>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5</a:t>
            </a:r>
          </a:p>
        </p:txBody>
      </p:sp>
      <p:sp>
        <p:nvSpPr>
          <p:cNvPr id="19" name="Text Box 58"/>
          <p:cNvSpPr txBox="1">
            <a:spLocks noChangeArrowheads="1"/>
          </p:cNvSpPr>
          <p:nvPr/>
        </p:nvSpPr>
        <p:spPr bwMode="auto">
          <a:xfrm>
            <a:off x="1501726" y="3470920"/>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6</a:t>
            </a:r>
          </a:p>
        </p:txBody>
      </p:sp>
      <p:grpSp>
        <p:nvGrpSpPr>
          <p:cNvPr id="20" name="Group 128"/>
          <p:cNvGrpSpPr>
            <a:grpSpLocks/>
          </p:cNvGrpSpPr>
          <p:nvPr/>
        </p:nvGrpSpPr>
        <p:grpSpPr bwMode="auto">
          <a:xfrm>
            <a:off x="2068463" y="2708920"/>
            <a:ext cx="647700" cy="336550"/>
            <a:chOff x="1112" y="2199"/>
            <a:chExt cx="408" cy="212"/>
          </a:xfrm>
        </p:grpSpPr>
        <p:sp>
          <p:nvSpPr>
            <p:cNvPr id="21" name="Line 59"/>
            <p:cNvSpPr>
              <a:spLocks noChangeShapeType="1"/>
            </p:cNvSpPr>
            <p:nvPr/>
          </p:nvSpPr>
          <p:spPr bwMode="auto">
            <a:xfrm>
              <a:off x="1118" y="2250"/>
              <a:ext cx="0" cy="136"/>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Text Box 60"/>
            <p:cNvSpPr txBox="1">
              <a:spLocks noChangeArrowheads="1"/>
            </p:cNvSpPr>
            <p:nvPr/>
          </p:nvSpPr>
          <p:spPr bwMode="auto">
            <a:xfrm>
              <a:off x="1112" y="2199"/>
              <a:ext cx="40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Nexti</a:t>
              </a:r>
            </a:p>
          </p:txBody>
        </p:sp>
      </p:grpSp>
      <p:grpSp>
        <p:nvGrpSpPr>
          <p:cNvPr id="23" name="Group 103"/>
          <p:cNvGrpSpPr>
            <a:grpSpLocks/>
          </p:cNvGrpSpPr>
          <p:nvPr/>
        </p:nvGrpSpPr>
        <p:grpSpPr bwMode="auto">
          <a:xfrm>
            <a:off x="2787601" y="4172595"/>
            <a:ext cx="720725" cy="336550"/>
            <a:chOff x="1565" y="3121"/>
            <a:chExt cx="454" cy="212"/>
          </a:xfrm>
        </p:grpSpPr>
        <p:sp>
          <p:nvSpPr>
            <p:cNvPr id="24" name="Line 61"/>
            <p:cNvSpPr>
              <a:spLocks noChangeShapeType="1"/>
            </p:cNvSpPr>
            <p:nvPr/>
          </p:nvSpPr>
          <p:spPr bwMode="auto">
            <a:xfrm flipH="1">
              <a:off x="1599" y="3124"/>
              <a:ext cx="181"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Text Box 62"/>
            <p:cNvSpPr txBox="1">
              <a:spLocks noChangeArrowheads="1"/>
            </p:cNvSpPr>
            <p:nvPr/>
          </p:nvSpPr>
          <p:spPr bwMode="auto">
            <a:xfrm>
              <a:off x="1565" y="3121"/>
              <a:ext cx="45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Nextg</a:t>
              </a:r>
            </a:p>
          </p:txBody>
        </p:sp>
      </p:grpSp>
      <p:sp>
        <p:nvSpPr>
          <p:cNvPr id="26" name="Rectangle 102"/>
          <p:cNvSpPr>
            <a:spLocks noChangeArrowheads="1"/>
          </p:cNvSpPr>
          <p:nvPr/>
        </p:nvSpPr>
        <p:spPr bwMode="auto">
          <a:xfrm>
            <a:off x="2547888" y="4047182"/>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grpSp>
        <p:nvGrpSpPr>
          <p:cNvPr id="27" name="Group 125"/>
          <p:cNvGrpSpPr>
            <a:grpSpLocks/>
          </p:cNvGrpSpPr>
          <p:nvPr/>
        </p:nvGrpSpPr>
        <p:grpSpPr bwMode="auto">
          <a:xfrm>
            <a:off x="2066876" y="4726632"/>
            <a:ext cx="742950" cy="336550"/>
            <a:chOff x="4655" y="3898"/>
            <a:chExt cx="468" cy="212"/>
          </a:xfrm>
        </p:grpSpPr>
        <p:sp>
          <p:nvSpPr>
            <p:cNvPr id="28" name="Text Box 126"/>
            <p:cNvSpPr txBox="1">
              <a:spLocks noChangeArrowheads="1"/>
            </p:cNvSpPr>
            <p:nvPr/>
          </p:nvSpPr>
          <p:spPr bwMode="auto">
            <a:xfrm>
              <a:off x="4669" y="3898"/>
              <a:ext cx="45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Nextg</a:t>
              </a:r>
            </a:p>
          </p:txBody>
        </p:sp>
        <p:sp>
          <p:nvSpPr>
            <p:cNvPr id="29" name="Line 127"/>
            <p:cNvSpPr>
              <a:spLocks noChangeShapeType="1"/>
            </p:cNvSpPr>
            <p:nvPr/>
          </p:nvSpPr>
          <p:spPr bwMode="auto">
            <a:xfrm flipV="1">
              <a:off x="4655" y="3904"/>
              <a:ext cx="0" cy="182"/>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0" name="Rectangle 129"/>
          <p:cNvSpPr>
            <a:spLocks noChangeArrowheads="1"/>
          </p:cNvSpPr>
          <p:nvPr/>
        </p:nvSpPr>
        <p:spPr bwMode="auto">
          <a:xfrm>
            <a:off x="1922413" y="3039120"/>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grpSp>
        <p:nvGrpSpPr>
          <p:cNvPr id="31" name="Group 132"/>
          <p:cNvGrpSpPr>
            <a:grpSpLocks/>
          </p:cNvGrpSpPr>
          <p:nvPr/>
        </p:nvGrpSpPr>
        <p:grpSpPr bwMode="auto">
          <a:xfrm>
            <a:off x="2779663" y="3629670"/>
            <a:ext cx="784225" cy="336550"/>
            <a:chOff x="5196" y="1126"/>
            <a:chExt cx="494" cy="212"/>
          </a:xfrm>
        </p:grpSpPr>
        <p:sp>
          <p:nvSpPr>
            <p:cNvPr id="32" name="Line 130"/>
            <p:cNvSpPr>
              <a:spLocks noChangeShapeType="1"/>
            </p:cNvSpPr>
            <p:nvPr/>
          </p:nvSpPr>
          <p:spPr bwMode="auto">
            <a:xfrm flipH="1">
              <a:off x="5230" y="1129"/>
              <a:ext cx="181"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Text Box 131"/>
            <p:cNvSpPr txBox="1">
              <a:spLocks noChangeArrowheads="1"/>
            </p:cNvSpPr>
            <p:nvPr/>
          </p:nvSpPr>
          <p:spPr bwMode="auto">
            <a:xfrm>
              <a:off x="5196" y="1126"/>
              <a:ext cx="49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Nexti</a:t>
              </a:r>
            </a:p>
          </p:txBody>
        </p:sp>
      </p:grpSp>
      <p:sp>
        <p:nvSpPr>
          <p:cNvPr id="34" name="Rectangle 133"/>
          <p:cNvSpPr>
            <a:spLocks noChangeArrowheads="1"/>
          </p:cNvSpPr>
          <p:nvPr/>
        </p:nvSpPr>
        <p:spPr bwMode="auto">
          <a:xfrm>
            <a:off x="1914476" y="4439295"/>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grpSp>
        <p:nvGrpSpPr>
          <p:cNvPr id="35" name="Group 136"/>
          <p:cNvGrpSpPr>
            <a:grpSpLocks/>
          </p:cNvGrpSpPr>
          <p:nvPr/>
        </p:nvGrpSpPr>
        <p:grpSpPr bwMode="auto">
          <a:xfrm>
            <a:off x="617488" y="4167832"/>
            <a:ext cx="719138" cy="336550"/>
            <a:chOff x="2598" y="3143"/>
            <a:chExt cx="453" cy="212"/>
          </a:xfrm>
        </p:grpSpPr>
        <p:sp>
          <p:nvSpPr>
            <p:cNvPr id="36" name="Line 134"/>
            <p:cNvSpPr>
              <a:spLocks noChangeShapeType="1"/>
            </p:cNvSpPr>
            <p:nvPr/>
          </p:nvSpPr>
          <p:spPr bwMode="auto">
            <a:xfrm>
              <a:off x="2789" y="3158"/>
              <a:ext cx="227"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Text Box 135"/>
            <p:cNvSpPr txBox="1">
              <a:spLocks noChangeArrowheads="1"/>
            </p:cNvSpPr>
            <p:nvPr/>
          </p:nvSpPr>
          <p:spPr bwMode="auto">
            <a:xfrm>
              <a:off x="2598" y="3143"/>
              <a:ext cx="4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t>Nextg</a:t>
              </a:r>
            </a:p>
          </p:txBody>
        </p:sp>
      </p:grpSp>
      <p:sp>
        <p:nvSpPr>
          <p:cNvPr id="38" name="Rectangle 137"/>
          <p:cNvSpPr>
            <a:spLocks noChangeArrowheads="1"/>
          </p:cNvSpPr>
          <p:nvPr/>
        </p:nvSpPr>
        <p:spPr bwMode="auto">
          <a:xfrm>
            <a:off x="2547888" y="3470920"/>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grpSp>
        <p:nvGrpSpPr>
          <p:cNvPr id="39" name="Group 138"/>
          <p:cNvGrpSpPr>
            <a:grpSpLocks/>
          </p:cNvGrpSpPr>
          <p:nvPr/>
        </p:nvGrpSpPr>
        <p:grpSpPr bwMode="auto">
          <a:xfrm>
            <a:off x="2779663" y="4182120"/>
            <a:ext cx="784225" cy="336550"/>
            <a:chOff x="5196" y="1126"/>
            <a:chExt cx="494" cy="212"/>
          </a:xfrm>
        </p:grpSpPr>
        <p:sp>
          <p:nvSpPr>
            <p:cNvPr id="40" name="Line 139"/>
            <p:cNvSpPr>
              <a:spLocks noChangeShapeType="1"/>
            </p:cNvSpPr>
            <p:nvPr/>
          </p:nvSpPr>
          <p:spPr bwMode="auto">
            <a:xfrm flipH="1">
              <a:off x="5230" y="1129"/>
              <a:ext cx="181"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Text Box 140"/>
            <p:cNvSpPr txBox="1">
              <a:spLocks noChangeArrowheads="1"/>
            </p:cNvSpPr>
            <p:nvPr/>
          </p:nvSpPr>
          <p:spPr bwMode="auto">
            <a:xfrm>
              <a:off x="5196" y="1126"/>
              <a:ext cx="49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Nexti</a:t>
              </a:r>
            </a:p>
          </p:txBody>
        </p:sp>
      </p:grpSp>
      <p:sp>
        <p:nvSpPr>
          <p:cNvPr id="42" name="Rectangle 141"/>
          <p:cNvSpPr>
            <a:spLocks noChangeArrowheads="1"/>
          </p:cNvSpPr>
          <p:nvPr/>
        </p:nvSpPr>
        <p:spPr bwMode="auto">
          <a:xfrm>
            <a:off x="1274713" y="4047182"/>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grpSp>
        <p:nvGrpSpPr>
          <p:cNvPr id="43" name="Group 142"/>
          <p:cNvGrpSpPr>
            <a:grpSpLocks/>
          </p:cNvGrpSpPr>
          <p:nvPr/>
        </p:nvGrpSpPr>
        <p:grpSpPr bwMode="auto">
          <a:xfrm>
            <a:off x="617488" y="3621732"/>
            <a:ext cx="719138" cy="336550"/>
            <a:chOff x="2598" y="3143"/>
            <a:chExt cx="453" cy="212"/>
          </a:xfrm>
        </p:grpSpPr>
        <p:sp>
          <p:nvSpPr>
            <p:cNvPr id="44" name="Line 143"/>
            <p:cNvSpPr>
              <a:spLocks noChangeShapeType="1"/>
            </p:cNvSpPr>
            <p:nvPr/>
          </p:nvSpPr>
          <p:spPr bwMode="auto">
            <a:xfrm>
              <a:off x="2789" y="3158"/>
              <a:ext cx="227"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Text Box 144"/>
            <p:cNvSpPr txBox="1">
              <a:spLocks noChangeArrowheads="1"/>
            </p:cNvSpPr>
            <p:nvPr/>
          </p:nvSpPr>
          <p:spPr bwMode="auto">
            <a:xfrm>
              <a:off x="2598" y="3143"/>
              <a:ext cx="4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t>Nextg</a:t>
              </a:r>
            </a:p>
          </p:txBody>
        </p:sp>
      </p:grpSp>
      <p:sp>
        <p:nvSpPr>
          <p:cNvPr id="46" name="Content Placeholder 2"/>
          <p:cNvSpPr>
            <a:spLocks noGrp="1"/>
          </p:cNvSpPr>
          <p:nvPr>
            <p:ph idx="1"/>
          </p:nvPr>
        </p:nvSpPr>
        <p:spPr>
          <a:xfrm>
            <a:off x="457200" y="1268760"/>
            <a:ext cx="8229600" cy="5256584"/>
          </a:xfrm>
        </p:spPr>
        <p:txBody>
          <a:bodyPr/>
          <a:lstStyle/>
          <a:p>
            <a:r>
              <a:rPr lang="zh-CN" altLang="en-US" dirty="0"/>
              <a:t>进程同步问题</a:t>
            </a:r>
          </a:p>
        </p:txBody>
      </p:sp>
    </p:spTree>
    <p:extLst>
      <p:ext uri="{BB962C8B-B14F-4D97-AF65-F5344CB8AC3E}">
        <p14:creationId xmlns:p14="http://schemas.microsoft.com/office/powerpoint/2010/main" val="37527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3"/>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6"/>
                                        </p:tgtEl>
                                        <p:attrNameLst>
                                          <p:attrName>style.visibility</p:attrName>
                                        </p:attrNameLst>
                                      </p:cBhvr>
                                      <p:to>
                                        <p:strVal val="visible"/>
                                      </p:to>
                                    </p:set>
                                  </p:childTnLst>
                                </p:cTn>
                              </p:par>
                            </p:childTnLst>
                          </p:cTn>
                        </p:par>
                        <p:par>
                          <p:cTn id="10" fill="hold">
                            <p:stCondLst>
                              <p:cond delay="0"/>
                            </p:stCondLst>
                            <p:childTnLst>
                              <p:par>
                                <p:cTn id="11" presetID="22" presetClass="entr" presetSubtype="4" fill="hold" nodeType="after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wipe(down)">
                                      <p:cBhvr>
                                        <p:cTn id="13" dur="500"/>
                                        <p:tgtEl>
                                          <p:spTgt spid="27"/>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nodeType="clickEffect">
                                  <p:stCondLst>
                                    <p:cond delay="0"/>
                                  </p:stCondLst>
                                  <p:childTnLst>
                                    <p:set>
                                      <p:cBhvr>
                                        <p:cTn id="17" dur="1" fill="hold">
                                          <p:stCondLst>
                                            <p:cond delay="0"/>
                                          </p:stCondLst>
                                        </p:cTn>
                                        <p:tgtEl>
                                          <p:spTgt spid="20"/>
                                        </p:tgtEl>
                                        <p:attrNameLst>
                                          <p:attrName>style.visibility</p:attrName>
                                        </p:attrNameLst>
                                      </p:cBhvr>
                                      <p:to>
                                        <p:strVal val="hidden"/>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par>
                          <p:cTn id="21" fill="hold">
                            <p:stCondLst>
                              <p:cond delay="0"/>
                            </p:stCondLst>
                            <p:childTnLst>
                              <p:par>
                                <p:cTn id="22" presetID="22" presetClass="entr" presetSubtype="2" fill="hold" nodeType="after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wipe(right)">
                                      <p:cBhvr>
                                        <p:cTn id="24" dur="500"/>
                                        <p:tgtEl>
                                          <p:spTgt spid="31"/>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27"/>
                                        </p:tgtEl>
                                        <p:attrNameLst>
                                          <p:attrName>style.visibility</p:attrName>
                                        </p:attrNameLst>
                                      </p:cBhvr>
                                      <p:to>
                                        <p:strVal val="hidden"/>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34"/>
                                        </p:tgtEl>
                                        <p:attrNameLst>
                                          <p:attrName>style.visibility</p:attrName>
                                        </p:attrNameLst>
                                      </p:cBhvr>
                                      <p:to>
                                        <p:strVal val="visible"/>
                                      </p:to>
                                    </p:set>
                                  </p:childTnLst>
                                </p:cTn>
                              </p:par>
                            </p:childTnLst>
                          </p:cTn>
                        </p:par>
                        <p:par>
                          <p:cTn id="32" fill="hold">
                            <p:stCondLst>
                              <p:cond delay="0"/>
                            </p:stCondLst>
                            <p:childTnLst>
                              <p:par>
                                <p:cTn id="33" presetID="22" presetClass="entr" presetSubtype="8" fill="hold" nodeType="after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wipe(left)">
                                      <p:cBhvr>
                                        <p:cTn id="35" dur="500"/>
                                        <p:tgtEl>
                                          <p:spTgt spid="35"/>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nodeType="clickEffect">
                                  <p:stCondLst>
                                    <p:cond delay="0"/>
                                  </p:stCondLst>
                                  <p:childTnLst>
                                    <p:set>
                                      <p:cBhvr>
                                        <p:cTn id="39" dur="1" fill="hold">
                                          <p:stCondLst>
                                            <p:cond delay="0"/>
                                          </p:stCondLst>
                                        </p:cTn>
                                        <p:tgtEl>
                                          <p:spTgt spid="31"/>
                                        </p:tgtEl>
                                        <p:attrNameLst>
                                          <p:attrName>style.visibility</p:attrName>
                                        </p:attrNameLst>
                                      </p:cBhvr>
                                      <p:to>
                                        <p:strVal val="hidden"/>
                                      </p:to>
                                    </p:set>
                                  </p:childTnLst>
                                </p:cTn>
                              </p:par>
                            </p:childTnLst>
                          </p:cTn>
                        </p:par>
                        <p:par>
                          <p:cTn id="40" fill="hold">
                            <p:stCondLst>
                              <p:cond delay="0"/>
                            </p:stCondLst>
                            <p:childTnLst>
                              <p:par>
                                <p:cTn id="41" presetID="1" presetClass="entr" presetSubtype="0" fill="hold" grpId="0" nodeType="after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par>
                          <p:cTn id="43" fill="hold">
                            <p:stCondLst>
                              <p:cond delay="0"/>
                            </p:stCondLst>
                            <p:childTnLst>
                              <p:par>
                                <p:cTn id="44" presetID="22" presetClass="entr" presetSubtype="2" fill="hold" nodeType="after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wipe(right)">
                                      <p:cBhvr>
                                        <p:cTn id="46" dur="500"/>
                                        <p:tgtEl>
                                          <p:spTgt spid="39"/>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35"/>
                                        </p:tgtEl>
                                        <p:attrNameLst>
                                          <p:attrName>style.visibility</p:attrName>
                                        </p:attrNameLst>
                                      </p:cBhvr>
                                      <p:to>
                                        <p:strVal val="hidden"/>
                                      </p:to>
                                    </p:set>
                                  </p:childTnLst>
                                </p:cTn>
                              </p:par>
                            </p:childTnLst>
                          </p:cTn>
                        </p:par>
                        <p:par>
                          <p:cTn id="51" fill="hold">
                            <p:stCondLst>
                              <p:cond delay="0"/>
                            </p:stCondLst>
                            <p:childTnLst>
                              <p:par>
                                <p:cTn id="52" presetID="1" presetClass="entr" presetSubtype="0" fill="hold" grpId="0" nodeType="afterEffect">
                                  <p:stCondLst>
                                    <p:cond delay="0"/>
                                  </p:stCondLst>
                                  <p:childTnLst>
                                    <p:set>
                                      <p:cBhvr>
                                        <p:cTn id="53" dur="1" fill="hold">
                                          <p:stCondLst>
                                            <p:cond delay="0"/>
                                          </p:stCondLst>
                                        </p:cTn>
                                        <p:tgtEl>
                                          <p:spTgt spid="42"/>
                                        </p:tgtEl>
                                        <p:attrNameLst>
                                          <p:attrName>style.visibility</p:attrName>
                                        </p:attrNameLst>
                                      </p:cBhvr>
                                      <p:to>
                                        <p:strVal val="visible"/>
                                      </p:to>
                                    </p:set>
                                  </p:childTnLst>
                                </p:cTn>
                              </p:par>
                            </p:childTnLst>
                          </p:cTn>
                        </p:par>
                        <p:par>
                          <p:cTn id="54" fill="hold">
                            <p:stCondLst>
                              <p:cond delay="0"/>
                            </p:stCondLst>
                            <p:childTnLst>
                              <p:par>
                                <p:cTn id="55" presetID="22" presetClass="entr" presetSubtype="8" fill="hold" nodeType="after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wipe(left)">
                                      <p:cBhvr>
                                        <p:cTn id="5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0" grpId="0" animBg="1"/>
      <p:bldP spid="34" grpId="0" animBg="1"/>
      <p:bldP spid="38" grpId="0" animBg="1"/>
      <p:bldP spid="4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环形缓冲技术</a:t>
            </a:r>
          </a:p>
        </p:txBody>
      </p:sp>
      <p:sp>
        <p:nvSpPr>
          <p:cNvPr id="4" name="Date Placeholder 3"/>
          <p:cNvSpPr>
            <a:spLocks noGrp="1"/>
          </p:cNvSpPr>
          <p:nvPr>
            <p:ph type="dt" sz="half" idx="10"/>
          </p:nvPr>
        </p:nvSpPr>
        <p:spPr/>
        <p:txBody>
          <a:bodyPr/>
          <a:lstStyle/>
          <a:p>
            <a:fld id="{BEC2C881-C8FB-4895-B45C-F677D697384F}"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45</a:t>
            </a:fld>
            <a:endParaRPr lang="zh-CN" altLang="en-US" dirty="0"/>
          </a:p>
        </p:txBody>
      </p:sp>
      <p:sp>
        <p:nvSpPr>
          <p:cNvPr id="7" name="Oval 5"/>
          <p:cNvSpPr>
            <a:spLocks noChangeArrowheads="1"/>
          </p:cNvSpPr>
          <p:nvPr/>
        </p:nvSpPr>
        <p:spPr bwMode="auto">
          <a:xfrm>
            <a:off x="1413916" y="3173115"/>
            <a:ext cx="1439863" cy="14398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
          <p:cNvSpPr>
            <a:spLocks noChangeArrowheads="1"/>
          </p:cNvSpPr>
          <p:nvPr/>
        </p:nvSpPr>
        <p:spPr bwMode="auto">
          <a:xfrm>
            <a:off x="1983829" y="3028653"/>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9" name="Rectangle 7"/>
          <p:cNvSpPr>
            <a:spLocks noChangeArrowheads="1"/>
          </p:cNvSpPr>
          <p:nvPr/>
        </p:nvSpPr>
        <p:spPr bwMode="auto">
          <a:xfrm>
            <a:off x="2602954" y="3460453"/>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0" name="Rectangle 8"/>
          <p:cNvSpPr>
            <a:spLocks noChangeArrowheads="1"/>
          </p:cNvSpPr>
          <p:nvPr/>
        </p:nvSpPr>
        <p:spPr bwMode="auto">
          <a:xfrm>
            <a:off x="2609304" y="4036715"/>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11" name="Rectangle 9"/>
          <p:cNvSpPr>
            <a:spLocks noChangeArrowheads="1"/>
          </p:cNvSpPr>
          <p:nvPr/>
        </p:nvSpPr>
        <p:spPr bwMode="auto">
          <a:xfrm>
            <a:off x="1979066" y="4435178"/>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12" name="Rectangle 10"/>
          <p:cNvSpPr>
            <a:spLocks noChangeArrowheads="1"/>
          </p:cNvSpPr>
          <p:nvPr/>
        </p:nvSpPr>
        <p:spPr bwMode="auto">
          <a:xfrm>
            <a:off x="1336129" y="3484265"/>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3" name="Rectangle 11"/>
          <p:cNvSpPr>
            <a:spLocks noChangeArrowheads="1"/>
          </p:cNvSpPr>
          <p:nvPr/>
        </p:nvSpPr>
        <p:spPr bwMode="auto">
          <a:xfrm>
            <a:off x="1331366" y="4036715"/>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14" name="Text Box 12"/>
          <p:cNvSpPr txBox="1">
            <a:spLocks noChangeArrowheads="1"/>
          </p:cNvSpPr>
          <p:nvPr/>
        </p:nvSpPr>
        <p:spPr bwMode="auto">
          <a:xfrm>
            <a:off x="1988591" y="3254078"/>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1</a:t>
            </a:r>
          </a:p>
        </p:txBody>
      </p:sp>
      <p:sp>
        <p:nvSpPr>
          <p:cNvPr id="15" name="Text Box 13"/>
          <p:cNvSpPr txBox="1">
            <a:spLocks noChangeArrowheads="1"/>
          </p:cNvSpPr>
          <p:nvPr/>
        </p:nvSpPr>
        <p:spPr bwMode="auto">
          <a:xfrm>
            <a:off x="2387054" y="3441403"/>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2</a:t>
            </a:r>
          </a:p>
        </p:txBody>
      </p:sp>
      <p:sp>
        <p:nvSpPr>
          <p:cNvPr id="16" name="Text Box 14"/>
          <p:cNvSpPr txBox="1">
            <a:spLocks noChangeArrowheads="1"/>
          </p:cNvSpPr>
          <p:nvPr/>
        </p:nvSpPr>
        <p:spPr bwMode="auto">
          <a:xfrm>
            <a:off x="2388641" y="3998615"/>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3</a:t>
            </a:r>
          </a:p>
        </p:txBody>
      </p:sp>
      <p:sp>
        <p:nvSpPr>
          <p:cNvPr id="17" name="Text Box 15"/>
          <p:cNvSpPr txBox="1">
            <a:spLocks noChangeArrowheads="1"/>
          </p:cNvSpPr>
          <p:nvPr/>
        </p:nvSpPr>
        <p:spPr bwMode="auto">
          <a:xfrm>
            <a:off x="1990179" y="4152603"/>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4</a:t>
            </a:r>
          </a:p>
        </p:txBody>
      </p:sp>
      <p:sp>
        <p:nvSpPr>
          <p:cNvPr id="18" name="Text Box 16"/>
          <p:cNvSpPr txBox="1">
            <a:spLocks noChangeArrowheads="1"/>
          </p:cNvSpPr>
          <p:nvPr/>
        </p:nvSpPr>
        <p:spPr bwMode="auto">
          <a:xfrm>
            <a:off x="1558379" y="4017665"/>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5</a:t>
            </a:r>
          </a:p>
        </p:txBody>
      </p:sp>
      <p:sp>
        <p:nvSpPr>
          <p:cNvPr id="19" name="Text Box 17"/>
          <p:cNvSpPr txBox="1">
            <a:spLocks noChangeArrowheads="1"/>
          </p:cNvSpPr>
          <p:nvPr/>
        </p:nvSpPr>
        <p:spPr bwMode="auto">
          <a:xfrm>
            <a:off x="1558379" y="3460453"/>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6</a:t>
            </a:r>
          </a:p>
        </p:txBody>
      </p:sp>
      <p:grpSp>
        <p:nvGrpSpPr>
          <p:cNvPr id="20" name="Group 37"/>
          <p:cNvGrpSpPr>
            <a:grpSpLocks/>
          </p:cNvGrpSpPr>
          <p:nvPr/>
        </p:nvGrpSpPr>
        <p:grpSpPr bwMode="auto">
          <a:xfrm>
            <a:off x="2836316" y="4181178"/>
            <a:ext cx="784225" cy="336550"/>
            <a:chOff x="5196" y="1126"/>
            <a:chExt cx="494" cy="212"/>
          </a:xfrm>
        </p:grpSpPr>
        <p:sp>
          <p:nvSpPr>
            <p:cNvPr id="21" name="Line 38"/>
            <p:cNvSpPr>
              <a:spLocks noChangeShapeType="1"/>
            </p:cNvSpPr>
            <p:nvPr/>
          </p:nvSpPr>
          <p:spPr bwMode="auto">
            <a:xfrm flipH="1">
              <a:off x="5230" y="1129"/>
              <a:ext cx="181"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Text Box 39"/>
            <p:cNvSpPr txBox="1">
              <a:spLocks noChangeArrowheads="1"/>
            </p:cNvSpPr>
            <p:nvPr/>
          </p:nvSpPr>
          <p:spPr bwMode="auto">
            <a:xfrm>
              <a:off x="5196" y="1126"/>
              <a:ext cx="49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Nexti</a:t>
              </a:r>
            </a:p>
          </p:txBody>
        </p:sp>
      </p:grpSp>
      <p:grpSp>
        <p:nvGrpSpPr>
          <p:cNvPr id="23" name="Group 41"/>
          <p:cNvGrpSpPr>
            <a:grpSpLocks/>
          </p:cNvGrpSpPr>
          <p:nvPr/>
        </p:nvGrpSpPr>
        <p:grpSpPr bwMode="auto">
          <a:xfrm>
            <a:off x="674141" y="3611265"/>
            <a:ext cx="719138" cy="336550"/>
            <a:chOff x="2598" y="3143"/>
            <a:chExt cx="453" cy="212"/>
          </a:xfrm>
        </p:grpSpPr>
        <p:sp>
          <p:nvSpPr>
            <p:cNvPr id="24" name="Line 42"/>
            <p:cNvSpPr>
              <a:spLocks noChangeShapeType="1"/>
            </p:cNvSpPr>
            <p:nvPr/>
          </p:nvSpPr>
          <p:spPr bwMode="auto">
            <a:xfrm>
              <a:off x="2789" y="3158"/>
              <a:ext cx="227"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Text Box 43"/>
            <p:cNvSpPr txBox="1">
              <a:spLocks noChangeArrowheads="1"/>
            </p:cNvSpPr>
            <p:nvPr/>
          </p:nvSpPr>
          <p:spPr bwMode="auto">
            <a:xfrm>
              <a:off x="2598" y="3143"/>
              <a:ext cx="4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t>Nextg</a:t>
              </a:r>
            </a:p>
          </p:txBody>
        </p:sp>
      </p:grpSp>
      <p:sp>
        <p:nvSpPr>
          <p:cNvPr id="26" name="AutoShape 80"/>
          <p:cNvSpPr>
            <a:spLocks noChangeArrowheads="1"/>
          </p:cNvSpPr>
          <p:nvPr/>
        </p:nvSpPr>
        <p:spPr bwMode="auto">
          <a:xfrm rot="19447736">
            <a:off x="3110954" y="3149303"/>
            <a:ext cx="1295400" cy="288925"/>
          </a:xfrm>
          <a:prstGeom prst="rightArrow">
            <a:avLst>
              <a:gd name="adj1" fmla="val 50000"/>
              <a:gd name="adj2" fmla="val 112088"/>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Oval 147"/>
          <p:cNvSpPr>
            <a:spLocks noChangeArrowheads="1"/>
          </p:cNvSpPr>
          <p:nvPr/>
        </p:nvSpPr>
        <p:spPr bwMode="auto">
          <a:xfrm>
            <a:off x="5101679" y="2133303"/>
            <a:ext cx="1439862" cy="143986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Rectangle 148"/>
          <p:cNvSpPr>
            <a:spLocks noChangeArrowheads="1"/>
          </p:cNvSpPr>
          <p:nvPr/>
        </p:nvSpPr>
        <p:spPr bwMode="auto">
          <a:xfrm>
            <a:off x="5671591" y="1988840"/>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29" name="Rectangle 149"/>
          <p:cNvSpPr>
            <a:spLocks noChangeArrowheads="1"/>
          </p:cNvSpPr>
          <p:nvPr/>
        </p:nvSpPr>
        <p:spPr bwMode="auto">
          <a:xfrm>
            <a:off x="6290716" y="2420640"/>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30" name="Rectangle 150"/>
          <p:cNvSpPr>
            <a:spLocks noChangeArrowheads="1"/>
          </p:cNvSpPr>
          <p:nvPr/>
        </p:nvSpPr>
        <p:spPr bwMode="auto">
          <a:xfrm>
            <a:off x="6297066" y="2996903"/>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31" name="Rectangle 151"/>
          <p:cNvSpPr>
            <a:spLocks noChangeArrowheads="1"/>
          </p:cNvSpPr>
          <p:nvPr/>
        </p:nvSpPr>
        <p:spPr bwMode="auto">
          <a:xfrm>
            <a:off x="5666829" y="3395365"/>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32" name="Rectangle 152"/>
          <p:cNvSpPr>
            <a:spLocks noChangeArrowheads="1"/>
          </p:cNvSpPr>
          <p:nvPr/>
        </p:nvSpPr>
        <p:spPr bwMode="auto">
          <a:xfrm>
            <a:off x="5023891" y="2444453"/>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33" name="Rectangle 153"/>
          <p:cNvSpPr>
            <a:spLocks noChangeArrowheads="1"/>
          </p:cNvSpPr>
          <p:nvPr/>
        </p:nvSpPr>
        <p:spPr bwMode="auto">
          <a:xfrm>
            <a:off x="5019129" y="2996903"/>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34" name="Text Box 154"/>
          <p:cNvSpPr txBox="1">
            <a:spLocks noChangeArrowheads="1"/>
          </p:cNvSpPr>
          <p:nvPr/>
        </p:nvSpPr>
        <p:spPr bwMode="auto">
          <a:xfrm>
            <a:off x="5676354" y="2214265"/>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1</a:t>
            </a:r>
          </a:p>
        </p:txBody>
      </p:sp>
      <p:sp>
        <p:nvSpPr>
          <p:cNvPr id="35" name="Text Box 155"/>
          <p:cNvSpPr txBox="1">
            <a:spLocks noChangeArrowheads="1"/>
          </p:cNvSpPr>
          <p:nvPr/>
        </p:nvSpPr>
        <p:spPr bwMode="auto">
          <a:xfrm>
            <a:off x="6074816" y="2401590"/>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2</a:t>
            </a:r>
          </a:p>
        </p:txBody>
      </p:sp>
      <p:sp>
        <p:nvSpPr>
          <p:cNvPr id="36" name="Text Box 156"/>
          <p:cNvSpPr txBox="1">
            <a:spLocks noChangeArrowheads="1"/>
          </p:cNvSpPr>
          <p:nvPr/>
        </p:nvSpPr>
        <p:spPr bwMode="auto">
          <a:xfrm>
            <a:off x="6076404" y="2958803"/>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3</a:t>
            </a:r>
          </a:p>
        </p:txBody>
      </p:sp>
      <p:sp>
        <p:nvSpPr>
          <p:cNvPr id="37" name="Text Box 157"/>
          <p:cNvSpPr txBox="1">
            <a:spLocks noChangeArrowheads="1"/>
          </p:cNvSpPr>
          <p:nvPr/>
        </p:nvSpPr>
        <p:spPr bwMode="auto">
          <a:xfrm>
            <a:off x="5677941" y="3112790"/>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4</a:t>
            </a:r>
          </a:p>
        </p:txBody>
      </p:sp>
      <p:sp>
        <p:nvSpPr>
          <p:cNvPr id="38" name="Text Box 158"/>
          <p:cNvSpPr txBox="1">
            <a:spLocks noChangeArrowheads="1"/>
          </p:cNvSpPr>
          <p:nvPr/>
        </p:nvSpPr>
        <p:spPr bwMode="auto">
          <a:xfrm>
            <a:off x="5246141" y="2977853"/>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5</a:t>
            </a:r>
          </a:p>
        </p:txBody>
      </p:sp>
      <p:sp>
        <p:nvSpPr>
          <p:cNvPr id="39" name="Text Box 159"/>
          <p:cNvSpPr txBox="1">
            <a:spLocks noChangeArrowheads="1"/>
          </p:cNvSpPr>
          <p:nvPr/>
        </p:nvSpPr>
        <p:spPr bwMode="auto">
          <a:xfrm>
            <a:off x="5246141" y="2420640"/>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6</a:t>
            </a:r>
          </a:p>
        </p:txBody>
      </p:sp>
      <p:grpSp>
        <p:nvGrpSpPr>
          <p:cNvPr id="40" name="Group 160"/>
          <p:cNvGrpSpPr>
            <a:grpSpLocks/>
          </p:cNvGrpSpPr>
          <p:nvPr/>
        </p:nvGrpSpPr>
        <p:grpSpPr bwMode="auto">
          <a:xfrm>
            <a:off x="6524079" y="3141365"/>
            <a:ext cx="784225" cy="336550"/>
            <a:chOff x="5196" y="1126"/>
            <a:chExt cx="494" cy="212"/>
          </a:xfrm>
        </p:grpSpPr>
        <p:sp>
          <p:nvSpPr>
            <p:cNvPr id="41" name="Line 161"/>
            <p:cNvSpPr>
              <a:spLocks noChangeShapeType="1"/>
            </p:cNvSpPr>
            <p:nvPr/>
          </p:nvSpPr>
          <p:spPr bwMode="auto">
            <a:xfrm flipH="1">
              <a:off x="5230" y="1129"/>
              <a:ext cx="181"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Text Box 162"/>
            <p:cNvSpPr txBox="1">
              <a:spLocks noChangeArrowheads="1"/>
            </p:cNvSpPr>
            <p:nvPr/>
          </p:nvSpPr>
          <p:spPr bwMode="auto">
            <a:xfrm>
              <a:off x="5196" y="1126"/>
              <a:ext cx="49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Nexti</a:t>
              </a:r>
            </a:p>
          </p:txBody>
        </p:sp>
      </p:grpSp>
      <p:grpSp>
        <p:nvGrpSpPr>
          <p:cNvPr id="43" name="Group 163"/>
          <p:cNvGrpSpPr>
            <a:grpSpLocks/>
          </p:cNvGrpSpPr>
          <p:nvPr/>
        </p:nvGrpSpPr>
        <p:grpSpPr bwMode="auto">
          <a:xfrm>
            <a:off x="4361904" y="2571453"/>
            <a:ext cx="719137" cy="336550"/>
            <a:chOff x="2598" y="3143"/>
            <a:chExt cx="453" cy="212"/>
          </a:xfrm>
        </p:grpSpPr>
        <p:sp>
          <p:nvSpPr>
            <p:cNvPr id="44" name="Line 164"/>
            <p:cNvSpPr>
              <a:spLocks noChangeShapeType="1"/>
            </p:cNvSpPr>
            <p:nvPr/>
          </p:nvSpPr>
          <p:spPr bwMode="auto">
            <a:xfrm>
              <a:off x="2789" y="3158"/>
              <a:ext cx="227"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Text Box 165"/>
            <p:cNvSpPr txBox="1">
              <a:spLocks noChangeArrowheads="1"/>
            </p:cNvSpPr>
            <p:nvPr/>
          </p:nvSpPr>
          <p:spPr bwMode="auto">
            <a:xfrm>
              <a:off x="2598" y="3143"/>
              <a:ext cx="4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t>Nextg</a:t>
              </a:r>
            </a:p>
          </p:txBody>
        </p:sp>
      </p:grpSp>
      <p:sp>
        <p:nvSpPr>
          <p:cNvPr id="46" name="Rectangle 166"/>
          <p:cNvSpPr>
            <a:spLocks noChangeArrowheads="1"/>
          </p:cNvSpPr>
          <p:nvPr/>
        </p:nvSpPr>
        <p:spPr bwMode="auto">
          <a:xfrm>
            <a:off x="6292304" y="2996903"/>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grpSp>
        <p:nvGrpSpPr>
          <p:cNvPr id="47" name="Group 169"/>
          <p:cNvGrpSpPr>
            <a:grpSpLocks/>
          </p:cNvGrpSpPr>
          <p:nvPr/>
        </p:nvGrpSpPr>
        <p:grpSpPr bwMode="auto">
          <a:xfrm>
            <a:off x="5827166" y="3676353"/>
            <a:ext cx="742950" cy="336550"/>
            <a:chOff x="4655" y="2069"/>
            <a:chExt cx="468" cy="212"/>
          </a:xfrm>
        </p:grpSpPr>
        <p:sp>
          <p:nvSpPr>
            <p:cNvPr id="48" name="Text Box 167"/>
            <p:cNvSpPr txBox="1">
              <a:spLocks noChangeArrowheads="1"/>
            </p:cNvSpPr>
            <p:nvPr/>
          </p:nvSpPr>
          <p:spPr bwMode="auto">
            <a:xfrm>
              <a:off x="4669" y="2069"/>
              <a:ext cx="45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Nexti</a:t>
              </a:r>
            </a:p>
          </p:txBody>
        </p:sp>
        <p:sp>
          <p:nvSpPr>
            <p:cNvPr id="49" name="Line 168"/>
            <p:cNvSpPr>
              <a:spLocks noChangeShapeType="1"/>
            </p:cNvSpPr>
            <p:nvPr/>
          </p:nvSpPr>
          <p:spPr bwMode="auto">
            <a:xfrm flipV="1">
              <a:off x="4655" y="2075"/>
              <a:ext cx="0" cy="182"/>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0" name="Rectangle 170"/>
          <p:cNvSpPr>
            <a:spLocks noChangeArrowheads="1"/>
          </p:cNvSpPr>
          <p:nvPr/>
        </p:nvSpPr>
        <p:spPr bwMode="auto">
          <a:xfrm>
            <a:off x="5668416" y="3389015"/>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grpSp>
        <p:nvGrpSpPr>
          <p:cNvPr id="51" name="Group 171"/>
          <p:cNvGrpSpPr>
            <a:grpSpLocks/>
          </p:cNvGrpSpPr>
          <p:nvPr/>
        </p:nvGrpSpPr>
        <p:grpSpPr bwMode="auto">
          <a:xfrm>
            <a:off x="4355554" y="3123903"/>
            <a:ext cx="719137" cy="336550"/>
            <a:chOff x="2598" y="3143"/>
            <a:chExt cx="453" cy="212"/>
          </a:xfrm>
        </p:grpSpPr>
        <p:sp>
          <p:nvSpPr>
            <p:cNvPr id="52" name="Line 172"/>
            <p:cNvSpPr>
              <a:spLocks noChangeShapeType="1"/>
            </p:cNvSpPr>
            <p:nvPr/>
          </p:nvSpPr>
          <p:spPr bwMode="auto">
            <a:xfrm>
              <a:off x="2789" y="3158"/>
              <a:ext cx="227"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Text Box 173"/>
            <p:cNvSpPr txBox="1">
              <a:spLocks noChangeArrowheads="1"/>
            </p:cNvSpPr>
            <p:nvPr/>
          </p:nvSpPr>
          <p:spPr bwMode="auto">
            <a:xfrm>
              <a:off x="2598" y="3143"/>
              <a:ext cx="4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t>Nexti</a:t>
              </a:r>
            </a:p>
          </p:txBody>
        </p:sp>
      </p:grpSp>
      <p:sp>
        <p:nvSpPr>
          <p:cNvPr id="54" name="Rectangle 174"/>
          <p:cNvSpPr>
            <a:spLocks noChangeArrowheads="1"/>
          </p:cNvSpPr>
          <p:nvPr/>
        </p:nvSpPr>
        <p:spPr bwMode="auto">
          <a:xfrm>
            <a:off x="5027066" y="2996903"/>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grpSp>
        <p:nvGrpSpPr>
          <p:cNvPr id="55" name="Group 179"/>
          <p:cNvGrpSpPr>
            <a:grpSpLocks/>
          </p:cNvGrpSpPr>
          <p:nvPr/>
        </p:nvGrpSpPr>
        <p:grpSpPr bwMode="auto">
          <a:xfrm>
            <a:off x="3747541" y="2442865"/>
            <a:ext cx="936625" cy="481013"/>
            <a:chOff x="2653" y="3294"/>
            <a:chExt cx="590" cy="303"/>
          </a:xfrm>
        </p:grpSpPr>
        <p:grpSp>
          <p:nvGrpSpPr>
            <p:cNvPr id="56" name="Group 175"/>
            <p:cNvGrpSpPr>
              <a:grpSpLocks/>
            </p:cNvGrpSpPr>
            <p:nvPr/>
          </p:nvGrpSpPr>
          <p:grpSpPr bwMode="auto">
            <a:xfrm>
              <a:off x="2653" y="3385"/>
              <a:ext cx="453" cy="212"/>
              <a:chOff x="2598" y="3143"/>
              <a:chExt cx="453" cy="212"/>
            </a:xfrm>
          </p:grpSpPr>
          <p:sp>
            <p:nvSpPr>
              <p:cNvPr id="58" name="Line 176"/>
              <p:cNvSpPr>
                <a:spLocks noChangeShapeType="1"/>
              </p:cNvSpPr>
              <p:nvPr/>
            </p:nvSpPr>
            <p:spPr bwMode="auto">
              <a:xfrm>
                <a:off x="2789" y="3158"/>
                <a:ext cx="227"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Text Box 177"/>
              <p:cNvSpPr txBox="1">
                <a:spLocks noChangeArrowheads="1"/>
              </p:cNvSpPr>
              <p:nvPr/>
            </p:nvSpPr>
            <p:spPr bwMode="auto">
              <a:xfrm>
                <a:off x="2598" y="3143"/>
                <a:ext cx="4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t>Nexti</a:t>
                </a:r>
              </a:p>
            </p:txBody>
          </p:sp>
        </p:grpSp>
        <p:sp>
          <p:nvSpPr>
            <p:cNvPr id="57" name="Text Box 178"/>
            <p:cNvSpPr txBox="1">
              <a:spLocks noChangeArrowheads="1"/>
            </p:cNvSpPr>
            <p:nvPr/>
          </p:nvSpPr>
          <p:spPr bwMode="auto">
            <a:xfrm>
              <a:off x="3061" y="3294"/>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solidFill>
                    <a:srgbClr val="FF3300"/>
                  </a:solidFill>
                </a:rPr>
                <a:t>?</a:t>
              </a:r>
            </a:p>
          </p:txBody>
        </p:sp>
      </p:grpSp>
      <p:sp>
        <p:nvSpPr>
          <p:cNvPr id="60" name="Content Placeholder 2"/>
          <p:cNvSpPr>
            <a:spLocks noGrp="1"/>
          </p:cNvSpPr>
          <p:nvPr>
            <p:ph idx="1"/>
          </p:nvPr>
        </p:nvSpPr>
        <p:spPr>
          <a:xfrm>
            <a:off x="457200" y="1268760"/>
            <a:ext cx="8229600" cy="5256584"/>
          </a:xfrm>
        </p:spPr>
        <p:txBody>
          <a:bodyPr/>
          <a:lstStyle/>
          <a:p>
            <a:r>
              <a:rPr lang="zh-CN" altLang="en-US" dirty="0"/>
              <a:t>进程同步问题</a:t>
            </a:r>
          </a:p>
        </p:txBody>
      </p:sp>
    </p:spTree>
    <p:extLst>
      <p:ext uri="{BB962C8B-B14F-4D97-AF65-F5344CB8AC3E}">
        <p14:creationId xmlns:p14="http://schemas.microsoft.com/office/powerpoint/2010/main" val="3471118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0"/>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6"/>
                                        </p:tgtEl>
                                        <p:attrNameLst>
                                          <p:attrName>style.visibility</p:attrName>
                                        </p:attrNameLst>
                                      </p:cBhvr>
                                      <p:to>
                                        <p:strVal val="visible"/>
                                      </p:to>
                                    </p:set>
                                  </p:childTnLst>
                                </p:cTn>
                              </p:par>
                            </p:childTnLst>
                          </p:cTn>
                        </p:par>
                        <p:par>
                          <p:cTn id="10" fill="hold">
                            <p:stCondLst>
                              <p:cond delay="0"/>
                            </p:stCondLst>
                            <p:childTnLst>
                              <p:par>
                                <p:cTn id="11" presetID="22" presetClass="entr" presetSubtype="4" fill="hold" nodeType="after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wipe(down)">
                                      <p:cBhvr>
                                        <p:cTn id="13" dur="500"/>
                                        <p:tgtEl>
                                          <p:spTgt spid="47"/>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nodeType="clickEffect">
                                  <p:stCondLst>
                                    <p:cond delay="0"/>
                                  </p:stCondLst>
                                  <p:childTnLst>
                                    <p:set>
                                      <p:cBhvr>
                                        <p:cTn id="17" dur="1" fill="hold">
                                          <p:stCondLst>
                                            <p:cond delay="0"/>
                                          </p:stCondLst>
                                        </p:cTn>
                                        <p:tgtEl>
                                          <p:spTgt spid="47"/>
                                        </p:tgtEl>
                                        <p:attrNameLst>
                                          <p:attrName>style.visibility</p:attrName>
                                        </p:attrNameLst>
                                      </p:cBhvr>
                                      <p:to>
                                        <p:strVal val="hidden"/>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childTnLst>
                          </p:cTn>
                        </p:par>
                        <p:par>
                          <p:cTn id="21" fill="hold">
                            <p:stCondLst>
                              <p:cond delay="0"/>
                            </p:stCondLst>
                            <p:childTnLst>
                              <p:par>
                                <p:cTn id="22" presetID="22" presetClass="entr" presetSubtype="8" fill="hold" nodeType="afterEffect">
                                  <p:stCondLst>
                                    <p:cond delay="0"/>
                                  </p:stCondLst>
                                  <p:childTnLst>
                                    <p:set>
                                      <p:cBhvr>
                                        <p:cTn id="23" dur="1" fill="hold">
                                          <p:stCondLst>
                                            <p:cond delay="0"/>
                                          </p:stCondLst>
                                        </p:cTn>
                                        <p:tgtEl>
                                          <p:spTgt spid="51"/>
                                        </p:tgtEl>
                                        <p:attrNameLst>
                                          <p:attrName>style.visibility</p:attrName>
                                        </p:attrNameLst>
                                      </p:cBhvr>
                                      <p:to>
                                        <p:strVal val="visible"/>
                                      </p:to>
                                    </p:set>
                                    <p:animEffect transition="in" filter="wipe(left)">
                                      <p:cBhvr>
                                        <p:cTn id="24" dur="500"/>
                                        <p:tgtEl>
                                          <p:spTgt spid="51"/>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51"/>
                                        </p:tgtEl>
                                        <p:attrNameLst>
                                          <p:attrName>style.visibility</p:attrName>
                                        </p:attrNameLst>
                                      </p:cBhvr>
                                      <p:to>
                                        <p:strVal val="hidden"/>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54"/>
                                        </p:tgtEl>
                                        <p:attrNameLst>
                                          <p:attrName>style.visibility</p:attrName>
                                        </p:attrNameLst>
                                      </p:cBhvr>
                                      <p:to>
                                        <p:strVal val="visible"/>
                                      </p:to>
                                    </p:set>
                                  </p:childTnLst>
                                </p:cTn>
                              </p:par>
                            </p:childTnLst>
                          </p:cTn>
                        </p:par>
                        <p:par>
                          <p:cTn id="32" fill="hold">
                            <p:stCondLst>
                              <p:cond delay="0"/>
                            </p:stCondLst>
                            <p:childTnLst>
                              <p:par>
                                <p:cTn id="33" presetID="22" presetClass="entr" presetSubtype="8" fill="hold" nodeType="afterEffect">
                                  <p:stCondLst>
                                    <p:cond delay="0"/>
                                  </p:stCondLst>
                                  <p:childTnLst>
                                    <p:set>
                                      <p:cBhvr>
                                        <p:cTn id="34" dur="1" fill="hold">
                                          <p:stCondLst>
                                            <p:cond delay="0"/>
                                          </p:stCondLst>
                                        </p:cTn>
                                        <p:tgtEl>
                                          <p:spTgt spid="55"/>
                                        </p:tgtEl>
                                        <p:attrNameLst>
                                          <p:attrName>style.visibility</p:attrName>
                                        </p:attrNameLst>
                                      </p:cBhvr>
                                      <p:to>
                                        <p:strVal val="visible"/>
                                      </p:to>
                                    </p:set>
                                    <p:animEffect transition="in" filter="wipe(left)">
                                      <p:cBhvr>
                                        <p:cTn id="35" dur="500"/>
                                        <p:tgtEl>
                                          <p:spTgt spid="55"/>
                                        </p:tgtEl>
                                      </p:cBhvr>
                                    </p:animEffect>
                                  </p:childTnLst>
                                </p:cTn>
                              </p:par>
                            </p:childTnLst>
                          </p:cTn>
                        </p:par>
                        <p:par>
                          <p:cTn id="36" fill="hold">
                            <p:stCondLst>
                              <p:cond delay="500"/>
                            </p:stCondLst>
                            <p:childTnLst>
                              <p:par>
                                <p:cTn id="37" presetID="26" presetClass="emph" presetSubtype="0" fill="hold" nodeType="afterEffect">
                                  <p:stCondLst>
                                    <p:cond delay="0"/>
                                  </p:stCondLst>
                                  <p:childTnLst>
                                    <p:animEffect transition="out" filter="fade">
                                      <p:cBhvr>
                                        <p:cTn id="38" dur="500" tmFilter="0, 0; .2, .5; .8, .5; 1, 0"/>
                                        <p:tgtEl>
                                          <p:spTgt spid="55"/>
                                        </p:tgtEl>
                                      </p:cBhvr>
                                    </p:animEffect>
                                    <p:animScale>
                                      <p:cBhvr>
                                        <p:cTn id="39" dur="250" autoRev="1" fill="hold"/>
                                        <p:tgtEl>
                                          <p:spTgt spid="5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50" grpId="0" animBg="1"/>
      <p:bldP spid="5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环形缓冲技术</a:t>
            </a:r>
          </a:p>
        </p:txBody>
      </p:sp>
      <p:sp>
        <p:nvSpPr>
          <p:cNvPr id="4" name="Date Placeholder 3"/>
          <p:cNvSpPr>
            <a:spLocks noGrp="1"/>
          </p:cNvSpPr>
          <p:nvPr>
            <p:ph type="dt" sz="half" idx="10"/>
          </p:nvPr>
        </p:nvSpPr>
        <p:spPr/>
        <p:txBody>
          <a:bodyPr/>
          <a:lstStyle/>
          <a:p>
            <a:fld id="{B96B7E4C-8DF9-4D99-86FE-2182F5600FB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46</a:t>
            </a:fld>
            <a:endParaRPr lang="zh-CN" altLang="en-US" dirty="0"/>
          </a:p>
        </p:txBody>
      </p:sp>
      <p:sp>
        <p:nvSpPr>
          <p:cNvPr id="7" name="Oval 5"/>
          <p:cNvSpPr>
            <a:spLocks noChangeArrowheads="1"/>
          </p:cNvSpPr>
          <p:nvPr/>
        </p:nvSpPr>
        <p:spPr bwMode="auto">
          <a:xfrm>
            <a:off x="1365522" y="3173115"/>
            <a:ext cx="1439863" cy="14398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
          <p:cNvSpPr>
            <a:spLocks noChangeArrowheads="1"/>
          </p:cNvSpPr>
          <p:nvPr/>
        </p:nvSpPr>
        <p:spPr bwMode="auto">
          <a:xfrm>
            <a:off x="1935435" y="3028653"/>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9" name="Rectangle 7"/>
          <p:cNvSpPr>
            <a:spLocks noChangeArrowheads="1"/>
          </p:cNvSpPr>
          <p:nvPr/>
        </p:nvSpPr>
        <p:spPr bwMode="auto">
          <a:xfrm>
            <a:off x="2554560" y="3460453"/>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0" name="Rectangle 8"/>
          <p:cNvSpPr>
            <a:spLocks noChangeArrowheads="1"/>
          </p:cNvSpPr>
          <p:nvPr/>
        </p:nvSpPr>
        <p:spPr bwMode="auto">
          <a:xfrm>
            <a:off x="2560910" y="4036715"/>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11" name="Rectangle 9"/>
          <p:cNvSpPr>
            <a:spLocks noChangeArrowheads="1"/>
          </p:cNvSpPr>
          <p:nvPr/>
        </p:nvSpPr>
        <p:spPr bwMode="auto">
          <a:xfrm>
            <a:off x="1930672" y="4435178"/>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12" name="Rectangle 10"/>
          <p:cNvSpPr>
            <a:spLocks noChangeArrowheads="1"/>
          </p:cNvSpPr>
          <p:nvPr/>
        </p:nvSpPr>
        <p:spPr bwMode="auto">
          <a:xfrm>
            <a:off x="1287735" y="3484265"/>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13" name="Rectangle 11"/>
          <p:cNvSpPr>
            <a:spLocks noChangeArrowheads="1"/>
          </p:cNvSpPr>
          <p:nvPr/>
        </p:nvSpPr>
        <p:spPr bwMode="auto">
          <a:xfrm>
            <a:off x="1282972" y="4036715"/>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14" name="Text Box 12"/>
          <p:cNvSpPr txBox="1">
            <a:spLocks noChangeArrowheads="1"/>
          </p:cNvSpPr>
          <p:nvPr/>
        </p:nvSpPr>
        <p:spPr bwMode="auto">
          <a:xfrm>
            <a:off x="1940197" y="3254078"/>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1</a:t>
            </a:r>
          </a:p>
        </p:txBody>
      </p:sp>
      <p:sp>
        <p:nvSpPr>
          <p:cNvPr id="15" name="Text Box 13"/>
          <p:cNvSpPr txBox="1">
            <a:spLocks noChangeArrowheads="1"/>
          </p:cNvSpPr>
          <p:nvPr/>
        </p:nvSpPr>
        <p:spPr bwMode="auto">
          <a:xfrm>
            <a:off x="2338660" y="3441403"/>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2</a:t>
            </a:r>
          </a:p>
        </p:txBody>
      </p:sp>
      <p:sp>
        <p:nvSpPr>
          <p:cNvPr id="16" name="Text Box 14"/>
          <p:cNvSpPr txBox="1">
            <a:spLocks noChangeArrowheads="1"/>
          </p:cNvSpPr>
          <p:nvPr/>
        </p:nvSpPr>
        <p:spPr bwMode="auto">
          <a:xfrm>
            <a:off x="2340247" y="3998615"/>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3</a:t>
            </a:r>
          </a:p>
        </p:txBody>
      </p:sp>
      <p:sp>
        <p:nvSpPr>
          <p:cNvPr id="17" name="Text Box 15"/>
          <p:cNvSpPr txBox="1">
            <a:spLocks noChangeArrowheads="1"/>
          </p:cNvSpPr>
          <p:nvPr/>
        </p:nvSpPr>
        <p:spPr bwMode="auto">
          <a:xfrm>
            <a:off x="1941785" y="4152603"/>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4</a:t>
            </a:r>
          </a:p>
        </p:txBody>
      </p:sp>
      <p:sp>
        <p:nvSpPr>
          <p:cNvPr id="18" name="Text Box 16"/>
          <p:cNvSpPr txBox="1">
            <a:spLocks noChangeArrowheads="1"/>
          </p:cNvSpPr>
          <p:nvPr/>
        </p:nvSpPr>
        <p:spPr bwMode="auto">
          <a:xfrm>
            <a:off x="1509985" y="4017665"/>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5</a:t>
            </a:r>
          </a:p>
        </p:txBody>
      </p:sp>
      <p:sp>
        <p:nvSpPr>
          <p:cNvPr id="19" name="Text Box 17"/>
          <p:cNvSpPr txBox="1">
            <a:spLocks noChangeArrowheads="1"/>
          </p:cNvSpPr>
          <p:nvPr/>
        </p:nvSpPr>
        <p:spPr bwMode="auto">
          <a:xfrm>
            <a:off x="1509985" y="3460453"/>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6</a:t>
            </a:r>
          </a:p>
        </p:txBody>
      </p:sp>
      <p:grpSp>
        <p:nvGrpSpPr>
          <p:cNvPr id="20" name="Group 18"/>
          <p:cNvGrpSpPr>
            <a:grpSpLocks/>
          </p:cNvGrpSpPr>
          <p:nvPr/>
        </p:nvGrpSpPr>
        <p:grpSpPr bwMode="auto">
          <a:xfrm>
            <a:off x="2787922" y="4181178"/>
            <a:ext cx="784225" cy="336550"/>
            <a:chOff x="5196" y="1126"/>
            <a:chExt cx="494" cy="212"/>
          </a:xfrm>
        </p:grpSpPr>
        <p:sp>
          <p:nvSpPr>
            <p:cNvPr id="21" name="Line 19"/>
            <p:cNvSpPr>
              <a:spLocks noChangeShapeType="1"/>
            </p:cNvSpPr>
            <p:nvPr/>
          </p:nvSpPr>
          <p:spPr bwMode="auto">
            <a:xfrm flipH="1">
              <a:off x="5230" y="1129"/>
              <a:ext cx="181"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Text Box 20"/>
            <p:cNvSpPr txBox="1">
              <a:spLocks noChangeArrowheads="1"/>
            </p:cNvSpPr>
            <p:nvPr/>
          </p:nvSpPr>
          <p:spPr bwMode="auto">
            <a:xfrm>
              <a:off x="5196" y="1126"/>
              <a:ext cx="49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Nexti</a:t>
              </a:r>
            </a:p>
          </p:txBody>
        </p:sp>
      </p:grpSp>
      <p:grpSp>
        <p:nvGrpSpPr>
          <p:cNvPr id="23" name="Group 21"/>
          <p:cNvGrpSpPr>
            <a:grpSpLocks/>
          </p:cNvGrpSpPr>
          <p:nvPr/>
        </p:nvGrpSpPr>
        <p:grpSpPr bwMode="auto">
          <a:xfrm>
            <a:off x="625747" y="3611265"/>
            <a:ext cx="719138" cy="336550"/>
            <a:chOff x="2598" y="3143"/>
            <a:chExt cx="453" cy="212"/>
          </a:xfrm>
        </p:grpSpPr>
        <p:sp>
          <p:nvSpPr>
            <p:cNvPr id="24" name="Line 22"/>
            <p:cNvSpPr>
              <a:spLocks noChangeShapeType="1"/>
            </p:cNvSpPr>
            <p:nvPr/>
          </p:nvSpPr>
          <p:spPr bwMode="auto">
            <a:xfrm>
              <a:off x="2789" y="3158"/>
              <a:ext cx="227"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Text Box 23"/>
            <p:cNvSpPr txBox="1">
              <a:spLocks noChangeArrowheads="1"/>
            </p:cNvSpPr>
            <p:nvPr/>
          </p:nvSpPr>
          <p:spPr bwMode="auto">
            <a:xfrm>
              <a:off x="2598" y="3143"/>
              <a:ext cx="4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t>Nextg</a:t>
              </a:r>
            </a:p>
          </p:txBody>
        </p:sp>
      </p:grpSp>
      <p:sp>
        <p:nvSpPr>
          <p:cNvPr id="26" name="AutoShape 24"/>
          <p:cNvSpPr>
            <a:spLocks noChangeArrowheads="1"/>
          </p:cNvSpPr>
          <p:nvPr/>
        </p:nvSpPr>
        <p:spPr bwMode="auto">
          <a:xfrm rot="19447736">
            <a:off x="3062560" y="3149303"/>
            <a:ext cx="1295400" cy="288925"/>
          </a:xfrm>
          <a:prstGeom prst="rightArrow">
            <a:avLst>
              <a:gd name="adj1" fmla="val 50000"/>
              <a:gd name="adj2" fmla="val 112088"/>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Oval 25"/>
          <p:cNvSpPr>
            <a:spLocks noChangeArrowheads="1"/>
          </p:cNvSpPr>
          <p:nvPr/>
        </p:nvSpPr>
        <p:spPr bwMode="auto">
          <a:xfrm>
            <a:off x="5053285" y="2133303"/>
            <a:ext cx="1439862" cy="143986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Rectangle 26"/>
          <p:cNvSpPr>
            <a:spLocks noChangeArrowheads="1"/>
          </p:cNvSpPr>
          <p:nvPr/>
        </p:nvSpPr>
        <p:spPr bwMode="auto">
          <a:xfrm>
            <a:off x="5623197" y="1988840"/>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29" name="Rectangle 27"/>
          <p:cNvSpPr>
            <a:spLocks noChangeArrowheads="1"/>
          </p:cNvSpPr>
          <p:nvPr/>
        </p:nvSpPr>
        <p:spPr bwMode="auto">
          <a:xfrm>
            <a:off x="6242322" y="2420640"/>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30" name="Rectangle 28"/>
          <p:cNvSpPr>
            <a:spLocks noChangeArrowheads="1"/>
          </p:cNvSpPr>
          <p:nvPr/>
        </p:nvSpPr>
        <p:spPr bwMode="auto">
          <a:xfrm>
            <a:off x="6248672" y="2996903"/>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31" name="Rectangle 29"/>
          <p:cNvSpPr>
            <a:spLocks noChangeArrowheads="1"/>
          </p:cNvSpPr>
          <p:nvPr/>
        </p:nvSpPr>
        <p:spPr bwMode="auto">
          <a:xfrm>
            <a:off x="5618435" y="3395365"/>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32" name="Rectangle 30"/>
          <p:cNvSpPr>
            <a:spLocks noChangeArrowheads="1"/>
          </p:cNvSpPr>
          <p:nvPr/>
        </p:nvSpPr>
        <p:spPr bwMode="auto">
          <a:xfrm>
            <a:off x="4975497" y="2444453"/>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33" name="Rectangle 31"/>
          <p:cNvSpPr>
            <a:spLocks noChangeArrowheads="1"/>
          </p:cNvSpPr>
          <p:nvPr/>
        </p:nvSpPr>
        <p:spPr bwMode="auto">
          <a:xfrm>
            <a:off x="4970735" y="2996903"/>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34" name="Text Box 32"/>
          <p:cNvSpPr txBox="1">
            <a:spLocks noChangeArrowheads="1"/>
          </p:cNvSpPr>
          <p:nvPr/>
        </p:nvSpPr>
        <p:spPr bwMode="auto">
          <a:xfrm>
            <a:off x="5627960" y="2214265"/>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1</a:t>
            </a:r>
          </a:p>
        </p:txBody>
      </p:sp>
      <p:sp>
        <p:nvSpPr>
          <p:cNvPr id="35" name="Text Box 33"/>
          <p:cNvSpPr txBox="1">
            <a:spLocks noChangeArrowheads="1"/>
          </p:cNvSpPr>
          <p:nvPr/>
        </p:nvSpPr>
        <p:spPr bwMode="auto">
          <a:xfrm>
            <a:off x="6026422" y="2401590"/>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2</a:t>
            </a:r>
          </a:p>
        </p:txBody>
      </p:sp>
      <p:sp>
        <p:nvSpPr>
          <p:cNvPr id="36" name="Text Box 34"/>
          <p:cNvSpPr txBox="1">
            <a:spLocks noChangeArrowheads="1"/>
          </p:cNvSpPr>
          <p:nvPr/>
        </p:nvSpPr>
        <p:spPr bwMode="auto">
          <a:xfrm>
            <a:off x="6028010" y="2958803"/>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3</a:t>
            </a:r>
          </a:p>
        </p:txBody>
      </p:sp>
      <p:sp>
        <p:nvSpPr>
          <p:cNvPr id="37" name="Text Box 35"/>
          <p:cNvSpPr txBox="1">
            <a:spLocks noChangeArrowheads="1"/>
          </p:cNvSpPr>
          <p:nvPr/>
        </p:nvSpPr>
        <p:spPr bwMode="auto">
          <a:xfrm>
            <a:off x="5629547" y="3112790"/>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4</a:t>
            </a:r>
          </a:p>
        </p:txBody>
      </p:sp>
      <p:sp>
        <p:nvSpPr>
          <p:cNvPr id="38" name="Text Box 36"/>
          <p:cNvSpPr txBox="1">
            <a:spLocks noChangeArrowheads="1"/>
          </p:cNvSpPr>
          <p:nvPr/>
        </p:nvSpPr>
        <p:spPr bwMode="auto">
          <a:xfrm>
            <a:off x="5197747" y="2977853"/>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5</a:t>
            </a:r>
          </a:p>
        </p:txBody>
      </p:sp>
      <p:sp>
        <p:nvSpPr>
          <p:cNvPr id="39" name="Text Box 37"/>
          <p:cNvSpPr txBox="1">
            <a:spLocks noChangeArrowheads="1"/>
          </p:cNvSpPr>
          <p:nvPr/>
        </p:nvSpPr>
        <p:spPr bwMode="auto">
          <a:xfrm>
            <a:off x="5197747" y="2420640"/>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6</a:t>
            </a:r>
          </a:p>
        </p:txBody>
      </p:sp>
      <p:grpSp>
        <p:nvGrpSpPr>
          <p:cNvPr id="40" name="Group 41"/>
          <p:cNvGrpSpPr>
            <a:grpSpLocks/>
          </p:cNvGrpSpPr>
          <p:nvPr/>
        </p:nvGrpSpPr>
        <p:grpSpPr bwMode="auto">
          <a:xfrm>
            <a:off x="4313510" y="2571453"/>
            <a:ext cx="719137" cy="336550"/>
            <a:chOff x="2598" y="3143"/>
            <a:chExt cx="453" cy="212"/>
          </a:xfrm>
        </p:grpSpPr>
        <p:sp>
          <p:nvSpPr>
            <p:cNvPr id="41" name="Line 42"/>
            <p:cNvSpPr>
              <a:spLocks noChangeShapeType="1"/>
            </p:cNvSpPr>
            <p:nvPr/>
          </p:nvSpPr>
          <p:spPr bwMode="auto">
            <a:xfrm>
              <a:off x="2789" y="3158"/>
              <a:ext cx="227"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Text Box 43"/>
            <p:cNvSpPr txBox="1">
              <a:spLocks noChangeArrowheads="1"/>
            </p:cNvSpPr>
            <p:nvPr/>
          </p:nvSpPr>
          <p:spPr bwMode="auto">
            <a:xfrm>
              <a:off x="2598" y="3143"/>
              <a:ext cx="4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t>Nextg</a:t>
              </a:r>
            </a:p>
          </p:txBody>
        </p:sp>
      </p:grpSp>
      <p:grpSp>
        <p:nvGrpSpPr>
          <p:cNvPr id="43" name="Group 53"/>
          <p:cNvGrpSpPr>
            <a:grpSpLocks/>
          </p:cNvGrpSpPr>
          <p:nvPr/>
        </p:nvGrpSpPr>
        <p:grpSpPr bwMode="auto">
          <a:xfrm>
            <a:off x="3699147" y="2442865"/>
            <a:ext cx="936625" cy="481013"/>
            <a:chOff x="2653" y="3294"/>
            <a:chExt cx="590" cy="303"/>
          </a:xfrm>
        </p:grpSpPr>
        <p:grpSp>
          <p:nvGrpSpPr>
            <p:cNvPr id="44" name="Group 54"/>
            <p:cNvGrpSpPr>
              <a:grpSpLocks/>
            </p:cNvGrpSpPr>
            <p:nvPr/>
          </p:nvGrpSpPr>
          <p:grpSpPr bwMode="auto">
            <a:xfrm>
              <a:off x="2653" y="3385"/>
              <a:ext cx="453" cy="212"/>
              <a:chOff x="2598" y="3143"/>
              <a:chExt cx="453" cy="212"/>
            </a:xfrm>
          </p:grpSpPr>
          <p:sp>
            <p:nvSpPr>
              <p:cNvPr id="46" name="Line 55"/>
              <p:cNvSpPr>
                <a:spLocks noChangeShapeType="1"/>
              </p:cNvSpPr>
              <p:nvPr/>
            </p:nvSpPr>
            <p:spPr bwMode="auto">
              <a:xfrm>
                <a:off x="2789" y="3158"/>
                <a:ext cx="227"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Text Box 56"/>
              <p:cNvSpPr txBox="1">
                <a:spLocks noChangeArrowheads="1"/>
              </p:cNvSpPr>
              <p:nvPr/>
            </p:nvSpPr>
            <p:spPr bwMode="auto">
              <a:xfrm>
                <a:off x="2598" y="3143"/>
                <a:ext cx="4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t>Nexti</a:t>
                </a:r>
              </a:p>
            </p:txBody>
          </p:sp>
        </p:grpSp>
        <p:sp>
          <p:nvSpPr>
            <p:cNvPr id="45" name="Text Box 57"/>
            <p:cNvSpPr txBox="1">
              <a:spLocks noChangeArrowheads="1"/>
            </p:cNvSpPr>
            <p:nvPr/>
          </p:nvSpPr>
          <p:spPr bwMode="auto">
            <a:xfrm>
              <a:off x="3061" y="3294"/>
              <a:ext cx="1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solidFill>
                    <a:srgbClr val="FF3300"/>
                  </a:solidFill>
                </a:rPr>
                <a:t>?</a:t>
              </a:r>
            </a:p>
          </p:txBody>
        </p:sp>
      </p:grpSp>
      <p:sp>
        <p:nvSpPr>
          <p:cNvPr id="48" name="AutoShape 61"/>
          <p:cNvSpPr>
            <a:spLocks noChangeArrowheads="1"/>
          </p:cNvSpPr>
          <p:nvPr/>
        </p:nvSpPr>
        <p:spPr bwMode="auto">
          <a:xfrm rot="1988586">
            <a:off x="3270522" y="4166890"/>
            <a:ext cx="1100138" cy="287338"/>
          </a:xfrm>
          <a:prstGeom prst="rightArrow">
            <a:avLst>
              <a:gd name="adj1" fmla="val 50000"/>
              <a:gd name="adj2" fmla="val 9571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Oval 130"/>
          <p:cNvSpPr>
            <a:spLocks noChangeArrowheads="1"/>
          </p:cNvSpPr>
          <p:nvPr/>
        </p:nvSpPr>
        <p:spPr bwMode="auto">
          <a:xfrm>
            <a:off x="5050110" y="4365328"/>
            <a:ext cx="1439862" cy="143986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Rectangle 131"/>
          <p:cNvSpPr>
            <a:spLocks noChangeArrowheads="1"/>
          </p:cNvSpPr>
          <p:nvPr/>
        </p:nvSpPr>
        <p:spPr bwMode="auto">
          <a:xfrm>
            <a:off x="5620022" y="4220865"/>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51" name="Rectangle 132"/>
          <p:cNvSpPr>
            <a:spLocks noChangeArrowheads="1"/>
          </p:cNvSpPr>
          <p:nvPr/>
        </p:nvSpPr>
        <p:spPr bwMode="auto">
          <a:xfrm>
            <a:off x="6239147" y="4652665"/>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52" name="Rectangle 133"/>
          <p:cNvSpPr>
            <a:spLocks noChangeArrowheads="1"/>
          </p:cNvSpPr>
          <p:nvPr/>
        </p:nvSpPr>
        <p:spPr bwMode="auto">
          <a:xfrm>
            <a:off x="6245497" y="5228928"/>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53" name="Rectangle 134"/>
          <p:cNvSpPr>
            <a:spLocks noChangeArrowheads="1"/>
          </p:cNvSpPr>
          <p:nvPr/>
        </p:nvSpPr>
        <p:spPr bwMode="auto">
          <a:xfrm>
            <a:off x="5615260" y="5627390"/>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54" name="Rectangle 135"/>
          <p:cNvSpPr>
            <a:spLocks noChangeArrowheads="1"/>
          </p:cNvSpPr>
          <p:nvPr/>
        </p:nvSpPr>
        <p:spPr bwMode="auto">
          <a:xfrm>
            <a:off x="4972322" y="4676478"/>
            <a:ext cx="288925" cy="28892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G</a:t>
            </a:r>
          </a:p>
        </p:txBody>
      </p:sp>
      <p:sp>
        <p:nvSpPr>
          <p:cNvPr id="55" name="Rectangle 136"/>
          <p:cNvSpPr>
            <a:spLocks noChangeArrowheads="1"/>
          </p:cNvSpPr>
          <p:nvPr/>
        </p:nvSpPr>
        <p:spPr bwMode="auto">
          <a:xfrm>
            <a:off x="4967560" y="5228928"/>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sp>
        <p:nvSpPr>
          <p:cNvPr id="56" name="Text Box 137"/>
          <p:cNvSpPr txBox="1">
            <a:spLocks noChangeArrowheads="1"/>
          </p:cNvSpPr>
          <p:nvPr/>
        </p:nvSpPr>
        <p:spPr bwMode="auto">
          <a:xfrm>
            <a:off x="5624785" y="4446290"/>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1</a:t>
            </a:r>
          </a:p>
        </p:txBody>
      </p:sp>
      <p:sp>
        <p:nvSpPr>
          <p:cNvPr id="57" name="Text Box 138"/>
          <p:cNvSpPr txBox="1">
            <a:spLocks noChangeArrowheads="1"/>
          </p:cNvSpPr>
          <p:nvPr/>
        </p:nvSpPr>
        <p:spPr bwMode="auto">
          <a:xfrm>
            <a:off x="6023247" y="4633615"/>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2</a:t>
            </a:r>
          </a:p>
        </p:txBody>
      </p:sp>
      <p:sp>
        <p:nvSpPr>
          <p:cNvPr id="58" name="Text Box 139"/>
          <p:cNvSpPr txBox="1">
            <a:spLocks noChangeArrowheads="1"/>
          </p:cNvSpPr>
          <p:nvPr/>
        </p:nvSpPr>
        <p:spPr bwMode="auto">
          <a:xfrm>
            <a:off x="6024835" y="5190828"/>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3</a:t>
            </a:r>
          </a:p>
        </p:txBody>
      </p:sp>
      <p:sp>
        <p:nvSpPr>
          <p:cNvPr id="59" name="Text Box 140"/>
          <p:cNvSpPr txBox="1">
            <a:spLocks noChangeArrowheads="1"/>
          </p:cNvSpPr>
          <p:nvPr/>
        </p:nvSpPr>
        <p:spPr bwMode="auto">
          <a:xfrm>
            <a:off x="5626372" y="5344815"/>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4</a:t>
            </a:r>
          </a:p>
        </p:txBody>
      </p:sp>
      <p:sp>
        <p:nvSpPr>
          <p:cNvPr id="60" name="Text Box 141"/>
          <p:cNvSpPr txBox="1">
            <a:spLocks noChangeArrowheads="1"/>
          </p:cNvSpPr>
          <p:nvPr/>
        </p:nvSpPr>
        <p:spPr bwMode="auto">
          <a:xfrm>
            <a:off x="5194572" y="5209878"/>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5</a:t>
            </a:r>
          </a:p>
        </p:txBody>
      </p:sp>
      <p:sp>
        <p:nvSpPr>
          <p:cNvPr id="61" name="Text Box 142"/>
          <p:cNvSpPr txBox="1">
            <a:spLocks noChangeArrowheads="1"/>
          </p:cNvSpPr>
          <p:nvPr/>
        </p:nvSpPr>
        <p:spPr bwMode="auto">
          <a:xfrm>
            <a:off x="5194572" y="4652665"/>
            <a:ext cx="288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6</a:t>
            </a:r>
          </a:p>
        </p:txBody>
      </p:sp>
      <p:grpSp>
        <p:nvGrpSpPr>
          <p:cNvPr id="62" name="Group 143"/>
          <p:cNvGrpSpPr>
            <a:grpSpLocks/>
          </p:cNvGrpSpPr>
          <p:nvPr/>
        </p:nvGrpSpPr>
        <p:grpSpPr bwMode="auto">
          <a:xfrm>
            <a:off x="6472510" y="5373390"/>
            <a:ext cx="784225" cy="336550"/>
            <a:chOff x="5196" y="1126"/>
            <a:chExt cx="494" cy="212"/>
          </a:xfrm>
        </p:grpSpPr>
        <p:sp>
          <p:nvSpPr>
            <p:cNvPr id="63" name="Line 144"/>
            <p:cNvSpPr>
              <a:spLocks noChangeShapeType="1"/>
            </p:cNvSpPr>
            <p:nvPr/>
          </p:nvSpPr>
          <p:spPr bwMode="auto">
            <a:xfrm flipH="1">
              <a:off x="5230" y="1129"/>
              <a:ext cx="181"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 name="Text Box 145"/>
            <p:cNvSpPr txBox="1">
              <a:spLocks noChangeArrowheads="1"/>
            </p:cNvSpPr>
            <p:nvPr/>
          </p:nvSpPr>
          <p:spPr bwMode="auto">
            <a:xfrm>
              <a:off x="5196" y="1126"/>
              <a:ext cx="49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Nexti</a:t>
              </a:r>
            </a:p>
          </p:txBody>
        </p:sp>
      </p:grpSp>
      <p:grpSp>
        <p:nvGrpSpPr>
          <p:cNvPr id="65" name="Group 146"/>
          <p:cNvGrpSpPr>
            <a:grpSpLocks/>
          </p:cNvGrpSpPr>
          <p:nvPr/>
        </p:nvGrpSpPr>
        <p:grpSpPr bwMode="auto">
          <a:xfrm>
            <a:off x="4310335" y="4803478"/>
            <a:ext cx="719137" cy="336550"/>
            <a:chOff x="2598" y="3143"/>
            <a:chExt cx="453" cy="212"/>
          </a:xfrm>
        </p:grpSpPr>
        <p:sp>
          <p:nvSpPr>
            <p:cNvPr id="66" name="Line 147"/>
            <p:cNvSpPr>
              <a:spLocks noChangeShapeType="1"/>
            </p:cNvSpPr>
            <p:nvPr/>
          </p:nvSpPr>
          <p:spPr bwMode="auto">
            <a:xfrm>
              <a:off x="2789" y="3158"/>
              <a:ext cx="227"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Text Box 148"/>
            <p:cNvSpPr txBox="1">
              <a:spLocks noChangeArrowheads="1"/>
            </p:cNvSpPr>
            <p:nvPr/>
          </p:nvSpPr>
          <p:spPr bwMode="auto">
            <a:xfrm>
              <a:off x="2598" y="3143"/>
              <a:ext cx="4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t>Nextg</a:t>
              </a:r>
            </a:p>
          </p:txBody>
        </p:sp>
      </p:grpSp>
      <p:sp>
        <p:nvSpPr>
          <p:cNvPr id="68" name="Rectangle 149"/>
          <p:cNvSpPr>
            <a:spLocks noChangeArrowheads="1"/>
          </p:cNvSpPr>
          <p:nvPr/>
        </p:nvSpPr>
        <p:spPr bwMode="auto">
          <a:xfrm>
            <a:off x="4978672" y="4676478"/>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grpSp>
        <p:nvGrpSpPr>
          <p:cNvPr id="69" name="Group 152"/>
          <p:cNvGrpSpPr>
            <a:grpSpLocks/>
          </p:cNvGrpSpPr>
          <p:nvPr/>
        </p:nvGrpSpPr>
        <p:grpSpPr bwMode="auto">
          <a:xfrm>
            <a:off x="5754960" y="3924003"/>
            <a:ext cx="719137" cy="336550"/>
            <a:chOff x="4650" y="799"/>
            <a:chExt cx="453" cy="212"/>
          </a:xfrm>
        </p:grpSpPr>
        <p:sp>
          <p:nvSpPr>
            <p:cNvPr id="70" name="Line 150"/>
            <p:cNvSpPr>
              <a:spLocks noChangeShapeType="1"/>
            </p:cNvSpPr>
            <p:nvPr/>
          </p:nvSpPr>
          <p:spPr bwMode="auto">
            <a:xfrm>
              <a:off x="4656" y="850"/>
              <a:ext cx="0" cy="136"/>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 name="Text Box 151"/>
            <p:cNvSpPr txBox="1">
              <a:spLocks noChangeArrowheads="1"/>
            </p:cNvSpPr>
            <p:nvPr/>
          </p:nvSpPr>
          <p:spPr bwMode="auto">
            <a:xfrm>
              <a:off x="4650" y="799"/>
              <a:ext cx="4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Nextg</a:t>
              </a:r>
            </a:p>
          </p:txBody>
        </p:sp>
      </p:grpSp>
      <p:sp>
        <p:nvSpPr>
          <p:cNvPr id="72" name="Rectangle 153"/>
          <p:cNvSpPr>
            <a:spLocks noChangeArrowheads="1"/>
          </p:cNvSpPr>
          <p:nvPr/>
        </p:nvSpPr>
        <p:spPr bwMode="auto">
          <a:xfrm>
            <a:off x="5620022" y="4220865"/>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grpSp>
        <p:nvGrpSpPr>
          <p:cNvPr id="73" name="Group 156"/>
          <p:cNvGrpSpPr>
            <a:grpSpLocks/>
          </p:cNvGrpSpPr>
          <p:nvPr/>
        </p:nvGrpSpPr>
        <p:grpSpPr bwMode="auto">
          <a:xfrm>
            <a:off x="6467747" y="4805065"/>
            <a:ext cx="719138" cy="336550"/>
            <a:chOff x="5191" y="1468"/>
            <a:chExt cx="453" cy="212"/>
          </a:xfrm>
        </p:grpSpPr>
        <p:sp>
          <p:nvSpPr>
            <p:cNvPr id="74" name="Line 154"/>
            <p:cNvSpPr>
              <a:spLocks noChangeShapeType="1"/>
            </p:cNvSpPr>
            <p:nvPr/>
          </p:nvSpPr>
          <p:spPr bwMode="auto">
            <a:xfrm flipH="1">
              <a:off x="5225" y="1471"/>
              <a:ext cx="181"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 name="Text Box 155"/>
            <p:cNvSpPr txBox="1">
              <a:spLocks noChangeArrowheads="1"/>
            </p:cNvSpPr>
            <p:nvPr/>
          </p:nvSpPr>
          <p:spPr bwMode="auto">
            <a:xfrm>
              <a:off x="5191" y="1468"/>
              <a:ext cx="4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Nextg</a:t>
              </a:r>
            </a:p>
          </p:txBody>
        </p:sp>
      </p:grpSp>
      <p:sp>
        <p:nvSpPr>
          <p:cNvPr id="76" name="Rectangle 157"/>
          <p:cNvSpPr>
            <a:spLocks noChangeArrowheads="1"/>
          </p:cNvSpPr>
          <p:nvPr/>
        </p:nvSpPr>
        <p:spPr bwMode="auto">
          <a:xfrm>
            <a:off x="6235972" y="4652665"/>
            <a:ext cx="288925" cy="2889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600" b="1">
                <a:ea typeface="宋体" panose="02010600030101010101" pitchFamily="2" charset="-122"/>
              </a:rPr>
              <a:t>R</a:t>
            </a:r>
          </a:p>
        </p:txBody>
      </p:sp>
      <p:grpSp>
        <p:nvGrpSpPr>
          <p:cNvPr id="77" name="Group 161"/>
          <p:cNvGrpSpPr>
            <a:grpSpLocks/>
          </p:cNvGrpSpPr>
          <p:nvPr/>
        </p:nvGrpSpPr>
        <p:grpSpPr bwMode="auto">
          <a:xfrm>
            <a:off x="6937647" y="5228928"/>
            <a:ext cx="874713" cy="469900"/>
            <a:chOff x="5093" y="1384"/>
            <a:chExt cx="551" cy="296"/>
          </a:xfrm>
        </p:grpSpPr>
        <p:sp>
          <p:nvSpPr>
            <p:cNvPr id="78" name="Line 158"/>
            <p:cNvSpPr>
              <a:spLocks noChangeShapeType="1"/>
            </p:cNvSpPr>
            <p:nvPr/>
          </p:nvSpPr>
          <p:spPr bwMode="auto">
            <a:xfrm flipH="1">
              <a:off x="5225" y="1471"/>
              <a:ext cx="181"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 name="Text Box 159"/>
            <p:cNvSpPr txBox="1">
              <a:spLocks noChangeArrowheads="1"/>
            </p:cNvSpPr>
            <p:nvPr/>
          </p:nvSpPr>
          <p:spPr bwMode="auto">
            <a:xfrm>
              <a:off x="5191" y="1468"/>
              <a:ext cx="4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Nextg</a:t>
              </a:r>
            </a:p>
          </p:txBody>
        </p:sp>
        <p:sp>
          <p:nvSpPr>
            <p:cNvPr id="80" name="Text Box 160"/>
            <p:cNvSpPr txBox="1">
              <a:spLocks noChangeArrowheads="1"/>
            </p:cNvSpPr>
            <p:nvPr/>
          </p:nvSpPr>
          <p:spPr bwMode="auto">
            <a:xfrm>
              <a:off x="5093" y="1384"/>
              <a:ext cx="22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solidFill>
                    <a:srgbClr val="FF3300"/>
                  </a:solidFill>
                </a:rPr>
                <a:t>?</a:t>
              </a:r>
            </a:p>
          </p:txBody>
        </p:sp>
      </p:grpSp>
      <p:sp>
        <p:nvSpPr>
          <p:cNvPr id="81" name="Content Placeholder 2"/>
          <p:cNvSpPr>
            <a:spLocks noGrp="1"/>
          </p:cNvSpPr>
          <p:nvPr>
            <p:ph idx="1"/>
          </p:nvPr>
        </p:nvSpPr>
        <p:spPr>
          <a:xfrm>
            <a:off x="457200" y="1268760"/>
            <a:ext cx="8229600" cy="5256584"/>
          </a:xfrm>
        </p:spPr>
        <p:txBody>
          <a:bodyPr/>
          <a:lstStyle/>
          <a:p>
            <a:r>
              <a:rPr lang="zh-CN" altLang="en-US" dirty="0"/>
              <a:t>进程同步问题</a:t>
            </a:r>
          </a:p>
        </p:txBody>
      </p:sp>
    </p:spTree>
    <p:extLst>
      <p:ext uri="{BB962C8B-B14F-4D97-AF65-F5344CB8AC3E}">
        <p14:creationId xmlns:p14="http://schemas.microsoft.com/office/powerpoint/2010/main" val="35832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5"/>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68"/>
                                        </p:tgtEl>
                                        <p:attrNameLst>
                                          <p:attrName>style.visibility</p:attrName>
                                        </p:attrNameLst>
                                      </p:cBhvr>
                                      <p:to>
                                        <p:strVal val="visible"/>
                                      </p:to>
                                    </p:set>
                                  </p:childTnLst>
                                </p:cTn>
                              </p:par>
                            </p:childTnLst>
                          </p:cTn>
                        </p:par>
                        <p:par>
                          <p:cTn id="10" fill="hold">
                            <p:stCondLst>
                              <p:cond delay="0"/>
                            </p:stCondLst>
                            <p:childTnLst>
                              <p:par>
                                <p:cTn id="11" presetID="22" presetClass="entr" presetSubtype="1" fill="hold" nodeType="afterEffect">
                                  <p:stCondLst>
                                    <p:cond delay="0"/>
                                  </p:stCondLst>
                                  <p:childTnLst>
                                    <p:set>
                                      <p:cBhvr>
                                        <p:cTn id="12" dur="1" fill="hold">
                                          <p:stCondLst>
                                            <p:cond delay="0"/>
                                          </p:stCondLst>
                                        </p:cTn>
                                        <p:tgtEl>
                                          <p:spTgt spid="69"/>
                                        </p:tgtEl>
                                        <p:attrNameLst>
                                          <p:attrName>style.visibility</p:attrName>
                                        </p:attrNameLst>
                                      </p:cBhvr>
                                      <p:to>
                                        <p:strVal val="visible"/>
                                      </p:to>
                                    </p:set>
                                    <p:animEffect transition="in" filter="wipe(up)">
                                      <p:cBhvr>
                                        <p:cTn id="13" dur="500"/>
                                        <p:tgtEl>
                                          <p:spTgt spid="69"/>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nodeType="clickEffect">
                                  <p:stCondLst>
                                    <p:cond delay="0"/>
                                  </p:stCondLst>
                                  <p:childTnLst>
                                    <p:set>
                                      <p:cBhvr>
                                        <p:cTn id="17" dur="1" fill="hold">
                                          <p:stCondLst>
                                            <p:cond delay="0"/>
                                          </p:stCondLst>
                                        </p:cTn>
                                        <p:tgtEl>
                                          <p:spTgt spid="69"/>
                                        </p:tgtEl>
                                        <p:attrNameLst>
                                          <p:attrName>style.visibility</p:attrName>
                                        </p:attrNameLst>
                                      </p:cBhvr>
                                      <p:to>
                                        <p:strVal val="hidden"/>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72"/>
                                        </p:tgtEl>
                                        <p:attrNameLst>
                                          <p:attrName>style.visibility</p:attrName>
                                        </p:attrNameLst>
                                      </p:cBhvr>
                                      <p:to>
                                        <p:strVal val="visible"/>
                                      </p:to>
                                    </p:set>
                                  </p:childTnLst>
                                </p:cTn>
                              </p:par>
                            </p:childTnLst>
                          </p:cTn>
                        </p:par>
                        <p:par>
                          <p:cTn id="21" fill="hold">
                            <p:stCondLst>
                              <p:cond delay="0"/>
                            </p:stCondLst>
                            <p:childTnLst>
                              <p:par>
                                <p:cTn id="22" presetID="22" presetClass="entr" presetSubtype="2" fill="hold" nodeType="afterEffect">
                                  <p:stCondLst>
                                    <p:cond delay="0"/>
                                  </p:stCondLst>
                                  <p:childTnLst>
                                    <p:set>
                                      <p:cBhvr>
                                        <p:cTn id="23" dur="1" fill="hold">
                                          <p:stCondLst>
                                            <p:cond delay="0"/>
                                          </p:stCondLst>
                                        </p:cTn>
                                        <p:tgtEl>
                                          <p:spTgt spid="73"/>
                                        </p:tgtEl>
                                        <p:attrNameLst>
                                          <p:attrName>style.visibility</p:attrName>
                                        </p:attrNameLst>
                                      </p:cBhvr>
                                      <p:to>
                                        <p:strVal val="visible"/>
                                      </p:to>
                                    </p:set>
                                    <p:animEffect transition="in" filter="wipe(right)">
                                      <p:cBhvr>
                                        <p:cTn id="24" dur="500"/>
                                        <p:tgtEl>
                                          <p:spTgt spid="73"/>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73"/>
                                        </p:tgtEl>
                                        <p:attrNameLst>
                                          <p:attrName>style.visibility</p:attrName>
                                        </p:attrNameLst>
                                      </p:cBhvr>
                                      <p:to>
                                        <p:strVal val="hidden"/>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76"/>
                                        </p:tgtEl>
                                        <p:attrNameLst>
                                          <p:attrName>style.visibility</p:attrName>
                                        </p:attrNameLst>
                                      </p:cBhvr>
                                      <p:to>
                                        <p:strVal val="visible"/>
                                      </p:to>
                                    </p:set>
                                  </p:childTnLst>
                                </p:cTn>
                              </p:par>
                            </p:childTnLst>
                          </p:cTn>
                        </p:par>
                        <p:par>
                          <p:cTn id="32" fill="hold">
                            <p:stCondLst>
                              <p:cond delay="0"/>
                            </p:stCondLst>
                            <p:childTnLst>
                              <p:par>
                                <p:cTn id="33" presetID="22" presetClass="entr" presetSubtype="2" fill="hold" nodeType="afterEffect">
                                  <p:stCondLst>
                                    <p:cond delay="0"/>
                                  </p:stCondLst>
                                  <p:childTnLst>
                                    <p:set>
                                      <p:cBhvr>
                                        <p:cTn id="34" dur="1" fill="hold">
                                          <p:stCondLst>
                                            <p:cond delay="0"/>
                                          </p:stCondLst>
                                        </p:cTn>
                                        <p:tgtEl>
                                          <p:spTgt spid="77"/>
                                        </p:tgtEl>
                                        <p:attrNameLst>
                                          <p:attrName>style.visibility</p:attrName>
                                        </p:attrNameLst>
                                      </p:cBhvr>
                                      <p:to>
                                        <p:strVal val="visible"/>
                                      </p:to>
                                    </p:set>
                                    <p:animEffect transition="in" filter="wipe(right)">
                                      <p:cBhvr>
                                        <p:cTn id="35" dur="500"/>
                                        <p:tgtEl>
                                          <p:spTgt spid="77"/>
                                        </p:tgtEl>
                                      </p:cBhvr>
                                    </p:animEffect>
                                  </p:childTnLst>
                                </p:cTn>
                              </p:par>
                            </p:childTnLst>
                          </p:cTn>
                        </p:par>
                        <p:par>
                          <p:cTn id="36" fill="hold">
                            <p:stCondLst>
                              <p:cond delay="500"/>
                            </p:stCondLst>
                            <p:childTnLst>
                              <p:par>
                                <p:cTn id="37" presetID="26" presetClass="emph" presetSubtype="0" fill="hold" nodeType="afterEffect">
                                  <p:stCondLst>
                                    <p:cond delay="0"/>
                                  </p:stCondLst>
                                  <p:childTnLst>
                                    <p:animEffect transition="out" filter="fade">
                                      <p:cBhvr>
                                        <p:cTn id="38" dur="500" tmFilter="0, 0; .2, .5; .8, .5; 1, 0"/>
                                        <p:tgtEl>
                                          <p:spTgt spid="77"/>
                                        </p:tgtEl>
                                      </p:cBhvr>
                                    </p:animEffect>
                                    <p:animScale>
                                      <p:cBhvr>
                                        <p:cTn id="39" dur="250" autoRev="1" fill="hold"/>
                                        <p:tgtEl>
                                          <p:spTgt spid="7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72" grpId="0" animBg="1"/>
      <p:bldP spid="7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环形缓冲技术</a:t>
            </a:r>
          </a:p>
        </p:txBody>
      </p:sp>
      <p:sp>
        <p:nvSpPr>
          <p:cNvPr id="3" name="Content Placeholder 2"/>
          <p:cNvSpPr>
            <a:spLocks noGrp="1"/>
          </p:cNvSpPr>
          <p:nvPr>
            <p:ph idx="1"/>
          </p:nvPr>
        </p:nvSpPr>
        <p:spPr/>
        <p:txBody>
          <a:bodyPr/>
          <a:lstStyle/>
          <a:p>
            <a:pPr marL="319088" indent="-274638">
              <a:lnSpc>
                <a:spcPct val="110000"/>
              </a:lnSpc>
              <a:spcBef>
                <a:spcPct val="10000"/>
              </a:spcBef>
            </a:pPr>
            <a:r>
              <a:rPr lang="zh-CN" altLang="en-US" dirty="0"/>
              <a:t>使用环形缓冲，可使输入进程与计算进程并发执行，指针</a:t>
            </a:r>
            <a:r>
              <a:rPr lang="en-US" altLang="zh-CN" dirty="0" err="1"/>
              <a:t>Nexti</a:t>
            </a:r>
            <a:r>
              <a:rPr lang="zh-CN" altLang="en-US" dirty="0"/>
              <a:t>和</a:t>
            </a:r>
            <a:r>
              <a:rPr lang="en-US" altLang="zh-CN" dirty="0" err="1"/>
              <a:t>Nextg</a:t>
            </a:r>
            <a:r>
              <a:rPr lang="zh-CN" altLang="en-US" dirty="0"/>
              <a:t>不断沿顺时针方向移动，可能出现：</a:t>
            </a:r>
          </a:p>
          <a:p>
            <a:pPr marL="765175" lvl="1" indent="-266700">
              <a:lnSpc>
                <a:spcPct val="110000"/>
              </a:lnSpc>
              <a:spcBef>
                <a:spcPct val="10000"/>
              </a:spcBef>
            </a:pPr>
            <a:endParaRPr lang="en-US" altLang="zh-CN" dirty="0"/>
          </a:p>
          <a:p>
            <a:pPr marL="765175" lvl="1" indent="-266700">
              <a:lnSpc>
                <a:spcPct val="110000"/>
              </a:lnSpc>
              <a:spcBef>
                <a:spcPct val="10000"/>
              </a:spcBef>
            </a:pPr>
            <a:r>
              <a:rPr lang="en-US" altLang="zh-CN" dirty="0" err="1"/>
              <a:t>Nexti</a:t>
            </a:r>
            <a:r>
              <a:rPr lang="zh-CN" altLang="en-US" dirty="0"/>
              <a:t>追上</a:t>
            </a:r>
            <a:r>
              <a:rPr lang="en-US" altLang="zh-CN" dirty="0" err="1"/>
              <a:t>Nextg</a:t>
            </a:r>
            <a:r>
              <a:rPr lang="zh-CN" altLang="en-US" dirty="0"/>
              <a:t>，输入进程输入数据的速度大于计算进程处理数据的速度，已将全部缓冲区装满（均为</a:t>
            </a:r>
            <a:r>
              <a:rPr lang="en-US" altLang="zh-CN" dirty="0"/>
              <a:t>G</a:t>
            </a:r>
            <a:r>
              <a:rPr lang="zh-CN" altLang="en-US" dirty="0"/>
              <a:t>或</a:t>
            </a:r>
            <a:r>
              <a:rPr lang="en-US" altLang="zh-CN" dirty="0"/>
              <a:t>C</a:t>
            </a:r>
            <a:r>
              <a:rPr lang="zh-CN" altLang="en-US" dirty="0"/>
              <a:t>），输入进程阻塞，直到计算进程使</a:t>
            </a:r>
            <a:r>
              <a:rPr lang="en-US" altLang="zh-CN" dirty="0"/>
              <a:t>R</a:t>
            </a:r>
            <a:r>
              <a:rPr lang="zh-CN" altLang="en-US" dirty="0"/>
              <a:t>出现，并调用</a:t>
            </a:r>
            <a:r>
              <a:rPr lang="en-US" altLang="zh-CN" dirty="0" err="1"/>
              <a:t>Releasebuf</a:t>
            </a:r>
            <a:r>
              <a:rPr lang="zh-CN" altLang="en-US" dirty="0"/>
              <a:t>将其释放，唤醒输入进程；</a:t>
            </a:r>
          </a:p>
          <a:p>
            <a:pPr marL="765175" lvl="1" indent="-266700">
              <a:lnSpc>
                <a:spcPct val="110000"/>
              </a:lnSpc>
              <a:spcBef>
                <a:spcPct val="10000"/>
              </a:spcBef>
            </a:pPr>
            <a:endParaRPr lang="en-US" altLang="zh-CN" dirty="0"/>
          </a:p>
          <a:p>
            <a:pPr marL="765175" lvl="1" indent="-266700">
              <a:lnSpc>
                <a:spcPct val="110000"/>
              </a:lnSpc>
              <a:spcBef>
                <a:spcPct val="10000"/>
              </a:spcBef>
            </a:pPr>
            <a:r>
              <a:rPr lang="en-US" altLang="zh-CN" dirty="0" err="1"/>
              <a:t>Nextg</a:t>
            </a:r>
            <a:r>
              <a:rPr lang="zh-CN" altLang="en-US" dirty="0"/>
              <a:t>追上</a:t>
            </a:r>
            <a:r>
              <a:rPr lang="en-US" altLang="zh-CN" dirty="0" err="1"/>
              <a:t>Nexti</a:t>
            </a:r>
            <a:r>
              <a:rPr lang="zh-CN" altLang="en-US" dirty="0"/>
              <a:t>，计算进程处理数据的速度大于输入进程输入数据的速度，已将全部缓冲区抽空（均为</a:t>
            </a:r>
            <a:r>
              <a:rPr lang="en-US" altLang="zh-CN" dirty="0"/>
              <a:t>R</a:t>
            </a:r>
            <a:r>
              <a:rPr lang="zh-CN" altLang="en-US" dirty="0"/>
              <a:t>），计算进程阻塞，直到输入进程使</a:t>
            </a:r>
            <a:r>
              <a:rPr lang="en-US" altLang="zh-CN" dirty="0"/>
              <a:t>G</a:t>
            </a:r>
            <a:r>
              <a:rPr lang="zh-CN" altLang="en-US" dirty="0"/>
              <a:t>出现，并调用</a:t>
            </a:r>
            <a:r>
              <a:rPr lang="en-US" altLang="zh-CN" dirty="0" err="1"/>
              <a:t>Releasebuf</a:t>
            </a:r>
            <a:r>
              <a:rPr lang="zh-CN" altLang="en-US" dirty="0"/>
              <a:t>将其释放，唤醒计算进程</a:t>
            </a:r>
          </a:p>
        </p:txBody>
      </p:sp>
      <p:sp>
        <p:nvSpPr>
          <p:cNvPr id="4" name="Date Placeholder 3"/>
          <p:cNvSpPr>
            <a:spLocks noGrp="1"/>
          </p:cNvSpPr>
          <p:nvPr>
            <p:ph type="dt" sz="half" idx="10"/>
          </p:nvPr>
        </p:nvSpPr>
        <p:spPr/>
        <p:txBody>
          <a:bodyPr/>
          <a:lstStyle/>
          <a:p>
            <a:fld id="{3A4DF4FF-5E8F-444F-85C5-0481C89DB805}"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47</a:t>
            </a:fld>
            <a:endParaRPr lang="zh-CN" altLang="en-US" dirty="0"/>
          </a:p>
        </p:txBody>
      </p:sp>
    </p:spTree>
    <p:extLst>
      <p:ext uri="{BB962C8B-B14F-4D97-AF65-F5344CB8AC3E}">
        <p14:creationId xmlns:p14="http://schemas.microsoft.com/office/powerpoint/2010/main" val="32303525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缓冲池技术</a:t>
            </a:r>
          </a:p>
        </p:txBody>
      </p:sp>
      <p:sp>
        <p:nvSpPr>
          <p:cNvPr id="3" name="Content Placeholder 2"/>
          <p:cNvSpPr>
            <a:spLocks noGrp="1"/>
          </p:cNvSpPr>
          <p:nvPr>
            <p:ph idx="1"/>
          </p:nvPr>
        </p:nvSpPr>
        <p:spPr/>
        <p:txBody>
          <a:bodyPr/>
          <a:lstStyle/>
          <a:p>
            <a:r>
              <a:rPr lang="zh-CN" altLang="en-US" dirty="0"/>
              <a:t>三种缓冲区队列</a:t>
            </a:r>
            <a:endParaRPr lang="en-US" altLang="zh-CN" dirty="0"/>
          </a:p>
          <a:p>
            <a:pPr marL="765175" lvl="1" indent="-266700">
              <a:lnSpc>
                <a:spcPct val="110000"/>
              </a:lnSpc>
              <a:spcBef>
                <a:spcPct val="10000"/>
              </a:spcBef>
            </a:pPr>
            <a:r>
              <a:rPr lang="zh-CN" altLang="en-US" dirty="0"/>
              <a:t>空闲缓冲区</a:t>
            </a:r>
            <a:r>
              <a:rPr lang="en-US" altLang="zh-CN" dirty="0" err="1"/>
              <a:t>emq</a:t>
            </a:r>
            <a:endParaRPr lang="zh-CN" altLang="en-US" dirty="0"/>
          </a:p>
          <a:p>
            <a:pPr marL="765175" lvl="1" indent="-266700">
              <a:lnSpc>
                <a:spcPct val="110000"/>
              </a:lnSpc>
              <a:spcBef>
                <a:spcPct val="10000"/>
              </a:spcBef>
            </a:pPr>
            <a:r>
              <a:rPr lang="zh-CN" altLang="en-US" dirty="0"/>
              <a:t>装满输入数据的缓冲区</a:t>
            </a:r>
            <a:r>
              <a:rPr lang="en-US" altLang="zh-CN" dirty="0" err="1"/>
              <a:t>inq</a:t>
            </a:r>
            <a:endParaRPr lang="zh-CN" altLang="en-US" dirty="0"/>
          </a:p>
          <a:p>
            <a:pPr marL="765175" lvl="1" indent="-266700">
              <a:lnSpc>
                <a:spcPct val="110000"/>
              </a:lnSpc>
              <a:spcBef>
                <a:spcPct val="10000"/>
              </a:spcBef>
            </a:pPr>
            <a:r>
              <a:rPr lang="zh-CN" altLang="en-US" dirty="0"/>
              <a:t>装满输出数据的缓冲区</a:t>
            </a:r>
            <a:r>
              <a:rPr lang="en-US" altLang="zh-CN" dirty="0" err="1"/>
              <a:t>outq</a:t>
            </a:r>
            <a:endParaRPr lang="zh-CN" altLang="en-US" dirty="0"/>
          </a:p>
          <a:p>
            <a:pPr lvl="1"/>
            <a:endParaRPr lang="zh-CN" altLang="en-US" dirty="0"/>
          </a:p>
        </p:txBody>
      </p:sp>
      <p:sp>
        <p:nvSpPr>
          <p:cNvPr id="4" name="Date Placeholder 3"/>
          <p:cNvSpPr>
            <a:spLocks noGrp="1"/>
          </p:cNvSpPr>
          <p:nvPr>
            <p:ph type="dt" sz="half" idx="10"/>
          </p:nvPr>
        </p:nvSpPr>
        <p:spPr/>
        <p:txBody>
          <a:bodyPr/>
          <a:lstStyle/>
          <a:p>
            <a:fld id="{C65FAB37-0969-4D03-A211-AACD10DB89C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48</a:t>
            </a:fld>
            <a:endParaRPr lang="zh-CN" altLang="en-US" dirty="0"/>
          </a:p>
        </p:txBody>
      </p:sp>
      <p:grpSp>
        <p:nvGrpSpPr>
          <p:cNvPr id="7" name="Group 172"/>
          <p:cNvGrpSpPr>
            <a:grpSpLocks/>
          </p:cNvGrpSpPr>
          <p:nvPr/>
        </p:nvGrpSpPr>
        <p:grpSpPr bwMode="auto">
          <a:xfrm>
            <a:off x="2123728" y="3717032"/>
            <a:ext cx="4608512" cy="1511300"/>
            <a:chOff x="1746" y="3319"/>
            <a:chExt cx="2056" cy="649"/>
          </a:xfrm>
        </p:grpSpPr>
        <p:grpSp>
          <p:nvGrpSpPr>
            <p:cNvPr id="8" name="Group 120"/>
            <p:cNvGrpSpPr>
              <a:grpSpLocks/>
            </p:cNvGrpSpPr>
            <p:nvPr/>
          </p:nvGrpSpPr>
          <p:grpSpPr bwMode="auto">
            <a:xfrm>
              <a:off x="2086" y="3378"/>
              <a:ext cx="272" cy="136"/>
              <a:chOff x="2336" y="2659"/>
              <a:chExt cx="272" cy="136"/>
            </a:xfrm>
          </p:grpSpPr>
          <p:sp>
            <p:nvSpPr>
              <p:cNvPr id="58" name="Rectangle 121"/>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122"/>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 name="Line 123"/>
            <p:cNvSpPr>
              <a:spLocks noChangeShapeType="1"/>
            </p:cNvSpPr>
            <p:nvPr/>
          </p:nvSpPr>
          <p:spPr bwMode="auto">
            <a:xfrm>
              <a:off x="2312" y="3444"/>
              <a:ext cx="13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 name="Group 124"/>
            <p:cNvGrpSpPr>
              <a:grpSpLocks/>
            </p:cNvGrpSpPr>
            <p:nvPr/>
          </p:nvGrpSpPr>
          <p:grpSpPr bwMode="auto">
            <a:xfrm>
              <a:off x="2449" y="3378"/>
              <a:ext cx="272" cy="136"/>
              <a:chOff x="2336" y="2659"/>
              <a:chExt cx="272" cy="136"/>
            </a:xfrm>
          </p:grpSpPr>
          <p:sp>
            <p:nvSpPr>
              <p:cNvPr id="56" name="Rectangle 125"/>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126"/>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 name="Line 127"/>
            <p:cNvSpPr>
              <a:spLocks noChangeShapeType="1"/>
            </p:cNvSpPr>
            <p:nvPr/>
          </p:nvSpPr>
          <p:spPr bwMode="auto">
            <a:xfrm>
              <a:off x="2675" y="3444"/>
              <a:ext cx="13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2" name="Group 128"/>
            <p:cNvGrpSpPr>
              <a:grpSpLocks/>
            </p:cNvGrpSpPr>
            <p:nvPr/>
          </p:nvGrpSpPr>
          <p:grpSpPr bwMode="auto">
            <a:xfrm>
              <a:off x="2812" y="3378"/>
              <a:ext cx="272" cy="136"/>
              <a:chOff x="2336" y="2659"/>
              <a:chExt cx="272" cy="136"/>
            </a:xfrm>
          </p:grpSpPr>
          <p:sp>
            <p:nvSpPr>
              <p:cNvPr id="54" name="Rectangle 129"/>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130"/>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 name="Line 131"/>
            <p:cNvSpPr>
              <a:spLocks noChangeShapeType="1"/>
            </p:cNvSpPr>
            <p:nvPr/>
          </p:nvSpPr>
          <p:spPr bwMode="auto">
            <a:xfrm>
              <a:off x="3038" y="3444"/>
              <a:ext cx="13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4" name="Group 132"/>
            <p:cNvGrpSpPr>
              <a:grpSpLocks/>
            </p:cNvGrpSpPr>
            <p:nvPr/>
          </p:nvGrpSpPr>
          <p:grpSpPr bwMode="auto">
            <a:xfrm>
              <a:off x="3175" y="3378"/>
              <a:ext cx="272" cy="136"/>
              <a:chOff x="2336" y="2659"/>
              <a:chExt cx="272" cy="136"/>
            </a:xfrm>
          </p:grpSpPr>
          <p:sp>
            <p:nvSpPr>
              <p:cNvPr id="52" name="Rectangle 133"/>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134"/>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 name="Line 135"/>
            <p:cNvSpPr>
              <a:spLocks noChangeShapeType="1"/>
            </p:cNvSpPr>
            <p:nvPr/>
          </p:nvSpPr>
          <p:spPr bwMode="auto">
            <a:xfrm>
              <a:off x="3393" y="3444"/>
              <a:ext cx="13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6" name="Group 136"/>
            <p:cNvGrpSpPr>
              <a:grpSpLocks/>
            </p:cNvGrpSpPr>
            <p:nvPr/>
          </p:nvGrpSpPr>
          <p:grpSpPr bwMode="auto">
            <a:xfrm>
              <a:off x="3530" y="3378"/>
              <a:ext cx="272" cy="136"/>
              <a:chOff x="2336" y="2659"/>
              <a:chExt cx="272" cy="136"/>
            </a:xfrm>
          </p:grpSpPr>
          <p:sp>
            <p:nvSpPr>
              <p:cNvPr id="50" name="Rectangle 137"/>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138"/>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 name="Group 139"/>
            <p:cNvGrpSpPr>
              <a:grpSpLocks/>
            </p:cNvGrpSpPr>
            <p:nvPr/>
          </p:nvGrpSpPr>
          <p:grpSpPr bwMode="auto">
            <a:xfrm>
              <a:off x="2086" y="3612"/>
              <a:ext cx="272" cy="136"/>
              <a:chOff x="2336" y="2659"/>
              <a:chExt cx="272" cy="136"/>
            </a:xfrm>
          </p:grpSpPr>
          <p:sp>
            <p:nvSpPr>
              <p:cNvPr id="48" name="Rectangle 140"/>
              <p:cNvSpPr>
                <a:spLocks noChangeArrowheads="1"/>
              </p:cNvSpPr>
              <p:nvPr/>
            </p:nvSpPr>
            <p:spPr bwMode="auto">
              <a:xfrm>
                <a:off x="2336" y="2659"/>
                <a:ext cx="272" cy="1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141"/>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8" name="Line 142"/>
            <p:cNvSpPr>
              <a:spLocks noChangeShapeType="1"/>
            </p:cNvSpPr>
            <p:nvPr/>
          </p:nvSpPr>
          <p:spPr bwMode="auto">
            <a:xfrm>
              <a:off x="2312" y="3678"/>
              <a:ext cx="13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9" name="Group 143"/>
            <p:cNvGrpSpPr>
              <a:grpSpLocks/>
            </p:cNvGrpSpPr>
            <p:nvPr/>
          </p:nvGrpSpPr>
          <p:grpSpPr bwMode="auto">
            <a:xfrm>
              <a:off x="2449" y="3612"/>
              <a:ext cx="272" cy="136"/>
              <a:chOff x="2336" y="2659"/>
              <a:chExt cx="272" cy="136"/>
            </a:xfrm>
          </p:grpSpPr>
          <p:sp>
            <p:nvSpPr>
              <p:cNvPr id="46" name="Rectangle 144"/>
              <p:cNvSpPr>
                <a:spLocks noChangeArrowheads="1"/>
              </p:cNvSpPr>
              <p:nvPr/>
            </p:nvSpPr>
            <p:spPr bwMode="auto">
              <a:xfrm>
                <a:off x="2336" y="2659"/>
                <a:ext cx="272" cy="1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145"/>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 name="Line 146"/>
            <p:cNvSpPr>
              <a:spLocks noChangeShapeType="1"/>
            </p:cNvSpPr>
            <p:nvPr/>
          </p:nvSpPr>
          <p:spPr bwMode="auto">
            <a:xfrm>
              <a:off x="2675" y="3678"/>
              <a:ext cx="13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1" name="Group 147"/>
            <p:cNvGrpSpPr>
              <a:grpSpLocks/>
            </p:cNvGrpSpPr>
            <p:nvPr/>
          </p:nvGrpSpPr>
          <p:grpSpPr bwMode="auto">
            <a:xfrm>
              <a:off x="2812" y="3612"/>
              <a:ext cx="272" cy="136"/>
              <a:chOff x="2336" y="2659"/>
              <a:chExt cx="272" cy="136"/>
            </a:xfrm>
          </p:grpSpPr>
          <p:sp>
            <p:nvSpPr>
              <p:cNvPr id="44" name="Rectangle 148"/>
              <p:cNvSpPr>
                <a:spLocks noChangeArrowheads="1"/>
              </p:cNvSpPr>
              <p:nvPr/>
            </p:nvSpPr>
            <p:spPr bwMode="auto">
              <a:xfrm>
                <a:off x="2336" y="2659"/>
                <a:ext cx="272" cy="1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149"/>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2" name="Group 150"/>
            <p:cNvGrpSpPr>
              <a:grpSpLocks/>
            </p:cNvGrpSpPr>
            <p:nvPr/>
          </p:nvGrpSpPr>
          <p:grpSpPr bwMode="auto">
            <a:xfrm>
              <a:off x="2086" y="3832"/>
              <a:ext cx="272" cy="136"/>
              <a:chOff x="2336" y="2659"/>
              <a:chExt cx="272" cy="136"/>
            </a:xfrm>
          </p:grpSpPr>
          <p:sp>
            <p:nvSpPr>
              <p:cNvPr id="42" name="Rectangle 151"/>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152"/>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3" name="Line 153"/>
            <p:cNvSpPr>
              <a:spLocks noChangeShapeType="1"/>
            </p:cNvSpPr>
            <p:nvPr/>
          </p:nvSpPr>
          <p:spPr bwMode="auto">
            <a:xfrm>
              <a:off x="2312" y="3898"/>
              <a:ext cx="13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4" name="Group 154"/>
            <p:cNvGrpSpPr>
              <a:grpSpLocks/>
            </p:cNvGrpSpPr>
            <p:nvPr/>
          </p:nvGrpSpPr>
          <p:grpSpPr bwMode="auto">
            <a:xfrm>
              <a:off x="2449" y="3832"/>
              <a:ext cx="272" cy="136"/>
              <a:chOff x="2336" y="2659"/>
              <a:chExt cx="272" cy="136"/>
            </a:xfrm>
          </p:grpSpPr>
          <p:sp>
            <p:nvSpPr>
              <p:cNvPr id="40" name="Rectangle 155"/>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156"/>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5" name="Line 157"/>
            <p:cNvSpPr>
              <a:spLocks noChangeShapeType="1"/>
            </p:cNvSpPr>
            <p:nvPr/>
          </p:nvSpPr>
          <p:spPr bwMode="auto">
            <a:xfrm>
              <a:off x="2675" y="3898"/>
              <a:ext cx="13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6" name="Group 158"/>
            <p:cNvGrpSpPr>
              <a:grpSpLocks/>
            </p:cNvGrpSpPr>
            <p:nvPr/>
          </p:nvGrpSpPr>
          <p:grpSpPr bwMode="auto">
            <a:xfrm>
              <a:off x="2812" y="3832"/>
              <a:ext cx="272" cy="136"/>
              <a:chOff x="2336" y="2659"/>
              <a:chExt cx="272" cy="136"/>
            </a:xfrm>
          </p:grpSpPr>
          <p:sp>
            <p:nvSpPr>
              <p:cNvPr id="38" name="Rectangle 159"/>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160"/>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7" name="Line 161"/>
            <p:cNvSpPr>
              <a:spLocks noChangeShapeType="1"/>
            </p:cNvSpPr>
            <p:nvPr/>
          </p:nvSpPr>
          <p:spPr bwMode="auto">
            <a:xfrm>
              <a:off x="3038" y="3898"/>
              <a:ext cx="13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Text Box 162"/>
            <p:cNvSpPr txBox="1">
              <a:spLocks noChangeArrowheads="1"/>
            </p:cNvSpPr>
            <p:nvPr/>
          </p:nvSpPr>
          <p:spPr bwMode="auto">
            <a:xfrm>
              <a:off x="1768" y="3319"/>
              <a:ext cx="363" cy="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2000" b="1">
                  <a:ea typeface="宋体" panose="02010600030101010101" pitchFamily="2" charset="-122"/>
                </a:rPr>
                <a:t>emq</a:t>
              </a:r>
            </a:p>
          </p:txBody>
        </p:sp>
        <p:sp>
          <p:nvSpPr>
            <p:cNvPr id="29" name="Text Box 163"/>
            <p:cNvSpPr txBox="1">
              <a:spLocks noChangeArrowheads="1"/>
            </p:cNvSpPr>
            <p:nvPr/>
          </p:nvSpPr>
          <p:spPr bwMode="auto">
            <a:xfrm>
              <a:off x="1817" y="3546"/>
              <a:ext cx="363" cy="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2000" b="1">
                  <a:ea typeface="宋体" panose="02010600030101010101" pitchFamily="2" charset="-122"/>
                </a:rPr>
                <a:t>inq</a:t>
              </a:r>
            </a:p>
          </p:txBody>
        </p:sp>
        <p:sp>
          <p:nvSpPr>
            <p:cNvPr id="30" name="Text Box 164"/>
            <p:cNvSpPr txBox="1">
              <a:spLocks noChangeArrowheads="1"/>
            </p:cNvSpPr>
            <p:nvPr/>
          </p:nvSpPr>
          <p:spPr bwMode="auto">
            <a:xfrm>
              <a:off x="1746" y="3762"/>
              <a:ext cx="409" cy="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2000" b="1">
                  <a:ea typeface="宋体" panose="02010600030101010101" pitchFamily="2" charset="-122"/>
                </a:rPr>
                <a:t>outq</a:t>
              </a:r>
            </a:p>
          </p:txBody>
        </p:sp>
        <p:sp>
          <p:nvSpPr>
            <p:cNvPr id="31" name="AutoShape 165"/>
            <p:cNvSpPr>
              <a:spLocks noChangeArrowheads="1"/>
            </p:cNvSpPr>
            <p:nvPr/>
          </p:nvSpPr>
          <p:spPr bwMode="auto">
            <a:xfrm>
              <a:off x="3733" y="3416"/>
              <a:ext cx="45" cy="45"/>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AutoShape 166"/>
            <p:cNvSpPr>
              <a:spLocks noChangeArrowheads="1"/>
            </p:cNvSpPr>
            <p:nvPr/>
          </p:nvSpPr>
          <p:spPr bwMode="auto">
            <a:xfrm>
              <a:off x="3010" y="3650"/>
              <a:ext cx="45" cy="45"/>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3" name="Group 167"/>
            <p:cNvGrpSpPr>
              <a:grpSpLocks/>
            </p:cNvGrpSpPr>
            <p:nvPr/>
          </p:nvGrpSpPr>
          <p:grpSpPr bwMode="auto">
            <a:xfrm>
              <a:off x="3175" y="3832"/>
              <a:ext cx="272" cy="136"/>
              <a:chOff x="3425" y="3113"/>
              <a:chExt cx="272" cy="136"/>
            </a:xfrm>
          </p:grpSpPr>
          <p:grpSp>
            <p:nvGrpSpPr>
              <p:cNvPr id="34" name="Group 168"/>
              <p:cNvGrpSpPr>
                <a:grpSpLocks/>
              </p:cNvGrpSpPr>
              <p:nvPr/>
            </p:nvGrpSpPr>
            <p:grpSpPr bwMode="auto">
              <a:xfrm>
                <a:off x="3425" y="3113"/>
                <a:ext cx="272" cy="136"/>
                <a:chOff x="2336" y="2659"/>
                <a:chExt cx="272" cy="136"/>
              </a:xfrm>
            </p:grpSpPr>
            <p:sp>
              <p:nvSpPr>
                <p:cNvPr id="36" name="Rectangle 169"/>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170"/>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5" name="AutoShape 171"/>
              <p:cNvSpPr>
                <a:spLocks noChangeArrowheads="1"/>
              </p:cNvSpPr>
              <p:nvPr/>
            </p:nvSpPr>
            <p:spPr bwMode="auto">
              <a:xfrm>
                <a:off x="3630" y="3151"/>
                <a:ext cx="45" cy="45"/>
              </a:xfrm>
              <a:prstGeom prst="triangle">
                <a:avLst>
                  <a:gd name="adj" fmla="val 50000"/>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extLst>
      <p:ext uri="{BB962C8B-B14F-4D97-AF65-F5344CB8AC3E}">
        <p14:creationId xmlns:p14="http://schemas.microsoft.com/office/powerpoint/2010/main" val="9833903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缓冲池技术</a:t>
            </a:r>
          </a:p>
        </p:txBody>
      </p:sp>
      <p:sp>
        <p:nvSpPr>
          <p:cNvPr id="3" name="Content Placeholder 2"/>
          <p:cNvSpPr>
            <a:spLocks noGrp="1"/>
          </p:cNvSpPr>
          <p:nvPr>
            <p:ph idx="1"/>
          </p:nvPr>
        </p:nvSpPr>
        <p:spPr/>
        <p:txBody>
          <a:bodyPr/>
          <a:lstStyle/>
          <a:p>
            <a:r>
              <a:rPr lang="zh-CN" altLang="en-US" dirty="0"/>
              <a:t>四个工作缓冲区</a:t>
            </a:r>
            <a:endParaRPr lang="en-US" altLang="zh-CN" dirty="0"/>
          </a:p>
          <a:p>
            <a:pPr lvl="1"/>
            <a:r>
              <a:rPr lang="zh-CN" altLang="en-US" dirty="0"/>
              <a:t>收容输入数据</a:t>
            </a:r>
            <a:r>
              <a:rPr lang="en-US" altLang="zh-CN" dirty="0" err="1"/>
              <a:t>hin</a:t>
            </a:r>
            <a:endParaRPr lang="en-US" altLang="zh-CN" dirty="0"/>
          </a:p>
          <a:p>
            <a:pPr lvl="1"/>
            <a:r>
              <a:rPr lang="zh-CN" altLang="en-US" dirty="0"/>
              <a:t>提取输入数据</a:t>
            </a:r>
            <a:r>
              <a:rPr lang="en-US" altLang="zh-CN" dirty="0"/>
              <a:t>sin</a:t>
            </a:r>
          </a:p>
          <a:p>
            <a:pPr lvl="1"/>
            <a:r>
              <a:rPr lang="zh-CN" altLang="en-US" dirty="0"/>
              <a:t>收容输出数据</a:t>
            </a:r>
            <a:r>
              <a:rPr lang="en-US" altLang="zh-CN" dirty="0" err="1"/>
              <a:t>hout</a:t>
            </a:r>
            <a:endParaRPr lang="en-US" altLang="zh-CN" dirty="0"/>
          </a:p>
          <a:p>
            <a:pPr lvl="1"/>
            <a:r>
              <a:rPr lang="zh-CN" altLang="en-US" dirty="0"/>
              <a:t>提取输出数据</a:t>
            </a:r>
            <a:r>
              <a:rPr lang="en-US" altLang="zh-CN" dirty="0" err="1"/>
              <a:t>sout</a:t>
            </a:r>
            <a:endParaRPr lang="en-US" altLang="zh-CN" dirty="0"/>
          </a:p>
          <a:p>
            <a:pPr lvl="1"/>
            <a:endParaRPr lang="zh-CN" altLang="en-US" dirty="0"/>
          </a:p>
        </p:txBody>
      </p:sp>
      <p:sp>
        <p:nvSpPr>
          <p:cNvPr id="4" name="Date Placeholder 3"/>
          <p:cNvSpPr>
            <a:spLocks noGrp="1"/>
          </p:cNvSpPr>
          <p:nvPr>
            <p:ph type="dt" sz="half" idx="10"/>
          </p:nvPr>
        </p:nvSpPr>
        <p:spPr/>
        <p:txBody>
          <a:bodyPr/>
          <a:lstStyle/>
          <a:p>
            <a:fld id="{55913571-999E-4C5C-A058-F1BE9B7A83E2}"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49</a:t>
            </a:fld>
            <a:endParaRPr lang="zh-CN" altLang="en-US" dirty="0"/>
          </a:p>
        </p:txBody>
      </p:sp>
      <p:grpSp>
        <p:nvGrpSpPr>
          <p:cNvPr id="7" name="Group 94"/>
          <p:cNvGrpSpPr>
            <a:grpSpLocks/>
          </p:cNvGrpSpPr>
          <p:nvPr/>
        </p:nvGrpSpPr>
        <p:grpSpPr bwMode="auto">
          <a:xfrm>
            <a:off x="1331640" y="4077072"/>
            <a:ext cx="6611937" cy="1684338"/>
            <a:chOff x="875" y="2741"/>
            <a:chExt cx="4165" cy="1061"/>
          </a:xfrm>
        </p:grpSpPr>
        <p:sp>
          <p:nvSpPr>
            <p:cNvPr id="8" name="AutoShape 58"/>
            <p:cNvSpPr>
              <a:spLocks noChangeArrowheads="1"/>
            </p:cNvSpPr>
            <p:nvPr/>
          </p:nvSpPr>
          <p:spPr bwMode="auto">
            <a:xfrm>
              <a:off x="3894" y="2741"/>
              <a:ext cx="1146" cy="977"/>
            </a:xfrm>
            <a:prstGeom prst="irregularSeal2">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2000" b="1">
                  <a:ea typeface="楷体" panose="02010609060101010101" pitchFamily="49" charset="-122"/>
                </a:rPr>
                <a:t>应用进程</a:t>
              </a:r>
            </a:p>
          </p:txBody>
        </p:sp>
        <p:grpSp>
          <p:nvGrpSpPr>
            <p:cNvPr id="9" name="Group 59"/>
            <p:cNvGrpSpPr>
              <a:grpSpLocks/>
            </p:cNvGrpSpPr>
            <p:nvPr/>
          </p:nvGrpSpPr>
          <p:grpSpPr bwMode="auto">
            <a:xfrm>
              <a:off x="2287" y="2935"/>
              <a:ext cx="299" cy="196"/>
              <a:chOff x="3425" y="3113"/>
              <a:chExt cx="272" cy="136"/>
            </a:xfrm>
          </p:grpSpPr>
          <p:grpSp>
            <p:nvGrpSpPr>
              <p:cNvPr id="39" name="Group 60"/>
              <p:cNvGrpSpPr>
                <a:grpSpLocks/>
              </p:cNvGrpSpPr>
              <p:nvPr/>
            </p:nvGrpSpPr>
            <p:grpSpPr bwMode="auto">
              <a:xfrm>
                <a:off x="3425" y="3113"/>
                <a:ext cx="272" cy="136"/>
                <a:chOff x="2336" y="2659"/>
                <a:chExt cx="272" cy="136"/>
              </a:xfrm>
            </p:grpSpPr>
            <p:sp>
              <p:nvSpPr>
                <p:cNvPr id="41" name="Rectangle 61"/>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42" name="Line 62"/>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40" name="AutoShape 63"/>
              <p:cNvSpPr>
                <a:spLocks noChangeArrowheads="1"/>
              </p:cNvSpPr>
              <p:nvPr/>
            </p:nvSpPr>
            <p:spPr bwMode="auto">
              <a:xfrm>
                <a:off x="3630" y="3151"/>
                <a:ext cx="45" cy="45"/>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grpSp>
          <p:nvGrpSpPr>
            <p:cNvPr id="10" name="Group 64"/>
            <p:cNvGrpSpPr>
              <a:grpSpLocks/>
            </p:cNvGrpSpPr>
            <p:nvPr/>
          </p:nvGrpSpPr>
          <p:grpSpPr bwMode="auto">
            <a:xfrm>
              <a:off x="2691" y="2937"/>
              <a:ext cx="299" cy="195"/>
              <a:chOff x="3425" y="3113"/>
              <a:chExt cx="272" cy="136"/>
            </a:xfrm>
          </p:grpSpPr>
          <p:grpSp>
            <p:nvGrpSpPr>
              <p:cNvPr id="35" name="Group 65"/>
              <p:cNvGrpSpPr>
                <a:grpSpLocks/>
              </p:cNvGrpSpPr>
              <p:nvPr/>
            </p:nvGrpSpPr>
            <p:grpSpPr bwMode="auto">
              <a:xfrm>
                <a:off x="3425" y="3113"/>
                <a:ext cx="272" cy="136"/>
                <a:chOff x="2336" y="2659"/>
                <a:chExt cx="272" cy="136"/>
              </a:xfrm>
            </p:grpSpPr>
            <p:sp>
              <p:nvSpPr>
                <p:cNvPr id="37" name="Rectangle 66"/>
                <p:cNvSpPr>
                  <a:spLocks noChangeArrowheads="1"/>
                </p:cNvSpPr>
                <p:nvPr/>
              </p:nvSpPr>
              <p:spPr bwMode="auto">
                <a:xfrm>
                  <a:off x="2336" y="2659"/>
                  <a:ext cx="272" cy="1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8" name="Line 67"/>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36" name="AutoShape 68"/>
              <p:cNvSpPr>
                <a:spLocks noChangeArrowheads="1"/>
              </p:cNvSpPr>
              <p:nvPr/>
            </p:nvSpPr>
            <p:spPr bwMode="auto">
              <a:xfrm>
                <a:off x="3630" y="3151"/>
                <a:ext cx="45" cy="45"/>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grpSp>
          <p:nvGrpSpPr>
            <p:cNvPr id="11" name="Group 69"/>
            <p:cNvGrpSpPr>
              <a:grpSpLocks/>
            </p:cNvGrpSpPr>
            <p:nvPr/>
          </p:nvGrpSpPr>
          <p:grpSpPr bwMode="auto">
            <a:xfrm>
              <a:off x="2292" y="3401"/>
              <a:ext cx="299" cy="195"/>
              <a:chOff x="3425" y="3113"/>
              <a:chExt cx="272" cy="136"/>
            </a:xfrm>
          </p:grpSpPr>
          <p:grpSp>
            <p:nvGrpSpPr>
              <p:cNvPr id="31" name="Group 70"/>
              <p:cNvGrpSpPr>
                <a:grpSpLocks/>
              </p:cNvGrpSpPr>
              <p:nvPr/>
            </p:nvGrpSpPr>
            <p:grpSpPr bwMode="auto">
              <a:xfrm>
                <a:off x="3425" y="3113"/>
                <a:ext cx="272" cy="136"/>
                <a:chOff x="2336" y="2659"/>
                <a:chExt cx="272" cy="136"/>
              </a:xfrm>
            </p:grpSpPr>
            <p:sp>
              <p:nvSpPr>
                <p:cNvPr id="33" name="Rectangle 71"/>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4" name="Line 72"/>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32" name="AutoShape 73"/>
              <p:cNvSpPr>
                <a:spLocks noChangeArrowheads="1"/>
              </p:cNvSpPr>
              <p:nvPr/>
            </p:nvSpPr>
            <p:spPr bwMode="auto">
              <a:xfrm>
                <a:off x="3630" y="3151"/>
                <a:ext cx="45" cy="45"/>
              </a:xfrm>
              <a:prstGeom prst="triangle">
                <a:avLst>
                  <a:gd name="adj" fmla="val 50000"/>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grpSp>
          <p:nvGrpSpPr>
            <p:cNvPr id="12" name="Group 74"/>
            <p:cNvGrpSpPr>
              <a:grpSpLocks/>
            </p:cNvGrpSpPr>
            <p:nvPr/>
          </p:nvGrpSpPr>
          <p:grpSpPr bwMode="auto">
            <a:xfrm>
              <a:off x="2695" y="3402"/>
              <a:ext cx="299" cy="196"/>
              <a:chOff x="3425" y="3113"/>
              <a:chExt cx="272" cy="136"/>
            </a:xfrm>
          </p:grpSpPr>
          <p:grpSp>
            <p:nvGrpSpPr>
              <p:cNvPr id="27" name="Group 75"/>
              <p:cNvGrpSpPr>
                <a:grpSpLocks/>
              </p:cNvGrpSpPr>
              <p:nvPr/>
            </p:nvGrpSpPr>
            <p:grpSpPr bwMode="auto">
              <a:xfrm>
                <a:off x="3425" y="3113"/>
                <a:ext cx="272" cy="136"/>
                <a:chOff x="2336" y="2659"/>
                <a:chExt cx="272" cy="136"/>
              </a:xfrm>
            </p:grpSpPr>
            <p:sp>
              <p:nvSpPr>
                <p:cNvPr id="29" name="Rectangle 76"/>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0" name="Line 77"/>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28" name="AutoShape 78"/>
              <p:cNvSpPr>
                <a:spLocks noChangeArrowheads="1"/>
              </p:cNvSpPr>
              <p:nvPr/>
            </p:nvSpPr>
            <p:spPr bwMode="auto">
              <a:xfrm>
                <a:off x="3630" y="3151"/>
                <a:ext cx="45" cy="45"/>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sp>
          <p:nvSpPr>
            <p:cNvPr id="13" name="Text Box 79"/>
            <p:cNvSpPr txBox="1">
              <a:spLocks noChangeArrowheads="1"/>
            </p:cNvSpPr>
            <p:nvPr/>
          </p:nvSpPr>
          <p:spPr bwMode="auto">
            <a:xfrm>
              <a:off x="2293" y="3081"/>
              <a:ext cx="34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2000" b="1">
                  <a:ea typeface="楷体" panose="02010609060101010101" pitchFamily="49" charset="-122"/>
                </a:rPr>
                <a:t>hin</a:t>
              </a:r>
            </a:p>
          </p:txBody>
        </p:sp>
        <p:sp>
          <p:nvSpPr>
            <p:cNvPr id="14" name="Text Box 80"/>
            <p:cNvSpPr txBox="1">
              <a:spLocks noChangeArrowheads="1"/>
            </p:cNvSpPr>
            <p:nvPr/>
          </p:nvSpPr>
          <p:spPr bwMode="auto">
            <a:xfrm>
              <a:off x="2692" y="3081"/>
              <a:ext cx="34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2000" b="1">
                  <a:ea typeface="楷体" panose="02010609060101010101" pitchFamily="49" charset="-122"/>
                </a:rPr>
                <a:t>sin</a:t>
              </a:r>
            </a:p>
          </p:txBody>
        </p:sp>
        <p:sp>
          <p:nvSpPr>
            <p:cNvPr id="15" name="Text Box 81"/>
            <p:cNvSpPr txBox="1">
              <a:spLocks noChangeArrowheads="1"/>
            </p:cNvSpPr>
            <p:nvPr/>
          </p:nvSpPr>
          <p:spPr bwMode="auto">
            <a:xfrm>
              <a:off x="2649" y="3552"/>
              <a:ext cx="44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2000" b="1">
                  <a:ea typeface="楷体" panose="02010609060101010101" pitchFamily="49" charset="-122"/>
                </a:rPr>
                <a:t>hout</a:t>
              </a:r>
            </a:p>
          </p:txBody>
        </p:sp>
        <p:sp>
          <p:nvSpPr>
            <p:cNvPr id="16" name="Text Box 82"/>
            <p:cNvSpPr txBox="1">
              <a:spLocks noChangeArrowheads="1"/>
            </p:cNvSpPr>
            <p:nvPr/>
          </p:nvSpPr>
          <p:spPr bwMode="auto">
            <a:xfrm>
              <a:off x="2245" y="3548"/>
              <a:ext cx="46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2000" b="1">
                  <a:ea typeface="楷体" panose="02010609060101010101" pitchFamily="49" charset="-122"/>
                </a:rPr>
                <a:t>sout</a:t>
              </a:r>
            </a:p>
          </p:txBody>
        </p:sp>
        <p:sp>
          <p:nvSpPr>
            <p:cNvPr id="17" name="Line 83"/>
            <p:cNvSpPr>
              <a:spLocks noChangeShapeType="1"/>
            </p:cNvSpPr>
            <p:nvPr/>
          </p:nvSpPr>
          <p:spPr bwMode="auto">
            <a:xfrm>
              <a:off x="1335" y="3052"/>
              <a:ext cx="94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8" name="Line 84"/>
            <p:cNvSpPr>
              <a:spLocks noChangeShapeType="1"/>
            </p:cNvSpPr>
            <p:nvPr/>
          </p:nvSpPr>
          <p:spPr bwMode="auto">
            <a:xfrm>
              <a:off x="3033" y="3036"/>
              <a:ext cx="947"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9" name="Line 85"/>
            <p:cNvSpPr>
              <a:spLocks noChangeShapeType="1"/>
            </p:cNvSpPr>
            <p:nvPr/>
          </p:nvSpPr>
          <p:spPr bwMode="auto">
            <a:xfrm>
              <a:off x="1328" y="3503"/>
              <a:ext cx="947"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0" name="Line 86"/>
            <p:cNvSpPr>
              <a:spLocks noChangeShapeType="1"/>
            </p:cNvSpPr>
            <p:nvPr/>
          </p:nvSpPr>
          <p:spPr bwMode="auto">
            <a:xfrm>
              <a:off x="3025" y="3487"/>
              <a:ext cx="947"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1" name="Text Box 87"/>
            <p:cNvSpPr txBox="1">
              <a:spLocks noChangeArrowheads="1"/>
            </p:cNvSpPr>
            <p:nvPr/>
          </p:nvSpPr>
          <p:spPr bwMode="auto">
            <a:xfrm>
              <a:off x="1374" y="2815"/>
              <a:ext cx="89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2000" b="1">
                  <a:ea typeface="楷体" panose="02010609060101010101" pitchFamily="49" charset="-122"/>
                </a:rPr>
                <a:t>收容输入</a:t>
              </a:r>
            </a:p>
          </p:txBody>
        </p:sp>
        <p:sp>
          <p:nvSpPr>
            <p:cNvPr id="22" name="Text Box 88"/>
            <p:cNvSpPr txBox="1">
              <a:spLocks noChangeArrowheads="1"/>
            </p:cNvSpPr>
            <p:nvPr/>
          </p:nvSpPr>
          <p:spPr bwMode="auto">
            <a:xfrm>
              <a:off x="3125" y="2804"/>
              <a:ext cx="93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2000" b="1">
                  <a:ea typeface="楷体" panose="02010609060101010101" pitchFamily="49" charset="-122"/>
                </a:rPr>
                <a:t>提取输入</a:t>
              </a:r>
            </a:p>
          </p:txBody>
        </p:sp>
        <p:sp>
          <p:nvSpPr>
            <p:cNvPr id="23" name="Text Box 89"/>
            <p:cNvSpPr txBox="1">
              <a:spLocks noChangeArrowheads="1"/>
            </p:cNvSpPr>
            <p:nvPr/>
          </p:nvSpPr>
          <p:spPr bwMode="auto">
            <a:xfrm>
              <a:off x="1374" y="3262"/>
              <a:ext cx="8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2000" b="1">
                  <a:ea typeface="楷体" panose="02010609060101010101" pitchFamily="49" charset="-122"/>
                </a:rPr>
                <a:t>提取输出</a:t>
              </a:r>
            </a:p>
          </p:txBody>
        </p:sp>
        <p:sp>
          <p:nvSpPr>
            <p:cNvPr id="24" name="Text Box 90"/>
            <p:cNvSpPr txBox="1">
              <a:spLocks noChangeArrowheads="1"/>
            </p:cNvSpPr>
            <p:nvPr/>
          </p:nvSpPr>
          <p:spPr bwMode="auto">
            <a:xfrm>
              <a:off x="3124" y="3251"/>
              <a:ext cx="89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2000" b="1">
                  <a:ea typeface="楷体" panose="02010609060101010101" pitchFamily="49" charset="-122"/>
                </a:rPr>
                <a:t>收容输出</a:t>
              </a:r>
            </a:p>
          </p:txBody>
        </p:sp>
        <p:sp>
          <p:nvSpPr>
            <p:cNvPr id="25" name="AutoShape 91"/>
            <p:cNvSpPr>
              <a:spLocks noChangeArrowheads="1"/>
            </p:cNvSpPr>
            <p:nvPr/>
          </p:nvSpPr>
          <p:spPr bwMode="auto">
            <a:xfrm>
              <a:off x="875" y="2881"/>
              <a:ext cx="448" cy="326"/>
            </a:xfrm>
            <a:prstGeom prst="flowChartPunchedCard">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0" lang="zh-CN" altLang="zh-CN" sz="1600" b="1">
                <a:ea typeface="楷体" panose="02010609060101010101" pitchFamily="49" charset="-122"/>
              </a:endParaRPr>
            </a:p>
          </p:txBody>
        </p:sp>
        <p:sp>
          <p:nvSpPr>
            <p:cNvPr id="26" name="AutoShape 92"/>
            <p:cNvSpPr>
              <a:spLocks noChangeArrowheads="1"/>
            </p:cNvSpPr>
            <p:nvPr/>
          </p:nvSpPr>
          <p:spPr bwMode="auto">
            <a:xfrm>
              <a:off x="1072" y="3338"/>
              <a:ext cx="248" cy="455"/>
            </a:xfrm>
            <a:prstGeom prst="flowChartDocumen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spTree>
    <p:extLst>
      <p:ext uri="{BB962C8B-B14F-4D97-AF65-F5344CB8AC3E}">
        <p14:creationId xmlns:p14="http://schemas.microsoft.com/office/powerpoint/2010/main" val="25660142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缓冲池技术</a:t>
            </a:r>
          </a:p>
        </p:txBody>
      </p:sp>
      <p:sp>
        <p:nvSpPr>
          <p:cNvPr id="3" name="Content Placeholder 2"/>
          <p:cNvSpPr>
            <a:spLocks noGrp="1"/>
          </p:cNvSpPr>
          <p:nvPr>
            <p:ph idx="1"/>
          </p:nvPr>
        </p:nvSpPr>
        <p:spPr/>
        <p:txBody>
          <a:bodyPr/>
          <a:lstStyle/>
          <a:p>
            <a:pPr marL="319088" indent="-274638">
              <a:lnSpc>
                <a:spcPct val="110000"/>
              </a:lnSpc>
              <a:spcBef>
                <a:spcPct val="10000"/>
              </a:spcBef>
            </a:pPr>
            <a:r>
              <a:rPr lang="zh-CN" altLang="en-US" dirty="0"/>
              <a:t>三种缓冲区队列：</a:t>
            </a:r>
            <a:r>
              <a:rPr lang="en-US" altLang="zh-CN" dirty="0" err="1"/>
              <a:t>emq</a:t>
            </a:r>
            <a:r>
              <a:rPr lang="zh-CN" altLang="en-US" dirty="0"/>
              <a:t>，</a:t>
            </a:r>
            <a:r>
              <a:rPr lang="en-US" altLang="zh-CN" dirty="0" err="1"/>
              <a:t>inq</a:t>
            </a:r>
            <a:r>
              <a:rPr lang="zh-CN" altLang="en-US" dirty="0"/>
              <a:t>，</a:t>
            </a:r>
            <a:r>
              <a:rPr lang="en-US" altLang="zh-CN" dirty="0" err="1"/>
              <a:t>outq</a:t>
            </a:r>
            <a:endParaRPr lang="en-US" altLang="zh-CN" dirty="0"/>
          </a:p>
          <a:p>
            <a:pPr marL="319088" indent="-274638">
              <a:lnSpc>
                <a:spcPct val="110000"/>
              </a:lnSpc>
              <a:spcBef>
                <a:spcPct val="10000"/>
              </a:spcBef>
            </a:pPr>
            <a:r>
              <a:rPr lang="zh-CN" altLang="en-US" dirty="0"/>
              <a:t>四个工作缓冲区：</a:t>
            </a:r>
            <a:r>
              <a:rPr lang="en-US" altLang="zh-CN" dirty="0" err="1"/>
              <a:t>hin</a:t>
            </a:r>
            <a:r>
              <a:rPr lang="zh-CN" altLang="en-US" dirty="0"/>
              <a:t>，</a:t>
            </a:r>
            <a:r>
              <a:rPr lang="en-US" altLang="zh-CN" dirty="0"/>
              <a:t>sin</a:t>
            </a:r>
            <a:r>
              <a:rPr lang="zh-CN" altLang="en-US" dirty="0"/>
              <a:t>，</a:t>
            </a:r>
            <a:r>
              <a:rPr lang="en-US" altLang="zh-CN" dirty="0" err="1"/>
              <a:t>hout</a:t>
            </a:r>
            <a:r>
              <a:rPr lang="zh-CN" altLang="en-US" dirty="0"/>
              <a:t>，</a:t>
            </a:r>
            <a:r>
              <a:rPr lang="en-US" altLang="zh-CN" dirty="0" err="1"/>
              <a:t>sout</a:t>
            </a:r>
            <a:endParaRPr lang="en-US" altLang="zh-CN" dirty="0"/>
          </a:p>
          <a:p>
            <a:pPr marL="319088" indent="-274638">
              <a:lnSpc>
                <a:spcPct val="110000"/>
              </a:lnSpc>
              <a:spcBef>
                <a:spcPct val="10000"/>
              </a:spcBef>
            </a:pPr>
            <a:r>
              <a:rPr lang="zh-CN" altLang="en-US" dirty="0"/>
              <a:t>四种操作：收容输入、提取输入、收容输出、提取输出</a:t>
            </a:r>
          </a:p>
          <a:p>
            <a:endParaRPr lang="zh-CN" altLang="en-US" dirty="0"/>
          </a:p>
        </p:txBody>
      </p:sp>
      <p:sp>
        <p:nvSpPr>
          <p:cNvPr id="4" name="Date Placeholder 3"/>
          <p:cNvSpPr>
            <a:spLocks noGrp="1"/>
          </p:cNvSpPr>
          <p:nvPr>
            <p:ph type="dt" sz="half" idx="10"/>
          </p:nvPr>
        </p:nvSpPr>
        <p:spPr/>
        <p:txBody>
          <a:bodyPr/>
          <a:lstStyle/>
          <a:p>
            <a:fld id="{B9F6FAA2-4EFD-4437-9E90-F9C7447239BD}"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50</a:t>
            </a:fld>
            <a:endParaRPr lang="zh-CN" altLang="en-US" dirty="0"/>
          </a:p>
        </p:txBody>
      </p:sp>
      <p:grpSp>
        <p:nvGrpSpPr>
          <p:cNvPr id="7" name="Group 5"/>
          <p:cNvGrpSpPr>
            <a:grpSpLocks/>
          </p:cNvGrpSpPr>
          <p:nvPr/>
        </p:nvGrpSpPr>
        <p:grpSpPr bwMode="auto">
          <a:xfrm>
            <a:off x="2084512" y="3356422"/>
            <a:ext cx="6159500" cy="2303462"/>
            <a:chOff x="1404" y="2523"/>
            <a:chExt cx="3880" cy="1451"/>
          </a:xfrm>
        </p:grpSpPr>
        <p:sp>
          <p:nvSpPr>
            <p:cNvPr id="8" name="AutoShape 6"/>
            <p:cNvSpPr>
              <a:spLocks noChangeArrowheads="1"/>
            </p:cNvSpPr>
            <p:nvPr/>
          </p:nvSpPr>
          <p:spPr bwMode="auto">
            <a:xfrm>
              <a:off x="4241" y="3203"/>
              <a:ext cx="1043" cy="680"/>
            </a:xfrm>
            <a:prstGeom prst="irregularSeal2">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b="1">
                  <a:ea typeface="楷体" panose="02010609060101010101" pitchFamily="49" charset="-122"/>
                </a:rPr>
                <a:t>应用进程</a:t>
              </a:r>
            </a:p>
          </p:txBody>
        </p:sp>
        <p:grpSp>
          <p:nvGrpSpPr>
            <p:cNvPr id="9" name="Group 7"/>
            <p:cNvGrpSpPr>
              <a:grpSpLocks/>
            </p:cNvGrpSpPr>
            <p:nvPr/>
          </p:nvGrpSpPr>
          <p:grpSpPr bwMode="auto">
            <a:xfrm>
              <a:off x="1404" y="2523"/>
              <a:ext cx="2858" cy="1451"/>
              <a:chOff x="1404" y="2523"/>
              <a:chExt cx="2858" cy="1451"/>
            </a:xfrm>
          </p:grpSpPr>
          <p:sp>
            <p:nvSpPr>
              <p:cNvPr id="10" name="Rectangle 8"/>
              <p:cNvSpPr>
                <a:spLocks noChangeArrowheads="1"/>
              </p:cNvSpPr>
              <p:nvPr/>
            </p:nvSpPr>
            <p:spPr bwMode="auto">
              <a:xfrm>
                <a:off x="2018" y="2523"/>
                <a:ext cx="2087" cy="145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nvGrpSpPr>
              <p:cNvPr id="11" name="Group 9"/>
              <p:cNvGrpSpPr>
                <a:grpSpLocks/>
              </p:cNvGrpSpPr>
              <p:nvPr/>
            </p:nvGrpSpPr>
            <p:grpSpPr bwMode="auto">
              <a:xfrm>
                <a:off x="2336" y="2603"/>
                <a:ext cx="272" cy="136"/>
                <a:chOff x="2336" y="2659"/>
                <a:chExt cx="272" cy="136"/>
              </a:xfrm>
            </p:grpSpPr>
            <p:sp>
              <p:nvSpPr>
                <p:cNvPr id="95" name="Rectangle 10"/>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96" name="Line 11"/>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12" name="Line 12"/>
              <p:cNvSpPr>
                <a:spLocks noChangeShapeType="1"/>
              </p:cNvSpPr>
              <p:nvPr/>
            </p:nvSpPr>
            <p:spPr bwMode="auto">
              <a:xfrm>
                <a:off x="2562" y="2669"/>
                <a:ext cx="13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13" name="Group 13"/>
              <p:cNvGrpSpPr>
                <a:grpSpLocks/>
              </p:cNvGrpSpPr>
              <p:nvPr/>
            </p:nvGrpSpPr>
            <p:grpSpPr bwMode="auto">
              <a:xfrm>
                <a:off x="2699" y="2603"/>
                <a:ext cx="272" cy="136"/>
                <a:chOff x="2336" y="2659"/>
                <a:chExt cx="272" cy="136"/>
              </a:xfrm>
            </p:grpSpPr>
            <p:sp>
              <p:nvSpPr>
                <p:cNvPr id="93" name="Rectangle 14"/>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94" name="Line 15"/>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14" name="Line 16"/>
              <p:cNvSpPr>
                <a:spLocks noChangeShapeType="1"/>
              </p:cNvSpPr>
              <p:nvPr/>
            </p:nvSpPr>
            <p:spPr bwMode="auto">
              <a:xfrm>
                <a:off x="2925" y="2669"/>
                <a:ext cx="13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15" name="Group 17"/>
              <p:cNvGrpSpPr>
                <a:grpSpLocks/>
              </p:cNvGrpSpPr>
              <p:nvPr/>
            </p:nvGrpSpPr>
            <p:grpSpPr bwMode="auto">
              <a:xfrm>
                <a:off x="3062" y="2603"/>
                <a:ext cx="272" cy="136"/>
                <a:chOff x="2336" y="2659"/>
                <a:chExt cx="272" cy="136"/>
              </a:xfrm>
            </p:grpSpPr>
            <p:sp>
              <p:nvSpPr>
                <p:cNvPr id="91" name="Rectangle 18"/>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92" name="Line 19"/>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16" name="Line 20"/>
              <p:cNvSpPr>
                <a:spLocks noChangeShapeType="1"/>
              </p:cNvSpPr>
              <p:nvPr/>
            </p:nvSpPr>
            <p:spPr bwMode="auto">
              <a:xfrm>
                <a:off x="3288" y="2669"/>
                <a:ext cx="13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17" name="Group 21"/>
              <p:cNvGrpSpPr>
                <a:grpSpLocks/>
              </p:cNvGrpSpPr>
              <p:nvPr/>
            </p:nvGrpSpPr>
            <p:grpSpPr bwMode="auto">
              <a:xfrm>
                <a:off x="3425" y="2603"/>
                <a:ext cx="272" cy="136"/>
                <a:chOff x="2336" y="2659"/>
                <a:chExt cx="272" cy="136"/>
              </a:xfrm>
            </p:grpSpPr>
            <p:sp>
              <p:nvSpPr>
                <p:cNvPr id="89" name="Rectangle 22"/>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90" name="Line 23"/>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18" name="Line 24"/>
              <p:cNvSpPr>
                <a:spLocks noChangeShapeType="1"/>
              </p:cNvSpPr>
              <p:nvPr/>
            </p:nvSpPr>
            <p:spPr bwMode="auto">
              <a:xfrm>
                <a:off x="3643" y="2669"/>
                <a:ext cx="13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19" name="Group 25"/>
              <p:cNvGrpSpPr>
                <a:grpSpLocks/>
              </p:cNvGrpSpPr>
              <p:nvPr/>
            </p:nvGrpSpPr>
            <p:grpSpPr bwMode="auto">
              <a:xfrm>
                <a:off x="3780" y="2603"/>
                <a:ext cx="272" cy="136"/>
                <a:chOff x="2336" y="2659"/>
                <a:chExt cx="272" cy="136"/>
              </a:xfrm>
            </p:grpSpPr>
            <p:sp>
              <p:nvSpPr>
                <p:cNvPr id="87" name="Rectangle 26"/>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88" name="Line 27"/>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20" name="Group 28"/>
              <p:cNvGrpSpPr>
                <a:grpSpLocks/>
              </p:cNvGrpSpPr>
              <p:nvPr/>
            </p:nvGrpSpPr>
            <p:grpSpPr bwMode="auto">
              <a:xfrm>
                <a:off x="2336" y="2837"/>
                <a:ext cx="272" cy="136"/>
                <a:chOff x="2336" y="2659"/>
                <a:chExt cx="272" cy="136"/>
              </a:xfrm>
            </p:grpSpPr>
            <p:sp>
              <p:nvSpPr>
                <p:cNvPr id="85" name="Rectangle 29"/>
                <p:cNvSpPr>
                  <a:spLocks noChangeArrowheads="1"/>
                </p:cNvSpPr>
                <p:nvPr/>
              </p:nvSpPr>
              <p:spPr bwMode="auto">
                <a:xfrm>
                  <a:off x="2336" y="2659"/>
                  <a:ext cx="272" cy="1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86" name="Line 30"/>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21" name="Line 31"/>
              <p:cNvSpPr>
                <a:spLocks noChangeShapeType="1"/>
              </p:cNvSpPr>
              <p:nvPr/>
            </p:nvSpPr>
            <p:spPr bwMode="auto">
              <a:xfrm>
                <a:off x="2562" y="2903"/>
                <a:ext cx="13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22" name="Group 32"/>
              <p:cNvGrpSpPr>
                <a:grpSpLocks/>
              </p:cNvGrpSpPr>
              <p:nvPr/>
            </p:nvGrpSpPr>
            <p:grpSpPr bwMode="auto">
              <a:xfrm>
                <a:off x="2699" y="2837"/>
                <a:ext cx="272" cy="136"/>
                <a:chOff x="2336" y="2659"/>
                <a:chExt cx="272" cy="136"/>
              </a:xfrm>
            </p:grpSpPr>
            <p:sp>
              <p:nvSpPr>
                <p:cNvPr id="83" name="Rectangle 33"/>
                <p:cNvSpPr>
                  <a:spLocks noChangeArrowheads="1"/>
                </p:cNvSpPr>
                <p:nvPr/>
              </p:nvSpPr>
              <p:spPr bwMode="auto">
                <a:xfrm>
                  <a:off x="2336" y="2659"/>
                  <a:ext cx="272" cy="1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84" name="Line 34"/>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23" name="Line 35"/>
              <p:cNvSpPr>
                <a:spLocks noChangeShapeType="1"/>
              </p:cNvSpPr>
              <p:nvPr/>
            </p:nvSpPr>
            <p:spPr bwMode="auto">
              <a:xfrm>
                <a:off x="2925" y="2903"/>
                <a:ext cx="13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24" name="Group 36"/>
              <p:cNvGrpSpPr>
                <a:grpSpLocks/>
              </p:cNvGrpSpPr>
              <p:nvPr/>
            </p:nvGrpSpPr>
            <p:grpSpPr bwMode="auto">
              <a:xfrm>
                <a:off x="3062" y="2837"/>
                <a:ext cx="272" cy="136"/>
                <a:chOff x="2336" y="2659"/>
                <a:chExt cx="272" cy="136"/>
              </a:xfrm>
            </p:grpSpPr>
            <p:sp>
              <p:nvSpPr>
                <p:cNvPr id="81" name="Rectangle 37"/>
                <p:cNvSpPr>
                  <a:spLocks noChangeArrowheads="1"/>
                </p:cNvSpPr>
                <p:nvPr/>
              </p:nvSpPr>
              <p:spPr bwMode="auto">
                <a:xfrm>
                  <a:off x="2336" y="2659"/>
                  <a:ext cx="272" cy="1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82" name="Line 38"/>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25" name="Group 39"/>
              <p:cNvGrpSpPr>
                <a:grpSpLocks/>
              </p:cNvGrpSpPr>
              <p:nvPr/>
            </p:nvGrpSpPr>
            <p:grpSpPr bwMode="auto">
              <a:xfrm>
                <a:off x="2336" y="3057"/>
                <a:ext cx="272" cy="136"/>
                <a:chOff x="2336" y="2659"/>
                <a:chExt cx="272" cy="136"/>
              </a:xfrm>
            </p:grpSpPr>
            <p:sp>
              <p:nvSpPr>
                <p:cNvPr id="79" name="Rectangle 40"/>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80" name="Line 41"/>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26" name="Line 42"/>
              <p:cNvSpPr>
                <a:spLocks noChangeShapeType="1"/>
              </p:cNvSpPr>
              <p:nvPr/>
            </p:nvSpPr>
            <p:spPr bwMode="auto">
              <a:xfrm>
                <a:off x="2562" y="3123"/>
                <a:ext cx="13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27" name="Group 43"/>
              <p:cNvGrpSpPr>
                <a:grpSpLocks/>
              </p:cNvGrpSpPr>
              <p:nvPr/>
            </p:nvGrpSpPr>
            <p:grpSpPr bwMode="auto">
              <a:xfrm>
                <a:off x="2699" y="3057"/>
                <a:ext cx="272" cy="136"/>
                <a:chOff x="2336" y="2659"/>
                <a:chExt cx="272" cy="136"/>
              </a:xfrm>
            </p:grpSpPr>
            <p:sp>
              <p:nvSpPr>
                <p:cNvPr id="77" name="Rectangle 44"/>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78" name="Line 45"/>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28" name="Line 46"/>
              <p:cNvSpPr>
                <a:spLocks noChangeShapeType="1"/>
              </p:cNvSpPr>
              <p:nvPr/>
            </p:nvSpPr>
            <p:spPr bwMode="auto">
              <a:xfrm>
                <a:off x="2925" y="3123"/>
                <a:ext cx="13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29" name="Group 47"/>
              <p:cNvGrpSpPr>
                <a:grpSpLocks/>
              </p:cNvGrpSpPr>
              <p:nvPr/>
            </p:nvGrpSpPr>
            <p:grpSpPr bwMode="auto">
              <a:xfrm>
                <a:off x="3062" y="3057"/>
                <a:ext cx="272" cy="136"/>
                <a:chOff x="2336" y="2659"/>
                <a:chExt cx="272" cy="136"/>
              </a:xfrm>
            </p:grpSpPr>
            <p:sp>
              <p:nvSpPr>
                <p:cNvPr id="75" name="Rectangle 48"/>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76" name="Line 49"/>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30" name="Line 50"/>
              <p:cNvSpPr>
                <a:spLocks noChangeShapeType="1"/>
              </p:cNvSpPr>
              <p:nvPr/>
            </p:nvSpPr>
            <p:spPr bwMode="auto">
              <a:xfrm>
                <a:off x="3288" y="3123"/>
                <a:ext cx="13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31" name="Text Box 51"/>
              <p:cNvSpPr txBox="1">
                <a:spLocks noChangeArrowheads="1"/>
              </p:cNvSpPr>
              <p:nvPr/>
            </p:nvSpPr>
            <p:spPr bwMode="auto">
              <a:xfrm>
                <a:off x="2018" y="2544"/>
                <a:ext cx="36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emq</a:t>
                </a:r>
              </a:p>
            </p:txBody>
          </p:sp>
          <p:sp>
            <p:nvSpPr>
              <p:cNvPr id="32" name="Text Box 52"/>
              <p:cNvSpPr txBox="1">
                <a:spLocks noChangeArrowheads="1"/>
              </p:cNvSpPr>
              <p:nvPr/>
            </p:nvSpPr>
            <p:spPr bwMode="auto">
              <a:xfrm>
                <a:off x="2067" y="2771"/>
                <a:ext cx="36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inq</a:t>
                </a:r>
              </a:p>
            </p:txBody>
          </p:sp>
          <p:sp>
            <p:nvSpPr>
              <p:cNvPr id="33" name="Text Box 53"/>
              <p:cNvSpPr txBox="1">
                <a:spLocks noChangeArrowheads="1"/>
              </p:cNvSpPr>
              <p:nvPr/>
            </p:nvSpPr>
            <p:spPr bwMode="auto">
              <a:xfrm>
                <a:off x="1996" y="2987"/>
                <a:ext cx="40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outq</a:t>
                </a:r>
              </a:p>
            </p:txBody>
          </p:sp>
          <p:sp>
            <p:nvSpPr>
              <p:cNvPr id="34" name="AutoShape 54"/>
              <p:cNvSpPr>
                <a:spLocks noChangeArrowheads="1"/>
              </p:cNvSpPr>
              <p:nvPr/>
            </p:nvSpPr>
            <p:spPr bwMode="auto">
              <a:xfrm>
                <a:off x="3983" y="2641"/>
                <a:ext cx="45" cy="45"/>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5" name="AutoShape 55"/>
              <p:cNvSpPr>
                <a:spLocks noChangeArrowheads="1"/>
              </p:cNvSpPr>
              <p:nvPr/>
            </p:nvSpPr>
            <p:spPr bwMode="auto">
              <a:xfrm>
                <a:off x="3260" y="2875"/>
                <a:ext cx="45" cy="45"/>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nvGrpSpPr>
              <p:cNvPr id="36" name="Group 56"/>
              <p:cNvGrpSpPr>
                <a:grpSpLocks/>
              </p:cNvGrpSpPr>
              <p:nvPr/>
            </p:nvGrpSpPr>
            <p:grpSpPr bwMode="auto">
              <a:xfrm>
                <a:off x="3425" y="3057"/>
                <a:ext cx="272" cy="136"/>
                <a:chOff x="3425" y="3113"/>
                <a:chExt cx="272" cy="136"/>
              </a:xfrm>
            </p:grpSpPr>
            <p:grpSp>
              <p:nvGrpSpPr>
                <p:cNvPr id="71" name="Group 57"/>
                <p:cNvGrpSpPr>
                  <a:grpSpLocks/>
                </p:cNvGrpSpPr>
                <p:nvPr/>
              </p:nvGrpSpPr>
              <p:grpSpPr bwMode="auto">
                <a:xfrm>
                  <a:off x="3425" y="3113"/>
                  <a:ext cx="272" cy="136"/>
                  <a:chOff x="2336" y="2659"/>
                  <a:chExt cx="272" cy="136"/>
                </a:xfrm>
              </p:grpSpPr>
              <p:sp>
                <p:nvSpPr>
                  <p:cNvPr id="73" name="Rectangle 58"/>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74" name="Line 59"/>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72" name="AutoShape 60"/>
                <p:cNvSpPr>
                  <a:spLocks noChangeArrowheads="1"/>
                </p:cNvSpPr>
                <p:nvPr/>
              </p:nvSpPr>
              <p:spPr bwMode="auto">
                <a:xfrm>
                  <a:off x="3630" y="3151"/>
                  <a:ext cx="45" cy="45"/>
                </a:xfrm>
                <a:prstGeom prst="triangle">
                  <a:avLst>
                    <a:gd name="adj" fmla="val 50000"/>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grpSp>
            <p:nvGrpSpPr>
              <p:cNvPr id="37" name="Group 61"/>
              <p:cNvGrpSpPr>
                <a:grpSpLocks/>
              </p:cNvGrpSpPr>
              <p:nvPr/>
            </p:nvGrpSpPr>
            <p:grpSpPr bwMode="auto">
              <a:xfrm>
                <a:off x="2722" y="3332"/>
                <a:ext cx="272" cy="136"/>
                <a:chOff x="3425" y="3113"/>
                <a:chExt cx="272" cy="136"/>
              </a:xfrm>
            </p:grpSpPr>
            <p:grpSp>
              <p:nvGrpSpPr>
                <p:cNvPr id="67" name="Group 62"/>
                <p:cNvGrpSpPr>
                  <a:grpSpLocks/>
                </p:cNvGrpSpPr>
                <p:nvPr/>
              </p:nvGrpSpPr>
              <p:grpSpPr bwMode="auto">
                <a:xfrm>
                  <a:off x="3425" y="3113"/>
                  <a:ext cx="272" cy="136"/>
                  <a:chOff x="2336" y="2659"/>
                  <a:chExt cx="272" cy="136"/>
                </a:xfrm>
              </p:grpSpPr>
              <p:sp>
                <p:nvSpPr>
                  <p:cNvPr id="69" name="Rectangle 63"/>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70" name="Line 64"/>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68" name="AutoShape 65"/>
                <p:cNvSpPr>
                  <a:spLocks noChangeArrowheads="1"/>
                </p:cNvSpPr>
                <p:nvPr/>
              </p:nvSpPr>
              <p:spPr bwMode="auto">
                <a:xfrm>
                  <a:off x="3630" y="3151"/>
                  <a:ext cx="45" cy="45"/>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grpSp>
            <p:nvGrpSpPr>
              <p:cNvPr id="38" name="Group 66"/>
              <p:cNvGrpSpPr>
                <a:grpSpLocks/>
              </p:cNvGrpSpPr>
              <p:nvPr/>
            </p:nvGrpSpPr>
            <p:grpSpPr bwMode="auto">
              <a:xfrm>
                <a:off x="3089" y="3333"/>
                <a:ext cx="272" cy="136"/>
                <a:chOff x="3425" y="3113"/>
                <a:chExt cx="272" cy="136"/>
              </a:xfrm>
            </p:grpSpPr>
            <p:grpSp>
              <p:nvGrpSpPr>
                <p:cNvPr id="63" name="Group 67"/>
                <p:cNvGrpSpPr>
                  <a:grpSpLocks/>
                </p:cNvGrpSpPr>
                <p:nvPr/>
              </p:nvGrpSpPr>
              <p:grpSpPr bwMode="auto">
                <a:xfrm>
                  <a:off x="3425" y="3113"/>
                  <a:ext cx="272" cy="136"/>
                  <a:chOff x="2336" y="2659"/>
                  <a:chExt cx="272" cy="136"/>
                </a:xfrm>
              </p:grpSpPr>
              <p:sp>
                <p:nvSpPr>
                  <p:cNvPr id="65" name="Rectangle 68"/>
                  <p:cNvSpPr>
                    <a:spLocks noChangeArrowheads="1"/>
                  </p:cNvSpPr>
                  <p:nvPr/>
                </p:nvSpPr>
                <p:spPr bwMode="auto">
                  <a:xfrm>
                    <a:off x="2336" y="2659"/>
                    <a:ext cx="272" cy="1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66" name="Line 69"/>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64" name="AutoShape 70"/>
                <p:cNvSpPr>
                  <a:spLocks noChangeArrowheads="1"/>
                </p:cNvSpPr>
                <p:nvPr/>
              </p:nvSpPr>
              <p:spPr bwMode="auto">
                <a:xfrm>
                  <a:off x="3630" y="3151"/>
                  <a:ext cx="45" cy="45"/>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grpSp>
            <p:nvGrpSpPr>
              <p:cNvPr id="39" name="Group 71"/>
              <p:cNvGrpSpPr>
                <a:grpSpLocks/>
              </p:cNvGrpSpPr>
              <p:nvPr/>
            </p:nvGrpSpPr>
            <p:grpSpPr bwMode="auto">
              <a:xfrm>
                <a:off x="2726" y="3656"/>
                <a:ext cx="272" cy="136"/>
                <a:chOff x="3425" y="3113"/>
                <a:chExt cx="272" cy="136"/>
              </a:xfrm>
            </p:grpSpPr>
            <p:grpSp>
              <p:nvGrpSpPr>
                <p:cNvPr id="59" name="Group 72"/>
                <p:cNvGrpSpPr>
                  <a:grpSpLocks/>
                </p:cNvGrpSpPr>
                <p:nvPr/>
              </p:nvGrpSpPr>
              <p:grpSpPr bwMode="auto">
                <a:xfrm>
                  <a:off x="3425" y="3113"/>
                  <a:ext cx="272" cy="136"/>
                  <a:chOff x="2336" y="2659"/>
                  <a:chExt cx="272" cy="136"/>
                </a:xfrm>
              </p:grpSpPr>
              <p:sp>
                <p:nvSpPr>
                  <p:cNvPr id="61" name="Rectangle 73"/>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62" name="Line 74"/>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60" name="AutoShape 75"/>
                <p:cNvSpPr>
                  <a:spLocks noChangeArrowheads="1"/>
                </p:cNvSpPr>
                <p:nvPr/>
              </p:nvSpPr>
              <p:spPr bwMode="auto">
                <a:xfrm>
                  <a:off x="3630" y="3151"/>
                  <a:ext cx="45" cy="45"/>
                </a:xfrm>
                <a:prstGeom prst="triangle">
                  <a:avLst>
                    <a:gd name="adj" fmla="val 50000"/>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grpSp>
            <p:nvGrpSpPr>
              <p:cNvPr id="40" name="Group 76"/>
              <p:cNvGrpSpPr>
                <a:grpSpLocks/>
              </p:cNvGrpSpPr>
              <p:nvPr/>
            </p:nvGrpSpPr>
            <p:grpSpPr bwMode="auto">
              <a:xfrm>
                <a:off x="3093" y="3657"/>
                <a:ext cx="272" cy="136"/>
                <a:chOff x="3425" y="3113"/>
                <a:chExt cx="272" cy="136"/>
              </a:xfrm>
            </p:grpSpPr>
            <p:grpSp>
              <p:nvGrpSpPr>
                <p:cNvPr id="55" name="Group 77"/>
                <p:cNvGrpSpPr>
                  <a:grpSpLocks/>
                </p:cNvGrpSpPr>
                <p:nvPr/>
              </p:nvGrpSpPr>
              <p:grpSpPr bwMode="auto">
                <a:xfrm>
                  <a:off x="3425" y="3113"/>
                  <a:ext cx="272" cy="136"/>
                  <a:chOff x="2336" y="2659"/>
                  <a:chExt cx="272" cy="136"/>
                </a:xfrm>
              </p:grpSpPr>
              <p:sp>
                <p:nvSpPr>
                  <p:cNvPr id="57" name="Rectangle 78"/>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58" name="Line 79"/>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56" name="AutoShape 80"/>
                <p:cNvSpPr>
                  <a:spLocks noChangeArrowheads="1"/>
                </p:cNvSpPr>
                <p:nvPr/>
              </p:nvSpPr>
              <p:spPr bwMode="auto">
                <a:xfrm>
                  <a:off x="3630" y="3151"/>
                  <a:ext cx="45" cy="45"/>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sp>
            <p:nvSpPr>
              <p:cNvPr id="41" name="Text Box 81"/>
              <p:cNvSpPr txBox="1">
                <a:spLocks noChangeArrowheads="1"/>
              </p:cNvSpPr>
              <p:nvPr/>
            </p:nvSpPr>
            <p:spPr bwMode="auto">
              <a:xfrm>
                <a:off x="2727" y="3402"/>
                <a:ext cx="31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hin</a:t>
                </a:r>
              </a:p>
            </p:txBody>
          </p:sp>
          <p:sp>
            <p:nvSpPr>
              <p:cNvPr id="42" name="Text Box 82"/>
              <p:cNvSpPr txBox="1">
                <a:spLocks noChangeArrowheads="1"/>
              </p:cNvSpPr>
              <p:nvPr/>
            </p:nvSpPr>
            <p:spPr bwMode="auto">
              <a:xfrm>
                <a:off x="3090" y="3402"/>
                <a:ext cx="31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sin</a:t>
                </a:r>
              </a:p>
            </p:txBody>
          </p:sp>
          <p:sp>
            <p:nvSpPr>
              <p:cNvPr id="43" name="Text Box 83"/>
              <p:cNvSpPr txBox="1">
                <a:spLocks noChangeArrowheads="1"/>
              </p:cNvSpPr>
              <p:nvPr/>
            </p:nvSpPr>
            <p:spPr bwMode="auto">
              <a:xfrm>
                <a:off x="3051" y="3730"/>
                <a:ext cx="40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hout</a:t>
                </a:r>
              </a:p>
            </p:txBody>
          </p:sp>
          <p:sp>
            <p:nvSpPr>
              <p:cNvPr id="44" name="Text Box 84"/>
              <p:cNvSpPr txBox="1">
                <a:spLocks noChangeArrowheads="1"/>
              </p:cNvSpPr>
              <p:nvPr/>
            </p:nvSpPr>
            <p:spPr bwMode="auto">
              <a:xfrm>
                <a:off x="2699" y="3727"/>
                <a:ext cx="363"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sout</a:t>
                </a:r>
              </a:p>
            </p:txBody>
          </p:sp>
          <p:sp>
            <p:nvSpPr>
              <p:cNvPr id="45" name="Line 85"/>
              <p:cNvSpPr>
                <a:spLocks noChangeShapeType="1"/>
              </p:cNvSpPr>
              <p:nvPr/>
            </p:nvSpPr>
            <p:spPr bwMode="auto">
              <a:xfrm>
                <a:off x="1823" y="3413"/>
                <a:ext cx="86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6" name="Line 86"/>
              <p:cNvSpPr>
                <a:spLocks noChangeShapeType="1"/>
              </p:cNvSpPr>
              <p:nvPr/>
            </p:nvSpPr>
            <p:spPr bwMode="auto">
              <a:xfrm>
                <a:off x="3400" y="3402"/>
                <a:ext cx="86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7" name="Line 87"/>
              <p:cNvSpPr>
                <a:spLocks noChangeShapeType="1"/>
              </p:cNvSpPr>
              <p:nvPr/>
            </p:nvSpPr>
            <p:spPr bwMode="auto">
              <a:xfrm>
                <a:off x="1816" y="3727"/>
                <a:ext cx="862"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8" name="Line 88"/>
              <p:cNvSpPr>
                <a:spLocks noChangeShapeType="1"/>
              </p:cNvSpPr>
              <p:nvPr/>
            </p:nvSpPr>
            <p:spPr bwMode="auto">
              <a:xfrm>
                <a:off x="3393" y="3716"/>
                <a:ext cx="862"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9" name="Text Box 89"/>
              <p:cNvSpPr txBox="1">
                <a:spLocks noChangeArrowheads="1"/>
              </p:cNvSpPr>
              <p:nvPr/>
            </p:nvSpPr>
            <p:spPr bwMode="auto">
              <a:xfrm>
                <a:off x="1991" y="3211"/>
                <a:ext cx="6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收容输入</a:t>
                </a:r>
              </a:p>
            </p:txBody>
          </p:sp>
          <p:sp>
            <p:nvSpPr>
              <p:cNvPr id="50" name="Text Box 90"/>
              <p:cNvSpPr txBox="1">
                <a:spLocks noChangeArrowheads="1"/>
              </p:cNvSpPr>
              <p:nvPr/>
            </p:nvSpPr>
            <p:spPr bwMode="auto">
              <a:xfrm>
                <a:off x="3484" y="3203"/>
                <a:ext cx="6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提取输入</a:t>
                </a:r>
              </a:p>
            </p:txBody>
          </p:sp>
          <p:sp>
            <p:nvSpPr>
              <p:cNvPr id="51" name="Text Box 91"/>
              <p:cNvSpPr txBox="1">
                <a:spLocks noChangeArrowheads="1"/>
              </p:cNvSpPr>
              <p:nvPr/>
            </p:nvSpPr>
            <p:spPr bwMode="auto">
              <a:xfrm>
                <a:off x="1990" y="3522"/>
                <a:ext cx="6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提取输出</a:t>
                </a:r>
              </a:p>
            </p:txBody>
          </p:sp>
          <p:sp>
            <p:nvSpPr>
              <p:cNvPr id="52" name="Text Box 92"/>
              <p:cNvSpPr txBox="1">
                <a:spLocks noChangeArrowheads="1"/>
              </p:cNvSpPr>
              <p:nvPr/>
            </p:nvSpPr>
            <p:spPr bwMode="auto">
              <a:xfrm>
                <a:off x="3483" y="3514"/>
                <a:ext cx="6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收容输出</a:t>
                </a:r>
              </a:p>
            </p:txBody>
          </p:sp>
          <p:sp>
            <p:nvSpPr>
              <p:cNvPr id="53" name="AutoShape 93"/>
              <p:cNvSpPr>
                <a:spLocks noChangeArrowheads="1"/>
              </p:cNvSpPr>
              <p:nvPr/>
            </p:nvSpPr>
            <p:spPr bwMode="auto">
              <a:xfrm>
                <a:off x="1404" y="3294"/>
                <a:ext cx="408" cy="227"/>
              </a:xfrm>
              <a:prstGeom prst="flowChartPunchedCard">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0" lang="zh-CN" altLang="zh-CN" sz="1600" b="1">
                  <a:ea typeface="楷体" panose="02010609060101010101" pitchFamily="49" charset="-122"/>
                </a:endParaRPr>
              </a:p>
            </p:txBody>
          </p:sp>
          <p:sp>
            <p:nvSpPr>
              <p:cNvPr id="54" name="AutoShape 94"/>
              <p:cNvSpPr>
                <a:spLocks noChangeArrowheads="1"/>
              </p:cNvSpPr>
              <p:nvPr/>
            </p:nvSpPr>
            <p:spPr bwMode="auto">
              <a:xfrm>
                <a:off x="1583" y="3612"/>
                <a:ext cx="226" cy="317"/>
              </a:xfrm>
              <a:prstGeom prst="flowChartDocumen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grpSp>
      <p:sp>
        <p:nvSpPr>
          <p:cNvPr id="97" name="AutoShape 95"/>
          <p:cNvSpPr>
            <a:spLocks noChangeArrowheads="1"/>
          </p:cNvSpPr>
          <p:nvPr/>
        </p:nvSpPr>
        <p:spPr bwMode="auto">
          <a:xfrm>
            <a:off x="6515225" y="3284984"/>
            <a:ext cx="2016125" cy="647700"/>
          </a:xfrm>
          <a:prstGeom prst="wedgeEllipseCallout">
            <a:avLst>
              <a:gd name="adj1" fmla="val -81102"/>
              <a:gd name="adj2" fmla="val 27204"/>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0" lang="zh-CN" altLang="en-US" sz="2000" b="1">
                <a:ea typeface="楷体" panose="02010609060101010101" pitchFamily="49" charset="-122"/>
              </a:rPr>
              <a:t>算法、互斥</a:t>
            </a:r>
          </a:p>
        </p:txBody>
      </p:sp>
      <p:sp>
        <p:nvSpPr>
          <p:cNvPr id="98" name="AutoShape 96"/>
          <p:cNvSpPr>
            <a:spLocks noChangeArrowheads="1"/>
          </p:cNvSpPr>
          <p:nvPr/>
        </p:nvSpPr>
        <p:spPr bwMode="auto">
          <a:xfrm>
            <a:off x="323975" y="4004122"/>
            <a:ext cx="2735262" cy="431800"/>
          </a:xfrm>
          <a:prstGeom prst="wedgeRoundRectCallout">
            <a:avLst>
              <a:gd name="adj1" fmla="val 49769"/>
              <a:gd name="adj2" fmla="val 98898"/>
              <a:gd name="adj3" fmla="val 16667"/>
            </a:avLst>
          </a:prstGeom>
          <a:solidFill>
            <a:srgbClr val="FF3300"/>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p>
            <a:pPr algn="ctr"/>
            <a:r>
              <a:rPr kumimoji="0" lang="zh-CN" altLang="en-US" sz="1800" b="1">
                <a:solidFill>
                  <a:schemeClr val="bg1"/>
                </a:solidFill>
                <a:ea typeface="楷体" panose="02010609060101010101" pitchFamily="49" charset="-122"/>
              </a:rPr>
              <a:t>取</a:t>
            </a:r>
            <a:r>
              <a:rPr kumimoji="0" lang="en-US" altLang="zh-CN" sz="1800" b="1">
                <a:solidFill>
                  <a:schemeClr val="bg1"/>
                </a:solidFill>
                <a:ea typeface="楷体" panose="02010609060101010101" pitchFamily="49" charset="-122"/>
              </a:rPr>
              <a:t>emq</a:t>
            </a:r>
            <a:r>
              <a:rPr kumimoji="0" lang="en-US" altLang="zh-CN" sz="1800" b="1">
                <a:solidFill>
                  <a:schemeClr val="bg1"/>
                </a:solidFill>
                <a:ea typeface="楷体" panose="02010609060101010101" pitchFamily="49" charset="-122"/>
                <a:sym typeface="Symbol" panose="05050102010706020507" pitchFamily="18" charset="2"/>
              </a:rPr>
              <a:t></a:t>
            </a:r>
            <a:r>
              <a:rPr kumimoji="0" lang="zh-CN" altLang="en-US" sz="1800" b="1">
                <a:solidFill>
                  <a:schemeClr val="bg1"/>
                </a:solidFill>
                <a:ea typeface="楷体" panose="02010609060101010101" pitchFamily="49" charset="-122"/>
                <a:sym typeface="Symbol" panose="05050102010706020507" pitchFamily="18" charset="2"/>
              </a:rPr>
              <a:t>作为</a:t>
            </a:r>
            <a:r>
              <a:rPr kumimoji="0" lang="en-US" altLang="zh-CN" sz="1800" b="1">
                <a:solidFill>
                  <a:schemeClr val="bg1"/>
                </a:solidFill>
                <a:ea typeface="楷体" panose="02010609060101010101" pitchFamily="49" charset="-122"/>
                <a:sym typeface="Symbol" panose="05050102010706020507" pitchFamily="18" charset="2"/>
              </a:rPr>
              <a:t>hin</a:t>
            </a:r>
            <a:r>
              <a:rPr kumimoji="0" lang="zh-CN" altLang="en-US" sz="1800" b="1">
                <a:solidFill>
                  <a:schemeClr val="bg1"/>
                </a:solidFill>
                <a:ea typeface="楷体" panose="02010609060101010101" pitchFamily="49" charset="-122"/>
                <a:sym typeface="Symbol" panose="05050102010706020507" pitchFamily="18" charset="2"/>
              </a:rPr>
              <a:t>放</a:t>
            </a:r>
            <a:r>
              <a:rPr kumimoji="0" lang="en-US" altLang="zh-CN" sz="1800" b="1">
                <a:solidFill>
                  <a:schemeClr val="bg1"/>
                </a:solidFill>
                <a:ea typeface="楷体" panose="02010609060101010101" pitchFamily="49" charset="-122"/>
                <a:sym typeface="Symbol" panose="05050102010706020507" pitchFamily="18" charset="2"/>
              </a:rPr>
              <a:t>inq</a:t>
            </a:r>
          </a:p>
        </p:txBody>
      </p:sp>
      <p:sp>
        <p:nvSpPr>
          <p:cNvPr id="99" name="AutoShape 97"/>
          <p:cNvSpPr>
            <a:spLocks noChangeArrowheads="1"/>
          </p:cNvSpPr>
          <p:nvPr/>
        </p:nvSpPr>
        <p:spPr bwMode="auto">
          <a:xfrm>
            <a:off x="179512" y="5517009"/>
            <a:ext cx="2879725" cy="431800"/>
          </a:xfrm>
          <a:prstGeom prst="wedgeRoundRectCallout">
            <a:avLst>
              <a:gd name="adj1" fmla="val 51486"/>
              <a:gd name="adj2" fmla="val -160296"/>
              <a:gd name="adj3" fmla="val 16667"/>
            </a:avLst>
          </a:prstGeom>
          <a:solidFill>
            <a:srgbClr val="FF3300"/>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p>
            <a:pPr algn="ctr"/>
            <a:r>
              <a:rPr kumimoji="0" lang="zh-CN" altLang="en-US" sz="1800" b="1">
                <a:solidFill>
                  <a:schemeClr val="bg1"/>
                </a:solidFill>
                <a:ea typeface="楷体" panose="02010609060101010101" pitchFamily="49" charset="-122"/>
              </a:rPr>
              <a:t>取</a:t>
            </a:r>
            <a:r>
              <a:rPr kumimoji="0" lang="en-US" altLang="zh-CN" sz="1800" b="1">
                <a:solidFill>
                  <a:schemeClr val="bg1"/>
                </a:solidFill>
                <a:ea typeface="楷体" panose="02010609060101010101" pitchFamily="49" charset="-122"/>
              </a:rPr>
              <a:t>outq</a:t>
            </a:r>
            <a:r>
              <a:rPr kumimoji="0" lang="en-US" altLang="zh-CN" sz="1800" b="1">
                <a:solidFill>
                  <a:schemeClr val="bg1"/>
                </a:solidFill>
                <a:ea typeface="楷体" panose="02010609060101010101" pitchFamily="49" charset="-122"/>
                <a:sym typeface="Symbol" panose="05050102010706020507" pitchFamily="18" charset="2"/>
              </a:rPr>
              <a:t></a:t>
            </a:r>
            <a:r>
              <a:rPr kumimoji="0" lang="zh-CN" altLang="en-US" sz="1800" b="1">
                <a:solidFill>
                  <a:schemeClr val="bg1"/>
                </a:solidFill>
                <a:ea typeface="楷体" panose="02010609060101010101" pitchFamily="49" charset="-122"/>
                <a:sym typeface="Symbol" panose="05050102010706020507" pitchFamily="18" charset="2"/>
              </a:rPr>
              <a:t>作为</a:t>
            </a:r>
            <a:r>
              <a:rPr kumimoji="0" lang="en-US" altLang="zh-CN" sz="1800" b="1">
                <a:solidFill>
                  <a:schemeClr val="bg1"/>
                </a:solidFill>
                <a:ea typeface="楷体" panose="02010609060101010101" pitchFamily="49" charset="-122"/>
                <a:sym typeface="Symbol" panose="05050102010706020507" pitchFamily="18" charset="2"/>
              </a:rPr>
              <a:t>sout</a:t>
            </a:r>
            <a:r>
              <a:rPr kumimoji="0" lang="zh-CN" altLang="en-US" sz="1800" b="1">
                <a:solidFill>
                  <a:schemeClr val="bg1"/>
                </a:solidFill>
                <a:ea typeface="楷体" panose="02010609060101010101" pitchFamily="49" charset="-122"/>
              </a:rPr>
              <a:t>放</a:t>
            </a:r>
            <a:r>
              <a:rPr kumimoji="0" lang="en-US" altLang="zh-CN" sz="1800" b="1">
                <a:solidFill>
                  <a:schemeClr val="bg1"/>
                </a:solidFill>
                <a:ea typeface="楷体" panose="02010609060101010101" pitchFamily="49" charset="-122"/>
              </a:rPr>
              <a:t>emq</a:t>
            </a:r>
          </a:p>
        </p:txBody>
      </p:sp>
      <p:sp>
        <p:nvSpPr>
          <p:cNvPr id="100" name="AutoShape 98"/>
          <p:cNvSpPr>
            <a:spLocks noChangeArrowheads="1"/>
          </p:cNvSpPr>
          <p:nvPr/>
        </p:nvSpPr>
        <p:spPr bwMode="auto">
          <a:xfrm>
            <a:off x="6299325" y="4075559"/>
            <a:ext cx="2592387" cy="433388"/>
          </a:xfrm>
          <a:prstGeom prst="wedgeRoundRectCallout">
            <a:avLst>
              <a:gd name="adj1" fmla="val -61083"/>
              <a:gd name="adj2" fmla="val 88829"/>
              <a:gd name="adj3" fmla="val 16667"/>
            </a:avLst>
          </a:prstGeom>
          <a:solidFill>
            <a:srgbClr val="FF3300"/>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p>
            <a:pPr algn="ctr"/>
            <a:r>
              <a:rPr kumimoji="0" lang="zh-CN" altLang="en-US" sz="1800" b="1">
                <a:solidFill>
                  <a:schemeClr val="bg1"/>
                </a:solidFill>
                <a:ea typeface="楷体" panose="02010609060101010101" pitchFamily="49" charset="-122"/>
              </a:rPr>
              <a:t>取</a:t>
            </a:r>
            <a:r>
              <a:rPr kumimoji="0" lang="en-US" altLang="zh-CN" sz="1800" b="1">
                <a:solidFill>
                  <a:schemeClr val="bg1"/>
                </a:solidFill>
                <a:ea typeface="楷体" panose="02010609060101010101" pitchFamily="49" charset="-122"/>
              </a:rPr>
              <a:t>inq</a:t>
            </a:r>
            <a:r>
              <a:rPr kumimoji="0" lang="en-US" altLang="zh-CN" sz="1800" b="1">
                <a:solidFill>
                  <a:schemeClr val="bg1"/>
                </a:solidFill>
                <a:ea typeface="楷体" panose="02010609060101010101" pitchFamily="49" charset="-122"/>
                <a:sym typeface="Symbol" panose="05050102010706020507" pitchFamily="18" charset="2"/>
              </a:rPr>
              <a:t></a:t>
            </a:r>
            <a:r>
              <a:rPr kumimoji="0" lang="zh-CN" altLang="en-US" sz="1800" b="1">
                <a:solidFill>
                  <a:schemeClr val="bg1"/>
                </a:solidFill>
                <a:ea typeface="楷体" panose="02010609060101010101" pitchFamily="49" charset="-122"/>
                <a:sym typeface="Symbol" panose="05050102010706020507" pitchFamily="18" charset="2"/>
              </a:rPr>
              <a:t>作为</a:t>
            </a:r>
            <a:r>
              <a:rPr kumimoji="0" lang="en-US" altLang="zh-CN" sz="1800" b="1">
                <a:solidFill>
                  <a:schemeClr val="bg1"/>
                </a:solidFill>
                <a:ea typeface="楷体" panose="02010609060101010101" pitchFamily="49" charset="-122"/>
                <a:sym typeface="Symbol" panose="05050102010706020507" pitchFamily="18" charset="2"/>
              </a:rPr>
              <a:t>sin</a:t>
            </a:r>
            <a:r>
              <a:rPr kumimoji="0" lang="zh-CN" altLang="en-US" sz="1800" b="1">
                <a:solidFill>
                  <a:schemeClr val="bg1"/>
                </a:solidFill>
                <a:ea typeface="楷体" panose="02010609060101010101" pitchFamily="49" charset="-122"/>
              </a:rPr>
              <a:t>放</a:t>
            </a:r>
            <a:r>
              <a:rPr kumimoji="0" lang="en-US" altLang="zh-CN" sz="1800" b="1">
                <a:solidFill>
                  <a:schemeClr val="bg1"/>
                </a:solidFill>
                <a:ea typeface="楷体" panose="02010609060101010101" pitchFamily="49" charset="-122"/>
              </a:rPr>
              <a:t>emq</a:t>
            </a:r>
          </a:p>
        </p:txBody>
      </p:sp>
      <p:sp>
        <p:nvSpPr>
          <p:cNvPr id="101" name="AutoShape 99"/>
          <p:cNvSpPr>
            <a:spLocks noChangeArrowheads="1"/>
          </p:cNvSpPr>
          <p:nvPr/>
        </p:nvSpPr>
        <p:spPr bwMode="auto">
          <a:xfrm>
            <a:off x="5940550" y="5517009"/>
            <a:ext cx="2951162" cy="431800"/>
          </a:xfrm>
          <a:prstGeom prst="wedgeRoundRectCallout">
            <a:avLst>
              <a:gd name="adj1" fmla="val -48171"/>
              <a:gd name="adj2" fmla="val -164704"/>
              <a:gd name="adj3" fmla="val 16667"/>
            </a:avLst>
          </a:prstGeom>
          <a:solidFill>
            <a:srgbClr val="FF3300"/>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p>
            <a:pPr>
              <a:spcBef>
                <a:spcPct val="50000"/>
              </a:spcBef>
            </a:pPr>
            <a:r>
              <a:rPr kumimoji="0" lang="zh-CN" altLang="en-US" sz="1800" b="1">
                <a:solidFill>
                  <a:schemeClr val="bg1"/>
                </a:solidFill>
                <a:ea typeface="楷体" panose="02010609060101010101" pitchFamily="49" charset="-122"/>
              </a:rPr>
              <a:t>取</a:t>
            </a:r>
            <a:r>
              <a:rPr kumimoji="0" lang="en-US" altLang="zh-CN" sz="1800" b="1">
                <a:solidFill>
                  <a:schemeClr val="bg1"/>
                </a:solidFill>
                <a:ea typeface="楷体" panose="02010609060101010101" pitchFamily="49" charset="-122"/>
              </a:rPr>
              <a:t>emq</a:t>
            </a:r>
            <a:r>
              <a:rPr kumimoji="0" lang="en-US" altLang="zh-CN" sz="1800" b="1">
                <a:solidFill>
                  <a:schemeClr val="bg1"/>
                </a:solidFill>
                <a:ea typeface="楷体" panose="02010609060101010101" pitchFamily="49" charset="-122"/>
                <a:sym typeface="Symbol" panose="05050102010706020507" pitchFamily="18" charset="2"/>
              </a:rPr>
              <a:t></a:t>
            </a:r>
            <a:r>
              <a:rPr kumimoji="0" lang="zh-CN" altLang="en-US" sz="1800" b="1">
                <a:solidFill>
                  <a:schemeClr val="bg1"/>
                </a:solidFill>
                <a:ea typeface="楷体" panose="02010609060101010101" pitchFamily="49" charset="-122"/>
                <a:sym typeface="Symbol" panose="05050102010706020507" pitchFamily="18" charset="2"/>
              </a:rPr>
              <a:t>作为</a:t>
            </a:r>
            <a:r>
              <a:rPr kumimoji="0" lang="en-US" altLang="zh-CN" sz="1800" b="1">
                <a:solidFill>
                  <a:schemeClr val="bg1"/>
                </a:solidFill>
                <a:ea typeface="楷体" panose="02010609060101010101" pitchFamily="49" charset="-122"/>
                <a:sym typeface="Symbol" panose="05050102010706020507" pitchFamily="18" charset="2"/>
              </a:rPr>
              <a:t>hout</a:t>
            </a:r>
            <a:r>
              <a:rPr kumimoji="0" lang="zh-CN" altLang="en-US" sz="1800" b="1">
                <a:solidFill>
                  <a:schemeClr val="bg1"/>
                </a:solidFill>
                <a:ea typeface="楷体" panose="02010609060101010101" pitchFamily="49" charset="-122"/>
                <a:sym typeface="Symbol" panose="05050102010706020507" pitchFamily="18" charset="2"/>
              </a:rPr>
              <a:t>放</a:t>
            </a:r>
            <a:r>
              <a:rPr kumimoji="0" lang="en-US" altLang="zh-CN" sz="1800" b="1">
                <a:solidFill>
                  <a:schemeClr val="bg1"/>
                </a:solidFill>
                <a:ea typeface="楷体" panose="02010609060101010101" pitchFamily="49" charset="-122"/>
                <a:sym typeface="Symbol" panose="05050102010706020507" pitchFamily="18" charset="2"/>
              </a:rPr>
              <a:t>outq</a:t>
            </a:r>
            <a:endParaRPr kumimoji="0" lang="en-US" altLang="zh-CN" sz="1800" b="1">
              <a:ea typeface="楷体" panose="02010609060101010101" pitchFamily="49" charset="-122"/>
            </a:endParaRPr>
          </a:p>
        </p:txBody>
      </p:sp>
    </p:spTree>
    <p:extLst>
      <p:ext uri="{BB962C8B-B14F-4D97-AF65-F5344CB8AC3E}">
        <p14:creationId xmlns:p14="http://schemas.microsoft.com/office/powerpoint/2010/main" val="3244882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8"/>
                                        </p:tgtEl>
                                        <p:attrNameLst>
                                          <p:attrName>style.visibility</p:attrName>
                                        </p:attrNameLst>
                                      </p:cBhvr>
                                      <p:to>
                                        <p:strVal val="visible"/>
                                      </p:to>
                                    </p:set>
                                    <p:animEffect transition="in" filter="wipe(down)">
                                      <p:cBhvr>
                                        <p:cTn id="12" dur="500"/>
                                        <p:tgtEl>
                                          <p:spTgt spid="9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0"/>
                                        </p:tgtEl>
                                        <p:attrNameLst>
                                          <p:attrName>style.visibility</p:attrName>
                                        </p:attrNameLst>
                                      </p:cBhvr>
                                      <p:to>
                                        <p:strVal val="visible"/>
                                      </p:to>
                                    </p:set>
                                    <p:animEffect transition="in" filter="wipe(down)">
                                      <p:cBhvr>
                                        <p:cTn id="17" dur="500"/>
                                        <p:tgtEl>
                                          <p:spTgt spid="1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1"/>
                                        </p:tgtEl>
                                        <p:attrNameLst>
                                          <p:attrName>style.visibility</p:attrName>
                                        </p:attrNameLst>
                                      </p:cBhvr>
                                      <p:to>
                                        <p:strVal val="visible"/>
                                      </p:to>
                                    </p:set>
                                    <p:animEffect transition="in" filter="wipe(up)">
                                      <p:cBhvr>
                                        <p:cTn id="22" dur="500"/>
                                        <p:tgtEl>
                                          <p:spTgt spid="10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99"/>
                                        </p:tgtEl>
                                        <p:attrNameLst>
                                          <p:attrName>style.visibility</p:attrName>
                                        </p:attrNameLst>
                                      </p:cBhvr>
                                      <p:to>
                                        <p:strVal val="visible"/>
                                      </p:to>
                                    </p:set>
                                    <p:animEffect transition="in" filter="wipe(up)">
                                      <p:cBhvr>
                                        <p:cTn id="27" dur="500"/>
                                        <p:tgtEl>
                                          <p:spTgt spid="9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7"/>
                                        </p:tgtEl>
                                        <p:attrNameLst>
                                          <p:attrName>style.visibility</p:attrName>
                                        </p:attrNameLst>
                                      </p:cBhvr>
                                      <p:to>
                                        <p:strVal val="visible"/>
                                      </p:to>
                                    </p:set>
                                    <p:animEffect transition="in" filter="wipe(left)">
                                      <p:cBhvr>
                                        <p:cTn id="32"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8" grpId="0" animBg="1"/>
      <p:bldP spid="99" grpId="0" animBg="1"/>
      <p:bldP spid="100" grpId="0" animBg="1"/>
      <p:bldP spid="101"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缓冲池技术</a:t>
            </a:r>
          </a:p>
        </p:txBody>
      </p:sp>
      <p:sp>
        <p:nvSpPr>
          <p:cNvPr id="3" name="Content Placeholder 2"/>
          <p:cNvSpPr>
            <a:spLocks noGrp="1"/>
          </p:cNvSpPr>
          <p:nvPr>
            <p:ph idx="1"/>
          </p:nvPr>
        </p:nvSpPr>
        <p:spPr/>
        <p:txBody>
          <a:bodyPr>
            <a:normAutofit lnSpcReduction="10000"/>
          </a:bodyPr>
          <a:lstStyle/>
          <a:p>
            <a:r>
              <a:rPr lang="en-US" altLang="zh-CN" dirty="0" err="1"/>
              <a:t>Getbuf</a:t>
            </a:r>
            <a:r>
              <a:rPr lang="zh-CN" altLang="en-US" dirty="0"/>
              <a:t>与</a:t>
            </a:r>
            <a:r>
              <a:rPr lang="en-US" altLang="zh-CN" dirty="0" err="1"/>
              <a:t>Putbuf</a:t>
            </a:r>
            <a:r>
              <a:rPr lang="zh-CN" altLang="en-US" dirty="0"/>
              <a:t>操作</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marL="719138" lvl="1" indent="-274638">
              <a:lnSpc>
                <a:spcPct val="110000"/>
              </a:lnSpc>
              <a:spcBef>
                <a:spcPct val="10000"/>
              </a:spcBef>
            </a:pPr>
            <a:endParaRPr lang="en-US" altLang="zh-CN" dirty="0"/>
          </a:p>
          <a:p>
            <a:pPr marL="719138" lvl="1" indent="-274638">
              <a:lnSpc>
                <a:spcPct val="110000"/>
              </a:lnSpc>
              <a:spcBef>
                <a:spcPct val="10000"/>
              </a:spcBef>
            </a:pPr>
            <a:r>
              <a:rPr lang="zh-CN" altLang="en-US" dirty="0"/>
              <a:t>为每个队列设置互斥信号量</a:t>
            </a:r>
            <a:r>
              <a:rPr lang="en-US" altLang="zh-CN" dirty="0"/>
              <a:t>MS(type)</a:t>
            </a:r>
            <a:r>
              <a:rPr lang="zh-CN" altLang="en-US" dirty="0"/>
              <a:t>、资源信号量</a:t>
            </a:r>
            <a:r>
              <a:rPr lang="en-US" altLang="zh-CN" dirty="0"/>
              <a:t>RS(type)</a:t>
            </a:r>
          </a:p>
          <a:p>
            <a:pPr marL="719138" lvl="1" indent="-274638">
              <a:lnSpc>
                <a:spcPct val="110000"/>
              </a:lnSpc>
              <a:spcBef>
                <a:spcPct val="10000"/>
              </a:spcBef>
            </a:pPr>
            <a:r>
              <a:rPr lang="en-US" altLang="zh-CN" dirty="0" err="1"/>
              <a:t>Addbuf</a:t>
            </a:r>
            <a:r>
              <a:rPr lang="en-US" altLang="zh-CN" dirty="0"/>
              <a:t>(type, number)</a:t>
            </a:r>
            <a:r>
              <a:rPr lang="zh-CN" altLang="en-US" dirty="0"/>
              <a:t>：将由参数</a:t>
            </a:r>
            <a:r>
              <a:rPr lang="en-US" altLang="zh-CN" dirty="0"/>
              <a:t>number</a:t>
            </a:r>
            <a:r>
              <a:rPr lang="zh-CN" altLang="en-US" dirty="0"/>
              <a:t>所指示的缓冲区</a:t>
            </a:r>
            <a:r>
              <a:rPr lang="en-US" altLang="zh-CN" dirty="0"/>
              <a:t>B</a:t>
            </a:r>
            <a:r>
              <a:rPr lang="zh-CN" altLang="en-US" dirty="0"/>
              <a:t>挂在</a:t>
            </a:r>
            <a:r>
              <a:rPr lang="en-US" altLang="zh-CN" dirty="0"/>
              <a:t>type</a:t>
            </a:r>
            <a:r>
              <a:rPr lang="zh-CN" altLang="en-US" dirty="0"/>
              <a:t>队列上</a:t>
            </a:r>
          </a:p>
          <a:p>
            <a:pPr marL="719138" lvl="1" indent="-274638">
              <a:lnSpc>
                <a:spcPct val="110000"/>
              </a:lnSpc>
              <a:spcBef>
                <a:spcPct val="10000"/>
              </a:spcBef>
            </a:pPr>
            <a:r>
              <a:rPr lang="en-US" altLang="zh-CN" dirty="0" err="1"/>
              <a:t>Takebuf</a:t>
            </a:r>
            <a:r>
              <a:rPr lang="en-US" altLang="zh-CN" dirty="0"/>
              <a:t>(type)</a:t>
            </a:r>
            <a:r>
              <a:rPr lang="zh-CN" altLang="en-US" dirty="0"/>
              <a:t>：从</a:t>
            </a:r>
            <a:r>
              <a:rPr lang="en-US" altLang="zh-CN" dirty="0"/>
              <a:t>type</a:t>
            </a:r>
            <a:r>
              <a:rPr lang="zh-CN" altLang="en-US" dirty="0"/>
              <a:t>所指示的队列的队首摘下一个缓冲区</a:t>
            </a:r>
          </a:p>
          <a:p>
            <a:pPr lvl="1"/>
            <a:endParaRPr lang="en-US" altLang="zh-CN" dirty="0"/>
          </a:p>
          <a:p>
            <a:pPr lvl="1"/>
            <a:endParaRPr lang="en-US" altLang="zh-CN" dirty="0"/>
          </a:p>
          <a:p>
            <a:pPr lvl="1"/>
            <a:endParaRPr lang="zh-CN" altLang="en-US" dirty="0"/>
          </a:p>
        </p:txBody>
      </p:sp>
      <p:sp>
        <p:nvSpPr>
          <p:cNvPr id="4" name="Date Placeholder 3"/>
          <p:cNvSpPr>
            <a:spLocks noGrp="1"/>
          </p:cNvSpPr>
          <p:nvPr>
            <p:ph type="dt" sz="half" idx="10"/>
          </p:nvPr>
        </p:nvSpPr>
        <p:spPr/>
        <p:txBody>
          <a:bodyPr/>
          <a:lstStyle/>
          <a:p>
            <a:fld id="{A2E66F7E-B565-46E6-ABBA-58D11BE93CD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51</a:t>
            </a:fld>
            <a:endParaRPr lang="zh-CN" altLang="en-US" dirty="0"/>
          </a:p>
        </p:txBody>
      </p:sp>
      <p:sp>
        <p:nvSpPr>
          <p:cNvPr id="7" name="Text Box 100"/>
          <p:cNvSpPr txBox="1">
            <a:spLocks noChangeArrowheads="1"/>
          </p:cNvSpPr>
          <p:nvPr/>
        </p:nvSpPr>
        <p:spPr bwMode="auto">
          <a:xfrm>
            <a:off x="611188" y="2060848"/>
            <a:ext cx="3889375" cy="201295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5000"/>
              </a:lnSpc>
            </a:pPr>
            <a:r>
              <a:rPr lang="en-US" altLang="zh-CN" b="1" dirty="0"/>
              <a:t>Procedure </a:t>
            </a:r>
            <a:r>
              <a:rPr lang="en-US" altLang="zh-CN" b="1" dirty="0" err="1"/>
              <a:t>Getbuf</a:t>
            </a:r>
            <a:r>
              <a:rPr lang="en-US" altLang="zh-CN" b="1" dirty="0"/>
              <a:t>(type)</a:t>
            </a:r>
          </a:p>
          <a:p>
            <a:pPr>
              <a:lnSpc>
                <a:spcPct val="105000"/>
              </a:lnSpc>
            </a:pPr>
            <a:r>
              <a:rPr lang="en-US" altLang="zh-CN" b="1" dirty="0"/>
              <a:t>  P(RS(type));</a:t>
            </a:r>
          </a:p>
          <a:p>
            <a:pPr>
              <a:lnSpc>
                <a:spcPct val="105000"/>
              </a:lnSpc>
            </a:pPr>
            <a:r>
              <a:rPr lang="en-US" altLang="zh-CN" b="1" dirty="0"/>
              <a:t>  P(MS(type));</a:t>
            </a:r>
          </a:p>
          <a:p>
            <a:pPr>
              <a:lnSpc>
                <a:spcPct val="105000"/>
              </a:lnSpc>
            </a:pPr>
            <a:r>
              <a:rPr lang="en-US" altLang="zh-CN" b="1" dirty="0"/>
              <a:t>  B(number)=</a:t>
            </a:r>
            <a:r>
              <a:rPr lang="en-US" altLang="zh-CN" b="1" dirty="0" err="1"/>
              <a:t>Takebuf</a:t>
            </a:r>
            <a:r>
              <a:rPr lang="en-US" altLang="zh-CN" b="1" dirty="0"/>
              <a:t>(type);</a:t>
            </a:r>
          </a:p>
          <a:p>
            <a:pPr>
              <a:lnSpc>
                <a:spcPct val="105000"/>
              </a:lnSpc>
            </a:pPr>
            <a:r>
              <a:rPr lang="en-US" altLang="zh-CN" b="1" dirty="0"/>
              <a:t>  V(MS(type));</a:t>
            </a:r>
          </a:p>
        </p:txBody>
      </p:sp>
      <p:sp>
        <p:nvSpPr>
          <p:cNvPr id="8" name="Text Box 101"/>
          <p:cNvSpPr txBox="1">
            <a:spLocks noChangeArrowheads="1"/>
          </p:cNvSpPr>
          <p:nvPr/>
        </p:nvSpPr>
        <p:spPr bwMode="auto">
          <a:xfrm>
            <a:off x="4788025" y="2062435"/>
            <a:ext cx="3744416" cy="1546577"/>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05000"/>
              </a:lnSpc>
            </a:pPr>
            <a:r>
              <a:rPr lang="en-US" altLang="zh-CN" b="1" dirty="0"/>
              <a:t>Procedure </a:t>
            </a:r>
            <a:r>
              <a:rPr lang="en-US" altLang="zh-CN" b="1" dirty="0" err="1"/>
              <a:t>Putbuf</a:t>
            </a:r>
            <a:r>
              <a:rPr lang="en-US" altLang="zh-CN" b="1" dirty="0"/>
              <a:t>(type, number)</a:t>
            </a:r>
          </a:p>
          <a:p>
            <a:pPr>
              <a:lnSpc>
                <a:spcPct val="105000"/>
              </a:lnSpc>
            </a:pPr>
            <a:r>
              <a:rPr lang="en-US" altLang="zh-CN" b="1" dirty="0"/>
              <a:t>  P(MS(type));</a:t>
            </a:r>
          </a:p>
          <a:p>
            <a:pPr>
              <a:lnSpc>
                <a:spcPct val="105000"/>
              </a:lnSpc>
            </a:pPr>
            <a:r>
              <a:rPr lang="en-US" altLang="zh-CN" b="1" dirty="0"/>
              <a:t>  </a:t>
            </a:r>
            <a:r>
              <a:rPr lang="en-US" altLang="zh-CN" b="1" dirty="0" err="1"/>
              <a:t>Addbuf</a:t>
            </a:r>
            <a:r>
              <a:rPr lang="en-US" altLang="zh-CN" b="1" dirty="0"/>
              <a:t>(type, number);</a:t>
            </a:r>
          </a:p>
          <a:p>
            <a:pPr>
              <a:lnSpc>
                <a:spcPct val="105000"/>
              </a:lnSpc>
            </a:pPr>
            <a:r>
              <a:rPr lang="en-US" altLang="zh-CN" b="1" dirty="0"/>
              <a:t>  V(MS(type));</a:t>
            </a:r>
          </a:p>
          <a:p>
            <a:pPr>
              <a:lnSpc>
                <a:spcPct val="105000"/>
              </a:lnSpc>
            </a:pPr>
            <a:r>
              <a:rPr lang="en-US" altLang="zh-CN" b="1" dirty="0"/>
              <a:t>  V(RS(type));</a:t>
            </a:r>
          </a:p>
        </p:txBody>
      </p:sp>
    </p:spTree>
    <p:extLst>
      <p:ext uri="{BB962C8B-B14F-4D97-AF65-F5344CB8AC3E}">
        <p14:creationId xmlns:p14="http://schemas.microsoft.com/office/powerpoint/2010/main" val="3630691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缓冲区的工作方式</a:t>
            </a:r>
          </a:p>
        </p:txBody>
      </p:sp>
      <p:sp>
        <p:nvSpPr>
          <p:cNvPr id="4" name="Date Placeholder 3"/>
          <p:cNvSpPr>
            <a:spLocks noGrp="1"/>
          </p:cNvSpPr>
          <p:nvPr>
            <p:ph type="dt" sz="half" idx="10"/>
          </p:nvPr>
        </p:nvSpPr>
        <p:spPr/>
        <p:txBody>
          <a:bodyPr/>
          <a:lstStyle/>
          <a:p>
            <a:fld id="{CCF744CE-8337-482A-B340-4D36D9689B98}"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52</a:t>
            </a:fld>
            <a:endParaRPr lang="zh-CN" altLang="en-US" dirty="0"/>
          </a:p>
        </p:txBody>
      </p:sp>
      <p:sp>
        <p:nvSpPr>
          <p:cNvPr id="7" name="Text Box 7"/>
          <p:cNvSpPr txBox="1">
            <a:spLocks noChangeArrowheads="1"/>
          </p:cNvSpPr>
          <p:nvPr/>
        </p:nvSpPr>
        <p:spPr bwMode="auto">
          <a:xfrm>
            <a:off x="250825" y="2708275"/>
            <a:ext cx="2520950" cy="1283428"/>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lang="zh-CN" altLang="en-US" b="1">
                <a:solidFill>
                  <a:srgbClr val="FF3300"/>
                </a:solidFill>
                <a:ea typeface="楷体" panose="02010609060101010101" pitchFamily="49" charset="-122"/>
              </a:rPr>
              <a:t>收容输入：</a:t>
            </a:r>
          </a:p>
          <a:p>
            <a:pPr>
              <a:spcBef>
                <a:spcPct val="10000"/>
              </a:spcBef>
            </a:pPr>
            <a:r>
              <a:rPr lang="en-US" altLang="zh-CN" b="1">
                <a:ea typeface="楷体" panose="02010609060101010101" pitchFamily="49" charset="-122"/>
              </a:rPr>
              <a:t>hin=Getbuf(emq);</a:t>
            </a:r>
          </a:p>
          <a:p>
            <a:pPr>
              <a:spcBef>
                <a:spcPct val="10000"/>
              </a:spcBef>
            </a:pPr>
            <a:r>
              <a:rPr lang="zh-CN" altLang="en-US" b="1">
                <a:ea typeface="楷体" panose="02010609060101010101" pitchFamily="49" charset="-122"/>
              </a:rPr>
              <a:t>输入数据至</a:t>
            </a:r>
            <a:r>
              <a:rPr lang="en-US" altLang="zh-CN" b="1">
                <a:ea typeface="楷体" panose="02010609060101010101" pitchFamily="49" charset="-122"/>
              </a:rPr>
              <a:t>hin;</a:t>
            </a:r>
          </a:p>
          <a:p>
            <a:pPr>
              <a:spcBef>
                <a:spcPct val="10000"/>
              </a:spcBef>
            </a:pPr>
            <a:r>
              <a:rPr lang="en-US" altLang="zh-CN" b="1">
                <a:ea typeface="楷体" panose="02010609060101010101" pitchFamily="49" charset="-122"/>
              </a:rPr>
              <a:t>Putbuf(inq, hin)</a:t>
            </a:r>
            <a:endParaRPr lang="en-US" altLang="zh-CN" b="1">
              <a:ea typeface="楷体" panose="02010609060101010101" pitchFamily="49" charset="-122"/>
              <a:cs typeface="Times New Roman" panose="02020603050405020304" pitchFamily="18" charset="0"/>
            </a:endParaRPr>
          </a:p>
        </p:txBody>
      </p:sp>
      <p:sp>
        <p:nvSpPr>
          <p:cNvPr id="8" name="AutoShape 12"/>
          <p:cNvSpPr>
            <a:spLocks noChangeArrowheads="1"/>
          </p:cNvSpPr>
          <p:nvPr/>
        </p:nvSpPr>
        <p:spPr bwMode="auto">
          <a:xfrm>
            <a:off x="7380288" y="2997200"/>
            <a:ext cx="1655762" cy="1079500"/>
          </a:xfrm>
          <a:prstGeom prst="irregularSeal2">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b="1">
                <a:ea typeface="楷体" panose="02010609060101010101" pitchFamily="49" charset="-122"/>
              </a:rPr>
              <a:t>应用进程</a:t>
            </a:r>
          </a:p>
        </p:txBody>
      </p:sp>
      <p:sp>
        <p:nvSpPr>
          <p:cNvPr id="9" name="Rectangle 14"/>
          <p:cNvSpPr>
            <a:spLocks noChangeArrowheads="1"/>
          </p:cNvSpPr>
          <p:nvPr/>
        </p:nvSpPr>
        <p:spPr bwMode="auto">
          <a:xfrm>
            <a:off x="3851275" y="1917700"/>
            <a:ext cx="3313113" cy="23034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nvGrpSpPr>
          <p:cNvPr id="10" name="Group 15"/>
          <p:cNvGrpSpPr>
            <a:grpSpLocks/>
          </p:cNvGrpSpPr>
          <p:nvPr/>
        </p:nvGrpSpPr>
        <p:grpSpPr bwMode="auto">
          <a:xfrm>
            <a:off x="4356100" y="2044700"/>
            <a:ext cx="431800" cy="215900"/>
            <a:chOff x="2336" y="2659"/>
            <a:chExt cx="272" cy="136"/>
          </a:xfrm>
        </p:grpSpPr>
        <p:sp>
          <p:nvSpPr>
            <p:cNvPr id="11" name="Rectangle 16"/>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12" name="Line 17"/>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13" name="Line 18"/>
          <p:cNvSpPr>
            <a:spLocks noChangeShapeType="1"/>
          </p:cNvSpPr>
          <p:nvPr/>
        </p:nvSpPr>
        <p:spPr bwMode="auto">
          <a:xfrm>
            <a:off x="4714875" y="2149475"/>
            <a:ext cx="217488"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14" name="Group 19"/>
          <p:cNvGrpSpPr>
            <a:grpSpLocks/>
          </p:cNvGrpSpPr>
          <p:nvPr/>
        </p:nvGrpSpPr>
        <p:grpSpPr bwMode="auto">
          <a:xfrm>
            <a:off x="4932363" y="2044700"/>
            <a:ext cx="431800" cy="215900"/>
            <a:chOff x="2336" y="2659"/>
            <a:chExt cx="272" cy="136"/>
          </a:xfrm>
        </p:grpSpPr>
        <p:sp>
          <p:nvSpPr>
            <p:cNvPr id="15" name="Rectangle 20"/>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16" name="Line 21"/>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17" name="Line 22"/>
          <p:cNvSpPr>
            <a:spLocks noChangeShapeType="1"/>
          </p:cNvSpPr>
          <p:nvPr/>
        </p:nvSpPr>
        <p:spPr bwMode="auto">
          <a:xfrm>
            <a:off x="5291138" y="2149475"/>
            <a:ext cx="21748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18" name="Group 23"/>
          <p:cNvGrpSpPr>
            <a:grpSpLocks/>
          </p:cNvGrpSpPr>
          <p:nvPr/>
        </p:nvGrpSpPr>
        <p:grpSpPr bwMode="auto">
          <a:xfrm>
            <a:off x="5508625" y="2044700"/>
            <a:ext cx="431800" cy="215900"/>
            <a:chOff x="2336" y="2659"/>
            <a:chExt cx="272" cy="136"/>
          </a:xfrm>
        </p:grpSpPr>
        <p:sp>
          <p:nvSpPr>
            <p:cNvPr id="19" name="Rectangle 24"/>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20" name="Line 25"/>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21" name="Line 26"/>
          <p:cNvSpPr>
            <a:spLocks noChangeShapeType="1"/>
          </p:cNvSpPr>
          <p:nvPr/>
        </p:nvSpPr>
        <p:spPr bwMode="auto">
          <a:xfrm>
            <a:off x="5867400" y="2149475"/>
            <a:ext cx="217488"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22" name="Group 27"/>
          <p:cNvGrpSpPr>
            <a:grpSpLocks/>
          </p:cNvGrpSpPr>
          <p:nvPr/>
        </p:nvGrpSpPr>
        <p:grpSpPr bwMode="auto">
          <a:xfrm>
            <a:off x="6084888" y="2044700"/>
            <a:ext cx="431800" cy="215900"/>
            <a:chOff x="2336" y="2659"/>
            <a:chExt cx="272" cy="136"/>
          </a:xfrm>
        </p:grpSpPr>
        <p:sp>
          <p:nvSpPr>
            <p:cNvPr id="23" name="Rectangle 28"/>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24" name="Line 29"/>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25" name="Group 34"/>
          <p:cNvGrpSpPr>
            <a:grpSpLocks/>
          </p:cNvGrpSpPr>
          <p:nvPr/>
        </p:nvGrpSpPr>
        <p:grpSpPr bwMode="auto">
          <a:xfrm>
            <a:off x="4356100" y="2416175"/>
            <a:ext cx="431800" cy="215900"/>
            <a:chOff x="2336" y="2659"/>
            <a:chExt cx="272" cy="136"/>
          </a:xfrm>
        </p:grpSpPr>
        <p:sp>
          <p:nvSpPr>
            <p:cNvPr id="26" name="Rectangle 35"/>
            <p:cNvSpPr>
              <a:spLocks noChangeArrowheads="1"/>
            </p:cNvSpPr>
            <p:nvPr/>
          </p:nvSpPr>
          <p:spPr bwMode="auto">
            <a:xfrm>
              <a:off x="2336" y="2659"/>
              <a:ext cx="272" cy="1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27" name="Line 36"/>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28" name="Line 37"/>
          <p:cNvSpPr>
            <a:spLocks noChangeShapeType="1"/>
          </p:cNvSpPr>
          <p:nvPr/>
        </p:nvSpPr>
        <p:spPr bwMode="auto">
          <a:xfrm>
            <a:off x="4714875" y="2520950"/>
            <a:ext cx="217488"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29" name="Group 38"/>
          <p:cNvGrpSpPr>
            <a:grpSpLocks/>
          </p:cNvGrpSpPr>
          <p:nvPr/>
        </p:nvGrpSpPr>
        <p:grpSpPr bwMode="auto">
          <a:xfrm>
            <a:off x="4932363" y="2416175"/>
            <a:ext cx="431800" cy="215900"/>
            <a:chOff x="2336" y="2659"/>
            <a:chExt cx="272" cy="136"/>
          </a:xfrm>
        </p:grpSpPr>
        <p:sp>
          <p:nvSpPr>
            <p:cNvPr id="30" name="Rectangle 39"/>
            <p:cNvSpPr>
              <a:spLocks noChangeArrowheads="1"/>
            </p:cNvSpPr>
            <p:nvPr/>
          </p:nvSpPr>
          <p:spPr bwMode="auto">
            <a:xfrm>
              <a:off x="2336" y="2659"/>
              <a:ext cx="272" cy="1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1" name="Line 40"/>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32" name="Line 41"/>
          <p:cNvSpPr>
            <a:spLocks noChangeShapeType="1"/>
          </p:cNvSpPr>
          <p:nvPr/>
        </p:nvSpPr>
        <p:spPr bwMode="auto">
          <a:xfrm>
            <a:off x="5291138" y="2520950"/>
            <a:ext cx="21748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33" name="Group 42"/>
          <p:cNvGrpSpPr>
            <a:grpSpLocks/>
          </p:cNvGrpSpPr>
          <p:nvPr/>
        </p:nvGrpSpPr>
        <p:grpSpPr bwMode="auto">
          <a:xfrm>
            <a:off x="5508625" y="2416175"/>
            <a:ext cx="431800" cy="215900"/>
            <a:chOff x="2336" y="2659"/>
            <a:chExt cx="272" cy="136"/>
          </a:xfrm>
        </p:grpSpPr>
        <p:sp>
          <p:nvSpPr>
            <p:cNvPr id="34" name="Rectangle 43"/>
            <p:cNvSpPr>
              <a:spLocks noChangeArrowheads="1"/>
            </p:cNvSpPr>
            <p:nvPr/>
          </p:nvSpPr>
          <p:spPr bwMode="auto">
            <a:xfrm>
              <a:off x="2336" y="2659"/>
              <a:ext cx="272" cy="1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5" name="Line 44"/>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36" name="Group 45"/>
          <p:cNvGrpSpPr>
            <a:grpSpLocks/>
          </p:cNvGrpSpPr>
          <p:nvPr/>
        </p:nvGrpSpPr>
        <p:grpSpPr bwMode="auto">
          <a:xfrm>
            <a:off x="4356100" y="2765425"/>
            <a:ext cx="431800" cy="215900"/>
            <a:chOff x="2336" y="2659"/>
            <a:chExt cx="272" cy="136"/>
          </a:xfrm>
        </p:grpSpPr>
        <p:sp>
          <p:nvSpPr>
            <p:cNvPr id="37" name="Rectangle 46"/>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8" name="Line 47"/>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39" name="Line 48"/>
          <p:cNvSpPr>
            <a:spLocks noChangeShapeType="1"/>
          </p:cNvSpPr>
          <p:nvPr/>
        </p:nvSpPr>
        <p:spPr bwMode="auto">
          <a:xfrm>
            <a:off x="4714875" y="2870200"/>
            <a:ext cx="217488"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40" name="Group 49"/>
          <p:cNvGrpSpPr>
            <a:grpSpLocks/>
          </p:cNvGrpSpPr>
          <p:nvPr/>
        </p:nvGrpSpPr>
        <p:grpSpPr bwMode="auto">
          <a:xfrm>
            <a:off x="4932363" y="2765425"/>
            <a:ext cx="431800" cy="215900"/>
            <a:chOff x="2336" y="2659"/>
            <a:chExt cx="272" cy="136"/>
          </a:xfrm>
        </p:grpSpPr>
        <p:sp>
          <p:nvSpPr>
            <p:cNvPr id="41" name="Rectangle 50"/>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42" name="Line 51"/>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43" name="Line 52"/>
          <p:cNvSpPr>
            <a:spLocks noChangeShapeType="1"/>
          </p:cNvSpPr>
          <p:nvPr/>
        </p:nvSpPr>
        <p:spPr bwMode="auto">
          <a:xfrm>
            <a:off x="5291138" y="2870200"/>
            <a:ext cx="21748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44" name="Group 53"/>
          <p:cNvGrpSpPr>
            <a:grpSpLocks/>
          </p:cNvGrpSpPr>
          <p:nvPr/>
        </p:nvGrpSpPr>
        <p:grpSpPr bwMode="auto">
          <a:xfrm>
            <a:off x="5508625" y="2765425"/>
            <a:ext cx="431800" cy="215900"/>
            <a:chOff x="2336" y="2659"/>
            <a:chExt cx="272" cy="136"/>
          </a:xfrm>
        </p:grpSpPr>
        <p:sp>
          <p:nvSpPr>
            <p:cNvPr id="45" name="Rectangle 54"/>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46" name="Line 55"/>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47" name="Line 56"/>
          <p:cNvSpPr>
            <a:spLocks noChangeShapeType="1"/>
          </p:cNvSpPr>
          <p:nvPr/>
        </p:nvSpPr>
        <p:spPr bwMode="auto">
          <a:xfrm>
            <a:off x="5867400" y="2870200"/>
            <a:ext cx="217488"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8" name="Text Box 57"/>
          <p:cNvSpPr txBox="1">
            <a:spLocks noChangeArrowheads="1"/>
          </p:cNvSpPr>
          <p:nvPr/>
        </p:nvSpPr>
        <p:spPr bwMode="auto">
          <a:xfrm>
            <a:off x="3851275" y="1951038"/>
            <a:ext cx="5762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emq</a:t>
            </a:r>
          </a:p>
        </p:txBody>
      </p:sp>
      <p:sp>
        <p:nvSpPr>
          <p:cNvPr id="49" name="Text Box 58"/>
          <p:cNvSpPr txBox="1">
            <a:spLocks noChangeArrowheads="1"/>
          </p:cNvSpPr>
          <p:nvPr/>
        </p:nvSpPr>
        <p:spPr bwMode="auto">
          <a:xfrm>
            <a:off x="3929063" y="2311400"/>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inq</a:t>
            </a:r>
          </a:p>
        </p:txBody>
      </p:sp>
      <p:sp>
        <p:nvSpPr>
          <p:cNvPr id="50" name="Text Box 59"/>
          <p:cNvSpPr txBox="1">
            <a:spLocks noChangeArrowheads="1"/>
          </p:cNvSpPr>
          <p:nvPr/>
        </p:nvSpPr>
        <p:spPr bwMode="auto">
          <a:xfrm>
            <a:off x="3816350" y="2654300"/>
            <a:ext cx="6492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outq</a:t>
            </a:r>
          </a:p>
        </p:txBody>
      </p:sp>
      <p:sp>
        <p:nvSpPr>
          <p:cNvPr id="51" name="Line 30"/>
          <p:cNvSpPr>
            <a:spLocks noChangeShapeType="1"/>
          </p:cNvSpPr>
          <p:nvPr/>
        </p:nvSpPr>
        <p:spPr bwMode="auto">
          <a:xfrm>
            <a:off x="6430963" y="2149475"/>
            <a:ext cx="21748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52" name="Group 108"/>
          <p:cNvGrpSpPr>
            <a:grpSpLocks/>
          </p:cNvGrpSpPr>
          <p:nvPr/>
        </p:nvGrpSpPr>
        <p:grpSpPr bwMode="auto">
          <a:xfrm>
            <a:off x="6648450" y="2044700"/>
            <a:ext cx="431800" cy="215900"/>
            <a:chOff x="4188" y="1288"/>
            <a:chExt cx="272" cy="136"/>
          </a:xfrm>
        </p:grpSpPr>
        <p:grpSp>
          <p:nvGrpSpPr>
            <p:cNvPr id="53" name="Group 31"/>
            <p:cNvGrpSpPr>
              <a:grpSpLocks/>
            </p:cNvGrpSpPr>
            <p:nvPr/>
          </p:nvGrpSpPr>
          <p:grpSpPr bwMode="auto">
            <a:xfrm>
              <a:off x="4188" y="1288"/>
              <a:ext cx="272" cy="136"/>
              <a:chOff x="2336" y="2659"/>
              <a:chExt cx="272" cy="136"/>
            </a:xfrm>
          </p:grpSpPr>
          <p:sp>
            <p:nvSpPr>
              <p:cNvPr id="55" name="Rectangle 32"/>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56" name="Line 33"/>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54" name="AutoShape 60"/>
            <p:cNvSpPr>
              <a:spLocks noChangeArrowheads="1"/>
            </p:cNvSpPr>
            <p:nvPr/>
          </p:nvSpPr>
          <p:spPr bwMode="auto">
            <a:xfrm>
              <a:off x="4391" y="1326"/>
              <a:ext cx="45" cy="45"/>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sp>
        <p:nvSpPr>
          <p:cNvPr id="57" name="AutoShape 61"/>
          <p:cNvSpPr>
            <a:spLocks noChangeArrowheads="1"/>
          </p:cNvSpPr>
          <p:nvPr/>
        </p:nvSpPr>
        <p:spPr bwMode="auto">
          <a:xfrm>
            <a:off x="5822950" y="2476500"/>
            <a:ext cx="71438" cy="71438"/>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nvGrpSpPr>
          <p:cNvPr id="58" name="Group 62"/>
          <p:cNvGrpSpPr>
            <a:grpSpLocks/>
          </p:cNvGrpSpPr>
          <p:nvPr/>
        </p:nvGrpSpPr>
        <p:grpSpPr bwMode="auto">
          <a:xfrm>
            <a:off x="6084888" y="2765425"/>
            <a:ext cx="431800" cy="215900"/>
            <a:chOff x="3425" y="3113"/>
            <a:chExt cx="272" cy="136"/>
          </a:xfrm>
        </p:grpSpPr>
        <p:grpSp>
          <p:nvGrpSpPr>
            <p:cNvPr id="59" name="Group 63"/>
            <p:cNvGrpSpPr>
              <a:grpSpLocks/>
            </p:cNvGrpSpPr>
            <p:nvPr/>
          </p:nvGrpSpPr>
          <p:grpSpPr bwMode="auto">
            <a:xfrm>
              <a:off x="3425" y="3113"/>
              <a:ext cx="272" cy="136"/>
              <a:chOff x="2336" y="2659"/>
              <a:chExt cx="272" cy="136"/>
            </a:xfrm>
          </p:grpSpPr>
          <p:sp>
            <p:nvSpPr>
              <p:cNvPr id="61" name="Rectangle 64"/>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62" name="Line 65"/>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60" name="AutoShape 66"/>
            <p:cNvSpPr>
              <a:spLocks noChangeArrowheads="1"/>
            </p:cNvSpPr>
            <p:nvPr/>
          </p:nvSpPr>
          <p:spPr bwMode="auto">
            <a:xfrm>
              <a:off x="3630" y="3151"/>
              <a:ext cx="45" cy="45"/>
            </a:xfrm>
            <a:prstGeom prst="triangle">
              <a:avLst>
                <a:gd name="adj" fmla="val 50000"/>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grpSp>
        <p:nvGrpSpPr>
          <p:cNvPr id="63" name="Group 72"/>
          <p:cNvGrpSpPr>
            <a:grpSpLocks/>
          </p:cNvGrpSpPr>
          <p:nvPr/>
        </p:nvGrpSpPr>
        <p:grpSpPr bwMode="auto">
          <a:xfrm>
            <a:off x="4916488" y="3181350"/>
            <a:ext cx="431800" cy="215900"/>
            <a:chOff x="3425" y="3113"/>
            <a:chExt cx="272" cy="136"/>
          </a:xfrm>
        </p:grpSpPr>
        <p:grpSp>
          <p:nvGrpSpPr>
            <p:cNvPr id="64" name="Group 73"/>
            <p:cNvGrpSpPr>
              <a:grpSpLocks/>
            </p:cNvGrpSpPr>
            <p:nvPr/>
          </p:nvGrpSpPr>
          <p:grpSpPr bwMode="auto">
            <a:xfrm>
              <a:off x="3425" y="3113"/>
              <a:ext cx="272" cy="136"/>
              <a:chOff x="2336" y="2659"/>
              <a:chExt cx="272" cy="136"/>
            </a:xfrm>
          </p:grpSpPr>
          <p:sp>
            <p:nvSpPr>
              <p:cNvPr id="66" name="Rectangle 74"/>
              <p:cNvSpPr>
                <a:spLocks noChangeArrowheads="1"/>
              </p:cNvSpPr>
              <p:nvPr/>
            </p:nvSpPr>
            <p:spPr bwMode="auto">
              <a:xfrm>
                <a:off x="2336" y="2659"/>
                <a:ext cx="272" cy="1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67" name="Line 75"/>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65" name="AutoShape 76"/>
            <p:cNvSpPr>
              <a:spLocks noChangeArrowheads="1"/>
            </p:cNvSpPr>
            <p:nvPr/>
          </p:nvSpPr>
          <p:spPr bwMode="auto">
            <a:xfrm>
              <a:off x="3630" y="3151"/>
              <a:ext cx="45" cy="45"/>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sp>
        <p:nvSpPr>
          <p:cNvPr id="68" name="Text Box 87"/>
          <p:cNvSpPr txBox="1">
            <a:spLocks noChangeArrowheads="1"/>
          </p:cNvSpPr>
          <p:nvPr/>
        </p:nvSpPr>
        <p:spPr bwMode="auto">
          <a:xfrm>
            <a:off x="4827588" y="3332163"/>
            <a:ext cx="5032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hin</a:t>
            </a:r>
          </a:p>
        </p:txBody>
      </p:sp>
      <p:sp>
        <p:nvSpPr>
          <p:cNvPr id="69" name="Text Box 88"/>
          <p:cNvSpPr txBox="1">
            <a:spLocks noChangeArrowheads="1"/>
          </p:cNvSpPr>
          <p:nvPr/>
        </p:nvSpPr>
        <p:spPr bwMode="auto">
          <a:xfrm>
            <a:off x="5562600" y="3325813"/>
            <a:ext cx="5032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sin</a:t>
            </a:r>
          </a:p>
        </p:txBody>
      </p:sp>
      <p:sp>
        <p:nvSpPr>
          <p:cNvPr id="70" name="Text Box 89"/>
          <p:cNvSpPr txBox="1">
            <a:spLocks noChangeArrowheads="1"/>
          </p:cNvSpPr>
          <p:nvPr/>
        </p:nvSpPr>
        <p:spPr bwMode="auto">
          <a:xfrm>
            <a:off x="5514975" y="3844925"/>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hout</a:t>
            </a:r>
          </a:p>
        </p:txBody>
      </p:sp>
      <p:sp>
        <p:nvSpPr>
          <p:cNvPr id="71" name="Text Box 90"/>
          <p:cNvSpPr txBox="1">
            <a:spLocks noChangeArrowheads="1"/>
          </p:cNvSpPr>
          <p:nvPr/>
        </p:nvSpPr>
        <p:spPr bwMode="auto">
          <a:xfrm>
            <a:off x="4803775" y="3821113"/>
            <a:ext cx="57626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sout</a:t>
            </a:r>
          </a:p>
        </p:txBody>
      </p:sp>
      <p:sp>
        <p:nvSpPr>
          <p:cNvPr id="72" name="Line 91"/>
          <p:cNvSpPr>
            <a:spLocks noChangeShapeType="1"/>
          </p:cNvSpPr>
          <p:nvPr/>
        </p:nvSpPr>
        <p:spPr bwMode="auto">
          <a:xfrm>
            <a:off x="3541713" y="3330575"/>
            <a:ext cx="136842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73" name="Line 92"/>
          <p:cNvSpPr>
            <a:spLocks noChangeShapeType="1"/>
          </p:cNvSpPr>
          <p:nvPr/>
        </p:nvSpPr>
        <p:spPr bwMode="auto">
          <a:xfrm>
            <a:off x="6045200" y="3313113"/>
            <a:ext cx="136842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74" name="Line 93"/>
          <p:cNvSpPr>
            <a:spLocks noChangeShapeType="1"/>
          </p:cNvSpPr>
          <p:nvPr/>
        </p:nvSpPr>
        <p:spPr bwMode="auto">
          <a:xfrm>
            <a:off x="3530600" y="3829050"/>
            <a:ext cx="1368425"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75" name="Line 94"/>
          <p:cNvSpPr>
            <a:spLocks noChangeShapeType="1"/>
          </p:cNvSpPr>
          <p:nvPr/>
        </p:nvSpPr>
        <p:spPr bwMode="auto">
          <a:xfrm>
            <a:off x="6034088" y="3811588"/>
            <a:ext cx="1368425"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76" name="Text Box 95"/>
          <p:cNvSpPr txBox="1">
            <a:spLocks noChangeArrowheads="1"/>
          </p:cNvSpPr>
          <p:nvPr/>
        </p:nvSpPr>
        <p:spPr bwMode="auto">
          <a:xfrm>
            <a:off x="3808413" y="3009900"/>
            <a:ext cx="1079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收容输入</a:t>
            </a:r>
          </a:p>
        </p:txBody>
      </p:sp>
      <p:sp>
        <p:nvSpPr>
          <p:cNvPr id="77" name="Text Box 96"/>
          <p:cNvSpPr txBox="1">
            <a:spLocks noChangeArrowheads="1"/>
          </p:cNvSpPr>
          <p:nvPr/>
        </p:nvSpPr>
        <p:spPr bwMode="auto">
          <a:xfrm>
            <a:off x="6178550" y="2997200"/>
            <a:ext cx="1079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提取输入</a:t>
            </a:r>
          </a:p>
        </p:txBody>
      </p:sp>
      <p:sp>
        <p:nvSpPr>
          <p:cNvPr id="78" name="Text Box 97"/>
          <p:cNvSpPr txBox="1">
            <a:spLocks noChangeArrowheads="1"/>
          </p:cNvSpPr>
          <p:nvPr/>
        </p:nvSpPr>
        <p:spPr bwMode="auto">
          <a:xfrm>
            <a:off x="3806825" y="3503613"/>
            <a:ext cx="1079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提取输出</a:t>
            </a:r>
          </a:p>
        </p:txBody>
      </p:sp>
      <p:sp>
        <p:nvSpPr>
          <p:cNvPr id="79" name="Text Box 98"/>
          <p:cNvSpPr txBox="1">
            <a:spLocks noChangeArrowheads="1"/>
          </p:cNvSpPr>
          <p:nvPr/>
        </p:nvSpPr>
        <p:spPr bwMode="auto">
          <a:xfrm>
            <a:off x="6176963" y="3490913"/>
            <a:ext cx="1079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收容输出</a:t>
            </a:r>
          </a:p>
        </p:txBody>
      </p:sp>
      <p:sp>
        <p:nvSpPr>
          <p:cNvPr id="80" name="AutoShape 99"/>
          <p:cNvSpPr>
            <a:spLocks noChangeArrowheads="1"/>
          </p:cNvSpPr>
          <p:nvPr/>
        </p:nvSpPr>
        <p:spPr bwMode="auto">
          <a:xfrm>
            <a:off x="2876550" y="3141663"/>
            <a:ext cx="647700" cy="360362"/>
          </a:xfrm>
          <a:prstGeom prst="flowChartPunchedCard">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0" lang="zh-CN" altLang="zh-CN" sz="1600" b="1">
              <a:ea typeface="楷体" panose="02010609060101010101" pitchFamily="49" charset="-122"/>
            </a:endParaRPr>
          </a:p>
        </p:txBody>
      </p:sp>
      <p:sp>
        <p:nvSpPr>
          <p:cNvPr id="81" name="AutoShape 100"/>
          <p:cNvSpPr>
            <a:spLocks noChangeArrowheads="1"/>
          </p:cNvSpPr>
          <p:nvPr/>
        </p:nvSpPr>
        <p:spPr bwMode="auto">
          <a:xfrm>
            <a:off x="3160713" y="3646488"/>
            <a:ext cx="358775" cy="503237"/>
          </a:xfrm>
          <a:prstGeom prst="flowChartDocumen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82" name="Line 109"/>
          <p:cNvSpPr>
            <a:spLocks noChangeShapeType="1"/>
          </p:cNvSpPr>
          <p:nvPr/>
        </p:nvSpPr>
        <p:spPr bwMode="auto">
          <a:xfrm>
            <a:off x="5867400" y="2517775"/>
            <a:ext cx="217488"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Tree>
    <p:extLst>
      <p:ext uri="{BB962C8B-B14F-4D97-AF65-F5344CB8AC3E}">
        <p14:creationId xmlns:p14="http://schemas.microsoft.com/office/powerpoint/2010/main" val="1545882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hidden"/>
                                      </p:to>
                                    </p:set>
                                  </p:childTnLst>
                                </p:cTn>
                              </p:par>
                            </p:childTnLst>
                          </p:cTn>
                        </p:par>
                        <p:par>
                          <p:cTn id="12" fill="hold">
                            <p:stCondLst>
                              <p:cond delay="0"/>
                            </p:stCondLst>
                            <p:childTnLst>
                              <p:par>
                                <p:cTn id="13" presetID="0" presetClass="path" presetSubtype="0" accel="50000" decel="50000" fill="hold" nodeType="afterEffect">
                                  <p:stCondLst>
                                    <p:cond delay="0"/>
                                  </p:stCondLst>
                                  <p:childTnLst>
                                    <p:animMotion origin="layout" path="M 0 -2.22222E-6 L 0.06302 0.16783 " pathEditMode="relative" ptsTypes="AA">
                                      <p:cBhvr>
                                        <p:cTn id="14" dur="500" fill="hold"/>
                                        <p:tgtEl>
                                          <p:spTgt spid="10"/>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 presetClass="emph" presetSubtype="2" fill="hold" nodeType="clickEffect">
                                  <p:stCondLst>
                                    <p:cond delay="0"/>
                                  </p:stCondLst>
                                  <p:childTnLst>
                                    <p:animClr clrSpc="rgb" dir="cw">
                                      <p:cBhvr>
                                        <p:cTn id="18" dur="500" fill="hold"/>
                                        <p:tgtEl>
                                          <p:spTgt spid="80"/>
                                        </p:tgtEl>
                                        <p:attrNameLst>
                                          <p:attrName>fillcolor</p:attrName>
                                        </p:attrNameLst>
                                      </p:cBhvr>
                                      <p:to>
                                        <a:schemeClr val="bg1"/>
                                      </p:to>
                                    </p:animClr>
                                    <p:set>
                                      <p:cBhvr>
                                        <p:cTn id="19" dur="500" fill="hold"/>
                                        <p:tgtEl>
                                          <p:spTgt spid="80"/>
                                        </p:tgtEl>
                                        <p:attrNameLst>
                                          <p:attrName>fill.type</p:attrName>
                                        </p:attrNameLst>
                                      </p:cBhvr>
                                      <p:to>
                                        <p:strVal val="solid"/>
                                      </p:to>
                                    </p:set>
                                    <p:set>
                                      <p:cBhvr>
                                        <p:cTn id="20" dur="500" fill="hold"/>
                                        <p:tgtEl>
                                          <p:spTgt spid="80"/>
                                        </p:tgtEl>
                                        <p:attrNameLst>
                                          <p:attrName>fill.on</p:attrName>
                                        </p:attrNameLst>
                                      </p:cBhvr>
                                      <p:to>
                                        <p:strVal val="true"/>
                                      </p:to>
                                    </p:se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63"/>
                                        </p:tgtEl>
                                        <p:attrNameLst>
                                          <p:attrName>style.visibility</p:attrName>
                                        </p:attrNameLst>
                                      </p:cBhvr>
                                      <p:to>
                                        <p:strVal val="visible"/>
                                      </p:to>
                                    </p:set>
                                    <p:animEffect transition="in" filter="wipe(left)">
                                      <p:cBhvr>
                                        <p:cTn id="24" dur="500"/>
                                        <p:tgtEl>
                                          <p:spTgt spid="63"/>
                                        </p:tgtEl>
                                      </p:cBhvr>
                                    </p:animEffect>
                                  </p:childTnLst>
                                </p:cTn>
                              </p:par>
                            </p:childTnLst>
                          </p:cTn>
                        </p:par>
                        <p:par>
                          <p:cTn id="25" fill="hold">
                            <p:stCondLst>
                              <p:cond delay="1000"/>
                            </p:stCondLst>
                            <p:childTnLst>
                              <p:par>
                                <p:cTn id="26" presetID="1" presetClass="exit" presetSubtype="0" fill="hold" nodeType="afterEffect">
                                  <p:stCondLst>
                                    <p:cond delay="0"/>
                                  </p:stCondLst>
                                  <p:childTnLst>
                                    <p:set>
                                      <p:cBhvr>
                                        <p:cTn id="27" dur="1" fill="hold">
                                          <p:stCondLst>
                                            <p:cond delay="0"/>
                                          </p:stCondLst>
                                        </p:cTn>
                                        <p:tgtEl>
                                          <p:spTgt spid="1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2"/>
                                        </p:tgtEl>
                                        <p:attrNameLst>
                                          <p:attrName>style.visibility</p:attrName>
                                        </p:attrNameLst>
                                      </p:cBhvr>
                                      <p:to>
                                        <p:strVal val="visible"/>
                                      </p:to>
                                    </p:set>
                                    <p:animEffect transition="in" filter="wipe(left)">
                                      <p:cBhvr>
                                        <p:cTn id="32" dur="500"/>
                                        <p:tgtEl>
                                          <p:spTgt spid="82"/>
                                        </p:tgtEl>
                                      </p:cBhvr>
                                    </p:animEffect>
                                  </p:childTnLst>
                                </p:cTn>
                              </p:par>
                            </p:childTnLst>
                          </p:cTn>
                        </p:par>
                        <p:par>
                          <p:cTn id="33" fill="hold">
                            <p:stCondLst>
                              <p:cond delay="500"/>
                            </p:stCondLst>
                            <p:childTnLst>
                              <p:par>
                                <p:cTn id="34" presetID="0" presetClass="path" presetSubtype="0" accel="50000" decel="50000" fill="hold" nodeType="afterEffect">
                                  <p:stCondLst>
                                    <p:cond delay="0"/>
                                  </p:stCondLst>
                                  <p:childTnLst>
                                    <p:animMotion origin="layout" path="M 0.01042 7.40741E-7 L 0.12848 -0.11551 " pathEditMode="relative" rAng="0" ptsTypes="AA">
                                      <p:cBhvr>
                                        <p:cTn id="35" dur="500" fill="hold"/>
                                        <p:tgtEl>
                                          <p:spTgt spid="63"/>
                                        </p:tgtEl>
                                        <p:attrNameLst>
                                          <p:attrName>ppt_x</p:attrName>
                                          <p:attrName>ppt_y</p:attrName>
                                        </p:attrNameLst>
                                      </p:cBhvr>
                                      <p:rCtr x="5903" y="-578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P spid="8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缓冲区的工作方式</a:t>
            </a:r>
          </a:p>
        </p:txBody>
      </p:sp>
      <p:sp>
        <p:nvSpPr>
          <p:cNvPr id="4" name="Date Placeholder 3"/>
          <p:cNvSpPr>
            <a:spLocks noGrp="1"/>
          </p:cNvSpPr>
          <p:nvPr>
            <p:ph type="dt" sz="half" idx="10"/>
          </p:nvPr>
        </p:nvSpPr>
        <p:spPr/>
        <p:txBody>
          <a:bodyPr/>
          <a:lstStyle/>
          <a:p>
            <a:fld id="{9664F1EF-5328-4987-9D82-BD13689FDA6D}"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53</a:t>
            </a:fld>
            <a:endParaRPr lang="zh-CN" altLang="en-US" dirty="0"/>
          </a:p>
        </p:txBody>
      </p:sp>
      <p:sp>
        <p:nvSpPr>
          <p:cNvPr id="7" name="Text Box 5"/>
          <p:cNvSpPr txBox="1">
            <a:spLocks noChangeArrowheads="1"/>
          </p:cNvSpPr>
          <p:nvPr/>
        </p:nvSpPr>
        <p:spPr bwMode="auto">
          <a:xfrm>
            <a:off x="250825" y="2708275"/>
            <a:ext cx="2520950" cy="1283428"/>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lang="zh-CN" altLang="en-US" b="1">
                <a:solidFill>
                  <a:srgbClr val="FF3300"/>
                </a:solidFill>
                <a:ea typeface="楷体" panose="02010609060101010101" pitchFamily="49" charset="-122"/>
              </a:rPr>
              <a:t>收容输入：</a:t>
            </a:r>
          </a:p>
          <a:p>
            <a:pPr>
              <a:spcBef>
                <a:spcPct val="10000"/>
              </a:spcBef>
            </a:pPr>
            <a:r>
              <a:rPr lang="en-US" altLang="zh-CN" b="1">
                <a:ea typeface="楷体" panose="02010609060101010101" pitchFamily="49" charset="-122"/>
              </a:rPr>
              <a:t>hin=Getbuf(emq);</a:t>
            </a:r>
          </a:p>
          <a:p>
            <a:pPr>
              <a:spcBef>
                <a:spcPct val="10000"/>
              </a:spcBef>
            </a:pPr>
            <a:r>
              <a:rPr lang="zh-CN" altLang="en-US" b="1">
                <a:ea typeface="楷体" panose="02010609060101010101" pitchFamily="49" charset="-122"/>
              </a:rPr>
              <a:t>输入数据至</a:t>
            </a:r>
            <a:r>
              <a:rPr lang="en-US" altLang="zh-CN" b="1">
                <a:ea typeface="楷体" panose="02010609060101010101" pitchFamily="49" charset="-122"/>
              </a:rPr>
              <a:t>hin;</a:t>
            </a:r>
          </a:p>
          <a:p>
            <a:pPr>
              <a:spcBef>
                <a:spcPct val="10000"/>
              </a:spcBef>
            </a:pPr>
            <a:r>
              <a:rPr lang="en-US" altLang="zh-CN" b="1">
                <a:ea typeface="楷体" panose="02010609060101010101" pitchFamily="49" charset="-122"/>
              </a:rPr>
              <a:t>Putbuf(inq, hin)</a:t>
            </a:r>
            <a:endParaRPr lang="en-US" altLang="zh-CN" b="1">
              <a:ea typeface="楷体" panose="02010609060101010101" pitchFamily="49" charset="-122"/>
              <a:cs typeface="Times New Roman" panose="02020603050405020304" pitchFamily="18" charset="0"/>
            </a:endParaRPr>
          </a:p>
        </p:txBody>
      </p:sp>
      <p:sp>
        <p:nvSpPr>
          <p:cNvPr id="8" name="Text Box 6"/>
          <p:cNvSpPr txBox="1">
            <a:spLocks noChangeArrowheads="1"/>
          </p:cNvSpPr>
          <p:nvPr/>
        </p:nvSpPr>
        <p:spPr bwMode="auto">
          <a:xfrm>
            <a:off x="323850" y="4652963"/>
            <a:ext cx="2303463" cy="1283428"/>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lang="zh-CN" altLang="en-US" b="1">
                <a:solidFill>
                  <a:srgbClr val="FF3300"/>
                </a:solidFill>
                <a:ea typeface="楷体" panose="02010609060101010101" pitchFamily="49" charset="-122"/>
              </a:rPr>
              <a:t>提取输入：</a:t>
            </a:r>
          </a:p>
          <a:p>
            <a:pPr>
              <a:spcBef>
                <a:spcPct val="10000"/>
              </a:spcBef>
            </a:pPr>
            <a:r>
              <a:rPr lang="en-US" altLang="zh-CN" b="1">
                <a:ea typeface="楷体" panose="02010609060101010101" pitchFamily="49" charset="-122"/>
              </a:rPr>
              <a:t>sin=Getbuf(inq);</a:t>
            </a:r>
          </a:p>
          <a:p>
            <a:pPr>
              <a:spcBef>
                <a:spcPct val="10000"/>
              </a:spcBef>
            </a:pPr>
            <a:r>
              <a:rPr lang="zh-CN" altLang="en-US" b="1">
                <a:ea typeface="楷体" panose="02010609060101010101" pitchFamily="49" charset="-122"/>
              </a:rPr>
              <a:t>从</a:t>
            </a:r>
            <a:r>
              <a:rPr lang="en-US" altLang="zh-CN" b="1">
                <a:ea typeface="楷体" panose="02010609060101010101" pitchFamily="49" charset="-122"/>
              </a:rPr>
              <a:t>hin</a:t>
            </a:r>
            <a:r>
              <a:rPr lang="zh-CN" altLang="en-US" b="1">
                <a:ea typeface="楷体" panose="02010609060101010101" pitchFamily="49" charset="-122"/>
              </a:rPr>
              <a:t>提取数据</a:t>
            </a:r>
            <a:r>
              <a:rPr lang="en-US" altLang="zh-CN" b="1">
                <a:ea typeface="楷体" panose="02010609060101010101" pitchFamily="49" charset="-122"/>
              </a:rPr>
              <a:t>;</a:t>
            </a:r>
          </a:p>
          <a:p>
            <a:pPr>
              <a:spcBef>
                <a:spcPct val="10000"/>
              </a:spcBef>
            </a:pPr>
            <a:r>
              <a:rPr lang="en-US" altLang="zh-CN" b="1">
                <a:ea typeface="楷体" panose="02010609060101010101" pitchFamily="49" charset="-122"/>
              </a:rPr>
              <a:t>Putbuf(emq, sin)</a:t>
            </a:r>
          </a:p>
        </p:txBody>
      </p:sp>
      <p:sp>
        <p:nvSpPr>
          <p:cNvPr id="9" name="AutoShape 10"/>
          <p:cNvSpPr>
            <a:spLocks noChangeArrowheads="1"/>
          </p:cNvSpPr>
          <p:nvPr/>
        </p:nvSpPr>
        <p:spPr bwMode="auto">
          <a:xfrm>
            <a:off x="7380288" y="2997200"/>
            <a:ext cx="1655762" cy="1079500"/>
          </a:xfrm>
          <a:prstGeom prst="irregularSeal2">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b="1">
                <a:ea typeface="楷体" panose="02010609060101010101" pitchFamily="49" charset="-122"/>
              </a:rPr>
              <a:t>应用进程</a:t>
            </a:r>
          </a:p>
        </p:txBody>
      </p:sp>
      <p:sp>
        <p:nvSpPr>
          <p:cNvPr id="10" name="Rectangle 12"/>
          <p:cNvSpPr>
            <a:spLocks noChangeArrowheads="1"/>
          </p:cNvSpPr>
          <p:nvPr/>
        </p:nvSpPr>
        <p:spPr bwMode="auto">
          <a:xfrm>
            <a:off x="3851275" y="1917700"/>
            <a:ext cx="3313113" cy="23034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nvGrpSpPr>
          <p:cNvPr id="11" name="Group 13"/>
          <p:cNvGrpSpPr>
            <a:grpSpLocks/>
          </p:cNvGrpSpPr>
          <p:nvPr/>
        </p:nvGrpSpPr>
        <p:grpSpPr bwMode="auto">
          <a:xfrm>
            <a:off x="4356100" y="2044700"/>
            <a:ext cx="431800" cy="215900"/>
            <a:chOff x="2336" y="2659"/>
            <a:chExt cx="272" cy="136"/>
          </a:xfrm>
        </p:grpSpPr>
        <p:sp>
          <p:nvSpPr>
            <p:cNvPr id="12" name="Rectangle 14"/>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13" name="Line 15"/>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14" name="Line 16"/>
          <p:cNvSpPr>
            <a:spLocks noChangeShapeType="1"/>
          </p:cNvSpPr>
          <p:nvPr/>
        </p:nvSpPr>
        <p:spPr bwMode="auto">
          <a:xfrm>
            <a:off x="4714875" y="2149475"/>
            <a:ext cx="217488"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15" name="Group 17"/>
          <p:cNvGrpSpPr>
            <a:grpSpLocks/>
          </p:cNvGrpSpPr>
          <p:nvPr/>
        </p:nvGrpSpPr>
        <p:grpSpPr bwMode="auto">
          <a:xfrm>
            <a:off x="4932363" y="2044700"/>
            <a:ext cx="431800" cy="215900"/>
            <a:chOff x="2336" y="2659"/>
            <a:chExt cx="272" cy="136"/>
          </a:xfrm>
        </p:grpSpPr>
        <p:sp>
          <p:nvSpPr>
            <p:cNvPr id="16" name="Rectangle 18"/>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17" name="Line 19"/>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18" name="Line 20"/>
          <p:cNvSpPr>
            <a:spLocks noChangeShapeType="1"/>
          </p:cNvSpPr>
          <p:nvPr/>
        </p:nvSpPr>
        <p:spPr bwMode="auto">
          <a:xfrm>
            <a:off x="5291138" y="2149475"/>
            <a:ext cx="21748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19" name="Group 21"/>
          <p:cNvGrpSpPr>
            <a:grpSpLocks/>
          </p:cNvGrpSpPr>
          <p:nvPr/>
        </p:nvGrpSpPr>
        <p:grpSpPr bwMode="auto">
          <a:xfrm>
            <a:off x="5508625" y="2044700"/>
            <a:ext cx="431800" cy="215900"/>
            <a:chOff x="2336" y="2659"/>
            <a:chExt cx="272" cy="136"/>
          </a:xfrm>
        </p:grpSpPr>
        <p:sp>
          <p:nvSpPr>
            <p:cNvPr id="20" name="Rectangle 22"/>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21" name="Line 23"/>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22" name="Line 24"/>
          <p:cNvSpPr>
            <a:spLocks noChangeShapeType="1"/>
          </p:cNvSpPr>
          <p:nvPr/>
        </p:nvSpPr>
        <p:spPr bwMode="auto">
          <a:xfrm>
            <a:off x="5867400" y="2149475"/>
            <a:ext cx="217488"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23" name="Group 25"/>
          <p:cNvGrpSpPr>
            <a:grpSpLocks/>
          </p:cNvGrpSpPr>
          <p:nvPr/>
        </p:nvGrpSpPr>
        <p:grpSpPr bwMode="auto">
          <a:xfrm>
            <a:off x="6084888" y="2044700"/>
            <a:ext cx="431800" cy="215900"/>
            <a:chOff x="2336" y="2659"/>
            <a:chExt cx="272" cy="136"/>
          </a:xfrm>
        </p:grpSpPr>
        <p:sp>
          <p:nvSpPr>
            <p:cNvPr id="24" name="Rectangle 26"/>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25" name="Line 27"/>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26" name="Line 28"/>
          <p:cNvSpPr>
            <a:spLocks noChangeShapeType="1"/>
          </p:cNvSpPr>
          <p:nvPr/>
        </p:nvSpPr>
        <p:spPr bwMode="auto">
          <a:xfrm>
            <a:off x="6443663" y="2149475"/>
            <a:ext cx="21748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27" name="Group 32"/>
          <p:cNvGrpSpPr>
            <a:grpSpLocks/>
          </p:cNvGrpSpPr>
          <p:nvPr/>
        </p:nvGrpSpPr>
        <p:grpSpPr bwMode="auto">
          <a:xfrm>
            <a:off x="4356100" y="2416175"/>
            <a:ext cx="431800" cy="215900"/>
            <a:chOff x="2336" y="2659"/>
            <a:chExt cx="272" cy="136"/>
          </a:xfrm>
        </p:grpSpPr>
        <p:sp>
          <p:nvSpPr>
            <p:cNvPr id="28" name="Rectangle 33"/>
            <p:cNvSpPr>
              <a:spLocks noChangeArrowheads="1"/>
            </p:cNvSpPr>
            <p:nvPr/>
          </p:nvSpPr>
          <p:spPr bwMode="auto">
            <a:xfrm>
              <a:off x="2336" y="2659"/>
              <a:ext cx="272" cy="1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29" name="Line 34"/>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30" name="Line 35"/>
          <p:cNvSpPr>
            <a:spLocks noChangeShapeType="1"/>
          </p:cNvSpPr>
          <p:nvPr/>
        </p:nvSpPr>
        <p:spPr bwMode="auto">
          <a:xfrm>
            <a:off x="4714875" y="2520950"/>
            <a:ext cx="217488"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31" name="Group 36"/>
          <p:cNvGrpSpPr>
            <a:grpSpLocks/>
          </p:cNvGrpSpPr>
          <p:nvPr/>
        </p:nvGrpSpPr>
        <p:grpSpPr bwMode="auto">
          <a:xfrm>
            <a:off x="4932363" y="2416175"/>
            <a:ext cx="431800" cy="215900"/>
            <a:chOff x="2336" y="2659"/>
            <a:chExt cx="272" cy="136"/>
          </a:xfrm>
        </p:grpSpPr>
        <p:sp>
          <p:nvSpPr>
            <p:cNvPr id="32" name="Rectangle 37"/>
            <p:cNvSpPr>
              <a:spLocks noChangeArrowheads="1"/>
            </p:cNvSpPr>
            <p:nvPr/>
          </p:nvSpPr>
          <p:spPr bwMode="auto">
            <a:xfrm>
              <a:off x="2336" y="2659"/>
              <a:ext cx="272" cy="1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3" name="Line 38"/>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34" name="Line 39"/>
          <p:cNvSpPr>
            <a:spLocks noChangeShapeType="1"/>
          </p:cNvSpPr>
          <p:nvPr/>
        </p:nvSpPr>
        <p:spPr bwMode="auto">
          <a:xfrm>
            <a:off x="5291138" y="2520950"/>
            <a:ext cx="21748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35" name="Group 43"/>
          <p:cNvGrpSpPr>
            <a:grpSpLocks/>
          </p:cNvGrpSpPr>
          <p:nvPr/>
        </p:nvGrpSpPr>
        <p:grpSpPr bwMode="auto">
          <a:xfrm>
            <a:off x="4356100" y="2765425"/>
            <a:ext cx="431800" cy="215900"/>
            <a:chOff x="2336" y="2659"/>
            <a:chExt cx="272" cy="136"/>
          </a:xfrm>
        </p:grpSpPr>
        <p:sp>
          <p:nvSpPr>
            <p:cNvPr id="36" name="Rectangle 44"/>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7" name="Line 45"/>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38" name="Line 46"/>
          <p:cNvSpPr>
            <a:spLocks noChangeShapeType="1"/>
          </p:cNvSpPr>
          <p:nvPr/>
        </p:nvSpPr>
        <p:spPr bwMode="auto">
          <a:xfrm>
            <a:off x="4714875" y="2870200"/>
            <a:ext cx="217488"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39" name="Group 47"/>
          <p:cNvGrpSpPr>
            <a:grpSpLocks/>
          </p:cNvGrpSpPr>
          <p:nvPr/>
        </p:nvGrpSpPr>
        <p:grpSpPr bwMode="auto">
          <a:xfrm>
            <a:off x="4932363" y="2765425"/>
            <a:ext cx="431800" cy="215900"/>
            <a:chOff x="2336" y="2659"/>
            <a:chExt cx="272" cy="136"/>
          </a:xfrm>
        </p:grpSpPr>
        <p:sp>
          <p:nvSpPr>
            <p:cNvPr id="40" name="Rectangle 48"/>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41" name="Line 49"/>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42" name="Line 50"/>
          <p:cNvSpPr>
            <a:spLocks noChangeShapeType="1"/>
          </p:cNvSpPr>
          <p:nvPr/>
        </p:nvSpPr>
        <p:spPr bwMode="auto">
          <a:xfrm>
            <a:off x="5291138" y="2870200"/>
            <a:ext cx="21748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43" name="Group 51"/>
          <p:cNvGrpSpPr>
            <a:grpSpLocks/>
          </p:cNvGrpSpPr>
          <p:nvPr/>
        </p:nvGrpSpPr>
        <p:grpSpPr bwMode="auto">
          <a:xfrm>
            <a:off x="5508625" y="2765425"/>
            <a:ext cx="431800" cy="215900"/>
            <a:chOff x="2336" y="2659"/>
            <a:chExt cx="272" cy="136"/>
          </a:xfrm>
        </p:grpSpPr>
        <p:sp>
          <p:nvSpPr>
            <p:cNvPr id="44" name="Rectangle 52"/>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45" name="Line 53"/>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46" name="Line 54"/>
          <p:cNvSpPr>
            <a:spLocks noChangeShapeType="1"/>
          </p:cNvSpPr>
          <p:nvPr/>
        </p:nvSpPr>
        <p:spPr bwMode="auto">
          <a:xfrm>
            <a:off x="5867400" y="2870200"/>
            <a:ext cx="217488"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47" name="Text Box 55"/>
          <p:cNvSpPr txBox="1">
            <a:spLocks noChangeArrowheads="1"/>
          </p:cNvSpPr>
          <p:nvPr/>
        </p:nvSpPr>
        <p:spPr bwMode="auto">
          <a:xfrm>
            <a:off x="3851275" y="1951038"/>
            <a:ext cx="5762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emq</a:t>
            </a:r>
          </a:p>
        </p:txBody>
      </p:sp>
      <p:sp>
        <p:nvSpPr>
          <p:cNvPr id="48" name="Text Box 56"/>
          <p:cNvSpPr txBox="1">
            <a:spLocks noChangeArrowheads="1"/>
          </p:cNvSpPr>
          <p:nvPr/>
        </p:nvSpPr>
        <p:spPr bwMode="auto">
          <a:xfrm>
            <a:off x="3929063" y="2311400"/>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inq</a:t>
            </a:r>
          </a:p>
        </p:txBody>
      </p:sp>
      <p:sp>
        <p:nvSpPr>
          <p:cNvPr id="49" name="Text Box 57"/>
          <p:cNvSpPr txBox="1">
            <a:spLocks noChangeArrowheads="1"/>
          </p:cNvSpPr>
          <p:nvPr/>
        </p:nvSpPr>
        <p:spPr bwMode="auto">
          <a:xfrm>
            <a:off x="3816350" y="2654300"/>
            <a:ext cx="6492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outq</a:t>
            </a:r>
          </a:p>
        </p:txBody>
      </p:sp>
      <p:grpSp>
        <p:nvGrpSpPr>
          <p:cNvPr id="50" name="Group 40"/>
          <p:cNvGrpSpPr>
            <a:grpSpLocks/>
          </p:cNvGrpSpPr>
          <p:nvPr/>
        </p:nvGrpSpPr>
        <p:grpSpPr bwMode="auto">
          <a:xfrm>
            <a:off x="5508625" y="2405063"/>
            <a:ext cx="431800" cy="215900"/>
            <a:chOff x="2336" y="2659"/>
            <a:chExt cx="272" cy="136"/>
          </a:xfrm>
        </p:grpSpPr>
        <p:sp>
          <p:nvSpPr>
            <p:cNvPr id="51" name="Rectangle 41"/>
            <p:cNvSpPr>
              <a:spLocks noChangeArrowheads="1"/>
            </p:cNvSpPr>
            <p:nvPr/>
          </p:nvSpPr>
          <p:spPr bwMode="auto">
            <a:xfrm>
              <a:off x="2336" y="2659"/>
              <a:ext cx="272" cy="1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52" name="Line 42"/>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53" name="Group 60"/>
          <p:cNvGrpSpPr>
            <a:grpSpLocks/>
          </p:cNvGrpSpPr>
          <p:nvPr/>
        </p:nvGrpSpPr>
        <p:grpSpPr bwMode="auto">
          <a:xfrm>
            <a:off x="6084888" y="2765425"/>
            <a:ext cx="431800" cy="215900"/>
            <a:chOff x="3425" y="3113"/>
            <a:chExt cx="272" cy="136"/>
          </a:xfrm>
        </p:grpSpPr>
        <p:grpSp>
          <p:nvGrpSpPr>
            <p:cNvPr id="54" name="Group 61"/>
            <p:cNvGrpSpPr>
              <a:grpSpLocks/>
            </p:cNvGrpSpPr>
            <p:nvPr/>
          </p:nvGrpSpPr>
          <p:grpSpPr bwMode="auto">
            <a:xfrm>
              <a:off x="3425" y="3113"/>
              <a:ext cx="272" cy="136"/>
              <a:chOff x="2336" y="2659"/>
              <a:chExt cx="272" cy="136"/>
            </a:xfrm>
          </p:grpSpPr>
          <p:sp>
            <p:nvSpPr>
              <p:cNvPr id="56" name="Rectangle 62"/>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57" name="Line 63"/>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55" name="AutoShape 64"/>
            <p:cNvSpPr>
              <a:spLocks noChangeArrowheads="1"/>
            </p:cNvSpPr>
            <p:nvPr/>
          </p:nvSpPr>
          <p:spPr bwMode="auto">
            <a:xfrm>
              <a:off x="3630" y="3151"/>
              <a:ext cx="45" cy="45"/>
            </a:xfrm>
            <a:prstGeom prst="triangle">
              <a:avLst>
                <a:gd name="adj" fmla="val 50000"/>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grpSp>
        <p:nvGrpSpPr>
          <p:cNvPr id="58" name="Group 71"/>
          <p:cNvGrpSpPr>
            <a:grpSpLocks/>
          </p:cNvGrpSpPr>
          <p:nvPr/>
        </p:nvGrpSpPr>
        <p:grpSpPr bwMode="auto">
          <a:xfrm>
            <a:off x="5595938" y="3181350"/>
            <a:ext cx="431800" cy="215900"/>
            <a:chOff x="2336" y="2659"/>
            <a:chExt cx="272" cy="136"/>
          </a:xfrm>
        </p:grpSpPr>
        <p:sp>
          <p:nvSpPr>
            <p:cNvPr id="59" name="Rectangle 72"/>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60" name="Line 73"/>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61" name="Text Box 85"/>
          <p:cNvSpPr txBox="1">
            <a:spLocks noChangeArrowheads="1"/>
          </p:cNvSpPr>
          <p:nvPr/>
        </p:nvSpPr>
        <p:spPr bwMode="auto">
          <a:xfrm>
            <a:off x="4976813" y="3313113"/>
            <a:ext cx="5032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hin</a:t>
            </a:r>
          </a:p>
        </p:txBody>
      </p:sp>
      <p:sp>
        <p:nvSpPr>
          <p:cNvPr id="62" name="Text Box 86"/>
          <p:cNvSpPr txBox="1">
            <a:spLocks noChangeArrowheads="1"/>
          </p:cNvSpPr>
          <p:nvPr/>
        </p:nvSpPr>
        <p:spPr bwMode="auto">
          <a:xfrm>
            <a:off x="5553075" y="3313113"/>
            <a:ext cx="5032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sin</a:t>
            </a:r>
          </a:p>
        </p:txBody>
      </p:sp>
      <p:sp>
        <p:nvSpPr>
          <p:cNvPr id="63" name="Text Box 87"/>
          <p:cNvSpPr txBox="1">
            <a:spLocks noChangeArrowheads="1"/>
          </p:cNvSpPr>
          <p:nvPr/>
        </p:nvSpPr>
        <p:spPr bwMode="auto">
          <a:xfrm>
            <a:off x="5491163" y="3833813"/>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hout</a:t>
            </a:r>
          </a:p>
        </p:txBody>
      </p:sp>
      <p:sp>
        <p:nvSpPr>
          <p:cNvPr id="64" name="Text Box 88"/>
          <p:cNvSpPr txBox="1">
            <a:spLocks noChangeArrowheads="1"/>
          </p:cNvSpPr>
          <p:nvPr/>
        </p:nvSpPr>
        <p:spPr bwMode="auto">
          <a:xfrm>
            <a:off x="4932363" y="3829050"/>
            <a:ext cx="57626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sout</a:t>
            </a:r>
          </a:p>
        </p:txBody>
      </p:sp>
      <p:sp>
        <p:nvSpPr>
          <p:cNvPr id="65" name="Line 89"/>
          <p:cNvSpPr>
            <a:spLocks noChangeShapeType="1"/>
          </p:cNvSpPr>
          <p:nvPr/>
        </p:nvSpPr>
        <p:spPr bwMode="auto">
          <a:xfrm>
            <a:off x="3541713" y="3330575"/>
            <a:ext cx="136842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66" name="Line 90"/>
          <p:cNvSpPr>
            <a:spLocks noChangeShapeType="1"/>
          </p:cNvSpPr>
          <p:nvPr/>
        </p:nvSpPr>
        <p:spPr bwMode="auto">
          <a:xfrm>
            <a:off x="6045200" y="3313113"/>
            <a:ext cx="136842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67" name="Line 91"/>
          <p:cNvSpPr>
            <a:spLocks noChangeShapeType="1"/>
          </p:cNvSpPr>
          <p:nvPr/>
        </p:nvSpPr>
        <p:spPr bwMode="auto">
          <a:xfrm>
            <a:off x="3530600" y="3829050"/>
            <a:ext cx="1368425"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68" name="Line 92"/>
          <p:cNvSpPr>
            <a:spLocks noChangeShapeType="1"/>
          </p:cNvSpPr>
          <p:nvPr/>
        </p:nvSpPr>
        <p:spPr bwMode="auto">
          <a:xfrm>
            <a:off x="6034088" y="3811588"/>
            <a:ext cx="1368425"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69" name="Text Box 93"/>
          <p:cNvSpPr txBox="1">
            <a:spLocks noChangeArrowheads="1"/>
          </p:cNvSpPr>
          <p:nvPr/>
        </p:nvSpPr>
        <p:spPr bwMode="auto">
          <a:xfrm>
            <a:off x="3808413" y="3009900"/>
            <a:ext cx="1079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收容输入</a:t>
            </a:r>
          </a:p>
        </p:txBody>
      </p:sp>
      <p:sp>
        <p:nvSpPr>
          <p:cNvPr id="70" name="Text Box 94"/>
          <p:cNvSpPr txBox="1">
            <a:spLocks noChangeArrowheads="1"/>
          </p:cNvSpPr>
          <p:nvPr/>
        </p:nvSpPr>
        <p:spPr bwMode="auto">
          <a:xfrm>
            <a:off x="6178550" y="2997200"/>
            <a:ext cx="1079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提取输入</a:t>
            </a:r>
          </a:p>
        </p:txBody>
      </p:sp>
      <p:sp>
        <p:nvSpPr>
          <p:cNvPr id="71" name="Text Box 95"/>
          <p:cNvSpPr txBox="1">
            <a:spLocks noChangeArrowheads="1"/>
          </p:cNvSpPr>
          <p:nvPr/>
        </p:nvSpPr>
        <p:spPr bwMode="auto">
          <a:xfrm>
            <a:off x="3806825" y="3503613"/>
            <a:ext cx="1079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提取输出</a:t>
            </a:r>
          </a:p>
        </p:txBody>
      </p:sp>
      <p:sp>
        <p:nvSpPr>
          <p:cNvPr id="72" name="Text Box 96"/>
          <p:cNvSpPr txBox="1">
            <a:spLocks noChangeArrowheads="1"/>
          </p:cNvSpPr>
          <p:nvPr/>
        </p:nvSpPr>
        <p:spPr bwMode="auto">
          <a:xfrm>
            <a:off x="6176963" y="3490913"/>
            <a:ext cx="1079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收容输出</a:t>
            </a:r>
          </a:p>
        </p:txBody>
      </p:sp>
      <p:sp>
        <p:nvSpPr>
          <p:cNvPr id="73" name="AutoShape 97"/>
          <p:cNvSpPr>
            <a:spLocks noChangeArrowheads="1"/>
          </p:cNvSpPr>
          <p:nvPr/>
        </p:nvSpPr>
        <p:spPr bwMode="auto">
          <a:xfrm>
            <a:off x="2876550" y="3141663"/>
            <a:ext cx="647700" cy="360362"/>
          </a:xfrm>
          <a:prstGeom prst="flowChartPunchedCard">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0" lang="zh-CN" altLang="zh-CN" sz="1600" b="1">
              <a:ea typeface="楷体" panose="02010609060101010101" pitchFamily="49" charset="-122"/>
            </a:endParaRPr>
          </a:p>
        </p:txBody>
      </p:sp>
      <p:sp>
        <p:nvSpPr>
          <p:cNvPr id="74" name="AutoShape 98"/>
          <p:cNvSpPr>
            <a:spLocks noChangeArrowheads="1"/>
          </p:cNvSpPr>
          <p:nvPr/>
        </p:nvSpPr>
        <p:spPr bwMode="auto">
          <a:xfrm>
            <a:off x="3160713" y="3646488"/>
            <a:ext cx="358775" cy="503237"/>
          </a:xfrm>
          <a:prstGeom prst="flowChartDocumen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Tree>
    <p:extLst>
      <p:ext uri="{BB962C8B-B14F-4D97-AF65-F5344CB8AC3E}">
        <p14:creationId xmlns:p14="http://schemas.microsoft.com/office/powerpoint/2010/main" val="2502915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hidden"/>
                                      </p:to>
                                    </p:set>
                                  </p:childTnLst>
                                </p:cTn>
                              </p:par>
                            </p:childTnLst>
                          </p:cTn>
                        </p:par>
                        <p:par>
                          <p:cTn id="7" fill="hold">
                            <p:stCondLst>
                              <p:cond delay="0"/>
                            </p:stCondLst>
                            <p:childTnLst>
                              <p:par>
                                <p:cTn id="8" presetID="0" presetClass="path" presetSubtype="0" accel="50000" decel="50000" fill="hold" nodeType="afterEffect">
                                  <p:stCondLst>
                                    <p:cond delay="0"/>
                                  </p:stCondLst>
                                  <p:childTnLst>
                                    <p:animMotion origin="layout" path="M -0.01163 -0.01343 L 0.13802 0.11273 " pathEditMode="relative" rAng="0" ptsTypes="AA">
                                      <p:cBhvr>
                                        <p:cTn id="9" dur="500" fill="hold"/>
                                        <p:tgtEl>
                                          <p:spTgt spid="27"/>
                                        </p:tgtEl>
                                        <p:attrNameLst>
                                          <p:attrName>ppt_x</p:attrName>
                                          <p:attrName>ppt_y</p:attrName>
                                        </p:attrNameLst>
                                      </p:cBhvr>
                                      <p:rCtr x="7483" y="6296"/>
                                    </p:animMotion>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58"/>
                                        </p:tgtEl>
                                        <p:attrNameLst>
                                          <p:attrName>style.visibility</p:attrName>
                                        </p:attrNameLst>
                                      </p:cBhvr>
                                      <p:to>
                                        <p:strVal val="visible"/>
                                      </p:to>
                                    </p:set>
                                    <p:animEffect transition="in" filter="wipe(left)">
                                      <p:cBhvr>
                                        <p:cTn id="14" dur="500"/>
                                        <p:tgtEl>
                                          <p:spTgt spid="58"/>
                                        </p:tgtEl>
                                      </p:cBhvr>
                                    </p:animEffect>
                                  </p:childTnLst>
                                </p:cTn>
                              </p:par>
                            </p:childTnLst>
                          </p:cTn>
                        </p:par>
                        <p:par>
                          <p:cTn id="15" fill="hold">
                            <p:stCondLst>
                              <p:cond delay="500"/>
                            </p:stCondLst>
                            <p:childTnLst>
                              <p:par>
                                <p:cTn id="16" presetID="1" presetClass="emph" presetSubtype="2" fill="hold" nodeType="afterEffect">
                                  <p:stCondLst>
                                    <p:cond delay="0"/>
                                  </p:stCondLst>
                                  <p:childTnLst>
                                    <p:animClr clrSpc="rgb" dir="cw">
                                      <p:cBhvr>
                                        <p:cTn id="17" dur="500" fill="hold"/>
                                        <p:tgtEl>
                                          <p:spTgt spid="9"/>
                                        </p:tgtEl>
                                        <p:attrNameLst>
                                          <p:attrName>fillcolor</p:attrName>
                                        </p:attrNameLst>
                                      </p:cBhvr>
                                      <p:to>
                                        <a:schemeClr val="accent1"/>
                                      </p:to>
                                    </p:animClr>
                                    <p:set>
                                      <p:cBhvr>
                                        <p:cTn id="18" dur="500" fill="hold"/>
                                        <p:tgtEl>
                                          <p:spTgt spid="9"/>
                                        </p:tgtEl>
                                        <p:attrNameLst>
                                          <p:attrName>fill.type</p:attrName>
                                        </p:attrNameLst>
                                      </p:cBhvr>
                                      <p:to>
                                        <p:strVal val="solid"/>
                                      </p:to>
                                    </p:set>
                                    <p:set>
                                      <p:cBhvr>
                                        <p:cTn id="19" dur="500" fill="hold"/>
                                        <p:tgtEl>
                                          <p:spTgt spid="9"/>
                                        </p:tgtEl>
                                        <p:attrNameLst>
                                          <p:attrName>fill.on</p:attrName>
                                        </p:attrNameLst>
                                      </p:cBhvr>
                                      <p:to>
                                        <p:strVal val="true"/>
                                      </p:to>
                                    </p:se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nodeType="clickEffect">
                                  <p:stCondLst>
                                    <p:cond delay="0"/>
                                  </p:stCondLst>
                                  <p:childTnLst>
                                    <p:set>
                                      <p:cBhvr>
                                        <p:cTn id="23" dur="1" fill="hold">
                                          <p:stCondLst>
                                            <p:cond delay="0"/>
                                          </p:stCondLst>
                                        </p:cTn>
                                        <p:tgtEl>
                                          <p:spTgt spid="27"/>
                                        </p:tgtEl>
                                        <p:attrNameLst>
                                          <p:attrName>style.visibility</p:attrName>
                                        </p:attrNameLst>
                                      </p:cBhvr>
                                      <p:to>
                                        <p:strVal val="hidden"/>
                                      </p:to>
                                    </p:set>
                                  </p:childTnLst>
                                </p:cTn>
                              </p:par>
                            </p:childTnLst>
                          </p:cTn>
                        </p:par>
                        <p:par>
                          <p:cTn id="24" fill="hold">
                            <p:stCondLst>
                              <p:cond delay="0"/>
                            </p:stCondLst>
                            <p:childTnLst>
                              <p:par>
                                <p:cTn id="25" presetID="22" presetClass="entr" presetSubtype="8"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par>
                          <p:cTn id="28" fill="hold">
                            <p:stCondLst>
                              <p:cond delay="500"/>
                            </p:stCondLst>
                            <p:childTnLst>
                              <p:par>
                                <p:cTn id="29" presetID="0" presetClass="path" presetSubtype="0" accel="50000" decel="50000" fill="hold" nodeType="afterEffect">
                                  <p:stCondLst>
                                    <p:cond delay="0"/>
                                  </p:stCondLst>
                                  <p:childTnLst>
                                    <p:animMotion origin="layout" path="M 0.00694 -4.44444E-6 L 0.11736 -0.16782 " pathEditMode="relative" rAng="0" ptsTypes="AA">
                                      <p:cBhvr>
                                        <p:cTn id="30" dur="500" fill="hold"/>
                                        <p:tgtEl>
                                          <p:spTgt spid="58"/>
                                        </p:tgtEl>
                                        <p:attrNameLst>
                                          <p:attrName>ppt_x</p:attrName>
                                          <p:attrName>ppt_y</p:attrName>
                                        </p:attrNameLst>
                                      </p:cBhvr>
                                      <p:rCtr x="5521" y="-840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缓冲区的工作方式</a:t>
            </a:r>
          </a:p>
        </p:txBody>
      </p:sp>
      <p:sp>
        <p:nvSpPr>
          <p:cNvPr id="4" name="Date Placeholder 3"/>
          <p:cNvSpPr>
            <a:spLocks noGrp="1"/>
          </p:cNvSpPr>
          <p:nvPr>
            <p:ph type="dt" sz="half" idx="10"/>
          </p:nvPr>
        </p:nvSpPr>
        <p:spPr/>
        <p:txBody>
          <a:bodyPr/>
          <a:lstStyle/>
          <a:p>
            <a:fld id="{7E071022-97C8-48AB-9179-A5FCDC5494C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54</a:t>
            </a:fld>
            <a:endParaRPr lang="zh-CN" altLang="en-US" dirty="0"/>
          </a:p>
        </p:txBody>
      </p:sp>
      <p:sp>
        <p:nvSpPr>
          <p:cNvPr id="7" name="Text Box 5"/>
          <p:cNvSpPr txBox="1">
            <a:spLocks noChangeArrowheads="1"/>
          </p:cNvSpPr>
          <p:nvPr/>
        </p:nvSpPr>
        <p:spPr bwMode="auto">
          <a:xfrm>
            <a:off x="250825" y="2708275"/>
            <a:ext cx="2520950" cy="1283428"/>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lang="zh-CN" altLang="en-US" b="1">
                <a:solidFill>
                  <a:srgbClr val="FF3300"/>
                </a:solidFill>
                <a:ea typeface="楷体" panose="02010609060101010101" pitchFamily="49" charset="-122"/>
              </a:rPr>
              <a:t>收容输入：</a:t>
            </a:r>
          </a:p>
          <a:p>
            <a:pPr>
              <a:spcBef>
                <a:spcPct val="10000"/>
              </a:spcBef>
            </a:pPr>
            <a:r>
              <a:rPr lang="en-US" altLang="zh-CN" b="1">
                <a:ea typeface="楷体" panose="02010609060101010101" pitchFamily="49" charset="-122"/>
              </a:rPr>
              <a:t>hin=Getbuf(emq);</a:t>
            </a:r>
          </a:p>
          <a:p>
            <a:pPr>
              <a:spcBef>
                <a:spcPct val="10000"/>
              </a:spcBef>
            </a:pPr>
            <a:r>
              <a:rPr lang="zh-CN" altLang="en-US" b="1">
                <a:ea typeface="楷体" panose="02010609060101010101" pitchFamily="49" charset="-122"/>
              </a:rPr>
              <a:t>输入数据至</a:t>
            </a:r>
            <a:r>
              <a:rPr lang="en-US" altLang="zh-CN" b="1">
                <a:ea typeface="楷体" panose="02010609060101010101" pitchFamily="49" charset="-122"/>
              </a:rPr>
              <a:t>hin;</a:t>
            </a:r>
          </a:p>
          <a:p>
            <a:pPr>
              <a:spcBef>
                <a:spcPct val="10000"/>
              </a:spcBef>
            </a:pPr>
            <a:r>
              <a:rPr lang="en-US" altLang="zh-CN" b="1">
                <a:ea typeface="楷体" panose="02010609060101010101" pitchFamily="49" charset="-122"/>
              </a:rPr>
              <a:t>Putbuf(inq, hin)</a:t>
            </a:r>
            <a:endParaRPr lang="en-US" altLang="zh-CN" b="1">
              <a:ea typeface="楷体" panose="02010609060101010101" pitchFamily="49" charset="-122"/>
              <a:cs typeface="Times New Roman" panose="02020603050405020304" pitchFamily="18" charset="0"/>
            </a:endParaRPr>
          </a:p>
        </p:txBody>
      </p:sp>
      <p:sp>
        <p:nvSpPr>
          <p:cNvPr id="8" name="Text Box 6"/>
          <p:cNvSpPr txBox="1">
            <a:spLocks noChangeArrowheads="1"/>
          </p:cNvSpPr>
          <p:nvPr/>
        </p:nvSpPr>
        <p:spPr bwMode="auto">
          <a:xfrm>
            <a:off x="323850" y="4652963"/>
            <a:ext cx="2303463" cy="1283428"/>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lang="zh-CN" altLang="en-US" b="1">
                <a:solidFill>
                  <a:srgbClr val="FF3300"/>
                </a:solidFill>
                <a:ea typeface="楷体" panose="02010609060101010101" pitchFamily="49" charset="-122"/>
              </a:rPr>
              <a:t>提取输入：</a:t>
            </a:r>
          </a:p>
          <a:p>
            <a:pPr>
              <a:spcBef>
                <a:spcPct val="10000"/>
              </a:spcBef>
            </a:pPr>
            <a:r>
              <a:rPr lang="en-US" altLang="zh-CN" b="1">
                <a:ea typeface="楷体" panose="02010609060101010101" pitchFamily="49" charset="-122"/>
              </a:rPr>
              <a:t>sin=Getbuf(inq);</a:t>
            </a:r>
          </a:p>
          <a:p>
            <a:pPr>
              <a:spcBef>
                <a:spcPct val="10000"/>
              </a:spcBef>
            </a:pPr>
            <a:r>
              <a:rPr lang="zh-CN" altLang="en-US" b="1">
                <a:ea typeface="楷体" panose="02010609060101010101" pitchFamily="49" charset="-122"/>
              </a:rPr>
              <a:t>从</a:t>
            </a:r>
            <a:r>
              <a:rPr lang="en-US" altLang="zh-CN" b="1">
                <a:ea typeface="楷体" panose="02010609060101010101" pitchFamily="49" charset="-122"/>
              </a:rPr>
              <a:t>hin</a:t>
            </a:r>
            <a:r>
              <a:rPr lang="zh-CN" altLang="en-US" b="1">
                <a:ea typeface="楷体" panose="02010609060101010101" pitchFamily="49" charset="-122"/>
              </a:rPr>
              <a:t>提取数据</a:t>
            </a:r>
            <a:r>
              <a:rPr lang="en-US" altLang="zh-CN" b="1">
                <a:ea typeface="楷体" panose="02010609060101010101" pitchFamily="49" charset="-122"/>
              </a:rPr>
              <a:t>;</a:t>
            </a:r>
          </a:p>
          <a:p>
            <a:pPr>
              <a:spcBef>
                <a:spcPct val="10000"/>
              </a:spcBef>
            </a:pPr>
            <a:r>
              <a:rPr lang="en-US" altLang="zh-CN" b="1">
                <a:ea typeface="楷体" panose="02010609060101010101" pitchFamily="49" charset="-122"/>
              </a:rPr>
              <a:t>Putbuf(emq, sin)</a:t>
            </a:r>
          </a:p>
        </p:txBody>
      </p:sp>
      <p:sp>
        <p:nvSpPr>
          <p:cNvPr id="9" name="Text Box 7"/>
          <p:cNvSpPr txBox="1">
            <a:spLocks noChangeArrowheads="1"/>
          </p:cNvSpPr>
          <p:nvPr/>
        </p:nvSpPr>
        <p:spPr bwMode="auto">
          <a:xfrm>
            <a:off x="2987675" y="4652963"/>
            <a:ext cx="2735263" cy="1283428"/>
          </a:xfrm>
          <a:prstGeom prst="rect">
            <a:avLst/>
          </a:prstGeom>
          <a:solidFill>
            <a:srgbClr val="66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lang="zh-CN" altLang="en-US" b="1">
                <a:solidFill>
                  <a:srgbClr val="FF3300"/>
                </a:solidFill>
                <a:ea typeface="楷体" panose="02010609060101010101" pitchFamily="49" charset="-122"/>
              </a:rPr>
              <a:t>收容输出：</a:t>
            </a:r>
          </a:p>
          <a:p>
            <a:pPr>
              <a:spcBef>
                <a:spcPct val="10000"/>
              </a:spcBef>
            </a:pPr>
            <a:r>
              <a:rPr lang="en-US" altLang="zh-CN" b="1">
                <a:ea typeface="楷体" panose="02010609060101010101" pitchFamily="49" charset="-122"/>
              </a:rPr>
              <a:t>hout</a:t>
            </a:r>
            <a:r>
              <a:rPr kumimoji="0" lang="en-US" altLang="zh-CN" b="1">
                <a:ea typeface="楷体" panose="02010609060101010101" pitchFamily="49" charset="-122"/>
              </a:rPr>
              <a:t>=</a:t>
            </a:r>
            <a:r>
              <a:rPr lang="en-US" altLang="zh-CN" b="1">
                <a:ea typeface="楷体" panose="02010609060101010101" pitchFamily="49" charset="-122"/>
              </a:rPr>
              <a:t>Getbuf(emq);</a:t>
            </a:r>
          </a:p>
          <a:p>
            <a:pPr>
              <a:spcBef>
                <a:spcPct val="10000"/>
              </a:spcBef>
            </a:pPr>
            <a:r>
              <a:rPr lang="zh-CN" altLang="en-US" b="1">
                <a:ea typeface="楷体" panose="02010609060101010101" pitchFamily="49" charset="-122"/>
                <a:sym typeface="Symbol" panose="05050102010706020507" pitchFamily="18" charset="2"/>
              </a:rPr>
              <a:t>将</a:t>
            </a:r>
            <a:r>
              <a:rPr lang="en-US" altLang="zh-CN" b="1">
                <a:ea typeface="楷体" panose="02010609060101010101" pitchFamily="49" charset="-122"/>
                <a:sym typeface="Symbol" panose="05050102010706020507" pitchFamily="18" charset="2"/>
              </a:rPr>
              <a:t>hout</a:t>
            </a:r>
            <a:r>
              <a:rPr lang="zh-CN" altLang="en-US" b="1">
                <a:ea typeface="楷体" panose="02010609060101010101" pitchFamily="49" charset="-122"/>
                <a:sym typeface="Symbol" panose="05050102010706020507" pitchFamily="18" charset="2"/>
              </a:rPr>
              <a:t>装满数据</a:t>
            </a:r>
            <a:r>
              <a:rPr lang="en-US" altLang="zh-CN" b="1">
                <a:ea typeface="楷体" panose="02010609060101010101" pitchFamily="49" charset="-122"/>
              </a:rPr>
              <a:t>;</a:t>
            </a:r>
          </a:p>
          <a:p>
            <a:pPr>
              <a:spcBef>
                <a:spcPct val="10000"/>
              </a:spcBef>
            </a:pPr>
            <a:r>
              <a:rPr lang="en-US" altLang="zh-CN" b="1">
                <a:ea typeface="楷体" panose="02010609060101010101" pitchFamily="49" charset="-122"/>
              </a:rPr>
              <a:t>Putbuf(outq, hout)</a:t>
            </a:r>
          </a:p>
        </p:txBody>
      </p:sp>
      <p:sp>
        <p:nvSpPr>
          <p:cNvPr id="10" name="AutoShape 10"/>
          <p:cNvSpPr>
            <a:spLocks noChangeArrowheads="1"/>
          </p:cNvSpPr>
          <p:nvPr/>
        </p:nvSpPr>
        <p:spPr bwMode="auto">
          <a:xfrm>
            <a:off x="7380288" y="2997200"/>
            <a:ext cx="1655762" cy="1079500"/>
          </a:xfrm>
          <a:prstGeom prst="irregularSeal2">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b="1">
                <a:ea typeface="楷体" panose="02010609060101010101" pitchFamily="49" charset="-122"/>
              </a:rPr>
              <a:t>应用进程</a:t>
            </a:r>
          </a:p>
        </p:txBody>
      </p:sp>
      <p:sp>
        <p:nvSpPr>
          <p:cNvPr id="11" name="Rectangle 12"/>
          <p:cNvSpPr>
            <a:spLocks noChangeArrowheads="1"/>
          </p:cNvSpPr>
          <p:nvPr/>
        </p:nvSpPr>
        <p:spPr bwMode="auto">
          <a:xfrm>
            <a:off x="3851275" y="1917700"/>
            <a:ext cx="3313113" cy="23034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nvGrpSpPr>
          <p:cNvPr id="12" name="Group 13"/>
          <p:cNvGrpSpPr>
            <a:grpSpLocks/>
          </p:cNvGrpSpPr>
          <p:nvPr/>
        </p:nvGrpSpPr>
        <p:grpSpPr bwMode="auto">
          <a:xfrm>
            <a:off x="4356100" y="2044700"/>
            <a:ext cx="431800" cy="215900"/>
            <a:chOff x="2336" y="2659"/>
            <a:chExt cx="272" cy="136"/>
          </a:xfrm>
        </p:grpSpPr>
        <p:sp>
          <p:nvSpPr>
            <p:cNvPr id="13" name="Rectangle 14"/>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14" name="Line 15"/>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15" name="Line 16"/>
          <p:cNvSpPr>
            <a:spLocks noChangeShapeType="1"/>
          </p:cNvSpPr>
          <p:nvPr/>
        </p:nvSpPr>
        <p:spPr bwMode="auto">
          <a:xfrm>
            <a:off x="4714875" y="2149475"/>
            <a:ext cx="217488"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16" name="Group 17"/>
          <p:cNvGrpSpPr>
            <a:grpSpLocks/>
          </p:cNvGrpSpPr>
          <p:nvPr/>
        </p:nvGrpSpPr>
        <p:grpSpPr bwMode="auto">
          <a:xfrm>
            <a:off x="4932363" y="2044700"/>
            <a:ext cx="431800" cy="215900"/>
            <a:chOff x="2336" y="2659"/>
            <a:chExt cx="272" cy="136"/>
          </a:xfrm>
        </p:grpSpPr>
        <p:sp>
          <p:nvSpPr>
            <p:cNvPr id="17" name="Rectangle 18"/>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18" name="Line 19"/>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19" name="Line 20"/>
          <p:cNvSpPr>
            <a:spLocks noChangeShapeType="1"/>
          </p:cNvSpPr>
          <p:nvPr/>
        </p:nvSpPr>
        <p:spPr bwMode="auto">
          <a:xfrm>
            <a:off x="5291138" y="2149475"/>
            <a:ext cx="21748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20" name="Group 21"/>
          <p:cNvGrpSpPr>
            <a:grpSpLocks/>
          </p:cNvGrpSpPr>
          <p:nvPr/>
        </p:nvGrpSpPr>
        <p:grpSpPr bwMode="auto">
          <a:xfrm>
            <a:off x="5508625" y="2044700"/>
            <a:ext cx="431800" cy="215900"/>
            <a:chOff x="2336" y="2659"/>
            <a:chExt cx="272" cy="136"/>
          </a:xfrm>
        </p:grpSpPr>
        <p:sp>
          <p:nvSpPr>
            <p:cNvPr id="21" name="Rectangle 22"/>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22" name="Line 23"/>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23" name="Line 24"/>
          <p:cNvSpPr>
            <a:spLocks noChangeShapeType="1"/>
          </p:cNvSpPr>
          <p:nvPr/>
        </p:nvSpPr>
        <p:spPr bwMode="auto">
          <a:xfrm>
            <a:off x="5867400" y="2149475"/>
            <a:ext cx="217488"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24" name="Group 25"/>
          <p:cNvGrpSpPr>
            <a:grpSpLocks/>
          </p:cNvGrpSpPr>
          <p:nvPr/>
        </p:nvGrpSpPr>
        <p:grpSpPr bwMode="auto">
          <a:xfrm>
            <a:off x="6084888" y="2044700"/>
            <a:ext cx="431800" cy="215900"/>
            <a:chOff x="2336" y="2659"/>
            <a:chExt cx="272" cy="136"/>
          </a:xfrm>
        </p:grpSpPr>
        <p:sp>
          <p:nvSpPr>
            <p:cNvPr id="25" name="Rectangle 26"/>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26" name="Line 27"/>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27" name="Line 28"/>
          <p:cNvSpPr>
            <a:spLocks noChangeShapeType="1"/>
          </p:cNvSpPr>
          <p:nvPr/>
        </p:nvSpPr>
        <p:spPr bwMode="auto">
          <a:xfrm>
            <a:off x="6430963" y="2149475"/>
            <a:ext cx="21748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28" name="Group 29"/>
          <p:cNvGrpSpPr>
            <a:grpSpLocks/>
          </p:cNvGrpSpPr>
          <p:nvPr/>
        </p:nvGrpSpPr>
        <p:grpSpPr bwMode="auto">
          <a:xfrm>
            <a:off x="6648450" y="2044700"/>
            <a:ext cx="431800" cy="215900"/>
            <a:chOff x="2336" y="2659"/>
            <a:chExt cx="272" cy="136"/>
          </a:xfrm>
        </p:grpSpPr>
        <p:sp>
          <p:nvSpPr>
            <p:cNvPr id="29" name="Rectangle 30"/>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0" name="Line 31"/>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31" name="Group 32"/>
          <p:cNvGrpSpPr>
            <a:grpSpLocks/>
          </p:cNvGrpSpPr>
          <p:nvPr/>
        </p:nvGrpSpPr>
        <p:grpSpPr bwMode="auto">
          <a:xfrm>
            <a:off x="4356100" y="2416175"/>
            <a:ext cx="431800" cy="215900"/>
            <a:chOff x="2336" y="2659"/>
            <a:chExt cx="272" cy="136"/>
          </a:xfrm>
        </p:grpSpPr>
        <p:sp>
          <p:nvSpPr>
            <p:cNvPr id="32" name="Rectangle 33"/>
            <p:cNvSpPr>
              <a:spLocks noChangeArrowheads="1"/>
            </p:cNvSpPr>
            <p:nvPr/>
          </p:nvSpPr>
          <p:spPr bwMode="auto">
            <a:xfrm>
              <a:off x="2336" y="2659"/>
              <a:ext cx="272" cy="1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3" name="Line 34"/>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34" name="Line 35"/>
          <p:cNvSpPr>
            <a:spLocks noChangeShapeType="1"/>
          </p:cNvSpPr>
          <p:nvPr/>
        </p:nvSpPr>
        <p:spPr bwMode="auto">
          <a:xfrm>
            <a:off x="4714875" y="2520950"/>
            <a:ext cx="217488"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35" name="Group 36"/>
          <p:cNvGrpSpPr>
            <a:grpSpLocks/>
          </p:cNvGrpSpPr>
          <p:nvPr/>
        </p:nvGrpSpPr>
        <p:grpSpPr bwMode="auto">
          <a:xfrm>
            <a:off x="4932363" y="2416175"/>
            <a:ext cx="431800" cy="215900"/>
            <a:chOff x="2336" y="2659"/>
            <a:chExt cx="272" cy="136"/>
          </a:xfrm>
        </p:grpSpPr>
        <p:sp>
          <p:nvSpPr>
            <p:cNvPr id="36" name="Rectangle 37"/>
            <p:cNvSpPr>
              <a:spLocks noChangeArrowheads="1"/>
            </p:cNvSpPr>
            <p:nvPr/>
          </p:nvSpPr>
          <p:spPr bwMode="auto">
            <a:xfrm>
              <a:off x="2336" y="2659"/>
              <a:ext cx="272" cy="1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37" name="Line 38"/>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38" name="Line 39"/>
          <p:cNvSpPr>
            <a:spLocks noChangeShapeType="1"/>
          </p:cNvSpPr>
          <p:nvPr/>
        </p:nvSpPr>
        <p:spPr bwMode="auto">
          <a:xfrm>
            <a:off x="5291138" y="2520950"/>
            <a:ext cx="21748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39" name="Group 40"/>
          <p:cNvGrpSpPr>
            <a:grpSpLocks/>
          </p:cNvGrpSpPr>
          <p:nvPr/>
        </p:nvGrpSpPr>
        <p:grpSpPr bwMode="auto">
          <a:xfrm>
            <a:off x="5508625" y="2416175"/>
            <a:ext cx="431800" cy="215900"/>
            <a:chOff x="2336" y="2659"/>
            <a:chExt cx="272" cy="136"/>
          </a:xfrm>
        </p:grpSpPr>
        <p:sp>
          <p:nvSpPr>
            <p:cNvPr id="40" name="Rectangle 41"/>
            <p:cNvSpPr>
              <a:spLocks noChangeArrowheads="1"/>
            </p:cNvSpPr>
            <p:nvPr/>
          </p:nvSpPr>
          <p:spPr bwMode="auto">
            <a:xfrm>
              <a:off x="2336" y="2659"/>
              <a:ext cx="272" cy="1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41" name="Line 42"/>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grpSp>
        <p:nvGrpSpPr>
          <p:cNvPr id="42" name="Group 43"/>
          <p:cNvGrpSpPr>
            <a:grpSpLocks/>
          </p:cNvGrpSpPr>
          <p:nvPr/>
        </p:nvGrpSpPr>
        <p:grpSpPr bwMode="auto">
          <a:xfrm>
            <a:off x="4356100" y="2765425"/>
            <a:ext cx="431800" cy="215900"/>
            <a:chOff x="2336" y="2659"/>
            <a:chExt cx="272" cy="136"/>
          </a:xfrm>
        </p:grpSpPr>
        <p:sp>
          <p:nvSpPr>
            <p:cNvPr id="43" name="Rectangle 44"/>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44" name="Line 45"/>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45" name="Line 46"/>
          <p:cNvSpPr>
            <a:spLocks noChangeShapeType="1"/>
          </p:cNvSpPr>
          <p:nvPr/>
        </p:nvSpPr>
        <p:spPr bwMode="auto">
          <a:xfrm>
            <a:off x="4714875" y="2870200"/>
            <a:ext cx="217488"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46" name="Group 47"/>
          <p:cNvGrpSpPr>
            <a:grpSpLocks/>
          </p:cNvGrpSpPr>
          <p:nvPr/>
        </p:nvGrpSpPr>
        <p:grpSpPr bwMode="auto">
          <a:xfrm>
            <a:off x="4932363" y="2765425"/>
            <a:ext cx="431800" cy="215900"/>
            <a:chOff x="2336" y="2659"/>
            <a:chExt cx="272" cy="136"/>
          </a:xfrm>
        </p:grpSpPr>
        <p:sp>
          <p:nvSpPr>
            <p:cNvPr id="47" name="Rectangle 48"/>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48" name="Line 49"/>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49" name="Line 50"/>
          <p:cNvSpPr>
            <a:spLocks noChangeShapeType="1"/>
          </p:cNvSpPr>
          <p:nvPr/>
        </p:nvSpPr>
        <p:spPr bwMode="auto">
          <a:xfrm>
            <a:off x="5291138" y="2870200"/>
            <a:ext cx="21748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nvGrpSpPr>
          <p:cNvPr id="50" name="Group 51"/>
          <p:cNvGrpSpPr>
            <a:grpSpLocks/>
          </p:cNvGrpSpPr>
          <p:nvPr/>
        </p:nvGrpSpPr>
        <p:grpSpPr bwMode="auto">
          <a:xfrm>
            <a:off x="5508625" y="2765425"/>
            <a:ext cx="431800" cy="215900"/>
            <a:chOff x="2336" y="2659"/>
            <a:chExt cx="272" cy="136"/>
          </a:xfrm>
        </p:grpSpPr>
        <p:sp>
          <p:nvSpPr>
            <p:cNvPr id="51" name="Rectangle 52"/>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52" name="Line 53"/>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53" name="Line 54"/>
          <p:cNvSpPr>
            <a:spLocks noChangeShapeType="1"/>
          </p:cNvSpPr>
          <p:nvPr/>
        </p:nvSpPr>
        <p:spPr bwMode="auto">
          <a:xfrm>
            <a:off x="5867400" y="2870200"/>
            <a:ext cx="217488"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54" name="Text Box 55"/>
          <p:cNvSpPr txBox="1">
            <a:spLocks noChangeArrowheads="1"/>
          </p:cNvSpPr>
          <p:nvPr/>
        </p:nvSpPr>
        <p:spPr bwMode="auto">
          <a:xfrm>
            <a:off x="3851275" y="1951038"/>
            <a:ext cx="5762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emq</a:t>
            </a:r>
          </a:p>
        </p:txBody>
      </p:sp>
      <p:sp>
        <p:nvSpPr>
          <p:cNvPr id="55" name="Text Box 56"/>
          <p:cNvSpPr txBox="1">
            <a:spLocks noChangeArrowheads="1"/>
          </p:cNvSpPr>
          <p:nvPr/>
        </p:nvSpPr>
        <p:spPr bwMode="auto">
          <a:xfrm>
            <a:off x="3929063" y="2311400"/>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inq</a:t>
            </a:r>
          </a:p>
        </p:txBody>
      </p:sp>
      <p:sp>
        <p:nvSpPr>
          <p:cNvPr id="56" name="Text Box 57"/>
          <p:cNvSpPr txBox="1">
            <a:spLocks noChangeArrowheads="1"/>
          </p:cNvSpPr>
          <p:nvPr/>
        </p:nvSpPr>
        <p:spPr bwMode="auto">
          <a:xfrm>
            <a:off x="3816350" y="2654300"/>
            <a:ext cx="6492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outq</a:t>
            </a:r>
          </a:p>
        </p:txBody>
      </p:sp>
      <p:sp>
        <p:nvSpPr>
          <p:cNvPr id="57" name="AutoShape 59"/>
          <p:cNvSpPr>
            <a:spLocks noChangeArrowheads="1"/>
          </p:cNvSpPr>
          <p:nvPr/>
        </p:nvSpPr>
        <p:spPr bwMode="auto">
          <a:xfrm>
            <a:off x="5822950" y="2476500"/>
            <a:ext cx="71438" cy="71438"/>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nvGrpSpPr>
          <p:cNvPr id="58" name="Group 60"/>
          <p:cNvGrpSpPr>
            <a:grpSpLocks/>
          </p:cNvGrpSpPr>
          <p:nvPr/>
        </p:nvGrpSpPr>
        <p:grpSpPr bwMode="auto">
          <a:xfrm>
            <a:off x="6084888" y="2765425"/>
            <a:ext cx="431800" cy="215900"/>
            <a:chOff x="3425" y="3113"/>
            <a:chExt cx="272" cy="136"/>
          </a:xfrm>
        </p:grpSpPr>
        <p:grpSp>
          <p:nvGrpSpPr>
            <p:cNvPr id="59" name="Group 61"/>
            <p:cNvGrpSpPr>
              <a:grpSpLocks/>
            </p:cNvGrpSpPr>
            <p:nvPr/>
          </p:nvGrpSpPr>
          <p:grpSpPr bwMode="auto">
            <a:xfrm>
              <a:off x="3425" y="3113"/>
              <a:ext cx="272" cy="136"/>
              <a:chOff x="2336" y="2659"/>
              <a:chExt cx="272" cy="136"/>
            </a:xfrm>
          </p:grpSpPr>
          <p:sp>
            <p:nvSpPr>
              <p:cNvPr id="61" name="Rectangle 62"/>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62" name="Line 63"/>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60" name="AutoShape 64"/>
            <p:cNvSpPr>
              <a:spLocks noChangeArrowheads="1"/>
            </p:cNvSpPr>
            <p:nvPr/>
          </p:nvSpPr>
          <p:spPr bwMode="auto">
            <a:xfrm>
              <a:off x="3630" y="3151"/>
              <a:ext cx="45" cy="45"/>
            </a:xfrm>
            <a:prstGeom prst="triangle">
              <a:avLst>
                <a:gd name="adj" fmla="val 50000"/>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grpSp>
      <p:grpSp>
        <p:nvGrpSpPr>
          <p:cNvPr id="63" name="Group 76"/>
          <p:cNvGrpSpPr>
            <a:grpSpLocks/>
          </p:cNvGrpSpPr>
          <p:nvPr/>
        </p:nvGrpSpPr>
        <p:grpSpPr bwMode="auto">
          <a:xfrm>
            <a:off x="5581650" y="3684588"/>
            <a:ext cx="431800" cy="215900"/>
            <a:chOff x="2336" y="2659"/>
            <a:chExt cx="272" cy="136"/>
          </a:xfrm>
        </p:grpSpPr>
        <p:sp>
          <p:nvSpPr>
            <p:cNvPr id="64" name="Rectangle 77"/>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65" name="Line 78"/>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66" name="Text Box 85"/>
          <p:cNvSpPr txBox="1">
            <a:spLocks noChangeArrowheads="1"/>
          </p:cNvSpPr>
          <p:nvPr/>
        </p:nvSpPr>
        <p:spPr bwMode="auto">
          <a:xfrm>
            <a:off x="4976813" y="3313113"/>
            <a:ext cx="5032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hin</a:t>
            </a:r>
          </a:p>
        </p:txBody>
      </p:sp>
      <p:sp>
        <p:nvSpPr>
          <p:cNvPr id="67" name="Text Box 86"/>
          <p:cNvSpPr txBox="1">
            <a:spLocks noChangeArrowheads="1"/>
          </p:cNvSpPr>
          <p:nvPr/>
        </p:nvSpPr>
        <p:spPr bwMode="auto">
          <a:xfrm>
            <a:off x="5553075" y="3313113"/>
            <a:ext cx="5032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sin</a:t>
            </a:r>
          </a:p>
        </p:txBody>
      </p:sp>
      <p:sp>
        <p:nvSpPr>
          <p:cNvPr id="68" name="Text Box 87"/>
          <p:cNvSpPr txBox="1">
            <a:spLocks noChangeArrowheads="1"/>
          </p:cNvSpPr>
          <p:nvPr/>
        </p:nvSpPr>
        <p:spPr bwMode="auto">
          <a:xfrm>
            <a:off x="5491163" y="3833813"/>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hout</a:t>
            </a:r>
          </a:p>
        </p:txBody>
      </p:sp>
      <p:sp>
        <p:nvSpPr>
          <p:cNvPr id="69" name="Text Box 88"/>
          <p:cNvSpPr txBox="1">
            <a:spLocks noChangeArrowheads="1"/>
          </p:cNvSpPr>
          <p:nvPr/>
        </p:nvSpPr>
        <p:spPr bwMode="auto">
          <a:xfrm>
            <a:off x="4932363" y="3829050"/>
            <a:ext cx="57626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楷体" panose="02010609060101010101" pitchFamily="49" charset="-122"/>
              </a:rPr>
              <a:t>sout</a:t>
            </a:r>
          </a:p>
        </p:txBody>
      </p:sp>
      <p:sp>
        <p:nvSpPr>
          <p:cNvPr id="70" name="Line 89"/>
          <p:cNvSpPr>
            <a:spLocks noChangeShapeType="1"/>
          </p:cNvSpPr>
          <p:nvPr/>
        </p:nvSpPr>
        <p:spPr bwMode="auto">
          <a:xfrm>
            <a:off x="3541713" y="3330575"/>
            <a:ext cx="136842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71" name="Line 90"/>
          <p:cNvSpPr>
            <a:spLocks noChangeShapeType="1"/>
          </p:cNvSpPr>
          <p:nvPr/>
        </p:nvSpPr>
        <p:spPr bwMode="auto">
          <a:xfrm>
            <a:off x="6045200" y="3313113"/>
            <a:ext cx="136842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72" name="Line 91"/>
          <p:cNvSpPr>
            <a:spLocks noChangeShapeType="1"/>
          </p:cNvSpPr>
          <p:nvPr/>
        </p:nvSpPr>
        <p:spPr bwMode="auto">
          <a:xfrm>
            <a:off x="3530600" y="3829050"/>
            <a:ext cx="1368425"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73" name="Line 92"/>
          <p:cNvSpPr>
            <a:spLocks noChangeShapeType="1"/>
          </p:cNvSpPr>
          <p:nvPr/>
        </p:nvSpPr>
        <p:spPr bwMode="auto">
          <a:xfrm>
            <a:off x="6034088" y="3811588"/>
            <a:ext cx="1368425"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74" name="Text Box 93"/>
          <p:cNvSpPr txBox="1">
            <a:spLocks noChangeArrowheads="1"/>
          </p:cNvSpPr>
          <p:nvPr/>
        </p:nvSpPr>
        <p:spPr bwMode="auto">
          <a:xfrm>
            <a:off x="3808413" y="3009900"/>
            <a:ext cx="1079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收容输入</a:t>
            </a:r>
          </a:p>
        </p:txBody>
      </p:sp>
      <p:sp>
        <p:nvSpPr>
          <p:cNvPr id="75" name="Text Box 94"/>
          <p:cNvSpPr txBox="1">
            <a:spLocks noChangeArrowheads="1"/>
          </p:cNvSpPr>
          <p:nvPr/>
        </p:nvSpPr>
        <p:spPr bwMode="auto">
          <a:xfrm>
            <a:off x="6178550" y="2997200"/>
            <a:ext cx="1079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提取输入</a:t>
            </a:r>
          </a:p>
        </p:txBody>
      </p:sp>
      <p:sp>
        <p:nvSpPr>
          <p:cNvPr id="76" name="Text Box 95"/>
          <p:cNvSpPr txBox="1">
            <a:spLocks noChangeArrowheads="1"/>
          </p:cNvSpPr>
          <p:nvPr/>
        </p:nvSpPr>
        <p:spPr bwMode="auto">
          <a:xfrm>
            <a:off x="3806825" y="3503613"/>
            <a:ext cx="1079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提取输出</a:t>
            </a:r>
          </a:p>
        </p:txBody>
      </p:sp>
      <p:sp>
        <p:nvSpPr>
          <p:cNvPr id="77" name="Text Box 96"/>
          <p:cNvSpPr txBox="1">
            <a:spLocks noChangeArrowheads="1"/>
          </p:cNvSpPr>
          <p:nvPr/>
        </p:nvSpPr>
        <p:spPr bwMode="auto">
          <a:xfrm>
            <a:off x="6176963" y="3490913"/>
            <a:ext cx="1079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楷体" panose="02010609060101010101" pitchFamily="49" charset="-122"/>
              </a:rPr>
              <a:t>收容输出</a:t>
            </a:r>
          </a:p>
        </p:txBody>
      </p:sp>
      <p:sp>
        <p:nvSpPr>
          <p:cNvPr id="78" name="AutoShape 97"/>
          <p:cNvSpPr>
            <a:spLocks noChangeArrowheads="1"/>
          </p:cNvSpPr>
          <p:nvPr/>
        </p:nvSpPr>
        <p:spPr bwMode="auto">
          <a:xfrm>
            <a:off x="2876550" y="3141663"/>
            <a:ext cx="647700" cy="360362"/>
          </a:xfrm>
          <a:prstGeom prst="flowChartPunchedCard">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0" lang="zh-CN" altLang="zh-CN" sz="1600" b="1">
              <a:ea typeface="楷体" panose="02010609060101010101" pitchFamily="49" charset="-122"/>
            </a:endParaRPr>
          </a:p>
        </p:txBody>
      </p:sp>
      <p:sp>
        <p:nvSpPr>
          <p:cNvPr id="79" name="AutoShape 98"/>
          <p:cNvSpPr>
            <a:spLocks noChangeArrowheads="1"/>
          </p:cNvSpPr>
          <p:nvPr/>
        </p:nvSpPr>
        <p:spPr bwMode="auto">
          <a:xfrm>
            <a:off x="3160713" y="3646488"/>
            <a:ext cx="358775" cy="503237"/>
          </a:xfrm>
          <a:prstGeom prst="flowChartDocumen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80" name="Line 99"/>
          <p:cNvSpPr>
            <a:spLocks noChangeShapeType="1"/>
          </p:cNvSpPr>
          <p:nvPr/>
        </p:nvSpPr>
        <p:spPr bwMode="auto">
          <a:xfrm>
            <a:off x="6426200" y="2868613"/>
            <a:ext cx="217488"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Tree>
    <p:extLst>
      <p:ext uri="{BB962C8B-B14F-4D97-AF65-F5344CB8AC3E}">
        <p14:creationId xmlns:p14="http://schemas.microsoft.com/office/powerpoint/2010/main" val="1718849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hidden"/>
                                      </p:to>
                                    </p:set>
                                  </p:childTnLst>
                                </p:cTn>
                              </p:par>
                            </p:childTnLst>
                          </p:cTn>
                        </p:par>
                        <p:par>
                          <p:cTn id="7" fill="hold">
                            <p:stCondLst>
                              <p:cond delay="0"/>
                            </p:stCondLst>
                            <p:childTnLst>
                              <p:par>
                                <p:cTn id="8" presetID="0" presetClass="path" presetSubtype="0" accel="50000" decel="50000" fill="hold" nodeType="afterEffect">
                                  <p:stCondLst>
                                    <p:cond delay="0"/>
                                  </p:stCondLst>
                                  <p:childTnLst>
                                    <p:animMotion origin="layout" path="M 0 1.11111E-6 L 0.13385 0.23866 " pathEditMode="relative" rAng="0" ptsTypes="AA">
                                      <p:cBhvr>
                                        <p:cTn id="9" dur="500" fill="hold"/>
                                        <p:tgtEl>
                                          <p:spTgt spid="12"/>
                                        </p:tgtEl>
                                        <p:attrNameLst>
                                          <p:attrName>ppt_x</p:attrName>
                                          <p:attrName>ppt_y</p:attrName>
                                        </p:attrNameLst>
                                      </p:cBhvr>
                                      <p:rCtr x="6684" y="11921"/>
                                    </p:animMotion>
                                  </p:childTnLst>
                                </p:cTn>
                              </p:par>
                            </p:childTnLst>
                          </p:cTn>
                        </p:par>
                      </p:childTnLst>
                    </p:cTn>
                  </p:par>
                  <p:par>
                    <p:cTn id="10" fill="hold">
                      <p:stCondLst>
                        <p:cond delay="indefinite"/>
                      </p:stCondLst>
                      <p:childTnLst>
                        <p:par>
                          <p:cTn id="11" fill="hold">
                            <p:stCondLst>
                              <p:cond delay="0"/>
                            </p:stCondLst>
                            <p:childTnLst>
                              <p:par>
                                <p:cTn id="12" presetID="1" presetClass="emph" presetSubtype="2" fill="hold" nodeType="clickEffect">
                                  <p:stCondLst>
                                    <p:cond delay="0"/>
                                  </p:stCondLst>
                                  <p:childTnLst>
                                    <p:animClr clrSpc="rgb" dir="cw">
                                      <p:cBhvr>
                                        <p:cTn id="13" dur="500" fill="hold"/>
                                        <p:tgtEl>
                                          <p:spTgt spid="10"/>
                                        </p:tgtEl>
                                        <p:attrNameLst>
                                          <p:attrName>fillcolor</p:attrName>
                                        </p:attrNameLst>
                                      </p:cBhvr>
                                      <p:to>
                                        <a:schemeClr val="bg1"/>
                                      </p:to>
                                    </p:animClr>
                                    <p:set>
                                      <p:cBhvr>
                                        <p:cTn id="14" dur="500" fill="hold"/>
                                        <p:tgtEl>
                                          <p:spTgt spid="10"/>
                                        </p:tgtEl>
                                        <p:attrNameLst>
                                          <p:attrName>fill.type</p:attrName>
                                        </p:attrNameLst>
                                      </p:cBhvr>
                                      <p:to>
                                        <p:strVal val="solid"/>
                                      </p:to>
                                    </p:set>
                                    <p:set>
                                      <p:cBhvr>
                                        <p:cTn id="15" dur="500" fill="hold"/>
                                        <p:tgtEl>
                                          <p:spTgt spid="10"/>
                                        </p:tgtEl>
                                        <p:attrNameLst>
                                          <p:attrName>fill.on</p:attrName>
                                        </p:attrNameLst>
                                      </p:cBhvr>
                                      <p:to>
                                        <p:strVal val="true"/>
                                      </p:to>
                                    </p:set>
                                  </p:childTnLst>
                                </p:cTn>
                              </p:par>
                            </p:childTnLst>
                          </p:cTn>
                        </p:par>
                        <p:par>
                          <p:cTn id="16" fill="hold">
                            <p:stCondLst>
                              <p:cond delay="500"/>
                            </p:stCondLst>
                            <p:childTnLst>
                              <p:par>
                                <p:cTn id="17" presetID="22" presetClass="entr" presetSubtype="2" fill="hold" nodeType="afterEffect">
                                  <p:stCondLst>
                                    <p:cond delay="0"/>
                                  </p:stCondLst>
                                  <p:childTnLst>
                                    <p:set>
                                      <p:cBhvr>
                                        <p:cTn id="18" dur="1" fill="hold">
                                          <p:stCondLst>
                                            <p:cond delay="0"/>
                                          </p:stCondLst>
                                        </p:cTn>
                                        <p:tgtEl>
                                          <p:spTgt spid="63"/>
                                        </p:tgtEl>
                                        <p:attrNameLst>
                                          <p:attrName>style.visibility</p:attrName>
                                        </p:attrNameLst>
                                      </p:cBhvr>
                                      <p:to>
                                        <p:strVal val="visible"/>
                                      </p:to>
                                    </p:set>
                                    <p:animEffect transition="in" filter="wipe(right)">
                                      <p:cBhvr>
                                        <p:cTn id="19" dur="500"/>
                                        <p:tgtEl>
                                          <p:spTgt spid="63"/>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nodeType="clickEffect">
                                  <p:stCondLst>
                                    <p:cond delay="0"/>
                                  </p:stCondLst>
                                  <p:childTnLst>
                                    <p:set>
                                      <p:cBhvr>
                                        <p:cTn id="23" dur="1" fill="hold">
                                          <p:stCondLst>
                                            <p:cond delay="0"/>
                                          </p:stCondLst>
                                        </p:cTn>
                                        <p:tgtEl>
                                          <p:spTgt spid="12"/>
                                        </p:tgtEl>
                                        <p:attrNameLst>
                                          <p:attrName>style.visibility</p:attrName>
                                        </p:attrNameLst>
                                      </p:cBhvr>
                                      <p:to>
                                        <p:strVal val="hidden"/>
                                      </p:to>
                                    </p:set>
                                  </p:childTnLst>
                                </p:cTn>
                              </p:par>
                            </p:childTnLst>
                          </p:cTn>
                        </p:par>
                        <p:par>
                          <p:cTn id="24" fill="hold">
                            <p:stCondLst>
                              <p:cond delay="0"/>
                            </p:stCondLst>
                            <p:childTnLst>
                              <p:par>
                                <p:cTn id="25" presetID="22" presetClass="entr" presetSubtype="8" fill="hold" grpId="0" nodeType="afterEffect">
                                  <p:stCondLst>
                                    <p:cond delay="0"/>
                                  </p:stCondLst>
                                  <p:childTnLst>
                                    <p:set>
                                      <p:cBhvr>
                                        <p:cTn id="26" dur="1" fill="hold">
                                          <p:stCondLst>
                                            <p:cond delay="0"/>
                                          </p:stCondLst>
                                        </p:cTn>
                                        <p:tgtEl>
                                          <p:spTgt spid="80"/>
                                        </p:tgtEl>
                                        <p:attrNameLst>
                                          <p:attrName>style.visibility</p:attrName>
                                        </p:attrNameLst>
                                      </p:cBhvr>
                                      <p:to>
                                        <p:strVal val="visible"/>
                                      </p:to>
                                    </p:set>
                                    <p:animEffect transition="in" filter="wipe(left)">
                                      <p:cBhvr>
                                        <p:cTn id="27" dur="500"/>
                                        <p:tgtEl>
                                          <p:spTgt spid="80"/>
                                        </p:tgtEl>
                                      </p:cBhvr>
                                    </p:animEffect>
                                  </p:childTnLst>
                                </p:cTn>
                              </p:par>
                            </p:childTnLst>
                          </p:cTn>
                        </p:par>
                        <p:par>
                          <p:cTn id="28" fill="hold">
                            <p:stCondLst>
                              <p:cond delay="500"/>
                            </p:stCondLst>
                            <p:childTnLst>
                              <p:par>
                                <p:cTn id="29" presetID="0" presetClass="path" presetSubtype="0" accel="50000" decel="50000" fill="hold" nodeType="afterEffect">
                                  <p:stCondLst>
                                    <p:cond delay="0"/>
                                  </p:stCondLst>
                                  <p:childTnLst>
                                    <p:animMotion origin="layout" path="M 0.00694 0.00463 L 0.11719 -0.13657 " pathEditMode="relative" rAng="0" ptsTypes="AA">
                                      <p:cBhvr>
                                        <p:cTn id="30" dur="500" fill="hold"/>
                                        <p:tgtEl>
                                          <p:spTgt spid="63"/>
                                        </p:tgtEl>
                                        <p:attrNameLst>
                                          <p:attrName>ppt_x</p:attrName>
                                          <p:attrName>ppt_y</p:attrName>
                                        </p:attrNameLst>
                                      </p:cBhvr>
                                      <p:rCtr x="5503" y="-706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8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缓冲区的工作方式</a:t>
            </a:r>
          </a:p>
        </p:txBody>
      </p:sp>
      <p:sp>
        <p:nvSpPr>
          <p:cNvPr id="4" name="Date Placeholder 3"/>
          <p:cNvSpPr>
            <a:spLocks noGrp="1"/>
          </p:cNvSpPr>
          <p:nvPr>
            <p:ph type="dt" sz="half" idx="10"/>
          </p:nvPr>
        </p:nvSpPr>
        <p:spPr/>
        <p:txBody>
          <a:bodyPr/>
          <a:lstStyle/>
          <a:p>
            <a:fld id="{BBB197C3-1553-45D1-BF2D-0F642084FEA6}"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55</a:t>
            </a:fld>
            <a:endParaRPr lang="zh-CN" altLang="en-US" dirty="0"/>
          </a:p>
        </p:txBody>
      </p:sp>
      <p:sp>
        <p:nvSpPr>
          <p:cNvPr id="7" name="Text Box 5"/>
          <p:cNvSpPr txBox="1">
            <a:spLocks noChangeArrowheads="1"/>
          </p:cNvSpPr>
          <p:nvPr/>
        </p:nvSpPr>
        <p:spPr bwMode="auto">
          <a:xfrm>
            <a:off x="250825" y="2708275"/>
            <a:ext cx="2520950" cy="166211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lang="zh-CN" altLang="en-US" b="1">
                <a:solidFill>
                  <a:srgbClr val="FF3300"/>
                </a:solidFill>
                <a:ea typeface="宋体" panose="02010600030101010101" pitchFamily="2" charset="-122"/>
              </a:rPr>
              <a:t>收容输入：</a:t>
            </a:r>
          </a:p>
          <a:p>
            <a:pPr>
              <a:spcBef>
                <a:spcPct val="10000"/>
              </a:spcBef>
            </a:pPr>
            <a:r>
              <a:rPr lang="en-US" altLang="zh-CN" b="1">
                <a:ea typeface="宋体" panose="02010600030101010101" pitchFamily="2" charset="-122"/>
              </a:rPr>
              <a:t>hin=Getbuf(emq);</a:t>
            </a:r>
          </a:p>
          <a:p>
            <a:pPr>
              <a:spcBef>
                <a:spcPct val="10000"/>
              </a:spcBef>
            </a:pPr>
            <a:r>
              <a:rPr lang="zh-CN" altLang="en-US" b="1">
                <a:ea typeface="宋体" panose="02010600030101010101" pitchFamily="2" charset="-122"/>
              </a:rPr>
              <a:t>输入数据至</a:t>
            </a:r>
            <a:r>
              <a:rPr lang="en-US" altLang="zh-CN" b="1">
                <a:ea typeface="宋体" panose="02010600030101010101" pitchFamily="2" charset="-122"/>
              </a:rPr>
              <a:t>hin;</a:t>
            </a:r>
          </a:p>
          <a:p>
            <a:pPr>
              <a:spcBef>
                <a:spcPct val="10000"/>
              </a:spcBef>
            </a:pPr>
            <a:r>
              <a:rPr lang="en-US" altLang="zh-CN" b="1">
                <a:ea typeface="宋体" panose="02010600030101010101" pitchFamily="2" charset="-122"/>
              </a:rPr>
              <a:t>Putbuf(inq, hin)</a:t>
            </a:r>
            <a:endParaRPr lang="en-US" altLang="zh-CN" b="1">
              <a:ea typeface="宋体" panose="02010600030101010101" pitchFamily="2" charset="-122"/>
              <a:cs typeface="Times New Roman" panose="02020603050405020304" pitchFamily="18" charset="0"/>
            </a:endParaRPr>
          </a:p>
        </p:txBody>
      </p:sp>
      <p:sp>
        <p:nvSpPr>
          <p:cNvPr id="8" name="Text Box 6"/>
          <p:cNvSpPr txBox="1">
            <a:spLocks noChangeArrowheads="1"/>
          </p:cNvSpPr>
          <p:nvPr/>
        </p:nvSpPr>
        <p:spPr bwMode="auto">
          <a:xfrm>
            <a:off x="323850" y="4652963"/>
            <a:ext cx="2303463" cy="166211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lang="zh-CN" altLang="en-US" b="1">
                <a:solidFill>
                  <a:srgbClr val="FF3300"/>
                </a:solidFill>
                <a:ea typeface="宋体" panose="02010600030101010101" pitchFamily="2" charset="-122"/>
              </a:rPr>
              <a:t>提取输入：</a:t>
            </a:r>
          </a:p>
          <a:p>
            <a:pPr>
              <a:spcBef>
                <a:spcPct val="10000"/>
              </a:spcBef>
            </a:pPr>
            <a:r>
              <a:rPr lang="en-US" altLang="zh-CN" b="1">
                <a:ea typeface="宋体" panose="02010600030101010101" pitchFamily="2" charset="-122"/>
              </a:rPr>
              <a:t>sin=Getbuf(inq);</a:t>
            </a:r>
          </a:p>
          <a:p>
            <a:pPr>
              <a:spcBef>
                <a:spcPct val="10000"/>
              </a:spcBef>
            </a:pPr>
            <a:r>
              <a:rPr lang="zh-CN" altLang="en-US" b="1">
                <a:ea typeface="宋体" panose="02010600030101010101" pitchFamily="2" charset="-122"/>
              </a:rPr>
              <a:t>从</a:t>
            </a:r>
            <a:r>
              <a:rPr lang="en-US" altLang="zh-CN" b="1">
                <a:ea typeface="宋体" panose="02010600030101010101" pitchFamily="2" charset="-122"/>
              </a:rPr>
              <a:t>hin</a:t>
            </a:r>
            <a:r>
              <a:rPr lang="zh-CN" altLang="en-US" b="1">
                <a:ea typeface="宋体" panose="02010600030101010101" pitchFamily="2" charset="-122"/>
              </a:rPr>
              <a:t>提取数据</a:t>
            </a:r>
            <a:r>
              <a:rPr lang="en-US" altLang="zh-CN" b="1">
                <a:ea typeface="宋体" panose="02010600030101010101" pitchFamily="2" charset="-122"/>
              </a:rPr>
              <a:t>;</a:t>
            </a:r>
          </a:p>
          <a:p>
            <a:pPr>
              <a:spcBef>
                <a:spcPct val="10000"/>
              </a:spcBef>
            </a:pPr>
            <a:r>
              <a:rPr lang="en-US" altLang="zh-CN" b="1">
                <a:ea typeface="宋体" panose="02010600030101010101" pitchFamily="2" charset="-122"/>
              </a:rPr>
              <a:t>Putbuf(emq, sin)</a:t>
            </a:r>
          </a:p>
        </p:txBody>
      </p:sp>
      <p:sp>
        <p:nvSpPr>
          <p:cNvPr id="9" name="Text Box 7"/>
          <p:cNvSpPr txBox="1">
            <a:spLocks noChangeArrowheads="1"/>
          </p:cNvSpPr>
          <p:nvPr/>
        </p:nvSpPr>
        <p:spPr bwMode="auto">
          <a:xfrm>
            <a:off x="2987675" y="4652963"/>
            <a:ext cx="2735263" cy="1662112"/>
          </a:xfrm>
          <a:prstGeom prst="rect">
            <a:avLst/>
          </a:prstGeom>
          <a:solidFill>
            <a:srgbClr val="66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lang="zh-CN" altLang="en-US" b="1">
                <a:solidFill>
                  <a:srgbClr val="FF3300"/>
                </a:solidFill>
                <a:ea typeface="宋体" panose="02010600030101010101" pitchFamily="2" charset="-122"/>
              </a:rPr>
              <a:t>收容输出：</a:t>
            </a:r>
          </a:p>
          <a:p>
            <a:pPr>
              <a:spcBef>
                <a:spcPct val="10000"/>
              </a:spcBef>
            </a:pPr>
            <a:r>
              <a:rPr lang="en-US" altLang="zh-CN" b="1">
                <a:ea typeface="宋体" panose="02010600030101010101" pitchFamily="2" charset="-122"/>
              </a:rPr>
              <a:t>hout</a:t>
            </a:r>
            <a:r>
              <a:rPr kumimoji="0" lang="en-US" altLang="zh-CN" b="1">
                <a:ea typeface="宋体" panose="02010600030101010101" pitchFamily="2" charset="-122"/>
              </a:rPr>
              <a:t>=</a:t>
            </a:r>
            <a:r>
              <a:rPr lang="en-US" altLang="zh-CN" b="1">
                <a:ea typeface="宋体" panose="02010600030101010101" pitchFamily="2" charset="-122"/>
              </a:rPr>
              <a:t>Getbuf(emq);</a:t>
            </a:r>
          </a:p>
          <a:p>
            <a:pPr>
              <a:spcBef>
                <a:spcPct val="10000"/>
              </a:spcBef>
            </a:pPr>
            <a:r>
              <a:rPr lang="zh-CN" altLang="en-US" b="1">
                <a:ea typeface="宋体" panose="02010600030101010101" pitchFamily="2" charset="-122"/>
                <a:sym typeface="Symbol" panose="05050102010706020507" pitchFamily="18" charset="2"/>
              </a:rPr>
              <a:t>将</a:t>
            </a:r>
            <a:r>
              <a:rPr lang="en-US" altLang="zh-CN" b="1">
                <a:ea typeface="宋体" panose="02010600030101010101" pitchFamily="2" charset="-122"/>
                <a:sym typeface="Symbol" panose="05050102010706020507" pitchFamily="18" charset="2"/>
              </a:rPr>
              <a:t>hout</a:t>
            </a:r>
            <a:r>
              <a:rPr lang="zh-CN" altLang="en-US" b="1">
                <a:ea typeface="宋体" panose="02010600030101010101" pitchFamily="2" charset="-122"/>
                <a:sym typeface="Symbol" panose="05050102010706020507" pitchFamily="18" charset="2"/>
              </a:rPr>
              <a:t>装满数据</a:t>
            </a:r>
            <a:r>
              <a:rPr lang="en-US" altLang="zh-CN" b="1">
                <a:ea typeface="宋体" panose="02010600030101010101" pitchFamily="2" charset="-122"/>
              </a:rPr>
              <a:t>;</a:t>
            </a:r>
          </a:p>
          <a:p>
            <a:pPr>
              <a:spcBef>
                <a:spcPct val="10000"/>
              </a:spcBef>
            </a:pPr>
            <a:r>
              <a:rPr lang="en-US" altLang="zh-CN" b="1">
                <a:ea typeface="宋体" panose="02010600030101010101" pitchFamily="2" charset="-122"/>
              </a:rPr>
              <a:t>Putbuf(outq, hout)</a:t>
            </a:r>
          </a:p>
        </p:txBody>
      </p:sp>
      <p:sp>
        <p:nvSpPr>
          <p:cNvPr id="10" name="Text Box 8"/>
          <p:cNvSpPr txBox="1">
            <a:spLocks noChangeArrowheads="1"/>
          </p:cNvSpPr>
          <p:nvPr/>
        </p:nvSpPr>
        <p:spPr bwMode="auto">
          <a:xfrm>
            <a:off x="6156325" y="4652963"/>
            <a:ext cx="2735263" cy="1662112"/>
          </a:xfrm>
          <a:prstGeom prst="rect">
            <a:avLst/>
          </a:prstGeom>
          <a:solidFill>
            <a:srgbClr val="FF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lang="zh-CN" altLang="en-US" b="1">
                <a:solidFill>
                  <a:srgbClr val="FF3300"/>
                </a:solidFill>
                <a:ea typeface="宋体" panose="02010600030101010101" pitchFamily="2" charset="-122"/>
              </a:rPr>
              <a:t>提取输出：</a:t>
            </a:r>
          </a:p>
          <a:p>
            <a:pPr>
              <a:spcBef>
                <a:spcPct val="10000"/>
              </a:spcBef>
            </a:pPr>
            <a:r>
              <a:rPr lang="en-US" altLang="zh-CN" b="1">
                <a:ea typeface="宋体" panose="02010600030101010101" pitchFamily="2" charset="-122"/>
              </a:rPr>
              <a:t>sout</a:t>
            </a:r>
            <a:r>
              <a:rPr kumimoji="0" lang="en-US" altLang="zh-CN" b="1">
                <a:ea typeface="宋体" panose="02010600030101010101" pitchFamily="2" charset="-122"/>
              </a:rPr>
              <a:t>=</a:t>
            </a:r>
            <a:r>
              <a:rPr lang="en-US" altLang="zh-CN" b="1">
                <a:ea typeface="宋体" panose="02010600030101010101" pitchFamily="2" charset="-122"/>
              </a:rPr>
              <a:t>Getbuf(outq);</a:t>
            </a:r>
          </a:p>
          <a:p>
            <a:pPr>
              <a:spcBef>
                <a:spcPct val="10000"/>
              </a:spcBef>
            </a:pPr>
            <a:r>
              <a:rPr lang="zh-CN" altLang="en-US" b="1">
                <a:ea typeface="宋体" panose="02010600030101010101" pitchFamily="2" charset="-122"/>
              </a:rPr>
              <a:t>从</a:t>
            </a:r>
            <a:r>
              <a:rPr lang="en-US" altLang="zh-CN" b="1">
                <a:ea typeface="宋体" panose="02010600030101010101" pitchFamily="2" charset="-122"/>
                <a:sym typeface="Symbol" panose="05050102010706020507" pitchFamily="18" charset="2"/>
              </a:rPr>
              <a:t>hout</a:t>
            </a:r>
            <a:r>
              <a:rPr lang="zh-CN" altLang="en-US" b="1">
                <a:ea typeface="宋体" panose="02010600030101010101" pitchFamily="2" charset="-122"/>
                <a:sym typeface="Symbol" panose="05050102010706020507" pitchFamily="18" charset="2"/>
              </a:rPr>
              <a:t>提取数据</a:t>
            </a:r>
            <a:r>
              <a:rPr lang="en-US" altLang="zh-CN" b="1">
                <a:ea typeface="宋体" panose="02010600030101010101" pitchFamily="2" charset="-122"/>
              </a:rPr>
              <a:t>;</a:t>
            </a:r>
          </a:p>
          <a:p>
            <a:pPr>
              <a:spcBef>
                <a:spcPct val="10000"/>
              </a:spcBef>
            </a:pPr>
            <a:r>
              <a:rPr lang="en-US" altLang="zh-CN" b="1">
                <a:ea typeface="宋体" panose="02010600030101010101" pitchFamily="2" charset="-122"/>
              </a:rPr>
              <a:t>Putbuf(emq, sout)</a:t>
            </a:r>
          </a:p>
        </p:txBody>
      </p:sp>
      <p:sp>
        <p:nvSpPr>
          <p:cNvPr id="11" name="AutoShape 10"/>
          <p:cNvSpPr>
            <a:spLocks noChangeArrowheads="1"/>
          </p:cNvSpPr>
          <p:nvPr/>
        </p:nvSpPr>
        <p:spPr bwMode="auto">
          <a:xfrm>
            <a:off x="7380288" y="2997200"/>
            <a:ext cx="1655762" cy="1079500"/>
          </a:xfrm>
          <a:prstGeom prst="irregularSeal2">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b="1">
                <a:ea typeface="宋体" panose="02010600030101010101" pitchFamily="2" charset="-122"/>
              </a:rPr>
              <a:t>应用进程</a:t>
            </a:r>
          </a:p>
        </p:txBody>
      </p:sp>
      <p:sp>
        <p:nvSpPr>
          <p:cNvPr id="12" name="Rectangle 12"/>
          <p:cNvSpPr>
            <a:spLocks noChangeArrowheads="1"/>
          </p:cNvSpPr>
          <p:nvPr/>
        </p:nvSpPr>
        <p:spPr bwMode="auto">
          <a:xfrm>
            <a:off x="3851275" y="1917700"/>
            <a:ext cx="3313113" cy="23034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 name="Group 13"/>
          <p:cNvGrpSpPr>
            <a:grpSpLocks/>
          </p:cNvGrpSpPr>
          <p:nvPr/>
        </p:nvGrpSpPr>
        <p:grpSpPr bwMode="auto">
          <a:xfrm>
            <a:off x="4356100" y="2044700"/>
            <a:ext cx="431800" cy="215900"/>
            <a:chOff x="2336" y="2659"/>
            <a:chExt cx="272" cy="136"/>
          </a:xfrm>
        </p:grpSpPr>
        <p:sp>
          <p:nvSpPr>
            <p:cNvPr id="14" name="Rectangle 14"/>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5"/>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6" name="Line 16"/>
          <p:cNvSpPr>
            <a:spLocks noChangeShapeType="1"/>
          </p:cNvSpPr>
          <p:nvPr/>
        </p:nvSpPr>
        <p:spPr bwMode="auto">
          <a:xfrm>
            <a:off x="4714875" y="2149475"/>
            <a:ext cx="217488"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7" name="Group 17"/>
          <p:cNvGrpSpPr>
            <a:grpSpLocks/>
          </p:cNvGrpSpPr>
          <p:nvPr/>
        </p:nvGrpSpPr>
        <p:grpSpPr bwMode="auto">
          <a:xfrm>
            <a:off x="4932363" y="2044700"/>
            <a:ext cx="431800" cy="215900"/>
            <a:chOff x="2336" y="2659"/>
            <a:chExt cx="272" cy="136"/>
          </a:xfrm>
        </p:grpSpPr>
        <p:sp>
          <p:nvSpPr>
            <p:cNvPr id="18" name="Rectangle 18"/>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9"/>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 name="Line 20"/>
          <p:cNvSpPr>
            <a:spLocks noChangeShapeType="1"/>
          </p:cNvSpPr>
          <p:nvPr/>
        </p:nvSpPr>
        <p:spPr bwMode="auto">
          <a:xfrm>
            <a:off x="5291138" y="2149475"/>
            <a:ext cx="21748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1" name="Group 21"/>
          <p:cNvGrpSpPr>
            <a:grpSpLocks/>
          </p:cNvGrpSpPr>
          <p:nvPr/>
        </p:nvGrpSpPr>
        <p:grpSpPr bwMode="auto">
          <a:xfrm>
            <a:off x="5508625" y="2044700"/>
            <a:ext cx="431800" cy="215900"/>
            <a:chOff x="2336" y="2659"/>
            <a:chExt cx="272" cy="136"/>
          </a:xfrm>
        </p:grpSpPr>
        <p:sp>
          <p:nvSpPr>
            <p:cNvPr id="22" name="Rectangle 22"/>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23"/>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4" name="Line 24"/>
          <p:cNvSpPr>
            <a:spLocks noChangeShapeType="1"/>
          </p:cNvSpPr>
          <p:nvPr/>
        </p:nvSpPr>
        <p:spPr bwMode="auto">
          <a:xfrm>
            <a:off x="5867400" y="2149475"/>
            <a:ext cx="217488"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5" name="Group 25"/>
          <p:cNvGrpSpPr>
            <a:grpSpLocks/>
          </p:cNvGrpSpPr>
          <p:nvPr/>
        </p:nvGrpSpPr>
        <p:grpSpPr bwMode="auto">
          <a:xfrm>
            <a:off x="6084888" y="2044700"/>
            <a:ext cx="431800" cy="215900"/>
            <a:chOff x="2336" y="2659"/>
            <a:chExt cx="272" cy="136"/>
          </a:xfrm>
        </p:grpSpPr>
        <p:sp>
          <p:nvSpPr>
            <p:cNvPr id="26" name="Rectangle 26"/>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7"/>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8" name="Line 28"/>
          <p:cNvSpPr>
            <a:spLocks noChangeShapeType="1"/>
          </p:cNvSpPr>
          <p:nvPr/>
        </p:nvSpPr>
        <p:spPr bwMode="auto">
          <a:xfrm>
            <a:off x="6430963" y="2149475"/>
            <a:ext cx="21748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9" name="Group 32"/>
          <p:cNvGrpSpPr>
            <a:grpSpLocks/>
          </p:cNvGrpSpPr>
          <p:nvPr/>
        </p:nvGrpSpPr>
        <p:grpSpPr bwMode="auto">
          <a:xfrm>
            <a:off x="4356100" y="2416175"/>
            <a:ext cx="431800" cy="215900"/>
            <a:chOff x="2336" y="2659"/>
            <a:chExt cx="272" cy="136"/>
          </a:xfrm>
        </p:grpSpPr>
        <p:sp>
          <p:nvSpPr>
            <p:cNvPr id="30" name="Rectangle 33"/>
            <p:cNvSpPr>
              <a:spLocks noChangeArrowheads="1"/>
            </p:cNvSpPr>
            <p:nvPr/>
          </p:nvSpPr>
          <p:spPr bwMode="auto">
            <a:xfrm>
              <a:off x="2336" y="2659"/>
              <a:ext cx="272" cy="1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34"/>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2" name="Line 35"/>
          <p:cNvSpPr>
            <a:spLocks noChangeShapeType="1"/>
          </p:cNvSpPr>
          <p:nvPr/>
        </p:nvSpPr>
        <p:spPr bwMode="auto">
          <a:xfrm>
            <a:off x="4714875" y="2520950"/>
            <a:ext cx="217488"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3" name="Group 36"/>
          <p:cNvGrpSpPr>
            <a:grpSpLocks/>
          </p:cNvGrpSpPr>
          <p:nvPr/>
        </p:nvGrpSpPr>
        <p:grpSpPr bwMode="auto">
          <a:xfrm>
            <a:off x="4932363" y="2416175"/>
            <a:ext cx="431800" cy="215900"/>
            <a:chOff x="2336" y="2659"/>
            <a:chExt cx="272" cy="136"/>
          </a:xfrm>
        </p:grpSpPr>
        <p:sp>
          <p:nvSpPr>
            <p:cNvPr id="34" name="Rectangle 37"/>
            <p:cNvSpPr>
              <a:spLocks noChangeArrowheads="1"/>
            </p:cNvSpPr>
            <p:nvPr/>
          </p:nvSpPr>
          <p:spPr bwMode="auto">
            <a:xfrm>
              <a:off x="2336" y="2659"/>
              <a:ext cx="272" cy="1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38"/>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6" name="Line 39"/>
          <p:cNvSpPr>
            <a:spLocks noChangeShapeType="1"/>
          </p:cNvSpPr>
          <p:nvPr/>
        </p:nvSpPr>
        <p:spPr bwMode="auto">
          <a:xfrm>
            <a:off x="5291138" y="2520950"/>
            <a:ext cx="21748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7" name="Group 40"/>
          <p:cNvGrpSpPr>
            <a:grpSpLocks/>
          </p:cNvGrpSpPr>
          <p:nvPr/>
        </p:nvGrpSpPr>
        <p:grpSpPr bwMode="auto">
          <a:xfrm>
            <a:off x="5508625" y="2416175"/>
            <a:ext cx="431800" cy="215900"/>
            <a:chOff x="2336" y="2659"/>
            <a:chExt cx="272" cy="136"/>
          </a:xfrm>
        </p:grpSpPr>
        <p:sp>
          <p:nvSpPr>
            <p:cNvPr id="38" name="Rectangle 41"/>
            <p:cNvSpPr>
              <a:spLocks noChangeArrowheads="1"/>
            </p:cNvSpPr>
            <p:nvPr/>
          </p:nvSpPr>
          <p:spPr bwMode="auto">
            <a:xfrm>
              <a:off x="2336" y="2659"/>
              <a:ext cx="272" cy="1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42"/>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0" name="Group 43"/>
          <p:cNvGrpSpPr>
            <a:grpSpLocks/>
          </p:cNvGrpSpPr>
          <p:nvPr/>
        </p:nvGrpSpPr>
        <p:grpSpPr bwMode="auto">
          <a:xfrm>
            <a:off x="4356100" y="2765425"/>
            <a:ext cx="431800" cy="215900"/>
            <a:chOff x="2336" y="2659"/>
            <a:chExt cx="272" cy="136"/>
          </a:xfrm>
        </p:grpSpPr>
        <p:sp>
          <p:nvSpPr>
            <p:cNvPr id="41" name="Rectangle 44"/>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45"/>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3" name="Line 46"/>
          <p:cNvSpPr>
            <a:spLocks noChangeShapeType="1"/>
          </p:cNvSpPr>
          <p:nvPr/>
        </p:nvSpPr>
        <p:spPr bwMode="auto">
          <a:xfrm>
            <a:off x="4714875" y="2870200"/>
            <a:ext cx="217488"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4" name="Group 47"/>
          <p:cNvGrpSpPr>
            <a:grpSpLocks/>
          </p:cNvGrpSpPr>
          <p:nvPr/>
        </p:nvGrpSpPr>
        <p:grpSpPr bwMode="auto">
          <a:xfrm>
            <a:off x="4932363" y="2765425"/>
            <a:ext cx="431800" cy="215900"/>
            <a:chOff x="2336" y="2659"/>
            <a:chExt cx="272" cy="136"/>
          </a:xfrm>
        </p:grpSpPr>
        <p:sp>
          <p:nvSpPr>
            <p:cNvPr id="45" name="Rectangle 48"/>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49"/>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7" name="Line 50"/>
          <p:cNvSpPr>
            <a:spLocks noChangeShapeType="1"/>
          </p:cNvSpPr>
          <p:nvPr/>
        </p:nvSpPr>
        <p:spPr bwMode="auto">
          <a:xfrm>
            <a:off x="5291138" y="2870200"/>
            <a:ext cx="217487"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8" name="Group 51"/>
          <p:cNvGrpSpPr>
            <a:grpSpLocks/>
          </p:cNvGrpSpPr>
          <p:nvPr/>
        </p:nvGrpSpPr>
        <p:grpSpPr bwMode="auto">
          <a:xfrm>
            <a:off x="5508625" y="2765425"/>
            <a:ext cx="431800" cy="215900"/>
            <a:chOff x="2336" y="2659"/>
            <a:chExt cx="272" cy="136"/>
          </a:xfrm>
        </p:grpSpPr>
        <p:sp>
          <p:nvSpPr>
            <p:cNvPr id="49" name="Rectangle 52"/>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53"/>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1" name="Line 54"/>
          <p:cNvSpPr>
            <a:spLocks noChangeShapeType="1"/>
          </p:cNvSpPr>
          <p:nvPr/>
        </p:nvSpPr>
        <p:spPr bwMode="auto">
          <a:xfrm>
            <a:off x="5867400" y="2870200"/>
            <a:ext cx="217488" cy="0"/>
          </a:xfrm>
          <a:prstGeom prst="line">
            <a:avLst/>
          </a:prstGeom>
          <a:noFill/>
          <a:ln w="952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Text Box 55"/>
          <p:cNvSpPr txBox="1">
            <a:spLocks noChangeArrowheads="1"/>
          </p:cNvSpPr>
          <p:nvPr/>
        </p:nvSpPr>
        <p:spPr bwMode="auto">
          <a:xfrm>
            <a:off x="3851275" y="1951038"/>
            <a:ext cx="5762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emq</a:t>
            </a:r>
          </a:p>
        </p:txBody>
      </p:sp>
      <p:sp>
        <p:nvSpPr>
          <p:cNvPr id="53" name="Text Box 56"/>
          <p:cNvSpPr txBox="1">
            <a:spLocks noChangeArrowheads="1"/>
          </p:cNvSpPr>
          <p:nvPr/>
        </p:nvSpPr>
        <p:spPr bwMode="auto">
          <a:xfrm>
            <a:off x="3929063" y="2311400"/>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inq</a:t>
            </a:r>
          </a:p>
        </p:txBody>
      </p:sp>
      <p:sp>
        <p:nvSpPr>
          <p:cNvPr id="54" name="Text Box 57"/>
          <p:cNvSpPr txBox="1">
            <a:spLocks noChangeArrowheads="1"/>
          </p:cNvSpPr>
          <p:nvPr/>
        </p:nvSpPr>
        <p:spPr bwMode="auto">
          <a:xfrm>
            <a:off x="3816350" y="2654300"/>
            <a:ext cx="6492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outq</a:t>
            </a:r>
          </a:p>
        </p:txBody>
      </p:sp>
      <p:sp>
        <p:nvSpPr>
          <p:cNvPr id="55" name="AutoShape 59"/>
          <p:cNvSpPr>
            <a:spLocks noChangeArrowheads="1"/>
          </p:cNvSpPr>
          <p:nvPr/>
        </p:nvSpPr>
        <p:spPr bwMode="auto">
          <a:xfrm>
            <a:off x="5822950" y="2476500"/>
            <a:ext cx="71438" cy="71438"/>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6" name="Group 61"/>
          <p:cNvGrpSpPr>
            <a:grpSpLocks/>
          </p:cNvGrpSpPr>
          <p:nvPr/>
        </p:nvGrpSpPr>
        <p:grpSpPr bwMode="auto">
          <a:xfrm>
            <a:off x="6084888" y="2765425"/>
            <a:ext cx="431800" cy="215900"/>
            <a:chOff x="2336" y="2659"/>
            <a:chExt cx="272" cy="136"/>
          </a:xfrm>
        </p:grpSpPr>
        <p:sp>
          <p:nvSpPr>
            <p:cNvPr id="57" name="Rectangle 62"/>
            <p:cNvSpPr>
              <a:spLocks noChangeArrowheads="1"/>
            </p:cNvSpPr>
            <p:nvPr/>
          </p:nvSpPr>
          <p:spPr bwMode="auto">
            <a:xfrm>
              <a:off x="2336" y="2659"/>
              <a:ext cx="272" cy="13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63"/>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9" name="Group 81"/>
          <p:cNvGrpSpPr>
            <a:grpSpLocks/>
          </p:cNvGrpSpPr>
          <p:nvPr/>
        </p:nvGrpSpPr>
        <p:grpSpPr bwMode="auto">
          <a:xfrm>
            <a:off x="4916488" y="3716338"/>
            <a:ext cx="431800" cy="215900"/>
            <a:chOff x="2336" y="2659"/>
            <a:chExt cx="272" cy="136"/>
          </a:xfrm>
        </p:grpSpPr>
        <p:sp>
          <p:nvSpPr>
            <p:cNvPr id="60" name="Rectangle 82"/>
            <p:cNvSpPr>
              <a:spLocks noChangeArrowheads="1"/>
            </p:cNvSpPr>
            <p:nvPr/>
          </p:nvSpPr>
          <p:spPr bwMode="auto">
            <a:xfrm>
              <a:off x="2336" y="2659"/>
              <a:ext cx="272" cy="1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83"/>
            <p:cNvSpPr>
              <a:spLocks noChangeShapeType="1"/>
            </p:cNvSpPr>
            <p:nvPr/>
          </p:nvSpPr>
          <p:spPr bwMode="auto">
            <a:xfrm>
              <a:off x="2503" y="2659"/>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2" name="Text Box 85"/>
          <p:cNvSpPr txBox="1">
            <a:spLocks noChangeArrowheads="1"/>
          </p:cNvSpPr>
          <p:nvPr/>
        </p:nvSpPr>
        <p:spPr bwMode="auto">
          <a:xfrm>
            <a:off x="4976813" y="3313113"/>
            <a:ext cx="5032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hin</a:t>
            </a:r>
          </a:p>
        </p:txBody>
      </p:sp>
      <p:sp>
        <p:nvSpPr>
          <p:cNvPr id="63" name="Text Box 86"/>
          <p:cNvSpPr txBox="1">
            <a:spLocks noChangeArrowheads="1"/>
          </p:cNvSpPr>
          <p:nvPr/>
        </p:nvSpPr>
        <p:spPr bwMode="auto">
          <a:xfrm>
            <a:off x="5553075" y="3313113"/>
            <a:ext cx="5032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sin</a:t>
            </a:r>
          </a:p>
        </p:txBody>
      </p:sp>
      <p:sp>
        <p:nvSpPr>
          <p:cNvPr id="64" name="Text Box 87"/>
          <p:cNvSpPr txBox="1">
            <a:spLocks noChangeArrowheads="1"/>
          </p:cNvSpPr>
          <p:nvPr/>
        </p:nvSpPr>
        <p:spPr bwMode="auto">
          <a:xfrm>
            <a:off x="5491163" y="3833813"/>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hout</a:t>
            </a:r>
          </a:p>
        </p:txBody>
      </p:sp>
      <p:sp>
        <p:nvSpPr>
          <p:cNvPr id="65" name="Text Box 88"/>
          <p:cNvSpPr txBox="1">
            <a:spLocks noChangeArrowheads="1"/>
          </p:cNvSpPr>
          <p:nvPr/>
        </p:nvSpPr>
        <p:spPr bwMode="auto">
          <a:xfrm>
            <a:off x="4932363" y="3829050"/>
            <a:ext cx="5762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b="1">
                <a:ea typeface="宋体" panose="02010600030101010101" pitchFamily="2" charset="-122"/>
              </a:rPr>
              <a:t>sout</a:t>
            </a:r>
          </a:p>
        </p:txBody>
      </p:sp>
      <p:sp>
        <p:nvSpPr>
          <p:cNvPr id="66" name="Line 89"/>
          <p:cNvSpPr>
            <a:spLocks noChangeShapeType="1"/>
          </p:cNvSpPr>
          <p:nvPr/>
        </p:nvSpPr>
        <p:spPr bwMode="auto">
          <a:xfrm>
            <a:off x="3541713" y="3330575"/>
            <a:ext cx="136842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Line 90"/>
          <p:cNvSpPr>
            <a:spLocks noChangeShapeType="1"/>
          </p:cNvSpPr>
          <p:nvPr/>
        </p:nvSpPr>
        <p:spPr bwMode="auto">
          <a:xfrm>
            <a:off x="6045200" y="3313113"/>
            <a:ext cx="136842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 name="Line 91"/>
          <p:cNvSpPr>
            <a:spLocks noChangeShapeType="1"/>
          </p:cNvSpPr>
          <p:nvPr/>
        </p:nvSpPr>
        <p:spPr bwMode="auto">
          <a:xfrm>
            <a:off x="3530600" y="3829050"/>
            <a:ext cx="1368425"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 name="Line 92"/>
          <p:cNvSpPr>
            <a:spLocks noChangeShapeType="1"/>
          </p:cNvSpPr>
          <p:nvPr/>
        </p:nvSpPr>
        <p:spPr bwMode="auto">
          <a:xfrm>
            <a:off x="6034088" y="3811588"/>
            <a:ext cx="1368425"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Text Box 93"/>
          <p:cNvSpPr txBox="1">
            <a:spLocks noChangeArrowheads="1"/>
          </p:cNvSpPr>
          <p:nvPr/>
        </p:nvSpPr>
        <p:spPr bwMode="auto">
          <a:xfrm>
            <a:off x="3808413" y="3009900"/>
            <a:ext cx="1079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宋体" panose="02010600030101010101" pitchFamily="2" charset="-122"/>
              </a:rPr>
              <a:t>收容输入</a:t>
            </a:r>
          </a:p>
        </p:txBody>
      </p:sp>
      <p:sp>
        <p:nvSpPr>
          <p:cNvPr id="71" name="Text Box 94"/>
          <p:cNvSpPr txBox="1">
            <a:spLocks noChangeArrowheads="1"/>
          </p:cNvSpPr>
          <p:nvPr/>
        </p:nvSpPr>
        <p:spPr bwMode="auto">
          <a:xfrm>
            <a:off x="6178550" y="2997200"/>
            <a:ext cx="1079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宋体" panose="02010600030101010101" pitchFamily="2" charset="-122"/>
              </a:rPr>
              <a:t>提取输入</a:t>
            </a:r>
          </a:p>
        </p:txBody>
      </p:sp>
      <p:sp>
        <p:nvSpPr>
          <p:cNvPr id="72" name="Text Box 95"/>
          <p:cNvSpPr txBox="1">
            <a:spLocks noChangeArrowheads="1"/>
          </p:cNvSpPr>
          <p:nvPr/>
        </p:nvSpPr>
        <p:spPr bwMode="auto">
          <a:xfrm>
            <a:off x="3806825" y="3503613"/>
            <a:ext cx="1079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宋体" panose="02010600030101010101" pitchFamily="2" charset="-122"/>
              </a:rPr>
              <a:t>提取输出</a:t>
            </a:r>
          </a:p>
        </p:txBody>
      </p:sp>
      <p:sp>
        <p:nvSpPr>
          <p:cNvPr id="73" name="Text Box 96"/>
          <p:cNvSpPr txBox="1">
            <a:spLocks noChangeArrowheads="1"/>
          </p:cNvSpPr>
          <p:nvPr/>
        </p:nvSpPr>
        <p:spPr bwMode="auto">
          <a:xfrm>
            <a:off x="6176963" y="3490913"/>
            <a:ext cx="1079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ea typeface="宋体" panose="02010600030101010101" pitchFamily="2" charset="-122"/>
              </a:rPr>
              <a:t>收容输出</a:t>
            </a:r>
          </a:p>
        </p:txBody>
      </p:sp>
      <p:sp>
        <p:nvSpPr>
          <p:cNvPr id="74" name="AutoShape 97"/>
          <p:cNvSpPr>
            <a:spLocks noChangeArrowheads="1"/>
          </p:cNvSpPr>
          <p:nvPr/>
        </p:nvSpPr>
        <p:spPr bwMode="auto">
          <a:xfrm>
            <a:off x="2876550" y="3141663"/>
            <a:ext cx="647700" cy="360362"/>
          </a:xfrm>
          <a:prstGeom prst="flowChartPunchedCard">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0" lang="zh-CN" altLang="zh-CN" sz="1600" b="1">
              <a:ea typeface="宋体" panose="02010600030101010101" pitchFamily="2" charset="-122"/>
            </a:endParaRPr>
          </a:p>
        </p:txBody>
      </p:sp>
      <p:sp>
        <p:nvSpPr>
          <p:cNvPr id="75" name="AutoShape 98"/>
          <p:cNvSpPr>
            <a:spLocks noChangeArrowheads="1"/>
          </p:cNvSpPr>
          <p:nvPr/>
        </p:nvSpPr>
        <p:spPr bwMode="auto">
          <a:xfrm>
            <a:off x="3160713" y="3646488"/>
            <a:ext cx="358775" cy="503237"/>
          </a:xfrm>
          <a:prstGeom prst="flowChartDocumen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630289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hidden"/>
                                      </p:to>
                                    </p:set>
                                  </p:childTnLst>
                                </p:cTn>
                              </p:par>
                            </p:childTnLst>
                          </p:cTn>
                        </p:par>
                        <p:par>
                          <p:cTn id="7" fill="hold">
                            <p:stCondLst>
                              <p:cond delay="0"/>
                            </p:stCondLst>
                            <p:childTnLst>
                              <p:par>
                                <p:cTn id="8" presetID="0" presetClass="path" presetSubtype="0" accel="50000" decel="50000" fill="hold" nodeType="afterEffect">
                                  <p:stCondLst>
                                    <p:cond delay="0"/>
                                  </p:stCondLst>
                                  <p:childTnLst>
                                    <p:animMotion origin="layout" path="M 0 -0.01157 L 0.06163 0.14005 " pathEditMode="relative" rAng="0" ptsTypes="AA">
                                      <p:cBhvr>
                                        <p:cTn id="9" dur="500" fill="hold"/>
                                        <p:tgtEl>
                                          <p:spTgt spid="40"/>
                                        </p:tgtEl>
                                        <p:attrNameLst>
                                          <p:attrName>ppt_x</p:attrName>
                                          <p:attrName>ppt_y</p:attrName>
                                        </p:attrNameLst>
                                      </p:cBhvr>
                                      <p:rCtr x="3073" y="7569"/>
                                    </p:animMotion>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nodeType="clickEffect">
                                  <p:stCondLst>
                                    <p:cond delay="0"/>
                                  </p:stCondLst>
                                  <p:childTnLst>
                                    <p:set>
                                      <p:cBhvr>
                                        <p:cTn id="13" dur="1" fill="hold">
                                          <p:stCondLst>
                                            <p:cond delay="0"/>
                                          </p:stCondLst>
                                        </p:cTn>
                                        <p:tgtEl>
                                          <p:spTgt spid="59"/>
                                        </p:tgtEl>
                                        <p:attrNameLst>
                                          <p:attrName>style.visibility</p:attrName>
                                        </p:attrNameLst>
                                      </p:cBhvr>
                                      <p:to>
                                        <p:strVal val="visible"/>
                                      </p:to>
                                    </p:set>
                                    <p:animEffect transition="in" filter="wipe(right)">
                                      <p:cBhvr>
                                        <p:cTn id="14" dur="500"/>
                                        <p:tgtEl>
                                          <p:spTgt spid="59"/>
                                        </p:tgtEl>
                                      </p:cBhvr>
                                    </p:animEffect>
                                  </p:childTnLst>
                                </p:cTn>
                              </p:par>
                            </p:childTnLst>
                          </p:cTn>
                        </p:par>
                        <p:par>
                          <p:cTn id="15" fill="hold">
                            <p:stCondLst>
                              <p:cond delay="500"/>
                            </p:stCondLst>
                            <p:childTnLst>
                              <p:par>
                                <p:cTn id="16" presetID="1" presetClass="emph" presetSubtype="2" fill="hold" nodeType="afterEffect">
                                  <p:stCondLst>
                                    <p:cond delay="0"/>
                                  </p:stCondLst>
                                  <p:childTnLst>
                                    <p:animClr clrSpc="rgb" dir="cw">
                                      <p:cBhvr>
                                        <p:cTn id="17" dur="500" fill="hold"/>
                                        <p:tgtEl>
                                          <p:spTgt spid="75"/>
                                        </p:tgtEl>
                                        <p:attrNameLst>
                                          <p:attrName>fillcolor</p:attrName>
                                        </p:attrNameLst>
                                      </p:cBhvr>
                                      <p:to>
                                        <a:srgbClr val="FFCCFF"/>
                                      </p:to>
                                    </p:animClr>
                                    <p:set>
                                      <p:cBhvr>
                                        <p:cTn id="18" dur="500" fill="hold"/>
                                        <p:tgtEl>
                                          <p:spTgt spid="75"/>
                                        </p:tgtEl>
                                        <p:attrNameLst>
                                          <p:attrName>fill.type</p:attrName>
                                        </p:attrNameLst>
                                      </p:cBhvr>
                                      <p:to>
                                        <p:strVal val="solid"/>
                                      </p:to>
                                    </p:set>
                                    <p:set>
                                      <p:cBhvr>
                                        <p:cTn id="19" dur="500" fill="hold"/>
                                        <p:tgtEl>
                                          <p:spTgt spid="75"/>
                                        </p:tgtEl>
                                        <p:attrNameLst>
                                          <p:attrName>fill.on</p:attrName>
                                        </p:attrNameLst>
                                      </p:cBhvr>
                                      <p:to>
                                        <p:strVal val="true"/>
                                      </p:to>
                                    </p:se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nodeType="clickEffect">
                                  <p:stCondLst>
                                    <p:cond delay="0"/>
                                  </p:stCondLst>
                                  <p:childTnLst>
                                    <p:set>
                                      <p:cBhvr>
                                        <p:cTn id="23" dur="1" fill="hold">
                                          <p:stCondLst>
                                            <p:cond delay="0"/>
                                          </p:stCondLst>
                                        </p:cTn>
                                        <p:tgtEl>
                                          <p:spTgt spid="40"/>
                                        </p:tgtEl>
                                        <p:attrNameLst>
                                          <p:attrName>style.visibility</p:attrName>
                                        </p:attrNameLst>
                                      </p:cBhvr>
                                      <p:to>
                                        <p:strVal val="hidden"/>
                                      </p:to>
                                    </p:set>
                                  </p:childTnLst>
                                </p:cTn>
                              </p:par>
                            </p:childTnLst>
                          </p:cTn>
                        </p:par>
                        <p:par>
                          <p:cTn id="24" fill="hold">
                            <p:stCondLst>
                              <p:cond delay="0"/>
                            </p:stCondLst>
                            <p:childTnLst>
                              <p:par>
                                <p:cTn id="25" presetID="22" presetClass="entr" presetSubtype="8"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500"/>
                                        <p:tgtEl>
                                          <p:spTgt spid="28"/>
                                        </p:tgtEl>
                                      </p:cBhvr>
                                    </p:animEffect>
                                  </p:childTnLst>
                                </p:cTn>
                              </p:par>
                            </p:childTnLst>
                          </p:cTn>
                        </p:par>
                        <p:par>
                          <p:cTn id="28" fill="hold">
                            <p:stCondLst>
                              <p:cond delay="500"/>
                            </p:stCondLst>
                            <p:childTnLst>
                              <p:par>
                                <p:cTn id="29" presetID="0" presetClass="path" presetSubtype="0" accel="50000" decel="50000" fill="hold" nodeType="afterEffect">
                                  <p:stCondLst>
                                    <p:cond delay="0"/>
                                  </p:stCondLst>
                                  <p:childTnLst>
                                    <p:animMotion origin="layout" path="M 3.88889E-6 2.59259E-6 L 0.18698 -0.24144 " pathEditMode="relative" ptsTypes="AA">
                                      <p:cBhvr>
                                        <p:cTn id="30" dur="500" fill="hold"/>
                                        <p:tgtEl>
                                          <p:spTgt spid="5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43"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p>
        </p:txBody>
      </p:sp>
      <p:sp>
        <p:nvSpPr>
          <p:cNvPr id="3" name="Content Placeholder 2"/>
          <p:cNvSpPr>
            <a:spLocks noGrp="1"/>
          </p:cNvSpPr>
          <p:nvPr>
            <p:ph idx="1"/>
          </p:nvPr>
        </p:nvSpPr>
        <p:spPr/>
        <p:txBody>
          <a:bodyPr/>
          <a:lstStyle/>
          <a:p>
            <a:r>
              <a:rPr lang="en-US" altLang="zh-CN" dirty="0">
                <a:solidFill>
                  <a:schemeClr val="bg1">
                    <a:lumMod val="85000"/>
                  </a:schemeClr>
                </a:solidFill>
              </a:rPr>
              <a:t>I/O</a:t>
            </a:r>
            <a:r>
              <a:rPr lang="zh-CN" altLang="en-US" dirty="0">
                <a:solidFill>
                  <a:schemeClr val="bg1">
                    <a:lumMod val="85000"/>
                  </a:schemeClr>
                </a:solidFill>
              </a:rPr>
              <a:t>管理基本知识</a:t>
            </a:r>
            <a:endParaRPr lang="en-US" altLang="zh-CN" dirty="0">
              <a:solidFill>
                <a:schemeClr val="bg1">
                  <a:lumMod val="85000"/>
                </a:schemeClr>
              </a:solidFill>
            </a:endParaRPr>
          </a:p>
          <a:p>
            <a:r>
              <a:rPr lang="en-US" altLang="zh-CN" dirty="0">
                <a:solidFill>
                  <a:schemeClr val="bg1">
                    <a:lumMod val="85000"/>
                  </a:schemeClr>
                </a:solidFill>
              </a:rPr>
              <a:t>I/O</a:t>
            </a:r>
            <a:r>
              <a:rPr lang="zh-CN" altLang="en-US" dirty="0">
                <a:solidFill>
                  <a:schemeClr val="bg1">
                    <a:lumMod val="85000"/>
                  </a:schemeClr>
                </a:solidFill>
              </a:rPr>
              <a:t>控制方式</a:t>
            </a:r>
            <a:endParaRPr lang="en-US" altLang="zh-CN" dirty="0">
              <a:solidFill>
                <a:schemeClr val="bg1">
                  <a:lumMod val="85000"/>
                </a:schemeClr>
              </a:solidFill>
            </a:endParaRPr>
          </a:p>
          <a:p>
            <a:r>
              <a:rPr lang="zh-CN" altLang="en-US" dirty="0">
                <a:solidFill>
                  <a:schemeClr val="bg1">
                    <a:lumMod val="85000"/>
                  </a:schemeClr>
                </a:solidFill>
              </a:rPr>
              <a:t>缓冲技术</a:t>
            </a:r>
            <a:endParaRPr lang="en-US" altLang="zh-CN" dirty="0">
              <a:solidFill>
                <a:schemeClr val="bg1">
                  <a:lumMod val="85000"/>
                </a:schemeClr>
              </a:solidFill>
            </a:endParaRPr>
          </a:p>
          <a:p>
            <a:r>
              <a:rPr lang="zh-CN" altLang="en-US" dirty="0">
                <a:solidFill>
                  <a:srgbClr val="0000FF"/>
                </a:solidFill>
              </a:rPr>
              <a:t>设备分配与回收</a:t>
            </a:r>
            <a:endParaRPr lang="en-US" altLang="zh-CN" dirty="0">
              <a:solidFill>
                <a:srgbClr val="0000FF"/>
              </a:solidFill>
            </a:endParaRPr>
          </a:p>
          <a:p>
            <a:r>
              <a:rPr lang="zh-CN" altLang="en-US" dirty="0">
                <a:solidFill>
                  <a:schemeClr val="bg1">
                    <a:lumMod val="85000"/>
                  </a:schemeClr>
                </a:solidFill>
              </a:rPr>
              <a:t>磁盘存储器的管理</a:t>
            </a:r>
            <a:endParaRPr lang="en-US" altLang="zh-CN" dirty="0">
              <a:solidFill>
                <a:schemeClr val="bg1">
                  <a:lumMod val="85000"/>
                </a:schemeClr>
              </a:solidFill>
            </a:endParaRPr>
          </a:p>
          <a:p>
            <a:r>
              <a:rPr lang="en-US" altLang="zh-CN" dirty="0">
                <a:solidFill>
                  <a:schemeClr val="bg1">
                    <a:lumMod val="85000"/>
                  </a:schemeClr>
                </a:solidFill>
              </a:rPr>
              <a:t>RAID</a:t>
            </a:r>
            <a:r>
              <a:rPr lang="zh-CN" altLang="en-US" dirty="0">
                <a:solidFill>
                  <a:schemeClr val="bg1">
                    <a:lumMod val="85000"/>
                  </a:schemeClr>
                </a:solidFill>
              </a:rPr>
              <a:t>技术</a:t>
            </a:r>
          </a:p>
        </p:txBody>
      </p:sp>
      <p:sp>
        <p:nvSpPr>
          <p:cNvPr id="4" name="Date Placeholder 3"/>
          <p:cNvSpPr>
            <a:spLocks noGrp="1"/>
          </p:cNvSpPr>
          <p:nvPr>
            <p:ph type="dt" sz="half" idx="10"/>
          </p:nvPr>
        </p:nvSpPr>
        <p:spPr/>
        <p:txBody>
          <a:bodyPr/>
          <a:lstStyle/>
          <a:p>
            <a:fld id="{F82447F9-1AA7-4F1B-AAC6-17F9EEAAC5F9}"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56</a:t>
            </a:fld>
            <a:endParaRPr lang="zh-CN" altLang="en-US" dirty="0"/>
          </a:p>
        </p:txBody>
      </p:sp>
    </p:spTree>
    <p:extLst>
      <p:ext uri="{BB962C8B-B14F-4D97-AF65-F5344CB8AC3E}">
        <p14:creationId xmlns:p14="http://schemas.microsoft.com/office/powerpoint/2010/main" val="33853560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设备分配时须考虑的因素</a:t>
            </a:r>
          </a:p>
        </p:txBody>
      </p:sp>
      <p:sp>
        <p:nvSpPr>
          <p:cNvPr id="3" name="Content Placeholder 2"/>
          <p:cNvSpPr>
            <a:spLocks noGrp="1"/>
          </p:cNvSpPr>
          <p:nvPr>
            <p:ph idx="1"/>
          </p:nvPr>
        </p:nvSpPr>
        <p:spPr/>
        <p:txBody>
          <a:bodyPr>
            <a:normAutofit lnSpcReduction="10000"/>
          </a:bodyPr>
          <a:lstStyle/>
          <a:p>
            <a:r>
              <a:rPr lang="zh-CN" altLang="en-US" dirty="0"/>
              <a:t>设备的固有属性</a:t>
            </a:r>
            <a:endParaRPr lang="en-US" altLang="zh-CN" dirty="0"/>
          </a:p>
          <a:p>
            <a:pPr lvl="1"/>
            <a:r>
              <a:rPr lang="zh-CN" altLang="en-US" dirty="0"/>
              <a:t>独占性：一段时间内只允许一个进程独占</a:t>
            </a:r>
          </a:p>
          <a:p>
            <a:pPr lvl="1"/>
            <a:r>
              <a:rPr lang="zh-CN" altLang="en-US" dirty="0"/>
              <a:t>共享性：允许多个进程同时共享</a:t>
            </a:r>
          </a:p>
          <a:p>
            <a:pPr lvl="1"/>
            <a:r>
              <a:rPr lang="zh-CN" altLang="en-US" dirty="0"/>
              <a:t>可虚拟设备：设备本身独占，但经某种技术处理，可将其改造成虚拟设备</a:t>
            </a:r>
            <a:endParaRPr lang="en-US" altLang="zh-CN" dirty="0"/>
          </a:p>
          <a:p>
            <a:endParaRPr lang="en-US" altLang="zh-CN" dirty="0"/>
          </a:p>
          <a:p>
            <a:r>
              <a:rPr lang="zh-CN" altLang="en-US" dirty="0"/>
              <a:t>分配策略</a:t>
            </a:r>
            <a:endParaRPr lang="en-US" altLang="zh-CN" dirty="0"/>
          </a:p>
          <a:p>
            <a:pPr lvl="1"/>
            <a:r>
              <a:rPr lang="zh-CN" altLang="en-US" dirty="0"/>
              <a:t>独占分配：分配给一个进程，该进程释放设备后，再将设备分配给另一进程</a:t>
            </a:r>
            <a:endParaRPr lang="en-US" altLang="zh-CN" dirty="0"/>
          </a:p>
          <a:p>
            <a:pPr lvl="1"/>
            <a:r>
              <a:rPr lang="zh-CN" altLang="en-US" dirty="0"/>
              <a:t>共享分配：分配给多个进程，</a:t>
            </a:r>
            <a:r>
              <a:rPr lang="zh-CN" altLang="en-US" dirty="0">
                <a:solidFill>
                  <a:srgbClr val="0000FF"/>
                </a:solidFill>
              </a:rPr>
              <a:t>注意访问顺序和合理调度</a:t>
            </a:r>
            <a:endParaRPr lang="en-US" altLang="zh-CN" dirty="0">
              <a:solidFill>
                <a:srgbClr val="0000FF"/>
              </a:solidFill>
            </a:endParaRPr>
          </a:p>
          <a:p>
            <a:pPr lvl="1"/>
            <a:r>
              <a:rPr lang="zh-CN" altLang="en-US" dirty="0"/>
              <a:t>虚拟分配：采用虚拟技术后，按共享设备分配</a:t>
            </a:r>
          </a:p>
          <a:p>
            <a:endParaRPr lang="zh-CN" altLang="en-US" dirty="0"/>
          </a:p>
        </p:txBody>
      </p:sp>
      <p:sp>
        <p:nvSpPr>
          <p:cNvPr id="4" name="Date Placeholder 3"/>
          <p:cNvSpPr>
            <a:spLocks noGrp="1"/>
          </p:cNvSpPr>
          <p:nvPr>
            <p:ph type="dt" sz="half" idx="10"/>
          </p:nvPr>
        </p:nvSpPr>
        <p:spPr/>
        <p:txBody>
          <a:bodyPr/>
          <a:lstStyle/>
          <a:p>
            <a:fld id="{C55E548A-79EA-4761-8B40-DA42DBBB8A2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57</a:t>
            </a:fld>
            <a:endParaRPr lang="zh-CN" altLang="en-US" dirty="0"/>
          </a:p>
        </p:txBody>
      </p:sp>
    </p:spTree>
    <p:extLst>
      <p:ext uri="{BB962C8B-B14F-4D97-AF65-F5344CB8AC3E}">
        <p14:creationId xmlns:p14="http://schemas.microsoft.com/office/powerpoint/2010/main" val="20737209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设备分配算法</a:t>
            </a:r>
          </a:p>
        </p:txBody>
      </p:sp>
      <p:sp>
        <p:nvSpPr>
          <p:cNvPr id="3" name="Content Placeholder 2"/>
          <p:cNvSpPr>
            <a:spLocks noGrp="1"/>
          </p:cNvSpPr>
          <p:nvPr>
            <p:ph idx="1"/>
          </p:nvPr>
        </p:nvSpPr>
        <p:spPr/>
        <p:txBody>
          <a:bodyPr>
            <a:normAutofit fontScale="92500" lnSpcReduction="10000"/>
          </a:bodyPr>
          <a:lstStyle/>
          <a:p>
            <a:r>
              <a:rPr lang="zh-CN" altLang="en-US" dirty="0"/>
              <a:t>设备分配算法</a:t>
            </a:r>
            <a:endParaRPr lang="en-US" altLang="zh-CN" dirty="0"/>
          </a:p>
          <a:p>
            <a:pPr lvl="1"/>
            <a:r>
              <a:rPr lang="zh-CN" altLang="en-US" dirty="0"/>
              <a:t>先来先服务：当多个进程对同一设备提出</a:t>
            </a:r>
            <a:r>
              <a:rPr lang="en-US" altLang="zh-CN" dirty="0"/>
              <a:t>I/O</a:t>
            </a:r>
            <a:r>
              <a:rPr lang="zh-CN" altLang="en-US" dirty="0"/>
              <a:t>请求时，按照进程对设备提出请求的先后顺序排队</a:t>
            </a:r>
          </a:p>
          <a:p>
            <a:pPr lvl="1"/>
            <a:r>
              <a:rPr lang="zh-CN" altLang="en-US" dirty="0"/>
              <a:t>优先级高者优先：优先级高者排在设备队列前面，优先级相同者，按照先来先服务原则排队</a:t>
            </a:r>
            <a:endParaRPr lang="en-US" altLang="zh-CN" dirty="0"/>
          </a:p>
          <a:p>
            <a:endParaRPr lang="en-US" altLang="zh-CN" dirty="0"/>
          </a:p>
          <a:p>
            <a:r>
              <a:rPr lang="zh-CN" altLang="en-US" dirty="0"/>
              <a:t>设备分配中的安全性</a:t>
            </a:r>
            <a:endParaRPr lang="en-US" altLang="zh-CN" dirty="0"/>
          </a:p>
          <a:p>
            <a:pPr lvl="1"/>
            <a:r>
              <a:rPr lang="zh-CN" altLang="en-US" dirty="0"/>
              <a:t>安全分配方式：进程发出</a:t>
            </a:r>
            <a:r>
              <a:rPr lang="en-US" altLang="zh-CN" dirty="0"/>
              <a:t>I/O</a:t>
            </a:r>
            <a:r>
              <a:rPr lang="zh-CN" altLang="en-US" dirty="0"/>
              <a:t>请求后，便进入阻塞状态（不能再请求其他任何资源），直到其</a:t>
            </a:r>
            <a:r>
              <a:rPr lang="en-US" altLang="zh-CN" dirty="0"/>
              <a:t>I/O</a:t>
            </a:r>
            <a:r>
              <a:rPr lang="zh-CN" altLang="en-US" dirty="0"/>
              <a:t>操作完成时才被唤醒</a:t>
            </a:r>
            <a:r>
              <a:rPr lang="en-US" altLang="zh-CN" dirty="0">
                <a:solidFill>
                  <a:srgbClr val="FF3300"/>
                </a:solidFill>
              </a:rPr>
              <a:t>——</a:t>
            </a:r>
            <a:r>
              <a:rPr lang="zh-CN" altLang="en-US" dirty="0">
                <a:solidFill>
                  <a:srgbClr val="FF3300"/>
                </a:solidFill>
              </a:rPr>
              <a:t>不会死锁</a:t>
            </a:r>
            <a:endParaRPr lang="en-US" altLang="zh-CN" dirty="0">
              <a:solidFill>
                <a:srgbClr val="FF3300"/>
              </a:solidFill>
            </a:endParaRPr>
          </a:p>
          <a:p>
            <a:pPr lvl="1"/>
            <a:r>
              <a:rPr lang="zh-CN" altLang="en-US" dirty="0"/>
              <a:t>不安全分配方式：进程发出</a:t>
            </a:r>
            <a:r>
              <a:rPr lang="en-US" altLang="zh-CN" dirty="0"/>
              <a:t>I/O</a:t>
            </a:r>
            <a:r>
              <a:rPr lang="zh-CN" altLang="en-US" dirty="0"/>
              <a:t>请求后仍继续运行，需要时又发出第二、三、</a:t>
            </a:r>
            <a:r>
              <a:rPr lang="en-US" altLang="zh-CN" dirty="0"/>
              <a:t>…</a:t>
            </a:r>
            <a:r>
              <a:rPr lang="zh-CN" altLang="en-US" dirty="0"/>
              <a:t>个</a:t>
            </a:r>
            <a:r>
              <a:rPr lang="en-US" altLang="zh-CN" dirty="0"/>
              <a:t>I/O</a:t>
            </a:r>
            <a:r>
              <a:rPr lang="zh-CN" altLang="en-US" dirty="0"/>
              <a:t>请求，仅当其请求设备被另一进程占用时，请求进程才被阻塞</a:t>
            </a:r>
            <a:r>
              <a:rPr lang="en-US" altLang="zh-CN" dirty="0">
                <a:solidFill>
                  <a:srgbClr val="FF3300"/>
                </a:solidFill>
              </a:rPr>
              <a:t>——</a:t>
            </a:r>
            <a:r>
              <a:rPr lang="zh-CN" altLang="en-US" dirty="0">
                <a:solidFill>
                  <a:srgbClr val="FF3300"/>
                </a:solidFill>
              </a:rPr>
              <a:t>可能死锁</a:t>
            </a:r>
          </a:p>
          <a:p>
            <a:endParaRPr lang="zh-CN" altLang="en-US" dirty="0"/>
          </a:p>
        </p:txBody>
      </p:sp>
      <p:sp>
        <p:nvSpPr>
          <p:cNvPr id="4" name="Date Placeholder 3"/>
          <p:cNvSpPr>
            <a:spLocks noGrp="1"/>
          </p:cNvSpPr>
          <p:nvPr>
            <p:ph type="dt" sz="half" idx="10"/>
          </p:nvPr>
        </p:nvSpPr>
        <p:spPr/>
        <p:txBody>
          <a:bodyPr/>
          <a:lstStyle/>
          <a:p>
            <a:fld id="{80808679-83B4-452D-9CC5-C2D2F53588D6}"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58</a:t>
            </a:fld>
            <a:endParaRPr lang="zh-CN" altLang="en-US" dirty="0"/>
          </a:p>
        </p:txBody>
      </p:sp>
    </p:spTree>
    <p:extLst>
      <p:ext uri="{BB962C8B-B14F-4D97-AF65-F5344CB8AC3E}">
        <p14:creationId xmlns:p14="http://schemas.microsoft.com/office/powerpoint/2010/main" val="15181395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Spooling</a:t>
            </a:r>
            <a:r>
              <a:rPr lang="zh-CN" altLang="en-US" dirty="0"/>
              <a:t>技术</a:t>
            </a:r>
          </a:p>
        </p:txBody>
      </p:sp>
      <p:sp>
        <p:nvSpPr>
          <p:cNvPr id="3" name="Content Placeholder 2"/>
          <p:cNvSpPr>
            <a:spLocks noGrp="1"/>
          </p:cNvSpPr>
          <p:nvPr>
            <p:ph idx="1"/>
          </p:nvPr>
        </p:nvSpPr>
        <p:spPr/>
        <p:txBody>
          <a:bodyPr/>
          <a:lstStyle/>
          <a:p>
            <a:r>
              <a:rPr lang="en-US" altLang="zh-CN" dirty="0"/>
              <a:t>Simultaneous Peripheral Operation On-Line </a:t>
            </a:r>
          </a:p>
          <a:p>
            <a:r>
              <a:rPr lang="zh-CN" altLang="en-US" dirty="0"/>
              <a:t>技术的引入</a:t>
            </a:r>
            <a:endParaRPr lang="en-US" altLang="zh-CN" dirty="0"/>
          </a:p>
          <a:p>
            <a:pPr lvl="1"/>
            <a:r>
              <a:rPr lang="zh-CN" altLang="en-US" dirty="0"/>
              <a:t>独享设备经常会成为系统中的“瓶颈”资源</a:t>
            </a:r>
          </a:p>
          <a:p>
            <a:pPr lvl="1"/>
            <a:r>
              <a:rPr lang="zh-CN" altLang="en-US" dirty="0"/>
              <a:t>进程在占用设备期间，并不经常使用该设备</a:t>
            </a:r>
          </a:p>
          <a:p>
            <a:pPr lvl="1"/>
            <a:r>
              <a:rPr lang="zh-CN" altLang="en-US" dirty="0"/>
              <a:t>利用高速共享设备（如磁盘）将低速的独享设备模拟成高速的共享设备</a:t>
            </a:r>
          </a:p>
        </p:txBody>
      </p:sp>
      <p:sp>
        <p:nvSpPr>
          <p:cNvPr id="4" name="Date Placeholder 3"/>
          <p:cNvSpPr>
            <a:spLocks noGrp="1"/>
          </p:cNvSpPr>
          <p:nvPr>
            <p:ph type="dt" sz="half" idx="10"/>
          </p:nvPr>
        </p:nvSpPr>
        <p:spPr/>
        <p:txBody>
          <a:bodyPr/>
          <a:lstStyle/>
          <a:p>
            <a:fld id="{17DDDAB8-4813-4FA3-9BAC-11547A0D8938}"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59</a:t>
            </a:fld>
            <a:endParaRPr lang="zh-CN" altLang="en-US" dirty="0"/>
          </a:p>
        </p:txBody>
      </p:sp>
      <p:grpSp>
        <p:nvGrpSpPr>
          <p:cNvPr id="7" name="Group 5"/>
          <p:cNvGrpSpPr>
            <a:grpSpLocks/>
          </p:cNvGrpSpPr>
          <p:nvPr/>
        </p:nvGrpSpPr>
        <p:grpSpPr bwMode="auto">
          <a:xfrm>
            <a:off x="1017984" y="4268688"/>
            <a:ext cx="7010400" cy="1752600"/>
            <a:chOff x="960" y="3067"/>
            <a:chExt cx="4416" cy="1104"/>
          </a:xfrm>
        </p:grpSpPr>
        <p:sp>
          <p:nvSpPr>
            <p:cNvPr id="8" name="Rectangle 6"/>
            <p:cNvSpPr>
              <a:spLocks noChangeArrowheads="1"/>
            </p:cNvSpPr>
            <p:nvPr/>
          </p:nvSpPr>
          <p:spPr bwMode="auto">
            <a:xfrm>
              <a:off x="960" y="3344"/>
              <a:ext cx="1219" cy="236"/>
            </a:xfrm>
            <a:prstGeom prst="rect">
              <a:avLst/>
            </a:prstGeom>
            <a:solidFill>
              <a:srgbClr val="FFCCFF"/>
            </a:solidFill>
            <a:ln w="25400">
              <a:solidFill>
                <a:srgbClr val="000000"/>
              </a:solidFill>
              <a:miter lim="800000"/>
              <a:headEnd/>
              <a:tailEnd/>
            </a:ln>
          </p:spPr>
          <p:txBody>
            <a:bodyPr/>
            <a:lstStyle/>
            <a:p>
              <a:endParaRPr lang="zh-CN" altLang="en-US">
                <a:ea typeface="楷体" panose="02010609060101010101" pitchFamily="49" charset="-122"/>
              </a:endParaRPr>
            </a:p>
          </p:txBody>
        </p:sp>
        <p:sp>
          <p:nvSpPr>
            <p:cNvPr id="9" name="Rectangle 7"/>
            <p:cNvSpPr>
              <a:spLocks noChangeArrowheads="1"/>
            </p:cNvSpPr>
            <p:nvPr/>
          </p:nvSpPr>
          <p:spPr bwMode="auto">
            <a:xfrm>
              <a:off x="1187" y="3372"/>
              <a:ext cx="73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800" b="1">
                  <a:solidFill>
                    <a:srgbClr val="000000"/>
                  </a:solidFill>
                  <a:ea typeface="楷体" panose="02010609060101010101" pitchFamily="49" charset="-122"/>
                </a:rPr>
                <a:t>应用进程 </a:t>
              </a:r>
              <a:r>
                <a:rPr lang="en-US" altLang="zh-CN" sz="1800" b="1">
                  <a:solidFill>
                    <a:srgbClr val="000000"/>
                  </a:solidFill>
                  <a:ea typeface="楷体" panose="02010609060101010101" pitchFamily="49" charset="-122"/>
                </a:rPr>
                <a:t>A</a:t>
              </a:r>
              <a:endParaRPr lang="en-US" altLang="zh-CN" sz="1800" b="1">
                <a:ea typeface="楷体" panose="02010609060101010101" pitchFamily="49" charset="-122"/>
              </a:endParaRPr>
            </a:p>
          </p:txBody>
        </p:sp>
        <p:sp>
          <p:nvSpPr>
            <p:cNvPr id="10" name="Rectangle 8"/>
            <p:cNvSpPr>
              <a:spLocks noChangeArrowheads="1"/>
            </p:cNvSpPr>
            <p:nvPr/>
          </p:nvSpPr>
          <p:spPr bwMode="auto">
            <a:xfrm>
              <a:off x="960" y="3820"/>
              <a:ext cx="1219" cy="235"/>
            </a:xfrm>
            <a:prstGeom prst="rect">
              <a:avLst/>
            </a:prstGeom>
            <a:solidFill>
              <a:srgbClr val="FFCCFF"/>
            </a:solidFill>
            <a:ln w="25400">
              <a:solidFill>
                <a:srgbClr val="000000"/>
              </a:solidFill>
              <a:miter lim="800000"/>
              <a:headEnd/>
              <a:tailEnd/>
            </a:ln>
          </p:spPr>
          <p:txBody>
            <a:bodyPr/>
            <a:lstStyle/>
            <a:p>
              <a:endParaRPr lang="zh-CN" altLang="en-US">
                <a:ea typeface="楷体" panose="02010609060101010101" pitchFamily="49" charset="-122"/>
              </a:endParaRPr>
            </a:p>
          </p:txBody>
        </p:sp>
        <p:sp>
          <p:nvSpPr>
            <p:cNvPr id="11" name="Rectangle 9"/>
            <p:cNvSpPr>
              <a:spLocks noChangeArrowheads="1"/>
            </p:cNvSpPr>
            <p:nvPr/>
          </p:nvSpPr>
          <p:spPr bwMode="auto">
            <a:xfrm>
              <a:off x="1202" y="3836"/>
              <a:ext cx="70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800" b="1">
                  <a:solidFill>
                    <a:srgbClr val="000000"/>
                  </a:solidFill>
                  <a:ea typeface="楷体" panose="02010609060101010101" pitchFamily="49" charset="-122"/>
                </a:rPr>
                <a:t>应用进程 </a:t>
              </a:r>
              <a:r>
                <a:rPr lang="en-US" altLang="zh-CN" sz="1800" b="1">
                  <a:solidFill>
                    <a:srgbClr val="000000"/>
                  </a:solidFill>
                  <a:ea typeface="楷体" panose="02010609060101010101" pitchFamily="49" charset="-122"/>
                </a:rPr>
                <a:t>B</a:t>
              </a:r>
              <a:endParaRPr lang="en-US" altLang="zh-CN" sz="1800" b="1">
                <a:ea typeface="楷体" panose="02010609060101010101" pitchFamily="49" charset="-122"/>
              </a:endParaRPr>
            </a:p>
          </p:txBody>
        </p:sp>
        <p:sp>
          <p:nvSpPr>
            <p:cNvPr id="12" name="Rectangle 10"/>
            <p:cNvSpPr>
              <a:spLocks noChangeArrowheads="1"/>
            </p:cNvSpPr>
            <p:nvPr/>
          </p:nvSpPr>
          <p:spPr bwMode="auto">
            <a:xfrm>
              <a:off x="2745" y="3503"/>
              <a:ext cx="1220" cy="394"/>
            </a:xfrm>
            <a:prstGeom prst="rect">
              <a:avLst/>
            </a:prstGeom>
            <a:solidFill>
              <a:srgbClr val="FFFF99"/>
            </a:solidFill>
            <a:ln w="25400">
              <a:solidFill>
                <a:srgbClr val="000000"/>
              </a:solidFill>
              <a:miter lim="800000"/>
              <a:headEnd/>
              <a:tailEnd/>
            </a:ln>
          </p:spPr>
          <p:txBody>
            <a:bodyPr/>
            <a:lstStyle/>
            <a:p>
              <a:endParaRPr lang="zh-CN" altLang="zh-CN">
                <a:ea typeface="楷体" panose="02010609060101010101" pitchFamily="49" charset="-122"/>
              </a:endParaRPr>
            </a:p>
          </p:txBody>
        </p:sp>
        <p:sp>
          <p:nvSpPr>
            <p:cNvPr id="13" name="Rectangle 11"/>
            <p:cNvSpPr>
              <a:spLocks noChangeArrowheads="1"/>
            </p:cNvSpPr>
            <p:nvPr/>
          </p:nvSpPr>
          <p:spPr bwMode="auto">
            <a:xfrm>
              <a:off x="3019" y="3528"/>
              <a:ext cx="59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b="1">
                  <a:solidFill>
                    <a:srgbClr val="000000"/>
                  </a:solidFill>
                  <a:ea typeface="楷体" panose="02010609060101010101" pitchFamily="49" charset="-122"/>
                </a:rPr>
                <a:t>SPOOLing</a:t>
              </a:r>
              <a:endParaRPr lang="en-US" altLang="zh-CN" sz="1800" b="1">
                <a:ea typeface="楷体" panose="02010609060101010101" pitchFamily="49" charset="-122"/>
              </a:endParaRPr>
            </a:p>
          </p:txBody>
        </p:sp>
        <p:sp>
          <p:nvSpPr>
            <p:cNvPr id="14" name="Rectangle 12"/>
            <p:cNvSpPr>
              <a:spLocks noChangeArrowheads="1"/>
            </p:cNvSpPr>
            <p:nvPr/>
          </p:nvSpPr>
          <p:spPr bwMode="auto">
            <a:xfrm>
              <a:off x="3227" y="3692"/>
              <a:ext cx="29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800" b="1">
                  <a:solidFill>
                    <a:srgbClr val="000000"/>
                  </a:solidFill>
                  <a:ea typeface="楷体" panose="02010609060101010101" pitchFamily="49" charset="-122"/>
                </a:rPr>
                <a:t>程序</a:t>
              </a:r>
              <a:endParaRPr lang="zh-CN" altLang="en-US" sz="1800" b="1">
                <a:ea typeface="楷体" panose="02010609060101010101" pitchFamily="49" charset="-122"/>
              </a:endParaRPr>
            </a:p>
          </p:txBody>
        </p:sp>
        <p:sp>
          <p:nvSpPr>
            <p:cNvPr id="15" name="Freeform 13"/>
            <p:cNvSpPr>
              <a:spLocks/>
            </p:cNvSpPr>
            <p:nvPr/>
          </p:nvSpPr>
          <p:spPr bwMode="auto">
            <a:xfrm>
              <a:off x="4577" y="3583"/>
              <a:ext cx="799" cy="237"/>
            </a:xfrm>
            <a:custGeom>
              <a:avLst/>
              <a:gdLst>
                <a:gd name="T0" fmla="*/ 49 w 820"/>
                <a:gd name="T1" fmla="*/ 0 h 311"/>
                <a:gd name="T2" fmla="*/ 39 w 820"/>
                <a:gd name="T3" fmla="*/ 2 h 311"/>
                <a:gd name="T4" fmla="*/ 29 w 820"/>
                <a:gd name="T5" fmla="*/ 4 h 311"/>
                <a:gd name="T6" fmla="*/ 14 w 820"/>
                <a:gd name="T7" fmla="*/ 14 h 311"/>
                <a:gd name="T8" fmla="*/ 4 w 820"/>
                <a:gd name="T9" fmla="*/ 31 h 311"/>
                <a:gd name="T10" fmla="*/ 2 w 820"/>
                <a:gd name="T11" fmla="*/ 41 h 311"/>
                <a:gd name="T12" fmla="*/ 0 w 820"/>
                <a:gd name="T13" fmla="*/ 52 h 311"/>
                <a:gd name="T14" fmla="*/ 0 w 820"/>
                <a:gd name="T15" fmla="*/ 259 h 311"/>
                <a:gd name="T16" fmla="*/ 2 w 820"/>
                <a:gd name="T17" fmla="*/ 270 h 311"/>
                <a:gd name="T18" fmla="*/ 4 w 820"/>
                <a:gd name="T19" fmla="*/ 280 h 311"/>
                <a:gd name="T20" fmla="*/ 14 w 820"/>
                <a:gd name="T21" fmla="*/ 297 h 311"/>
                <a:gd name="T22" fmla="*/ 29 w 820"/>
                <a:gd name="T23" fmla="*/ 307 h 311"/>
                <a:gd name="T24" fmla="*/ 39 w 820"/>
                <a:gd name="T25" fmla="*/ 311 h 311"/>
                <a:gd name="T26" fmla="*/ 49 w 820"/>
                <a:gd name="T27" fmla="*/ 311 h 311"/>
                <a:gd name="T28" fmla="*/ 772 w 820"/>
                <a:gd name="T29" fmla="*/ 311 h 311"/>
                <a:gd name="T30" fmla="*/ 781 w 820"/>
                <a:gd name="T31" fmla="*/ 311 h 311"/>
                <a:gd name="T32" fmla="*/ 791 w 820"/>
                <a:gd name="T33" fmla="*/ 307 h 311"/>
                <a:gd name="T34" fmla="*/ 806 w 820"/>
                <a:gd name="T35" fmla="*/ 297 h 311"/>
                <a:gd name="T36" fmla="*/ 816 w 820"/>
                <a:gd name="T37" fmla="*/ 280 h 311"/>
                <a:gd name="T38" fmla="*/ 820 w 820"/>
                <a:gd name="T39" fmla="*/ 270 h 311"/>
                <a:gd name="T40" fmla="*/ 820 w 820"/>
                <a:gd name="T41" fmla="*/ 259 h 311"/>
                <a:gd name="T42" fmla="*/ 820 w 820"/>
                <a:gd name="T43" fmla="*/ 52 h 311"/>
                <a:gd name="T44" fmla="*/ 820 w 820"/>
                <a:gd name="T45" fmla="*/ 41 h 311"/>
                <a:gd name="T46" fmla="*/ 816 w 820"/>
                <a:gd name="T47" fmla="*/ 31 h 311"/>
                <a:gd name="T48" fmla="*/ 806 w 820"/>
                <a:gd name="T49" fmla="*/ 14 h 311"/>
                <a:gd name="T50" fmla="*/ 791 w 820"/>
                <a:gd name="T51" fmla="*/ 4 h 311"/>
                <a:gd name="T52" fmla="*/ 781 w 820"/>
                <a:gd name="T53" fmla="*/ 2 h 311"/>
                <a:gd name="T54" fmla="*/ 772 w 820"/>
                <a:gd name="T55" fmla="*/ 0 h 311"/>
                <a:gd name="T56" fmla="*/ 49 w 820"/>
                <a:gd name="T57" fmla="*/ 0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20" h="311">
                  <a:moveTo>
                    <a:pt x="49" y="0"/>
                  </a:moveTo>
                  <a:lnTo>
                    <a:pt x="39" y="2"/>
                  </a:lnTo>
                  <a:lnTo>
                    <a:pt x="29" y="4"/>
                  </a:lnTo>
                  <a:lnTo>
                    <a:pt x="14" y="14"/>
                  </a:lnTo>
                  <a:lnTo>
                    <a:pt x="4" y="31"/>
                  </a:lnTo>
                  <a:lnTo>
                    <a:pt x="2" y="41"/>
                  </a:lnTo>
                  <a:lnTo>
                    <a:pt x="0" y="52"/>
                  </a:lnTo>
                  <a:lnTo>
                    <a:pt x="0" y="259"/>
                  </a:lnTo>
                  <a:lnTo>
                    <a:pt x="2" y="270"/>
                  </a:lnTo>
                  <a:lnTo>
                    <a:pt x="4" y="280"/>
                  </a:lnTo>
                  <a:lnTo>
                    <a:pt x="14" y="297"/>
                  </a:lnTo>
                  <a:lnTo>
                    <a:pt x="29" y="307"/>
                  </a:lnTo>
                  <a:lnTo>
                    <a:pt x="39" y="311"/>
                  </a:lnTo>
                  <a:lnTo>
                    <a:pt x="49" y="311"/>
                  </a:lnTo>
                  <a:lnTo>
                    <a:pt x="772" y="311"/>
                  </a:lnTo>
                  <a:lnTo>
                    <a:pt x="781" y="311"/>
                  </a:lnTo>
                  <a:lnTo>
                    <a:pt x="791" y="307"/>
                  </a:lnTo>
                  <a:lnTo>
                    <a:pt x="806" y="297"/>
                  </a:lnTo>
                  <a:lnTo>
                    <a:pt x="816" y="280"/>
                  </a:lnTo>
                  <a:lnTo>
                    <a:pt x="820" y="270"/>
                  </a:lnTo>
                  <a:lnTo>
                    <a:pt x="820" y="259"/>
                  </a:lnTo>
                  <a:lnTo>
                    <a:pt x="820" y="52"/>
                  </a:lnTo>
                  <a:lnTo>
                    <a:pt x="820" y="41"/>
                  </a:lnTo>
                  <a:lnTo>
                    <a:pt x="816" y="31"/>
                  </a:lnTo>
                  <a:lnTo>
                    <a:pt x="806" y="14"/>
                  </a:lnTo>
                  <a:lnTo>
                    <a:pt x="791" y="4"/>
                  </a:lnTo>
                  <a:lnTo>
                    <a:pt x="781" y="2"/>
                  </a:lnTo>
                  <a:lnTo>
                    <a:pt x="772" y="0"/>
                  </a:lnTo>
                  <a:lnTo>
                    <a:pt x="49" y="0"/>
                  </a:lnTo>
                  <a:close/>
                </a:path>
              </a:pathLst>
            </a:custGeom>
            <a:solidFill>
              <a:srgbClr val="66FFFF"/>
            </a:solidFill>
            <a:ln w="25400">
              <a:solidFill>
                <a:srgbClr val="000000"/>
              </a:solidFill>
              <a:prstDash val="solid"/>
              <a:round/>
              <a:headEnd/>
              <a:tailEnd/>
            </a:ln>
          </p:spPr>
          <p:txBody>
            <a:bodyPr/>
            <a:lstStyle/>
            <a:p>
              <a:endParaRPr lang="zh-CN" altLang="en-US">
                <a:ea typeface="楷体" panose="02010609060101010101" pitchFamily="49" charset="-122"/>
              </a:endParaRPr>
            </a:p>
          </p:txBody>
        </p:sp>
        <p:sp>
          <p:nvSpPr>
            <p:cNvPr id="16" name="Rectangle 14"/>
            <p:cNvSpPr>
              <a:spLocks noChangeArrowheads="1"/>
            </p:cNvSpPr>
            <p:nvPr/>
          </p:nvSpPr>
          <p:spPr bwMode="auto">
            <a:xfrm>
              <a:off x="4825" y="3602"/>
              <a:ext cx="29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800" b="1">
                  <a:solidFill>
                    <a:srgbClr val="000000"/>
                  </a:solidFill>
                  <a:ea typeface="楷体" panose="02010609060101010101" pitchFamily="49" charset="-122"/>
                </a:rPr>
                <a:t>设备</a:t>
              </a:r>
              <a:endParaRPr lang="zh-CN" altLang="en-US" sz="1800" b="1">
                <a:ea typeface="楷体" panose="02010609060101010101" pitchFamily="49" charset="-122"/>
              </a:endParaRPr>
            </a:p>
          </p:txBody>
        </p:sp>
        <p:sp>
          <p:nvSpPr>
            <p:cNvPr id="17" name="Line 15"/>
            <p:cNvSpPr>
              <a:spLocks noChangeShapeType="1"/>
            </p:cNvSpPr>
            <p:nvPr/>
          </p:nvSpPr>
          <p:spPr bwMode="auto">
            <a:xfrm>
              <a:off x="2252" y="3484"/>
              <a:ext cx="421" cy="1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ea typeface="楷体" panose="02010609060101010101" pitchFamily="49" charset="-122"/>
              </a:endParaRPr>
            </a:p>
          </p:txBody>
        </p:sp>
        <p:sp>
          <p:nvSpPr>
            <p:cNvPr id="18" name="Freeform 16"/>
            <p:cNvSpPr>
              <a:spLocks/>
            </p:cNvSpPr>
            <p:nvPr/>
          </p:nvSpPr>
          <p:spPr bwMode="auto">
            <a:xfrm>
              <a:off x="2181" y="3451"/>
              <a:ext cx="89" cy="65"/>
            </a:xfrm>
            <a:custGeom>
              <a:avLst/>
              <a:gdLst>
                <a:gd name="T0" fmla="*/ 91 w 91"/>
                <a:gd name="T1" fmla="*/ 0 h 86"/>
                <a:gd name="T2" fmla="*/ 0 w 91"/>
                <a:gd name="T3" fmla="*/ 17 h 86"/>
                <a:gd name="T4" fmla="*/ 64 w 91"/>
                <a:gd name="T5" fmla="*/ 86 h 86"/>
                <a:gd name="T6" fmla="*/ 91 w 91"/>
                <a:gd name="T7" fmla="*/ 0 h 86"/>
              </a:gdLst>
              <a:ahLst/>
              <a:cxnLst>
                <a:cxn ang="0">
                  <a:pos x="T0" y="T1"/>
                </a:cxn>
                <a:cxn ang="0">
                  <a:pos x="T2" y="T3"/>
                </a:cxn>
                <a:cxn ang="0">
                  <a:pos x="T4" y="T5"/>
                </a:cxn>
                <a:cxn ang="0">
                  <a:pos x="T6" y="T7"/>
                </a:cxn>
              </a:cxnLst>
              <a:rect l="0" t="0" r="r" b="b"/>
              <a:pathLst>
                <a:path w="91" h="86">
                  <a:moveTo>
                    <a:pt x="91" y="0"/>
                  </a:moveTo>
                  <a:lnTo>
                    <a:pt x="0" y="17"/>
                  </a:lnTo>
                  <a:lnTo>
                    <a:pt x="64" y="86"/>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9" name="Freeform 17"/>
            <p:cNvSpPr>
              <a:spLocks/>
            </p:cNvSpPr>
            <p:nvPr/>
          </p:nvSpPr>
          <p:spPr bwMode="auto">
            <a:xfrm>
              <a:off x="2657" y="3571"/>
              <a:ext cx="88" cy="65"/>
            </a:xfrm>
            <a:custGeom>
              <a:avLst/>
              <a:gdLst>
                <a:gd name="T0" fmla="*/ 0 w 90"/>
                <a:gd name="T1" fmla="*/ 85 h 85"/>
                <a:gd name="T2" fmla="*/ 90 w 90"/>
                <a:gd name="T3" fmla="*/ 69 h 85"/>
                <a:gd name="T4" fmla="*/ 27 w 90"/>
                <a:gd name="T5" fmla="*/ 0 h 85"/>
                <a:gd name="T6" fmla="*/ 0 w 90"/>
                <a:gd name="T7" fmla="*/ 85 h 85"/>
              </a:gdLst>
              <a:ahLst/>
              <a:cxnLst>
                <a:cxn ang="0">
                  <a:pos x="T0" y="T1"/>
                </a:cxn>
                <a:cxn ang="0">
                  <a:pos x="T2" y="T3"/>
                </a:cxn>
                <a:cxn ang="0">
                  <a:pos x="T4" y="T5"/>
                </a:cxn>
                <a:cxn ang="0">
                  <a:pos x="T6" y="T7"/>
                </a:cxn>
              </a:cxnLst>
              <a:rect l="0" t="0" r="r" b="b"/>
              <a:pathLst>
                <a:path w="90" h="85">
                  <a:moveTo>
                    <a:pt x="0" y="85"/>
                  </a:moveTo>
                  <a:lnTo>
                    <a:pt x="90" y="69"/>
                  </a:lnTo>
                  <a:lnTo>
                    <a:pt x="27" y="0"/>
                  </a:lnTo>
                  <a:lnTo>
                    <a:pt x="0" y="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20" name="Line 18"/>
            <p:cNvSpPr>
              <a:spLocks noChangeShapeType="1"/>
            </p:cNvSpPr>
            <p:nvPr/>
          </p:nvSpPr>
          <p:spPr bwMode="auto">
            <a:xfrm flipV="1">
              <a:off x="2252" y="3801"/>
              <a:ext cx="421" cy="1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ea typeface="楷体" panose="02010609060101010101" pitchFamily="49" charset="-122"/>
              </a:endParaRPr>
            </a:p>
          </p:txBody>
        </p:sp>
        <p:sp>
          <p:nvSpPr>
            <p:cNvPr id="21" name="Freeform 19"/>
            <p:cNvSpPr>
              <a:spLocks/>
            </p:cNvSpPr>
            <p:nvPr/>
          </p:nvSpPr>
          <p:spPr bwMode="auto">
            <a:xfrm>
              <a:off x="2181" y="3887"/>
              <a:ext cx="87" cy="65"/>
            </a:xfrm>
            <a:custGeom>
              <a:avLst/>
              <a:gdLst>
                <a:gd name="T0" fmla="*/ 64 w 89"/>
                <a:gd name="T1" fmla="*/ 0 h 86"/>
                <a:gd name="T2" fmla="*/ 0 w 89"/>
                <a:gd name="T3" fmla="*/ 71 h 86"/>
                <a:gd name="T4" fmla="*/ 89 w 89"/>
                <a:gd name="T5" fmla="*/ 86 h 86"/>
                <a:gd name="T6" fmla="*/ 64 w 89"/>
                <a:gd name="T7" fmla="*/ 0 h 86"/>
              </a:gdLst>
              <a:ahLst/>
              <a:cxnLst>
                <a:cxn ang="0">
                  <a:pos x="T0" y="T1"/>
                </a:cxn>
                <a:cxn ang="0">
                  <a:pos x="T2" y="T3"/>
                </a:cxn>
                <a:cxn ang="0">
                  <a:pos x="T4" y="T5"/>
                </a:cxn>
                <a:cxn ang="0">
                  <a:pos x="T6" y="T7"/>
                </a:cxn>
              </a:cxnLst>
              <a:rect l="0" t="0" r="r" b="b"/>
              <a:pathLst>
                <a:path w="89" h="86">
                  <a:moveTo>
                    <a:pt x="64" y="0"/>
                  </a:moveTo>
                  <a:lnTo>
                    <a:pt x="0" y="71"/>
                  </a:lnTo>
                  <a:lnTo>
                    <a:pt x="89" y="86"/>
                  </a:lnTo>
                  <a:lnTo>
                    <a:pt x="6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22" name="Freeform 20"/>
            <p:cNvSpPr>
              <a:spLocks/>
            </p:cNvSpPr>
            <p:nvPr/>
          </p:nvSpPr>
          <p:spPr bwMode="auto">
            <a:xfrm>
              <a:off x="2659" y="3770"/>
              <a:ext cx="86" cy="65"/>
            </a:xfrm>
            <a:custGeom>
              <a:avLst/>
              <a:gdLst>
                <a:gd name="T0" fmla="*/ 25 w 88"/>
                <a:gd name="T1" fmla="*/ 85 h 85"/>
                <a:gd name="T2" fmla="*/ 88 w 88"/>
                <a:gd name="T3" fmla="*/ 14 h 85"/>
                <a:gd name="T4" fmla="*/ 0 w 88"/>
                <a:gd name="T5" fmla="*/ 0 h 85"/>
                <a:gd name="T6" fmla="*/ 25 w 88"/>
                <a:gd name="T7" fmla="*/ 85 h 85"/>
              </a:gdLst>
              <a:ahLst/>
              <a:cxnLst>
                <a:cxn ang="0">
                  <a:pos x="T0" y="T1"/>
                </a:cxn>
                <a:cxn ang="0">
                  <a:pos x="T2" y="T3"/>
                </a:cxn>
                <a:cxn ang="0">
                  <a:pos x="T4" y="T5"/>
                </a:cxn>
                <a:cxn ang="0">
                  <a:pos x="T6" y="T7"/>
                </a:cxn>
              </a:cxnLst>
              <a:rect l="0" t="0" r="r" b="b"/>
              <a:pathLst>
                <a:path w="88" h="85">
                  <a:moveTo>
                    <a:pt x="25" y="85"/>
                  </a:moveTo>
                  <a:lnTo>
                    <a:pt x="88" y="14"/>
                  </a:lnTo>
                  <a:lnTo>
                    <a:pt x="0" y="0"/>
                  </a:lnTo>
                  <a:lnTo>
                    <a:pt x="25" y="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23" name="Line 21"/>
            <p:cNvSpPr>
              <a:spLocks noChangeShapeType="1"/>
            </p:cNvSpPr>
            <p:nvPr/>
          </p:nvSpPr>
          <p:spPr bwMode="auto">
            <a:xfrm>
              <a:off x="4042" y="3701"/>
              <a:ext cx="460" cy="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ea typeface="楷体" panose="02010609060101010101" pitchFamily="49" charset="-122"/>
              </a:endParaRPr>
            </a:p>
          </p:txBody>
        </p:sp>
        <p:sp>
          <p:nvSpPr>
            <p:cNvPr id="24" name="Freeform 22"/>
            <p:cNvSpPr>
              <a:spLocks/>
            </p:cNvSpPr>
            <p:nvPr/>
          </p:nvSpPr>
          <p:spPr bwMode="auto">
            <a:xfrm>
              <a:off x="3967" y="3667"/>
              <a:ext cx="79" cy="68"/>
            </a:xfrm>
            <a:custGeom>
              <a:avLst/>
              <a:gdLst>
                <a:gd name="T0" fmla="*/ 81 w 81"/>
                <a:gd name="T1" fmla="*/ 0 h 89"/>
                <a:gd name="T2" fmla="*/ 0 w 81"/>
                <a:gd name="T3" fmla="*/ 45 h 89"/>
                <a:gd name="T4" fmla="*/ 81 w 81"/>
                <a:gd name="T5" fmla="*/ 89 h 89"/>
                <a:gd name="T6" fmla="*/ 81 w 81"/>
                <a:gd name="T7" fmla="*/ 0 h 89"/>
              </a:gdLst>
              <a:ahLst/>
              <a:cxnLst>
                <a:cxn ang="0">
                  <a:pos x="T0" y="T1"/>
                </a:cxn>
                <a:cxn ang="0">
                  <a:pos x="T2" y="T3"/>
                </a:cxn>
                <a:cxn ang="0">
                  <a:pos x="T4" y="T5"/>
                </a:cxn>
                <a:cxn ang="0">
                  <a:pos x="T6" y="T7"/>
                </a:cxn>
              </a:cxnLst>
              <a:rect l="0" t="0" r="r" b="b"/>
              <a:pathLst>
                <a:path w="81" h="89">
                  <a:moveTo>
                    <a:pt x="81" y="0"/>
                  </a:moveTo>
                  <a:lnTo>
                    <a:pt x="0" y="45"/>
                  </a:lnTo>
                  <a:lnTo>
                    <a:pt x="81" y="89"/>
                  </a:lnTo>
                  <a:lnTo>
                    <a:pt x="8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25" name="Freeform 23"/>
            <p:cNvSpPr>
              <a:spLocks/>
            </p:cNvSpPr>
            <p:nvPr/>
          </p:nvSpPr>
          <p:spPr bwMode="auto">
            <a:xfrm>
              <a:off x="4498" y="3670"/>
              <a:ext cx="79" cy="68"/>
            </a:xfrm>
            <a:custGeom>
              <a:avLst/>
              <a:gdLst>
                <a:gd name="T0" fmla="*/ 0 w 81"/>
                <a:gd name="T1" fmla="*/ 89 h 89"/>
                <a:gd name="T2" fmla="*/ 81 w 81"/>
                <a:gd name="T3" fmla="*/ 44 h 89"/>
                <a:gd name="T4" fmla="*/ 0 w 81"/>
                <a:gd name="T5" fmla="*/ 0 h 89"/>
                <a:gd name="T6" fmla="*/ 0 w 81"/>
                <a:gd name="T7" fmla="*/ 89 h 89"/>
              </a:gdLst>
              <a:ahLst/>
              <a:cxnLst>
                <a:cxn ang="0">
                  <a:pos x="T0" y="T1"/>
                </a:cxn>
                <a:cxn ang="0">
                  <a:pos x="T2" y="T3"/>
                </a:cxn>
                <a:cxn ang="0">
                  <a:pos x="T4" y="T5"/>
                </a:cxn>
                <a:cxn ang="0">
                  <a:pos x="T6" y="T7"/>
                </a:cxn>
              </a:cxnLst>
              <a:rect l="0" t="0" r="r" b="b"/>
              <a:pathLst>
                <a:path w="81" h="89">
                  <a:moveTo>
                    <a:pt x="0" y="89"/>
                  </a:moveTo>
                  <a:lnTo>
                    <a:pt x="81" y="44"/>
                  </a:lnTo>
                  <a:lnTo>
                    <a:pt x="0" y="0"/>
                  </a:lnTo>
                  <a:lnTo>
                    <a:pt x="0" y="8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26" name="Freeform 24"/>
            <p:cNvSpPr>
              <a:spLocks/>
            </p:cNvSpPr>
            <p:nvPr/>
          </p:nvSpPr>
          <p:spPr bwMode="auto">
            <a:xfrm>
              <a:off x="2459" y="3302"/>
              <a:ext cx="8" cy="6"/>
            </a:xfrm>
            <a:custGeom>
              <a:avLst/>
              <a:gdLst>
                <a:gd name="T0" fmla="*/ 8 w 8"/>
                <a:gd name="T1" fmla="*/ 7 h 9"/>
                <a:gd name="T2" fmla="*/ 8 w 8"/>
                <a:gd name="T3" fmla="*/ 4 h 9"/>
                <a:gd name="T4" fmla="*/ 6 w 8"/>
                <a:gd name="T5" fmla="*/ 2 h 9"/>
                <a:gd name="T6" fmla="*/ 4 w 8"/>
                <a:gd name="T7" fmla="*/ 0 h 9"/>
                <a:gd name="T8" fmla="*/ 4 w 8"/>
                <a:gd name="T9" fmla="*/ 0 h 9"/>
                <a:gd name="T10" fmla="*/ 2 w 8"/>
                <a:gd name="T11" fmla="*/ 2 h 9"/>
                <a:gd name="T12" fmla="*/ 0 w 8"/>
                <a:gd name="T13" fmla="*/ 4 h 9"/>
                <a:gd name="T14" fmla="*/ 0 w 8"/>
                <a:gd name="T15" fmla="*/ 4 h 9"/>
                <a:gd name="T16" fmla="*/ 0 w 8"/>
                <a:gd name="T17" fmla="*/ 4 h 9"/>
                <a:gd name="T18" fmla="*/ 2 w 8"/>
                <a:gd name="T19" fmla="*/ 7 h 9"/>
                <a:gd name="T20" fmla="*/ 4 w 8"/>
                <a:gd name="T21" fmla="*/ 9 h 9"/>
                <a:gd name="T22" fmla="*/ 4 w 8"/>
                <a:gd name="T23" fmla="*/ 9 h 9"/>
                <a:gd name="T24" fmla="*/ 6 w 8"/>
                <a:gd name="T25" fmla="*/ 7 h 9"/>
                <a:gd name="T26" fmla="*/ 8 w 8"/>
                <a:gd name="T27" fmla="*/ 7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 h="9">
                  <a:moveTo>
                    <a:pt x="8" y="7"/>
                  </a:moveTo>
                  <a:lnTo>
                    <a:pt x="8" y="4"/>
                  </a:lnTo>
                  <a:lnTo>
                    <a:pt x="6" y="2"/>
                  </a:lnTo>
                  <a:lnTo>
                    <a:pt x="4" y="0"/>
                  </a:lnTo>
                  <a:lnTo>
                    <a:pt x="4" y="0"/>
                  </a:lnTo>
                  <a:lnTo>
                    <a:pt x="2" y="2"/>
                  </a:lnTo>
                  <a:lnTo>
                    <a:pt x="0" y="4"/>
                  </a:lnTo>
                  <a:lnTo>
                    <a:pt x="0" y="4"/>
                  </a:lnTo>
                  <a:lnTo>
                    <a:pt x="0" y="4"/>
                  </a:lnTo>
                  <a:lnTo>
                    <a:pt x="2" y="7"/>
                  </a:lnTo>
                  <a:lnTo>
                    <a:pt x="4" y="9"/>
                  </a:lnTo>
                  <a:lnTo>
                    <a:pt x="4" y="9"/>
                  </a:lnTo>
                  <a:lnTo>
                    <a:pt x="6" y="7"/>
                  </a:lnTo>
                  <a:lnTo>
                    <a:pt x="8"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27" name="Freeform 25"/>
            <p:cNvSpPr>
              <a:spLocks/>
            </p:cNvSpPr>
            <p:nvPr/>
          </p:nvSpPr>
          <p:spPr bwMode="auto">
            <a:xfrm>
              <a:off x="2459" y="3315"/>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28" name="Freeform 26"/>
            <p:cNvSpPr>
              <a:spLocks/>
            </p:cNvSpPr>
            <p:nvPr/>
          </p:nvSpPr>
          <p:spPr bwMode="auto">
            <a:xfrm>
              <a:off x="2459" y="3328"/>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29" name="Freeform 27"/>
            <p:cNvSpPr>
              <a:spLocks/>
            </p:cNvSpPr>
            <p:nvPr/>
          </p:nvSpPr>
          <p:spPr bwMode="auto">
            <a:xfrm>
              <a:off x="2459" y="3340"/>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30" name="Freeform 28"/>
            <p:cNvSpPr>
              <a:spLocks/>
            </p:cNvSpPr>
            <p:nvPr/>
          </p:nvSpPr>
          <p:spPr bwMode="auto">
            <a:xfrm>
              <a:off x="2459" y="3353"/>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31" name="Freeform 29"/>
            <p:cNvSpPr>
              <a:spLocks/>
            </p:cNvSpPr>
            <p:nvPr/>
          </p:nvSpPr>
          <p:spPr bwMode="auto">
            <a:xfrm>
              <a:off x="2459" y="3365"/>
              <a:ext cx="8" cy="7"/>
            </a:xfrm>
            <a:custGeom>
              <a:avLst/>
              <a:gdLst>
                <a:gd name="T0" fmla="*/ 8 w 8"/>
                <a:gd name="T1" fmla="*/ 5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5 h 9"/>
                <a:gd name="T16" fmla="*/ 0 w 8"/>
                <a:gd name="T17" fmla="*/ 5 h 9"/>
                <a:gd name="T18" fmla="*/ 2 w 8"/>
                <a:gd name="T19" fmla="*/ 7 h 9"/>
                <a:gd name="T20" fmla="*/ 4 w 8"/>
                <a:gd name="T21" fmla="*/ 9 h 9"/>
                <a:gd name="T22" fmla="*/ 4 w 8"/>
                <a:gd name="T23" fmla="*/ 9 h 9"/>
                <a:gd name="T24" fmla="*/ 6 w 8"/>
                <a:gd name="T25" fmla="*/ 7 h 9"/>
                <a:gd name="T26" fmla="*/ 8 w 8"/>
                <a:gd name="T27" fmla="*/ 7 h 9"/>
                <a:gd name="T28" fmla="*/ 8 w 8"/>
                <a:gd name="T2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5"/>
                  </a:moveTo>
                  <a:lnTo>
                    <a:pt x="8" y="2"/>
                  </a:lnTo>
                  <a:lnTo>
                    <a:pt x="8" y="0"/>
                  </a:lnTo>
                  <a:lnTo>
                    <a:pt x="6" y="0"/>
                  </a:lnTo>
                  <a:lnTo>
                    <a:pt x="4" y="0"/>
                  </a:lnTo>
                  <a:lnTo>
                    <a:pt x="2" y="0"/>
                  </a:lnTo>
                  <a:lnTo>
                    <a:pt x="0" y="2"/>
                  </a:lnTo>
                  <a:lnTo>
                    <a:pt x="0" y="5"/>
                  </a:lnTo>
                  <a:lnTo>
                    <a:pt x="0" y="5"/>
                  </a:lnTo>
                  <a:lnTo>
                    <a:pt x="2" y="7"/>
                  </a:lnTo>
                  <a:lnTo>
                    <a:pt x="4" y="9"/>
                  </a:lnTo>
                  <a:lnTo>
                    <a:pt x="4" y="9"/>
                  </a:lnTo>
                  <a:lnTo>
                    <a:pt x="6" y="7"/>
                  </a:lnTo>
                  <a:lnTo>
                    <a:pt x="8" y="7"/>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32" name="Freeform 30"/>
            <p:cNvSpPr>
              <a:spLocks/>
            </p:cNvSpPr>
            <p:nvPr/>
          </p:nvSpPr>
          <p:spPr bwMode="auto">
            <a:xfrm>
              <a:off x="2459" y="3378"/>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33" name="Freeform 31"/>
            <p:cNvSpPr>
              <a:spLocks/>
            </p:cNvSpPr>
            <p:nvPr/>
          </p:nvSpPr>
          <p:spPr bwMode="auto">
            <a:xfrm>
              <a:off x="2459" y="3391"/>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34" name="Freeform 32"/>
            <p:cNvSpPr>
              <a:spLocks/>
            </p:cNvSpPr>
            <p:nvPr/>
          </p:nvSpPr>
          <p:spPr bwMode="auto">
            <a:xfrm>
              <a:off x="2459" y="3403"/>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35" name="Freeform 33"/>
            <p:cNvSpPr>
              <a:spLocks/>
            </p:cNvSpPr>
            <p:nvPr/>
          </p:nvSpPr>
          <p:spPr bwMode="auto">
            <a:xfrm>
              <a:off x="2459" y="3416"/>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36" name="Freeform 34"/>
            <p:cNvSpPr>
              <a:spLocks/>
            </p:cNvSpPr>
            <p:nvPr/>
          </p:nvSpPr>
          <p:spPr bwMode="auto">
            <a:xfrm>
              <a:off x="2459" y="3428"/>
              <a:ext cx="8" cy="7"/>
            </a:xfrm>
            <a:custGeom>
              <a:avLst/>
              <a:gdLst>
                <a:gd name="T0" fmla="*/ 8 w 8"/>
                <a:gd name="T1" fmla="*/ 5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5 h 9"/>
                <a:gd name="T16" fmla="*/ 0 w 8"/>
                <a:gd name="T17" fmla="*/ 5 h 9"/>
                <a:gd name="T18" fmla="*/ 2 w 8"/>
                <a:gd name="T19" fmla="*/ 7 h 9"/>
                <a:gd name="T20" fmla="*/ 4 w 8"/>
                <a:gd name="T21" fmla="*/ 9 h 9"/>
                <a:gd name="T22" fmla="*/ 4 w 8"/>
                <a:gd name="T23" fmla="*/ 9 h 9"/>
                <a:gd name="T24" fmla="*/ 6 w 8"/>
                <a:gd name="T25" fmla="*/ 7 h 9"/>
                <a:gd name="T26" fmla="*/ 8 w 8"/>
                <a:gd name="T27" fmla="*/ 7 h 9"/>
                <a:gd name="T28" fmla="*/ 8 w 8"/>
                <a:gd name="T2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5"/>
                  </a:moveTo>
                  <a:lnTo>
                    <a:pt x="8" y="2"/>
                  </a:lnTo>
                  <a:lnTo>
                    <a:pt x="8" y="0"/>
                  </a:lnTo>
                  <a:lnTo>
                    <a:pt x="6" y="0"/>
                  </a:lnTo>
                  <a:lnTo>
                    <a:pt x="4" y="0"/>
                  </a:lnTo>
                  <a:lnTo>
                    <a:pt x="2" y="0"/>
                  </a:lnTo>
                  <a:lnTo>
                    <a:pt x="0" y="2"/>
                  </a:lnTo>
                  <a:lnTo>
                    <a:pt x="0" y="5"/>
                  </a:lnTo>
                  <a:lnTo>
                    <a:pt x="0" y="5"/>
                  </a:lnTo>
                  <a:lnTo>
                    <a:pt x="2" y="7"/>
                  </a:lnTo>
                  <a:lnTo>
                    <a:pt x="4" y="9"/>
                  </a:lnTo>
                  <a:lnTo>
                    <a:pt x="4" y="9"/>
                  </a:lnTo>
                  <a:lnTo>
                    <a:pt x="6" y="7"/>
                  </a:lnTo>
                  <a:lnTo>
                    <a:pt x="8" y="7"/>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37" name="Freeform 35"/>
            <p:cNvSpPr>
              <a:spLocks/>
            </p:cNvSpPr>
            <p:nvPr/>
          </p:nvSpPr>
          <p:spPr bwMode="auto">
            <a:xfrm>
              <a:off x="2459" y="3441"/>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38" name="Freeform 36"/>
            <p:cNvSpPr>
              <a:spLocks/>
            </p:cNvSpPr>
            <p:nvPr/>
          </p:nvSpPr>
          <p:spPr bwMode="auto">
            <a:xfrm>
              <a:off x="2459" y="3454"/>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39" name="Freeform 37"/>
            <p:cNvSpPr>
              <a:spLocks/>
            </p:cNvSpPr>
            <p:nvPr/>
          </p:nvSpPr>
          <p:spPr bwMode="auto">
            <a:xfrm>
              <a:off x="2459" y="3467"/>
              <a:ext cx="8" cy="6"/>
            </a:xfrm>
            <a:custGeom>
              <a:avLst/>
              <a:gdLst>
                <a:gd name="T0" fmla="*/ 8 w 8"/>
                <a:gd name="T1" fmla="*/ 4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4 h 9"/>
                <a:gd name="T16" fmla="*/ 0 w 8"/>
                <a:gd name="T17" fmla="*/ 4 h 9"/>
                <a:gd name="T18" fmla="*/ 2 w 8"/>
                <a:gd name="T19" fmla="*/ 6 h 9"/>
                <a:gd name="T20" fmla="*/ 4 w 8"/>
                <a:gd name="T21" fmla="*/ 9 h 9"/>
                <a:gd name="T22" fmla="*/ 4 w 8"/>
                <a:gd name="T23" fmla="*/ 9 h 9"/>
                <a:gd name="T24" fmla="*/ 6 w 8"/>
                <a:gd name="T25" fmla="*/ 6 h 9"/>
                <a:gd name="T26" fmla="*/ 8 w 8"/>
                <a:gd name="T27" fmla="*/ 6 h 9"/>
                <a:gd name="T28" fmla="*/ 8 w 8"/>
                <a:gd name="T2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4"/>
                  </a:moveTo>
                  <a:lnTo>
                    <a:pt x="8" y="2"/>
                  </a:lnTo>
                  <a:lnTo>
                    <a:pt x="8" y="0"/>
                  </a:lnTo>
                  <a:lnTo>
                    <a:pt x="6" y="0"/>
                  </a:lnTo>
                  <a:lnTo>
                    <a:pt x="4" y="0"/>
                  </a:lnTo>
                  <a:lnTo>
                    <a:pt x="2" y="0"/>
                  </a:lnTo>
                  <a:lnTo>
                    <a:pt x="0" y="2"/>
                  </a:lnTo>
                  <a:lnTo>
                    <a:pt x="0" y="4"/>
                  </a:lnTo>
                  <a:lnTo>
                    <a:pt x="0" y="4"/>
                  </a:lnTo>
                  <a:lnTo>
                    <a:pt x="2" y="6"/>
                  </a:lnTo>
                  <a:lnTo>
                    <a:pt x="4" y="9"/>
                  </a:lnTo>
                  <a:lnTo>
                    <a:pt x="4" y="9"/>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40" name="Freeform 38"/>
            <p:cNvSpPr>
              <a:spLocks/>
            </p:cNvSpPr>
            <p:nvPr/>
          </p:nvSpPr>
          <p:spPr bwMode="auto">
            <a:xfrm>
              <a:off x="2459" y="3480"/>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41" name="Freeform 39"/>
            <p:cNvSpPr>
              <a:spLocks/>
            </p:cNvSpPr>
            <p:nvPr/>
          </p:nvSpPr>
          <p:spPr bwMode="auto">
            <a:xfrm>
              <a:off x="2459" y="3492"/>
              <a:ext cx="8" cy="7"/>
            </a:xfrm>
            <a:custGeom>
              <a:avLst/>
              <a:gdLst>
                <a:gd name="T0" fmla="*/ 8 w 8"/>
                <a:gd name="T1" fmla="*/ 5 h 9"/>
                <a:gd name="T2" fmla="*/ 8 w 8"/>
                <a:gd name="T3" fmla="*/ 3 h 9"/>
                <a:gd name="T4" fmla="*/ 8 w 8"/>
                <a:gd name="T5" fmla="*/ 0 h 9"/>
                <a:gd name="T6" fmla="*/ 6 w 8"/>
                <a:gd name="T7" fmla="*/ 0 h 9"/>
                <a:gd name="T8" fmla="*/ 4 w 8"/>
                <a:gd name="T9" fmla="*/ 0 h 9"/>
                <a:gd name="T10" fmla="*/ 2 w 8"/>
                <a:gd name="T11" fmla="*/ 0 h 9"/>
                <a:gd name="T12" fmla="*/ 0 w 8"/>
                <a:gd name="T13" fmla="*/ 3 h 9"/>
                <a:gd name="T14" fmla="*/ 0 w 8"/>
                <a:gd name="T15" fmla="*/ 5 h 9"/>
                <a:gd name="T16" fmla="*/ 0 w 8"/>
                <a:gd name="T17" fmla="*/ 5 h 9"/>
                <a:gd name="T18" fmla="*/ 2 w 8"/>
                <a:gd name="T19" fmla="*/ 7 h 9"/>
                <a:gd name="T20" fmla="*/ 4 w 8"/>
                <a:gd name="T21" fmla="*/ 9 h 9"/>
                <a:gd name="T22" fmla="*/ 4 w 8"/>
                <a:gd name="T23" fmla="*/ 9 h 9"/>
                <a:gd name="T24" fmla="*/ 6 w 8"/>
                <a:gd name="T25" fmla="*/ 7 h 9"/>
                <a:gd name="T26" fmla="*/ 8 w 8"/>
                <a:gd name="T27" fmla="*/ 7 h 9"/>
                <a:gd name="T28" fmla="*/ 8 w 8"/>
                <a:gd name="T2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5"/>
                  </a:moveTo>
                  <a:lnTo>
                    <a:pt x="8" y="3"/>
                  </a:lnTo>
                  <a:lnTo>
                    <a:pt x="8" y="0"/>
                  </a:lnTo>
                  <a:lnTo>
                    <a:pt x="6" y="0"/>
                  </a:lnTo>
                  <a:lnTo>
                    <a:pt x="4" y="0"/>
                  </a:lnTo>
                  <a:lnTo>
                    <a:pt x="2" y="0"/>
                  </a:lnTo>
                  <a:lnTo>
                    <a:pt x="0" y="3"/>
                  </a:lnTo>
                  <a:lnTo>
                    <a:pt x="0" y="5"/>
                  </a:lnTo>
                  <a:lnTo>
                    <a:pt x="0" y="5"/>
                  </a:lnTo>
                  <a:lnTo>
                    <a:pt x="2" y="7"/>
                  </a:lnTo>
                  <a:lnTo>
                    <a:pt x="4" y="9"/>
                  </a:lnTo>
                  <a:lnTo>
                    <a:pt x="4" y="9"/>
                  </a:lnTo>
                  <a:lnTo>
                    <a:pt x="6" y="7"/>
                  </a:lnTo>
                  <a:lnTo>
                    <a:pt x="8" y="7"/>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42" name="Freeform 40"/>
            <p:cNvSpPr>
              <a:spLocks/>
            </p:cNvSpPr>
            <p:nvPr/>
          </p:nvSpPr>
          <p:spPr bwMode="auto">
            <a:xfrm>
              <a:off x="2459" y="3505"/>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43" name="Freeform 41"/>
            <p:cNvSpPr>
              <a:spLocks/>
            </p:cNvSpPr>
            <p:nvPr/>
          </p:nvSpPr>
          <p:spPr bwMode="auto">
            <a:xfrm>
              <a:off x="2459" y="3518"/>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44" name="Freeform 42"/>
            <p:cNvSpPr>
              <a:spLocks/>
            </p:cNvSpPr>
            <p:nvPr/>
          </p:nvSpPr>
          <p:spPr bwMode="auto">
            <a:xfrm>
              <a:off x="2459" y="3530"/>
              <a:ext cx="8" cy="7"/>
            </a:xfrm>
            <a:custGeom>
              <a:avLst/>
              <a:gdLst>
                <a:gd name="T0" fmla="*/ 8 w 8"/>
                <a:gd name="T1" fmla="*/ 4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4 h 9"/>
                <a:gd name="T16" fmla="*/ 0 w 8"/>
                <a:gd name="T17" fmla="*/ 4 h 9"/>
                <a:gd name="T18" fmla="*/ 2 w 8"/>
                <a:gd name="T19" fmla="*/ 7 h 9"/>
                <a:gd name="T20" fmla="*/ 4 w 8"/>
                <a:gd name="T21" fmla="*/ 9 h 9"/>
                <a:gd name="T22" fmla="*/ 4 w 8"/>
                <a:gd name="T23" fmla="*/ 9 h 9"/>
                <a:gd name="T24" fmla="*/ 6 w 8"/>
                <a:gd name="T25" fmla="*/ 7 h 9"/>
                <a:gd name="T26" fmla="*/ 8 w 8"/>
                <a:gd name="T27" fmla="*/ 7 h 9"/>
                <a:gd name="T28" fmla="*/ 8 w 8"/>
                <a:gd name="T2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4"/>
                  </a:moveTo>
                  <a:lnTo>
                    <a:pt x="8" y="2"/>
                  </a:lnTo>
                  <a:lnTo>
                    <a:pt x="8" y="0"/>
                  </a:lnTo>
                  <a:lnTo>
                    <a:pt x="6" y="0"/>
                  </a:lnTo>
                  <a:lnTo>
                    <a:pt x="4" y="0"/>
                  </a:lnTo>
                  <a:lnTo>
                    <a:pt x="2" y="0"/>
                  </a:lnTo>
                  <a:lnTo>
                    <a:pt x="0" y="2"/>
                  </a:lnTo>
                  <a:lnTo>
                    <a:pt x="0" y="4"/>
                  </a:lnTo>
                  <a:lnTo>
                    <a:pt x="0" y="4"/>
                  </a:lnTo>
                  <a:lnTo>
                    <a:pt x="2" y="7"/>
                  </a:lnTo>
                  <a:lnTo>
                    <a:pt x="4" y="9"/>
                  </a:lnTo>
                  <a:lnTo>
                    <a:pt x="4" y="9"/>
                  </a:lnTo>
                  <a:lnTo>
                    <a:pt x="6" y="7"/>
                  </a:lnTo>
                  <a:lnTo>
                    <a:pt x="8" y="7"/>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45" name="Freeform 43"/>
            <p:cNvSpPr>
              <a:spLocks/>
            </p:cNvSpPr>
            <p:nvPr/>
          </p:nvSpPr>
          <p:spPr bwMode="auto">
            <a:xfrm>
              <a:off x="2459" y="3543"/>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46" name="Freeform 44"/>
            <p:cNvSpPr>
              <a:spLocks/>
            </p:cNvSpPr>
            <p:nvPr/>
          </p:nvSpPr>
          <p:spPr bwMode="auto">
            <a:xfrm>
              <a:off x="2459" y="3555"/>
              <a:ext cx="8" cy="7"/>
            </a:xfrm>
            <a:custGeom>
              <a:avLst/>
              <a:gdLst>
                <a:gd name="T0" fmla="*/ 8 w 8"/>
                <a:gd name="T1" fmla="*/ 5 h 9"/>
                <a:gd name="T2" fmla="*/ 8 w 8"/>
                <a:gd name="T3" fmla="*/ 3 h 9"/>
                <a:gd name="T4" fmla="*/ 8 w 8"/>
                <a:gd name="T5" fmla="*/ 0 h 9"/>
                <a:gd name="T6" fmla="*/ 6 w 8"/>
                <a:gd name="T7" fmla="*/ 0 h 9"/>
                <a:gd name="T8" fmla="*/ 4 w 8"/>
                <a:gd name="T9" fmla="*/ 0 h 9"/>
                <a:gd name="T10" fmla="*/ 2 w 8"/>
                <a:gd name="T11" fmla="*/ 0 h 9"/>
                <a:gd name="T12" fmla="*/ 0 w 8"/>
                <a:gd name="T13" fmla="*/ 3 h 9"/>
                <a:gd name="T14" fmla="*/ 0 w 8"/>
                <a:gd name="T15" fmla="*/ 5 h 9"/>
                <a:gd name="T16" fmla="*/ 0 w 8"/>
                <a:gd name="T17" fmla="*/ 5 h 9"/>
                <a:gd name="T18" fmla="*/ 2 w 8"/>
                <a:gd name="T19" fmla="*/ 7 h 9"/>
                <a:gd name="T20" fmla="*/ 4 w 8"/>
                <a:gd name="T21" fmla="*/ 9 h 9"/>
                <a:gd name="T22" fmla="*/ 4 w 8"/>
                <a:gd name="T23" fmla="*/ 9 h 9"/>
                <a:gd name="T24" fmla="*/ 6 w 8"/>
                <a:gd name="T25" fmla="*/ 7 h 9"/>
                <a:gd name="T26" fmla="*/ 8 w 8"/>
                <a:gd name="T27" fmla="*/ 7 h 9"/>
                <a:gd name="T28" fmla="*/ 8 w 8"/>
                <a:gd name="T2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5"/>
                  </a:moveTo>
                  <a:lnTo>
                    <a:pt x="8" y="3"/>
                  </a:lnTo>
                  <a:lnTo>
                    <a:pt x="8" y="0"/>
                  </a:lnTo>
                  <a:lnTo>
                    <a:pt x="6" y="0"/>
                  </a:lnTo>
                  <a:lnTo>
                    <a:pt x="4" y="0"/>
                  </a:lnTo>
                  <a:lnTo>
                    <a:pt x="2" y="0"/>
                  </a:lnTo>
                  <a:lnTo>
                    <a:pt x="0" y="3"/>
                  </a:lnTo>
                  <a:lnTo>
                    <a:pt x="0" y="5"/>
                  </a:lnTo>
                  <a:lnTo>
                    <a:pt x="0" y="5"/>
                  </a:lnTo>
                  <a:lnTo>
                    <a:pt x="2" y="7"/>
                  </a:lnTo>
                  <a:lnTo>
                    <a:pt x="4" y="9"/>
                  </a:lnTo>
                  <a:lnTo>
                    <a:pt x="4" y="9"/>
                  </a:lnTo>
                  <a:lnTo>
                    <a:pt x="6" y="7"/>
                  </a:lnTo>
                  <a:lnTo>
                    <a:pt x="8" y="7"/>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47" name="Freeform 45"/>
            <p:cNvSpPr>
              <a:spLocks/>
            </p:cNvSpPr>
            <p:nvPr/>
          </p:nvSpPr>
          <p:spPr bwMode="auto">
            <a:xfrm>
              <a:off x="2459" y="3568"/>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48" name="Freeform 46"/>
            <p:cNvSpPr>
              <a:spLocks/>
            </p:cNvSpPr>
            <p:nvPr/>
          </p:nvSpPr>
          <p:spPr bwMode="auto">
            <a:xfrm>
              <a:off x="2459" y="3581"/>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49" name="Freeform 47"/>
            <p:cNvSpPr>
              <a:spLocks/>
            </p:cNvSpPr>
            <p:nvPr/>
          </p:nvSpPr>
          <p:spPr bwMode="auto">
            <a:xfrm>
              <a:off x="2459" y="3593"/>
              <a:ext cx="8" cy="7"/>
            </a:xfrm>
            <a:custGeom>
              <a:avLst/>
              <a:gdLst>
                <a:gd name="T0" fmla="*/ 8 w 8"/>
                <a:gd name="T1" fmla="*/ 4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4 h 9"/>
                <a:gd name="T16" fmla="*/ 0 w 8"/>
                <a:gd name="T17" fmla="*/ 4 h 9"/>
                <a:gd name="T18" fmla="*/ 2 w 8"/>
                <a:gd name="T19" fmla="*/ 7 h 9"/>
                <a:gd name="T20" fmla="*/ 4 w 8"/>
                <a:gd name="T21" fmla="*/ 9 h 9"/>
                <a:gd name="T22" fmla="*/ 4 w 8"/>
                <a:gd name="T23" fmla="*/ 9 h 9"/>
                <a:gd name="T24" fmla="*/ 6 w 8"/>
                <a:gd name="T25" fmla="*/ 7 h 9"/>
                <a:gd name="T26" fmla="*/ 8 w 8"/>
                <a:gd name="T27" fmla="*/ 7 h 9"/>
                <a:gd name="T28" fmla="*/ 8 w 8"/>
                <a:gd name="T2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4"/>
                  </a:moveTo>
                  <a:lnTo>
                    <a:pt x="8" y="2"/>
                  </a:lnTo>
                  <a:lnTo>
                    <a:pt x="8" y="0"/>
                  </a:lnTo>
                  <a:lnTo>
                    <a:pt x="6" y="0"/>
                  </a:lnTo>
                  <a:lnTo>
                    <a:pt x="4" y="0"/>
                  </a:lnTo>
                  <a:lnTo>
                    <a:pt x="2" y="0"/>
                  </a:lnTo>
                  <a:lnTo>
                    <a:pt x="0" y="2"/>
                  </a:lnTo>
                  <a:lnTo>
                    <a:pt x="0" y="4"/>
                  </a:lnTo>
                  <a:lnTo>
                    <a:pt x="0" y="4"/>
                  </a:lnTo>
                  <a:lnTo>
                    <a:pt x="2" y="7"/>
                  </a:lnTo>
                  <a:lnTo>
                    <a:pt x="4" y="9"/>
                  </a:lnTo>
                  <a:lnTo>
                    <a:pt x="4" y="9"/>
                  </a:lnTo>
                  <a:lnTo>
                    <a:pt x="6" y="7"/>
                  </a:lnTo>
                  <a:lnTo>
                    <a:pt x="8" y="7"/>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50" name="Freeform 48"/>
            <p:cNvSpPr>
              <a:spLocks/>
            </p:cNvSpPr>
            <p:nvPr/>
          </p:nvSpPr>
          <p:spPr bwMode="auto">
            <a:xfrm>
              <a:off x="2459" y="3606"/>
              <a:ext cx="8" cy="7"/>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51" name="Freeform 49"/>
            <p:cNvSpPr>
              <a:spLocks/>
            </p:cNvSpPr>
            <p:nvPr/>
          </p:nvSpPr>
          <p:spPr bwMode="auto">
            <a:xfrm>
              <a:off x="2459" y="3619"/>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52" name="Freeform 50"/>
            <p:cNvSpPr>
              <a:spLocks/>
            </p:cNvSpPr>
            <p:nvPr/>
          </p:nvSpPr>
          <p:spPr bwMode="auto">
            <a:xfrm>
              <a:off x="2459" y="3632"/>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53" name="Freeform 51"/>
            <p:cNvSpPr>
              <a:spLocks/>
            </p:cNvSpPr>
            <p:nvPr/>
          </p:nvSpPr>
          <p:spPr bwMode="auto">
            <a:xfrm>
              <a:off x="2459" y="3645"/>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54" name="Freeform 52"/>
            <p:cNvSpPr>
              <a:spLocks/>
            </p:cNvSpPr>
            <p:nvPr/>
          </p:nvSpPr>
          <p:spPr bwMode="auto">
            <a:xfrm>
              <a:off x="2459" y="3657"/>
              <a:ext cx="8" cy="7"/>
            </a:xfrm>
            <a:custGeom>
              <a:avLst/>
              <a:gdLst>
                <a:gd name="T0" fmla="*/ 8 w 8"/>
                <a:gd name="T1" fmla="*/ 5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5 h 9"/>
                <a:gd name="T16" fmla="*/ 0 w 8"/>
                <a:gd name="T17" fmla="*/ 5 h 9"/>
                <a:gd name="T18" fmla="*/ 2 w 8"/>
                <a:gd name="T19" fmla="*/ 7 h 9"/>
                <a:gd name="T20" fmla="*/ 4 w 8"/>
                <a:gd name="T21" fmla="*/ 9 h 9"/>
                <a:gd name="T22" fmla="*/ 4 w 8"/>
                <a:gd name="T23" fmla="*/ 9 h 9"/>
                <a:gd name="T24" fmla="*/ 6 w 8"/>
                <a:gd name="T25" fmla="*/ 7 h 9"/>
                <a:gd name="T26" fmla="*/ 8 w 8"/>
                <a:gd name="T27" fmla="*/ 7 h 9"/>
                <a:gd name="T28" fmla="*/ 8 w 8"/>
                <a:gd name="T2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5"/>
                  </a:moveTo>
                  <a:lnTo>
                    <a:pt x="8" y="2"/>
                  </a:lnTo>
                  <a:lnTo>
                    <a:pt x="8" y="0"/>
                  </a:lnTo>
                  <a:lnTo>
                    <a:pt x="6" y="0"/>
                  </a:lnTo>
                  <a:lnTo>
                    <a:pt x="4" y="0"/>
                  </a:lnTo>
                  <a:lnTo>
                    <a:pt x="2" y="0"/>
                  </a:lnTo>
                  <a:lnTo>
                    <a:pt x="0" y="2"/>
                  </a:lnTo>
                  <a:lnTo>
                    <a:pt x="0" y="5"/>
                  </a:lnTo>
                  <a:lnTo>
                    <a:pt x="0" y="5"/>
                  </a:lnTo>
                  <a:lnTo>
                    <a:pt x="2" y="7"/>
                  </a:lnTo>
                  <a:lnTo>
                    <a:pt x="4" y="9"/>
                  </a:lnTo>
                  <a:lnTo>
                    <a:pt x="4" y="9"/>
                  </a:lnTo>
                  <a:lnTo>
                    <a:pt x="6" y="7"/>
                  </a:lnTo>
                  <a:lnTo>
                    <a:pt x="8" y="7"/>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55" name="Freeform 53"/>
            <p:cNvSpPr>
              <a:spLocks/>
            </p:cNvSpPr>
            <p:nvPr/>
          </p:nvSpPr>
          <p:spPr bwMode="auto">
            <a:xfrm>
              <a:off x="2459" y="3670"/>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56" name="Freeform 54"/>
            <p:cNvSpPr>
              <a:spLocks/>
            </p:cNvSpPr>
            <p:nvPr/>
          </p:nvSpPr>
          <p:spPr bwMode="auto">
            <a:xfrm>
              <a:off x="2459" y="3683"/>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57" name="Freeform 55"/>
            <p:cNvSpPr>
              <a:spLocks/>
            </p:cNvSpPr>
            <p:nvPr/>
          </p:nvSpPr>
          <p:spPr bwMode="auto">
            <a:xfrm>
              <a:off x="2459" y="3695"/>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58" name="Freeform 56"/>
            <p:cNvSpPr>
              <a:spLocks/>
            </p:cNvSpPr>
            <p:nvPr/>
          </p:nvSpPr>
          <p:spPr bwMode="auto">
            <a:xfrm>
              <a:off x="2459" y="3708"/>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59" name="Freeform 57"/>
            <p:cNvSpPr>
              <a:spLocks/>
            </p:cNvSpPr>
            <p:nvPr/>
          </p:nvSpPr>
          <p:spPr bwMode="auto">
            <a:xfrm>
              <a:off x="2459" y="3720"/>
              <a:ext cx="8" cy="7"/>
            </a:xfrm>
            <a:custGeom>
              <a:avLst/>
              <a:gdLst>
                <a:gd name="T0" fmla="*/ 8 w 8"/>
                <a:gd name="T1" fmla="*/ 5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5 h 9"/>
                <a:gd name="T16" fmla="*/ 0 w 8"/>
                <a:gd name="T17" fmla="*/ 5 h 9"/>
                <a:gd name="T18" fmla="*/ 2 w 8"/>
                <a:gd name="T19" fmla="*/ 7 h 9"/>
                <a:gd name="T20" fmla="*/ 4 w 8"/>
                <a:gd name="T21" fmla="*/ 9 h 9"/>
                <a:gd name="T22" fmla="*/ 4 w 8"/>
                <a:gd name="T23" fmla="*/ 9 h 9"/>
                <a:gd name="T24" fmla="*/ 6 w 8"/>
                <a:gd name="T25" fmla="*/ 7 h 9"/>
                <a:gd name="T26" fmla="*/ 8 w 8"/>
                <a:gd name="T27" fmla="*/ 7 h 9"/>
                <a:gd name="T28" fmla="*/ 8 w 8"/>
                <a:gd name="T2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5"/>
                  </a:moveTo>
                  <a:lnTo>
                    <a:pt x="8" y="2"/>
                  </a:lnTo>
                  <a:lnTo>
                    <a:pt x="8" y="0"/>
                  </a:lnTo>
                  <a:lnTo>
                    <a:pt x="6" y="0"/>
                  </a:lnTo>
                  <a:lnTo>
                    <a:pt x="4" y="0"/>
                  </a:lnTo>
                  <a:lnTo>
                    <a:pt x="2" y="0"/>
                  </a:lnTo>
                  <a:lnTo>
                    <a:pt x="0" y="2"/>
                  </a:lnTo>
                  <a:lnTo>
                    <a:pt x="0" y="5"/>
                  </a:lnTo>
                  <a:lnTo>
                    <a:pt x="0" y="5"/>
                  </a:lnTo>
                  <a:lnTo>
                    <a:pt x="2" y="7"/>
                  </a:lnTo>
                  <a:lnTo>
                    <a:pt x="4" y="9"/>
                  </a:lnTo>
                  <a:lnTo>
                    <a:pt x="4" y="9"/>
                  </a:lnTo>
                  <a:lnTo>
                    <a:pt x="6" y="7"/>
                  </a:lnTo>
                  <a:lnTo>
                    <a:pt x="8" y="7"/>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60" name="Freeform 58"/>
            <p:cNvSpPr>
              <a:spLocks/>
            </p:cNvSpPr>
            <p:nvPr/>
          </p:nvSpPr>
          <p:spPr bwMode="auto">
            <a:xfrm>
              <a:off x="2459" y="3733"/>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61" name="Freeform 59"/>
            <p:cNvSpPr>
              <a:spLocks/>
            </p:cNvSpPr>
            <p:nvPr/>
          </p:nvSpPr>
          <p:spPr bwMode="auto">
            <a:xfrm>
              <a:off x="2459" y="3746"/>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62" name="Freeform 60"/>
            <p:cNvSpPr>
              <a:spLocks/>
            </p:cNvSpPr>
            <p:nvPr/>
          </p:nvSpPr>
          <p:spPr bwMode="auto">
            <a:xfrm>
              <a:off x="2459" y="3758"/>
              <a:ext cx="8" cy="7"/>
            </a:xfrm>
            <a:custGeom>
              <a:avLst/>
              <a:gdLst>
                <a:gd name="T0" fmla="*/ 8 w 8"/>
                <a:gd name="T1" fmla="*/ 4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4 h 9"/>
                <a:gd name="T16" fmla="*/ 0 w 8"/>
                <a:gd name="T17" fmla="*/ 4 h 9"/>
                <a:gd name="T18" fmla="*/ 2 w 8"/>
                <a:gd name="T19" fmla="*/ 6 h 9"/>
                <a:gd name="T20" fmla="*/ 4 w 8"/>
                <a:gd name="T21" fmla="*/ 9 h 9"/>
                <a:gd name="T22" fmla="*/ 4 w 8"/>
                <a:gd name="T23" fmla="*/ 9 h 9"/>
                <a:gd name="T24" fmla="*/ 6 w 8"/>
                <a:gd name="T25" fmla="*/ 6 h 9"/>
                <a:gd name="T26" fmla="*/ 8 w 8"/>
                <a:gd name="T27" fmla="*/ 6 h 9"/>
                <a:gd name="T28" fmla="*/ 8 w 8"/>
                <a:gd name="T2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4"/>
                  </a:moveTo>
                  <a:lnTo>
                    <a:pt x="8" y="2"/>
                  </a:lnTo>
                  <a:lnTo>
                    <a:pt x="8" y="0"/>
                  </a:lnTo>
                  <a:lnTo>
                    <a:pt x="6" y="0"/>
                  </a:lnTo>
                  <a:lnTo>
                    <a:pt x="4" y="0"/>
                  </a:lnTo>
                  <a:lnTo>
                    <a:pt x="2" y="0"/>
                  </a:lnTo>
                  <a:lnTo>
                    <a:pt x="0" y="2"/>
                  </a:lnTo>
                  <a:lnTo>
                    <a:pt x="0" y="4"/>
                  </a:lnTo>
                  <a:lnTo>
                    <a:pt x="0" y="4"/>
                  </a:lnTo>
                  <a:lnTo>
                    <a:pt x="2" y="6"/>
                  </a:lnTo>
                  <a:lnTo>
                    <a:pt x="4" y="9"/>
                  </a:lnTo>
                  <a:lnTo>
                    <a:pt x="4" y="9"/>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63" name="Freeform 61"/>
            <p:cNvSpPr>
              <a:spLocks/>
            </p:cNvSpPr>
            <p:nvPr/>
          </p:nvSpPr>
          <p:spPr bwMode="auto">
            <a:xfrm>
              <a:off x="2459" y="3771"/>
              <a:ext cx="8" cy="7"/>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64" name="Freeform 62"/>
            <p:cNvSpPr>
              <a:spLocks/>
            </p:cNvSpPr>
            <p:nvPr/>
          </p:nvSpPr>
          <p:spPr bwMode="auto">
            <a:xfrm>
              <a:off x="2459" y="3784"/>
              <a:ext cx="8" cy="7"/>
            </a:xfrm>
            <a:custGeom>
              <a:avLst/>
              <a:gdLst>
                <a:gd name="T0" fmla="*/ 8 w 8"/>
                <a:gd name="T1" fmla="*/ 5 h 9"/>
                <a:gd name="T2" fmla="*/ 8 w 8"/>
                <a:gd name="T3" fmla="*/ 3 h 9"/>
                <a:gd name="T4" fmla="*/ 8 w 8"/>
                <a:gd name="T5" fmla="*/ 0 h 9"/>
                <a:gd name="T6" fmla="*/ 6 w 8"/>
                <a:gd name="T7" fmla="*/ 0 h 9"/>
                <a:gd name="T8" fmla="*/ 4 w 8"/>
                <a:gd name="T9" fmla="*/ 0 h 9"/>
                <a:gd name="T10" fmla="*/ 2 w 8"/>
                <a:gd name="T11" fmla="*/ 0 h 9"/>
                <a:gd name="T12" fmla="*/ 0 w 8"/>
                <a:gd name="T13" fmla="*/ 3 h 9"/>
                <a:gd name="T14" fmla="*/ 0 w 8"/>
                <a:gd name="T15" fmla="*/ 5 h 9"/>
                <a:gd name="T16" fmla="*/ 0 w 8"/>
                <a:gd name="T17" fmla="*/ 5 h 9"/>
                <a:gd name="T18" fmla="*/ 2 w 8"/>
                <a:gd name="T19" fmla="*/ 7 h 9"/>
                <a:gd name="T20" fmla="*/ 4 w 8"/>
                <a:gd name="T21" fmla="*/ 9 h 9"/>
                <a:gd name="T22" fmla="*/ 4 w 8"/>
                <a:gd name="T23" fmla="*/ 9 h 9"/>
                <a:gd name="T24" fmla="*/ 6 w 8"/>
                <a:gd name="T25" fmla="*/ 7 h 9"/>
                <a:gd name="T26" fmla="*/ 8 w 8"/>
                <a:gd name="T27" fmla="*/ 7 h 9"/>
                <a:gd name="T28" fmla="*/ 8 w 8"/>
                <a:gd name="T2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5"/>
                  </a:moveTo>
                  <a:lnTo>
                    <a:pt x="8" y="3"/>
                  </a:lnTo>
                  <a:lnTo>
                    <a:pt x="8" y="0"/>
                  </a:lnTo>
                  <a:lnTo>
                    <a:pt x="6" y="0"/>
                  </a:lnTo>
                  <a:lnTo>
                    <a:pt x="4" y="0"/>
                  </a:lnTo>
                  <a:lnTo>
                    <a:pt x="2" y="0"/>
                  </a:lnTo>
                  <a:lnTo>
                    <a:pt x="0" y="3"/>
                  </a:lnTo>
                  <a:lnTo>
                    <a:pt x="0" y="5"/>
                  </a:lnTo>
                  <a:lnTo>
                    <a:pt x="0" y="5"/>
                  </a:lnTo>
                  <a:lnTo>
                    <a:pt x="2" y="7"/>
                  </a:lnTo>
                  <a:lnTo>
                    <a:pt x="4" y="9"/>
                  </a:lnTo>
                  <a:lnTo>
                    <a:pt x="4" y="9"/>
                  </a:lnTo>
                  <a:lnTo>
                    <a:pt x="6" y="7"/>
                  </a:lnTo>
                  <a:lnTo>
                    <a:pt x="8" y="7"/>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65" name="Freeform 63"/>
            <p:cNvSpPr>
              <a:spLocks/>
            </p:cNvSpPr>
            <p:nvPr/>
          </p:nvSpPr>
          <p:spPr bwMode="auto">
            <a:xfrm>
              <a:off x="2459" y="3797"/>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66" name="Freeform 64"/>
            <p:cNvSpPr>
              <a:spLocks/>
            </p:cNvSpPr>
            <p:nvPr/>
          </p:nvSpPr>
          <p:spPr bwMode="auto">
            <a:xfrm>
              <a:off x="2459" y="3810"/>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67" name="Freeform 65"/>
            <p:cNvSpPr>
              <a:spLocks/>
            </p:cNvSpPr>
            <p:nvPr/>
          </p:nvSpPr>
          <p:spPr bwMode="auto">
            <a:xfrm>
              <a:off x="2459" y="3822"/>
              <a:ext cx="8" cy="7"/>
            </a:xfrm>
            <a:custGeom>
              <a:avLst/>
              <a:gdLst>
                <a:gd name="T0" fmla="*/ 8 w 8"/>
                <a:gd name="T1" fmla="*/ 4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4 h 9"/>
                <a:gd name="T16" fmla="*/ 0 w 8"/>
                <a:gd name="T17" fmla="*/ 4 h 9"/>
                <a:gd name="T18" fmla="*/ 2 w 8"/>
                <a:gd name="T19" fmla="*/ 7 h 9"/>
                <a:gd name="T20" fmla="*/ 4 w 8"/>
                <a:gd name="T21" fmla="*/ 9 h 9"/>
                <a:gd name="T22" fmla="*/ 4 w 8"/>
                <a:gd name="T23" fmla="*/ 9 h 9"/>
                <a:gd name="T24" fmla="*/ 6 w 8"/>
                <a:gd name="T25" fmla="*/ 7 h 9"/>
                <a:gd name="T26" fmla="*/ 8 w 8"/>
                <a:gd name="T27" fmla="*/ 7 h 9"/>
                <a:gd name="T28" fmla="*/ 8 w 8"/>
                <a:gd name="T2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4"/>
                  </a:moveTo>
                  <a:lnTo>
                    <a:pt x="8" y="2"/>
                  </a:lnTo>
                  <a:lnTo>
                    <a:pt x="8" y="0"/>
                  </a:lnTo>
                  <a:lnTo>
                    <a:pt x="6" y="0"/>
                  </a:lnTo>
                  <a:lnTo>
                    <a:pt x="4" y="0"/>
                  </a:lnTo>
                  <a:lnTo>
                    <a:pt x="2" y="0"/>
                  </a:lnTo>
                  <a:lnTo>
                    <a:pt x="0" y="2"/>
                  </a:lnTo>
                  <a:lnTo>
                    <a:pt x="0" y="4"/>
                  </a:lnTo>
                  <a:lnTo>
                    <a:pt x="0" y="4"/>
                  </a:lnTo>
                  <a:lnTo>
                    <a:pt x="2" y="7"/>
                  </a:lnTo>
                  <a:lnTo>
                    <a:pt x="4" y="9"/>
                  </a:lnTo>
                  <a:lnTo>
                    <a:pt x="4" y="9"/>
                  </a:lnTo>
                  <a:lnTo>
                    <a:pt x="6" y="7"/>
                  </a:lnTo>
                  <a:lnTo>
                    <a:pt x="8" y="7"/>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68" name="Freeform 66"/>
            <p:cNvSpPr>
              <a:spLocks/>
            </p:cNvSpPr>
            <p:nvPr/>
          </p:nvSpPr>
          <p:spPr bwMode="auto">
            <a:xfrm>
              <a:off x="2459" y="3835"/>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69" name="Freeform 67"/>
            <p:cNvSpPr>
              <a:spLocks/>
            </p:cNvSpPr>
            <p:nvPr/>
          </p:nvSpPr>
          <p:spPr bwMode="auto">
            <a:xfrm>
              <a:off x="2459" y="3848"/>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70" name="Freeform 68"/>
            <p:cNvSpPr>
              <a:spLocks/>
            </p:cNvSpPr>
            <p:nvPr/>
          </p:nvSpPr>
          <p:spPr bwMode="auto">
            <a:xfrm>
              <a:off x="2459" y="3860"/>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71" name="Freeform 69"/>
            <p:cNvSpPr>
              <a:spLocks/>
            </p:cNvSpPr>
            <p:nvPr/>
          </p:nvSpPr>
          <p:spPr bwMode="auto">
            <a:xfrm>
              <a:off x="2459" y="3873"/>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72" name="Freeform 70"/>
            <p:cNvSpPr>
              <a:spLocks/>
            </p:cNvSpPr>
            <p:nvPr/>
          </p:nvSpPr>
          <p:spPr bwMode="auto">
            <a:xfrm>
              <a:off x="2459" y="3885"/>
              <a:ext cx="8" cy="7"/>
            </a:xfrm>
            <a:custGeom>
              <a:avLst/>
              <a:gdLst>
                <a:gd name="T0" fmla="*/ 8 w 8"/>
                <a:gd name="T1" fmla="*/ 4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4 h 9"/>
                <a:gd name="T16" fmla="*/ 0 w 8"/>
                <a:gd name="T17" fmla="*/ 4 h 9"/>
                <a:gd name="T18" fmla="*/ 2 w 8"/>
                <a:gd name="T19" fmla="*/ 7 h 9"/>
                <a:gd name="T20" fmla="*/ 4 w 8"/>
                <a:gd name="T21" fmla="*/ 9 h 9"/>
                <a:gd name="T22" fmla="*/ 4 w 8"/>
                <a:gd name="T23" fmla="*/ 9 h 9"/>
                <a:gd name="T24" fmla="*/ 6 w 8"/>
                <a:gd name="T25" fmla="*/ 7 h 9"/>
                <a:gd name="T26" fmla="*/ 8 w 8"/>
                <a:gd name="T27" fmla="*/ 7 h 9"/>
                <a:gd name="T28" fmla="*/ 8 w 8"/>
                <a:gd name="T2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4"/>
                  </a:moveTo>
                  <a:lnTo>
                    <a:pt x="8" y="2"/>
                  </a:lnTo>
                  <a:lnTo>
                    <a:pt x="8" y="0"/>
                  </a:lnTo>
                  <a:lnTo>
                    <a:pt x="6" y="0"/>
                  </a:lnTo>
                  <a:lnTo>
                    <a:pt x="4" y="0"/>
                  </a:lnTo>
                  <a:lnTo>
                    <a:pt x="2" y="0"/>
                  </a:lnTo>
                  <a:lnTo>
                    <a:pt x="0" y="2"/>
                  </a:lnTo>
                  <a:lnTo>
                    <a:pt x="0" y="4"/>
                  </a:lnTo>
                  <a:lnTo>
                    <a:pt x="0" y="4"/>
                  </a:lnTo>
                  <a:lnTo>
                    <a:pt x="2" y="7"/>
                  </a:lnTo>
                  <a:lnTo>
                    <a:pt x="4" y="9"/>
                  </a:lnTo>
                  <a:lnTo>
                    <a:pt x="4" y="9"/>
                  </a:lnTo>
                  <a:lnTo>
                    <a:pt x="6" y="7"/>
                  </a:lnTo>
                  <a:lnTo>
                    <a:pt x="8" y="7"/>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73" name="Freeform 71"/>
            <p:cNvSpPr>
              <a:spLocks/>
            </p:cNvSpPr>
            <p:nvPr/>
          </p:nvSpPr>
          <p:spPr bwMode="auto">
            <a:xfrm>
              <a:off x="2459" y="3898"/>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74" name="Freeform 72"/>
            <p:cNvSpPr>
              <a:spLocks/>
            </p:cNvSpPr>
            <p:nvPr/>
          </p:nvSpPr>
          <p:spPr bwMode="auto">
            <a:xfrm>
              <a:off x="2459" y="3911"/>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75" name="Freeform 73"/>
            <p:cNvSpPr>
              <a:spLocks/>
            </p:cNvSpPr>
            <p:nvPr/>
          </p:nvSpPr>
          <p:spPr bwMode="auto">
            <a:xfrm>
              <a:off x="2459" y="3923"/>
              <a:ext cx="8" cy="7"/>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76" name="Freeform 74"/>
            <p:cNvSpPr>
              <a:spLocks/>
            </p:cNvSpPr>
            <p:nvPr/>
          </p:nvSpPr>
          <p:spPr bwMode="auto">
            <a:xfrm>
              <a:off x="2459" y="3936"/>
              <a:ext cx="8" cy="7"/>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77" name="Freeform 75"/>
            <p:cNvSpPr>
              <a:spLocks/>
            </p:cNvSpPr>
            <p:nvPr/>
          </p:nvSpPr>
          <p:spPr bwMode="auto">
            <a:xfrm>
              <a:off x="2459" y="3949"/>
              <a:ext cx="8" cy="7"/>
            </a:xfrm>
            <a:custGeom>
              <a:avLst/>
              <a:gdLst>
                <a:gd name="T0" fmla="*/ 8 w 8"/>
                <a:gd name="T1" fmla="*/ 5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5 h 9"/>
                <a:gd name="T16" fmla="*/ 0 w 8"/>
                <a:gd name="T17" fmla="*/ 5 h 9"/>
                <a:gd name="T18" fmla="*/ 2 w 8"/>
                <a:gd name="T19" fmla="*/ 7 h 9"/>
                <a:gd name="T20" fmla="*/ 4 w 8"/>
                <a:gd name="T21" fmla="*/ 9 h 9"/>
                <a:gd name="T22" fmla="*/ 4 w 8"/>
                <a:gd name="T23" fmla="*/ 9 h 9"/>
                <a:gd name="T24" fmla="*/ 6 w 8"/>
                <a:gd name="T25" fmla="*/ 7 h 9"/>
                <a:gd name="T26" fmla="*/ 8 w 8"/>
                <a:gd name="T27" fmla="*/ 7 h 9"/>
                <a:gd name="T28" fmla="*/ 8 w 8"/>
                <a:gd name="T2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5"/>
                  </a:moveTo>
                  <a:lnTo>
                    <a:pt x="8" y="2"/>
                  </a:lnTo>
                  <a:lnTo>
                    <a:pt x="8" y="0"/>
                  </a:lnTo>
                  <a:lnTo>
                    <a:pt x="6" y="0"/>
                  </a:lnTo>
                  <a:lnTo>
                    <a:pt x="4" y="0"/>
                  </a:lnTo>
                  <a:lnTo>
                    <a:pt x="2" y="0"/>
                  </a:lnTo>
                  <a:lnTo>
                    <a:pt x="0" y="2"/>
                  </a:lnTo>
                  <a:lnTo>
                    <a:pt x="0" y="5"/>
                  </a:lnTo>
                  <a:lnTo>
                    <a:pt x="0" y="5"/>
                  </a:lnTo>
                  <a:lnTo>
                    <a:pt x="2" y="7"/>
                  </a:lnTo>
                  <a:lnTo>
                    <a:pt x="4" y="9"/>
                  </a:lnTo>
                  <a:lnTo>
                    <a:pt x="4" y="9"/>
                  </a:lnTo>
                  <a:lnTo>
                    <a:pt x="6" y="7"/>
                  </a:lnTo>
                  <a:lnTo>
                    <a:pt x="8" y="7"/>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78" name="Freeform 76"/>
            <p:cNvSpPr>
              <a:spLocks/>
            </p:cNvSpPr>
            <p:nvPr/>
          </p:nvSpPr>
          <p:spPr bwMode="auto">
            <a:xfrm>
              <a:off x="2459" y="3962"/>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79" name="Freeform 77"/>
            <p:cNvSpPr>
              <a:spLocks/>
            </p:cNvSpPr>
            <p:nvPr/>
          </p:nvSpPr>
          <p:spPr bwMode="auto">
            <a:xfrm>
              <a:off x="2459" y="3975"/>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80" name="Freeform 78"/>
            <p:cNvSpPr>
              <a:spLocks/>
            </p:cNvSpPr>
            <p:nvPr/>
          </p:nvSpPr>
          <p:spPr bwMode="auto">
            <a:xfrm>
              <a:off x="2459" y="3987"/>
              <a:ext cx="8" cy="7"/>
            </a:xfrm>
            <a:custGeom>
              <a:avLst/>
              <a:gdLst>
                <a:gd name="T0" fmla="*/ 8 w 8"/>
                <a:gd name="T1" fmla="*/ 4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4 h 9"/>
                <a:gd name="T16" fmla="*/ 0 w 8"/>
                <a:gd name="T17" fmla="*/ 4 h 9"/>
                <a:gd name="T18" fmla="*/ 2 w 8"/>
                <a:gd name="T19" fmla="*/ 6 h 9"/>
                <a:gd name="T20" fmla="*/ 4 w 8"/>
                <a:gd name="T21" fmla="*/ 9 h 9"/>
                <a:gd name="T22" fmla="*/ 4 w 8"/>
                <a:gd name="T23" fmla="*/ 9 h 9"/>
                <a:gd name="T24" fmla="*/ 6 w 8"/>
                <a:gd name="T25" fmla="*/ 6 h 9"/>
                <a:gd name="T26" fmla="*/ 8 w 8"/>
                <a:gd name="T27" fmla="*/ 6 h 9"/>
                <a:gd name="T28" fmla="*/ 8 w 8"/>
                <a:gd name="T2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4"/>
                  </a:moveTo>
                  <a:lnTo>
                    <a:pt x="8" y="2"/>
                  </a:lnTo>
                  <a:lnTo>
                    <a:pt x="8" y="0"/>
                  </a:lnTo>
                  <a:lnTo>
                    <a:pt x="6" y="0"/>
                  </a:lnTo>
                  <a:lnTo>
                    <a:pt x="4" y="0"/>
                  </a:lnTo>
                  <a:lnTo>
                    <a:pt x="2" y="0"/>
                  </a:lnTo>
                  <a:lnTo>
                    <a:pt x="0" y="2"/>
                  </a:lnTo>
                  <a:lnTo>
                    <a:pt x="0" y="4"/>
                  </a:lnTo>
                  <a:lnTo>
                    <a:pt x="0" y="4"/>
                  </a:lnTo>
                  <a:lnTo>
                    <a:pt x="2" y="6"/>
                  </a:lnTo>
                  <a:lnTo>
                    <a:pt x="4" y="9"/>
                  </a:lnTo>
                  <a:lnTo>
                    <a:pt x="4" y="9"/>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81" name="Freeform 79"/>
            <p:cNvSpPr>
              <a:spLocks/>
            </p:cNvSpPr>
            <p:nvPr/>
          </p:nvSpPr>
          <p:spPr bwMode="auto">
            <a:xfrm>
              <a:off x="2459" y="4000"/>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82" name="Freeform 80"/>
            <p:cNvSpPr>
              <a:spLocks/>
            </p:cNvSpPr>
            <p:nvPr/>
          </p:nvSpPr>
          <p:spPr bwMode="auto">
            <a:xfrm>
              <a:off x="2459" y="4012"/>
              <a:ext cx="8" cy="7"/>
            </a:xfrm>
            <a:custGeom>
              <a:avLst/>
              <a:gdLst>
                <a:gd name="T0" fmla="*/ 8 w 8"/>
                <a:gd name="T1" fmla="*/ 5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5 h 9"/>
                <a:gd name="T16" fmla="*/ 0 w 8"/>
                <a:gd name="T17" fmla="*/ 5 h 9"/>
                <a:gd name="T18" fmla="*/ 2 w 8"/>
                <a:gd name="T19" fmla="*/ 7 h 9"/>
                <a:gd name="T20" fmla="*/ 4 w 8"/>
                <a:gd name="T21" fmla="*/ 9 h 9"/>
                <a:gd name="T22" fmla="*/ 4 w 8"/>
                <a:gd name="T23" fmla="*/ 9 h 9"/>
                <a:gd name="T24" fmla="*/ 6 w 8"/>
                <a:gd name="T25" fmla="*/ 7 h 9"/>
                <a:gd name="T26" fmla="*/ 8 w 8"/>
                <a:gd name="T27" fmla="*/ 7 h 9"/>
                <a:gd name="T28" fmla="*/ 8 w 8"/>
                <a:gd name="T2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5"/>
                  </a:moveTo>
                  <a:lnTo>
                    <a:pt x="8" y="2"/>
                  </a:lnTo>
                  <a:lnTo>
                    <a:pt x="8" y="0"/>
                  </a:lnTo>
                  <a:lnTo>
                    <a:pt x="6" y="0"/>
                  </a:lnTo>
                  <a:lnTo>
                    <a:pt x="4" y="0"/>
                  </a:lnTo>
                  <a:lnTo>
                    <a:pt x="2" y="0"/>
                  </a:lnTo>
                  <a:lnTo>
                    <a:pt x="0" y="2"/>
                  </a:lnTo>
                  <a:lnTo>
                    <a:pt x="0" y="5"/>
                  </a:lnTo>
                  <a:lnTo>
                    <a:pt x="0" y="5"/>
                  </a:lnTo>
                  <a:lnTo>
                    <a:pt x="2" y="7"/>
                  </a:lnTo>
                  <a:lnTo>
                    <a:pt x="4" y="9"/>
                  </a:lnTo>
                  <a:lnTo>
                    <a:pt x="4" y="9"/>
                  </a:lnTo>
                  <a:lnTo>
                    <a:pt x="6" y="7"/>
                  </a:lnTo>
                  <a:lnTo>
                    <a:pt x="8" y="7"/>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83" name="Freeform 81"/>
            <p:cNvSpPr>
              <a:spLocks/>
            </p:cNvSpPr>
            <p:nvPr/>
          </p:nvSpPr>
          <p:spPr bwMode="auto">
            <a:xfrm>
              <a:off x="2459" y="4025"/>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84" name="Freeform 82"/>
            <p:cNvSpPr>
              <a:spLocks/>
            </p:cNvSpPr>
            <p:nvPr/>
          </p:nvSpPr>
          <p:spPr bwMode="auto">
            <a:xfrm>
              <a:off x="2459" y="4038"/>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85" name="Freeform 83"/>
            <p:cNvSpPr>
              <a:spLocks/>
            </p:cNvSpPr>
            <p:nvPr/>
          </p:nvSpPr>
          <p:spPr bwMode="auto">
            <a:xfrm>
              <a:off x="2459" y="4050"/>
              <a:ext cx="8" cy="7"/>
            </a:xfrm>
            <a:custGeom>
              <a:avLst/>
              <a:gdLst>
                <a:gd name="T0" fmla="*/ 8 w 8"/>
                <a:gd name="T1" fmla="*/ 4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4 h 9"/>
                <a:gd name="T16" fmla="*/ 0 w 8"/>
                <a:gd name="T17" fmla="*/ 4 h 9"/>
                <a:gd name="T18" fmla="*/ 2 w 8"/>
                <a:gd name="T19" fmla="*/ 6 h 9"/>
                <a:gd name="T20" fmla="*/ 4 w 8"/>
                <a:gd name="T21" fmla="*/ 9 h 9"/>
                <a:gd name="T22" fmla="*/ 4 w 8"/>
                <a:gd name="T23" fmla="*/ 9 h 9"/>
                <a:gd name="T24" fmla="*/ 6 w 8"/>
                <a:gd name="T25" fmla="*/ 6 h 9"/>
                <a:gd name="T26" fmla="*/ 8 w 8"/>
                <a:gd name="T27" fmla="*/ 6 h 9"/>
                <a:gd name="T28" fmla="*/ 8 w 8"/>
                <a:gd name="T2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4"/>
                  </a:moveTo>
                  <a:lnTo>
                    <a:pt x="8" y="2"/>
                  </a:lnTo>
                  <a:lnTo>
                    <a:pt x="8" y="0"/>
                  </a:lnTo>
                  <a:lnTo>
                    <a:pt x="6" y="0"/>
                  </a:lnTo>
                  <a:lnTo>
                    <a:pt x="4" y="0"/>
                  </a:lnTo>
                  <a:lnTo>
                    <a:pt x="2" y="0"/>
                  </a:lnTo>
                  <a:lnTo>
                    <a:pt x="0" y="2"/>
                  </a:lnTo>
                  <a:lnTo>
                    <a:pt x="0" y="4"/>
                  </a:lnTo>
                  <a:lnTo>
                    <a:pt x="0" y="4"/>
                  </a:lnTo>
                  <a:lnTo>
                    <a:pt x="2" y="6"/>
                  </a:lnTo>
                  <a:lnTo>
                    <a:pt x="4" y="9"/>
                  </a:lnTo>
                  <a:lnTo>
                    <a:pt x="4" y="9"/>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86" name="Freeform 84"/>
            <p:cNvSpPr>
              <a:spLocks/>
            </p:cNvSpPr>
            <p:nvPr/>
          </p:nvSpPr>
          <p:spPr bwMode="auto">
            <a:xfrm>
              <a:off x="2459" y="4063"/>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87" name="Freeform 85"/>
            <p:cNvSpPr>
              <a:spLocks/>
            </p:cNvSpPr>
            <p:nvPr/>
          </p:nvSpPr>
          <p:spPr bwMode="auto">
            <a:xfrm>
              <a:off x="2459" y="4075"/>
              <a:ext cx="8" cy="7"/>
            </a:xfrm>
            <a:custGeom>
              <a:avLst/>
              <a:gdLst>
                <a:gd name="T0" fmla="*/ 8 w 8"/>
                <a:gd name="T1" fmla="*/ 5 h 9"/>
                <a:gd name="T2" fmla="*/ 8 w 8"/>
                <a:gd name="T3" fmla="*/ 3 h 9"/>
                <a:gd name="T4" fmla="*/ 8 w 8"/>
                <a:gd name="T5" fmla="*/ 0 h 9"/>
                <a:gd name="T6" fmla="*/ 6 w 8"/>
                <a:gd name="T7" fmla="*/ 0 h 9"/>
                <a:gd name="T8" fmla="*/ 4 w 8"/>
                <a:gd name="T9" fmla="*/ 0 h 9"/>
                <a:gd name="T10" fmla="*/ 2 w 8"/>
                <a:gd name="T11" fmla="*/ 0 h 9"/>
                <a:gd name="T12" fmla="*/ 0 w 8"/>
                <a:gd name="T13" fmla="*/ 3 h 9"/>
                <a:gd name="T14" fmla="*/ 0 w 8"/>
                <a:gd name="T15" fmla="*/ 5 h 9"/>
                <a:gd name="T16" fmla="*/ 0 w 8"/>
                <a:gd name="T17" fmla="*/ 5 h 9"/>
                <a:gd name="T18" fmla="*/ 2 w 8"/>
                <a:gd name="T19" fmla="*/ 7 h 9"/>
                <a:gd name="T20" fmla="*/ 4 w 8"/>
                <a:gd name="T21" fmla="*/ 9 h 9"/>
                <a:gd name="T22" fmla="*/ 4 w 8"/>
                <a:gd name="T23" fmla="*/ 9 h 9"/>
                <a:gd name="T24" fmla="*/ 6 w 8"/>
                <a:gd name="T25" fmla="*/ 7 h 9"/>
                <a:gd name="T26" fmla="*/ 8 w 8"/>
                <a:gd name="T27" fmla="*/ 7 h 9"/>
                <a:gd name="T28" fmla="*/ 8 w 8"/>
                <a:gd name="T2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5"/>
                  </a:moveTo>
                  <a:lnTo>
                    <a:pt x="8" y="3"/>
                  </a:lnTo>
                  <a:lnTo>
                    <a:pt x="8" y="0"/>
                  </a:lnTo>
                  <a:lnTo>
                    <a:pt x="6" y="0"/>
                  </a:lnTo>
                  <a:lnTo>
                    <a:pt x="4" y="0"/>
                  </a:lnTo>
                  <a:lnTo>
                    <a:pt x="2" y="0"/>
                  </a:lnTo>
                  <a:lnTo>
                    <a:pt x="0" y="3"/>
                  </a:lnTo>
                  <a:lnTo>
                    <a:pt x="0" y="5"/>
                  </a:lnTo>
                  <a:lnTo>
                    <a:pt x="0" y="5"/>
                  </a:lnTo>
                  <a:lnTo>
                    <a:pt x="2" y="7"/>
                  </a:lnTo>
                  <a:lnTo>
                    <a:pt x="4" y="9"/>
                  </a:lnTo>
                  <a:lnTo>
                    <a:pt x="4" y="9"/>
                  </a:lnTo>
                  <a:lnTo>
                    <a:pt x="6" y="7"/>
                  </a:lnTo>
                  <a:lnTo>
                    <a:pt x="8" y="7"/>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88" name="Freeform 86"/>
            <p:cNvSpPr>
              <a:spLocks/>
            </p:cNvSpPr>
            <p:nvPr/>
          </p:nvSpPr>
          <p:spPr bwMode="auto">
            <a:xfrm>
              <a:off x="2459" y="4088"/>
              <a:ext cx="8" cy="7"/>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89" name="Freeform 87"/>
            <p:cNvSpPr>
              <a:spLocks/>
            </p:cNvSpPr>
            <p:nvPr/>
          </p:nvSpPr>
          <p:spPr bwMode="auto">
            <a:xfrm>
              <a:off x="2459" y="4101"/>
              <a:ext cx="8" cy="7"/>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90" name="Freeform 88"/>
            <p:cNvSpPr>
              <a:spLocks/>
            </p:cNvSpPr>
            <p:nvPr/>
          </p:nvSpPr>
          <p:spPr bwMode="auto">
            <a:xfrm>
              <a:off x="2459" y="4114"/>
              <a:ext cx="8" cy="7"/>
            </a:xfrm>
            <a:custGeom>
              <a:avLst/>
              <a:gdLst>
                <a:gd name="T0" fmla="*/ 8 w 8"/>
                <a:gd name="T1" fmla="*/ 4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4 h 9"/>
                <a:gd name="T16" fmla="*/ 0 w 8"/>
                <a:gd name="T17" fmla="*/ 4 h 9"/>
                <a:gd name="T18" fmla="*/ 2 w 8"/>
                <a:gd name="T19" fmla="*/ 7 h 9"/>
                <a:gd name="T20" fmla="*/ 4 w 8"/>
                <a:gd name="T21" fmla="*/ 9 h 9"/>
                <a:gd name="T22" fmla="*/ 4 w 8"/>
                <a:gd name="T23" fmla="*/ 9 h 9"/>
                <a:gd name="T24" fmla="*/ 6 w 8"/>
                <a:gd name="T25" fmla="*/ 7 h 9"/>
                <a:gd name="T26" fmla="*/ 8 w 8"/>
                <a:gd name="T27" fmla="*/ 7 h 9"/>
                <a:gd name="T28" fmla="*/ 8 w 8"/>
                <a:gd name="T2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4"/>
                  </a:moveTo>
                  <a:lnTo>
                    <a:pt x="8" y="2"/>
                  </a:lnTo>
                  <a:lnTo>
                    <a:pt x="8" y="0"/>
                  </a:lnTo>
                  <a:lnTo>
                    <a:pt x="6" y="0"/>
                  </a:lnTo>
                  <a:lnTo>
                    <a:pt x="4" y="0"/>
                  </a:lnTo>
                  <a:lnTo>
                    <a:pt x="2" y="0"/>
                  </a:lnTo>
                  <a:lnTo>
                    <a:pt x="0" y="2"/>
                  </a:lnTo>
                  <a:lnTo>
                    <a:pt x="0" y="4"/>
                  </a:lnTo>
                  <a:lnTo>
                    <a:pt x="0" y="4"/>
                  </a:lnTo>
                  <a:lnTo>
                    <a:pt x="2" y="7"/>
                  </a:lnTo>
                  <a:lnTo>
                    <a:pt x="4" y="9"/>
                  </a:lnTo>
                  <a:lnTo>
                    <a:pt x="4" y="9"/>
                  </a:lnTo>
                  <a:lnTo>
                    <a:pt x="6" y="7"/>
                  </a:lnTo>
                  <a:lnTo>
                    <a:pt x="8" y="7"/>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91" name="Freeform 89"/>
            <p:cNvSpPr>
              <a:spLocks/>
            </p:cNvSpPr>
            <p:nvPr/>
          </p:nvSpPr>
          <p:spPr bwMode="auto">
            <a:xfrm>
              <a:off x="2459" y="4127"/>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92" name="Freeform 90"/>
            <p:cNvSpPr>
              <a:spLocks/>
            </p:cNvSpPr>
            <p:nvPr/>
          </p:nvSpPr>
          <p:spPr bwMode="auto">
            <a:xfrm>
              <a:off x="2459" y="4140"/>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93" name="Freeform 91"/>
            <p:cNvSpPr>
              <a:spLocks/>
            </p:cNvSpPr>
            <p:nvPr/>
          </p:nvSpPr>
          <p:spPr bwMode="auto">
            <a:xfrm>
              <a:off x="2459" y="4152"/>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94" name="Freeform 92"/>
            <p:cNvSpPr>
              <a:spLocks/>
            </p:cNvSpPr>
            <p:nvPr/>
          </p:nvSpPr>
          <p:spPr bwMode="auto">
            <a:xfrm>
              <a:off x="2459" y="4165"/>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95" name="Freeform 93"/>
            <p:cNvSpPr>
              <a:spLocks/>
            </p:cNvSpPr>
            <p:nvPr/>
          </p:nvSpPr>
          <p:spPr bwMode="auto">
            <a:xfrm>
              <a:off x="4244" y="3302"/>
              <a:ext cx="8" cy="6"/>
            </a:xfrm>
            <a:custGeom>
              <a:avLst/>
              <a:gdLst>
                <a:gd name="T0" fmla="*/ 8 w 8"/>
                <a:gd name="T1" fmla="*/ 7 h 9"/>
                <a:gd name="T2" fmla="*/ 8 w 8"/>
                <a:gd name="T3" fmla="*/ 4 h 9"/>
                <a:gd name="T4" fmla="*/ 6 w 8"/>
                <a:gd name="T5" fmla="*/ 2 h 9"/>
                <a:gd name="T6" fmla="*/ 4 w 8"/>
                <a:gd name="T7" fmla="*/ 0 h 9"/>
                <a:gd name="T8" fmla="*/ 4 w 8"/>
                <a:gd name="T9" fmla="*/ 0 h 9"/>
                <a:gd name="T10" fmla="*/ 2 w 8"/>
                <a:gd name="T11" fmla="*/ 2 h 9"/>
                <a:gd name="T12" fmla="*/ 0 w 8"/>
                <a:gd name="T13" fmla="*/ 4 h 9"/>
                <a:gd name="T14" fmla="*/ 0 w 8"/>
                <a:gd name="T15" fmla="*/ 4 h 9"/>
                <a:gd name="T16" fmla="*/ 0 w 8"/>
                <a:gd name="T17" fmla="*/ 4 h 9"/>
                <a:gd name="T18" fmla="*/ 2 w 8"/>
                <a:gd name="T19" fmla="*/ 7 h 9"/>
                <a:gd name="T20" fmla="*/ 4 w 8"/>
                <a:gd name="T21" fmla="*/ 9 h 9"/>
                <a:gd name="T22" fmla="*/ 4 w 8"/>
                <a:gd name="T23" fmla="*/ 9 h 9"/>
                <a:gd name="T24" fmla="*/ 6 w 8"/>
                <a:gd name="T25" fmla="*/ 7 h 9"/>
                <a:gd name="T26" fmla="*/ 8 w 8"/>
                <a:gd name="T27" fmla="*/ 7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 h="9">
                  <a:moveTo>
                    <a:pt x="8" y="7"/>
                  </a:moveTo>
                  <a:lnTo>
                    <a:pt x="8" y="4"/>
                  </a:lnTo>
                  <a:lnTo>
                    <a:pt x="6" y="2"/>
                  </a:lnTo>
                  <a:lnTo>
                    <a:pt x="4" y="0"/>
                  </a:lnTo>
                  <a:lnTo>
                    <a:pt x="4" y="0"/>
                  </a:lnTo>
                  <a:lnTo>
                    <a:pt x="2" y="2"/>
                  </a:lnTo>
                  <a:lnTo>
                    <a:pt x="0" y="4"/>
                  </a:lnTo>
                  <a:lnTo>
                    <a:pt x="0" y="4"/>
                  </a:lnTo>
                  <a:lnTo>
                    <a:pt x="0" y="4"/>
                  </a:lnTo>
                  <a:lnTo>
                    <a:pt x="2" y="7"/>
                  </a:lnTo>
                  <a:lnTo>
                    <a:pt x="4" y="9"/>
                  </a:lnTo>
                  <a:lnTo>
                    <a:pt x="4" y="9"/>
                  </a:lnTo>
                  <a:lnTo>
                    <a:pt x="6" y="7"/>
                  </a:lnTo>
                  <a:lnTo>
                    <a:pt x="8"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96" name="Freeform 94"/>
            <p:cNvSpPr>
              <a:spLocks/>
            </p:cNvSpPr>
            <p:nvPr/>
          </p:nvSpPr>
          <p:spPr bwMode="auto">
            <a:xfrm>
              <a:off x="4244" y="3315"/>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97" name="Freeform 95"/>
            <p:cNvSpPr>
              <a:spLocks/>
            </p:cNvSpPr>
            <p:nvPr/>
          </p:nvSpPr>
          <p:spPr bwMode="auto">
            <a:xfrm>
              <a:off x="4244" y="3328"/>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98" name="Freeform 96"/>
            <p:cNvSpPr>
              <a:spLocks/>
            </p:cNvSpPr>
            <p:nvPr/>
          </p:nvSpPr>
          <p:spPr bwMode="auto">
            <a:xfrm>
              <a:off x="4244" y="3340"/>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99" name="Freeform 97"/>
            <p:cNvSpPr>
              <a:spLocks/>
            </p:cNvSpPr>
            <p:nvPr/>
          </p:nvSpPr>
          <p:spPr bwMode="auto">
            <a:xfrm>
              <a:off x="4244" y="3353"/>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00" name="Freeform 98"/>
            <p:cNvSpPr>
              <a:spLocks/>
            </p:cNvSpPr>
            <p:nvPr/>
          </p:nvSpPr>
          <p:spPr bwMode="auto">
            <a:xfrm>
              <a:off x="4244" y="3365"/>
              <a:ext cx="8" cy="7"/>
            </a:xfrm>
            <a:custGeom>
              <a:avLst/>
              <a:gdLst>
                <a:gd name="T0" fmla="*/ 8 w 8"/>
                <a:gd name="T1" fmla="*/ 5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5 h 9"/>
                <a:gd name="T16" fmla="*/ 0 w 8"/>
                <a:gd name="T17" fmla="*/ 5 h 9"/>
                <a:gd name="T18" fmla="*/ 2 w 8"/>
                <a:gd name="T19" fmla="*/ 7 h 9"/>
                <a:gd name="T20" fmla="*/ 4 w 8"/>
                <a:gd name="T21" fmla="*/ 9 h 9"/>
                <a:gd name="T22" fmla="*/ 4 w 8"/>
                <a:gd name="T23" fmla="*/ 9 h 9"/>
                <a:gd name="T24" fmla="*/ 6 w 8"/>
                <a:gd name="T25" fmla="*/ 7 h 9"/>
                <a:gd name="T26" fmla="*/ 8 w 8"/>
                <a:gd name="T27" fmla="*/ 7 h 9"/>
                <a:gd name="T28" fmla="*/ 8 w 8"/>
                <a:gd name="T2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5"/>
                  </a:moveTo>
                  <a:lnTo>
                    <a:pt x="8" y="2"/>
                  </a:lnTo>
                  <a:lnTo>
                    <a:pt x="8" y="0"/>
                  </a:lnTo>
                  <a:lnTo>
                    <a:pt x="6" y="0"/>
                  </a:lnTo>
                  <a:lnTo>
                    <a:pt x="4" y="0"/>
                  </a:lnTo>
                  <a:lnTo>
                    <a:pt x="2" y="0"/>
                  </a:lnTo>
                  <a:lnTo>
                    <a:pt x="0" y="2"/>
                  </a:lnTo>
                  <a:lnTo>
                    <a:pt x="0" y="5"/>
                  </a:lnTo>
                  <a:lnTo>
                    <a:pt x="0" y="5"/>
                  </a:lnTo>
                  <a:lnTo>
                    <a:pt x="2" y="7"/>
                  </a:lnTo>
                  <a:lnTo>
                    <a:pt x="4" y="9"/>
                  </a:lnTo>
                  <a:lnTo>
                    <a:pt x="4" y="9"/>
                  </a:lnTo>
                  <a:lnTo>
                    <a:pt x="6" y="7"/>
                  </a:lnTo>
                  <a:lnTo>
                    <a:pt x="8" y="7"/>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01" name="Freeform 99"/>
            <p:cNvSpPr>
              <a:spLocks/>
            </p:cNvSpPr>
            <p:nvPr/>
          </p:nvSpPr>
          <p:spPr bwMode="auto">
            <a:xfrm>
              <a:off x="4244" y="3378"/>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02" name="Freeform 100"/>
            <p:cNvSpPr>
              <a:spLocks/>
            </p:cNvSpPr>
            <p:nvPr/>
          </p:nvSpPr>
          <p:spPr bwMode="auto">
            <a:xfrm>
              <a:off x="4244" y="3391"/>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03" name="Freeform 101"/>
            <p:cNvSpPr>
              <a:spLocks/>
            </p:cNvSpPr>
            <p:nvPr/>
          </p:nvSpPr>
          <p:spPr bwMode="auto">
            <a:xfrm>
              <a:off x="4244" y="3403"/>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04" name="Freeform 102"/>
            <p:cNvSpPr>
              <a:spLocks/>
            </p:cNvSpPr>
            <p:nvPr/>
          </p:nvSpPr>
          <p:spPr bwMode="auto">
            <a:xfrm>
              <a:off x="4244" y="3416"/>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05" name="Freeform 103"/>
            <p:cNvSpPr>
              <a:spLocks/>
            </p:cNvSpPr>
            <p:nvPr/>
          </p:nvSpPr>
          <p:spPr bwMode="auto">
            <a:xfrm>
              <a:off x="4244" y="3428"/>
              <a:ext cx="8" cy="7"/>
            </a:xfrm>
            <a:custGeom>
              <a:avLst/>
              <a:gdLst>
                <a:gd name="T0" fmla="*/ 8 w 8"/>
                <a:gd name="T1" fmla="*/ 5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5 h 9"/>
                <a:gd name="T16" fmla="*/ 0 w 8"/>
                <a:gd name="T17" fmla="*/ 5 h 9"/>
                <a:gd name="T18" fmla="*/ 2 w 8"/>
                <a:gd name="T19" fmla="*/ 7 h 9"/>
                <a:gd name="T20" fmla="*/ 4 w 8"/>
                <a:gd name="T21" fmla="*/ 9 h 9"/>
                <a:gd name="T22" fmla="*/ 4 w 8"/>
                <a:gd name="T23" fmla="*/ 9 h 9"/>
                <a:gd name="T24" fmla="*/ 6 w 8"/>
                <a:gd name="T25" fmla="*/ 7 h 9"/>
                <a:gd name="T26" fmla="*/ 8 w 8"/>
                <a:gd name="T27" fmla="*/ 7 h 9"/>
                <a:gd name="T28" fmla="*/ 8 w 8"/>
                <a:gd name="T2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5"/>
                  </a:moveTo>
                  <a:lnTo>
                    <a:pt x="8" y="2"/>
                  </a:lnTo>
                  <a:lnTo>
                    <a:pt x="8" y="0"/>
                  </a:lnTo>
                  <a:lnTo>
                    <a:pt x="6" y="0"/>
                  </a:lnTo>
                  <a:lnTo>
                    <a:pt x="4" y="0"/>
                  </a:lnTo>
                  <a:lnTo>
                    <a:pt x="2" y="0"/>
                  </a:lnTo>
                  <a:lnTo>
                    <a:pt x="0" y="2"/>
                  </a:lnTo>
                  <a:lnTo>
                    <a:pt x="0" y="5"/>
                  </a:lnTo>
                  <a:lnTo>
                    <a:pt x="0" y="5"/>
                  </a:lnTo>
                  <a:lnTo>
                    <a:pt x="2" y="7"/>
                  </a:lnTo>
                  <a:lnTo>
                    <a:pt x="4" y="9"/>
                  </a:lnTo>
                  <a:lnTo>
                    <a:pt x="4" y="9"/>
                  </a:lnTo>
                  <a:lnTo>
                    <a:pt x="6" y="7"/>
                  </a:lnTo>
                  <a:lnTo>
                    <a:pt x="8" y="7"/>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06" name="Freeform 104"/>
            <p:cNvSpPr>
              <a:spLocks/>
            </p:cNvSpPr>
            <p:nvPr/>
          </p:nvSpPr>
          <p:spPr bwMode="auto">
            <a:xfrm>
              <a:off x="4244" y="3441"/>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07" name="Freeform 105"/>
            <p:cNvSpPr>
              <a:spLocks/>
            </p:cNvSpPr>
            <p:nvPr/>
          </p:nvSpPr>
          <p:spPr bwMode="auto">
            <a:xfrm>
              <a:off x="4244" y="3454"/>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08" name="Freeform 106"/>
            <p:cNvSpPr>
              <a:spLocks/>
            </p:cNvSpPr>
            <p:nvPr/>
          </p:nvSpPr>
          <p:spPr bwMode="auto">
            <a:xfrm>
              <a:off x="4244" y="3467"/>
              <a:ext cx="8" cy="6"/>
            </a:xfrm>
            <a:custGeom>
              <a:avLst/>
              <a:gdLst>
                <a:gd name="T0" fmla="*/ 8 w 8"/>
                <a:gd name="T1" fmla="*/ 4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4 h 9"/>
                <a:gd name="T16" fmla="*/ 0 w 8"/>
                <a:gd name="T17" fmla="*/ 4 h 9"/>
                <a:gd name="T18" fmla="*/ 2 w 8"/>
                <a:gd name="T19" fmla="*/ 6 h 9"/>
                <a:gd name="T20" fmla="*/ 4 w 8"/>
                <a:gd name="T21" fmla="*/ 9 h 9"/>
                <a:gd name="T22" fmla="*/ 4 w 8"/>
                <a:gd name="T23" fmla="*/ 9 h 9"/>
                <a:gd name="T24" fmla="*/ 6 w 8"/>
                <a:gd name="T25" fmla="*/ 6 h 9"/>
                <a:gd name="T26" fmla="*/ 8 w 8"/>
                <a:gd name="T27" fmla="*/ 6 h 9"/>
                <a:gd name="T28" fmla="*/ 8 w 8"/>
                <a:gd name="T2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4"/>
                  </a:moveTo>
                  <a:lnTo>
                    <a:pt x="8" y="2"/>
                  </a:lnTo>
                  <a:lnTo>
                    <a:pt x="8" y="0"/>
                  </a:lnTo>
                  <a:lnTo>
                    <a:pt x="6" y="0"/>
                  </a:lnTo>
                  <a:lnTo>
                    <a:pt x="4" y="0"/>
                  </a:lnTo>
                  <a:lnTo>
                    <a:pt x="2" y="0"/>
                  </a:lnTo>
                  <a:lnTo>
                    <a:pt x="0" y="2"/>
                  </a:lnTo>
                  <a:lnTo>
                    <a:pt x="0" y="4"/>
                  </a:lnTo>
                  <a:lnTo>
                    <a:pt x="0" y="4"/>
                  </a:lnTo>
                  <a:lnTo>
                    <a:pt x="2" y="6"/>
                  </a:lnTo>
                  <a:lnTo>
                    <a:pt x="4" y="9"/>
                  </a:lnTo>
                  <a:lnTo>
                    <a:pt x="4" y="9"/>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09" name="Freeform 107"/>
            <p:cNvSpPr>
              <a:spLocks/>
            </p:cNvSpPr>
            <p:nvPr/>
          </p:nvSpPr>
          <p:spPr bwMode="auto">
            <a:xfrm>
              <a:off x="4244" y="3480"/>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10" name="Freeform 108"/>
            <p:cNvSpPr>
              <a:spLocks/>
            </p:cNvSpPr>
            <p:nvPr/>
          </p:nvSpPr>
          <p:spPr bwMode="auto">
            <a:xfrm>
              <a:off x="4244" y="3492"/>
              <a:ext cx="8" cy="7"/>
            </a:xfrm>
            <a:custGeom>
              <a:avLst/>
              <a:gdLst>
                <a:gd name="T0" fmla="*/ 8 w 8"/>
                <a:gd name="T1" fmla="*/ 5 h 9"/>
                <a:gd name="T2" fmla="*/ 8 w 8"/>
                <a:gd name="T3" fmla="*/ 3 h 9"/>
                <a:gd name="T4" fmla="*/ 8 w 8"/>
                <a:gd name="T5" fmla="*/ 0 h 9"/>
                <a:gd name="T6" fmla="*/ 6 w 8"/>
                <a:gd name="T7" fmla="*/ 0 h 9"/>
                <a:gd name="T8" fmla="*/ 4 w 8"/>
                <a:gd name="T9" fmla="*/ 0 h 9"/>
                <a:gd name="T10" fmla="*/ 2 w 8"/>
                <a:gd name="T11" fmla="*/ 0 h 9"/>
                <a:gd name="T12" fmla="*/ 0 w 8"/>
                <a:gd name="T13" fmla="*/ 3 h 9"/>
                <a:gd name="T14" fmla="*/ 0 w 8"/>
                <a:gd name="T15" fmla="*/ 5 h 9"/>
                <a:gd name="T16" fmla="*/ 0 w 8"/>
                <a:gd name="T17" fmla="*/ 5 h 9"/>
                <a:gd name="T18" fmla="*/ 2 w 8"/>
                <a:gd name="T19" fmla="*/ 7 h 9"/>
                <a:gd name="T20" fmla="*/ 4 w 8"/>
                <a:gd name="T21" fmla="*/ 9 h 9"/>
                <a:gd name="T22" fmla="*/ 4 w 8"/>
                <a:gd name="T23" fmla="*/ 9 h 9"/>
                <a:gd name="T24" fmla="*/ 6 w 8"/>
                <a:gd name="T25" fmla="*/ 7 h 9"/>
                <a:gd name="T26" fmla="*/ 8 w 8"/>
                <a:gd name="T27" fmla="*/ 7 h 9"/>
                <a:gd name="T28" fmla="*/ 8 w 8"/>
                <a:gd name="T2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5"/>
                  </a:moveTo>
                  <a:lnTo>
                    <a:pt x="8" y="3"/>
                  </a:lnTo>
                  <a:lnTo>
                    <a:pt x="8" y="0"/>
                  </a:lnTo>
                  <a:lnTo>
                    <a:pt x="6" y="0"/>
                  </a:lnTo>
                  <a:lnTo>
                    <a:pt x="4" y="0"/>
                  </a:lnTo>
                  <a:lnTo>
                    <a:pt x="2" y="0"/>
                  </a:lnTo>
                  <a:lnTo>
                    <a:pt x="0" y="3"/>
                  </a:lnTo>
                  <a:lnTo>
                    <a:pt x="0" y="5"/>
                  </a:lnTo>
                  <a:lnTo>
                    <a:pt x="0" y="5"/>
                  </a:lnTo>
                  <a:lnTo>
                    <a:pt x="2" y="7"/>
                  </a:lnTo>
                  <a:lnTo>
                    <a:pt x="4" y="9"/>
                  </a:lnTo>
                  <a:lnTo>
                    <a:pt x="4" y="9"/>
                  </a:lnTo>
                  <a:lnTo>
                    <a:pt x="6" y="7"/>
                  </a:lnTo>
                  <a:lnTo>
                    <a:pt x="8" y="7"/>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11" name="Freeform 109"/>
            <p:cNvSpPr>
              <a:spLocks/>
            </p:cNvSpPr>
            <p:nvPr/>
          </p:nvSpPr>
          <p:spPr bwMode="auto">
            <a:xfrm>
              <a:off x="4244" y="3505"/>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12" name="Freeform 110"/>
            <p:cNvSpPr>
              <a:spLocks/>
            </p:cNvSpPr>
            <p:nvPr/>
          </p:nvSpPr>
          <p:spPr bwMode="auto">
            <a:xfrm>
              <a:off x="4244" y="3518"/>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13" name="Freeform 111"/>
            <p:cNvSpPr>
              <a:spLocks/>
            </p:cNvSpPr>
            <p:nvPr/>
          </p:nvSpPr>
          <p:spPr bwMode="auto">
            <a:xfrm>
              <a:off x="4244" y="3530"/>
              <a:ext cx="8" cy="7"/>
            </a:xfrm>
            <a:custGeom>
              <a:avLst/>
              <a:gdLst>
                <a:gd name="T0" fmla="*/ 8 w 8"/>
                <a:gd name="T1" fmla="*/ 4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4 h 9"/>
                <a:gd name="T16" fmla="*/ 0 w 8"/>
                <a:gd name="T17" fmla="*/ 4 h 9"/>
                <a:gd name="T18" fmla="*/ 2 w 8"/>
                <a:gd name="T19" fmla="*/ 7 h 9"/>
                <a:gd name="T20" fmla="*/ 4 w 8"/>
                <a:gd name="T21" fmla="*/ 9 h 9"/>
                <a:gd name="T22" fmla="*/ 4 w 8"/>
                <a:gd name="T23" fmla="*/ 9 h 9"/>
                <a:gd name="T24" fmla="*/ 6 w 8"/>
                <a:gd name="T25" fmla="*/ 7 h 9"/>
                <a:gd name="T26" fmla="*/ 8 w 8"/>
                <a:gd name="T27" fmla="*/ 7 h 9"/>
                <a:gd name="T28" fmla="*/ 8 w 8"/>
                <a:gd name="T2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4"/>
                  </a:moveTo>
                  <a:lnTo>
                    <a:pt x="8" y="2"/>
                  </a:lnTo>
                  <a:lnTo>
                    <a:pt x="8" y="0"/>
                  </a:lnTo>
                  <a:lnTo>
                    <a:pt x="6" y="0"/>
                  </a:lnTo>
                  <a:lnTo>
                    <a:pt x="4" y="0"/>
                  </a:lnTo>
                  <a:lnTo>
                    <a:pt x="2" y="0"/>
                  </a:lnTo>
                  <a:lnTo>
                    <a:pt x="0" y="2"/>
                  </a:lnTo>
                  <a:lnTo>
                    <a:pt x="0" y="4"/>
                  </a:lnTo>
                  <a:lnTo>
                    <a:pt x="0" y="4"/>
                  </a:lnTo>
                  <a:lnTo>
                    <a:pt x="2" y="7"/>
                  </a:lnTo>
                  <a:lnTo>
                    <a:pt x="4" y="9"/>
                  </a:lnTo>
                  <a:lnTo>
                    <a:pt x="4" y="9"/>
                  </a:lnTo>
                  <a:lnTo>
                    <a:pt x="6" y="7"/>
                  </a:lnTo>
                  <a:lnTo>
                    <a:pt x="8" y="7"/>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14" name="Freeform 112"/>
            <p:cNvSpPr>
              <a:spLocks/>
            </p:cNvSpPr>
            <p:nvPr/>
          </p:nvSpPr>
          <p:spPr bwMode="auto">
            <a:xfrm>
              <a:off x="4244" y="3543"/>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15" name="Freeform 113"/>
            <p:cNvSpPr>
              <a:spLocks/>
            </p:cNvSpPr>
            <p:nvPr/>
          </p:nvSpPr>
          <p:spPr bwMode="auto">
            <a:xfrm>
              <a:off x="4244" y="3555"/>
              <a:ext cx="8" cy="7"/>
            </a:xfrm>
            <a:custGeom>
              <a:avLst/>
              <a:gdLst>
                <a:gd name="T0" fmla="*/ 8 w 8"/>
                <a:gd name="T1" fmla="*/ 5 h 9"/>
                <a:gd name="T2" fmla="*/ 8 w 8"/>
                <a:gd name="T3" fmla="*/ 3 h 9"/>
                <a:gd name="T4" fmla="*/ 8 w 8"/>
                <a:gd name="T5" fmla="*/ 0 h 9"/>
                <a:gd name="T6" fmla="*/ 6 w 8"/>
                <a:gd name="T7" fmla="*/ 0 h 9"/>
                <a:gd name="T8" fmla="*/ 4 w 8"/>
                <a:gd name="T9" fmla="*/ 0 h 9"/>
                <a:gd name="T10" fmla="*/ 2 w 8"/>
                <a:gd name="T11" fmla="*/ 0 h 9"/>
                <a:gd name="T12" fmla="*/ 0 w 8"/>
                <a:gd name="T13" fmla="*/ 3 h 9"/>
                <a:gd name="T14" fmla="*/ 0 w 8"/>
                <a:gd name="T15" fmla="*/ 5 h 9"/>
                <a:gd name="T16" fmla="*/ 0 w 8"/>
                <a:gd name="T17" fmla="*/ 5 h 9"/>
                <a:gd name="T18" fmla="*/ 2 w 8"/>
                <a:gd name="T19" fmla="*/ 7 h 9"/>
                <a:gd name="T20" fmla="*/ 4 w 8"/>
                <a:gd name="T21" fmla="*/ 9 h 9"/>
                <a:gd name="T22" fmla="*/ 4 w 8"/>
                <a:gd name="T23" fmla="*/ 9 h 9"/>
                <a:gd name="T24" fmla="*/ 6 w 8"/>
                <a:gd name="T25" fmla="*/ 7 h 9"/>
                <a:gd name="T26" fmla="*/ 8 w 8"/>
                <a:gd name="T27" fmla="*/ 7 h 9"/>
                <a:gd name="T28" fmla="*/ 8 w 8"/>
                <a:gd name="T2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5"/>
                  </a:moveTo>
                  <a:lnTo>
                    <a:pt x="8" y="3"/>
                  </a:lnTo>
                  <a:lnTo>
                    <a:pt x="8" y="0"/>
                  </a:lnTo>
                  <a:lnTo>
                    <a:pt x="6" y="0"/>
                  </a:lnTo>
                  <a:lnTo>
                    <a:pt x="4" y="0"/>
                  </a:lnTo>
                  <a:lnTo>
                    <a:pt x="2" y="0"/>
                  </a:lnTo>
                  <a:lnTo>
                    <a:pt x="0" y="3"/>
                  </a:lnTo>
                  <a:lnTo>
                    <a:pt x="0" y="5"/>
                  </a:lnTo>
                  <a:lnTo>
                    <a:pt x="0" y="5"/>
                  </a:lnTo>
                  <a:lnTo>
                    <a:pt x="2" y="7"/>
                  </a:lnTo>
                  <a:lnTo>
                    <a:pt x="4" y="9"/>
                  </a:lnTo>
                  <a:lnTo>
                    <a:pt x="4" y="9"/>
                  </a:lnTo>
                  <a:lnTo>
                    <a:pt x="6" y="7"/>
                  </a:lnTo>
                  <a:lnTo>
                    <a:pt x="8" y="7"/>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16" name="Freeform 114"/>
            <p:cNvSpPr>
              <a:spLocks/>
            </p:cNvSpPr>
            <p:nvPr/>
          </p:nvSpPr>
          <p:spPr bwMode="auto">
            <a:xfrm>
              <a:off x="4244" y="3568"/>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17" name="Freeform 115"/>
            <p:cNvSpPr>
              <a:spLocks/>
            </p:cNvSpPr>
            <p:nvPr/>
          </p:nvSpPr>
          <p:spPr bwMode="auto">
            <a:xfrm>
              <a:off x="4244" y="3581"/>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18" name="Freeform 116"/>
            <p:cNvSpPr>
              <a:spLocks/>
            </p:cNvSpPr>
            <p:nvPr/>
          </p:nvSpPr>
          <p:spPr bwMode="auto">
            <a:xfrm>
              <a:off x="4244" y="3593"/>
              <a:ext cx="8" cy="7"/>
            </a:xfrm>
            <a:custGeom>
              <a:avLst/>
              <a:gdLst>
                <a:gd name="T0" fmla="*/ 8 w 8"/>
                <a:gd name="T1" fmla="*/ 4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4 h 9"/>
                <a:gd name="T16" fmla="*/ 0 w 8"/>
                <a:gd name="T17" fmla="*/ 4 h 9"/>
                <a:gd name="T18" fmla="*/ 2 w 8"/>
                <a:gd name="T19" fmla="*/ 7 h 9"/>
                <a:gd name="T20" fmla="*/ 4 w 8"/>
                <a:gd name="T21" fmla="*/ 9 h 9"/>
                <a:gd name="T22" fmla="*/ 4 w 8"/>
                <a:gd name="T23" fmla="*/ 9 h 9"/>
                <a:gd name="T24" fmla="*/ 6 w 8"/>
                <a:gd name="T25" fmla="*/ 7 h 9"/>
                <a:gd name="T26" fmla="*/ 8 w 8"/>
                <a:gd name="T27" fmla="*/ 7 h 9"/>
                <a:gd name="T28" fmla="*/ 8 w 8"/>
                <a:gd name="T2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4"/>
                  </a:moveTo>
                  <a:lnTo>
                    <a:pt x="8" y="2"/>
                  </a:lnTo>
                  <a:lnTo>
                    <a:pt x="8" y="0"/>
                  </a:lnTo>
                  <a:lnTo>
                    <a:pt x="6" y="0"/>
                  </a:lnTo>
                  <a:lnTo>
                    <a:pt x="4" y="0"/>
                  </a:lnTo>
                  <a:lnTo>
                    <a:pt x="2" y="0"/>
                  </a:lnTo>
                  <a:lnTo>
                    <a:pt x="0" y="2"/>
                  </a:lnTo>
                  <a:lnTo>
                    <a:pt x="0" y="4"/>
                  </a:lnTo>
                  <a:lnTo>
                    <a:pt x="0" y="4"/>
                  </a:lnTo>
                  <a:lnTo>
                    <a:pt x="2" y="7"/>
                  </a:lnTo>
                  <a:lnTo>
                    <a:pt x="4" y="9"/>
                  </a:lnTo>
                  <a:lnTo>
                    <a:pt x="4" y="9"/>
                  </a:lnTo>
                  <a:lnTo>
                    <a:pt x="6" y="7"/>
                  </a:lnTo>
                  <a:lnTo>
                    <a:pt x="8" y="7"/>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19" name="Freeform 117"/>
            <p:cNvSpPr>
              <a:spLocks/>
            </p:cNvSpPr>
            <p:nvPr/>
          </p:nvSpPr>
          <p:spPr bwMode="auto">
            <a:xfrm>
              <a:off x="4244" y="3606"/>
              <a:ext cx="8" cy="7"/>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20" name="Freeform 118"/>
            <p:cNvSpPr>
              <a:spLocks/>
            </p:cNvSpPr>
            <p:nvPr/>
          </p:nvSpPr>
          <p:spPr bwMode="auto">
            <a:xfrm>
              <a:off x="4244" y="3619"/>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21" name="Freeform 119"/>
            <p:cNvSpPr>
              <a:spLocks/>
            </p:cNvSpPr>
            <p:nvPr/>
          </p:nvSpPr>
          <p:spPr bwMode="auto">
            <a:xfrm>
              <a:off x="4244" y="3632"/>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22" name="Freeform 120"/>
            <p:cNvSpPr>
              <a:spLocks/>
            </p:cNvSpPr>
            <p:nvPr/>
          </p:nvSpPr>
          <p:spPr bwMode="auto">
            <a:xfrm>
              <a:off x="4244" y="3645"/>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23" name="Freeform 121"/>
            <p:cNvSpPr>
              <a:spLocks/>
            </p:cNvSpPr>
            <p:nvPr/>
          </p:nvSpPr>
          <p:spPr bwMode="auto">
            <a:xfrm>
              <a:off x="4244" y="3657"/>
              <a:ext cx="8" cy="7"/>
            </a:xfrm>
            <a:custGeom>
              <a:avLst/>
              <a:gdLst>
                <a:gd name="T0" fmla="*/ 8 w 8"/>
                <a:gd name="T1" fmla="*/ 5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5 h 9"/>
                <a:gd name="T16" fmla="*/ 0 w 8"/>
                <a:gd name="T17" fmla="*/ 5 h 9"/>
                <a:gd name="T18" fmla="*/ 2 w 8"/>
                <a:gd name="T19" fmla="*/ 7 h 9"/>
                <a:gd name="T20" fmla="*/ 4 w 8"/>
                <a:gd name="T21" fmla="*/ 9 h 9"/>
                <a:gd name="T22" fmla="*/ 4 w 8"/>
                <a:gd name="T23" fmla="*/ 9 h 9"/>
                <a:gd name="T24" fmla="*/ 6 w 8"/>
                <a:gd name="T25" fmla="*/ 7 h 9"/>
                <a:gd name="T26" fmla="*/ 8 w 8"/>
                <a:gd name="T27" fmla="*/ 7 h 9"/>
                <a:gd name="T28" fmla="*/ 8 w 8"/>
                <a:gd name="T2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5"/>
                  </a:moveTo>
                  <a:lnTo>
                    <a:pt x="8" y="2"/>
                  </a:lnTo>
                  <a:lnTo>
                    <a:pt x="8" y="0"/>
                  </a:lnTo>
                  <a:lnTo>
                    <a:pt x="6" y="0"/>
                  </a:lnTo>
                  <a:lnTo>
                    <a:pt x="4" y="0"/>
                  </a:lnTo>
                  <a:lnTo>
                    <a:pt x="2" y="0"/>
                  </a:lnTo>
                  <a:lnTo>
                    <a:pt x="0" y="2"/>
                  </a:lnTo>
                  <a:lnTo>
                    <a:pt x="0" y="5"/>
                  </a:lnTo>
                  <a:lnTo>
                    <a:pt x="0" y="5"/>
                  </a:lnTo>
                  <a:lnTo>
                    <a:pt x="2" y="7"/>
                  </a:lnTo>
                  <a:lnTo>
                    <a:pt x="4" y="9"/>
                  </a:lnTo>
                  <a:lnTo>
                    <a:pt x="4" y="9"/>
                  </a:lnTo>
                  <a:lnTo>
                    <a:pt x="6" y="7"/>
                  </a:lnTo>
                  <a:lnTo>
                    <a:pt x="8" y="7"/>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24" name="Freeform 122"/>
            <p:cNvSpPr>
              <a:spLocks/>
            </p:cNvSpPr>
            <p:nvPr/>
          </p:nvSpPr>
          <p:spPr bwMode="auto">
            <a:xfrm>
              <a:off x="4244" y="3670"/>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25" name="Freeform 123"/>
            <p:cNvSpPr>
              <a:spLocks/>
            </p:cNvSpPr>
            <p:nvPr/>
          </p:nvSpPr>
          <p:spPr bwMode="auto">
            <a:xfrm>
              <a:off x="4244" y="3683"/>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26" name="Freeform 124"/>
            <p:cNvSpPr>
              <a:spLocks/>
            </p:cNvSpPr>
            <p:nvPr/>
          </p:nvSpPr>
          <p:spPr bwMode="auto">
            <a:xfrm>
              <a:off x="4244" y="3695"/>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27" name="Freeform 125"/>
            <p:cNvSpPr>
              <a:spLocks/>
            </p:cNvSpPr>
            <p:nvPr/>
          </p:nvSpPr>
          <p:spPr bwMode="auto">
            <a:xfrm>
              <a:off x="4244" y="3708"/>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28" name="Freeform 126"/>
            <p:cNvSpPr>
              <a:spLocks/>
            </p:cNvSpPr>
            <p:nvPr/>
          </p:nvSpPr>
          <p:spPr bwMode="auto">
            <a:xfrm>
              <a:off x="4244" y="3720"/>
              <a:ext cx="8" cy="7"/>
            </a:xfrm>
            <a:custGeom>
              <a:avLst/>
              <a:gdLst>
                <a:gd name="T0" fmla="*/ 8 w 8"/>
                <a:gd name="T1" fmla="*/ 5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5 h 9"/>
                <a:gd name="T16" fmla="*/ 0 w 8"/>
                <a:gd name="T17" fmla="*/ 5 h 9"/>
                <a:gd name="T18" fmla="*/ 2 w 8"/>
                <a:gd name="T19" fmla="*/ 7 h 9"/>
                <a:gd name="T20" fmla="*/ 4 w 8"/>
                <a:gd name="T21" fmla="*/ 9 h 9"/>
                <a:gd name="T22" fmla="*/ 4 w 8"/>
                <a:gd name="T23" fmla="*/ 9 h 9"/>
                <a:gd name="T24" fmla="*/ 6 w 8"/>
                <a:gd name="T25" fmla="*/ 7 h 9"/>
                <a:gd name="T26" fmla="*/ 8 w 8"/>
                <a:gd name="T27" fmla="*/ 7 h 9"/>
                <a:gd name="T28" fmla="*/ 8 w 8"/>
                <a:gd name="T2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5"/>
                  </a:moveTo>
                  <a:lnTo>
                    <a:pt x="8" y="2"/>
                  </a:lnTo>
                  <a:lnTo>
                    <a:pt x="8" y="0"/>
                  </a:lnTo>
                  <a:lnTo>
                    <a:pt x="6" y="0"/>
                  </a:lnTo>
                  <a:lnTo>
                    <a:pt x="4" y="0"/>
                  </a:lnTo>
                  <a:lnTo>
                    <a:pt x="2" y="0"/>
                  </a:lnTo>
                  <a:lnTo>
                    <a:pt x="0" y="2"/>
                  </a:lnTo>
                  <a:lnTo>
                    <a:pt x="0" y="5"/>
                  </a:lnTo>
                  <a:lnTo>
                    <a:pt x="0" y="5"/>
                  </a:lnTo>
                  <a:lnTo>
                    <a:pt x="2" y="7"/>
                  </a:lnTo>
                  <a:lnTo>
                    <a:pt x="4" y="9"/>
                  </a:lnTo>
                  <a:lnTo>
                    <a:pt x="4" y="9"/>
                  </a:lnTo>
                  <a:lnTo>
                    <a:pt x="6" y="7"/>
                  </a:lnTo>
                  <a:lnTo>
                    <a:pt x="8" y="7"/>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29" name="Freeform 127"/>
            <p:cNvSpPr>
              <a:spLocks/>
            </p:cNvSpPr>
            <p:nvPr/>
          </p:nvSpPr>
          <p:spPr bwMode="auto">
            <a:xfrm>
              <a:off x="4244" y="3733"/>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30" name="Freeform 128"/>
            <p:cNvSpPr>
              <a:spLocks/>
            </p:cNvSpPr>
            <p:nvPr/>
          </p:nvSpPr>
          <p:spPr bwMode="auto">
            <a:xfrm>
              <a:off x="4244" y="3746"/>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31" name="Freeform 129"/>
            <p:cNvSpPr>
              <a:spLocks/>
            </p:cNvSpPr>
            <p:nvPr/>
          </p:nvSpPr>
          <p:spPr bwMode="auto">
            <a:xfrm>
              <a:off x="4244" y="3758"/>
              <a:ext cx="8" cy="7"/>
            </a:xfrm>
            <a:custGeom>
              <a:avLst/>
              <a:gdLst>
                <a:gd name="T0" fmla="*/ 8 w 8"/>
                <a:gd name="T1" fmla="*/ 4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4 h 9"/>
                <a:gd name="T16" fmla="*/ 0 w 8"/>
                <a:gd name="T17" fmla="*/ 4 h 9"/>
                <a:gd name="T18" fmla="*/ 2 w 8"/>
                <a:gd name="T19" fmla="*/ 6 h 9"/>
                <a:gd name="T20" fmla="*/ 4 w 8"/>
                <a:gd name="T21" fmla="*/ 9 h 9"/>
                <a:gd name="T22" fmla="*/ 4 w 8"/>
                <a:gd name="T23" fmla="*/ 9 h 9"/>
                <a:gd name="T24" fmla="*/ 6 w 8"/>
                <a:gd name="T25" fmla="*/ 6 h 9"/>
                <a:gd name="T26" fmla="*/ 8 w 8"/>
                <a:gd name="T27" fmla="*/ 6 h 9"/>
                <a:gd name="T28" fmla="*/ 8 w 8"/>
                <a:gd name="T2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4"/>
                  </a:moveTo>
                  <a:lnTo>
                    <a:pt x="8" y="2"/>
                  </a:lnTo>
                  <a:lnTo>
                    <a:pt x="8" y="0"/>
                  </a:lnTo>
                  <a:lnTo>
                    <a:pt x="6" y="0"/>
                  </a:lnTo>
                  <a:lnTo>
                    <a:pt x="4" y="0"/>
                  </a:lnTo>
                  <a:lnTo>
                    <a:pt x="2" y="0"/>
                  </a:lnTo>
                  <a:lnTo>
                    <a:pt x="0" y="2"/>
                  </a:lnTo>
                  <a:lnTo>
                    <a:pt x="0" y="4"/>
                  </a:lnTo>
                  <a:lnTo>
                    <a:pt x="0" y="4"/>
                  </a:lnTo>
                  <a:lnTo>
                    <a:pt x="2" y="6"/>
                  </a:lnTo>
                  <a:lnTo>
                    <a:pt x="4" y="9"/>
                  </a:lnTo>
                  <a:lnTo>
                    <a:pt x="4" y="9"/>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32" name="Freeform 130"/>
            <p:cNvSpPr>
              <a:spLocks/>
            </p:cNvSpPr>
            <p:nvPr/>
          </p:nvSpPr>
          <p:spPr bwMode="auto">
            <a:xfrm>
              <a:off x="4244" y="3771"/>
              <a:ext cx="8" cy="7"/>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33" name="Freeform 131"/>
            <p:cNvSpPr>
              <a:spLocks/>
            </p:cNvSpPr>
            <p:nvPr/>
          </p:nvSpPr>
          <p:spPr bwMode="auto">
            <a:xfrm>
              <a:off x="4244" y="3784"/>
              <a:ext cx="8" cy="7"/>
            </a:xfrm>
            <a:custGeom>
              <a:avLst/>
              <a:gdLst>
                <a:gd name="T0" fmla="*/ 8 w 8"/>
                <a:gd name="T1" fmla="*/ 5 h 9"/>
                <a:gd name="T2" fmla="*/ 8 w 8"/>
                <a:gd name="T3" fmla="*/ 3 h 9"/>
                <a:gd name="T4" fmla="*/ 8 w 8"/>
                <a:gd name="T5" fmla="*/ 0 h 9"/>
                <a:gd name="T6" fmla="*/ 6 w 8"/>
                <a:gd name="T7" fmla="*/ 0 h 9"/>
                <a:gd name="T8" fmla="*/ 4 w 8"/>
                <a:gd name="T9" fmla="*/ 0 h 9"/>
                <a:gd name="T10" fmla="*/ 2 w 8"/>
                <a:gd name="T11" fmla="*/ 0 h 9"/>
                <a:gd name="T12" fmla="*/ 0 w 8"/>
                <a:gd name="T13" fmla="*/ 3 h 9"/>
                <a:gd name="T14" fmla="*/ 0 w 8"/>
                <a:gd name="T15" fmla="*/ 5 h 9"/>
                <a:gd name="T16" fmla="*/ 0 w 8"/>
                <a:gd name="T17" fmla="*/ 5 h 9"/>
                <a:gd name="T18" fmla="*/ 2 w 8"/>
                <a:gd name="T19" fmla="*/ 7 h 9"/>
                <a:gd name="T20" fmla="*/ 4 w 8"/>
                <a:gd name="T21" fmla="*/ 9 h 9"/>
                <a:gd name="T22" fmla="*/ 4 w 8"/>
                <a:gd name="T23" fmla="*/ 9 h 9"/>
                <a:gd name="T24" fmla="*/ 6 w 8"/>
                <a:gd name="T25" fmla="*/ 7 h 9"/>
                <a:gd name="T26" fmla="*/ 8 w 8"/>
                <a:gd name="T27" fmla="*/ 7 h 9"/>
                <a:gd name="T28" fmla="*/ 8 w 8"/>
                <a:gd name="T2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5"/>
                  </a:moveTo>
                  <a:lnTo>
                    <a:pt x="8" y="3"/>
                  </a:lnTo>
                  <a:lnTo>
                    <a:pt x="8" y="0"/>
                  </a:lnTo>
                  <a:lnTo>
                    <a:pt x="6" y="0"/>
                  </a:lnTo>
                  <a:lnTo>
                    <a:pt x="4" y="0"/>
                  </a:lnTo>
                  <a:lnTo>
                    <a:pt x="2" y="0"/>
                  </a:lnTo>
                  <a:lnTo>
                    <a:pt x="0" y="3"/>
                  </a:lnTo>
                  <a:lnTo>
                    <a:pt x="0" y="5"/>
                  </a:lnTo>
                  <a:lnTo>
                    <a:pt x="0" y="5"/>
                  </a:lnTo>
                  <a:lnTo>
                    <a:pt x="2" y="7"/>
                  </a:lnTo>
                  <a:lnTo>
                    <a:pt x="4" y="9"/>
                  </a:lnTo>
                  <a:lnTo>
                    <a:pt x="4" y="9"/>
                  </a:lnTo>
                  <a:lnTo>
                    <a:pt x="6" y="7"/>
                  </a:lnTo>
                  <a:lnTo>
                    <a:pt x="8" y="7"/>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34" name="Freeform 132"/>
            <p:cNvSpPr>
              <a:spLocks/>
            </p:cNvSpPr>
            <p:nvPr/>
          </p:nvSpPr>
          <p:spPr bwMode="auto">
            <a:xfrm>
              <a:off x="4244" y="3797"/>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35" name="Freeform 133"/>
            <p:cNvSpPr>
              <a:spLocks/>
            </p:cNvSpPr>
            <p:nvPr/>
          </p:nvSpPr>
          <p:spPr bwMode="auto">
            <a:xfrm>
              <a:off x="4244" y="3810"/>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36" name="Freeform 134"/>
            <p:cNvSpPr>
              <a:spLocks/>
            </p:cNvSpPr>
            <p:nvPr/>
          </p:nvSpPr>
          <p:spPr bwMode="auto">
            <a:xfrm>
              <a:off x="4244" y="3822"/>
              <a:ext cx="8" cy="7"/>
            </a:xfrm>
            <a:custGeom>
              <a:avLst/>
              <a:gdLst>
                <a:gd name="T0" fmla="*/ 8 w 8"/>
                <a:gd name="T1" fmla="*/ 4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4 h 9"/>
                <a:gd name="T16" fmla="*/ 0 w 8"/>
                <a:gd name="T17" fmla="*/ 4 h 9"/>
                <a:gd name="T18" fmla="*/ 2 w 8"/>
                <a:gd name="T19" fmla="*/ 7 h 9"/>
                <a:gd name="T20" fmla="*/ 4 w 8"/>
                <a:gd name="T21" fmla="*/ 9 h 9"/>
                <a:gd name="T22" fmla="*/ 4 w 8"/>
                <a:gd name="T23" fmla="*/ 9 h 9"/>
                <a:gd name="T24" fmla="*/ 6 w 8"/>
                <a:gd name="T25" fmla="*/ 7 h 9"/>
                <a:gd name="T26" fmla="*/ 8 w 8"/>
                <a:gd name="T27" fmla="*/ 7 h 9"/>
                <a:gd name="T28" fmla="*/ 8 w 8"/>
                <a:gd name="T2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4"/>
                  </a:moveTo>
                  <a:lnTo>
                    <a:pt x="8" y="2"/>
                  </a:lnTo>
                  <a:lnTo>
                    <a:pt x="8" y="0"/>
                  </a:lnTo>
                  <a:lnTo>
                    <a:pt x="6" y="0"/>
                  </a:lnTo>
                  <a:lnTo>
                    <a:pt x="4" y="0"/>
                  </a:lnTo>
                  <a:lnTo>
                    <a:pt x="2" y="0"/>
                  </a:lnTo>
                  <a:lnTo>
                    <a:pt x="0" y="2"/>
                  </a:lnTo>
                  <a:lnTo>
                    <a:pt x="0" y="4"/>
                  </a:lnTo>
                  <a:lnTo>
                    <a:pt x="0" y="4"/>
                  </a:lnTo>
                  <a:lnTo>
                    <a:pt x="2" y="7"/>
                  </a:lnTo>
                  <a:lnTo>
                    <a:pt x="4" y="9"/>
                  </a:lnTo>
                  <a:lnTo>
                    <a:pt x="4" y="9"/>
                  </a:lnTo>
                  <a:lnTo>
                    <a:pt x="6" y="7"/>
                  </a:lnTo>
                  <a:lnTo>
                    <a:pt x="8" y="7"/>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37" name="Freeform 135"/>
            <p:cNvSpPr>
              <a:spLocks/>
            </p:cNvSpPr>
            <p:nvPr/>
          </p:nvSpPr>
          <p:spPr bwMode="auto">
            <a:xfrm>
              <a:off x="4244" y="3835"/>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38" name="Freeform 136"/>
            <p:cNvSpPr>
              <a:spLocks/>
            </p:cNvSpPr>
            <p:nvPr/>
          </p:nvSpPr>
          <p:spPr bwMode="auto">
            <a:xfrm>
              <a:off x="4244" y="3848"/>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39" name="Freeform 137"/>
            <p:cNvSpPr>
              <a:spLocks/>
            </p:cNvSpPr>
            <p:nvPr/>
          </p:nvSpPr>
          <p:spPr bwMode="auto">
            <a:xfrm>
              <a:off x="4244" y="3860"/>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40" name="Freeform 138"/>
            <p:cNvSpPr>
              <a:spLocks/>
            </p:cNvSpPr>
            <p:nvPr/>
          </p:nvSpPr>
          <p:spPr bwMode="auto">
            <a:xfrm>
              <a:off x="4244" y="3873"/>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41" name="Freeform 139"/>
            <p:cNvSpPr>
              <a:spLocks/>
            </p:cNvSpPr>
            <p:nvPr/>
          </p:nvSpPr>
          <p:spPr bwMode="auto">
            <a:xfrm>
              <a:off x="4244" y="3885"/>
              <a:ext cx="8" cy="7"/>
            </a:xfrm>
            <a:custGeom>
              <a:avLst/>
              <a:gdLst>
                <a:gd name="T0" fmla="*/ 8 w 8"/>
                <a:gd name="T1" fmla="*/ 4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4 h 9"/>
                <a:gd name="T16" fmla="*/ 0 w 8"/>
                <a:gd name="T17" fmla="*/ 4 h 9"/>
                <a:gd name="T18" fmla="*/ 2 w 8"/>
                <a:gd name="T19" fmla="*/ 7 h 9"/>
                <a:gd name="T20" fmla="*/ 4 w 8"/>
                <a:gd name="T21" fmla="*/ 9 h 9"/>
                <a:gd name="T22" fmla="*/ 4 w 8"/>
                <a:gd name="T23" fmla="*/ 9 h 9"/>
                <a:gd name="T24" fmla="*/ 6 w 8"/>
                <a:gd name="T25" fmla="*/ 7 h 9"/>
                <a:gd name="T26" fmla="*/ 8 w 8"/>
                <a:gd name="T27" fmla="*/ 7 h 9"/>
                <a:gd name="T28" fmla="*/ 8 w 8"/>
                <a:gd name="T2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4"/>
                  </a:moveTo>
                  <a:lnTo>
                    <a:pt x="8" y="2"/>
                  </a:lnTo>
                  <a:lnTo>
                    <a:pt x="8" y="0"/>
                  </a:lnTo>
                  <a:lnTo>
                    <a:pt x="6" y="0"/>
                  </a:lnTo>
                  <a:lnTo>
                    <a:pt x="4" y="0"/>
                  </a:lnTo>
                  <a:lnTo>
                    <a:pt x="2" y="0"/>
                  </a:lnTo>
                  <a:lnTo>
                    <a:pt x="0" y="2"/>
                  </a:lnTo>
                  <a:lnTo>
                    <a:pt x="0" y="4"/>
                  </a:lnTo>
                  <a:lnTo>
                    <a:pt x="0" y="4"/>
                  </a:lnTo>
                  <a:lnTo>
                    <a:pt x="2" y="7"/>
                  </a:lnTo>
                  <a:lnTo>
                    <a:pt x="4" y="9"/>
                  </a:lnTo>
                  <a:lnTo>
                    <a:pt x="4" y="9"/>
                  </a:lnTo>
                  <a:lnTo>
                    <a:pt x="6" y="7"/>
                  </a:lnTo>
                  <a:lnTo>
                    <a:pt x="8" y="7"/>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42" name="Freeform 140"/>
            <p:cNvSpPr>
              <a:spLocks/>
            </p:cNvSpPr>
            <p:nvPr/>
          </p:nvSpPr>
          <p:spPr bwMode="auto">
            <a:xfrm>
              <a:off x="4244" y="3898"/>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43" name="Freeform 141"/>
            <p:cNvSpPr>
              <a:spLocks/>
            </p:cNvSpPr>
            <p:nvPr/>
          </p:nvSpPr>
          <p:spPr bwMode="auto">
            <a:xfrm>
              <a:off x="4244" y="3911"/>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44" name="Freeform 142"/>
            <p:cNvSpPr>
              <a:spLocks/>
            </p:cNvSpPr>
            <p:nvPr/>
          </p:nvSpPr>
          <p:spPr bwMode="auto">
            <a:xfrm>
              <a:off x="4244" y="3923"/>
              <a:ext cx="8" cy="7"/>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45" name="Freeform 143"/>
            <p:cNvSpPr>
              <a:spLocks/>
            </p:cNvSpPr>
            <p:nvPr/>
          </p:nvSpPr>
          <p:spPr bwMode="auto">
            <a:xfrm>
              <a:off x="4244" y="3936"/>
              <a:ext cx="8" cy="7"/>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46" name="Freeform 144"/>
            <p:cNvSpPr>
              <a:spLocks/>
            </p:cNvSpPr>
            <p:nvPr/>
          </p:nvSpPr>
          <p:spPr bwMode="auto">
            <a:xfrm>
              <a:off x="4244" y="3949"/>
              <a:ext cx="8" cy="7"/>
            </a:xfrm>
            <a:custGeom>
              <a:avLst/>
              <a:gdLst>
                <a:gd name="T0" fmla="*/ 8 w 8"/>
                <a:gd name="T1" fmla="*/ 5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5 h 9"/>
                <a:gd name="T16" fmla="*/ 0 w 8"/>
                <a:gd name="T17" fmla="*/ 5 h 9"/>
                <a:gd name="T18" fmla="*/ 2 w 8"/>
                <a:gd name="T19" fmla="*/ 7 h 9"/>
                <a:gd name="T20" fmla="*/ 4 w 8"/>
                <a:gd name="T21" fmla="*/ 9 h 9"/>
                <a:gd name="T22" fmla="*/ 4 w 8"/>
                <a:gd name="T23" fmla="*/ 9 h 9"/>
                <a:gd name="T24" fmla="*/ 6 w 8"/>
                <a:gd name="T25" fmla="*/ 7 h 9"/>
                <a:gd name="T26" fmla="*/ 8 w 8"/>
                <a:gd name="T27" fmla="*/ 7 h 9"/>
                <a:gd name="T28" fmla="*/ 8 w 8"/>
                <a:gd name="T2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5"/>
                  </a:moveTo>
                  <a:lnTo>
                    <a:pt x="8" y="2"/>
                  </a:lnTo>
                  <a:lnTo>
                    <a:pt x="8" y="0"/>
                  </a:lnTo>
                  <a:lnTo>
                    <a:pt x="6" y="0"/>
                  </a:lnTo>
                  <a:lnTo>
                    <a:pt x="4" y="0"/>
                  </a:lnTo>
                  <a:lnTo>
                    <a:pt x="2" y="0"/>
                  </a:lnTo>
                  <a:lnTo>
                    <a:pt x="0" y="2"/>
                  </a:lnTo>
                  <a:lnTo>
                    <a:pt x="0" y="5"/>
                  </a:lnTo>
                  <a:lnTo>
                    <a:pt x="0" y="5"/>
                  </a:lnTo>
                  <a:lnTo>
                    <a:pt x="2" y="7"/>
                  </a:lnTo>
                  <a:lnTo>
                    <a:pt x="4" y="9"/>
                  </a:lnTo>
                  <a:lnTo>
                    <a:pt x="4" y="9"/>
                  </a:lnTo>
                  <a:lnTo>
                    <a:pt x="6" y="7"/>
                  </a:lnTo>
                  <a:lnTo>
                    <a:pt x="8" y="7"/>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47" name="Freeform 145"/>
            <p:cNvSpPr>
              <a:spLocks/>
            </p:cNvSpPr>
            <p:nvPr/>
          </p:nvSpPr>
          <p:spPr bwMode="auto">
            <a:xfrm>
              <a:off x="4244" y="3962"/>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48" name="Freeform 146"/>
            <p:cNvSpPr>
              <a:spLocks/>
            </p:cNvSpPr>
            <p:nvPr/>
          </p:nvSpPr>
          <p:spPr bwMode="auto">
            <a:xfrm>
              <a:off x="4244" y="3975"/>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49" name="Freeform 147"/>
            <p:cNvSpPr>
              <a:spLocks/>
            </p:cNvSpPr>
            <p:nvPr/>
          </p:nvSpPr>
          <p:spPr bwMode="auto">
            <a:xfrm>
              <a:off x="4244" y="3987"/>
              <a:ext cx="8" cy="7"/>
            </a:xfrm>
            <a:custGeom>
              <a:avLst/>
              <a:gdLst>
                <a:gd name="T0" fmla="*/ 8 w 8"/>
                <a:gd name="T1" fmla="*/ 4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4 h 9"/>
                <a:gd name="T16" fmla="*/ 0 w 8"/>
                <a:gd name="T17" fmla="*/ 4 h 9"/>
                <a:gd name="T18" fmla="*/ 2 w 8"/>
                <a:gd name="T19" fmla="*/ 6 h 9"/>
                <a:gd name="T20" fmla="*/ 4 w 8"/>
                <a:gd name="T21" fmla="*/ 9 h 9"/>
                <a:gd name="T22" fmla="*/ 4 w 8"/>
                <a:gd name="T23" fmla="*/ 9 h 9"/>
                <a:gd name="T24" fmla="*/ 6 w 8"/>
                <a:gd name="T25" fmla="*/ 6 h 9"/>
                <a:gd name="T26" fmla="*/ 8 w 8"/>
                <a:gd name="T27" fmla="*/ 6 h 9"/>
                <a:gd name="T28" fmla="*/ 8 w 8"/>
                <a:gd name="T2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4"/>
                  </a:moveTo>
                  <a:lnTo>
                    <a:pt x="8" y="2"/>
                  </a:lnTo>
                  <a:lnTo>
                    <a:pt x="8" y="0"/>
                  </a:lnTo>
                  <a:lnTo>
                    <a:pt x="6" y="0"/>
                  </a:lnTo>
                  <a:lnTo>
                    <a:pt x="4" y="0"/>
                  </a:lnTo>
                  <a:lnTo>
                    <a:pt x="2" y="0"/>
                  </a:lnTo>
                  <a:lnTo>
                    <a:pt x="0" y="2"/>
                  </a:lnTo>
                  <a:lnTo>
                    <a:pt x="0" y="4"/>
                  </a:lnTo>
                  <a:lnTo>
                    <a:pt x="0" y="4"/>
                  </a:lnTo>
                  <a:lnTo>
                    <a:pt x="2" y="6"/>
                  </a:lnTo>
                  <a:lnTo>
                    <a:pt x="4" y="9"/>
                  </a:lnTo>
                  <a:lnTo>
                    <a:pt x="4" y="9"/>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50" name="Freeform 148"/>
            <p:cNvSpPr>
              <a:spLocks/>
            </p:cNvSpPr>
            <p:nvPr/>
          </p:nvSpPr>
          <p:spPr bwMode="auto">
            <a:xfrm>
              <a:off x="4244" y="4000"/>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51" name="Freeform 149"/>
            <p:cNvSpPr>
              <a:spLocks/>
            </p:cNvSpPr>
            <p:nvPr/>
          </p:nvSpPr>
          <p:spPr bwMode="auto">
            <a:xfrm>
              <a:off x="4244" y="4012"/>
              <a:ext cx="8" cy="7"/>
            </a:xfrm>
            <a:custGeom>
              <a:avLst/>
              <a:gdLst>
                <a:gd name="T0" fmla="*/ 8 w 8"/>
                <a:gd name="T1" fmla="*/ 5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5 h 9"/>
                <a:gd name="T16" fmla="*/ 0 w 8"/>
                <a:gd name="T17" fmla="*/ 5 h 9"/>
                <a:gd name="T18" fmla="*/ 2 w 8"/>
                <a:gd name="T19" fmla="*/ 7 h 9"/>
                <a:gd name="T20" fmla="*/ 4 w 8"/>
                <a:gd name="T21" fmla="*/ 9 h 9"/>
                <a:gd name="T22" fmla="*/ 4 w 8"/>
                <a:gd name="T23" fmla="*/ 9 h 9"/>
                <a:gd name="T24" fmla="*/ 6 w 8"/>
                <a:gd name="T25" fmla="*/ 7 h 9"/>
                <a:gd name="T26" fmla="*/ 8 w 8"/>
                <a:gd name="T27" fmla="*/ 7 h 9"/>
                <a:gd name="T28" fmla="*/ 8 w 8"/>
                <a:gd name="T2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5"/>
                  </a:moveTo>
                  <a:lnTo>
                    <a:pt x="8" y="2"/>
                  </a:lnTo>
                  <a:lnTo>
                    <a:pt x="8" y="0"/>
                  </a:lnTo>
                  <a:lnTo>
                    <a:pt x="6" y="0"/>
                  </a:lnTo>
                  <a:lnTo>
                    <a:pt x="4" y="0"/>
                  </a:lnTo>
                  <a:lnTo>
                    <a:pt x="2" y="0"/>
                  </a:lnTo>
                  <a:lnTo>
                    <a:pt x="0" y="2"/>
                  </a:lnTo>
                  <a:lnTo>
                    <a:pt x="0" y="5"/>
                  </a:lnTo>
                  <a:lnTo>
                    <a:pt x="0" y="5"/>
                  </a:lnTo>
                  <a:lnTo>
                    <a:pt x="2" y="7"/>
                  </a:lnTo>
                  <a:lnTo>
                    <a:pt x="4" y="9"/>
                  </a:lnTo>
                  <a:lnTo>
                    <a:pt x="4" y="9"/>
                  </a:lnTo>
                  <a:lnTo>
                    <a:pt x="6" y="7"/>
                  </a:lnTo>
                  <a:lnTo>
                    <a:pt x="8" y="7"/>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52" name="Freeform 150"/>
            <p:cNvSpPr>
              <a:spLocks/>
            </p:cNvSpPr>
            <p:nvPr/>
          </p:nvSpPr>
          <p:spPr bwMode="auto">
            <a:xfrm>
              <a:off x="4244" y="4025"/>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53" name="Freeform 151"/>
            <p:cNvSpPr>
              <a:spLocks/>
            </p:cNvSpPr>
            <p:nvPr/>
          </p:nvSpPr>
          <p:spPr bwMode="auto">
            <a:xfrm>
              <a:off x="4244" y="4038"/>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54" name="Freeform 152"/>
            <p:cNvSpPr>
              <a:spLocks/>
            </p:cNvSpPr>
            <p:nvPr/>
          </p:nvSpPr>
          <p:spPr bwMode="auto">
            <a:xfrm>
              <a:off x="4244" y="4050"/>
              <a:ext cx="8" cy="7"/>
            </a:xfrm>
            <a:custGeom>
              <a:avLst/>
              <a:gdLst>
                <a:gd name="T0" fmla="*/ 8 w 8"/>
                <a:gd name="T1" fmla="*/ 4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4 h 9"/>
                <a:gd name="T16" fmla="*/ 0 w 8"/>
                <a:gd name="T17" fmla="*/ 4 h 9"/>
                <a:gd name="T18" fmla="*/ 2 w 8"/>
                <a:gd name="T19" fmla="*/ 6 h 9"/>
                <a:gd name="T20" fmla="*/ 4 w 8"/>
                <a:gd name="T21" fmla="*/ 9 h 9"/>
                <a:gd name="T22" fmla="*/ 4 w 8"/>
                <a:gd name="T23" fmla="*/ 9 h 9"/>
                <a:gd name="T24" fmla="*/ 6 w 8"/>
                <a:gd name="T25" fmla="*/ 6 h 9"/>
                <a:gd name="T26" fmla="*/ 8 w 8"/>
                <a:gd name="T27" fmla="*/ 6 h 9"/>
                <a:gd name="T28" fmla="*/ 8 w 8"/>
                <a:gd name="T2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4"/>
                  </a:moveTo>
                  <a:lnTo>
                    <a:pt x="8" y="2"/>
                  </a:lnTo>
                  <a:lnTo>
                    <a:pt x="8" y="0"/>
                  </a:lnTo>
                  <a:lnTo>
                    <a:pt x="6" y="0"/>
                  </a:lnTo>
                  <a:lnTo>
                    <a:pt x="4" y="0"/>
                  </a:lnTo>
                  <a:lnTo>
                    <a:pt x="2" y="0"/>
                  </a:lnTo>
                  <a:lnTo>
                    <a:pt x="0" y="2"/>
                  </a:lnTo>
                  <a:lnTo>
                    <a:pt x="0" y="4"/>
                  </a:lnTo>
                  <a:lnTo>
                    <a:pt x="0" y="4"/>
                  </a:lnTo>
                  <a:lnTo>
                    <a:pt x="2" y="6"/>
                  </a:lnTo>
                  <a:lnTo>
                    <a:pt x="4" y="9"/>
                  </a:lnTo>
                  <a:lnTo>
                    <a:pt x="4" y="9"/>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55" name="Freeform 153"/>
            <p:cNvSpPr>
              <a:spLocks/>
            </p:cNvSpPr>
            <p:nvPr/>
          </p:nvSpPr>
          <p:spPr bwMode="auto">
            <a:xfrm>
              <a:off x="4244" y="4063"/>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56" name="Freeform 154"/>
            <p:cNvSpPr>
              <a:spLocks/>
            </p:cNvSpPr>
            <p:nvPr/>
          </p:nvSpPr>
          <p:spPr bwMode="auto">
            <a:xfrm>
              <a:off x="4244" y="4075"/>
              <a:ext cx="8" cy="7"/>
            </a:xfrm>
            <a:custGeom>
              <a:avLst/>
              <a:gdLst>
                <a:gd name="T0" fmla="*/ 8 w 8"/>
                <a:gd name="T1" fmla="*/ 5 h 9"/>
                <a:gd name="T2" fmla="*/ 8 w 8"/>
                <a:gd name="T3" fmla="*/ 3 h 9"/>
                <a:gd name="T4" fmla="*/ 8 w 8"/>
                <a:gd name="T5" fmla="*/ 0 h 9"/>
                <a:gd name="T6" fmla="*/ 6 w 8"/>
                <a:gd name="T7" fmla="*/ 0 h 9"/>
                <a:gd name="T8" fmla="*/ 4 w 8"/>
                <a:gd name="T9" fmla="*/ 0 h 9"/>
                <a:gd name="T10" fmla="*/ 2 w 8"/>
                <a:gd name="T11" fmla="*/ 0 h 9"/>
                <a:gd name="T12" fmla="*/ 0 w 8"/>
                <a:gd name="T13" fmla="*/ 3 h 9"/>
                <a:gd name="T14" fmla="*/ 0 w 8"/>
                <a:gd name="T15" fmla="*/ 5 h 9"/>
                <a:gd name="T16" fmla="*/ 0 w 8"/>
                <a:gd name="T17" fmla="*/ 5 h 9"/>
                <a:gd name="T18" fmla="*/ 2 w 8"/>
                <a:gd name="T19" fmla="*/ 7 h 9"/>
                <a:gd name="T20" fmla="*/ 4 w 8"/>
                <a:gd name="T21" fmla="*/ 9 h 9"/>
                <a:gd name="T22" fmla="*/ 4 w 8"/>
                <a:gd name="T23" fmla="*/ 9 h 9"/>
                <a:gd name="T24" fmla="*/ 6 w 8"/>
                <a:gd name="T25" fmla="*/ 7 h 9"/>
                <a:gd name="T26" fmla="*/ 8 w 8"/>
                <a:gd name="T27" fmla="*/ 7 h 9"/>
                <a:gd name="T28" fmla="*/ 8 w 8"/>
                <a:gd name="T29"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5"/>
                  </a:moveTo>
                  <a:lnTo>
                    <a:pt x="8" y="3"/>
                  </a:lnTo>
                  <a:lnTo>
                    <a:pt x="8" y="0"/>
                  </a:lnTo>
                  <a:lnTo>
                    <a:pt x="6" y="0"/>
                  </a:lnTo>
                  <a:lnTo>
                    <a:pt x="4" y="0"/>
                  </a:lnTo>
                  <a:lnTo>
                    <a:pt x="2" y="0"/>
                  </a:lnTo>
                  <a:lnTo>
                    <a:pt x="0" y="3"/>
                  </a:lnTo>
                  <a:lnTo>
                    <a:pt x="0" y="5"/>
                  </a:lnTo>
                  <a:lnTo>
                    <a:pt x="0" y="5"/>
                  </a:lnTo>
                  <a:lnTo>
                    <a:pt x="2" y="7"/>
                  </a:lnTo>
                  <a:lnTo>
                    <a:pt x="4" y="9"/>
                  </a:lnTo>
                  <a:lnTo>
                    <a:pt x="4" y="9"/>
                  </a:lnTo>
                  <a:lnTo>
                    <a:pt x="6" y="7"/>
                  </a:lnTo>
                  <a:lnTo>
                    <a:pt x="8" y="7"/>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57" name="Freeform 155"/>
            <p:cNvSpPr>
              <a:spLocks/>
            </p:cNvSpPr>
            <p:nvPr/>
          </p:nvSpPr>
          <p:spPr bwMode="auto">
            <a:xfrm>
              <a:off x="4244" y="4088"/>
              <a:ext cx="8" cy="7"/>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58" name="Freeform 156"/>
            <p:cNvSpPr>
              <a:spLocks/>
            </p:cNvSpPr>
            <p:nvPr/>
          </p:nvSpPr>
          <p:spPr bwMode="auto">
            <a:xfrm>
              <a:off x="4244" y="4101"/>
              <a:ext cx="8" cy="7"/>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59" name="Freeform 157"/>
            <p:cNvSpPr>
              <a:spLocks/>
            </p:cNvSpPr>
            <p:nvPr/>
          </p:nvSpPr>
          <p:spPr bwMode="auto">
            <a:xfrm>
              <a:off x="4244" y="4114"/>
              <a:ext cx="8" cy="7"/>
            </a:xfrm>
            <a:custGeom>
              <a:avLst/>
              <a:gdLst>
                <a:gd name="T0" fmla="*/ 8 w 8"/>
                <a:gd name="T1" fmla="*/ 4 h 9"/>
                <a:gd name="T2" fmla="*/ 8 w 8"/>
                <a:gd name="T3" fmla="*/ 2 h 9"/>
                <a:gd name="T4" fmla="*/ 8 w 8"/>
                <a:gd name="T5" fmla="*/ 0 h 9"/>
                <a:gd name="T6" fmla="*/ 6 w 8"/>
                <a:gd name="T7" fmla="*/ 0 h 9"/>
                <a:gd name="T8" fmla="*/ 4 w 8"/>
                <a:gd name="T9" fmla="*/ 0 h 9"/>
                <a:gd name="T10" fmla="*/ 2 w 8"/>
                <a:gd name="T11" fmla="*/ 0 h 9"/>
                <a:gd name="T12" fmla="*/ 0 w 8"/>
                <a:gd name="T13" fmla="*/ 2 h 9"/>
                <a:gd name="T14" fmla="*/ 0 w 8"/>
                <a:gd name="T15" fmla="*/ 4 h 9"/>
                <a:gd name="T16" fmla="*/ 0 w 8"/>
                <a:gd name="T17" fmla="*/ 4 h 9"/>
                <a:gd name="T18" fmla="*/ 2 w 8"/>
                <a:gd name="T19" fmla="*/ 7 h 9"/>
                <a:gd name="T20" fmla="*/ 4 w 8"/>
                <a:gd name="T21" fmla="*/ 9 h 9"/>
                <a:gd name="T22" fmla="*/ 4 w 8"/>
                <a:gd name="T23" fmla="*/ 9 h 9"/>
                <a:gd name="T24" fmla="*/ 6 w 8"/>
                <a:gd name="T25" fmla="*/ 7 h 9"/>
                <a:gd name="T26" fmla="*/ 8 w 8"/>
                <a:gd name="T27" fmla="*/ 7 h 9"/>
                <a:gd name="T28" fmla="*/ 8 w 8"/>
                <a:gd name="T29"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9">
                  <a:moveTo>
                    <a:pt x="8" y="4"/>
                  </a:moveTo>
                  <a:lnTo>
                    <a:pt x="8" y="2"/>
                  </a:lnTo>
                  <a:lnTo>
                    <a:pt x="8" y="0"/>
                  </a:lnTo>
                  <a:lnTo>
                    <a:pt x="6" y="0"/>
                  </a:lnTo>
                  <a:lnTo>
                    <a:pt x="4" y="0"/>
                  </a:lnTo>
                  <a:lnTo>
                    <a:pt x="2" y="0"/>
                  </a:lnTo>
                  <a:lnTo>
                    <a:pt x="0" y="2"/>
                  </a:lnTo>
                  <a:lnTo>
                    <a:pt x="0" y="4"/>
                  </a:lnTo>
                  <a:lnTo>
                    <a:pt x="0" y="4"/>
                  </a:lnTo>
                  <a:lnTo>
                    <a:pt x="2" y="7"/>
                  </a:lnTo>
                  <a:lnTo>
                    <a:pt x="4" y="9"/>
                  </a:lnTo>
                  <a:lnTo>
                    <a:pt x="4" y="9"/>
                  </a:lnTo>
                  <a:lnTo>
                    <a:pt x="6" y="7"/>
                  </a:lnTo>
                  <a:lnTo>
                    <a:pt x="8" y="7"/>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60" name="Freeform 158"/>
            <p:cNvSpPr>
              <a:spLocks/>
            </p:cNvSpPr>
            <p:nvPr/>
          </p:nvSpPr>
          <p:spPr bwMode="auto">
            <a:xfrm>
              <a:off x="4244" y="4127"/>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61" name="Freeform 159"/>
            <p:cNvSpPr>
              <a:spLocks/>
            </p:cNvSpPr>
            <p:nvPr/>
          </p:nvSpPr>
          <p:spPr bwMode="auto">
            <a:xfrm>
              <a:off x="4244" y="4140"/>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62" name="Freeform 160"/>
            <p:cNvSpPr>
              <a:spLocks/>
            </p:cNvSpPr>
            <p:nvPr/>
          </p:nvSpPr>
          <p:spPr bwMode="auto">
            <a:xfrm>
              <a:off x="4244" y="4152"/>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63" name="Freeform 161"/>
            <p:cNvSpPr>
              <a:spLocks/>
            </p:cNvSpPr>
            <p:nvPr/>
          </p:nvSpPr>
          <p:spPr bwMode="auto">
            <a:xfrm>
              <a:off x="4244" y="4165"/>
              <a:ext cx="8" cy="6"/>
            </a:xfrm>
            <a:custGeom>
              <a:avLst/>
              <a:gdLst>
                <a:gd name="T0" fmla="*/ 8 w 8"/>
                <a:gd name="T1" fmla="*/ 4 h 8"/>
                <a:gd name="T2" fmla="*/ 8 w 8"/>
                <a:gd name="T3" fmla="*/ 2 h 8"/>
                <a:gd name="T4" fmla="*/ 8 w 8"/>
                <a:gd name="T5" fmla="*/ 0 h 8"/>
                <a:gd name="T6" fmla="*/ 6 w 8"/>
                <a:gd name="T7" fmla="*/ 0 h 8"/>
                <a:gd name="T8" fmla="*/ 4 w 8"/>
                <a:gd name="T9" fmla="*/ 0 h 8"/>
                <a:gd name="T10" fmla="*/ 2 w 8"/>
                <a:gd name="T11" fmla="*/ 0 h 8"/>
                <a:gd name="T12" fmla="*/ 0 w 8"/>
                <a:gd name="T13" fmla="*/ 2 h 8"/>
                <a:gd name="T14" fmla="*/ 0 w 8"/>
                <a:gd name="T15" fmla="*/ 4 h 8"/>
                <a:gd name="T16" fmla="*/ 0 w 8"/>
                <a:gd name="T17" fmla="*/ 4 h 8"/>
                <a:gd name="T18" fmla="*/ 2 w 8"/>
                <a:gd name="T19" fmla="*/ 6 h 8"/>
                <a:gd name="T20" fmla="*/ 4 w 8"/>
                <a:gd name="T21" fmla="*/ 8 h 8"/>
                <a:gd name="T22" fmla="*/ 4 w 8"/>
                <a:gd name="T23" fmla="*/ 8 h 8"/>
                <a:gd name="T24" fmla="*/ 6 w 8"/>
                <a:gd name="T25" fmla="*/ 6 h 8"/>
                <a:gd name="T26" fmla="*/ 8 w 8"/>
                <a:gd name="T27" fmla="*/ 6 h 8"/>
                <a:gd name="T28" fmla="*/ 8 w 8"/>
                <a:gd name="T29"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8">
                  <a:moveTo>
                    <a:pt x="8" y="4"/>
                  </a:moveTo>
                  <a:lnTo>
                    <a:pt x="8" y="2"/>
                  </a:lnTo>
                  <a:lnTo>
                    <a:pt x="8" y="0"/>
                  </a:lnTo>
                  <a:lnTo>
                    <a:pt x="6" y="0"/>
                  </a:lnTo>
                  <a:lnTo>
                    <a:pt x="4" y="0"/>
                  </a:lnTo>
                  <a:lnTo>
                    <a:pt x="2" y="0"/>
                  </a:lnTo>
                  <a:lnTo>
                    <a:pt x="0" y="2"/>
                  </a:lnTo>
                  <a:lnTo>
                    <a:pt x="0" y="4"/>
                  </a:lnTo>
                  <a:lnTo>
                    <a:pt x="0" y="4"/>
                  </a:lnTo>
                  <a:lnTo>
                    <a:pt x="2" y="6"/>
                  </a:lnTo>
                  <a:lnTo>
                    <a:pt x="4" y="8"/>
                  </a:lnTo>
                  <a:lnTo>
                    <a:pt x="4" y="8"/>
                  </a:lnTo>
                  <a:lnTo>
                    <a:pt x="6" y="6"/>
                  </a:lnTo>
                  <a:lnTo>
                    <a:pt x="8" y="6"/>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ea typeface="楷体" panose="02010609060101010101" pitchFamily="49" charset="-122"/>
              </a:endParaRPr>
            </a:p>
          </p:txBody>
        </p:sp>
        <p:sp>
          <p:nvSpPr>
            <p:cNvPr id="164" name="Rectangle 162"/>
            <p:cNvSpPr>
              <a:spLocks noChangeArrowheads="1"/>
            </p:cNvSpPr>
            <p:nvPr/>
          </p:nvSpPr>
          <p:spPr bwMode="auto">
            <a:xfrm>
              <a:off x="1993" y="3067"/>
              <a:ext cx="1079"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165" name="Rectangle 163"/>
            <p:cNvSpPr>
              <a:spLocks noChangeArrowheads="1"/>
            </p:cNvSpPr>
            <p:nvPr/>
          </p:nvSpPr>
          <p:spPr bwMode="auto">
            <a:xfrm>
              <a:off x="2175" y="3106"/>
              <a:ext cx="64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b="1">
                  <a:solidFill>
                    <a:srgbClr val="000000"/>
                  </a:solidFill>
                  <a:ea typeface="楷体" panose="02010609060101010101" pitchFamily="49" charset="-122"/>
                </a:rPr>
                <a:t>Virtual I/O</a:t>
              </a:r>
              <a:endParaRPr lang="en-US" altLang="zh-CN" sz="1800" b="1">
                <a:ea typeface="楷体" panose="02010609060101010101" pitchFamily="49" charset="-122"/>
              </a:endParaRPr>
            </a:p>
          </p:txBody>
        </p:sp>
        <p:sp>
          <p:nvSpPr>
            <p:cNvPr id="166" name="Rectangle 164"/>
            <p:cNvSpPr>
              <a:spLocks noChangeArrowheads="1"/>
            </p:cNvSpPr>
            <p:nvPr/>
          </p:nvSpPr>
          <p:spPr bwMode="auto">
            <a:xfrm>
              <a:off x="3732" y="3067"/>
              <a:ext cx="1079"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楷体" panose="02010609060101010101" pitchFamily="49" charset="-122"/>
              </a:endParaRPr>
            </a:p>
          </p:txBody>
        </p:sp>
        <p:sp>
          <p:nvSpPr>
            <p:cNvPr id="167" name="Rectangle 165"/>
            <p:cNvSpPr>
              <a:spLocks noChangeArrowheads="1"/>
            </p:cNvSpPr>
            <p:nvPr/>
          </p:nvSpPr>
          <p:spPr bwMode="auto">
            <a:xfrm>
              <a:off x="3922" y="3106"/>
              <a:ext cx="61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b="1">
                  <a:solidFill>
                    <a:srgbClr val="000000"/>
                  </a:solidFill>
                  <a:ea typeface="楷体" panose="02010609060101010101" pitchFamily="49" charset="-122"/>
                </a:rPr>
                <a:t>Actual I/O</a:t>
              </a:r>
              <a:endParaRPr lang="en-US" altLang="zh-CN" sz="1800" b="1">
                <a:ea typeface="楷体" panose="02010609060101010101" pitchFamily="49" charset="-122"/>
              </a:endParaRPr>
            </a:p>
          </p:txBody>
        </p:sp>
      </p:grpSp>
    </p:spTree>
    <p:extLst>
      <p:ext uri="{BB962C8B-B14F-4D97-AF65-F5344CB8AC3E}">
        <p14:creationId xmlns:p14="http://schemas.microsoft.com/office/powerpoint/2010/main" val="2329139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Spooling</a:t>
            </a:r>
            <a:r>
              <a:rPr lang="zh-CN" altLang="en-US" dirty="0"/>
              <a:t>技术</a:t>
            </a:r>
          </a:p>
        </p:txBody>
      </p:sp>
      <p:sp>
        <p:nvSpPr>
          <p:cNvPr id="3" name="Content Placeholder 2"/>
          <p:cNvSpPr>
            <a:spLocks noGrp="1"/>
          </p:cNvSpPr>
          <p:nvPr>
            <p:ph idx="1"/>
          </p:nvPr>
        </p:nvSpPr>
        <p:spPr/>
        <p:txBody>
          <a:bodyPr/>
          <a:lstStyle/>
          <a:p>
            <a:r>
              <a:rPr lang="zh-CN" altLang="en-US" sz="2000" dirty="0"/>
              <a:t>系统组成</a:t>
            </a:r>
            <a:endParaRPr lang="en-US" altLang="zh-CN" sz="2000" dirty="0"/>
          </a:p>
          <a:p>
            <a:pPr lvl="1"/>
            <a:r>
              <a:rPr lang="zh-CN" altLang="en-US" sz="1800" dirty="0">
                <a:solidFill>
                  <a:srgbClr val="FF3300"/>
                </a:solidFill>
              </a:rPr>
              <a:t>输入井</a:t>
            </a:r>
            <a:r>
              <a:rPr lang="zh-CN" altLang="en-US" sz="1800" dirty="0"/>
              <a:t>暂存设备输入的数据；</a:t>
            </a:r>
            <a:r>
              <a:rPr lang="zh-CN" altLang="en-US" sz="1800" dirty="0">
                <a:solidFill>
                  <a:srgbClr val="FF3300"/>
                </a:solidFill>
              </a:rPr>
              <a:t>输出井</a:t>
            </a:r>
            <a:r>
              <a:rPr lang="zh-CN" altLang="en-US" sz="1800" dirty="0"/>
              <a:t>暂存用户程序的输出数据（在磁盘上）</a:t>
            </a:r>
            <a:endParaRPr lang="en-US" altLang="zh-CN" sz="1800" dirty="0"/>
          </a:p>
          <a:p>
            <a:pPr lvl="1"/>
            <a:r>
              <a:rPr lang="zh-CN" altLang="en-US" sz="1800" dirty="0">
                <a:solidFill>
                  <a:srgbClr val="FF3300"/>
                </a:solidFill>
              </a:rPr>
              <a:t>输入缓冲区</a:t>
            </a:r>
            <a:r>
              <a:rPr lang="en-US" altLang="zh-CN" sz="1800" dirty="0"/>
              <a:t>Bi</a:t>
            </a:r>
            <a:r>
              <a:rPr lang="zh-CN" altLang="en-US" sz="1800" dirty="0"/>
              <a:t>暂存来自输入设备的数据，再传送到输入井</a:t>
            </a:r>
            <a:r>
              <a:rPr lang="zh-CN" altLang="en-US" sz="1800" dirty="0">
                <a:solidFill>
                  <a:srgbClr val="FF3300"/>
                </a:solidFill>
              </a:rPr>
              <a:t>输出缓冲区</a:t>
            </a:r>
            <a:r>
              <a:rPr lang="en-US" altLang="zh-CN" sz="1800" dirty="0"/>
              <a:t>Bo</a:t>
            </a:r>
            <a:r>
              <a:rPr lang="zh-CN" altLang="en-US" sz="1800" dirty="0"/>
              <a:t>暂存来自输出井的数据，再传送到输出设备（在内存中）</a:t>
            </a:r>
            <a:endParaRPr lang="en-US" altLang="zh-CN" sz="1800" dirty="0"/>
          </a:p>
          <a:p>
            <a:pPr lvl="1"/>
            <a:r>
              <a:rPr lang="zh-CN" altLang="en-US" sz="1800" dirty="0">
                <a:solidFill>
                  <a:srgbClr val="FF3300"/>
                </a:solidFill>
              </a:rPr>
              <a:t>输入进程</a:t>
            </a:r>
            <a:r>
              <a:rPr lang="en-US" altLang="zh-CN" sz="1800" dirty="0" err="1"/>
              <a:t>SPi</a:t>
            </a:r>
            <a:r>
              <a:rPr lang="zh-CN" altLang="en-US" sz="1800" dirty="0"/>
              <a:t>：输入设备</a:t>
            </a:r>
            <a:r>
              <a:rPr lang="zh-CN" altLang="en-US" sz="1800" dirty="0">
                <a:sym typeface="Symbol" panose="05050102010706020507" pitchFamily="18" charset="2"/>
              </a:rPr>
              <a:t></a:t>
            </a:r>
            <a:r>
              <a:rPr lang="zh-CN" altLang="en-US" sz="1800" dirty="0"/>
              <a:t>输入缓冲区</a:t>
            </a:r>
            <a:r>
              <a:rPr lang="zh-CN" altLang="en-US" sz="1800" dirty="0">
                <a:sym typeface="Symbol" panose="05050102010706020507" pitchFamily="18" charset="2"/>
              </a:rPr>
              <a:t></a:t>
            </a:r>
            <a:r>
              <a:rPr lang="zh-CN" altLang="en-US" sz="1800" dirty="0"/>
              <a:t>输入井</a:t>
            </a:r>
          </a:p>
          <a:p>
            <a:pPr lvl="1">
              <a:lnSpc>
                <a:spcPct val="110000"/>
              </a:lnSpc>
            </a:pPr>
            <a:r>
              <a:rPr lang="zh-CN" altLang="en-US" sz="1800" dirty="0">
                <a:solidFill>
                  <a:srgbClr val="FF3300"/>
                </a:solidFill>
              </a:rPr>
              <a:t>输出进程</a:t>
            </a:r>
            <a:r>
              <a:rPr lang="en-US" altLang="zh-CN" sz="1800" dirty="0" err="1"/>
              <a:t>SPo</a:t>
            </a:r>
            <a:r>
              <a:rPr lang="zh-CN" altLang="en-US" sz="1800" dirty="0"/>
              <a:t>：内存</a:t>
            </a:r>
            <a:r>
              <a:rPr lang="zh-CN" altLang="en-US" sz="1800" dirty="0">
                <a:sym typeface="Symbol" panose="05050102010706020507" pitchFamily="18" charset="2"/>
              </a:rPr>
              <a:t></a:t>
            </a:r>
            <a:r>
              <a:rPr lang="zh-CN" altLang="en-US" sz="1800" dirty="0"/>
              <a:t>输出井</a:t>
            </a:r>
            <a:r>
              <a:rPr lang="zh-CN" altLang="en-US" sz="1800" dirty="0">
                <a:sym typeface="Symbol" panose="05050102010706020507" pitchFamily="18" charset="2"/>
              </a:rPr>
              <a:t></a:t>
            </a:r>
            <a:r>
              <a:rPr lang="zh-CN" altLang="en-US" sz="1800" dirty="0"/>
              <a:t>输出缓冲区</a:t>
            </a:r>
            <a:r>
              <a:rPr lang="zh-CN" altLang="en-US" sz="1800" dirty="0">
                <a:sym typeface="Symbol" panose="05050102010706020507" pitchFamily="18" charset="2"/>
              </a:rPr>
              <a:t></a:t>
            </a:r>
            <a:r>
              <a:rPr lang="zh-CN" altLang="en-US" sz="1800" dirty="0"/>
              <a:t>输出设备</a:t>
            </a:r>
          </a:p>
          <a:p>
            <a:pPr lvl="1"/>
            <a:endParaRPr lang="zh-CN" altLang="en-US" dirty="0"/>
          </a:p>
        </p:txBody>
      </p:sp>
      <p:sp>
        <p:nvSpPr>
          <p:cNvPr id="4" name="Date Placeholder 3"/>
          <p:cNvSpPr>
            <a:spLocks noGrp="1"/>
          </p:cNvSpPr>
          <p:nvPr>
            <p:ph type="dt" sz="half" idx="10"/>
          </p:nvPr>
        </p:nvSpPr>
        <p:spPr/>
        <p:txBody>
          <a:bodyPr/>
          <a:lstStyle/>
          <a:p>
            <a:fld id="{F9CEA5A4-2DF7-4DB3-9271-665F8025916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60</a:t>
            </a:fld>
            <a:endParaRPr lang="zh-CN" altLang="en-US" dirty="0"/>
          </a:p>
        </p:txBody>
      </p:sp>
      <p:grpSp>
        <p:nvGrpSpPr>
          <p:cNvPr id="7" name="Group 19"/>
          <p:cNvGrpSpPr>
            <a:grpSpLocks/>
          </p:cNvGrpSpPr>
          <p:nvPr/>
        </p:nvGrpSpPr>
        <p:grpSpPr bwMode="auto">
          <a:xfrm>
            <a:off x="1042988" y="4176928"/>
            <a:ext cx="7045325" cy="2246313"/>
            <a:chOff x="657" y="2657"/>
            <a:chExt cx="4438" cy="1415"/>
          </a:xfrm>
        </p:grpSpPr>
        <p:sp>
          <p:nvSpPr>
            <p:cNvPr id="8" name="Text Box 4"/>
            <p:cNvSpPr txBox="1">
              <a:spLocks noChangeArrowheads="1"/>
            </p:cNvSpPr>
            <p:nvPr/>
          </p:nvSpPr>
          <p:spPr bwMode="auto">
            <a:xfrm>
              <a:off x="1565" y="2657"/>
              <a:ext cx="2313" cy="141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0" lang="zh-CN" altLang="en-US" sz="2000" b="1">
                  <a:ea typeface="楷体" panose="02010609060101010101" pitchFamily="49" charset="-122"/>
                </a:rPr>
                <a:t>输入进程</a:t>
              </a:r>
              <a:r>
                <a:rPr kumimoji="0" lang="en-US" altLang="zh-CN" sz="2000" b="1">
                  <a:ea typeface="楷体" panose="02010609060101010101" pitchFamily="49" charset="-122"/>
                </a:rPr>
                <a:t>SPi         </a:t>
              </a:r>
              <a:r>
                <a:rPr kumimoji="0" lang="zh-CN" altLang="en-US" sz="2000" b="1">
                  <a:ea typeface="楷体" panose="02010609060101010101" pitchFamily="49" charset="-122"/>
                </a:rPr>
                <a:t>输出进程</a:t>
              </a:r>
              <a:r>
                <a:rPr kumimoji="0" lang="en-US" altLang="zh-CN" sz="2000" b="1">
                  <a:ea typeface="楷体" panose="02010609060101010101" pitchFamily="49" charset="-122"/>
                </a:rPr>
                <a:t>SPo</a:t>
              </a:r>
            </a:p>
            <a:p>
              <a:pPr algn="ctr">
                <a:spcBef>
                  <a:spcPct val="50000"/>
                </a:spcBef>
              </a:pPr>
              <a:endParaRPr kumimoji="0" lang="en-US" altLang="zh-CN" sz="2000" b="1">
                <a:ea typeface="楷体" panose="02010609060101010101" pitchFamily="49" charset="-122"/>
              </a:endParaRPr>
            </a:p>
            <a:p>
              <a:pPr algn="ctr">
                <a:spcBef>
                  <a:spcPct val="50000"/>
                </a:spcBef>
              </a:pPr>
              <a:endParaRPr kumimoji="0" lang="en-US" altLang="zh-CN" sz="2000" b="1">
                <a:ea typeface="楷体" panose="02010609060101010101" pitchFamily="49" charset="-122"/>
              </a:endParaRPr>
            </a:p>
            <a:p>
              <a:pPr algn="ctr">
                <a:spcBef>
                  <a:spcPct val="50000"/>
                </a:spcBef>
              </a:pPr>
              <a:endParaRPr kumimoji="0" lang="en-US" altLang="zh-CN" sz="2000" b="1">
                <a:ea typeface="楷体" panose="02010609060101010101" pitchFamily="49" charset="-122"/>
              </a:endParaRPr>
            </a:p>
            <a:p>
              <a:pPr algn="ctr">
                <a:spcBef>
                  <a:spcPct val="50000"/>
                </a:spcBef>
              </a:pPr>
              <a:endParaRPr kumimoji="0" lang="en-US" altLang="zh-CN" sz="2000" b="1">
                <a:ea typeface="楷体" panose="02010609060101010101" pitchFamily="49" charset="-122"/>
              </a:endParaRPr>
            </a:p>
          </p:txBody>
        </p:sp>
        <p:sp>
          <p:nvSpPr>
            <p:cNvPr id="9" name="Line 5"/>
            <p:cNvSpPr>
              <a:spLocks noChangeShapeType="1"/>
            </p:cNvSpPr>
            <p:nvPr/>
          </p:nvSpPr>
          <p:spPr bwMode="auto">
            <a:xfrm>
              <a:off x="1565" y="2953"/>
              <a:ext cx="231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0" name="Line 6"/>
            <p:cNvSpPr>
              <a:spLocks noChangeShapeType="1"/>
            </p:cNvSpPr>
            <p:nvPr/>
          </p:nvSpPr>
          <p:spPr bwMode="auto">
            <a:xfrm>
              <a:off x="2699" y="2657"/>
              <a:ext cx="0" cy="2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1" name="Text Box 7"/>
            <p:cNvSpPr txBox="1">
              <a:spLocks noChangeArrowheads="1"/>
            </p:cNvSpPr>
            <p:nvPr/>
          </p:nvSpPr>
          <p:spPr bwMode="auto">
            <a:xfrm>
              <a:off x="2154" y="3155"/>
              <a:ext cx="1225" cy="256"/>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0" lang="zh-CN" altLang="en-US" sz="2000" b="1" dirty="0">
                  <a:ea typeface="楷体" panose="02010609060101010101" pitchFamily="49" charset="-122"/>
                </a:rPr>
                <a:t>输入缓冲区</a:t>
              </a:r>
              <a:r>
                <a:rPr kumimoji="0" lang="en-US" altLang="zh-CN" sz="2000" b="1" dirty="0">
                  <a:ea typeface="楷体" panose="02010609060101010101" pitchFamily="49" charset="-122"/>
                </a:rPr>
                <a:t>Bi</a:t>
              </a:r>
            </a:p>
          </p:txBody>
        </p:sp>
        <p:sp>
          <p:nvSpPr>
            <p:cNvPr id="12" name="Text Box 8"/>
            <p:cNvSpPr txBox="1">
              <a:spLocks noChangeArrowheads="1"/>
            </p:cNvSpPr>
            <p:nvPr/>
          </p:nvSpPr>
          <p:spPr bwMode="auto">
            <a:xfrm>
              <a:off x="2154" y="3508"/>
              <a:ext cx="1225" cy="25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0" lang="zh-CN" altLang="en-US" sz="2000" b="1" dirty="0">
                  <a:ea typeface="楷体" panose="02010609060101010101" pitchFamily="49" charset="-122"/>
                </a:rPr>
                <a:t>输出缓冲区</a:t>
              </a:r>
              <a:r>
                <a:rPr kumimoji="0" lang="en-US" altLang="zh-CN" sz="2000" b="1" dirty="0">
                  <a:ea typeface="楷体" panose="02010609060101010101" pitchFamily="49" charset="-122"/>
                </a:rPr>
                <a:t>Bo</a:t>
              </a:r>
            </a:p>
          </p:txBody>
        </p:sp>
        <p:sp>
          <p:nvSpPr>
            <p:cNvPr id="13" name="AutoShape 9"/>
            <p:cNvSpPr>
              <a:spLocks noChangeArrowheads="1"/>
            </p:cNvSpPr>
            <p:nvPr/>
          </p:nvSpPr>
          <p:spPr bwMode="auto">
            <a:xfrm>
              <a:off x="4052" y="2747"/>
              <a:ext cx="1043" cy="1134"/>
            </a:xfrm>
            <a:prstGeom prst="can">
              <a:avLst>
                <a:gd name="adj" fmla="val 27181"/>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楷体" panose="02010609060101010101" pitchFamily="49" charset="-122"/>
              </a:endParaRPr>
            </a:p>
          </p:txBody>
        </p:sp>
        <p:sp>
          <p:nvSpPr>
            <p:cNvPr id="14" name="Text Box 10"/>
            <p:cNvSpPr txBox="1">
              <a:spLocks noChangeArrowheads="1"/>
            </p:cNvSpPr>
            <p:nvPr/>
          </p:nvSpPr>
          <p:spPr bwMode="auto">
            <a:xfrm>
              <a:off x="4272" y="3155"/>
              <a:ext cx="635" cy="256"/>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0" lang="zh-CN" altLang="en-US" sz="2000" b="1" dirty="0">
                  <a:ea typeface="楷体" panose="02010609060101010101" pitchFamily="49" charset="-122"/>
                </a:rPr>
                <a:t>输入井</a:t>
              </a:r>
            </a:p>
          </p:txBody>
        </p:sp>
        <p:sp>
          <p:nvSpPr>
            <p:cNvPr id="15" name="Text Box 11"/>
            <p:cNvSpPr txBox="1">
              <a:spLocks noChangeArrowheads="1"/>
            </p:cNvSpPr>
            <p:nvPr/>
          </p:nvSpPr>
          <p:spPr bwMode="auto">
            <a:xfrm>
              <a:off x="4272" y="3490"/>
              <a:ext cx="635" cy="256"/>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0" lang="zh-CN" altLang="en-US" sz="2000" b="1">
                  <a:ea typeface="楷体" panose="02010609060101010101" pitchFamily="49" charset="-122"/>
                </a:rPr>
                <a:t>输出井</a:t>
              </a:r>
            </a:p>
          </p:txBody>
        </p:sp>
        <p:sp>
          <p:nvSpPr>
            <p:cNvPr id="16" name="AutoShape 12"/>
            <p:cNvSpPr>
              <a:spLocks noChangeArrowheads="1"/>
            </p:cNvSpPr>
            <p:nvPr/>
          </p:nvSpPr>
          <p:spPr bwMode="auto">
            <a:xfrm>
              <a:off x="657" y="3110"/>
              <a:ext cx="681" cy="318"/>
            </a:xfrm>
            <a:prstGeom prst="flowChartPunchedCard">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2000" b="1">
                  <a:ea typeface="楷体" panose="02010609060101010101" pitchFamily="49" charset="-122"/>
                </a:rPr>
                <a:t>输入设备</a:t>
              </a:r>
            </a:p>
          </p:txBody>
        </p:sp>
        <p:sp>
          <p:nvSpPr>
            <p:cNvPr id="17" name="AutoShape 13"/>
            <p:cNvSpPr>
              <a:spLocks noChangeArrowheads="1"/>
            </p:cNvSpPr>
            <p:nvPr/>
          </p:nvSpPr>
          <p:spPr bwMode="auto">
            <a:xfrm>
              <a:off x="793" y="3473"/>
              <a:ext cx="409" cy="499"/>
            </a:xfrm>
            <a:prstGeom prst="flowChartDocumen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2000" b="1">
                  <a:ea typeface="楷体" panose="02010609060101010101" pitchFamily="49" charset="-122"/>
                </a:rPr>
                <a:t>输出</a:t>
              </a:r>
            </a:p>
            <a:p>
              <a:pPr algn="ctr"/>
              <a:r>
                <a:rPr kumimoji="0" lang="zh-CN" altLang="en-US" sz="2000" b="1">
                  <a:ea typeface="楷体" panose="02010609060101010101" pitchFamily="49" charset="-122"/>
                </a:rPr>
                <a:t>设备</a:t>
              </a:r>
            </a:p>
          </p:txBody>
        </p:sp>
        <p:sp>
          <p:nvSpPr>
            <p:cNvPr id="18" name="Line 14"/>
            <p:cNvSpPr>
              <a:spLocks noChangeShapeType="1"/>
            </p:cNvSpPr>
            <p:nvPr/>
          </p:nvSpPr>
          <p:spPr bwMode="auto">
            <a:xfrm>
              <a:off x="1338" y="3264"/>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9" name="Line 15"/>
            <p:cNvSpPr>
              <a:spLocks noChangeShapeType="1"/>
            </p:cNvSpPr>
            <p:nvPr/>
          </p:nvSpPr>
          <p:spPr bwMode="auto">
            <a:xfrm>
              <a:off x="3379" y="3274"/>
              <a:ext cx="8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0" name="Line 16"/>
            <p:cNvSpPr>
              <a:spLocks noChangeShapeType="1"/>
            </p:cNvSpPr>
            <p:nvPr/>
          </p:nvSpPr>
          <p:spPr bwMode="auto">
            <a:xfrm>
              <a:off x="1202" y="3620"/>
              <a:ext cx="95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1" name="Line 17"/>
            <p:cNvSpPr>
              <a:spLocks noChangeShapeType="1"/>
            </p:cNvSpPr>
            <p:nvPr/>
          </p:nvSpPr>
          <p:spPr bwMode="auto">
            <a:xfrm>
              <a:off x="3379" y="3609"/>
              <a:ext cx="8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2" name="Text Box 18"/>
            <p:cNvSpPr txBox="1">
              <a:spLocks noChangeArrowheads="1"/>
            </p:cNvSpPr>
            <p:nvPr/>
          </p:nvSpPr>
          <p:spPr bwMode="auto">
            <a:xfrm>
              <a:off x="4355" y="2751"/>
              <a:ext cx="45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2000" b="1">
                  <a:ea typeface="楷体" panose="02010609060101010101" pitchFamily="49" charset="-122"/>
                </a:rPr>
                <a:t>磁盘</a:t>
              </a:r>
            </a:p>
          </p:txBody>
        </p:sp>
      </p:grpSp>
    </p:spTree>
    <p:extLst>
      <p:ext uri="{BB962C8B-B14F-4D97-AF65-F5344CB8AC3E}">
        <p14:creationId xmlns:p14="http://schemas.microsoft.com/office/powerpoint/2010/main" val="9542876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Spooling</a:t>
            </a:r>
            <a:r>
              <a:rPr lang="zh-CN" altLang="en-US" dirty="0"/>
              <a:t>技术</a:t>
            </a:r>
          </a:p>
        </p:txBody>
      </p:sp>
      <p:sp>
        <p:nvSpPr>
          <p:cNvPr id="3" name="Content Placeholder 2"/>
          <p:cNvSpPr>
            <a:spLocks noGrp="1"/>
          </p:cNvSpPr>
          <p:nvPr>
            <p:ph idx="1"/>
          </p:nvPr>
        </p:nvSpPr>
        <p:spPr/>
        <p:txBody>
          <a:bodyPr/>
          <a:lstStyle/>
          <a:p>
            <a:r>
              <a:rPr lang="zh-CN" altLang="en-US" dirty="0"/>
              <a:t>例子：共享打印机</a:t>
            </a:r>
            <a:endParaRPr lang="en-US" altLang="zh-CN" dirty="0"/>
          </a:p>
          <a:p>
            <a:pPr lvl="1"/>
            <a:r>
              <a:rPr lang="zh-CN" altLang="en-US" dirty="0"/>
              <a:t>打印机属于独占设备</a:t>
            </a:r>
            <a:endParaRPr lang="en-US" altLang="zh-CN" dirty="0"/>
          </a:p>
          <a:p>
            <a:pPr lvl="1"/>
            <a:r>
              <a:rPr lang="zh-CN" altLang="en-US" dirty="0"/>
              <a:t>利用</a:t>
            </a:r>
            <a:r>
              <a:rPr lang="en-US" altLang="zh-CN" dirty="0" err="1"/>
              <a:t>SPOOLing</a:t>
            </a:r>
            <a:r>
              <a:rPr lang="zh-CN" altLang="en-US" dirty="0"/>
              <a:t>技术，可将其改造成共享设备</a:t>
            </a:r>
            <a:endParaRPr lang="en-US" altLang="zh-CN" dirty="0"/>
          </a:p>
          <a:p>
            <a:pPr lvl="1"/>
            <a:r>
              <a:rPr lang="zh-CN" altLang="en-US" dirty="0"/>
              <a:t>用户请求打印输出时，</a:t>
            </a:r>
            <a:r>
              <a:rPr lang="en-US" altLang="zh-CN" dirty="0" err="1"/>
              <a:t>SPOOLing</a:t>
            </a:r>
            <a:r>
              <a:rPr lang="zh-CN" altLang="en-US" dirty="0"/>
              <a:t>系统进行</a:t>
            </a:r>
            <a:endParaRPr lang="en-US" altLang="zh-CN" dirty="0"/>
          </a:p>
          <a:p>
            <a:pPr lvl="1"/>
            <a:r>
              <a:rPr lang="zh-CN" altLang="en-US" dirty="0"/>
              <a:t>由输出进程在输出井中为之申请一个空闲磁盘块区，并将要打印的数据送入其中</a:t>
            </a:r>
            <a:endParaRPr lang="en-US" altLang="zh-CN" dirty="0"/>
          </a:p>
          <a:p>
            <a:pPr lvl="1"/>
            <a:r>
              <a:rPr lang="zh-CN" altLang="en-US" dirty="0"/>
              <a:t>输出进程再为用户进程申请一张空白的用户请求打印表，将用户打印要求填入其中，再将该表挂在请求打印队列上</a:t>
            </a:r>
            <a:endParaRPr lang="en-US" altLang="zh-CN" dirty="0"/>
          </a:p>
          <a:p>
            <a:pPr lvl="1"/>
            <a:r>
              <a:rPr lang="zh-CN" altLang="en-US" dirty="0"/>
              <a:t>打印机空闲时，输出进程根据打印队列要求打印</a:t>
            </a:r>
          </a:p>
          <a:p>
            <a:endParaRPr lang="zh-CN" altLang="en-US" sz="2200" b="0" dirty="0"/>
          </a:p>
        </p:txBody>
      </p:sp>
      <p:sp>
        <p:nvSpPr>
          <p:cNvPr id="4" name="Date Placeholder 3"/>
          <p:cNvSpPr>
            <a:spLocks noGrp="1"/>
          </p:cNvSpPr>
          <p:nvPr>
            <p:ph type="dt" sz="half" idx="10"/>
          </p:nvPr>
        </p:nvSpPr>
        <p:spPr/>
        <p:txBody>
          <a:bodyPr/>
          <a:lstStyle/>
          <a:p>
            <a:fld id="{223C1D2B-AE2E-48C5-8C0E-7FDAA3FFB26A}"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61</a:t>
            </a:fld>
            <a:endParaRPr lang="zh-CN" altLang="en-US" dirty="0"/>
          </a:p>
        </p:txBody>
      </p:sp>
    </p:spTree>
    <p:extLst>
      <p:ext uri="{BB962C8B-B14F-4D97-AF65-F5344CB8AC3E}">
        <p14:creationId xmlns:p14="http://schemas.microsoft.com/office/powerpoint/2010/main" val="1184215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Spooling</a:t>
            </a:r>
            <a:r>
              <a:rPr lang="zh-CN" altLang="en-US" dirty="0"/>
              <a:t>技术</a:t>
            </a:r>
          </a:p>
        </p:txBody>
      </p:sp>
      <p:sp>
        <p:nvSpPr>
          <p:cNvPr id="3" name="Content Placeholder 2"/>
          <p:cNvSpPr>
            <a:spLocks noGrp="1"/>
          </p:cNvSpPr>
          <p:nvPr>
            <p:ph idx="1"/>
          </p:nvPr>
        </p:nvSpPr>
        <p:spPr/>
        <p:txBody>
          <a:bodyPr/>
          <a:lstStyle/>
          <a:p>
            <a:r>
              <a:rPr lang="en-US" altLang="zh-CN" dirty="0"/>
              <a:t>Spooling</a:t>
            </a:r>
            <a:r>
              <a:rPr lang="zh-CN" altLang="en-US" dirty="0"/>
              <a:t>系统的特点</a:t>
            </a:r>
            <a:endParaRPr lang="en-US" altLang="zh-CN" dirty="0"/>
          </a:p>
          <a:p>
            <a:pPr lvl="1"/>
            <a:r>
              <a:rPr lang="zh-CN" altLang="en-US" dirty="0"/>
              <a:t>提高了</a:t>
            </a:r>
            <a:r>
              <a:rPr lang="en-US" altLang="zh-CN" dirty="0"/>
              <a:t>I/O</a:t>
            </a:r>
            <a:r>
              <a:rPr lang="zh-CN" altLang="en-US" dirty="0"/>
              <a:t>的速度（进程所感受到的）</a:t>
            </a:r>
            <a:endParaRPr lang="en-US" altLang="zh-CN" dirty="0"/>
          </a:p>
          <a:p>
            <a:pPr lvl="1"/>
            <a:r>
              <a:rPr lang="zh-CN" altLang="en-US" dirty="0"/>
              <a:t>将独占设备改造为共享设备</a:t>
            </a:r>
            <a:endParaRPr lang="en-US" altLang="zh-CN" dirty="0"/>
          </a:p>
          <a:p>
            <a:pPr lvl="1"/>
            <a:r>
              <a:rPr lang="zh-CN" altLang="en-US" dirty="0"/>
              <a:t>实现了虚拟设备的功能</a:t>
            </a:r>
          </a:p>
        </p:txBody>
      </p:sp>
      <p:sp>
        <p:nvSpPr>
          <p:cNvPr id="4" name="Date Placeholder 3"/>
          <p:cNvSpPr>
            <a:spLocks noGrp="1"/>
          </p:cNvSpPr>
          <p:nvPr>
            <p:ph type="dt" sz="half" idx="10"/>
          </p:nvPr>
        </p:nvSpPr>
        <p:spPr/>
        <p:txBody>
          <a:bodyPr/>
          <a:lstStyle/>
          <a:p>
            <a:fld id="{B849142F-30C9-4121-97A9-649778C140F2}"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62</a:t>
            </a:fld>
            <a:endParaRPr lang="zh-CN" altLang="en-US" dirty="0"/>
          </a:p>
        </p:txBody>
      </p:sp>
    </p:spTree>
    <p:extLst>
      <p:ext uri="{BB962C8B-B14F-4D97-AF65-F5344CB8AC3E}">
        <p14:creationId xmlns:p14="http://schemas.microsoft.com/office/powerpoint/2010/main" val="4540453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主要内容</a:t>
            </a:r>
          </a:p>
        </p:txBody>
      </p:sp>
      <p:sp>
        <p:nvSpPr>
          <p:cNvPr id="3" name="Content Placeholder 2"/>
          <p:cNvSpPr>
            <a:spLocks noGrp="1"/>
          </p:cNvSpPr>
          <p:nvPr>
            <p:ph idx="1"/>
          </p:nvPr>
        </p:nvSpPr>
        <p:spPr/>
        <p:txBody>
          <a:bodyPr/>
          <a:lstStyle/>
          <a:p>
            <a:r>
              <a:rPr lang="en-US" altLang="zh-CN" dirty="0">
                <a:solidFill>
                  <a:schemeClr val="bg1">
                    <a:lumMod val="85000"/>
                  </a:schemeClr>
                </a:solidFill>
              </a:rPr>
              <a:t>I/O</a:t>
            </a:r>
            <a:r>
              <a:rPr lang="zh-CN" altLang="en-US" dirty="0">
                <a:solidFill>
                  <a:schemeClr val="bg1">
                    <a:lumMod val="85000"/>
                  </a:schemeClr>
                </a:solidFill>
              </a:rPr>
              <a:t>管理基本知识</a:t>
            </a:r>
            <a:endParaRPr lang="en-US" altLang="zh-CN" dirty="0">
              <a:solidFill>
                <a:schemeClr val="bg1">
                  <a:lumMod val="85000"/>
                </a:schemeClr>
              </a:solidFill>
            </a:endParaRPr>
          </a:p>
          <a:p>
            <a:r>
              <a:rPr lang="en-US" altLang="zh-CN" dirty="0">
                <a:solidFill>
                  <a:schemeClr val="bg1">
                    <a:lumMod val="85000"/>
                  </a:schemeClr>
                </a:solidFill>
              </a:rPr>
              <a:t>I/O</a:t>
            </a:r>
            <a:r>
              <a:rPr lang="zh-CN" altLang="en-US" dirty="0">
                <a:solidFill>
                  <a:schemeClr val="bg1">
                    <a:lumMod val="85000"/>
                  </a:schemeClr>
                </a:solidFill>
              </a:rPr>
              <a:t>控制方式</a:t>
            </a:r>
            <a:endParaRPr lang="en-US" altLang="zh-CN" dirty="0">
              <a:solidFill>
                <a:schemeClr val="bg1">
                  <a:lumMod val="85000"/>
                </a:schemeClr>
              </a:solidFill>
            </a:endParaRPr>
          </a:p>
          <a:p>
            <a:r>
              <a:rPr lang="zh-CN" altLang="en-US" dirty="0">
                <a:solidFill>
                  <a:schemeClr val="bg1">
                    <a:lumMod val="85000"/>
                  </a:schemeClr>
                </a:solidFill>
              </a:rPr>
              <a:t>缓冲技术</a:t>
            </a:r>
            <a:endParaRPr lang="en-US" altLang="zh-CN" dirty="0">
              <a:solidFill>
                <a:schemeClr val="bg1">
                  <a:lumMod val="85000"/>
                </a:schemeClr>
              </a:solidFill>
            </a:endParaRPr>
          </a:p>
          <a:p>
            <a:r>
              <a:rPr lang="zh-CN" altLang="en-US" dirty="0">
                <a:solidFill>
                  <a:schemeClr val="bg1">
                    <a:lumMod val="85000"/>
                  </a:schemeClr>
                </a:solidFill>
              </a:rPr>
              <a:t>设备分配与回收</a:t>
            </a:r>
            <a:endParaRPr lang="en-US" altLang="zh-CN" dirty="0">
              <a:solidFill>
                <a:schemeClr val="bg1">
                  <a:lumMod val="85000"/>
                </a:schemeClr>
              </a:solidFill>
            </a:endParaRPr>
          </a:p>
          <a:p>
            <a:r>
              <a:rPr lang="zh-CN" altLang="en-US" dirty="0">
                <a:solidFill>
                  <a:srgbClr val="FFC000"/>
                </a:solidFill>
              </a:rPr>
              <a:t>磁盘存储器的管理</a:t>
            </a:r>
            <a:endParaRPr lang="en-US" altLang="zh-CN" dirty="0">
              <a:solidFill>
                <a:srgbClr val="FFC000"/>
              </a:solidFill>
            </a:endParaRPr>
          </a:p>
          <a:p>
            <a:r>
              <a:rPr lang="en-US" altLang="zh-CN" dirty="0">
                <a:solidFill>
                  <a:schemeClr val="bg1">
                    <a:lumMod val="85000"/>
                  </a:schemeClr>
                </a:solidFill>
              </a:rPr>
              <a:t>RAID</a:t>
            </a:r>
            <a:r>
              <a:rPr lang="zh-CN" altLang="en-US" dirty="0">
                <a:solidFill>
                  <a:schemeClr val="bg1">
                    <a:lumMod val="85000"/>
                  </a:schemeClr>
                </a:solidFill>
              </a:rPr>
              <a:t>技术</a:t>
            </a:r>
          </a:p>
        </p:txBody>
      </p:sp>
      <p:sp>
        <p:nvSpPr>
          <p:cNvPr id="4" name="Date Placeholder 3"/>
          <p:cNvSpPr>
            <a:spLocks noGrp="1"/>
          </p:cNvSpPr>
          <p:nvPr>
            <p:ph type="dt" sz="half" idx="10"/>
          </p:nvPr>
        </p:nvSpPr>
        <p:spPr/>
        <p:txBody>
          <a:bodyPr/>
          <a:lstStyle/>
          <a:p>
            <a:fld id="{525BBF13-F762-4492-A0DB-E797AC918637}"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63</a:t>
            </a:fld>
            <a:endParaRPr lang="zh-CN" altLang="en-US" dirty="0"/>
          </a:p>
        </p:txBody>
      </p:sp>
    </p:spTree>
    <p:extLst>
      <p:ext uri="{BB962C8B-B14F-4D97-AF65-F5344CB8AC3E}">
        <p14:creationId xmlns:p14="http://schemas.microsoft.com/office/powerpoint/2010/main" val="7020659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磁盘结构</a:t>
            </a:r>
          </a:p>
        </p:txBody>
      </p:sp>
      <p:pic>
        <p:nvPicPr>
          <p:cNvPr id="7" name="Content Placeholder 6"/>
          <p:cNvPicPr>
            <a:picLocks noGrp="1" noChangeAspect="1"/>
          </p:cNvPicPr>
          <p:nvPr>
            <p:ph idx="1"/>
          </p:nvPr>
        </p:nvPicPr>
        <p:blipFill rotWithShape="1">
          <a:blip r:embed="rId2">
            <a:extLst>
              <a:ext uri="{28A0092B-C50C-407E-A947-70E740481C1C}">
                <a14:useLocalDpi xmlns:a14="http://schemas.microsoft.com/office/drawing/2010/main" val="0"/>
              </a:ext>
            </a:extLst>
          </a:blip>
          <a:srcRect t="2039" b="4902"/>
          <a:stretch/>
        </p:blipFill>
        <p:spPr>
          <a:xfrm>
            <a:off x="1691680" y="1484785"/>
            <a:ext cx="5579985" cy="4680519"/>
          </a:xfrm>
        </p:spPr>
      </p:pic>
      <p:sp>
        <p:nvSpPr>
          <p:cNvPr id="4" name="Date Placeholder 3"/>
          <p:cNvSpPr>
            <a:spLocks noGrp="1"/>
          </p:cNvSpPr>
          <p:nvPr>
            <p:ph type="dt" sz="half" idx="10"/>
          </p:nvPr>
        </p:nvSpPr>
        <p:spPr/>
        <p:txBody>
          <a:bodyPr/>
          <a:lstStyle/>
          <a:p>
            <a:fld id="{CC40EF2A-85B4-4F27-AFC7-1E589643E577}"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64</a:t>
            </a:fld>
            <a:endParaRPr lang="zh-CN" altLang="en-US" dirty="0"/>
          </a:p>
        </p:txBody>
      </p:sp>
    </p:spTree>
    <p:extLst>
      <p:ext uri="{BB962C8B-B14F-4D97-AF65-F5344CB8AC3E}">
        <p14:creationId xmlns:p14="http://schemas.microsoft.com/office/powerpoint/2010/main" val="15595539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磁盘结构</a:t>
            </a:r>
          </a:p>
        </p:txBody>
      </p:sp>
      <p:sp>
        <p:nvSpPr>
          <p:cNvPr id="4" name="Date Placeholder 3"/>
          <p:cNvSpPr>
            <a:spLocks noGrp="1"/>
          </p:cNvSpPr>
          <p:nvPr>
            <p:ph type="dt" sz="half" idx="10"/>
          </p:nvPr>
        </p:nvSpPr>
        <p:spPr/>
        <p:txBody>
          <a:bodyPr/>
          <a:lstStyle/>
          <a:p>
            <a:fld id="{243BAB01-DCC7-46AB-B1C0-379D27505D38}"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65</a:t>
            </a:fld>
            <a:endParaRPr lang="zh-CN" altLang="en-US" dirty="0"/>
          </a:p>
        </p:txBody>
      </p:sp>
      <p:grpSp>
        <p:nvGrpSpPr>
          <p:cNvPr id="7" name="Group 4"/>
          <p:cNvGrpSpPr>
            <a:grpSpLocks/>
          </p:cNvGrpSpPr>
          <p:nvPr/>
        </p:nvGrpSpPr>
        <p:grpSpPr bwMode="auto">
          <a:xfrm>
            <a:off x="611188" y="2166193"/>
            <a:ext cx="3087687" cy="3365500"/>
            <a:chOff x="385" y="1682"/>
            <a:chExt cx="1945" cy="2120"/>
          </a:xfrm>
        </p:grpSpPr>
        <p:grpSp>
          <p:nvGrpSpPr>
            <p:cNvPr id="8" name="Group 5"/>
            <p:cNvGrpSpPr>
              <a:grpSpLocks/>
            </p:cNvGrpSpPr>
            <p:nvPr/>
          </p:nvGrpSpPr>
          <p:grpSpPr bwMode="auto">
            <a:xfrm>
              <a:off x="884" y="2161"/>
              <a:ext cx="862" cy="299"/>
              <a:chOff x="884" y="2161"/>
              <a:chExt cx="862" cy="299"/>
            </a:xfrm>
          </p:grpSpPr>
          <p:grpSp>
            <p:nvGrpSpPr>
              <p:cNvPr id="87" name="Group 6"/>
              <p:cNvGrpSpPr>
                <a:grpSpLocks/>
              </p:cNvGrpSpPr>
              <p:nvPr/>
            </p:nvGrpSpPr>
            <p:grpSpPr bwMode="auto">
              <a:xfrm>
                <a:off x="884" y="2233"/>
                <a:ext cx="862" cy="227"/>
                <a:chOff x="884" y="1933"/>
                <a:chExt cx="862" cy="227"/>
              </a:xfrm>
            </p:grpSpPr>
            <p:sp>
              <p:nvSpPr>
                <p:cNvPr id="89" name="Oval 7"/>
                <p:cNvSpPr>
                  <a:spLocks noChangeArrowheads="1"/>
                </p:cNvSpPr>
                <p:nvPr/>
              </p:nvSpPr>
              <p:spPr bwMode="auto">
                <a:xfrm>
                  <a:off x="884" y="1933"/>
                  <a:ext cx="862" cy="227"/>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90" name="Oval 8"/>
                <p:cNvSpPr>
                  <a:spLocks noChangeArrowheads="1"/>
                </p:cNvSpPr>
                <p:nvPr/>
              </p:nvSpPr>
              <p:spPr bwMode="auto">
                <a:xfrm>
                  <a:off x="1162" y="1991"/>
                  <a:ext cx="317" cy="90"/>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grpSp>
          <p:sp>
            <p:nvSpPr>
              <p:cNvPr id="88" name="AutoShape 9"/>
              <p:cNvSpPr>
                <a:spLocks noChangeArrowheads="1"/>
              </p:cNvSpPr>
              <p:nvPr/>
            </p:nvSpPr>
            <p:spPr bwMode="auto">
              <a:xfrm>
                <a:off x="1295" y="2161"/>
                <a:ext cx="45" cy="179"/>
              </a:xfrm>
              <a:prstGeom prst="roundRect">
                <a:avLst>
                  <a:gd name="adj" fmla="val 16667"/>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grpSp>
        <p:grpSp>
          <p:nvGrpSpPr>
            <p:cNvPr id="9" name="Group 10"/>
            <p:cNvGrpSpPr>
              <a:grpSpLocks/>
            </p:cNvGrpSpPr>
            <p:nvPr/>
          </p:nvGrpSpPr>
          <p:grpSpPr bwMode="auto">
            <a:xfrm>
              <a:off x="885" y="2460"/>
              <a:ext cx="862" cy="299"/>
              <a:chOff x="884" y="2161"/>
              <a:chExt cx="862" cy="299"/>
            </a:xfrm>
          </p:grpSpPr>
          <p:grpSp>
            <p:nvGrpSpPr>
              <p:cNvPr id="83" name="Group 11"/>
              <p:cNvGrpSpPr>
                <a:grpSpLocks/>
              </p:cNvGrpSpPr>
              <p:nvPr/>
            </p:nvGrpSpPr>
            <p:grpSpPr bwMode="auto">
              <a:xfrm>
                <a:off x="884" y="2233"/>
                <a:ext cx="862" cy="227"/>
                <a:chOff x="884" y="1933"/>
                <a:chExt cx="862" cy="227"/>
              </a:xfrm>
            </p:grpSpPr>
            <p:sp>
              <p:nvSpPr>
                <p:cNvPr id="85" name="Oval 12"/>
                <p:cNvSpPr>
                  <a:spLocks noChangeArrowheads="1"/>
                </p:cNvSpPr>
                <p:nvPr/>
              </p:nvSpPr>
              <p:spPr bwMode="auto">
                <a:xfrm>
                  <a:off x="884" y="1933"/>
                  <a:ext cx="862" cy="227"/>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86" name="Oval 13"/>
                <p:cNvSpPr>
                  <a:spLocks noChangeArrowheads="1"/>
                </p:cNvSpPr>
                <p:nvPr/>
              </p:nvSpPr>
              <p:spPr bwMode="auto">
                <a:xfrm>
                  <a:off x="1162" y="1991"/>
                  <a:ext cx="317" cy="90"/>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grpSp>
          <p:sp>
            <p:nvSpPr>
              <p:cNvPr id="84" name="AutoShape 14"/>
              <p:cNvSpPr>
                <a:spLocks noChangeArrowheads="1"/>
              </p:cNvSpPr>
              <p:nvPr/>
            </p:nvSpPr>
            <p:spPr bwMode="auto">
              <a:xfrm>
                <a:off x="1295" y="2161"/>
                <a:ext cx="45" cy="179"/>
              </a:xfrm>
              <a:prstGeom prst="roundRect">
                <a:avLst>
                  <a:gd name="adj" fmla="val 16667"/>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grpSp>
        <p:grpSp>
          <p:nvGrpSpPr>
            <p:cNvPr id="10" name="Group 15"/>
            <p:cNvGrpSpPr>
              <a:grpSpLocks/>
            </p:cNvGrpSpPr>
            <p:nvPr/>
          </p:nvGrpSpPr>
          <p:grpSpPr bwMode="auto">
            <a:xfrm>
              <a:off x="890" y="2760"/>
              <a:ext cx="862" cy="299"/>
              <a:chOff x="884" y="2161"/>
              <a:chExt cx="862" cy="299"/>
            </a:xfrm>
          </p:grpSpPr>
          <p:grpSp>
            <p:nvGrpSpPr>
              <p:cNvPr id="79" name="Group 16"/>
              <p:cNvGrpSpPr>
                <a:grpSpLocks/>
              </p:cNvGrpSpPr>
              <p:nvPr/>
            </p:nvGrpSpPr>
            <p:grpSpPr bwMode="auto">
              <a:xfrm>
                <a:off x="884" y="2233"/>
                <a:ext cx="862" cy="227"/>
                <a:chOff x="884" y="1933"/>
                <a:chExt cx="862" cy="227"/>
              </a:xfrm>
            </p:grpSpPr>
            <p:sp>
              <p:nvSpPr>
                <p:cNvPr id="81" name="Oval 17"/>
                <p:cNvSpPr>
                  <a:spLocks noChangeArrowheads="1"/>
                </p:cNvSpPr>
                <p:nvPr/>
              </p:nvSpPr>
              <p:spPr bwMode="auto">
                <a:xfrm>
                  <a:off x="884" y="1933"/>
                  <a:ext cx="862" cy="227"/>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82" name="Oval 18"/>
                <p:cNvSpPr>
                  <a:spLocks noChangeArrowheads="1"/>
                </p:cNvSpPr>
                <p:nvPr/>
              </p:nvSpPr>
              <p:spPr bwMode="auto">
                <a:xfrm>
                  <a:off x="1162" y="1991"/>
                  <a:ext cx="317" cy="90"/>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grpSp>
          <p:sp>
            <p:nvSpPr>
              <p:cNvPr id="80" name="AutoShape 19"/>
              <p:cNvSpPr>
                <a:spLocks noChangeArrowheads="1"/>
              </p:cNvSpPr>
              <p:nvPr/>
            </p:nvSpPr>
            <p:spPr bwMode="auto">
              <a:xfrm>
                <a:off x="1295" y="2161"/>
                <a:ext cx="45" cy="179"/>
              </a:xfrm>
              <a:prstGeom prst="roundRect">
                <a:avLst>
                  <a:gd name="adj" fmla="val 16667"/>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grpSp>
        <p:grpSp>
          <p:nvGrpSpPr>
            <p:cNvPr id="11" name="Group 20"/>
            <p:cNvGrpSpPr>
              <a:grpSpLocks/>
            </p:cNvGrpSpPr>
            <p:nvPr/>
          </p:nvGrpSpPr>
          <p:grpSpPr bwMode="auto">
            <a:xfrm>
              <a:off x="884" y="1682"/>
              <a:ext cx="862" cy="478"/>
              <a:chOff x="884" y="1682"/>
              <a:chExt cx="862" cy="478"/>
            </a:xfrm>
          </p:grpSpPr>
          <p:grpSp>
            <p:nvGrpSpPr>
              <p:cNvPr id="73" name="Group 21"/>
              <p:cNvGrpSpPr>
                <a:grpSpLocks/>
              </p:cNvGrpSpPr>
              <p:nvPr/>
            </p:nvGrpSpPr>
            <p:grpSpPr bwMode="auto">
              <a:xfrm>
                <a:off x="884" y="1933"/>
                <a:ext cx="862" cy="227"/>
                <a:chOff x="884" y="1933"/>
                <a:chExt cx="862" cy="227"/>
              </a:xfrm>
            </p:grpSpPr>
            <p:sp>
              <p:nvSpPr>
                <p:cNvPr id="77" name="Oval 22"/>
                <p:cNvSpPr>
                  <a:spLocks noChangeArrowheads="1"/>
                </p:cNvSpPr>
                <p:nvPr/>
              </p:nvSpPr>
              <p:spPr bwMode="auto">
                <a:xfrm>
                  <a:off x="884" y="1933"/>
                  <a:ext cx="862" cy="227"/>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8" name="Oval 23"/>
                <p:cNvSpPr>
                  <a:spLocks noChangeArrowheads="1"/>
                </p:cNvSpPr>
                <p:nvPr/>
              </p:nvSpPr>
              <p:spPr bwMode="auto">
                <a:xfrm>
                  <a:off x="1162" y="1991"/>
                  <a:ext cx="317" cy="90"/>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grpSp>
          <p:grpSp>
            <p:nvGrpSpPr>
              <p:cNvPr id="74" name="Group 24"/>
              <p:cNvGrpSpPr>
                <a:grpSpLocks/>
              </p:cNvGrpSpPr>
              <p:nvPr/>
            </p:nvGrpSpPr>
            <p:grpSpPr bwMode="auto">
              <a:xfrm>
                <a:off x="1292" y="1682"/>
                <a:ext cx="48" cy="352"/>
                <a:chOff x="1292" y="1682"/>
                <a:chExt cx="48" cy="352"/>
              </a:xfrm>
            </p:grpSpPr>
            <p:sp>
              <p:nvSpPr>
                <p:cNvPr id="75" name="AutoShape 25"/>
                <p:cNvSpPr>
                  <a:spLocks noChangeArrowheads="1"/>
                </p:cNvSpPr>
                <p:nvPr/>
              </p:nvSpPr>
              <p:spPr bwMode="auto">
                <a:xfrm>
                  <a:off x="1295" y="1696"/>
                  <a:ext cx="45" cy="338"/>
                </a:xfrm>
                <a:prstGeom prst="roundRect">
                  <a:avLst>
                    <a:gd name="adj" fmla="val 16667"/>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6" name="Oval 26"/>
                <p:cNvSpPr>
                  <a:spLocks noChangeArrowheads="1"/>
                </p:cNvSpPr>
                <p:nvPr/>
              </p:nvSpPr>
              <p:spPr bwMode="auto">
                <a:xfrm>
                  <a:off x="1292" y="1682"/>
                  <a:ext cx="46" cy="27"/>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grpSp>
        </p:grpSp>
        <p:grpSp>
          <p:nvGrpSpPr>
            <p:cNvPr id="12" name="Group 27"/>
            <p:cNvGrpSpPr>
              <a:grpSpLocks/>
            </p:cNvGrpSpPr>
            <p:nvPr/>
          </p:nvGrpSpPr>
          <p:grpSpPr bwMode="auto">
            <a:xfrm>
              <a:off x="890" y="3062"/>
              <a:ext cx="862" cy="299"/>
              <a:chOff x="884" y="2161"/>
              <a:chExt cx="862" cy="299"/>
            </a:xfrm>
          </p:grpSpPr>
          <p:grpSp>
            <p:nvGrpSpPr>
              <p:cNvPr id="69" name="Group 28"/>
              <p:cNvGrpSpPr>
                <a:grpSpLocks/>
              </p:cNvGrpSpPr>
              <p:nvPr/>
            </p:nvGrpSpPr>
            <p:grpSpPr bwMode="auto">
              <a:xfrm>
                <a:off x="884" y="2233"/>
                <a:ext cx="862" cy="227"/>
                <a:chOff x="884" y="1933"/>
                <a:chExt cx="862" cy="227"/>
              </a:xfrm>
            </p:grpSpPr>
            <p:sp>
              <p:nvSpPr>
                <p:cNvPr id="71" name="Oval 29"/>
                <p:cNvSpPr>
                  <a:spLocks noChangeArrowheads="1"/>
                </p:cNvSpPr>
                <p:nvPr/>
              </p:nvSpPr>
              <p:spPr bwMode="auto">
                <a:xfrm>
                  <a:off x="884" y="1933"/>
                  <a:ext cx="862" cy="227"/>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72" name="Oval 30"/>
                <p:cNvSpPr>
                  <a:spLocks noChangeArrowheads="1"/>
                </p:cNvSpPr>
                <p:nvPr/>
              </p:nvSpPr>
              <p:spPr bwMode="auto">
                <a:xfrm>
                  <a:off x="1162" y="1991"/>
                  <a:ext cx="317" cy="90"/>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grpSp>
          <p:sp>
            <p:nvSpPr>
              <p:cNvPr id="70" name="AutoShape 31"/>
              <p:cNvSpPr>
                <a:spLocks noChangeArrowheads="1"/>
              </p:cNvSpPr>
              <p:nvPr/>
            </p:nvSpPr>
            <p:spPr bwMode="auto">
              <a:xfrm>
                <a:off x="1295" y="2161"/>
                <a:ext cx="45" cy="179"/>
              </a:xfrm>
              <a:prstGeom prst="roundRect">
                <a:avLst>
                  <a:gd name="adj" fmla="val 16667"/>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grpSp>
        <p:sp>
          <p:nvSpPr>
            <p:cNvPr id="13" name="AutoShape 32"/>
            <p:cNvSpPr>
              <a:spLocks noChangeArrowheads="1"/>
            </p:cNvSpPr>
            <p:nvPr/>
          </p:nvSpPr>
          <p:spPr bwMode="auto">
            <a:xfrm>
              <a:off x="1298" y="3361"/>
              <a:ext cx="45" cy="270"/>
            </a:xfrm>
            <a:prstGeom prst="roundRect">
              <a:avLst>
                <a:gd name="adj" fmla="val 16667"/>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14" name="Text Box 33"/>
            <p:cNvSpPr txBox="1">
              <a:spLocks noChangeArrowheads="1"/>
            </p:cNvSpPr>
            <p:nvPr/>
          </p:nvSpPr>
          <p:spPr bwMode="auto">
            <a:xfrm>
              <a:off x="1105" y="3584"/>
              <a:ext cx="45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latin typeface="楷体" panose="02010609060101010101" pitchFamily="49" charset="-122"/>
                  <a:ea typeface="楷体" panose="02010609060101010101" pitchFamily="49" charset="-122"/>
                </a:rPr>
                <a:t>轴心</a:t>
              </a:r>
            </a:p>
          </p:txBody>
        </p:sp>
        <p:sp>
          <p:nvSpPr>
            <p:cNvPr id="15" name="Freeform 34"/>
            <p:cNvSpPr>
              <a:spLocks/>
            </p:cNvSpPr>
            <p:nvPr/>
          </p:nvSpPr>
          <p:spPr bwMode="auto">
            <a:xfrm>
              <a:off x="1160" y="3430"/>
              <a:ext cx="325" cy="136"/>
            </a:xfrm>
            <a:custGeom>
              <a:avLst/>
              <a:gdLst>
                <a:gd name="T0" fmla="*/ 227 w 325"/>
                <a:gd name="T1" fmla="*/ 0 h 136"/>
                <a:gd name="T2" fmla="*/ 317 w 325"/>
                <a:gd name="T3" fmla="*/ 91 h 136"/>
                <a:gd name="T4" fmla="*/ 181 w 325"/>
                <a:gd name="T5" fmla="*/ 136 h 136"/>
                <a:gd name="T6" fmla="*/ 0 w 325"/>
                <a:gd name="T7" fmla="*/ 91 h 136"/>
              </a:gdLst>
              <a:ahLst/>
              <a:cxnLst>
                <a:cxn ang="0">
                  <a:pos x="T0" y="T1"/>
                </a:cxn>
                <a:cxn ang="0">
                  <a:pos x="T2" y="T3"/>
                </a:cxn>
                <a:cxn ang="0">
                  <a:pos x="T4" y="T5"/>
                </a:cxn>
                <a:cxn ang="0">
                  <a:pos x="T6" y="T7"/>
                </a:cxn>
              </a:cxnLst>
              <a:rect l="0" t="0" r="r" b="b"/>
              <a:pathLst>
                <a:path w="325" h="136">
                  <a:moveTo>
                    <a:pt x="227" y="0"/>
                  </a:moveTo>
                  <a:cubicBezTo>
                    <a:pt x="276" y="34"/>
                    <a:pt x="325" y="68"/>
                    <a:pt x="317" y="91"/>
                  </a:cubicBezTo>
                  <a:cubicBezTo>
                    <a:pt x="309" y="114"/>
                    <a:pt x="234" y="136"/>
                    <a:pt x="181" y="136"/>
                  </a:cubicBezTo>
                  <a:cubicBezTo>
                    <a:pt x="128" y="136"/>
                    <a:pt x="30" y="98"/>
                    <a:pt x="0" y="91"/>
                  </a:cubicBezTo>
                </a:path>
              </a:pathLst>
            </a:custGeom>
            <a:noFill/>
            <a:ln w="19050" cmpd="sng">
              <a:solidFill>
                <a:schemeClr val="tx1"/>
              </a:solidFill>
              <a:round/>
              <a:headEnd type="none" w="med" len="me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16" name="Rectangle 35"/>
            <p:cNvSpPr>
              <a:spLocks noChangeArrowheads="1"/>
            </p:cNvSpPr>
            <p:nvPr/>
          </p:nvSpPr>
          <p:spPr bwMode="auto">
            <a:xfrm>
              <a:off x="2046" y="1685"/>
              <a:ext cx="45" cy="192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17" name="Text Box 36"/>
            <p:cNvSpPr txBox="1">
              <a:spLocks noChangeArrowheads="1"/>
            </p:cNvSpPr>
            <p:nvPr/>
          </p:nvSpPr>
          <p:spPr bwMode="auto">
            <a:xfrm>
              <a:off x="1876" y="3590"/>
              <a:ext cx="45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latin typeface="楷体" panose="02010609060101010101" pitchFamily="49" charset="-122"/>
                  <a:ea typeface="楷体" panose="02010609060101010101" pitchFamily="49" charset="-122"/>
                </a:rPr>
                <a:t>主杆</a:t>
              </a:r>
            </a:p>
          </p:txBody>
        </p:sp>
        <p:grpSp>
          <p:nvGrpSpPr>
            <p:cNvPr id="18" name="Group 37"/>
            <p:cNvGrpSpPr>
              <a:grpSpLocks/>
            </p:cNvGrpSpPr>
            <p:nvPr/>
          </p:nvGrpSpPr>
          <p:grpSpPr bwMode="auto">
            <a:xfrm>
              <a:off x="1474" y="1821"/>
              <a:ext cx="566" cy="102"/>
              <a:chOff x="1474" y="1821"/>
              <a:chExt cx="566" cy="102"/>
            </a:xfrm>
          </p:grpSpPr>
          <p:sp>
            <p:nvSpPr>
              <p:cNvPr id="66" name="Rectangle 38"/>
              <p:cNvSpPr>
                <a:spLocks noChangeArrowheads="1"/>
              </p:cNvSpPr>
              <p:nvPr/>
            </p:nvSpPr>
            <p:spPr bwMode="auto">
              <a:xfrm>
                <a:off x="1474" y="1900"/>
                <a:ext cx="91" cy="23"/>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67" name="Line 39"/>
              <p:cNvSpPr>
                <a:spLocks noChangeShapeType="1"/>
              </p:cNvSpPr>
              <p:nvPr/>
            </p:nvSpPr>
            <p:spPr bwMode="auto">
              <a:xfrm>
                <a:off x="1519" y="1821"/>
                <a:ext cx="52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68" name="Line 40"/>
              <p:cNvSpPr>
                <a:spLocks noChangeShapeType="1"/>
              </p:cNvSpPr>
              <p:nvPr/>
            </p:nvSpPr>
            <p:spPr bwMode="auto">
              <a:xfrm>
                <a:off x="1519" y="1827"/>
                <a:ext cx="0" cy="6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grpSp>
        <p:grpSp>
          <p:nvGrpSpPr>
            <p:cNvPr id="19" name="Group 41"/>
            <p:cNvGrpSpPr>
              <a:grpSpLocks/>
            </p:cNvGrpSpPr>
            <p:nvPr/>
          </p:nvGrpSpPr>
          <p:grpSpPr bwMode="auto">
            <a:xfrm>
              <a:off x="1474" y="2160"/>
              <a:ext cx="566" cy="78"/>
              <a:chOff x="3107" y="2241"/>
              <a:chExt cx="566" cy="78"/>
            </a:xfrm>
          </p:grpSpPr>
          <p:sp>
            <p:nvSpPr>
              <p:cNvPr id="62" name="Line 42"/>
              <p:cNvSpPr>
                <a:spLocks noChangeShapeType="1"/>
              </p:cNvSpPr>
              <p:nvPr/>
            </p:nvSpPr>
            <p:spPr bwMode="auto">
              <a:xfrm>
                <a:off x="3152" y="2251"/>
                <a:ext cx="0"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63" name="Rectangle 43"/>
              <p:cNvSpPr>
                <a:spLocks noChangeArrowheads="1"/>
              </p:cNvSpPr>
              <p:nvPr/>
            </p:nvSpPr>
            <p:spPr bwMode="auto">
              <a:xfrm>
                <a:off x="3107" y="2241"/>
                <a:ext cx="91" cy="23"/>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64" name="Rectangle 44"/>
              <p:cNvSpPr>
                <a:spLocks noChangeArrowheads="1"/>
              </p:cNvSpPr>
              <p:nvPr/>
            </p:nvSpPr>
            <p:spPr bwMode="auto">
              <a:xfrm>
                <a:off x="3107" y="2296"/>
                <a:ext cx="91" cy="23"/>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65" name="Line 45"/>
              <p:cNvSpPr>
                <a:spLocks noChangeShapeType="1"/>
              </p:cNvSpPr>
              <p:nvPr/>
            </p:nvSpPr>
            <p:spPr bwMode="auto">
              <a:xfrm>
                <a:off x="3152" y="2284"/>
                <a:ext cx="52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grpSp>
        <p:grpSp>
          <p:nvGrpSpPr>
            <p:cNvPr id="20" name="Group 46"/>
            <p:cNvGrpSpPr>
              <a:grpSpLocks/>
            </p:cNvGrpSpPr>
            <p:nvPr/>
          </p:nvGrpSpPr>
          <p:grpSpPr bwMode="auto">
            <a:xfrm>
              <a:off x="1474" y="2460"/>
              <a:ext cx="566" cy="78"/>
              <a:chOff x="3107" y="2241"/>
              <a:chExt cx="566" cy="78"/>
            </a:xfrm>
          </p:grpSpPr>
          <p:sp>
            <p:nvSpPr>
              <p:cNvPr id="58" name="Line 47"/>
              <p:cNvSpPr>
                <a:spLocks noChangeShapeType="1"/>
              </p:cNvSpPr>
              <p:nvPr/>
            </p:nvSpPr>
            <p:spPr bwMode="auto">
              <a:xfrm>
                <a:off x="3152" y="2251"/>
                <a:ext cx="0"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59" name="Rectangle 48"/>
              <p:cNvSpPr>
                <a:spLocks noChangeArrowheads="1"/>
              </p:cNvSpPr>
              <p:nvPr/>
            </p:nvSpPr>
            <p:spPr bwMode="auto">
              <a:xfrm>
                <a:off x="3107" y="2241"/>
                <a:ext cx="91" cy="23"/>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60" name="Rectangle 49"/>
              <p:cNvSpPr>
                <a:spLocks noChangeArrowheads="1"/>
              </p:cNvSpPr>
              <p:nvPr/>
            </p:nvSpPr>
            <p:spPr bwMode="auto">
              <a:xfrm>
                <a:off x="3107" y="2296"/>
                <a:ext cx="91" cy="23"/>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61" name="Line 50"/>
              <p:cNvSpPr>
                <a:spLocks noChangeShapeType="1"/>
              </p:cNvSpPr>
              <p:nvPr/>
            </p:nvSpPr>
            <p:spPr bwMode="auto">
              <a:xfrm>
                <a:off x="3152" y="2284"/>
                <a:ext cx="52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grpSp>
        <p:grpSp>
          <p:nvGrpSpPr>
            <p:cNvPr id="21" name="Group 51"/>
            <p:cNvGrpSpPr>
              <a:grpSpLocks/>
            </p:cNvGrpSpPr>
            <p:nvPr/>
          </p:nvGrpSpPr>
          <p:grpSpPr bwMode="auto">
            <a:xfrm>
              <a:off x="1480" y="2762"/>
              <a:ext cx="566" cy="78"/>
              <a:chOff x="3107" y="2241"/>
              <a:chExt cx="566" cy="78"/>
            </a:xfrm>
          </p:grpSpPr>
          <p:sp>
            <p:nvSpPr>
              <p:cNvPr id="54" name="Line 52"/>
              <p:cNvSpPr>
                <a:spLocks noChangeShapeType="1"/>
              </p:cNvSpPr>
              <p:nvPr/>
            </p:nvSpPr>
            <p:spPr bwMode="auto">
              <a:xfrm>
                <a:off x="3152" y="2251"/>
                <a:ext cx="0"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55" name="Rectangle 53"/>
              <p:cNvSpPr>
                <a:spLocks noChangeArrowheads="1"/>
              </p:cNvSpPr>
              <p:nvPr/>
            </p:nvSpPr>
            <p:spPr bwMode="auto">
              <a:xfrm>
                <a:off x="3107" y="2241"/>
                <a:ext cx="91" cy="23"/>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6" name="Rectangle 54"/>
              <p:cNvSpPr>
                <a:spLocks noChangeArrowheads="1"/>
              </p:cNvSpPr>
              <p:nvPr/>
            </p:nvSpPr>
            <p:spPr bwMode="auto">
              <a:xfrm>
                <a:off x="3107" y="2296"/>
                <a:ext cx="91" cy="23"/>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7" name="Line 55"/>
              <p:cNvSpPr>
                <a:spLocks noChangeShapeType="1"/>
              </p:cNvSpPr>
              <p:nvPr/>
            </p:nvSpPr>
            <p:spPr bwMode="auto">
              <a:xfrm>
                <a:off x="3152" y="2284"/>
                <a:ext cx="52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grpSp>
        <p:grpSp>
          <p:nvGrpSpPr>
            <p:cNvPr id="22" name="Group 56"/>
            <p:cNvGrpSpPr>
              <a:grpSpLocks/>
            </p:cNvGrpSpPr>
            <p:nvPr/>
          </p:nvGrpSpPr>
          <p:grpSpPr bwMode="auto">
            <a:xfrm>
              <a:off x="1480" y="3062"/>
              <a:ext cx="566" cy="78"/>
              <a:chOff x="3107" y="2241"/>
              <a:chExt cx="566" cy="78"/>
            </a:xfrm>
          </p:grpSpPr>
          <p:sp>
            <p:nvSpPr>
              <p:cNvPr id="50" name="Line 57"/>
              <p:cNvSpPr>
                <a:spLocks noChangeShapeType="1"/>
              </p:cNvSpPr>
              <p:nvPr/>
            </p:nvSpPr>
            <p:spPr bwMode="auto">
              <a:xfrm>
                <a:off x="3152" y="2251"/>
                <a:ext cx="0"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51" name="Rectangle 58"/>
              <p:cNvSpPr>
                <a:spLocks noChangeArrowheads="1"/>
              </p:cNvSpPr>
              <p:nvPr/>
            </p:nvSpPr>
            <p:spPr bwMode="auto">
              <a:xfrm>
                <a:off x="3107" y="2241"/>
                <a:ext cx="91" cy="23"/>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2" name="Rectangle 59"/>
              <p:cNvSpPr>
                <a:spLocks noChangeArrowheads="1"/>
              </p:cNvSpPr>
              <p:nvPr/>
            </p:nvSpPr>
            <p:spPr bwMode="auto">
              <a:xfrm>
                <a:off x="3107" y="2296"/>
                <a:ext cx="91" cy="23"/>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3" name="Line 60"/>
              <p:cNvSpPr>
                <a:spLocks noChangeShapeType="1"/>
              </p:cNvSpPr>
              <p:nvPr/>
            </p:nvSpPr>
            <p:spPr bwMode="auto">
              <a:xfrm>
                <a:off x="3152" y="2284"/>
                <a:ext cx="52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grpSp>
        <p:sp>
          <p:nvSpPr>
            <p:cNvPr id="23" name="Text Box 61"/>
            <p:cNvSpPr txBox="1">
              <a:spLocks noChangeArrowheads="1"/>
            </p:cNvSpPr>
            <p:nvPr/>
          </p:nvSpPr>
          <p:spPr bwMode="auto">
            <a:xfrm>
              <a:off x="1474" y="3339"/>
              <a:ext cx="63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latin typeface="楷体" panose="02010609060101010101" pitchFamily="49" charset="-122"/>
                  <a:ea typeface="楷体" panose="02010609060101010101" pitchFamily="49" charset="-122"/>
                </a:rPr>
                <a:t>读写磁头</a:t>
              </a:r>
            </a:p>
          </p:txBody>
        </p:sp>
        <p:sp>
          <p:nvSpPr>
            <p:cNvPr id="24" name="Line 62"/>
            <p:cNvSpPr>
              <a:spLocks noChangeShapeType="1"/>
            </p:cNvSpPr>
            <p:nvPr/>
          </p:nvSpPr>
          <p:spPr bwMode="auto">
            <a:xfrm flipH="1" flipV="1">
              <a:off x="1519" y="3125"/>
              <a:ext cx="272" cy="272"/>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grpSp>
          <p:nvGrpSpPr>
            <p:cNvPr id="25" name="Group 63"/>
            <p:cNvGrpSpPr>
              <a:grpSpLocks/>
            </p:cNvGrpSpPr>
            <p:nvPr/>
          </p:nvGrpSpPr>
          <p:grpSpPr bwMode="auto">
            <a:xfrm>
              <a:off x="385" y="3107"/>
              <a:ext cx="590" cy="364"/>
              <a:chOff x="385" y="3107"/>
              <a:chExt cx="590" cy="364"/>
            </a:xfrm>
          </p:grpSpPr>
          <p:sp>
            <p:nvSpPr>
              <p:cNvPr id="46" name="Text Box 64"/>
              <p:cNvSpPr txBox="1">
                <a:spLocks noChangeArrowheads="1"/>
              </p:cNvSpPr>
              <p:nvPr/>
            </p:nvSpPr>
            <p:spPr bwMode="auto">
              <a:xfrm>
                <a:off x="385" y="3259"/>
                <a:ext cx="49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latin typeface="楷体" panose="02010609060101010101" pitchFamily="49" charset="-122"/>
                    <a:ea typeface="楷体" panose="02010609060101010101" pitchFamily="49" charset="-122"/>
                  </a:rPr>
                  <a:t>盘面</a:t>
                </a:r>
                <a:r>
                  <a:rPr kumimoji="0" lang="en-US" altLang="zh-CN" sz="1600" b="1">
                    <a:latin typeface="楷体" panose="02010609060101010101" pitchFamily="49" charset="-122"/>
                    <a:ea typeface="楷体" panose="02010609060101010101" pitchFamily="49" charset="-122"/>
                  </a:rPr>
                  <a:t>0</a:t>
                </a:r>
              </a:p>
            </p:txBody>
          </p:sp>
          <p:sp>
            <p:nvSpPr>
              <p:cNvPr id="47" name="Line 65"/>
              <p:cNvSpPr>
                <a:spLocks noChangeShapeType="1"/>
              </p:cNvSpPr>
              <p:nvPr/>
            </p:nvSpPr>
            <p:spPr bwMode="auto">
              <a:xfrm flipV="1">
                <a:off x="748" y="3312"/>
                <a:ext cx="206" cy="73"/>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48" name="Text Box 66"/>
              <p:cNvSpPr txBox="1">
                <a:spLocks noChangeArrowheads="1"/>
              </p:cNvSpPr>
              <p:nvPr/>
            </p:nvSpPr>
            <p:spPr bwMode="auto">
              <a:xfrm>
                <a:off x="385" y="3107"/>
                <a:ext cx="49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latin typeface="楷体" panose="02010609060101010101" pitchFamily="49" charset="-122"/>
                    <a:ea typeface="楷体" panose="02010609060101010101" pitchFamily="49" charset="-122"/>
                  </a:rPr>
                  <a:t>盘面</a:t>
                </a:r>
                <a:r>
                  <a:rPr kumimoji="0" lang="en-US" altLang="zh-CN" sz="1600" b="1">
                    <a:latin typeface="楷体" panose="02010609060101010101" pitchFamily="49" charset="-122"/>
                    <a:ea typeface="楷体" panose="02010609060101010101" pitchFamily="49" charset="-122"/>
                  </a:rPr>
                  <a:t>1</a:t>
                </a:r>
              </a:p>
            </p:txBody>
          </p:sp>
          <p:sp>
            <p:nvSpPr>
              <p:cNvPr id="49" name="Line 67"/>
              <p:cNvSpPr>
                <a:spLocks noChangeShapeType="1"/>
              </p:cNvSpPr>
              <p:nvPr/>
            </p:nvSpPr>
            <p:spPr bwMode="auto">
              <a:xfrm>
                <a:off x="793" y="3203"/>
                <a:ext cx="182" cy="46"/>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grpSp>
        <p:grpSp>
          <p:nvGrpSpPr>
            <p:cNvPr id="26" name="Group 68"/>
            <p:cNvGrpSpPr>
              <a:grpSpLocks/>
            </p:cNvGrpSpPr>
            <p:nvPr/>
          </p:nvGrpSpPr>
          <p:grpSpPr bwMode="auto">
            <a:xfrm>
              <a:off x="385" y="2807"/>
              <a:ext cx="590" cy="364"/>
              <a:chOff x="385" y="3107"/>
              <a:chExt cx="590" cy="364"/>
            </a:xfrm>
          </p:grpSpPr>
          <p:sp>
            <p:nvSpPr>
              <p:cNvPr id="42" name="Text Box 69"/>
              <p:cNvSpPr txBox="1">
                <a:spLocks noChangeArrowheads="1"/>
              </p:cNvSpPr>
              <p:nvPr/>
            </p:nvSpPr>
            <p:spPr bwMode="auto">
              <a:xfrm>
                <a:off x="385" y="3259"/>
                <a:ext cx="49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latin typeface="楷体" panose="02010609060101010101" pitchFamily="49" charset="-122"/>
                    <a:ea typeface="楷体" panose="02010609060101010101" pitchFamily="49" charset="-122"/>
                  </a:rPr>
                  <a:t>盘面</a:t>
                </a:r>
                <a:r>
                  <a:rPr kumimoji="0" lang="en-US" altLang="zh-CN" sz="1600" b="1">
                    <a:latin typeface="楷体" panose="02010609060101010101" pitchFamily="49" charset="-122"/>
                    <a:ea typeface="楷体" panose="02010609060101010101" pitchFamily="49" charset="-122"/>
                  </a:rPr>
                  <a:t>2</a:t>
                </a:r>
              </a:p>
            </p:txBody>
          </p:sp>
          <p:sp>
            <p:nvSpPr>
              <p:cNvPr id="43" name="Line 70"/>
              <p:cNvSpPr>
                <a:spLocks noChangeShapeType="1"/>
              </p:cNvSpPr>
              <p:nvPr/>
            </p:nvSpPr>
            <p:spPr bwMode="auto">
              <a:xfrm flipV="1">
                <a:off x="748" y="3312"/>
                <a:ext cx="206" cy="73"/>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44" name="Text Box 71"/>
              <p:cNvSpPr txBox="1">
                <a:spLocks noChangeArrowheads="1"/>
              </p:cNvSpPr>
              <p:nvPr/>
            </p:nvSpPr>
            <p:spPr bwMode="auto">
              <a:xfrm>
                <a:off x="385" y="3107"/>
                <a:ext cx="49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latin typeface="楷体" panose="02010609060101010101" pitchFamily="49" charset="-122"/>
                    <a:ea typeface="楷体" panose="02010609060101010101" pitchFamily="49" charset="-122"/>
                  </a:rPr>
                  <a:t>盘面</a:t>
                </a:r>
                <a:r>
                  <a:rPr kumimoji="0" lang="en-US" altLang="zh-CN" sz="1600" b="1">
                    <a:latin typeface="楷体" panose="02010609060101010101" pitchFamily="49" charset="-122"/>
                    <a:ea typeface="楷体" panose="02010609060101010101" pitchFamily="49" charset="-122"/>
                  </a:rPr>
                  <a:t>3</a:t>
                </a:r>
              </a:p>
            </p:txBody>
          </p:sp>
          <p:sp>
            <p:nvSpPr>
              <p:cNvPr id="45" name="Line 72"/>
              <p:cNvSpPr>
                <a:spLocks noChangeShapeType="1"/>
              </p:cNvSpPr>
              <p:nvPr/>
            </p:nvSpPr>
            <p:spPr bwMode="auto">
              <a:xfrm>
                <a:off x="793" y="3203"/>
                <a:ext cx="182" cy="46"/>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grpSp>
        <p:grpSp>
          <p:nvGrpSpPr>
            <p:cNvPr id="27" name="Group 73"/>
            <p:cNvGrpSpPr>
              <a:grpSpLocks/>
            </p:cNvGrpSpPr>
            <p:nvPr/>
          </p:nvGrpSpPr>
          <p:grpSpPr bwMode="auto">
            <a:xfrm>
              <a:off x="385" y="2508"/>
              <a:ext cx="590" cy="364"/>
              <a:chOff x="385" y="3107"/>
              <a:chExt cx="590" cy="364"/>
            </a:xfrm>
          </p:grpSpPr>
          <p:sp>
            <p:nvSpPr>
              <p:cNvPr id="38" name="Text Box 74"/>
              <p:cNvSpPr txBox="1">
                <a:spLocks noChangeArrowheads="1"/>
              </p:cNvSpPr>
              <p:nvPr/>
            </p:nvSpPr>
            <p:spPr bwMode="auto">
              <a:xfrm>
                <a:off x="385" y="3259"/>
                <a:ext cx="49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latin typeface="楷体" panose="02010609060101010101" pitchFamily="49" charset="-122"/>
                    <a:ea typeface="楷体" panose="02010609060101010101" pitchFamily="49" charset="-122"/>
                  </a:rPr>
                  <a:t>盘面</a:t>
                </a:r>
                <a:r>
                  <a:rPr kumimoji="0" lang="en-US" altLang="zh-CN" sz="1600" b="1">
                    <a:latin typeface="楷体" panose="02010609060101010101" pitchFamily="49" charset="-122"/>
                    <a:ea typeface="楷体" panose="02010609060101010101" pitchFamily="49" charset="-122"/>
                  </a:rPr>
                  <a:t>4</a:t>
                </a:r>
              </a:p>
            </p:txBody>
          </p:sp>
          <p:sp>
            <p:nvSpPr>
              <p:cNvPr id="39" name="Line 75"/>
              <p:cNvSpPr>
                <a:spLocks noChangeShapeType="1"/>
              </p:cNvSpPr>
              <p:nvPr/>
            </p:nvSpPr>
            <p:spPr bwMode="auto">
              <a:xfrm flipV="1">
                <a:off x="748" y="3312"/>
                <a:ext cx="206" cy="73"/>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40" name="Text Box 76"/>
              <p:cNvSpPr txBox="1">
                <a:spLocks noChangeArrowheads="1"/>
              </p:cNvSpPr>
              <p:nvPr/>
            </p:nvSpPr>
            <p:spPr bwMode="auto">
              <a:xfrm>
                <a:off x="385" y="3107"/>
                <a:ext cx="49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latin typeface="楷体" panose="02010609060101010101" pitchFamily="49" charset="-122"/>
                    <a:ea typeface="楷体" panose="02010609060101010101" pitchFamily="49" charset="-122"/>
                  </a:rPr>
                  <a:t>盘面</a:t>
                </a:r>
                <a:r>
                  <a:rPr kumimoji="0" lang="en-US" altLang="zh-CN" sz="1600" b="1">
                    <a:latin typeface="楷体" panose="02010609060101010101" pitchFamily="49" charset="-122"/>
                    <a:ea typeface="楷体" panose="02010609060101010101" pitchFamily="49" charset="-122"/>
                  </a:rPr>
                  <a:t>5</a:t>
                </a:r>
              </a:p>
            </p:txBody>
          </p:sp>
          <p:sp>
            <p:nvSpPr>
              <p:cNvPr id="41" name="Line 77"/>
              <p:cNvSpPr>
                <a:spLocks noChangeShapeType="1"/>
              </p:cNvSpPr>
              <p:nvPr/>
            </p:nvSpPr>
            <p:spPr bwMode="auto">
              <a:xfrm>
                <a:off x="793" y="3203"/>
                <a:ext cx="182" cy="46"/>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grpSp>
        <p:grpSp>
          <p:nvGrpSpPr>
            <p:cNvPr id="28" name="Group 78"/>
            <p:cNvGrpSpPr>
              <a:grpSpLocks/>
            </p:cNvGrpSpPr>
            <p:nvPr/>
          </p:nvGrpSpPr>
          <p:grpSpPr bwMode="auto">
            <a:xfrm>
              <a:off x="391" y="2211"/>
              <a:ext cx="590" cy="364"/>
              <a:chOff x="385" y="3107"/>
              <a:chExt cx="590" cy="364"/>
            </a:xfrm>
          </p:grpSpPr>
          <p:sp>
            <p:nvSpPr>
              <p:cNvPr id="34" name="Text Box 79"/>
              <p:cNvSpPr txBox="1">
                <a:spLocks noChangeArrowheads="1"/>
              </p:cNvSpPr>
              <p:nvPr/>
            </p:nvSpPr>
            <p:spPr bwMode="auto">
              <a:xfrm>
                <a:off x="385" y="3259"/>
                <a:ext cx="49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latin typeface="楷体" panose="02010609060101010101" pitchFamily="49" charset="-122"/>
                    <a:ea typeface="楷体" panose="02010609060101010101" pitchFamily="49" charset="-122"/>
                  </a:rPr>
                  <a:t>盘面</a:t>
                </a:r>
                <a:r>
                  <a:rPr kumimoji="0" lang="en-US" altLang="zh-CN" sz="1600" b="1">
                    <a:latin typeface="楷体" panose="02010609060101010101" pitchFamily="49" charset="-122"/>
                    <a:ea typeface="楷体" panose="02010609060101010101" pitchFamily="49" charset="-122"/>
                  </a:rPr>
                  <a:t>6</a:t>
                </a:r>
              </a:p>
            </p:txBody>
          </p:sp>
          <p:sp>
            <p:nvSpPr>
              <p:cNvPr id="35" name="Line 80"/>
              <p:cNvSpPr>
                <a:spLocks noChangeShapeType="1"/>
              </p:cNvSpPr>
              <p:nvPr/>
            </p:nvSpPr>
            <p:spPr bwMode="auto">
              <a:xfrm flipV="1">
                <a:off x="748" y="3312"/>
                <a:ext cx="206" cy="73"/>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36" name="Text Box 81"/>
              <p:cNvSpPr txBox="1">
                <a:spLocks noChangeArrowheads="1"/>
              </p:cNvSpPr>
              <p:nvPr/>
            </p:nvSpPr>
            <p:spPr bwMode="auto">
              <a:xfrm>
                <a:off x="385" y="3107"/>
                <a:ext cx="49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latin typeface="楷体" panose="02010609060101010101" pitchFamily="49" charset="-122"/>
                    <a:ea typeface="楷体" panose="02010609060101010101" pitchFamily="49" charset="-122"/>
                  </a:rPr>
                  <a:t>盘面</a:t>
                </a:r>
                <a:r>
                  <a:rPr kumimoji="0" lang="en-US" altLang="zh-CN" sz="1600" b="1">
                    <a:latin typeface="楷体" panose="02010609060101010101" pitchFamily="49" charset="-122"/>
                    <a:ea typeface="楷体" panose="02010609060101010101" pitchFamily="49" charset="-122"/>
                  </a:rPr>
                  <a:t>7</a:t>
                </a:r>
              </a:p>
            </p:txBody>
          </p:sp>
          <p:sp>
            <p:nvSpPr>
              <p:cNvPr id="37" name="Line 82"/>
              <p:cNvSpPr>
                <a:spLocks noChangeShapeType="1"/>
              </p:cNvSpPr>
              <p:nvPr/>
            </p:nvSpPr>
            <p:spPr bwMode="auto">
              <a:xfrm>
                <a:off x="793" y="3203"/>
                <a:ext cx="182" cy="46"/>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grpSp>
        <p:grpSp>
          <p:nvGrpSpPr>
            <p:cNvPr id="29" name="Group 83"/>
            <p:cNvGrpSpPr>
              <a:grpSpLocks/>
            </p:cNvGrpSpPr>
            <p:nvPr/>
          </p:nvGrpSpPr>
          <p:grpSpPr bwMode="auto">
            <a:xfrm>
              <a:off x="391" y="1903"/>
              <a:ext cx="590" cy="364"/>
              <a:chOff x="385" y="3107"/>
              <a:chExt cx="590" cy="364"/>
            </a:xfrm>
          </p:grpSpPr>
          <p:sp>
            <p:nvSpPr>
              <p:cNvPr id="30" name="Text Box 84"/>
              <p:cNvSpPr txBox="1">
                <a:spLocks noChangeArrowheads="1"/>
              </p:cNvSpPr>
              <p:nvPr/>
            </p:nvSpPr>
            <p:spPr bwMode="auto">
              <a:xfrm>
                <a:off x="385" y="3259"/>
                <a:ext cx="49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latin typeface="楷体" panose="02010609060101010101" pitchFamily="49" charset="-122"/>
                    <a:ea typeface="楷体" panose="02010609060101010101" pitchFamily="49" charset="-122"/>
                  </a:rPr>
                  <a:t>盘面</a:t>
                </a:r>
                <a:r>
                  <a:rPr kumimoji="0" lang="en-US" altLang="zh-CN" sz="1600" b="1">
                    <a:latin typeface="楷体" panose="02010609060101010101" pitchFamily="49" charset="-122"/>
                    <a:ea typeface="楷体" panose="02010609060101010101" pitchFamily="49" charset="-122"/>
                  </a:rPr>
                  <a:t>8</a:t>
                </a:r>
              </a:p>
            </p:txBody>
          </p:sp>
          <p:sp>
            <p:nvSpPr>
              <p:cNvPr id="31" name="Line 85"/>
              <p:cNvSpPr>
                <a:spLocks noChangeShapeType="1"/>
              </p:cNvSpPr>
              <p:nvPr/>
            </p:nvSpPr>
            <p:spPr bwMode="auto">
              <a:xfrm flipV="1">
                <a:off x="748" y="3312"/>
                <a:ext cx="206" cy="73"/>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32" name="Text Box 86"/>
              <p:cNvSpPr txBox="1">
                <a:spLocks noChangeArrowheads="1"/>
              </p:cNvSpPr>
              <p:nvPr/>
            </p:nvSpPr>
            <p:spPr bwMode="auto">
              <a:xfrm>
                <a:off x="385" y="3107"/>
                <a:ext cx="49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latin typeface="楷体" panose="02010609060101010101" pitchFamily="49" charset="-122"/>
                    <a:ea typeface="楷体" panose="02010609060101010101" pitchFamily="49" charset="-122"/>
                  </a:rPr>
                  <a:t>盘面</a:t>
                </a:r>
                <a:r>
                  <a:rPr kumimoji="0" lang="en-US" altLang="zh-CN" sz="1600" b="1">
                    <a:latin typeface="楷体" panose="02010609060101010101" pitchFamily="49" charset="-122"/>
                    <a:ea typeface="楷体" panose="02010609060101010101" pitchFamily="49" charset="-122"/>
                  </a:rPr>
                  <a:t>9</a:t>
                </a:r>
              </a:p>
            </p:txBody>
          </p:sp>
          <p:sp>
            <p:nvSpPr>
              <p:cNvPr id="33" name="Line 87"/>
              <p:cNvSpPr>
                <a:spLocks noChangeShapeType="1"/>
              </p:cNvSpPr>
              <p:nvPr/>
            </p:nvSpPr>
            <p:spPr bwMode="auto">
              <a:xfrm>
                <a:off x="793" y="3203"/>
                <a:ext cx="182" cy="46"/>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grpSp>
      </p:grpSp>
      <p:grpSp>
        <p:nvGrpSpPr>
          <p:cNvPr id="91" name="Group 88"/>
          <p:cNvGrpSpPr>
            <a:grpSpLocks/>
          </p:cNvGrpSpPr>
          <p:nvPr/>
        </p:nvGrpSpPr>
        <p:grpSpPr bwMode="auto">
          <a:xfrm>
            <a:off x="3851275" y="2132856"/>
            <a:ext cx="4862513" cy="3455987"/>
            <a:chOff x="2426" y="1480"/>
            <a:chExt cx="3063" cy="2177"/>
          </a:xfrm>
        </p:grpSpPr>
        <p:sp>
          <p:nvSpPr>
            <p:cNvPr id="92" name="Oval 89"/>
            <p:cNvSpPr>
              <a:spLocks noChangeArrowheads="1"/>
            </p:cNvSpPr>
            <p:nvPr/>
          </p:nvSpPr>
          <p:spPr bwMode="auto">
            <a:xfrm>
              <a:off x="2873" y="1706"/>
              <a:ext cx="1950" cy="195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93" name="Oval 90"/>
            <p:cNvSpPr>
              <a:spLocks noChangeAspect="1" noChangeArrowheads="1"/>
            </p:cNvSpPr>
            <p:nvPr/>
          </p:nvSpPr>
          <p:spPr bwMode="auto">
            <a:xfrm>
              <a:off x="3106" y="1940"/>
              <a:ext cx="1496" cy="1496"/>
            </a:xfrm>
            <a:prstGeom prst="ellipse">
              <a:avLst/>
            </a:prstGeom>
            <a:noFill/>
            <a:ln w="762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94" name="Oval 91"/>
            <p:cNvSpPr>
              <a:spLocks noChangeAspect="1" noChangeArrowheads="1"/>
            </p:cNvSpPr>
            <p:nvPr/>
          </p:nvSpPr>
          <p:spPr bwMode="auto">
            <a:xfrm>
              <a:off x="3339" y="2166"/>
              <a:ext cx="1043" cy="1043"/>
            </a:xfrm>
            <a:prstGeom prst="ellipse">
              <a:avLst/>
            </a:prstGeom>
            <a:noFill/>
            <a:ln w="762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95" name="Oval 92"/>
            <p:cNvSpPr>
              <a:spLocks noChangeAspect="1" noChangeArrowheads="1"/>
            </p:cNvSpPr>
            <p:nvPr/>
          </p:nvSpPr>
          <p:spPr bwMode="auto">
            <a:xfrm>
              <a:off x="3572" y="2396"/>
              <a:ext cx="589" cy="589"/>
            </a:xfrm>
            <a:prstGeom prst="ellipse">
              <a:avLst/>
            </a:prstGeom>
            <a:noFill/>
            <a:ln w="762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96" name="Line 93"/>
            <p:cNvSpPr>
              <a:spLocks noChangeShapeType="1"/>
            </p:cNvSpPr>
            <p:nvPr/>
          </p:nvSpPr>
          <p:spPr bwMode="auto">
            <a:xfrm>
              <a:off x="2873" y="2689"/>
              <a:ext cx="1951"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97" name="Line 94"/>
            <p:cNvSpPr>
              <a:spLocks noChangeShapeType="1"/>
            </p:cNvSpPr>
            <p:nvPr/>
          </p:nvSpPr>
          <p:spPr bwMode="auto">
            <a:xfrm>
              <a:off x="3862" y="1706"/>
              <a:ext cx="0" cy="195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98" name="Line 95"/>
            <p:cNvSpPr>
              <a:spLocks noChangeShapeType="1"/>
            </p:cNvSpPr>
            <p:nvPr/>
          </p:nvSpPr>
          <p:spPr bwMode="auto">
            <a:xfrm>
              <a:off x="3143" y="1999"/>
              <a:ext cx="1406" cy="136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99" name="Line 96"/>
            <p:cNvSpPr>
              <a:spLocks noChangeShapeType="1"/>
            </p:cNvSpPr>
            <p:nvPr/>
          </p:nvSpPr>
          <p:spPr bwMode="auto">
            <a:xfrm flipH="1">
              <a:off x="3173" y="1991"/>
              <a:ext cx="1361" cy="1406"/>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100" name="Text Box 97"/>
            <p:cNvSpPr txBox="1">
              <a:spLocks noChangeArrowheads="1"/>
            </p:cNvSpPr>
            <p:nvPr/>
          </p:nvSpPr>
          <p:spPr bwMode="auto">
            <a:xfrm>
              <a:off x="2426" y="1818"/>
              <a:ext cx="45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latin typeface="楷体" panose="02010609060101010101" pitchFamily="49" charset="-122"/>
                  <a:ea typeface="楷体" panose="02010609060101010101" pitchFamily="49" charset="-122"/>
                </a:rPr>
                <a:t>扇区</a:t>
              </a:r>
            </a:p>
          </p:txBody>
        </p:sp>
        <p:sp>
          <p:nvSpPr>
            <p:cNvPr id="101" name="Line 98"/>
            <p:cNvSpPr>
              <a:spLocks noChangeShapeType="1"/>
            </p:cNvSpPr>
            <p:nvPr/>
          </p:nvSpPr>
          <p:spPr bwMode="auto">
            <a:xfrm>
              <a:off x="2783" y="1933"/>
              <a:ext cx="49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102" name="Line 99"/>
            <p:cNvSpPr>
              <a:spLocks noChangeShapeType="1"/>
            </p:cNvSpPr>
            <p:nvPr/>
          </p:nvSpPr>
          <p:spPr bwMode="auto">
            <a:xfrm>
              <a:off x="2783" y="1933"/>
              <a:ext cx="725" cy="54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103" name="Line 100"/>
            <p:cNvSpPr>
              <a:spLocks noChangeShapeType="1"/>
            </p:cNvSpPr>
            <p:nvPr/>
          </p:nvSpPr>
          <p:spPr bwMode="auto">
            <a:xfrm>
              <a:off x="2783" y="1933"/>
              <a:ext cx="453" cy="59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104" name="Line 101"/>
            <p:cNvSpPr>
              <a:spLocks noChangeShapeType="1"/>
            </p:cNvSpPr>
            <p:nvPr/>
          </p:nvSpPr>
          <p:spPr bwMode="auto">
            <a:xfrm flipH="1">
              <a:off x="3962" y="1716"/>
              <a:ext cx="47" cy="217"/>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105" name="Line 102"/>
            <p:cNvSpPr>
              <a:spLocks noChangeShapeType="1"/>
            </p:cNvSpPr>
            <p:nvPr/>
          </p:nvSpPr>
          <p:spPr bwMode="auto">
            <a:xfrm flipH="1">
              <a:off x="3962" y="1969"/>
              <a:ext cx="44" cy="224"/>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106" name="Line 103"/>
            <p:cNvSpPr>
              <a:spLocks noChangeShapeType="1"/>
            </p:cNvSpPr>
            <p:nvPr/>
          </p:nvSpPr>
          <p:spPr bwMode="auto">
            <a:xfrm flipH="1">
              <a:off x="3983" y="2196"/>
              <a:ext cx="44" cy="224"/>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107" name="Text Box 104"/>
            <p:cNvSpPr txBox="1">
              <a:spLocks noChangeArrowheads="1"/>
            </p:cNvSpPr>
            <p:nvPr/>
          </p:nvSpPr>
          <p:spPr bwMode="auto">
            <a:xfrm>
              <a:off x="4234" y="1480"/>
              <a:ext cx="45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latin typeface="楷体" panose="02010609060101010101" pitchFamily="49" charset="-122"/>
                  <a:ea typeface="楷体" panose="02010609060101010101" pitchFamily="49" charset="-122"/>
                </a:rPr>
                <a:t>磁道</a:t>
              </a:r>
            </a:p>
          </p:txBody>
        </p:sp>
        <p:sp>
          <p:nvSpPr>
            <p:cNvPr id="108" name="Line 105"/>
            <p:cNvSpPr>
              <a:spLocks noChangeShapeType="1"/>
            </p:cNvSpPr>
            <p:nvPr/>
          </p:nvSpPr>
          <p:spPr bwMode="auto">
            <a:xfrm flipV="1">
              <a:off x="3983" y="1610"/>
              <a:ext cx="273"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109" name="Line 106"/>
            <p:cNvSpPr>
              <a:spLocks noChangeShapeType="1"/>
            </p:cNvSpPr>
            <p:nvPr/>
          </p:nvSpPr>
          <p:spPr bwMode="auto">
            <a:xfrm flipH="1">
              <a:off x="3985" y="1616"/>
              <a:ext cx="272" cy="4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110" name="Line 107"/>
            <p:cNvSpPr>
              <a:spLocks noChangeShapeType="1"/>
            </p:cNvSpPr>
            <p:nvPr/>
          </p:nvSpPr>
          <p:spPr bwMode="auto">
            <a:xfrm flipH="1">
              <a:off x="4020" y="1616"/>
              <a:ext cx="243" cy="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111" name="Text Box 108"/>
            <p:cNvSpPr txBox="1">
              <a:spLocks noChangeArrowheads="1"/>
            </p:cNvSpPr>
            <p:nvPr/>
          </p:nvSpPr>
          <p:spPr bwMode="auto">
            <a:xfrm>
              <a:off x="4785" y="1979"/>
              <a:ext cx="6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latin typeface="楷体" panose="02010609060101010101" pitchFamily="49" charset="-122"/>
                  <a:ea typeface="楷体" panose="02010609060101010101" pitchFamily="49" charset="-122"/>
                </a:rPr>
                <a:t>磁道间隔</a:t>
              </a:r>
            </a:p>
          </p:txBody>
        </p:sp>
        <p:sp>
          <p:nvSpPr>
            <p:cNvPr id="112" name="Line 109"/>
            <p:cNvSpPr>
              <a:spLocks noChangeShapeType="1"/>
            </p:cNvSpPr>
            <p:nvPr/>
          </p:nvSpPr>
          <p:spPr bwMode="auto">
            <a:xfrm flipV="1">
              <a:off x="4468" y="2115"/>
              <a:ext cx="362" cy="136"/>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sp>
          <p:nvSpPr>
            <p:cNvPr id="113" name="Text Box 110"/>
            <p:cNvSpPr txBox="1">
              <a:spLocks noChangeArrowheads="1"/>
            </p:cNvSpPr>
            <p:nvPr/>
          </p:nvSpPr>
          <p:spPr bwMode="auto">
            <a:xfrm>
              <a:off x="4809" y="3022"/>
              <a:ext cx="6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b="1">
                  <a:latin typeface="楷体" panose="02010609060101010101" pitchFamily="49" charset="-122"/>
                  <a:ea typeface="楷体" panose="02010609060101010101" pitchFamily="49" charset="-122"/>
                </a:rPr>
                <a:t>扇区间隔</a:t>
              </a:r>
            </a:p>
          </p:txBody>
        </p:sp>
        <p:sp>
          <p:nvSpPr>
            <p:cNvPr id="114" name="Line 111"/>
            <p:cNvSpPr>
              <a:spLocks noChangeShapeType="1"/>
            </p:cNvSpPr>
            <p:nvPr/>
          </p:nvSpPr>
          <p:spPr bwMode="auto">
            <a:xfrm flipH="1" flipV="1">
              <a:off x="4694" y="2680"/>
              <a:ext cx="182" cy="4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楷体" panose="02010609060101010101" pitchFamily="49" charset="-122"/>
                <a:ea typeface="楷体" panose="02010609060101010101" pitchFamily="49" charset="-122"/>
              </a:endParaRPr>
            </a:p>
          </p:txBody>
        </p:sp>
      </p:grpSp>
    </p:spTree>
    <p:extLst>
      <p:ext uri="{BB962C8B-B14F-4D97-AF65-F5344CB8AC3E}">
        <p14:creationId xmlns:p14="http://schemas.microsoft.com/office/powerpoint/2010/main" val="1779389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91"/>
                                        </p:tgtEl>
                                        <p:attrNameLst>
                                          <p:attrName>style.visibility</p:attrName>
                                        </p:attrNameLst>
                                      </p:cBhvr>
                                      <p:to>
                                        <p:strVal val="visible"/>
                                      </p:to>
                                    </p:set>
                                    <p:animEffect transition="in" filter="box(in)">
                                      <p:cBhvr>
                                        <p:cTn id="12"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磁盘</a:t>
            </a:r>
            <a:r>
              <a:rPr lang="en-US" altLang="zh-CN" dirty="0"/>
              <a:t>I/O</a:t>
            </a:r>
            <a:r>
              <a:rPr lang="zh-CN" altLang="en-US" dirty="0"/>
              <a:t>访问时间的组成</a:t>
            </a:r>
          </a:p>
        </p:txBody>
      </p:sp>
      <p:sp>
        <p:nvSpPr>
          <p:cNvPr id="3" name="Content Placeholder 2"/>
          <p:cNvSpPr>
            <a:spLocks noGrp="1"/>
          </p:cNvSpPr>
          <p:nvPr>
            <p:ph idx="1"/>
          </p:nvPr>
        </p:nvSpPr>
        <p:spPr/>
        <p:txBody>
          <a:bodyPr/>
          <a:lstStyle/>
          <a:p>
            <a:pPr marL="342900" lvl="1" indent="-342900">
              <a:spcBef>
                <a:spcPts val="1200"/>
              </a:spcBef>
              <a:buFont typeface="Arial" pitchFamily="34" charset="0"/>
              <a:buChar char="•"/>
            </a:pPr>
            <a:r>
              <a:rPr lang="zh-CN" altLang="en-US" b="1" dirty="0">
                <a:solidFill>
                  <a:srgbClr val="FF3300"/>
                </a:solidFill>
              </a:rPr>
              <a:t>柱面定位时间（寻道时间） ：</a:t>
            </a:r>
            <a:r>
              <a:rPr lang="zh-CN" altLang="en-US" b="1" dirty="0"/>
              <a:t>磁头移动到指定柱面的机械运动时间</a:t>
            </a:r>
          </a:p>
          <a:p>
            <a:pPr marL="342900" lvl="1" indent="-342900">
              <a:spcBef>
                <a:spcPts val="1200"/>
              </a:spcBef>
              <a:buFont typeface="Arial" pitchFamily="34" charset="0"/>
              <a:buChar char="•"/>
            </a:pPr>
            <a:r>
              <a:rPr lang="zh-CN" altLang="en-US" b="1" dirty="0">
                <a:solidFill>
                  <a:srgbClr val="FF3300"/>
                </a:solidFill>
              </a:rPr>
              <a:t>旋转延迟时间（寻区时间） ：</a:t>
            </a:r>
            <a:r>
              <a:rPr lang="zh-CN" altLang="en-US" b="1" dirty="0"/>
              <a:t>磁盘旋转到指定扇区的机械运动时间</a:t>
            </a:r>
          </a:p>
          <a:p>
            <a:pPr marL="342900" lvl="1" indent="-342900">
              <a:spcBef>
                <a:spcPts val="1200"/>
              </a:spcBef>
              <a:buFont typeface="Arial" pitchFamily="34" charset="0"/>
              <a:buChar char="•"/>
            </a:pPr>
            <a:r>
              <a:rPr lang="zh-CN" altLang="en-US" b="1" dirty="0">
                <a:solidFill>
                  <a:srgbClr val="FF3300"/>
                </a:solidFill>
              </a:rPr>
              <a:t>数据传送时间：</a:t>
            </a:r>
            <a:r>
              <a:rPr lang="zh-CN" altLang="en-US" b="1" dirty="0"/>
              <a:t>从指定扇区读写数据的时间</a:t>
            </a:r>
            <a:endParaRPr lang="zh-CN" altLang="en-US" dirty="0"/>
          </a:p>
        </p:txBody>
      </p:sp>
      <p:sp>
        <p:nvSpPr>
          <p:cNvPr id="4" name="Date Placeholder 3"/>
          <p:cNvSpPr>
            <a:spLocks noGrp="1"/>
          </p:cNvSpPr>
          <p:nvPr>
            <p:ph type="dt" sz="half" idx="10"/>
          </p:nvPr>
        </p:nvSpPr>
        <p:spPr/>
        <p:txBody>
          <a:bodyPr/>
          <a:lstStyle/>
          <a:p>
            <a:fld id="{F3B64430-BF5A-4B35-9E05-BBD13A9413EF}"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66</a:t>
            </a:fld>
            <a:endParaRPr lang="zh-CN" altLang="en-US" dirty="0"/>
          </a:p>
        </p:txBody>
      </p:sp>
      <p:grpSp>
        <p:nvGrpSpPr>
          <p:cNvPr id="7" name="Group 114"/>
          <p:cNvGrpSpPr>
            <a:grpSpLocks/>
          </p:cNvGrpSpPr>
          <p:nvPr/>
        </p:nvGrpSpPr>
        <p:grpSpPr bwMode="auto">
          <a:xfrm>
            <a:off x="523056" y="4293096"/>
            <a:ext cx="8153400" cy="1204912"/>
            <a:chOff x="288" y="3312"/>
            <a:chExt cx="5136" cy="759"/>
          </a:xfrm>
        </p:grpSpPr>
        <p:sp>
          <p:nvSpPr>
            <p:cNvPr id="8" name="Rectangle 115"/>
            <p:cNvSpPr>
              <a:spLocks noChangeArrowheads="1"/>
            </p:cNvSpPr>
            <p:nvPr/>
          </p:nvSpPr>
          <p:spPr bwMode="auto">
            <a:xfrm>
              <a:off x="288" y="3312"/>
              <a:ext cx="5136" cy="48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ea typeface="楷体" panose="02010609060101010101" pitchFamily="49" charset="-122"/>
              </a:endParaRPr>
            </a:p>
          </p:txBody>
        </p:sp>
        <p:sp>
          <p:nvSpPr>
            <p:cNvPr id="9" name="Text Box 116"/>
            <p:cNvSpPr txBox="1">
              <a:spLocks noChangeArrowheads="1"/>
            </p:cNvSpPr>
            <p:nvPr/>
          </p:nvSpPr>
          <p:spPr bwMode="auto">
            <a:xfrm>
              <a:off x="336" y="3333"/>
              <a:ext cx="816"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b="1">
                  <a:ea typeface="楷体" panose="02010609060101010101" pitchFamily="49" charset="-122"/>
                </a:rPr>
                <a:t>设备占用</a:t>
              </a:r>
            </a:p>
            <a:p>
              <a:pPr algn="ctr"/>
              <a:r>
                <a:rPr lang="zh-CN" altLang="en-US" b="1">
                  <a:ea typeface="楷体" panose="02010609060101010101" pitchFamily="49" charset="-122"/>
                </a:rPr>
                <a:t>等待时间</a:t>
              </a:r>
            </a:p>
          </p:txBody>
        </p:sp>
        <p:sp>
          <p:nvSpPr>
            <p:cNvPr id="10" name="Text Box 117"/>
            <p:cNvSpPr txBox="1">
              <a:spLocks noChangeArrowheads="1"/>
            </p:cNvSpPr>
            <p:nvPr/>
          </p:nvSpPr>
          <p:spPr bwMode="auto">
            <a:xfrm>
              <a:off x="1152" y="3330"/>
              <a:ext cx="1008"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b="1">
                  <a:ea typeface="楷体" panose="02010609060101010101" pitchFamily="49" charset="-122"/>
                </a:rPr>
                <a:t>I/O</a:t>
              </a:r>
              <a:r>
                <a:rPr lang="zh-CN" altLang="en-US" b="1">
                  <a:ea typeface="楷体" panose="02010609060101010101" pitchFamily="49" charset="-122"/>
                </a:rPr>
                <a:t>通道占用</a:t>
              </a:r>
            </a:p>
            <a:p>
              <a:pPr algn="ctr"/>
              <a:r>
                <a:rPr lang="zh-CN" altLang="en-US" b="1">
                  <a:ea typeface="楷体" panose="02010609060101010101" pitchFamily="49" charset="-122"/>
                </a:rPr>
                <a:t>等待时间</a:t>
              </a:r>
            </a:p>
          </p:txBody>
        </p:sp>
        <p:sp>
          <p:nvSpPr>
            <p:cNvPr id="11" name="Text Box 118"/>
            <p:cNvSpPr txBox="1">
              <a:spLocks noChangeArrowheads="1"/>
            </p:cNvSpPr>
            <p:nvPr/>
          </p:nvSpPr>
          <p:spPr bwMode="auto">
            <a:xfrm>
              <a:off x="2169" y="3428"/>
              <a:ext cx="108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b="1">
                  <a:ea typeface="楷体" panose="02010609060101010101" pitchFamily="49" charset="-122"/>
                </a:rPr>
                <a:t>柱面定位时间</a:t>
              </a:r>
            </a:p>
          </p:txBody>
        </p:sp>
        <p:sp>
          <p:nvSpPr>
            <p:cNvPr id="12" name="Text Box 119"/>
            <p:cNvSpPr txBox="1">
              <a:spLocks noChangeArrowheads="1"/>
            </p:cNvSpPr>
            <p:nvPr/>
          </p:nvSpPr>
          <p:spPr bwMode="auto">
            <a:xfrm>
              <a:off x="3243" y="3429"/>
              <a:ext cx="108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b="1">
                  <a:ea typeface="楷体" panose="02010609060101010101" pitchFamily="49" charset="-122"/>
                </a:rPr>
                <a:t>旋转延迟时间</a:t>
              </a:r>
            </a:p>
          </p:txBody>
        </p:sp>
        <p:sp>
          <p:nvSpPr>
            <p:cNvPr id="13" name="Text Box 120"/>
            <p:cNvSpPr txBox="1">
              <a:spLocks noChangeArrowheads="1"/>
            </p:cNvSpPr>
            <p:nvPr/>
          </p:nvSpPr>
          <p:spPr bwMode="auto">
            <a:xfrm>
              <a:off x="4299" y="3438"/>
              <a:ext cx="108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b="1">
                  <a:ea typeface="楷体" panose="02010609060101010101" pitchFamily="49" charset="-122"/>
                </a:rPr>
                <a:t>数据传送时间</a:t>
              </a:r>
            </a:p>
          </p:txBody>
        </p:sp>
        <p:sp>
          <p:nvSpPr>
            <p:cNvPr id="14" name="Line 121"/>
            <p:cNvSpPr>
              <a:spLocks noChangeShapeType="1"/>
            </p:cNvSpPr>
            <p:nvPr/>
          </p:nvSpPr>
          <p:spPr bwMode="auto">
            <a:xfrm>
              <a:off x="1125" y="3312"/>
              <a:ext cx="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ea typeface="楷体" panose="02010609060101010101" pitchFamily="49" charset="-122"/>
              </a:endParaRPr>
            </a:p>
          </p:txBody>
        </p:sp>
        <p:sp>
          <p:nvSpPr>
            <p:cNvPr id="15" name="Line 122"/>
            <p:cNvSpPr>
              <a:spLocks noChangeShapeType="1"/>
            </p:cNvSpPr>
            <p:nvPr/>
          </p:nvSpPr>
          <p:spPr bwMode="auto">
            <a:xfrm>
              <a:off x="2151" y="3312"/>
              <a:ext cx="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ea typeface="楷体" panose="02010609060101010101" pitchFamily="49" charset="-122"/>
              </a:endParaRPr>
            </a:p>
          </p:txBody>
        </p:sp>
        <p:sp>
          <p:nvSpPr>
            <p:cNvPr id="16" name="Line 123"/>
            <p:cNvSpPr>
              <a:spLocks noChangeShapeType="1"/>
            </p:cNvSpPr>
            <p:nvPr/>
          </p:nvSpPr>
          <p:spPr bwMode="auto">
            <a:xfrm>
              <a:off x="3246" y="3312"/>
              <a:ext cx="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ea typeface="楷体" panose="02010609060101010101" pitchFamily="49" charset="-122"/>
              </a:endParaRPr>
            </a:p>
          </p:txBody>
        </p:sp>
        <p:sp>
          <p:nvSpPr>
            <p:cNvPr id="17" name="Line 124"/>
            <p:cNvSpPr>
              <a:spLocks noChangeShapeType="1"/>
            </p:cNvSpPr>
            <p:nvPr/>
          </p:nvSpPr>
          <p:spPr bwMode="auto">
            <a:xfrm>
              <a:off x="4320" y="3312"/>
              <a:ext cx="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ea typeface="楷体" panose="02010609060101010101" pitchFamily="49" charset="-122"/>
              </a:endParaRPr>
            </a:p>
          </p:txBody>
        </p:sp>
        <p:sp>
          <p:nvSpPr>
            <p:cNvPr id="18" name="Text Box 125"/>
            <p:cNvSpPr txBox="1">
              <a:spLocks noChangeArrowheads="1"/>
            </p:cNvSpPr>
            <p:nvPr/>
          </p:nvSpPr>
          <p:spPr bwMode="auto">
            <a:xfrm>
              <a:off x="2640" y="3813"/>
              <a:ext cx="96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ea typeface="楷体" panose="02010609060101010101" pitchFamily="49" charset="-122"/>
                </a:rPr>
                <a:t>磁盘设备忙</a:t>
              </a:r>
            </a:p>
          </p:txBody>
        </p:sp>
        <p:sp>
          <p:nvSpPr>
            <p:cNvPr id="19" name="Line 126"/>
            <p:cNvSpPr>
              <a:spLocks noChangeShapeType="1"/>
            </p:cNvSpPr>
            <p:nvPr/>
          </p:nvSpPr>
          <p:spPr bwMode="auto">
            <a:xfrm>
              <a:off x="1125" y="3783"/>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ea typeface="楷体" panose="02010609060101010101" pitchFamily="49" charset="-122"/>
              </a:endParaRPr>
            </a:p>
          </p:txBody>
        </p:sp>
        <p:sp>
          <p:nvSpPr>
            <p:cNvPr id="20" name="Line 127"/>
            <p:cNvSpPr>
              <a:spLocks noChangeShapeType="1"/>
            </p:cNvSpPr>
            <p:nvPr/>
          </p:nvSpPr>
          <p:spPr bwMode="auto">
            <a:xfrm>
              <a:off x="5424" y="3774"/>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ea typeface="楷体" panose="02010609060101010101" pitchFamily="49" charset="-122"/>
              </a:endParaRPr>
            </a:p>
          </p:txBody>
        </p:sp>
        <p:sp>
          <p:nvSpPr>
            <p:cNvPr id="21" name="Line 128"/>
            <p:cNvSpPr>
              <a:spLocks noChangeShapeType="1"/>
            </p:cNvSpPr>
            <p:nvPr/>
          </p:nvSpPr>
          <p:spPr bwMode="auto">
            <a:xfrm>
              <a:off x="3552" y="3936"/>
              <a:ext cx="187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ea typeface="楷体" panose="02010609060101010101" pitchFamily="49" charset="-122"/>
              </a:endParaRPr>
            </a:p>
          </p:txBody>
        </p:sp>
        <p:sp>
          <p:nvSpPr>
            <p:cNvPr id="22" name="Line 129"/>
            <p:cNvSpPr>
              <a:spLocks noChangeShapeType="1"/>
            </p:cNvSpPr>
            <p:nvPr/>
          </p:nvSpPr>
          <p:spPr bwMode="auto">
            <a:xfrm flipH="1">
              <a:off x="1122" y="3936"/>
              <a:ext cx="153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ea typeface="楷体" panose="02010609060101010101" pitchFamily="49" charset="-122"/>
              </a:endParaRPr>
            </a:p>
          </p:txBody>
        </p:sp>
      </p:grpSp>
    </p:spTree>
    <p:extLst>
      <p:ext uri="{BB962C8B-B14F-4D97-AF65-F5344CB8AC3E}">
        <p14:creationId xmlns:p14="http://schemas.microsoft.com/office/powerpoint/2010/main" val="4737529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磁盘</a:t>
            </a:r>
            <a:r>
              <a:rPr lang="en-US" altLang="zh-CN" dirty="0"/>
              <a:t>I/O</a:t>
            </a:r>
            <a:r>
              <a:rPr lang="zh-CN" altLang="en-US" dirty="0"/>
              <a:t>访问时间的组成</a:t>
            </a:r>
          </a:p>
        </p:txBody>
      </p:sp>
      <p:sp>
        <p:nvSpPr>
          <p:cNvPr id="3" name="Content Placeholder 2"/>
          <p:cNvSpPr>
            <a:spLocks noGrp="1"/>
          </p:cNvSpPr>
          <p:nvPr>
            <p:ph idx="1"/>
          </p:nvPr>
        </p:nvSpPr>
        <p:spPr/>
        <p:txBody>
          <a:bodyPr/>
          <a:lstStyle/>
          <a:p>
            <a:r>
              <a:rPr lang="zh-CN" altLang="en-US" dirty="0"/>
              <a:t>以读取一个</a:t>
            </a:r>
            <a:r>
              <a:rPr lang="en-US" altLang="zh-CN" dirty="0"/>
              <a:t>128KB</a:t>
            </a:r>
            <a:r>
              <a:rPr lang="zh-CN" altLang="en-US" dirty="0"/>
              <a:t>的文件为例</a:t>
            </a:r>
            <a:endParaRPr lang="en-US" altLang="zh-CN" dirty="0"/>
          </a:p>
          <a:p>
            <a:pPr lvl="1">
              <a:lnSpc>
                <a:spcPct val="105000"/>
              </a:lnSpc>
            </a:pPr>
            <a:r>
              <a:rPr lang="en-US" altLang="zh-CN" dirty="0"/>
              <a:t>(1)</a:t>
            </a:r>
            <a:r>
              <a:rPr lang="zh-CN" altLang="en-US" dirty="0"/>
              <a:t>文件由</a:t>
            </a:r>
            <a:r>
              <a:rPr lang="en-US" altLang="zh-CN" dirty="0">
                <a:solidFill>
                  <a:srgbClr val="0000FF"/>
                </a:solidFill>
              </a:rPr>
              <a:t>8</a:t>
            </a:r>
            <a:r>
              <a:rPr lang="zh-CN" altLang="en-US" dirty="0">
                <a:solidFill>
                  <a:srgbClr val="0000FF"/>
                </a:solidFill>
              </a:rPr>
              <a:t>个连续磁道</a:t>
            </a:r>
            <a:r>
              <a:rPr lang="en-US" altLang="zh-CN" dirty="0"/>
              <a:t>(</a:t>
            </a:r>
            <a:r>
              <a:rPr lang="zh-CN" altLang="en-US" dirty="0"/>
              <a:t>每个磁道</a:t>
            </a:r>
            <a:r>
              <a:rPr lang="en-US" altLang="zh-CN" dirty="0"/>
              <a:t>32</a:t>
            </a:r>
            <a:r>
              <a:rPr lang="zh-CN" altLang="en-US" dirty="0"/>
              <a:t>个扇区</a:t>
            </a:r>
            <a:r>
              <a:rPr lang="en-US" altLang="zh-CN" dirty="0"/>
              <a:t>)</a:t>
            </a:r>
            <a:r>
              <a:rPr lang="zh-CN" altLang="en-US" dirty="0"/>
              <a:t>上的</a:t>
            </a:r>
            <a:r>
              <a:rPr lang="en-US" altLang="zh-CN" dirty="0"/>
              <a:t>256 </a:t>
            </a:r>
            <a:r>
              <a:rPr lang="zh-CN" altLang="en-US" dirty="0"/>
              <a:t>个扇区构成：</a:t>
            </a:r>
          </a:p>
          <a:p>
            <a:pPr lvl="2">
              <a:lnSpc>
                <a:spcPct val="105000"/>
              </a:lnSpc>
            </a:pPr>
            <a:r>
              <a:rPr lang="en-US" altLang="zh-CN" dirty="0"/>
              <a:t>20ms+(7.3ms+16.7ms)*8=220ms;</a:t>
            </a:r>
          </a:p>
          <a:p>
            <a:pPr lvl="2">
              <a:lnSpc>
                <a:spcPct val="105000"/>
              </a:lnSpc>
            </a:pPr>
            <a:r>
              <a:rPr lang="zh-CN" altLang="en-US" dirty="0"/>
              <a:t>其中，柱面定位时间为</a:t>
            </a:r>
            <a:r>
              <a:rPr lang="en-US" altLang="zh-CN" dirty="0"/>
              <a:t>20ms</a:t>
            </a:r>
            <a:r>
              <a:rPr lang="zh-CN" altLang="en-US" dirty="0"/>
              <a:t>，旋转延迟时间为</a:t>
            </a:r>
            <a:r>
              <a:rPr lang="en-US" altLang="zh-CN" dirty="0"/>
              <a:t>7.3ms</a:t>
            </a:r>
            <a:r>
              <a:rPr lang="zh-CN" altLang="en-US" dirty="0"/>
              <a:t>，</a:t>
            </a:r>
            <a:r>
              <a:rPr lang="en-US" altLang="zh-CN" dirty="0"/>
              <a:t>32</a:t>
            </a:r>
            <a:r>
              <a:rPr lang="zh-CN" altLang="en-US" dirty="0"/>
              <a:t>扇区数据传送时间为</a:t>
            </a:r>
            <a:r>
              <a:rPr lang="en-US" altLang="zh-CN" dirty="0"/>
              <a:t>16.7ms</a:t>
            </a:r>
            <a:r>
              <a:rPr lang="zh-CN" altLang="en-US" dirty="0"/>
              <a:t>；</a:t>
            </a:r>
          </a:p>
          <a:p>
            <a:pPr lvl="1">
              <a:lnSpc>
                <a:spcPct val="105000"/>
              </a:lnSpc>
            </a:pPr>
            <a:endParaRPr lang="en-US" altLang="zh-CN" dirty="0"/>
          </a:p>
          <a:p>
            <a:pPr lvl="1">
              <a:lnSpc>
                <a:spcPct val="105000"/>
              </a:lnSpc>
            </a:pPr>
            <a:r>
              <a:rPr lang="en-US" altLang="zh-CN" dirty="0"/>
              <a:t>(2)</a:t>
            </a:r>
            <a:r>
              <a:rPr lang="zh-CN" altLang="en-US" dirty="0"/>
              <a:t>文件由</a:t>
            </a:r>
            <a:r>
              <a:rPr lang="en-US" altLang="zh-CN" dirty="0">
                <a:solidFill>
                  <a:srgbClr val="0000FF"/>
                </a:solidFill>
              </a:rPr>
              <a:t>256</a:t>
            </a:r>
            <a:r>
              <a:rPr lang="zh-CN" altLang="en-US" dirty="0">
                <a:solidFill>
                  <a:srgbClr val="0000FF"/>
                </a:solidFill>
              </a:rPr>
              <a:t>个随机分布的扇区</a:t>
            </a:r>
            <a:r>
              <a:rPr lang="zh-CN" altLang="en-US" dirty="0"/>
              <a:t>构成：</a:t>
            </a:r>
          </a:p>
          <a:p>
            <a:pPr lvl="2">
              <a:lnSpc>
                <a:spcPct val="105000"/>
              </a:lnSpc>
            </a:pPr>
            <a:r>
              <a:rPr lang="en-US" altLang="zh-CN" dirty="0"/>
              <a:t>(20ms+7.3ms+0.5ms)*256=7373ms;</a:t>
            </a:r>
          </a:p>
          <a:p>
            <a:pPr lvl="2">
              <a:lnSpc>
                <a:spcPct val="105000"/>
              </a:lnSpc>
            </a:pPr>
            <a:r>
              <a:rPr lang="zh-CN" altLang="en-US" dirty="0"/>
              <a:t>其中，</a:t>
            </a:r>
            <a:r>
              <a:rPr lang="en-US" altLang="zh-CN" dirty="0"/>
              <a:t>1</a:t>
            </a:r>
            <a:r>
              <a:rPr lang="zh-CN" altLang="en-US" dirty="0"/>
              <a:t>扇区数据传送时间为</a:t>
            </a:r>
            <a:r>
              <a:rPr lang="en-US" altLang="zh-CN" dirty="0"/>
              <a:t>0.5ms</a:t>
            </a:r>
            <a:r>
              <a:rPr lang="zh-CN" altLang="en-US" dirty="0"/>
              <a:t>；</a:t>
            </a:r>
          </a:p>
          <a:p>
            <a:pPr lvl="1">
              <a:lnSpc>
                <a:spcPct val="105000"/>
              </a:lnSpc>
            </a:pPr>
            <a:endParaRPr lang="en-US" altLang="zh-CN" dirty="0"/>
          </a:p>
          <a:p>
            <a:pPr lvl="1">
              <a:lnSpc>
                <a:spcPct val="105000"/>
              </a:lnSpc>
            </a:pPr>
            <a:r>
              <a:rPr lang="zh-CN" altLang="en-US" dirty="0">
                <a:solidFill>
                  <a:srgbClr val="FF0000"/>
                </a:solidFill>
              </a:rPr>
              <a:t>随机分布时的访问时间为连续分布时的</a:t>
            </a:r>
            <a:r>
              <a:rPr lang="en-US" altLang="zh-CN" dirty="0">
                <a:solidFill>
                  <a:srgbClr val="FF0000"/>
                </a:solidFill>
              </a:rPr>
              <a:t>33.5</a:t>
            </a:r>
            <a:r>
              <a:rPr lang="zh-CN" altLang="en-US" dirty="0">
                <a:solidFill>
                  <a:srgbClr val="FF0000"/>
                </a:solidFill>
              </a:rPr>
              <a:t>倍</a:t>
            </a:r>
            <a:r>
              <a:rPr lang="en-US" altLang="zh-CN" dirty="0">
                <a:solidFill>
                  <a:srgbClr val="FF0000"/>
                </a:solidFill>
              </a:rPr>
              <a:t>!</a:t>
            </a:r>
            <a:endParaRPr lang="zh-CN" altLang="en-US" dirty="0">
              <a:solidFill>
                <a:srgbClr val="FF0000"/>
              </a:solidFill>
            </a:endParaRPr>
          </a:p>
          <a:p>
            <a:endParaRPr lang="zh-CN" altLang="en-US" dirty="0"/>
          </a:p>
        </p:txBody>
      </p:sp>
      <p:sp>
        <p:nvSpPr>
          <p:cNvPr id="4" name="Date Placeholder 3"/>
          <p:cNvSpPr>
            <a:spLocks noGrp="1"/>
          </p:cNvSpPr>
          <p:nvPr>
            <p:ph type="dt" sz="half" idx="10"/>
          </p:nvPr>
        </p:nvSpPr>
        <p:spPr/>
        <p:txBody>
          <a:bodyPr/>
          <a:lstStyle/>
          <a:p>
            <a:fld id="{FBE332D8-B2A5-4778-8096-85A19D6F304C}"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67</a:t>
            </a:fld>
            <a:endParaRPr lang="zh-CN" altLang="en-US" dirty="0"/>
          </a:p>
        </p:txBody>
      </p:sp>
    </p:spTree>
    <p:extLst>
      <p:ext uri="{BB962C8B-B14F-4D97-AF65-F5344CB8AC3E}">
        <p14:creationId xmlns:p14="http://schemas.microsoft.com/office/powerpoint/2010/main" val="8219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磁盘调度算法</a:t>
            </a:r>
          </a:p>
        </p:txBody>
      </p:sp>
      <p:sp>
        <p:nvSpPr>
          <p:cNvPr id="4" name="Date Placeholder 3"/>
          <p:cNvSpPr>
            <a:spLocks noGrp="1"/>
          </p:cNvSpPr>
          <p:nvPr>
            <p:ph type="dt" sz="half" idx="10"/>
          </p:nvPr>
        </p:nvSpPr>
        <p:spPr/>
        <p:txBody>
          <a:bodyPr/>
          <a:lstStyle/>
          <a:p>
            <a:fld id="{7DDAD75C-8B91-45A3-ACC1-220117294CB2}"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68</a:t>
            </a:fld>
            <a:endParaRPr lang="zh-CN" altLang="en-US" dirty="0"/>
          </a:p>
        </p:txBody>
      </p:sp>
      <p:sp>
        <p:nvSpPr>
          <p:cNvPr id="7" name="Rectangle 6"/>
          <p:cNvSpPr/>
          <p:nvPr/>
        </p:nvSpPr>
        <p:spPr>
          <a:xfrm>
            <a:off x="1772816" y="1949931"/>
            <a:ext cx="5598368" cy="830997"/>
          </a:xfrm>
          <a:prstGeom prst="rect">
            <a:avLst/>
          </a:prstGeom>
        </p:spPr>
        <p:txBody>
          <a:bodyPr wrap="square">
            <a:spAutoFit/>
          </a:bodyPr>
          <a:lstStyle/>
          <a:p>
            <a:pPr algn="ctr"/>
            <a:r>
              <a:rPr lang="zh-CN" altLang="en-US" sz="2400" b="1" dirty="0">
                <a:solidFill>
                  <a:srgbClr val="FF0000"/>
                </a:solidFill>
                <a:ea typeface="楷体" panose="02010609060101010101" pitchFamily="49" charset="-122"/>
              </a:rPr>
              <a:t>有若干个访问者请求磁盘执行</a:t>
            </a:r>
            <a:r>
              <a:rPr lang="en-US" altLang="zh-CN" sz="2400" b="1" dirty="0">
                <a:solidFill>
                  <a:srgbClr val="FF0000"/>
                </a:solidFill>
                <a:ea typeface="楷体" panose="02010609060101010101" pitchFamily="49" charset="-122"/>
              </a:rPr>
              <a:t>I/O</a:t>
            </a:r>
            <a:r>
              <a:rPr lang="zh-CN" altLang="en-US" sz="2400" b="1" dirty="0">
                <a:solidFill>
                  <a:srgbClr val="FF0000"/>
                </a:solidFill>
                <a:ea typeface="楷体" panose="02010609060101010101" pitchFamily="49" charset="-122"/>
              </a:rPr>
              <a:t>操作，应先让哪一个访问者完成操作？</a:t>
            </a:r>
            <a:endParaRPr lang="zh-CN" altLang="en-US" sz="2400" dirty="0">
              <a:solidFill>
                <a:srgbClr val="FF0000"/>
              </a:solidFill>
              <a:ea typeface="楷体" panose="02010609060101010101" pitchFamily="49" charset="-122"/>
            </a:endParaRPr>
          </a:p>
        </p:txBody>
      </p:sp>
      <p:sp>
        <p:nvSpPr>
          <p:cNvPr id="8" name="TextBox 7"/>
          <p:cNvSpPr txBox="1"/>
          <p:nvPr/>
        </p:nvSpPr>
        <p:spPr>
          <a:xfrm>
            <a:off x="1043608" y="4149080"/>
            <a:ext cx="6912768" cy="1200329"/>
          </a:xfrm>
          <a:prstGeom prst="rect">
            <a:avLst/>
          </a:prstGeom>
          <a:noFill/>
        </p:spPr>
        <p:txBody>
          <a:bodyPr wrap="square" rtlCol="0">
            <a:spAutoFit/>
          </a:bodyPr>
          <a:lstStyle/>
          <a:p>
            <a:pPr algn="ctr"/>
            <a:r>
              <a:rPr lang="zh-CN" altLang="en-US" sz="2400" b="1" dirty="0">
                <a:solidFill>
                  <a:srgbClr val="0000FF"/>
                </a:solidFill>
                <a:ea typeface="楷体" panose="02010609060101010101" pitchFamily="49" charset="-122"/>
              </a:rPr>
              <a:t>磁盘调度</a:t>
            </a:r>
            <a:endParaRPr lang="en-US" altLang="zh-CN" sz="2400" b="1" dirty="0">
              <a:solidFill>
                <a:srgbClr val="0000FF"/>
              </a:solidFill>
              <a:ea typeface="楷体" panose="02010609060101010101" pitchFamily="49" charset="-122"/>
            </a:endParaRPr>
          </a:p>
          <a:p>
            <a:pPr algn="ctr"/>
            <a:r>
              <a:rPr lang="zh-CN" altLang="en-US" sz="2400" dirty="0">
                <a:solidFill>
                  <a:srgbClr val="0000FF"/>
                </a:solidFill>
                <a:ea typeface="楷体" panose="02010609060101010101" pitchFamily="49" charset="-122"/>
              </a:rPr>
              <a:t>公平</a:t>
            </a:r>
            <a:r>
              <a:rPr lang="zh-CN" altLang="en-US" sz="2400" dirty="0">
                <a:ea typeface="楷体" panose="02010609060101010101" pitchFamily="49" charset="-122"/>
              </a:rPr>
              <a:t>：一个</a:t>
            </a:r>
            <a:r>
              <a:rPr lang="en-US" altLang="zh-CN" sz="2400" dirty="0">
                <a:ea typeface="楷体" panose="02010609060101010101" pitchFamily="49" charset="-122"/>
              </a:rPr>
              <a:t>I/O</a:t>
            </a:r>
            <a:r>
              <a:rPr lang="zh-CN" altLang="en-US" sz="2400" dirty="0">
                <a:ea typeface="楷体" panose="02010609060101010101" pitchFamily="49" charset="-122"/>
              </a:rPr>
              <a:t>请求在有限时间内满足</a:t>
            </a:r>
            <a:endParaRPr lang="en-US" altLang="zh-CN" sz="2400" dirty="0">
              <a:ea typeface="楷体" panose="02010609060101010101" pitchFamily="49" charset="-122"/>
            </a:endParaRPr>
          </a:p>
          <a:p>
            <a:pPr algn="ctr"/>
            <a:r>
              <a:rPr lang="zh-CN" altLang="en-US" sz="2400" dirty="0">
                <a:solidFill>
                  <a:srgbClr val="0000FF"/>
                </a:solidFill>
                <a:ea typeface="楷体" panose="02010609060101010101" pitchFamily="49" charset="-122"/>
              </a:rPr>
              <a:t>高效</a:t>
            </a:r>
            <a:r>
              <a:rPr lang="zh-CN" altLang="en-US" sz="2400" dirty="0">
                <a:ea typeface="楷体" panose="02010609060101010101" pitchFamily="49" charset="-122"/>
              </a:rPr>
              <a:t>：减少机械部件运动带来的时间浪费</a:t>
            </a:r>
          </a:p>
        </p:txBody>
      </p:sp>
    </p:spTree>
    <p:extLst>
      <p:ext uri="{BB962C8B-B14F-4D97-AF65-F5344CB8AC3E}">
        <p14:creationId xmlns:p14="http://schemas.microsoft.com/office/powerpoint/2010/main" val="685779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磁盘调度算法</a:t>
            </a:r>
          </a:p>
        </p:txBody>
      </p:sp>
      <p:sp>
        <p:nvSpPr>
          <p:cNvPr id="3" name="Content Placeholder 2"/>
          <p:cNvSpPr>
            <a:spLocks noGrp="1"/>
          </p:cNvSpPr>
          <p:nvPr>
            <p:ph idx="1"/>
          </p:nvPr>
        </p:nvSpPr>
        <p:spPr/>
        <p:txBody>
          <a:bodyPr/>
          <a:lstStyle/>
          <a:p>
            <a:r>
              <a:rPr lang="zh-CN" altLang="en-US" dirty="0"/>
              <a:t>先来先服务：根据进程请求磁盘</a:t>
            </a:r>
            <a:r>
              <a:rPr lang="en-US" altLang="zh-CN" dirty="0"/>
              <a:t>I/O</a:t>
            </a:r>
            <a:r>
              <a:rPr lang="zh-CN" altLang="en-US" dirty="0"/>
              <a:t>的次序进行调度</a:t>
            </a:r>
            <a:endParaRPr lang="en-US" altLang="zh-CN" dirty="0"/>
          </a:p>
          <a:p>
            <a:pPr lvl="1"/>
            <a:r>
              <a:rPr lang="zh-CN" altLang="en-US" dirty="0"/>
              <a:t>例：磁头当前位置为</a:t>
            </a:r>
            <a:r>
              <a:rPr lang="en-US" altLang="zh-CN" dirty="0"/>
              <a:t>100</a:t>
            </a:r>
            <a:r>
              <a:rPr lang="zh-CN" altLang="en-US" dirty="0"/>
              <a:t>号磁道，请求顺序为：</a:t>
            </a:r>
            <a:r>
              <a:rPr lang="en-US" altLang="zh-CN" dirty="0"/>
              <a:t>55</a:t>
            </a:r>
            <a:r>
              <a:rPr lang="zh-CN" altLang="en-US" dirty="0"/>
              <a:t>、</a:t>
            </a:r>
            <a:r>
              <a:rPr lang="en-US" altLang="zh-CN" dirty="0"/>
              <a:t>58</a:t>
            </a:r>
            <a:r>
              <a:rPr lang="zh-CN" altLang="en-US" dirty="0"/>
              <a:t>、</a:t>
            </a:r>
            <a:r>
              <a:rPr lang="en-US" altLang="zh-CN" dirty="0"/>
              <a:t>39</a:t>
            </a:r>
            <a:r>
              <a:rPr lang="zh-CN" altLang="en-US" dirty="0"/>
              <a:t>、</a:t>
            </a:r>
            <a:r>
              <a:rPr lang="en-US" altLang="zh-CN" dirty="0"/>
              <a:t>18</a:t>
            </a:r>
            <a:r>
              <a:rPr lang="zh-CN" altLang="en-US" dirty="0"/>
              <a:t>、</a:t>
            </a:r>
            <a:r>
              <a:rPr lang="en-US" altLang="zh-CN" dirty="0"/>
              <a:t>90</a:t>
            </a:r>
            <a:r>
              <a:rPr lang="zh-CN" altLang="en-US" dirty="0"/>
              <a:t>、</a:t>
            </a:r>
            <a:r>
              <a:rPr lang="en-US" altLang="zh-CN" dirty="0"/>
              <a:t>160</a:t>
            </a:r>
            <a:r>
              <a:rPr lang="zh-CN" altLang="en-US" dirty="0"/>
              <a:t>、</a:t>
            </a:r>
            <a:r>
              <a:rPr lang="en-US" altLang="zh-CN" dirty="0"/>
              <a:t>150</a:t>
            </a:r>
            <a:r>
              <a:rPr lang="zh-CN" altLang="en-US" dirty="0"/>
              <a:t>、</a:t>
            </a:r>
            <a:r>
              <a:rPr lang="en-US" altLang="zh-CN" dirty="0"/>
              <a:t>38</a:t>
            </a:r>
            <a:r>
              <a:rPr lang="zh-CN" altLang="en-US" dirty="0"/>
              <a:t>、</a:t>
            </a:r>
            <a:r>
              <a:rPr lang="en-US" altLang="zh-CN" dirty="0"/>
              <a:t>184</a:t>
            </a:r>
            <a:r>
              <a:rPr lang="zh-CN" altLang="en-US" dirty="0"/>
              <a:t>，采用</a:t>
            </a:r>
            <a:r>
              <a:rPr lang="en-US" altLang="zh-CN" dirty="0"/>
              <a:t>FCFS</a:t>
            </a:r>
            <a:r>
              <a:rPr lang="zh-CN" altLang="en-US" dirty="0"/>
              <a:t>调度算法，计算平均寻道长度</a:t>
            </a:r>
          </a:p>
        </p:txBody>
      </p:sp>
      <p:sp>
        <p:nvSpPr>
          <p:cNvPr id="4" name="Date Placeholder 3"/>
          <p:cNvSpPr>
            <a:spLocks noGrp="1"/>
          </p:cNvSpPr>
          <p:nvPr>
            <p:ph type="dt" sz="half" idx="10"/>
          </p:nvPr>
        </p:nvSpPr>
        <p:spPr/>
        <p:txBody>
          <a:bodyPr/>
          <a:lstStyle/>
          <a:p>
            <a:fld id="{047E04A9-F357-4B3E-BBDA-7821EED423F0}"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69</a:t>
            </a:fld>
            <a:endParaRPr lang="zh-CN" altLang="en-US" dirty="0"/>
          </a:p>
        </p:txBody>
      </p:sp>
      <p:grpSp>
        <p:nvGrpSpPr>
          <p:cNvPr id="7" name="Group 5"/>
          <p:cNvGrpSpPr>
            <a:grpSpLocks/>
          </p:cNvGrpSpPr>
          <p:nvPr/>
        </p:nvGrpSpPr>
        <p:grpSpPr bwMode="auto">
          <a:xfrm>
            <a:off x="3635002" y="2708920"/>
            <a:ext cx="4897438" cy="3721099"/>
            <a:chOff x="2018" y="1842"/>
            <a:chExt cx="3085" cy="2344"/>
          </a:xfrm>
        </p:grpSpPr>
        <p:sp>
          <p:nvSpPr>
            <p:cNvPr id="8" name="Text Box 6"/>
            <p:cNvSpPr txBox="1">
              <a:spLocks noChangeArrowheads="1"/>
            </p:cNvSpPr>
            <p:nvPr/>
          </p:nvSpPr>
          <p:spPr bwMode="auto">
            <a:xfrm>
              <a:off x="2018" y="1842"/>
              <a:ext cx="3084" cy="2344"/>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spAutoFit/>
            </a:bodyPr>
            <a:lstStyle/>
            <a:p>
              <a:pPr algn="ctr">
                <a:spcBef>
                  <a:spcPct val="10000"/>
                </a:spcBef>
              </a:pPr>
              <a:r>
                <a:rPr kumimoji="0" lang="zh-CN" altLang="en-US" sz="1800" b="1" dirty="0">
                  <a:ea typeface="楷体" panose="02010609060101010101" pitchFamily="49" charset="-122"/>
                </a:rPr>
                <a:t>（从</a:t>
              </a:r>
              <a:r>
                <a:rPr kumimoji="0" lang="en-US" altLang="zh-CN" sz="1800" b="1" dirty="0">
                  <a:ea typeface="楷体" panose="02010609060101010101" pitchFamily="49" charset="-122"/>
                </a:rPr>
                <a:t>100</a:t>
              </a:r>
              <a:r>
                <a:rPr kumimoji="0" lang="zh-CN" altLang="en-US" sz="1800" b="1" dirty="0">
                  <a:ea typeface="楷体" panose="02010609060101010101" pitchFamily="49" charset="-122"/>
                </a:rPr>
                <a:t>号磁道开始）</a:t>
              </a:r>
            </a:p>
            <a:p>
              <a:pPr>
                <a:spcBef>
                  <a:spcPct val="10000"/>
                </a:spcBef>
              </a:pPr>
              <a:r>
                <a:rPr kumimoji="0" lang="zh-CN" altLang="en-US" sz="1800" b="1" dirty="0">
                  <a:ea typeface="楷体" panose="02010609060101010101" pitchFamily="49" charset="-122"/>
                </a:rPr>
                <a:t>被访问的下一个磁道号      移动距离（磁道数）</a:t>
              </a:r>
            </a:p>
            <a:p>
              <a:pPr>
                <a:spcBef>
                  <a:spcPct val="10000"/>
                </a:spcBef>
              </a:pPr>
              <a:r>
                <a:rPr kumimoji="0" lang="zh-CN" altLang="en-US" sz="1800" b="1" dirty="0">
                  <a:ea typeface="楷体" panose="02010609060101010101" pitchFamily="49" charset="-122"/>
                </a:rPr>
                <a:t>	</a:t>
              </a:r>
              <a:r>
                <a:rPr kumimoji="0" lang="en-US" altLang="zh-CN" sz="1800" b="1" dirty="0">
                  <a:ea typeface="楷体" panose="02010609060101010101" pitchFamily="49" charset="-122"/>
                </a:rPr>
                <a:t>55			45</a:t>
              </a:r>
            </a:p>
            <a:p>
              <a:pPr>
                <a:spcBef>
                  <a:spcPct val="10000"/>
                </a:spcBef>
              </a:pPr>
              <a:r>
                <a:rPr kumimoji="0" lang="en-US" altLang="zh-CN" sz="1800" b="1" dirty="0">
                  <a:ea typeface="楷体" panose="02010609060101010101" pitchFamily="49" charset="-122"/>
                </a:rPr>
                <a:t>	58			3</a:t>
              </a:r>
            </a:p>
            <a:p>
              <a:pPr>
                <a:spcBef>
                  <a:spcPct val="10000"/>
                </a:spcBef>
              </a:pPr>
              <a:r>
                <a:rPr kumimoji="0" lang="en-US" altLang="zh-CN" sz="1800" b="1" dirty="0">
                  <a:ea typeface="楷体" panose="02010609060101010101" pitchFamily="49" charset="-122"/>
                </a:rPr>
                <a:t>	39			19</a:t>
              </a:r>
            </a:p>
            <a:p>
              <a:pPr>
                <a:spcBef>
                  <a:spcPct val="10000"/>
                </a:spcBef>
              </a:pPr>
              <a:r>
                <a:rPr kumimoji="0" lang="en-US" altLang="zh-CN" sz="1800" b="1" dirty="0">
                  <a:ea typeface="楷体" panose="02010609060101010101" pitchFamily="49" charset="-122"/>
                </a:rPr>
                <a:t>	18			21</a:t>
              </a:r>
            </a:p>
            <a:p>
              <a:pPr>
                <a:spcBef>
                  <a:spcPct val="10000"/>
                </a:spcBef>
              </a:pPr>
              <a:r>
                <a:rPr kumimoji="0" lang="en-US" altLang="zh-CN" sz="1800" b="1" dirty="0">
                  <a:ea typeface="楷体" panose="02010609060101010101" pitchFamily="49" charset="-122"/>
                </a:rPr>
                <a:t>	90			72</a:t>
              </a:r>
            </a:p>
            <a:p>
              <a:pPr>
                <a:spcBef>
                  <a:spcPct val="10000"/>
                </a:spcBef>
              </a:pPr>
              <a:r>
                <a:rPr kumimoji="0" lang="en-US" altLang="zh-CN" sz="1800" b="1" dirty="0">
                  <a:ea typeface="楷体" panose="02010609060101010101" pitchFamily="49" charset="-122"/>
                </a:rPr>
                <a:t>	160			70</a:t>
              </a:r>
            </a:p>
            <a:p>
              <a:pPr>
                <a:spcBef>
                  <a:spcPct val="10000"/>
                </a:spcBef>
              </a:pPr>
              <a:r>
                <a:rPr kumimoji="0" lang="en-US" altLang="zh-CN" sz="1800" b="1" dirty="0">
                  <a:ea typeface="楷体" panose="02010609060101010101" pitchFamily="49" charset="-122"/>
                </a:rPr>
                <a:t>	150			10</a:t>
              </a:r>
            </a:p>
            <a:p>
              <a:pPr>
                <a:spcBef>
                  <a:spcPct val="10000"/>
                </a:spcBef>
              </a:pPr>
              <a:r>
                <a:rPr kumimoji="0" lang="en-US" altLang="zh-CN" sz="1800" b="1" dirty="0">
                  <a:ea typeface="楷体" panose="02010609060101010101" pitchFamily="49" charset="-122"/>
                </a:rPr>
                <a:t>	38			112</a:t>
              </a:r>
            </a:p>
            <a:p>
              <a:pPr>
                <a:spcBef>
                  <a:spcPct val="10000"/>
                </a:spcBef>
              </a:pPr>
              <a:r>
                <a:rPr kumimoji="0" lang="en-US" altLang="zh-CN" sz="1800" b="1" dirty="0">
                  <a:ea typeface="楷体" panose="02010609060101010101" pitchFamily="49" charset="-122"/>
                </a:rPr>
                <a:t>	184			146</a:t>
              </a:r>
            </a:p>
            <a:p>
              <a:pPr algn="ctr">
                <a:spcBef>
                  <a:spcPct val="10000"/>
                </a:spcBef>
              </a:pPr>
              <a:r>
                <a:rPr kumimoji="0" lang="zh-CN" altLang="en-US" sz="1800" b="1" dirty="0">
                  <a:ea typeface="楷体" panose="02010609060101010101" pitchFamily="49" charset="-122"/>
                </a:rPr>
                <a:t>平均寻道长度：</a:t>
              </a:r>
              <a:r>
                <a:rPr kumimoji="0" lang="en-US" altLang="zh-CN" sz="1800" b="1" dirty="0">
                  <a:ea typeface="楷体" panose="02010609060101010101" pitchFamily="49" charset="-122"/>
                </a:rPr>
                <a:t>55.3</a:t>
              </a:r>
            </a:p>
          </p:txBody>
        </p:sp>
        <p:sp>
          <p:nvSpPr>
            <p:cNvPr id="9" name="Line 7"/>
            <p:cNvSpPr>
              <a:spLocks noChangeShapeType="1"/>
            </p:cNvSpPr>
            <p:nvPr/>
          </p:nvSpPr>
          <p:spPr bwMode="auto">
            <a:xfrm>
              <a:off x="2018" y="2054"/>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0" name="Line 8"/>
            <p:cNvSpPr>
              <a:spLocks noChangeShapeType="1"/>
            </p:cNvSpPr>
            <p:nvPr/>
          </p:nvSpPr>
          <p:spPr bwMode="auto">
            <a:xfrm>
              <a:off x="2018" y="2251"/>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1" name="Line 9"/>
            <p:cNvSpPr>
              <a:spLocks noChangeShapeType="1"/>
            </p:cNvSpPr>
            <p:nvPr/>
          </p:nvSpPr>
          <p:spPr bwMode="auto">
            <a:xfrm>
              <a:off x="2018" y="2411"/>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2" name="Line 10"/>
            <p:cNvSpPr>
              <a:spLocks noChangeShapeType="1"/>
            </p:cNvSpPr>
            <p:nvPr/>
          </p:nvSpPr>
          <p:spPr bwMode="auto">
            <a:xfrm>
              <a:off x="2018" y="2608"/>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3" name="Line 11"/>
            <p:cNvSpPr>
              <a:spLocks noChangeShapeType="1"/>
            </p:cNvSpPr>
            <p:nvPr/>
          </p:nvSpPr>
          <p:spPr bwMode="auto">
            <a:xfrm>
              <a:off x="2018" y="2827"/>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4" name="Line 12"/>
            <p:cNvSpPr>
              <a:spLocks noChangeShapeType="1"/>
            </p:cNvSpPr>
            <p:nvPr/>
          </p:nvSpPr>
          <p:spPr bwMode="auto">
            <a:xfrm>
              <a:off x="2018" y="3024"/>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5" name="Line 13"/>
            <p:cNvSpPr>
              <a:spLocks noChangeShapeType="1"/>
            </p:cNvSpPr>
            <p:nvPr/>
          </p:nvSpPr>
          <p:spPr bwMode="auto">
            <a:xfrm>
              <a:off x="2018" y="3184"/>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6" name="Line 14"/>
            <p:cNvSpPr>
              <a:spLocks noChangeShapeType="1"/>
            </p:cNvSpPr>
            <p:nvPr/>
          </p:nvSpPr>
          <p:spPr bwMode="auto">
            <a:xfrm>
              <a:off x="2018" y="3381"/>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7" name="Line 15"/>
            <p:cNvSpPr>
              <a:spLocks noChangeShapeType="1"/>
            </p:cNvSpPr>
            <p:nvPr/>
          </p:nvSpPr>
          <p:spPr bwMode="auto">
            <a:xfrm>
              <a:off x="2018" y="3596"/>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8" name="Line 16"/>
            <p:cNvSpPr>
              <a:spLocks noChangeShapeType="1"/>
            </p:cNvSpPr>
            <p:nvPr/>
          </p:nvSpPr>
          <p:spPr bwMode="auto">
            <a:xfrm>
              <a:off x="2018" y="3756"/>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19" name="Line 17"/>
            <p:cNvSpPr>
              <a:spLocks noChangeShapeType="1"/>
            </p:cNvSpPr>
            <p:nvPr/>
          </p:nvSpPr>
          <p:spPr bwMode="auto">
            <a:xfrm>
              <a:off x="2018" y="3953"/>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sp>
          <p:nvSpPr>
            <p:cNvPr id="20" name="Line 18"/>
            <p:cNvSpPr>
              <a:spLocks noChangeShapeType="1"/>
            </p:cNvSpPr>
            <p:nvPr/>
          </p:nvSpPr>
          <p:spPr bwMode="auto">
            <a:xfrm>
              <a:off x="3606" y="2051"/>
              <a:ext cx="0" cy="19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ea typeface="楷体" panose="02010609060101010101" pitchFamily="49" charset="-122"/>
              </a:endParaRPr>
            </a:p>
          </p:txBody>
        </p:sp>
      </p:grpSp>
      <p:sp>
        <p:nvSpPr>
          <p:cNvPr id="21" name="TextBox 20"/>
          <p:cNvSpPr txBox="1"/>
          <p:nvPr/>
        </p:nvSpPr>
        <p:spPr>
          <a:xfrm>
            <a:off x="552378" y="4005064"/>
            <a:ext cx="2795486" cy="1015663"/>
          </a:xfrm>
          <a:prstGeom prst="rect">
            <a:avLst/>
          </a:prstGeom>
          <a:noFill/>
        </p:spPr>
        <p:txBody>
          <a:bodyPr wrap="square" rtlCol="0">
            <a:spAutoFit/>
          </a:bodyPr>
          <a:lstStyle/>
          <a:p>
            <a:r>
              <a:rPr lang="zh-CN" altLang="en-US" sz="2000" b="1" dirty="0">
                <a:solidFill>
                  <a:srgbClr val="00B050"/>
                </a:solidFill>
                <a:latin typeface="楷体" panose="02010609060101010101" pitchFamily="49" charset="-122"/>
                <a:ea typeface="楷体" panose="02010609060101010101" pitchFamily="49" charset="-122"/>
              </a:rPr>
              <a:t>优点：公平，简单</a:t>
            </a:r>
            <a:endParaRPr lang="en-US" altLang="zh-CN" sz="2000" b="1" dirty="0">
              <a:solidFill>
                <a:srgbClr val="00B050"/>
              </a:solidFill>
              <a:latin typeface="楷体" panose="02010609060101010101" pitchFamily="49" charset="-122"/>
              <a:ea typeface="楷体" panose="02010609060101010101" pitchFamily="49" charset="-122"/>
            </a:endParaRPr>
          </a:p>
          <a:p>
            <a:endParaRPr lang="en-US" altLang="zh-CN" sz="2000" b="1" dirty="0">
              <a:solidFill>
                <a:srgbClr val="FF0000"/>
              </a:solidFill>
              <a:latin typeface="楷体" panose="02010609060101010101" pitchFamily="49" charset="-122"/>
              <a:ea typeface="楷体" panose="02010609060101010101" pitchFamily="49" charset="-122"/>
            </a:endParaRPr>
          </a:p>
          <a:p>
            <a:r>
              <a:rPr lang="zh-CN" altLang="en-US" sz="2000" b="1" dirty="0">
                <a:solidFill>
                  <a:srgbClr val="FF0000"/>
                </a:solidFill>
                <a:latin typeface="楷体" panose="02010609060101010101" pitchFamily="49" charset="-122"/>
                <a:ea typeface="楷体" panose="02010609060101010101" pitchFamily="49" charset="-122"/>
              </a:rPr>
              <a:t>缺点：平均寻道距离大</a:t>
            </a:r>
          </a:p>
        </p:txBody>
      </p:sp>
    </p:spTree>
    <p:extLst>
      <p:ext uri="{BB962C8B-B14F-4D97-AF65-F5344CB8AC3E}">
        <p14:creationId xmlns:p14="http://schemas.microsoft.com/office/powerpoint/2010/main" val="1133069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磁盘调度算法</a:t>
            </a:r>
          </a:p>
        </p:txBody>
      </p:sp>
      <p:sp>
        <p:nvSpPr>
          <p:cNvPr id="3" name="Content Placeholder 2"/>
          <p:cNvSpPr>
            <a:spLocks noGrp="1"/>
          </p:cNvSpPr>
          <p:nvPr>
            <p:ph idx="1"/>
          </p:nvPr>
        </p:nvSpPr>
        <p:spPr/>
        <p:txBody>
          <a:bodyPr/>
          <a:lstStyle/>
          <a:p>
            <a:r>
              <a:rPr lang="zh-CN" altLang="en-US" dirty="0"/>
              <a:t>最短寻道时间优先（</a:t>
            </a:r>
            <a:r>
              <a:rPr lang="en-US" altLang="zh-CN" dirty="0"/>
              <a:t>SSTF</a:t>
            </a:r>
            <a:r>
              <a:rPr lang="zh-CN" altLang="en-US" dirty="0"/>
              <a:t>）</a:t>
            </a:r>
            <a:endParaRPr lang="en-US" altLang="zh-CN" dirty="0"/>
          </a:p>
          <a:p>
            <a:pPr lvl="1"/>
            <a:r>
              <a:rPr lang="zh-CN" altLang="en-US" dirty="0"/>
              <a:t>要求访问的磁道与当前磁头所在的磁道距离最近</a:t>
            </a:r>
            <a:endParaRPr lang="en-US" altLang="zh-CN" dirty="0"/>
          </a:p>
          <a:p>
            <a:pPr lvl="1"/>
            <a:r>
              <a:rPr lang="zh-CN" altLang="en-US" dirty="0"/>
              <a:t>例：磁头当前位置为</a:t>
            </a:r>
            <a:r>
              <a:rPr lang="en-US" altLang="zh-CN" dirty="0"/>
              <a:t>100</a:t>
            </a:r>
            <a:r>
              <a:rPr lang="zh-CN" altLang="en-US" dirty="0"/>
              <a:t>号磁道，请求顺序为：</a:t>
            </a:r>
            <a:r>
              <a:rPr lang="en-US" altLang="zh-CN" dirty="0"/>
              <a:t>55</a:t>
            </a:r>
            <a:r>
              <a:rPr lang="zh-CN" altLang="en-US" dirty="0"/>
              <a:t>、</a:t>
            </a:r>
            <a:r>
              <a:rPr lang="en-US" altLang="zh-CN" dirty="0"/>
              <a:t>58</a:t>
            </a:r>
            <a:r>
              <a:rPr lang="zh-CN" altLang="en-US" dirty="0"/>
              <a:t>、</a:t>
            </a:r>
            <a:r>
              <a:rPr lang="en-US" altLang="zh-CN" dirty="0"/>
              <a:t>39</a:t>
            </a:r>
            <a:r>
              <a:rPr lang="zh-CN" altLang="en-US" dirty="0"/>
              <a:t>、</a:t>
            </a:r>
            <a:r>
              <a:rPr lang="en-US" altLang="zh-CN" dirty="0"/>
              <a:t>18</a:t>
            </a:r>
            <a:r>
              <a:rPr lang="zh-CN" altLang="en-US" dirty="0"/>
              <a:t>、</a:t>
            </a:r>
            <a:r>
              <a:rPr lang="en-US" altLang="zh-CN" dirty="0"/>
              <a:t>90</a:t>
            </a:r>
            <a:r>
              <a:rPr lang="zh-CN" altLang="en-US" dirty="0"/>
              <a:t>、</a:t>
            </a:r>
            <a:r>
              <a:rPr lang="en-US" altLang="zh-CN" dirty="0"/>
              <a:t>160</a:t>
            </a:r>
            <a:r>
              <a:rPr lang="zh-CN" altLang="en-US" dirty="0"/>
              <a:t>、</a:t>
            </a:r>
            <a:r>
              <a:rPr lang="en-US" altLang="zh-CN" dirty="0"/>
              <a:t>150</a:t>
            </a:r>
            <a:r>
              <a:rPr lang="zh-CN" altLang="en-US" dirty="0"/>
              <a:t>、</a:t>
            </a:r>
            <a:r>
              <a:rPr lang="en-US" altLang="zh-CN" dirty="0"/>
              <a:t>38</a:t>
            </a:r>
            <a:r>
              <a:rPr lang="zh-CN" altLang="en-US" dirty="0"/>
              <a:t>、</a:t>
            </a:r>
            <a:r>
              <a:rPr lang="en-US" altLang="zh-CN" dirty="0"/>
              <a:t>184</a:t>
            </a:r>
            <a:r>
              <a:rPr lang="zh-CN" altLang="en-US" dirty="0"/>
              <a:t>，采用</a:t>
            </a:r>
            <a:r>
              <a:rPr lang="en-US" altLang="zh-CN" dirty="0"/>
              <a:t>SSTF</a:t>
            </a:r>
            <a:r>
              <a:rPr lang="zh-CN" altLang="en-US" dirty="0"/>
              <a:t>调度算法，计算平均寻道长度</a:t>
            </a:r>
          </a:p>
          <a:p>
            <a:endParaRPr lang="zh-CN" altLang="en-US" dirty="0"/>
          </a:p>
        </p:txBody>
      </p:sp>
      <p:sp>
        <p:nvSpPr>
          <p:cNvPr id="4" name="Date Placeholder 3"/>
          <p:cNvSpPr>
            <a:spLocks noGrp="1"/>
          </p:cNvSpPr>
          <p:nvPr>
            <p:ph type="dt" sz="half" idx="10"/>
          </p:nvPr>
        </p:nvSpPr>
        <p:spPr/>
        <p:txBody>
          <a:bodyPr/>
          <a:lstStyle/>
          <a:p>
            <a:fld id="{16FE7480-D145-4503-844F-4F9989E857B9}"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70</a:t>
            </a:fld>
            <a:endParaRPr lang="zh-CN" altLang="en-US" dirty="0"/>
          </a:p>
        </p:txBody>
      </p:sp>
      <p:grpSp>
        <p:nvGrpSpPr>
          <p:cNvPr id="7" name="Group 20"/>
          <p:cNvGrpSpPr>
            <a:grpSpLocks/>
          </p:cNvGrpSpPr>
          <p:nvPr/>
        </p:nvGrpSpPr>
        <p:grpSpPr bwMode="auto">
          <a:xfrm>
            <a:off x="3491880" y="2903239"/>
            <a:ext cx="4897438" cy="3694113"/>
            <a:chOff x="2018" y="1842"/>
            <a:chExt cx="3085" cy="2327"/>
          </a:xfrm>
        </p:grpSpPr>
        <p:sp>
          <p:nvSpPr>
            <p:cNvPr id="8" name="Text Box 21"/>
            <p:cNvSpPr txBox="1">
              <a:spLocks noChangeArrowheads="1"/>
            </p:cNvSpPr>
            <p:nvPr/>
          </p:nvSpPr>
          <p:spPr bwMode="auto">
            <a:xfrm>
              <a:off x="2018" y="1842"/>
              <a:ext cx="3084" cy="2327"/>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spAutoFit/>
            </a:bodyPr>
            <a:lstStyle/>
            <a:p>
              <a:pPr algn="ctr">
                <a:spcBef>
                  <a:spcPct val="10000"/>
                </a:spcBef>
              </a:pPr>
              <a:r>
                <a:rPr kumimoji="0" lang="zh-CN" altLang="en-US" sz="1800" b="1">
                  <a:ea typeface="宋体" panose="02010600030101010101" pitchFamily="2" charset="-122"/>
                </a:rPr>
                <a:t>（从</a:t>
              </a:r>
              <a:r>
                <a:rPr kumimoji="0" lang="en-US" altLang="zh-CN" sz="1800" b="1">
                  <a:ea typeface="宋体" panose="02010600030101010101" pitchFamily="2" charset="-122"/>
                </a:rPr>
                <a:t>100</a:t>
              </a:r>
              <a:r>
                <a:rPr kumimoji="0" lang="zh-CN" altLang="en-US" sz="1800" b="1">
                  <a:ea typeface="宋体" panose="02010600030101010101" pitchFamily="2" charset="-122"/>
                </a:rPr>
                <a:t>号磁道开始）</a:t>
              </a:r>
            </a:p>
            <a:p>
              <a:pPr>
                <a:spcBef>
                  <a:spcPct val="10000"/>
                </a:spcBef>
              </a:pPr>
              <a:r>
                <a:rPr kumimoji="0" lang="zh-CN" altLang="en-US" sz="1800" b="1">
                  <a:ea typeface="宋体" panose="02010600030101010101" pitchFamily="2" charset="-122"/>
                </a:rPr>
                <a:t>被访问的下一个磁道号      移动距离（磁道数）</a:t>
              </a:r>
            </a:p>
            <a:p>
              <a:pPr>
                <a:spcBef>
                  <a:spcPct val="10000"/>
                </a:spcBef>
              </a:pPr>
              <a:r>
                <a:rPr kumimoji="0" lang="zh-CN" altLang="en-US" sz="1800" b="1">
                  <a:ea typeface="宋体" panose="02010600030101010101" pitchFamily="2" charset="-122"/>
                </a:rPr>
                <a:t>	</a:t>
              </a:r>
              <a:r>
                <a:rPr kumimoji="0" lang="en-US" altLang="zh-CN" sz="1800" b="1">
                  <a:ea typeface="宋体" panose="02010600030101010101" pitchFamily="2" charset="-122"/>
                </a:rPr>
                <a:t>90			10</a:t>
              </a:r>
            </a:p>
            <a:p>
              <a:pPr>
                <a:spcBef>
                  <a:spcPct val="10000"/>
                </a:spcBef>
              </a:pPr>
              <a:r>
                <a:rPr kumimoji="0" lang="en-US" altLang="zh-CN" sz="1800" b="1">
                  <a:ea typeface="宋体" panose="02010600030101010101" pitchFamily="2" charset="-122"/>
                </a:rPr>
                <a:t>	58			32</a:t>
              </a:r>
            </a:p>
            <a:p>
              <a:pPr>
                <a:spcBef>
                  <a:spcPct val="10000"/>
                </a:spcBef>
              </a:pPr>
              <a:r>
                <a:rPr kumimoji="0" lang="en-US" altLang="zh-CN" sz="1800" b="1">
                  <a:ea typeface="宋体" panose="02010600030101010101" pitchFamily="2" charset="-122"/>
                </a:rPr>
                <a:t>	55			3</a:t>
              </a:r>
            </a:p>
            <a:p>
              <a:pPr>
                <a:spcBef>
                  <a:spcPct val="10000"/>
                </a:spcBef>
              </a:pPr>
              <a:r>
                <a:rPr kumimoji="0" lang="en-US" altLang="zh-CN" sz="1800" b="1">
                  <a:ea typeface="宋体" panose="02010600030101010101" pitchFamily="2" charset="-122"/>
                </a:rPr>
                <a:t>	39			16</a:t>
              </a:r>
            </a:p>
            <a:p>
              <a:pPr>
                <a:spcBef>
                  <a:spcPct val="10000"/>
                </a:spcBef>
              </a:pPr>
              <a:r>
                <a:rPr kumimoji="0" lang="en-US" altLang="zh-CN" sz="1800" b="1">
                  <a:ea typeface="宋体" panose="02010600030101010101" pitchFamily="2" charset="-122"/>
                </a:rPr>
                <a:t>	38			1</a:t>
              </a:r>
            </a:p>
            <a:p>
              <a:pPr>
                <a:spcBef>
                  <a:spcPct val="10000"/>
                </a:spcBef>
              </a:pPr>
              <a:r>
                <a:rPr kumimoji="0" lang="en-US" altLang="zh-CN" sz="1800" b="1">
                  <a:ea typeface="宋体" panose="02010600030101010101" pitchFamily="2" charset="-122"/>
                </a:rPr>
                <a:t>	18			20</a:t>
              </a:r>
            </a:p>
            <a:p>
              <a:pPr>
                <a:spcBef>
                  <a:spcPct val="10000"/>
                </a:spcBef>
              </a:pPr>
              <a:r>
                <a:rPr kumimoji="0" lang="en-US" altLang="zh-CN" sz="1800" b="1">
                  <a:ea typeface="宋体" panose="02010600030101010101" pitchFamily="2" charset="-122"/>
                </a:rPr>
                <a:t>	150			132</a:t>
              </a:r>
            </a:p>
            <a:p>
              <a:pPr>
                <a:spcBef>
                  <a:spcPct val="10000"/>
                </a:spcBef>
              </a:pPr>
              <a:r>
                <a:rPr kumimoji="0" lang="en-US" altLang="zh-CN" sz="1800" b="1">
                  <a:ea typeface="宋体" panose="02010600030101010101" pitchFamily="2" charset="-122"/>
                </a:rPr>
                <a:t>	160			10</a:t>
              </a:r>
            </a:p>
            <a:p>
              <a:pPr>
                <a:spcBef>
                  <a:spcPct val="10000"/>
                </a:spcBef>
              </a:pPr>
              <a:r>
                <a:rPr kumimoji="0" lang="en-US" altLang="zh-CN" sz="1800" b="1">
                  <a:ea typeface="宋体" panose="02010600030101010101" pitchFamily="2" charset="-122"/>
                </a:rPr>
                <a:t>	184			24</a:t>
              </a:r>
            </a:p>
            <a:p>
              <a:pPr algn="ctr">
                <a:spcBef>
                  <a:spcPct val="10000"/>
                </a:spcBef>
              </a:pPr>
              <a:r>
                <a:rPr kumimoji="0" lang="zh-CN" altLang="en-US" sz="1800" b="1">
                  <a:ea typeface="宋体" panose="02010600030101010101" pitchFamily="2" charset="-122"/>
                </a:rPr>
                <a:t>平均寻道长度：</a:t>
              </a:r>
              <a:r>
                <a:rPr kumimoji="0" lang="en-US" altLang="zh-CN" sz="1800" b="1">
                  <a:ea typeface="宋体" panose="02010600030101010101" pitchFamily="2" charset="-122"/>
                </a:rPr>
                <a:t>27.5</a:t>
              </a:r>
            </a:p>
          </p:txBody>
        </p:sp>
        <p:sp>
          <p:nvSpPr>
            <p:cNvPr id="9" name="Line 22"/>
            <p:cNvSpPr>
              <a:spLocks noChangeShapeType="1"/>
            </p:cNvSpPr>
            <p:nvPr/>
          </p:nvSpPr>
          <p:spPr bwMode="auto">
            <a:xfrm>
              <a:off x="2018" y="2054"/>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0" name="Line 23"/>
            <p:cNvSpPr>
              <a:spLocks noChangeShapeType="1"/>
            </p:cNvSpPr>
            <p:nvPr/>
          </p:nvSpPr>
          <p:spPr bwMode="auto">
            <a:xfrm>
              <a:off x="2018" y="2251"/>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1" name="Line 24"/>
            <p:cNvSpPr>
              <a:spLocks noChangeShapeType="1"/>
            </p:cNvSpPr>
            <p:nvPr/>
          </p:nvSpPr>
          <p:spPr bwMode="auto">
            <a:xfrm>
              <a:off x="2018" y="2411"/>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2" name="Line 25"/>
            <p:cNvSpPr>
              <a:spLocks noChangeShapeType="1"/>
            </p:cNvSpPr>
            <p:nvPr/>
          </p:nvSpPr>
          <p:spPr bwMode="auto">
            <a:xfrm>
              <a:off x="2018" y="2608"/>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3" name="Line 26"/>
            <p:cNvSpPr>
              <a:spLocks noChangeShapeType="1"/>
            </p:cNvSpPr>
            <p:nvPr/>
          </p:nvSpPr>
          <p:spPr bwMode="auto">
            <a:xfrm>
              <a:off x="2018" y="2827"/>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4" name="Line 27"/>
            <p:cNvSpPr>
              <a:spLocks noChangeShapeType="1"/>
            </p:cNvSpPr>
            <p:nvPr/>
          </p:nvSpPr>
          <p:spPr bwMode="auto">
            <a:xfrm>
              <a:off x="2018" y="3024"/>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5" name="Line 28"/>
            <p:cNvSpPr>
              <a:spLocks noChangeShapeType="1"/>
            </p:cNvSpPr>
            <p:nvPr/>
          </p:nvSpPr>
          <p:spPr bwMode="auto">
            <a:xfrm>
              <a:off x="2018" y="3184"/>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6" name="Line 29"/>
            <p:cNvSpPr>
              <a:spLocks noChangeShapeType="1"/>
            </p:cNvSpPr>
            <p:nvPr/>
          </p:nvSpPr>
          <p:spPr bwMode="auto">
            <a:xfrm>
              <a:off x="2018" y="3381"/>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7" name="Line 30"/>
            <p:cNvSpPr>
              <a:spLocks noChangeShapeType="1"/>
            </p:cNvSpPr>
            <p:nvPr/>
          </p:nvSpPr>
          <p:spPr bwMode="auto">
            <a:xfrm>
              <a:off x="2018" y="3596"/>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8" name="Line 31"/>
            <p:cNvSpPr>
              <a:spLocks noChangeShapeType="1"/>
            </p:cNvSpPr>
            <p:nvPr/>
          </p:nvSpPr>
          <p:spPr bwMode="auto">
            <a:xfrm>
              <a:off x="2018" y="3756"/>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9" name="Line 32"/>
            <p:cNvSpPr>
              <a:spLocks noChangeShapeType="1"/>
            </p:cNvSpPr>
            <p:nvPr/>
          </p:nvSpPr>
          <p:spPr bwMode="auto">
            <a:xfrm>
              <a:off x="2018" y="3953"/>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20" name="Line 33"/>
            <p:cNvSpPr>
              <a:spLocks noChangeShapeType="1"/>
            </p:cNvSpPr>
            <p:nvPr/>
          </p:nvSpPr>
          <p:spPr bwMode="auto">
            <a:xfrm>
              <a:off x="3606" y="2051"/>
              <a:ext cx="0" cy="19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grpSp>
      <p:sp>
        <p:nvSpPr>
          <p:cNvPr id="21" name="TextBox 20"/>
          <p:cNvSpPr txBox="1"/>
          <p:nvPr/>
        </p:nvSpPr>
        <p:spPr>
          <a:xfrm>
            <a:off x="457200" y="3446998"/>
            <a:ext cx="2602632" cy="2862322"/>
          </a:xfrm>
          <a:prstGeom prst="rect">
            <a:avLst/>
          </a:prstGeom>
          <a:noFill/>
        </p:spPr>
        <p:txBody>
          <a:bodyPr wrap="square" rtlCol="0">
            <a:spAutoFit/>
          </a:bodyPr>
          <a:lstStyle/>
          <a:p>
            <a:r>
              <a:rPr lang="zh-CN" altLang="en-US" sz="2000" b="1" dirty="0">
                <a:solidFill>
                  <a:srgbClr val="FF0000"/>
                </a:solidFill>
                <a:ea typeface="楷体" panose="02010609060101010101" pitchFamily="49" charset="-122"/>
              </a:rPr>
              <a:t>问题</a:t>
            </a:r>
            <a:endParaRPr lang="en-US" altLang="zh-CN" sz="2000" b="1" dirty="0">
              <a:solidFill>
                <a:srgbClr val="FF0000"/>
              </a:solidFill>
              <a:ea typeface="楷体" panose="02010609060101010101" pitchFamily="49" charset="-122"/>
            </a:endParaRPr>
          </a:p>
          <a:p>
            <a:r>
              <a:rPr lang="zh-CN" altLang="en-US" sz="2000" dirty="0">
                <a:ea typeface="楷体" panose="02010609060101010101" pitchFamily="49" charset="-122"/>
              </a:rPr>
              <a:t>可能导致某个进程发生</a:t>
            </a:r>
            <a:r>
              <a:rPr lang="zh-CN" altLang="en-US" sz="2000" dirty="0">
                <a:solidFill>
                  <a:srgbClr val="FF0000"/>
                </a:solidFill>
                <a:ea typeface="楷体" panose="02010609060101010101" pitchFamily="49" charset="-122"/>
              </a:rPr>
              <a:t>“饥饿”现象</a:t>
            </a:r>
            <a:r>
              <a:rPr lang="en-US" altLang="zh-CN" sz="2000" dirty="0">
                <a:ea typeface="楷体" panose="02010609060101010101" pitchFamily="49" charset="-122"/>
              </a:rPr>
              <a:t>——</a:t>
            </a:r>
            <a:r>
              <a:rPr lang="zh-CN" altLang="en-US" sz="2000" dirty="0">
                <a:ea typeface="楷体" panose="02010609060101010101" pitchFamily="49" charset="-122"/>
              </a:rPr>
              <a:t>只要不断有新进程请求到达，且其要访问的磁道与磁头当前所在磁道的距离较近，这种新进程的</a:t>
            </a:r>
            <a:r>
              <a:rPr lang="en-US" altLang="zh-CN" sz="2000" dirty="0">
                <a:ea typeface="楷体" panose="02010609060101010101" pitchFamily="49" charset="-122"/>
              </a:rPr>
              <a:t>I/O</a:t>
            </a:r>
            <a:r>
              <a:rPr lang="zh-CN" altLang="en-US" sz="2000" dirty="0">
                <a:ea typeface="楷体" panose="02010609060101010101" pitchFamily="49" charset="-122"/>
              </a:rPr>
              <a:t>请求必然优先满足</a:t>
            </a:r>
          </a:p>
        </p:txBody>
      </p:sp>
    </p:spTree>
    <p:extLst>
      <p:ext uri="{BB962C8B-B14F-4D97-AF65-F5344CB8AC3E}">
        <p14:creationId xmlns:p14="http://schemas.microsoft.com/office/powerpoint/2010/main" val="1889745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磁盘调度算法</a:t>
            </a:r>
          </a:p>
        </p:txBody>
      </p:sp>
      <p:sp>
        <p:nvSpPr>
          <p:cNvPr id="3" name="Content Placeholder 2"/>
          <p:cNvSpPr>
            <a:spLocks noGrp="1"/>
          </p:cNvSpPr>
          <p:nvPr>
            <p:ph idx="1"/>
          </p:nvPr>
        </p:nvSpPr>
        <p:spPr/>
        <p:txBody>
          <a:bodyPr/>
          <a:lstStyle/>
          <a:p>
            <a:r>
              <a:rPr lang="zh-CN" altLang="en-US" dirty="0"/>
              <a:t>扫描（</a:t>
            </a:r>
            <a:r>
              <a:rPr lang="en-US" altLang="zh-CN" dirty="0"/>
              <a:t>SCAN</a:t>
            </a:r>
            <a:r>
              <a:rPr lang="zh-CN" altLang="en-US" dirty="0"/>
              <a:t>）算法</a:t>
            </a:r>
            <a:endParaRPr lang="en-US" altLang="zh-CN" dirty="0"/>
          </a:p>
          <a:p>
            <a:pPr lvl="1"/>
            <a:r>
              <a:rPr lang="zh-CN" altLang="en-US" sz="2000" dirty="0"/>
              <a:t>下一个访问对象应是其余访问的磁道既在</a:t>
            </a:r>
            <a:r>
              <a:rPr lang="zh-CN" altLang="en-US" sz="2000" dirty="0">
                <a:solidFill>
                  <a:srgbClr val="FF0000"/>
                </a:solidFill>
              </a:rPr>
              <a:t>当前磁道之外</a:t>
            </a:r>
            <a:r>
              <a:rPr lang="zh-CN" altLang="en-US" sz="2000" dirty="0"/>
              <a:t>，又是</a:t>
            </a:r>
            <a:r>
              <a:rPr lang="zh-CN" altLang="en-US" sz="2000" dirty="0">
                <a:solidFill>
                  <a:srgbClr val="FF0000"/>
                </a:solidFill>
              </a:rPr>
              <a:t>距离最近</a:t>
            </a:r>
            <a:r>
              <a:rPr lang="zh-CN" altLang="en-US" sz="2000" dirty="0"/>
              <a:t>的</a:t>
            </a:r>
            <a:endParaRPr lang="en-US" altLang="zh-CN" sz="2000" dirty="0"/>
          </a:p>
          <a:p>
            <a:pPr lvl="1"/>
            <a:r>
              <a:rPr lang="zh-CN" altLang="en-US" sz="2000" dirty="0"/>
              <a:t>例：磁头当前位置为</a:t>
            </a:r>
            <a:r>
              <a:rPr lang="en-US" altLang="zh-CN" sz="2000" dirty="0"/>
              <a:t>100</a:t>
            </a:r>
            <a:r>
              <a:rPr lang="zh-CN" altLang="en-US" sz="2000" dirty="0"/>
              <a:t>号磁道，请求顺序为：</a:t>
            </a:r>
            <a:r>
              <a:rPr lang="en-US" altLang="zh-CN" sz="2000" dirty="0"/>
              <a:t>55</a:t>
            </a:r>
            <a:r>
              <a:rPr lang="zh-CN" altLang="en-US" sz="2000" dirty="0"/>
              <a:t>、</a:t>
            </a:r>
            <a:r>
              <a:rPr lang="en-US" altLang="zh-CN" sz="2000" dirty="0"/>
              <a:t>58</a:t>
            </a:r>
            <a:r>
              <a:rPr lang="zh-CN" altLang="en-US" sz="2000" dirty="0"/>
              <a:t>、</a:t>
            </a:r>
            <a:r>
              <a:rPr lang="en-US" altLang="zh-CN" sz="2000" dirty="0"/>
              <a:t>39</a:t>
            </a:r>
            <a:r>
              <a:rPr lang="zh-CN" altLang="en-US" sz="2000" dirty="0"/>
              <a:t>、</a:t>
            </a:r>
            <a:r>
              <a:rPr lang="en-US" altLang="zh-CN" sz="2000" dirty="0"/>
              <a:t>18</a:t>
            </a:r>
            <a:r>
              <a:rPr lang="zh-CN" altLang="en-US" sz="2000" dirty="0"/>
              <a:t>、</a:t>
            </a:r>
            <a:r>
              <a:rPr lang="en-US" altLang="zh-CN" sz="2000" dirty="0"/>
              <a:t>90</a:t>
            </a:r>
            <a:r>
              <a:rPr lang="zh-CN" altLang="en-US" sz="2000" dirty="0"/>
              <a:t>、</a:t>
            </a:r>
            <a:r>
              <a:rPr lang="en-US" altLang="zh-CN" sz="2000" dirty="0"/>
              <a:t>160</a:t>
            </a:r>
            <a:r>
              <a:rPr lang="zh-CN" altLang="en-US" sz="2000" dirty="0"/>
              <a:t>、</a:t>
            </a:r>
            <a:r>
              <a:rPr lang="en-US" altLang="zh-CN" sz="2000" dirty="0"/>
              <a:t>150</a:t>
            </a:r>
            <a:r>
              <a:rPr lang="zh-CN" altLang="en-US" sz="2000" dirty="0"/>
              <a:t>、</a:t>
            </a:r>
            <a:r>
              <a:rPr lang="en-US" altLang="zh-CN" sz="2000" dirty="0"/>
              <a:t>38</a:t>
            </a:r>
            <a:r>
              <a:rPr lang="zh-CN" altLang="en-US" sz="2000" dirty="0"/>
              <a:t>、</a:t>
            </a:r>
            <a:r>
              <a:rPr lang="en-US" altLang="zh-CN" sz="2000" dirty="0"/>
              <a:t>184</a:t>
            </a:r>
            <a:r>
              <a:rPr lang="zh-CN" altLang="en-US" sz="2000" dirty="0"/>
              <a:t>，计算</a:t>
            </a:r>
            <a:r>
              <a:rPr lang="en-US" altLang="zh-CN" sz="2000" dirty="0"/>
              <a:t>SCAN</a:t>
            </a:r>
            <a:r>
              <a:rPr lang="zh-CN" altLang="en-US" sz="2000" dirty="0"/>
              <a:t>调度算法的平均寻道长度</a:t>
            </a:r>
          </a:p>
          <a:p>
            <a:endParaRPr lang="zh-CN" altLang="en-US" dirty="0"/>
          </a:p>
        </p:txBody>
      </p:sp>
      <p:sp>
        <p:nvSpPr>
          <p:cNvPr id="4" name="Date Placeholder 3"/>
          <p:cNvSpPr>
            <a:spLocks noGrp="1"/>
          </p:cNvSpPr>
          <p:nvPr>
            <p:ph type="dt" sz="half" idx="10"/>
          </p:nvPr>
        </p:nvSpPr>
        <p:spPr/>
        <p:txBody>
          <a:bodyPr/>
          <a:lstStyle/>
          <a:p>
            <a:fld id="{D4BE376B-BB9C-4509-A58C-F7531A5F6518}"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71</a:t>
            </a:fld>
            <a:endParaRPr lang="zh-CN" altLang="en-US" dirty="0"/>
          </a:p>
        </p:txBody>
      </p:sp>
    </p:spTree>
    <p:extLst>
      <p:ext uri="{BB962C8B-B14F-4D97-AF65-F5344CB8AC3E}">
        <p14:creationId xmlns:p14="http://schemas.microsoft.com/office/powerpoint/2010/main" val="2066274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磁盘调度算法</a:t>
            </a:r>
          </a:p>
        </p:txBody>
      </p:sp>
      <p:sp>
        <p:nvSpPr>
          <p:cNvPr id="3" name="Content Placeholder 2"/>
          <p:cNvSpPr>
            <a:spLocks noGrp="1"/>
          </p:cNvSpPr>
          <p:nvPr>
            <p:ph idx="1"/>
          </p:nvPr>
        </p:nvSpPr>
        <p:spPr/>
        <p:txBody>
          <a:bodyPr/>
          <a:lstStyle/>
          <a:p>
            <a:r>
              <a:rPr lang="zh-CN" altLang="en-US" dirty="0"/>
              <a:t>扫描（</a:t>
            </a:r>
            <a:r>
              <a:rPr lang="en-US" altLang="zh-CN" dirty="0"/>
              <a:t>SCAN</a:t>
            </a:r>
            <a:r>
              <a:rPr lang="zh-CN" altLang="en-US" dirty="0"/>
              <a:t>）算法</a:t>
            </a:r>
            <a:endParaRPr lang="en-US" altLang="zh-CN" dirty="0"/>
          </a:p>
          <a:p>
            <a:endParaRPr lang="zh-CN" altLang="en-US" dirty="0"/>
          </a:p>
        </p:txBody>
      </p:sp>
      <p:sp>
        <p:nvSpPr>
          <p:cNvPr id="4" name="Date Placeholder 3"/>
          <p:cNvSpPr>
            <a:spLocks noGrp="1"/>
          </p:cNvSpPr>
          <p:nvPr>
            <p:ph type="dt" sz="half" idx="10"/>
          </p:nvPr>
        </p:nvSpPr>
        <p:spPr/>
        <p:txBody>
          <a:bodyPr/>
          <a:lstStyle/>
          <a:p>
            <a:fld id="{9A8B0E52-2BDB-444F-9B14-78D2DC447556}"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72</a:t>
            </a:fld>
            <a:endParaRPr lang="zh-CN" altLang="en-US" dirty="0"/>
          </a:p>
        </p:txBody>
      </p:sp>
      <p:grpSp>
        <p:nvGrpSpPr>
          <p:cNvPr id="7" name="Group 20"/>
          <p:cNvGrpSpPr>
            <a:grpSpLocks/>
          </p:cNvGrpSpPr>
          <p:nvPr/>
        </p:nvGrpSpPr>
        <p:grpSpPr bwMode="auto">
          <a:xfrm>
            <a:off x="487355" y="2276872"/>
            <a:ext cx="4897437" cy="3694113"/>
            <a:chOff x="2018" y="1842"/>
            <a:chExt cx="3085" cy="2327"/>
          </a:xfrm>
        </p:grpSpPr>
        <p:sp>
          <p:nvSpPr>
            <p:cNvPr id="8" name="Text Box 21"/>
            <p:cNvSpPr txBox="1">
              <a:spLocks noChangeArrowheads="1"/>
            </p:cNvSpPr>
            <p:nvPr/>
          </p:nvSpPr>
          <p:spPr bwMode="auto">
            <a:xfrm>
              <a:off x="2018" y="1842"/>
              <a:ext cx="3084" cy="2327"/>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spAutoFit/>
            </a:bodyPr>
            <a:lstStyle/>
            <a:p>
              <a:pPr algn="ctr">
                <a:spcBef>
                  <a:spcPct val="10000"/>
                </a:spcBef>
              </a:pPr>
              <a:r>
                <a:rPr kumimoji="0" lang="zh-CN" altLang="en-US" sz="1800" b="1" dirty="0">
                  <a:ea typeface="宋体" panose="02010600030101010101" pitchFamily="2" charset="-122"/>
                </a:rPr>
                <a:t>（从</a:t>
              </a:r>
              <a:r>
                <a:rPr kumimoji="0" lang="en-US" altLang="zh-CN" sz="1800" b="1" dirty="0">
                  <a:ea typeface="宋体" panose="02010600030101010101" pitchFamily="2" charset="-122"/>
                </a:rPr>
                <a:t>100</a:t>
              </a:r>
              <a:r>
                <a:rPr kumimoji="0" lang="zh-CN" altLang="en-US" sz="1800" b="1" dirty="0">
                  <a:ea typeface="宋体" panose="02010600030101010101" pitchFamily="2" charset="-122"/>
                </a:rPr>
                <a:t>号磁道开始，向磁道号增加方向访问）</a:t>
              </a:r>
            </a:p>
            <a:p>
              <a:pPr>
                <a:spcBef>
                  <a:spcPct val="10000"/>
                </a:spcBef>
              </a:pPr>
              <a:r>
                <a:rPr kumimoji="0" lang="zh-CN" altLang="en-US" sz="1800" b="1" dirty="0">
                  <a:ea typeface="宋体" panose="02010600030101010101" pitchFamily="2" charset="-122"/>
                </a:rPr>
                <a:t>被访问的下一个磁道号      移动距离（磁道数）</a:t>
              </a:r>
            </a:p>
            <a:p>
              <a:pPr>
                <a:spcBef>
                  <a:spcPct val="10000"/>
                </a:spcBef>
              </a:pPr>
              <a:r>
                <a:rPr kumimoji="0" lang="zh-CN" altLang="en-US" sz="1800" b="1" dirty="0">
                  <a:ea typeface="宋体" panose="02010600030101010101" pitchFamily="2" charset="-122"/>
                </a:rPr>
                <a:t>	</a:t>
              </a:r>
              <a:r>
                <a:rPr kumimoji="0" lang="en-US" altLang="zh-CN" sz="1800" b="1" dirty="0">
                  <a:ea typeface="宋体" panose="02010600030101010101" pitchFamily="2" charset="-122"/>
                </a:rPr>
                <a:t>150			50</a:t>
              </a:r>
            </a:p>
            <a:p>
              <a:pPr>
                <a:spcBef>
                  <a:spcPct val="10000"/>
                </a:spcBef>
              </a:pPr>
              <a:r>
                <a:rPr kumimoji="0" lang="en-US" altLang="zh-CN" sz="1800" b="1" dirty="0">
                  <a:ea typeface="宋体" panose="02010600030101010101" pitchFamily="2" charset="-122"/>
                </a:rPr>
                <a:t>	160			10</a:t>
              </a:r>
            </a:p>
            <a:p>
              <a:pPr>
                <a:spcBef>
                  <a:spcPct val="10000"/>
                </a:spcBef>
              </a:pPr>
              <a:r>
                <a:rPr kumimoji="0" lang="en-US" altLang="zh-CN" sz="1800" b="1" dirty="0">
                  <a:ea typeface="宋体" panose="02010600030101010101" pitchFamily="2" charset="-122"/>
                </a:rPr>
                <a:t>	184			24</a:t>
              </a:r>
            </a:p>
            <a:p>
              <a:pPr>
                <a:spcBef>
                  <a:spcPct val="10000"/>
                </a:spcBef>
              </a:pPr>
              <a:r>
                <a:rPr kumimoji="0" lang="en-US" altLang="zh-CN" sz="1800" b="1" dirty="0">
                  <a:ea typeface="宋体" panose="02010600030101010101" pitchFamily="2" charset="-122"/>
                </a:rPr>
                <a:t>	90			94</a:t>
              </a:r>
            </a:p>
            <a:p>
              <a:pPr>
                <a:spcBef>
                  <a:spcPct val="10000"/>
                </a:spcBef>
              </a:pPr>
              <a:r>
                <a:rPr kumimoji="0" lang="en-US" altLang="zh-CN" sz="1800" b="1" dirty="0">
                  <a:ea typeface="宋体" panose="02010600030101010101" pitchFamily="2" charset="-122"/>
                </a:rPr>
                <a:t>	58			32</a:t>
              </a:r>
            </a:p>
            <a:p>
              <a:pPr>
                <a:spcBef>
                  <a:spcPct val="10000"/>
                </a:spcBef>
              </a:pPr>
              <a:r>
                <a:rPr kumimoji="0" lang="en-US" altLang="zh-CN" sz="1800" b="1" dirty="0">
                  <a:ea typeface="宋体" panose="02010600030101010101" pitchFamily="2" charset="-122"/>
                </a:rPr>
                <a:t>	55			3</a:t>
              </a:r>
            </a:p>
            <a:p>
              <a:pPr>
                <a:spcBef>
                  <a:spcPct val="10000"/>
                </a:spcBef>
              </a:pPr>
              <a:r>
                <a:rPr kumimoji="0" lang="en-US" altLang="zh-CN" sz="1800" b="1" dirty="0">
                  <a:ea typeface="宋体" panose="02010600030101010101" pitchFamily="2" charset="-122"/>
                </a:rPr>
                <a:t>	39			16</a:t>
              </a:r>
            </a:p>
            <a:p>
              <a:pPr>
                <a:spcBef>
                  <a:spcPct val="10000"/>
                </a:spcBef>
              </a:pPr>
              <a:r>
                <a:rPr kumimoji="0" lang="en-US" altLang="zh-CN" sz="1800" b="1" dirty="0">
                  <a:ea typeface="宋体" panose="02010600030101010101" pitchFamily="2" charset="-122"/>
                </a:rPr>
                <a:t>	38			1</a:t>
              </a:r>
            </a:p>
            <a:p>
              <a:pPr>
                <a:spcBef>
                  <a:spcPct val="10000"/>
                </a:spcBef>
              </a:pPr>
              <a:r>
                <a:rPr kumimoji="0" lang="en-US" altLang="zh-CN" sz="1800" b="1" dirty="0">
                  <a:ea typeface="宋体" panose="02010600030101010101" pitchFamily="2" charset="-122"/>
                </a:rPr>
                <a:t>	18			20</a:t>
              </a:r>
            </a:p>
            <a:p>
              <a:pPr algn="ctr">
                <a:spcBef>
                  <a:spcPct val="10000"/>
                </a:spcBef>
              </a:pPr>
              <a:r>
                <a:rPr kumimoji="0" lang="zh-CN" altLang="en-US" sz="1800" b="1" dirty="0">
                  <a:ea typeface="宋体" panose="02010600030101010101" pitchFamily="2" charset="-122"/>
                </a:rPr>
                <a:t>平均寻道长度：</a:t>
              </a:r>
              <a:r>
                <a:rPr kumimoji="0" lang="en-US" altLang="zh-CN" sz="1800" b="1" dirty="0">
                  <a:ea typeface="宋体" panose="02010600030101010101" pitchFamily="2" charset="-122"/>
                </a:rPr>
                <a:t>27.8</a:t>
              </a:r>
            </a:p>
          </p:txBody>
        </p:sp>
        <p:sp>
          <p:nvSpPr>
            <p:cNvPr id="9" name="Line 22"/>
            <p:cNvSpPr>
              <a:spLocks noChangeShapeType="1"/>
            </p:cNvSpPr>
            <p:nvPr/>
          </p:nvSpPr>
          <p:spPr bwMode="auto">
            <a:xfrm>
              <a:off x="2018" y="2054"/>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0" name="Line 23"/>
            <p:cNvSpPr>
              <a:spLocks noChangeShapeType="1"/>
            </p:cNvSpPr>
            <p:nvPr/>
          </p:nvSpPr>
          <p:spPr bwMode="auto">
            <a:xfrm>
              <a:off x="2018" y="2251"/>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1" name="Line 24"/>
            <p:cNvSpPr>
              <a:spLocks noChangeShapeType="1"/>
            </p:cNvSpPr>
            <p:nvPr/>
          </p:nvSpPr>
          <p:spPr bwMode="auto">
            <a:xfrm>
              <a:off x="2018" y="2411"/>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2" name="Line 25"/>
            <p:cNvSpPr>
              <a:spLocks noChangeShapeType="1"/>
            </p:cNvSpPr>
            <p:nvPr/>
          </p:nvSpPr>
          <p:spPr bwMode="auto">
            <a:xfrm>
              <a:off x="2018" y="2608"/>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3" name="Line 26"/>
            <p:cNvSpPr>
              <a:spLocks noChangeShapeType="1"/>
            </p:cNvSpPr>
            <p:nvPr/>
          </p:nvSpPr>
          <p:spPr bwMode="auto">
            <a:xfrm>
              <a:off x="2018" y="2827"/>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4" name="Line 27"/>
            <p:cNvSpPr>
              <a:spLocks noChangeShapeType="1"/>
            </p:cNvSpPr>
            <p:nvPr/>
          </p:nvSpPr>
          <p:spPr bwMode="auto">
            <a:xfrm>
              <a:off x="2018" y="3024"/>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5" name="Line 28"/>
            <p:cNvSpPr>
              <a:spLocks noChangeShapeType="1"/>
            </p:cNvSpPr>
            <p:nvPr/>
          </p:nvSpPr>
          <p:spPr bwMode="auto">
            <a:xfrm>
              <a:off x="2018" y="3184"/>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6" name="Line 29"/>
            <p:cNvSpPr>
              <a:spLocks noChangeShapeType="1"/>
            </p:cNvSpPr>
            <p:nvPr/>
          </p:nvSpPr>
          <p:spPr bwMode="auto">
            <a:xfrm>
              <a:off x="2018" y="3381"/>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7" name="Line 30"/>
            <p:cNvSpPr>
              <a:spLocks noChangeShapeType="1"/>
            </p:cNvSpPr>
            <p:nvPr/>
          </p:nvSpPr>
          <p:spPr bwMode="auto">
            <a:xfrm>
              <a:off x="2018" y="3596"/>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8" name="Line 31"/>
            <p:cNvSpPr>
              <a:spLocks noChangeShapeType="1"/>
            </p:cNvSpPr>
            <p:nvPr/>
          </p:nvSpPr>
          <p:spPr bwMode="auto">
            <a:xfrm>
              <a:off x="2018" y="3756"/>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9" name="Line 32"/>
            <p:cNvSpPr>
              <a:spLocks noChangeShapeType="1"/>
            </p:cNvSpPr>
            <p:nvPr/>
          </p:nvSpPr>
          <p:spPr bwMode="auto">
            <a:xfrm>
              <a:off x="2018" y="3953"/>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20" name="Line 33"/>
            <p:cNvSpPr>
              <a:spLocks noChangeShapeType="1"/>
            </p:cNvSpPr>
            <p:nvPr/>
          </p:nvSpPr>
          <p:spPr bwMode="auto">
            <a:xfrm>
              <a:off x="3606" y="2051"/>
              <a:ext cx="0" cy="19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grpSp>
      <p:sp>
        <p:nvSpPr>
          <p:cNvPr id="21" name="TextBox 20"/>
          <p:cNvSpPr txBox="1"/>
          <p:nvPr/>
        </p:nvSpPr>
        <p:spPr>
          <a:xfrm>
            <a:off x="6002198" y="2307644"/>
            <a:ext cx="2581368" cy="3785652"/>
          </a:xfrm>
          <a:prstGeom prst="rect">
            <a:avLst/>
          </a:prstGeom>
          <a:noFill/>
        </p:spPr>
        <p:txBody>
          <a:bodyPr wrap="square" rtlCol="0">
            <a:spAutoFit/>
          </a:bodyPr>
          <a:lstStyle/>
          <a:p>
            <a:r>
              <a:rPr lang="zh-CN" altLang="en-US" sz="2000" b="1" dirty="0">
                <a:solidFill>
                  <a:srgbClr val="FF0000"/>
                </a:solidFill>
                <a:ea typeface="楷体" panose="02010609060101010101" pitchFamily="49" charset="-122"/>
              </a:rPr>
              <a:t>问题</a:t>
            </a:r>
            <a:endParaRPr lang="en-US" altLang="zh-CN" sz="2000" b="1" dirty="0">
              <a:solidFill>
                <a:srgbClr val="FF0000"/>
              </a:solidFill>
              <a:ea typeface="楷体" panose="02010609060101010101" pitchFamily="49" charset="-122"/>
            </a:endParaRPr>
          </a:p>
          <a:p>
            <a:r>
              <a:rPr lang="zh-CN" altLang="en-US" sz="2000" dirty="0">
                <a:ea typeface="楷体" panose="02010609060101010101" pitchFamily="49" charset="-122"/>
              </a:rPr>
              <a:t>当磁头刚从里向外移动而越过了某一磁道时，恰好又有一进程请求访问此磁道，这时该进程必须等待，待磁头继续从里向外，然后再从外向里扫描完所有要访问的磁道后，才处理该进程的请求，致使该进程的请求被大大推迟</a:t>
            </a:r>
          </a:p>
        </p:txBody>
      </p:sp>
    </p:spTree>
    <p:extLst>
      <p:ext uri="{BB962C8B-B14F-4D97-AF65-F5344CB8AC3E}">
        <p14:creationId xmlns:p14="http://schemas.microsoft.com/office/powerpoint/2010/main" val="1269028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磁盘调度算法</a:t>
            </a:r>
          </a:p>
        </p:txBody>
      </p:sp>
      <p:sp>
        <p:nvSpPr>
          <p:cNvPr id="3" name="Content Placeholder 2"/>
          <p:cNvSpPr>
            <a:spLocks noGrp="1"/>
          </p:cNvSpPr>
          <p:nvPr>
            <p:ph idx="1"/>
          </p:nvPr>
        </p:nvSpPr>
        <p:spPr/>
        <p:txBody>
          <a:bodyPr/>
          <a:lstStyle/>
          <a:p>
            <a:r>
              <a:rPr lang="zh-CN" altLang="en-US" dirty="0"/>
              <a:t>循环扫描（</a:t>
            </a:r>
            <a:r>
              <a:rPr lang="en-US" altLang="zh-CN" dirty="0"/>
              <a:t>CSCAN</a:t>
            </a:r>
            <a:r>
              <a:rPr lang="zh-CN" altLang="en-US" dirty="0"/>
              <a:t>）算法</a:t>
            </a:r>
            <a:endParaRPr lang="en-US" altLang="zh-CN" dirty="0"/>
          </a:p>
          <a:p>
            <a:pPr lvl="1"/>
            <a:r>
              <a:rPr lang="zh-CN" altLang="en-US" dirty="0"/>
              <a:t>规定磁头单向移动</a:t>
            </a:r>
            <a:endParaRPr lang="en-US" altLang="zh-CN" dirty="0"/>
          </a:p>
          <a:p>
            <a:pPr lvl="1"/>
            <a:r>
              <a:rPr lang="zh-CN" altLang="en-US" dirty="0"/>
              <a:t>例：磁头当前位置为</a:t>
            </a:r>
            <a:r>
              <a:rPr lang="en-US" altLang="zh-CN" dirty="0"/>
              <a:t>100</a:t>
            </a:r>
            <a:r>
              <a:rPr lang="zh-CN" altLang="en-US" dirty="0"/>
              <a:t>号磁道，请求顺序为：</a:t>
            </a:r>
            <a:r>
              <a:rPr lang="en-US" altLang="zh-CN" dirty="0"/>
              <a:t>55</a:t>
            </a:r>
            <a:r>
              <a:rPr lang="zh-CN" altLang="en-US" dirty="0"/>
              <a:t>、</a:t>
            </a:r>
            <a:r>
              <a:rPr lang="en-US" altLang="zh-CN" dirty="0"/>
              <a:t>58</a:t>
            </a:r>
            <a:r>
              <a:rPr lang="zh-CN" altLang="en-US" dirty="0"/>
              <a:t>、</a:t>
            </a:r>
            <a:r>
              <a:rPr lang="en-US" altLang="zh-CN" dirty="0"/>
              <a:t>39</a:t>
            </a:r>
            <a:r>
              <a:rPr lang="zh-CN" altLang="en-US" dirty="0"/>
              <a:t>、</a:t>
            </a:r>
            <a:r>
              <a:rPr lang="en-US" altLang="zh-CN" dirty="0"/>
              <a:t>18</a:t>
            </a:r>
            <a:r>
              <a:rPr lang="zh-CN" altLang="en-US" dirty="0"/>
              <a:t>、</a:t>
            </a:r>
            <a:r>
              <a:rPr lang="en-US" altLang="zh-CN" dirty="0"/>
              <a:t>90</a:t>
            </a:r>
            <a:r>
              <a:rPr lang="zh-CN" altLang="en-US" dirty="0"/>
              <a:t>、</a:t>
            </a:r>
            <a:r>
              <a:rPr lang="en-US" altLang="zh-CN" dirty="0"/>
              <a:t>160</a:t>
            </a:r>
            <a:r>
              <a:rPr lang="zh-CN" altLang="en-US" dirty="0"/>
              <a:t>、</a:t>
            </a:r>
            <a:r>
              <a:rPr lang="en-US" altLang="zh-CN" dirty="0"/>
              <a:t>150</a:t>
            </a:r>
            <a:r>
              <a:rPr lang="zh-CN" altLang="en-US" dirty="0"/>
              <a:t>、</a:t>
            </a:r>
            <a:r>
              <a:rPr lang="en-US" altLang="zh-CN" dirty="0"/>
              <a:t>38</a:t>
            </a:r>
            <a:r>
              <a:rPr lang="zh-CN" altLang="en-US" dirty="0"/>
              <a:t>、</a:t>
            </a:r>
            <a:r>
              <a:rPr lang="en-US" altLang="zh-CN" dirty="0"/>
              <a:t>184</a:t>
            </a:r>
            <a:r>
              <a:rPr lang="zh-CN" altLang="en-US" dirty="0"/>
              <a:t>，采用</a:t>
            </a:r>
            <a:r>
              <a:rPr lang="en-US" altLang="zh-CN" dirty="0"/>
              <a:t>SCAN</a:t>
            </a:r>
            <a:r>
              <a:rPr lang="zh-CN" altLang="en-US" dirty="0"/>
              <a:t>调度算法，计算平均寻道长度</a:t>
            </a:r>
          </a:p>
        </p:txBody>
      </p:sp>
      <p:sp>
        <p:nvSpPr>
          <p:cNvPr id="4" name="Date Placeholder 3"/>
          <p:cNvSpPr>
            <a:spLocks noGrp="1"/>
          </p:cNvSpPr>
          <p:nvPr>
            <p:ph type="dt" sz="half" idx="10"/>
          </p:nvPr>
        </p:nvSpPr>
        <p:spPr/>
        <p:txBody>
          <a:bodyPr/>
          <a:lstStyle/>
          <a:p>
            <a:fld id="{037BA10F-58CC-4A1A-AB53-3BBB408A22F4}"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73</a:t>
            </a:fld>
            <a:endParaRPr lang="zh-CN" altLang="en-US" dirty="0"/>
          </a:p>
        </p:txBody>
      </p:sp>
      <p:grpSp>
        <p:nvGrpSpPr>
          <p:cNvPr id="7" name="Group 19"/>
          <p:cNvGrpSpPr>
            <a:grpSpLocks/>
          </p:cNvGrpSpPr>
          <p:nvPr/>
        </p:nvGrpSpPr>
        <p:grpSpPr bwMode="auto">
          <a:xfrm>
            <a:off x="3778250" y="2903538"/>
            <a:ext cx="4897438" cy="3694112"/>
            <a:chOff x="2018" y="1842"/>
            <a:chExt cx="3085" cy="2327"/>
          </a:xfrm>
        </p:grpSpPr>
        <p:sp>
          <p:nvSpPr>
            <p:cNvPr id="8" name="Text Box 20"/>
            <p:cNvSpPr txBox="1">
              <a:spLocks noChangeArrowheads="1"/>
            </p:cNvSpPr>
            <p:nvPr/>
          </p:nvSpPr>
          <p:spPr bwMode="auto">
            <a:xfrm>
              <a:off x="2018" y="1842"/>
              <a:ext cx="3084" cy="2327"/>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spAutoFit/>
            </a:bodyPr>
            <a:lstStyle/>
            <a:p>
              <a:pPr algn="ctr">
                <a:spcBef>
                  <a:spcPct val="10000"/>
                </a:spcBef>
              </a:pPr>
              <a:r>
                <a:rPr kumimoji="0" lang="zh-CN" altLang="en-US" sz="1800" b="1">
                  <a:ea typeface="宋体" panose="02010600030101010101" pitchFamily="2" charset="-122"/>
                </a:rPr>
                <a:t>（从</a:t>
              </a:r>
              <a:r>
                <a:rPr kumimoji="0" lang="en-US" altLang="zh-CN" sz="1800" b="1">
                  <a:ea typeface="宋体" panose="02010600030101010101" pitchFamily="2" charset="-122"/>
                </a:rPr>
                <a:t>100</a:t>
              </a:r>
              <a:r>
                <a:rPr kumimoji="0" lang="zh-CN" altLang="en-US" sz="1800" b="1">
                  <a:ea typeface="宋体" panose="02010600030101010101" pitchFamily="2" charset="-122"/>
                </a:rPr>
                <a:t>号磁道开始，向磁道号增加方向访问）</a:t>
              </a:r>
            </a:p>
            <a:p>
              <a:pPr>
                <a:spcBef>
                  <a:spcPct val="10000"/>
                </a:spcBef>
              </a:pPr>
              <a:r>
                <a:rPr kumimoji="0" lang="zh-CN" altLang="en-US" sz="1800" b="1">
                  <a:ea typeface="宋体" panose="02010600030101010101" pitchFamily="2" charset="-122"/>
                </a:rPr>
                <a:t>被访问的下一个磁道号      移动距离（磁道数）</a:t>
              </a:r>
            </a:p>
            <a:p>
              <a:pPr>
                <a:spcBef>
                  <a:spcPct val="10000"/>
                </a:spcBef>
              </a:pPr>
              <a:r>
                <a:rPr kumimoji="0" lang="zh-CN" altLang="en-US" sz="1800" b="1">
                  <a:ea typeface="宋体" panose="02010600030101010101" pitchFamily="2" charset="-122"/>
                </a:rPr>
                <a:t>	</a:t>
              </a:r>
              <a:r>
                <a:rPr kumimoji="0" lang="en-US" altLang="zh-CN" sz="1800" b="1">
                  <a:ea typeface="宋体" panose="02010600030101010101" pitchFamily="2" charset="-122"/>
                </a:rPr>
                <a:t>150			50</a:t>
              </a:r>
            </a:p>
            <a:p>
              <a:pPr>
                <a:spcBef>
                  <a:spcPct val="10000"/>
                </a:spcBef>
              </a:pPr>
              <a:r>
                <a:rPr kumimoji="0" lang="en-US" altLang="zh-CN" sz="1800" b="1">
                  <a:ea typeface="宋体" panose="02010600030101010101" pitchFamily="2" charset="-122"/>
                </a:rPr>
                <a:t>	160			10</a:t>
              </a:r>
            </a:p>
            <a:p>
              <a:pPr>
                <a:spcBef>
                  <a:spcPct val="10000"/>
                </a:spcBef>
              </a:pPr>
              <a:r>
                <a:rPr kumimoji="0" lang="en-US" altLang="zh-CN" sz="1800" b="1">
                  <a:ea typeface="宋体" panose="02010600030101010101" pitchFamily="2" charset="-122"/>
                </a:rPr>
                <a:t>	184			24</a:t>
              </a:r>
            </a:p>
            <a:p>
              <a:pPr>
                <a:spcBef>
                  <a:spcPct val="10000"/>
                </a:spcBef>
              </a:pPr>
              <a:r>
                <a:rPr kumimoji="0" lang="en-US" altLang="zh-CN" sz="1800" b="1">
                  <a:ea typeface="宋体" panose="02010600030101010101" pitchFamily="2" charset="-122"/>
                </a:rPr>
                <a:t>	18			166</a:t>
              </a:r>
            </a:p>
            <a:p>
              <a:pPr>
                <a:spcBef>
                  <a:spcPct val="10000"/>
                </a:spcBef>
              </a:pPr>
              <a:r>
                <a:rPr kumimoji="0" lang="en-US" altLang="zh-CN" sz="1800" b="1">
                  <a:ea typeface="宋体" panose="02010600030101010101" pitchFamily="2" charset="-122"/>
                </a:rPr>
                <a:t>	38			20</a:t>
              </a:r>
            </a:p>
            <a:p>
              <a:pPr>
                <a:spcBef>
                  <a:spcPct val="10000"/>
                </a:spcBef>
              </a:pPr>
              <a:r>
                <a:rPr kumimoji="0" lang="en-US" altLang="zh-CN" sz="1800" b="1">
                  <a:ea typeface="宋体" panose="02010600030101010101" pitchFamily="2" charset="-122"/>
                </a:rPr>
                <a:t>	39			1</a:t>
              </a:r>
            </a:p>
            <a:p>
              <a:pPr>
                <a:spcBef>
                  <a:spcPct val="10000"/>
                </a:spcBef>
              </a:pPr>
              <a:r>
                <a:rPr kumimoji="0" lang="en-US" altLang="zh-CN" sz="1800" b="1">
                  <a:ea typeface="宋体" panose="02010600030101010101" pitchFamily="2" charset="-122"/>
                </a:rPr>
                <a:t>	55			16</a:t>
              </a:r>
            </a:p>
            <a:p>
              <a:pPr>
                <a:spcBef>
                  <a:spcPct val="10000"/>
                </a:spcBef>
              </a:pPr>
              <a:r>
                <a:rPr kumimoji="0" lang="en-US" altLang="zh-CN" sz="1800" b="1">
                  <a:ea typeface="宋体" panose="02010600030101010101" pitchFamily="2" charset="-122"/>
                </a:rPr>
                <a:t>	58			3</a:t>
              </a:r>
            </a:p>
            <a:p>
              <a:pPr>
                <a:spcBef>
                  <a:spcPct val="10000"/>
                </a:spcBef>
              </a:pPr>
              <a:r>
                <a:rPr kumimoji="0" lang="en-US" altLang="zh-CN" sz="1800" b="1">
                  <a:ea typeface="宋体" panose="02010600030101010101" pitchFamily="2" charset="-122"/>
                </a:rPr>
                <a:t>	90			32</a:t>
              </a:r>
            </a:p>
            <a:p>
              <a:pPr algn="ctr">
                <a:spcBef>
                  <a:spcPct val="10000"/>
                </a:spcBef>
              </a:pPr>
              <a:r>
                <a:rPr kumimoji="0" lang="zh-CN" altLang="en-US" sz="1800" b="1">
                  <a:ea typeface="宋体" panose="02010600030101010101" pitchFamily="2" charset="-122"/>
                </a:rPr>
                <a:t>平均寻道长度：</a:t>
              </a:r>
              <a:r>
                <a:rPr kumimoji="0" lang="en-US" altLang="zh-CN" sz="1800" b="1">
                  <a:ea typeface="宋体" panose="02010600030101010101" pitchFamily="2" charset="-122"/>
                </a:rPr>
                <a:t>35.8</a:t>
              </a:r>
            </a:p>
          </p:txBody>
        </p:sp>
        <p:sp>
          <p:nvSpPr>
            <p:cNvPr id="9" name="Line 21"/>
            <p:cNvSpPr>
              <a:spLocks noChangeShapeType="1"/>
            </p:cNvSpPr>
            <p:nvPr/>
          </p:nvSpPr>
          <p:spPr bwMode="auto">
            <a:xfrm>
              <a:off x="2018" y="2054"/>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0" name="Line 22"/>
            <p:cNvSpPr>
              <a:spLocks noChangeShapeType="1"/>
            </p:cNvSpPr>
            <p:nvPr/>
          </p:nvSpPr>
          <p:spPr bwMode="auto">
            <a:xfrm>
              <a:off x="2018" y="2251"/>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1" name="Line 23"/>
            <p:cNvSpPr>
              <a:spLocks noChangeShapeType="1"/>
            </p:cNvSpPr>
            <p:nvPr/>
          </p:nvSpPr>
          <p:spPr bwMode="auto">
            <a:xfrm>
              <a:off x="2018" y="2411"/>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2" name="Line 24"/>
            <p:cNvSpPr>
              <a:spLocks noChangeShapeType="1"/>
            </p:cNvSpPr>
            <p:nvPr/>
          </p:nvSpPr>
          <p:spPr bwMode="auto">
            <a:xfrm>
              <a:off x="2018" y="2608"/>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3" name="Line 25"/>
            <p:cNvSpPr>
              <a:spLocks noChangeShapeType="1"/>
            </p:cNvSpPr>
            <p:nvPr/>
          </p:nvSpPr>
          <p:spPr bwMode="auto">
            <a:xfrm>
              <a:off x="2018" y="2827"/>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4" name="Line 26"/>
            <p:cNvSpPr>
              <a:spLocks noChangeShapeType="1"/>
            </p:cNvSpPr>
            <p:nvPr/>
          </p:nvSpPr>
          <p:spPr bwMode="auto">
            <a:xfrm>
              <a:off x="2018" y="3024"/>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5" name="Line 27"/>
            <p:cNvSpPr>
              <a:spLocks noChangeShapeType="1"/>
            </p:cNvSpPr>
            <p:nvPr/>
          </p:nvSpPr>
          <p:spPr bwMode="auto">
            <a:xfrm>
              <a:off x="2018" y="3184"/>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6" name="Line 28"/>
            <p:cNvSpPr>
              <a:spLocks noChangeShapeType="1"/>
            </p:cNvSpPr>
            <p:nvPr/>
          </p:nvSpPr>
          <p:spPr bwMode="auto">
            <a:xfrm>
              <a:off x="2018" y="3381"/>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7" name="Line 29"/>
            <p:cNvSpPr>
              <a:spLocks noChangeShapeType="1"/>
            </p:cNvSpPr>
            <p:nvPr/>
          </p:nvSpPr>
          <p:spPr bwMode="auto">
            <a:xfrm>
              <a:off x="2018" y="3596"/>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8" name="Line 30"/>
            <p:cNvSpPr>
              <a:spLocks noChangeShapeType="1"/>
            </p:cNvSpPr>
            <p:nvPr/>
          </p:nvSpPr>
          <p:spPr bwMode="auto">
            <a:xfrm>
              <a:off x="2018" y="3756"/>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19" name="Line 31"/>
            <p:cNvSpPr>
              <a:spLocks noChangeShapeType="1"/>
            </p:cNvSpPr>
            <p:nvPr/>
          </p:nvSpPr>
          <p:spPr bwMode="auto">
            <a:xfrm>
              <a:off x="2018" y="3953"/>
              <a:ext cx="308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sp>
          <p:nvSpPr>
            <p:cNvPr id="20" name="Line 32"/>
            <p:cNvSpPr>
              <a:spLocks noChangeShapeType="1"/>
            </p:cNvSpPr>
            <p:nvPr/>
          </p:nvSpPr>
          <p:spPr bwMode="auto">
            <a:xfrm>
              <a:off x="3606" y="2051"/>
              <a:ext cx="0" cy="19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a:lstStyle/>
            <a:p>
              <a:endParaRPr lang="zh-CN" altLang="en-US"/>
            </a:p>
          </p:txBody>
        </p:sp>
      </p:grpSp>
    </p:spTree>
    <p:extLst>
      <p:ext uri="{BB962C8B-B14F-4D97-AF65-F5344CB8AC3E}">
        <p14:creationId xmlns:p14="http://schemas.microsoft.com/office/powerpoint/2010/main" val="12466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磁盘调度算法</a:t>
            </a:r>
          </a:p>
        </p:txBody>
      </p:sp>
      <p:sp>
        <p:nvSpPr>
          <p:cNvPr id="3" name="Content Placeholder 2"/>
          <p:cNvSpPr>
            <a:spLocks noGrp="1"/>
          </p:cNvSpPr>
          <p:nvPr>
            <p:ph idx="1"/>
          </p:nvPr>
        </p:nvSpPr>
        <p:spPr/>
        <p:txBody>
          <a:bodyPr>
            <a:normAutofit fontScale="92500" lnSpcReduction="10000"/>
          </a:bodyPr>
          <a:lstStyle/>
          <a:p>
            <a:r>
              <a:rPr lang="en-US" altLang="zh-CN" dirty="0"/>
              <a:t>N</a:t>
            </a:r>
            <a:r>
              <a:rPr lang="zh-CN" altLang="en-US" dirty="0"/>
              <a:t>步扫描</a:t>
            </a:r>
            <a:r>
              <a:rPr lang="en-US" altLang="zh-CN" dirty="0"/>
              <a:t>(N-step-SCAN)</a:t>
            </a:r>
            <a:r>
              <a:rPr lang="zh-CN" altLang="en-US" dirty="0"/>
              <a:t>算法</a:t>
            </a:r>
          </a:p>
          <a:p>
            <a:pPr marL="742950" lvl="2" indent="-342900">
              <a:spcBef>
                <a:spcPts val="1200"/>
              </a:spcBef>
            </a:pPr>
            <a:r>
              <a:rPr lang="zh-CN" altLang="en-US" sz="2200" dirty="0"/>
              <a:t>把磁盘</a:t>
            </a:r>
            <a:r>
              <a:rPr lang="en-US" altLang="zh-CN" sz="2200" dirty="0"/>
              <a:t>I/O</a:t>
            </a:r>
            <a:r>
              <a:rPr lang="zh-CN" altLang="en-US" sz="2200" dirty="0"/>
              <a:t>请求队列分成长度为</a:t>
            </a:r>
            <a:r>
              <a:rPr lang="en-US" altLang="zh-CN" sz="2200" dirty="0"/>
              <a:t>N</a:t>
            </a:r>
            <a:r>
              <a:rPr lang="zh-CN" altLang="en-US" sz="2200" dirty="0"/>
              <a:t>的段，每次使用扫描算法处理这</a:t>
            </a:r>
            <a:r>
              <a:rPr lang="en-US" altLang="zh-CN" sz="2200" dirty="0"/>
              <a:t>N</a:t>
            </a:r>
            <a:r>
              <a:rPr lang="zh-CN" altLang="en-US" sz="2200" dirty="0"/>
              <a:t>个请求。当</a:t>
            </a:r>
            <a:r>
              <a:rPr lang="en-US" altLang="zh-CN" sz="2200" dirty="0"/>
              <a:t>N=1</a:t>
            </a:r>
            <a:r>
              <a:rPr lang="zh-CN" altLang="en-US" sz="2200" dirty="0"/>
              <a:t>时，该算法退化为</a:t>
            </a:r>
            <a:r>
              <a:rPr lang="en-US" altLang="zh-CN" sz="2200" dirty="0"/>
              <a:t>FIFO</a:t>
            </a:r>
            <a:r>
              <a:rPr lang="zh-CN" altLang="en-US" sz="2200" dirty="0"/>
              <a:t>算法</a:t>
            </a:r>
          </a:p>
          <a:p>
            <a:pPr marL="742950" lvl="2" indent="-342900">
              <a:spcBef>
                <a:spcPts val="1200"/>
              </a:spcBef>
            </a:pPr>
            <a:r>
              <a:rPr lang="zh-CN" altLang="en-US" sz="2200" dirty="0"/>
              <a:t>该算法的目标是改进前几种算法可能在多磁头系统中出现磁头静止在一个磁道上，导致其它进程无法及时进行磁盘</a:t>
            </a:r>
            <a:r>
              <a:rPr lang="en-US" altLang="zh-CN" sz="2200" dirty="0"/>
              <a:t>I/O</a:t>
            </a:r>
          </a:p>
          <a:p>
            <a:pPr marL="342900" lvl="1" indent="-342900">
              <a:spcBef>
                <a:spcPts val="1200"/>
              </a:spcBef>
            </a:pPr>
            <a:endParaRPr lang="en-US" altLang="zh-CN" sz="2400" b="1" dirty="0"/>
          </a:p>
          <a:p>
            <a:pPr marL="342900" lvl="1" indent="-342900">
              <a:spcBef>
                <a:spcPts val="1200"/>
              </a:spcBef>
            </a:pPr>
            <a:r>
              <a:rPr lang="zh-CN" altLang="en-US" sz="2400" b="1" dirty="0"/>
              <a:t>双队列扫描</a:t>
            </a:r>
            <a:r>
              <a:rPr lang="en-US" altLang="zh-CN" sz="2400" b="1" dirty="0"/>
              <a:t>(FSCAN)</a:t>
            </a:r>
            <a:r>
              <a:rPr lang="zh-CN" altLang="en-US" sz="2400" b="1" dirty="0"/>
              <a:t>算法</a:t>
            </a:r>
            <a:endParaRPr lang="en-US" altLang="zh-CN" sz="2400" b="1" dirty="0"/>
          </a:p>
          <a:p>
            <a:pPr marL="742950" lvl="2" indent="-342900">
              <a:spcBef>
                <a:spcPts val="1200"/>
              </a:spcBef>
            </a:pPr>
            <a:r>
              <a:rPr lang="zh-CN" altLang="en-US" sz="2200" dirty="0"/>
              <a:t>把磁盘</a:t>
            </a:r>
            <a:r>
              <a:rPr lang="en-US" altLang="zh-CN" sz="2200" dirty="0"/>
              <a:t>I/O</a:t>
            </a:r>
            <a:r>
              <a:rPr lang="zh-CN" altLang="en-US" sz="2200" dirty="0"/>
              <a:t>请求分成两个队列，交替使用扫描算法处理一个队列，新生成的磁盘</a:t>
            </a:r>
            <a:r>
              <a:rPr lang="en-US" altLang="zh-CN" sz="2200" dirty="0"/>
              <a:t>I/O</a:t>
            </a:r>
            <a:r>
              <a:rPr lang="zh-CN" altLang="en-US" sz="2200" dirty="0"/>
              <a:t>请求放入另一队列中</a:t>
            </a:r>
            <a:endParaRPr lang="en-US" altLang="zh-CN" sz="2200" dirty="0"/>
          </a:p>
          <a:p>
            <a:pPr marL="742950" lvl="2" indent="-342900">
              <a:spcBef>
                <a:spcPts val="1200"/>
              </a:spcBef>
            </a:pPr>
            <a:r>
              <a:rPr lang="zh-CN" altLang="en-US" sz="2200" dirty="0"/>
              <a:t>该算法的目标与</a:t>
            </a:r>
            <a:r>
              <a:rPr lang="en-US" altLang="zh-CN" sz="2200" dirty="0"/>
              <a:t>N</a:t>
            </a:r>
            <a:r>
              <a:rPr lang="zh-CN" altLang="en-US" sz="2200" dirty="0"/>
              <a:t>步扫描算法一致</a:t>
            </a:r>
          </a:p>
          <a:p>
            <a:pPr marL="342900" lvl="1" indent="-342900">
              <a:spcBef>
                <a:spcPts val="1200"/>
              </a:spcBef>
            </a:pPr>
            <a:endParaRPr lang="en-US" altLang="zh-CN" sz="2400" dirty="0"/>
          </a:p>
          <a:p>
            <a:endParaRPr lang="zh-CN" altLang="en-US" dirty="0"/>
          </a:p>
        </p:txBody>
      </p:sp>
      <p:sp>
        <p:nvSpPr>
          <p:cNvPr id="4" name="Date Placeholder 3"/>
          <p:cNvSpPr>
            <a:spLocks noGrp="1"/>
          </p:cNvSpPr>
          <p:nvPr>
            <p:ph type="dt" sz="half" idx="10"/>
          </p:nvPr>
        </p:nvSpPr>
        <p:spPr/>
        <p:txBody>
          <a:bodyPr/>
          <a:lstStyle/>
          <a:p>
            <a:fld id="{FFC1C7A5-30E3-4423-AC47-7362F8A4B8B2}"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74</a:t>
            </a:fld>
            <a:endParaRPr lang="zh-CN" altLang="en-US" dirty="0"/>
          </a:p>
        </p:txBody>
      </p:sp>
    </p:spTree>
    <p:extLst>
      <p:ext uri="{BB962C8B-B14F-4D97-AF65-F5344CB8AC3E}">
        <p14:creationId xmlns:p14="http://schemas.microsoft.com/office/powerpoint/2010/main" val="15565424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旋转调度</a:t>
            </a:r>
          </a:p>
        </p:txBody>
      </p:sp>
      <p:sp>
        <p:nvSpPr>
          <p:cNvPr id="3" name="Content Placeholder 2"/>
          <p:cNvSpPr>
            <a:spLocks noGrp="1"/>
          </p:cNvSpPr>
          <p:nvPr>
            <p:ph idx="1"/>
          </p:nvPr>
        </p:nvSpPr>
        <p:spPr/>
        <p:txBody>
          <a:bodyPr/>
          <a:lstStyle/>
          <a:p>
            <a:r>
              <a:rPr lang="zh-CN" altLang="en-US" dirty="0"/>
              <a:t>根据延迟时间来决定执行次序的调度称为“</a:t>
            </a:r>
            <a:r>
              <a:rPr lang="zh-CN" altLang="en-US" dirty="0">
                <a:solidFill>
                  <a:srgbClr val="0000FF"/>
                </a:solidFill>
              </a:rPr>
              <a:t>旋转调度</a:t>
            </a:r>
            <a:r>
              <a:rPr lang="zh-CN" altLang="en-US" dirty="0"/>
              <a:t>”。即：当移动臂定位后，决定同一柱面访问者的执行次序。从减少输入输出操作总时间为目标考虑，应优先选择延迟时间最短的访问者进行服务</a:t>
            </a:r>
          </a:p>
        </p:txBody>
      </p:sp>
      <p:sp>
        <p:nvSpPr>
          <p:cNvPr id="4" name="Date Placeholder 3"/>
          <p:cNvSpPr>
            <a:spLocks noGrp="1"/>
          </p:cNvSpPr>
          <p:nvPr>
            <p:ph type="dt" sz="half" idx="10"/>
          </p:nvPr>
        </p:nvSpPr>
        <p:spPr/>
        <p:txBody>
          <a:bodyPr/>
          <a:lstStyle/>
          <a:p>
            <a:fld id="{67BAAEEC-8A7C-4160-B5CB-975E0E1D3027}"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75</a:t>
            </a:fld>
            <a:endParaRPr lang="zh-CN" altLang="en-US" dirty="0"/>
          </a:p>
        </p:txBody>
      </p:sp>
    </p:spTree>
    <p:extLst>
      <p:ext uri="{BB962C8B-B14F-4D97-AF65-F5344CB8AC3E}">
        <p14:creationId xmlns:p14="http://schemas.microsoft.com/office/powerpoint/2010/main" val="1133425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旋转调度</a:t>
            </a:r>
          </a:p>
        </p:txBody>
      </p:sp>
      <p:sp>
        <p:nvSpPr>
          <p:cNvPr id="3" name="Content Placeholder 2"/>
          <p:cNvSpPr>
            <a:spLocks noGrp="1"/>
          </p:cNvSpPr>
          <p:nvPr>
            <p:ph idx="1"/>
          </p:nvPr>
        </p:nvSpPr>
        <p:spPr/>
        <p:txBody>
          <a:bodyPr/>
          <a:lstStyle/>
          <a:p>
            <a:r>
              <a:rPr lang="zh-CN" altLang="en-US" dirty="0"/>
              <a:t>旋转调度应考虑如下情况</a:t>
            </a:r>
            <a:endParaRPr lang="en-US" altLang="zh-CN" dirty="0"/>
          </a:p>
          <a:p>
            <a:pPr lvl="1"/>
            <a:r>
              <a:rPr lang="zh-CN" altLang="en-US" dirty="0"/>
              <a:t>若干等待访问者请求访问同一磁道上的不同扇区</a:t>
            </a:r>
            <a:endParaRPr lang="en-US" altLang="zh-CN" dirty="0"/>
          </a:p>
          <a:p>
            <a:pPr lvl="1"/>
            <a:r>
              <a:rPr lang="zh-CN" altLang="en-US" dirty="0"/>
              <a:t>若干等待访问者请求访问不同磁道上的不同扇区</a:t>
            </a:r>
            <a:endParaRPr lang="en-US" altLang="zh-CN" dirty="0"/>
          </a:p>
          <a:p>
            <a:pPr lvl="1"/>
            <a:r>
              <a:rPr lang="zh-CN" altLang="en-US" dirty="0"/>
              <a:t>若干等待访问者请求访问不同磁道上具有相同编号的扇区</a:t>
            </a:r>
            <a:endParaRPr lang="en-US" altLang="zh-CN" dirty="0"/>
          </a:p>
          <a:p>
            <a:endParaRPr lang="en-US" altLang="zh-CN" dirty="0"/>
          </a:p>
          <a:p>
            <a:r>
              <a:rPr lang="zh-CN" altLang="en-US" dirty="0"/>
              <a:t>调度思路</a:t>
            </a:r>
            <a:endParaRPr lang="en-US" altLang="zh-CN" dirty="0"/>
          </a:p>
          <a:p>
            <a:pPr lvl="1"/>
            <a:r>
              <a:rPr lang="zh-CN" altLang="en-US" dirty="0"/>
              <a:t>对于</a:t>
            </a:r>
            <a:r>
              <a:rPr lang="zh-CN" altLang="en-US" dirty="0">
                <a:solidFill>
                  <a:srgbClr val="0000FF"/>
                </a:solidFill>
              </a:rPr>
              <a:t>前两种情况</a:t>
            </a:r>
            <a:r>
              <a:rPr lang="zh-CN" altLang="en-US" dirty="0"/>
              <a:t>，旋转调度总是让首先到达读写磁头位置下的扇区先进行传送操作</a:t>
            </a:r>
            <a:endParaRPr lang="en-US" altLang="zh-CN" dirty="0"/>
          </a:p>
          <a:p>
            <a:pPr lvl="1"/>
            <a:r>
              <a:rPr lang="zh-CN" altLang="en-US" dirty="0"/>
              <a:t>对于第三种情况，这些扇区同时到达读写磁头位置下，旋转调度可任意选择一个读写磁头进行传送操作</a:t>
            </a:r>
            <a:endParaRPr lang="en-US" altLang="zh-CN" dirty="0"/>
          </a:p>
          <a:p>
            <a:pPr marL="865188" lvl="1" indent="-293688" algn="just">
              <a:lnSpc>
                <a:spcPct val="110000"/>
              </a:lnSpc>
              <a:buFontTx/>
              <a:buAutoNum type="arabicParenR"/>
            </a:pPr>
            <a:endParaRPr lang="zh-CN" altLang="en-US" dirty="0"/>
          </a:p>
        </p:txBody>
      </p:sp>
      <p:sp>
        <p:nvSpPr>
          <p:cNvPr id="4" name="Date Placeholder 3"/>
          <p:cNvSpPr>
            <a:spLocks noGrp="1"/>
          </p:cNvSpPr>
          <p:nvPr>
            <p:ph type="dt" sz="half" idx="10"/>
          </p:nvPr>
        </p:nvSpPr>
        <p:spPr/>
        <p:txBody>
          <a:bodyPr/>
          <a:lstStyle/>
          <a:p>
            <a:fld id="{CE9391BA-FFC7-472D-8293-7F0A08B47A99}"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76</a:t>
            </a:fld>
            <a:endParaRPr lang="zh-CN" altLang="en-US" dirty="0"/>
          </a:p>
        </p:txBody>
      </p:sp>
    </p:spTree>
    <p:extLst>
      <p:ext uri="{BB962C8B-B14F-4D97-AF65-F5344CB8AC3E}">
        <p14:creationId xmlns:p14="http://schemas.microsoft.com/office/powerpoint/2010/main" val="4592459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旋转调度</a:t>
            </a:r>
          </a:p>
        </p:txBody>
      </p:sp>
      <p:sp>
        <p:nvSpPr>
          <p:cNvPr id="3" name="Content Placeholder 2"/>
          <p:cNvSpPr>
            <a:spLocks noGrp="1"/>
          </p:cNvSpPr>
          <p:nvPr>
            <p:ph idx="1"/>
          </p:nvPr>
        </p:nvSpPr>
        <p:spPr/>
        <p:txBody>
          <a:bodyPr/>
          <a:lstStyle/>
          <a:p>
            <a:pPr>
              <a:lnSpc>
                <a:spcPct val="110000"/>
              </a:lnSpc>
            </a:pPr>
            <a:r>
              <a:rPr lang="zh-CN" altLang="en-US" sz="2600" dirty="0"/>
              <a:t>磁盘数据的存取</a:t>
            </a:r>
            <a:endParaRPr lang="en-US" altLang="zh-CN" sz="2600" dirty="0"/>
          </a:p>
          <a:p>
            <a:pPr lvl="1">
              <a:lnSpc>
                <a:spcPct val="110000"/>
              </a:lnSpc>
            </a:pPr>
            <a:r>
              <a:rPr lang="zh-CN" altLang="en-US" dirty="0"/>
              <a:t>磁盘块－内部缓冲区－内存。当数据从磁盘块传送至内存时，后续扇区中的数据将从磁头下通过。但控制器一般不能同时进行输入输出，因在数据块传输的这段时间里，从磁头下通过的扇区的信息丢失。</a:t>
            </a:r>
          </a:p>
          <a:p>
            <a:pPr lvl="1">
              <a:lnSpc>
                <a:spcPct val="110000"/>
              </a:lnSpc>
            </a:pPr>
            <a:r>
              <a:rPr lang="zh-CN" altLang="en-US" dirty="0"/>
              <a:t>因此，应将数据以</a:t>
            </a:r>
            <a:r>
              <a:rPr lang="zh-CN" altLang="en-US" dirty="0">
                <a:solidFill>
                  <a:srgbClr val="0000FF"/>
                </a:solidFill>
              </a:rPr>
              <a:t>交叉方式存放</a:t>
            </a:r>
            <a:r>
              <a:rPr lang="zh-CN" altLang="en-US" dirty="0"/>
              <a:t>，块间应间隔的扇区数与数据从磁盘传送到内存的速度有关</a:t>
            </a:r>
          </a:p>
        </p:txBody>
      </p:sp>
      <p:sp>
        <p:nvSpPr>
          <p:cNvPr id="4" name="Date Placeholder 3"/>
          <p:cNvSpPr>
            <a:spLocks noGrp="1"/>
          </p:cNvSpPr>
          <p:nvPr>
            <p:ph type="dt" sz="half" idx="10"/>
          </p:nvPr>
        </p:nvSpPr>
        <p:spPr/>
        <p:txBody>
          <a:bodyPr/>
          <a:lstStyle/>
          <a:p>
            <a:fld id="{C8B5C963-141F-44A5-B2D0-C2F8EC272B75}"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77</a:t>
            </a:fld>
            <a:endParaRPr lang="zh-CN" altLang="en-US" dirty="0"/>
          </a:p>
        </p:txBody>
      </p:sp>
    </p:spTree>
    <p:extLst>
      <p:ext uri="{BB962C8B-B14F-4D97-AF65-F5344CB8AC3E}">
        <p14:creationId xmlns:p14="http://schemas.microsoft.com/office/powerpoint/2010/main" val="364680865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旋转调度举例</a:t>
            </a:r>
          </a:p>
        </p:txBody>
      </p:sp>
      <p:sp>
        <p:nvSpPr>
          <p:cNvPr id="3" name="Content Placeholder 2"/>
          <p:cNvSpPr>
            <a:spLocks noGrp="1"/>
          </p:cNvSpPr>
          <p:nvPr>
            <p:ph idx="1"/>
          </p:nvPr>
        </p:nvSpPr>
        <p:spPr/>
        <p:txBody>
          <a:bodyPr/>
          <a:lstStyle/>
          <a:p>
            <a:r>
              <a:rPr lang="zh-CN" altLang="en-US" dirty="0"/>
              <a:t>旋转调度举例：有一个交叉存放信息的磁盘，信息在其上的存放方法如图所示</a:t>
            </a:r>
            <a:endParaRPr lang="en-US" altLang="zh-CN" dirty="0"/>
          </a:p>
          <a:p>
            <a:pPr lvl="1"/>
            <a:r>
              <a:rPr lang="zh-CN" altLang="en-US" dirty="0"/>
              <a:t>每磁道有</a:t>
            </a:r>
            <a:r>
              <a:rPr lang="en-US" altLang="zh-CN" dirty="0"/>
              <a:t>8</a:t>
            </a:r>
            <a:r>
              <a:rPr lang="zh-CN" altLang="en-US" dirty="0"/>
              <a:t>个扇区，每扇区有</a:t>
            </a:r>
            <a:r>
              <a:rPr lang="en-US" altLang="zh-CN" dirty="0"/>
              <a:t>512</a:t>
            </a:r>
            <a:r>
              <a:rPr lang="zh-CN" altLang="en-US" dirty="0"/>
              <a:t>字节，旋转速度为</a:t>
            </a:r>
            <a:r>
              <a:rPr lang="en-US" altLang="zh-CN" dirty="0"/>
              <a:t>3000</a:t>
            </a:r>
            <a:r>
              <a:rPr lang="zh-CN" altLang="en-US" dirty="0"/>
              <a:t>转</a:t>
            </a:r>
            <a:r>
              <a:rPr lang="en-US" altLang="zh-CN" dirty="0"/>
              <a:t>/</a:t>
            </a:r>
            <a:r>
              <a:rPr lang="zh-CN" altLang="en-US" dirty="0"/>
              <a:t>分。</a:t>
            </a:r>
            <a:endParaRPr lang="en-US" altLang="zh-CN" dirty="0"/>
          </a:p>
          <a:p>
            <a:pPr lvl="1"/>
            <a:r>
              <a:rPr lang="zh-CN" altLang="en-US" dirty="0"/>
              <a:t>假定磁头已在要读取信息的磁道上，</a:t>
            </a:r>
            <a:r>
              <a:rPr lang="en-US" altLang="zh-CN" dirty="0"/>
              <a:t>0</a:t>
            </a:r>
            <a:r>
              <a:rPr lang="zh-CN" altLang="en-US" dirty="0"/>
              <a:t>扇区旋转到磁头下需要</a:t>
            </a:r>
            <a:r>
              <a:rPr lang="en-US" altLang="zh-CN" dirty="0"/>
              <a:t>1/2</a:t>
            </a:r>
            <a:r>
              <a:rPr lang="zh-CN" altLang="en-US" dirty="0"/>
              <a:t>转，且设备对应的控制器不能同时进行输入输出。</a:t>
            </a:r>
            <a:endParaRPr lang="en-US" altLang="zh-CN" dirty="0"/>
          </a:p>
          <a:p>
            <a:pPr lvl="1"/>
            <a:r>
              <a:rPr lang="zh-CN" altLang="en-US" dirty="0"/>
              <a:t>在数据从控制器传送到内存的这段时间内，从磁头下通过的扇区数为</a:t>
            </a:r>
            <a:r>
              <a:rPr lang="en-US" altLang="zh-CN" dirty="0"/>
              <a:t>2</a:t>
            </a:r>
            <a:r>
              <a:rPr lang="zh-CN" altLang="en-US" dirty="0"/>
              <a:t>。</a:t>
            </a:r>
            <a:endParaRPr lang="en-US" altLang="zh-CN" dirty="0"/>
          </a:p>
          <a:p>
            <a:pPr lvl="1"/>
            <a:r>
              <a:rPr lang="zh-CN" altLang="en-US" dirty="0">
                <a:solidFill>
                  <a:srgbClr val="0000FF"/>
                </a:solidFill>
              </a:rPr>
              <a:t>问：依次读出一个磁道上的所有扇区需要多少时间？其数据传输速度为多少？</a:t>
            </a:r>
          </a:p>
          <a:p>
            <a:pPr lvl="1"/>
            <a:endParaRPr lang="zh-CN" altLang="en-US" dirty="0"/>
          </a:p>
        </p:txBody>
      </p:sp>
      <p:sp>
        <p:nvSpPr>
          <p:cNvPr id="4" name="Date Placeholder 3"/>
          <p:cNvSpPr>
            <a:spLocks noGrp="1"/>
          </p:cNvSpPr>
          <p:nvPr>
            <p:ph type="dt" sz="half" idx="10"/>
          </p:nvPr>
        </p:nvSpPr>
        <p:spPr/>
        <p:txBody>
          <a:bodyPr/>
          <a:lstStyle/>
          <a:p>
            <a:fld id="{20913A18-08E9-4876-99C3-9E2BD266E62C}"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78</a:t>
            </a:fld>
            <a:endParaRPr lang="zh-CN" altLang="en-US" dirty="0"/>
          </a:p>
        </p:txBody>
      </p:sp>
      <p:grpSp>
        <p:nvGrpSpPr>
          <p:cNvPr id="7" name="Group 5"/>
          <p:cNvGrpSpPr>
            <a:grpSpLocks/>
          </p:cNvGrpSpPr>
          <p:nvPr/>
        </p:nvGrpSpPr>
        <p:grpSpPr bwMode="auto">
          <a:xfrm>
            <a:off x="6228184" y="4814462"/>
            <a:ext cx="1799219" cy="1693168"/>
            <a:chOff x="1776" y="2016"/>
            <a:chExt cx="1632" cy="1488"/>
          </a:xfrm>
        </p:grpSpPr>
        <p:sp>
          <p:nvSpPr>
            <p:cNvPr id="8" name="Oval 6"/>
            <p:cNvSpPr>
              <a:spLocks noChangeArrowheads="1"/>
            </p:cNvSpPr>
            <p:nvPr/>
          </p:nvSpPr>
          <p:spPr bwMode="auto">
            <a:xfrm>
              <a:off x="1776" y="2016"/>
              <a:ext cx="1632" cy="1488"/>
            </a:xfrm>
            <a:prstGeom prst="ellipse">
              <a:avLst/>
            </a:prstGeom>
            <a:solidFill>
              <a:schemeClr val="accent5">
                <a:lumMod val="60000"/>
                <a:lumOff val="4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7"/>
            <p:cNvSpPr>
              <a:spLocks noChangeShapeType="1"/>
            </p:cNvSpPr>
            <p:nvPr/>
          </p:nvSpPr>
          <p:spPr bwMode="auto">
            <a:xfrm>
              <a:off x="1776" y="2736"/>
              <a:ext cx="16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8"/>
            <p:cNvSpPr>
              <a:spLocks noChangeShapeType="1"/>
            </p:cNvSpPr>
            <p:nvPr/>
          </p:nvSpPr>
          <p:spPr bwMode="auto">
            <a:xfrm>
              <a:off x="2592" y="2016"/>
              <a:ext cx="0"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9"/>
            <p:cNvSpPr>
              <a:spLocks noChangeShapeType="1"/>
            </p:cNvSpPr>
            <p:nvPr/>
          </p:nvSpPr>
          <p:spPr bwMode="auto">
            <a:xfrm flipV="1">
              <a:off x="2016" y="2208"/>
              <a:ext cx="1152"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10"/>
            <p:cNvSpPr>
              <a:spLocks noChangeShapeType="1"/>
            </p:cNvSpPr>
            <p:nvPr/>
          </p:nvSpPr>
          <p:spPr bwMode="auto">
            <a:xfrm>
              <a:off x="2064" y="2208"/>
              <a:ext cx="1104"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Text Box 11"/>
            <p:cNvSpPr txBox="1">
              <a:spLocks noChangeArrowheads="1"/>
            </p:cNvSpPr>
            <p:nvPr/>
          </p:nvSpPr>
          <p:spPr bwMode="auto">
            <a:xfrm>
              <a:off x="2640" y="2208"/>
              <a:ext cx="288"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ea typeface="宋体" panose="02010600030101010101" pitchFamily="2" charset="-122"/>
                </a:rPr>
                <a:t>0</a:t>
              </a:r>
            </a:p>
          </p:txBody>
        </p:sp>
        <p:sp>
          <p:nvSpPr>
            <p:cNvPr id="14" name="Text Box 12"/>
            <p:cNvSpPr txBox="1">
              <a:spLocks noChangeArrowheads="1"/>
            </p:cNvSpPr>
            <p:nvPr/>
          </p:nvSpPr>
          <p:spPr bwMode="auto">
            <a:xfrm>
              <a:off x="2928" y="2448"/>
              <a:ext cx="288"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ea typeface="宋体" panose="02010600030101010101" pitchFamily="2" charset="-122"/>
                </a:rPr>
                <a:t>3</a:t>
              </a:r>
            </a:p>
          </p:txBody>
        </p:sp>
        <p:sp>
          <p:nvSpPr>
            <p:cNvPr id="15" name="Text Box 13"/>
            <p:cNvSpPr txBox="1">
              <a:spLocks noChangeArrowheads="1"/>
            </p:cNvSpPr>
            <p:nvPr/>
          </p:nvSpPr>
          <p:spPr bwMode="auto">
            <a:xfrm>
              <a:off x="2640" y="3024"/>
              <a:ext cx="288"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ea typeface="宋体" panose="02010600030101010101" pitchFamily="2" charset="-122"/>
                </a:rPr>
                <a:t>1</a:t>
              </a:r>
            </a:p>
          </p:txBody>
        </p:sp>
        <p:sp>
          <p:nvSpPr>
            <p:cNvPr id="16" name="Text Box 14"/>
            <p:cNvSpPr txBox="1">
              <a:spLocks noChangeArrowheads="1"/>
            </p:cNvSpPr>
            <p:nvPr/>
          </p:nvSpPr>
          <p:spPr bwMode="auto">
            <a:xfrm>
              <a:off x="2256" y="2976"/>
              <a:ext cx="288"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ea typeface="宋体" panose="02010600030101010101" pitchFamily="2" charset="-122"/>
                </a:rPr>
                <a:t>4</a:t>
              </a:r>
            </a:p>
          </p:txBody>
        </p:sp>
        <p:sp>
          <p:nvSpPr>
            <p:cNvPr id="17" name="Text Box 15"/>
            <p:cNvSpPr txBox="1">
              <a:spLocks noChangeArrowheads="1"/>
            </p:cNvSpPr>
            <p:nvPr/>
          </p:nvSpPr>
          <p:spPr bwMode="auto">
            <a:xfrm>
              <a:off x="2304" y="2208"/>
              <a:ext cx="288"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ea typeface="宋体" panose="02010600030101010101" pitchFamily="2" charset="-122"/>
                </a:rPr>
                <a:t>5</a:t>
              </a:r>
            </a:p>
          </p:txBody>
        </p:sp>
        <p:sp>
          <p:nvSpPr>
            <p:cNvPr id="18" name="Text Box 16"/>
            <p:cNvSpPr txBox="1">
              <a:spLocks noChangeArrowheads="1"/>
            </p:cNvSpPr>
            <p:nvPr/>
          </p:nvSpPr>
          <p:spPr bwMode="auto">
            <a:xfrm>
              <a:off x="2064" y="2448"/>
              <a:ext cx="288"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ea typeface="宋体" panose="02010600030101010101" pitchFamily="2" charset="-122"/>
                </a:rPr>
                <a:t>2</a:t>
              </a:r>
            </a:p>
          </p:txBody>
        </p:sp>
        <p:sp>
          <p:nvSpPr>
            <p:cNvPr id="19" name="Text Box 17"/>
            <p:cNvSpPr txBox="1">
              <a:spLocks noChangeArrowheads="1"/>
            </p:cNvSpPr>
            <p:nvPr/>
          </p:nvSpPr>
          <p:spPr bwMode="auto">
            <a:xfrm>
              <a:off x="2064" y="2736"/>
              <a:ext cx="288" cy="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ea typeface="宋体" panose="02010600030101010101" pitchFamily="2" charset="-122"/>
                </a:rPr>
                <a:t>7</a:t>
              </a:r>
            </a:p>
          </p:txBody>
        </p:sp>
        <p:sp>
          <p:nvSpPr>
            <p:cNvPr id="20" name="Text Box 18"/>
            <p:cNvSpPr txBox="1">
              <a:spLocks noChangeArrowheads="1"/>
            </p:cNvSpPr>
            <p:nvPr/>
          </p:nvSpPr>
          <p:spPr bwMode="auto">
            <a:xfrm>
              <a:off x="2928" y="2832"/>
              <a:ext cx="288" cy="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ea typeface="宋体" panose="02010600030101010101" pitchFamily="2" charset="-122"/>
                </a:rPr>
                <a:t>6</a:t>
              </a:r>
            </a:p>
          </p:txBody>
        </p:sp>
      </p:grpSp>
    </p:spTree>
    <p:extLst>
      <p:ext uri="{BB962C8B-B14F-4D97-AF65-F5344CB8AC3E}">
        <p14:creationId xmlns:p14="http://schemas.microsoft.com/office/powerpoint/2010/main" val="381404318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旋转调度举例</a:t>
            </a:r>
          </a:p>
        </p:txBody>
      </p:sp>
      <p:sp>
        <p:nvSpPr>
          <p:cNvPr id="3" name="Content Placeholder 2"/>
          <p:cNvSpPr>
            <a:spLocks noGrp="1"/>
          </p:cNvSpPr>
          <p:nvPr>
            <p:ph idx="1"/>
          </p:nvPr>
        </p:nvSpPr>
        <p:spPr/>
        <p:txBody>
          <a:bodyPr/>
          <a:lstStyle/>
          <a:p>
            <a:r>
              <a:rPr lang="zh-CN" altLang="en-US" dirty="0"/>
              <a:t>解答</a:t>
            </a:r>
            <a:endParaRPr lang="en-US" altLang="zh-CN" dirty="0"/>
          </a:p>
          <a:p>
            <a:pPr lvl="1">
              <a:spcBef>
                <a:spcPct val="10000"/>
              </a:spcBef>
            </a:pPr>
            <a:r>
              <a:rPr lang="zh-CN" altLang="en-US" sz="2000" dirty="0"/>
              <a:t>从图中可知，信息块之间的间隔为</a:t>
            </a:r>
            <a:r>
              <a:rPr lang="en-US" altLang="zh-CN" sz="2000" dirty="0"/>
              <a:t>2</a:t>
            </a:r>
            <a:r>
              <a:rPr lang="zh-CN" altLang="en-US" sz="2000" dirty="0"/>
              <a:t>个扇区</a:t>
            </a:r>
          </a:p>
          <a:p>
            <a:pPr lvl="1">
              <a:spcBef>
                <a:spcPct val="10000"/>
              </a:spcBef>
            </a:pPr>
            <a:r>
              <a:rPr lang="zh-CN" altLang="en-US" sz="2000" dirty="0"/>
              <a:t>旋转速度：</a:t>
            </a:r>
            <a:r>
              <a:rPr lang="en-US" altLang="zh-CN" sz="2000" dirty="0"/>
              <a:t>3000</a:t>
            </a:r>
            <a:r>
              <a:rPr lang="zh-CN" altLang="en-US" sz="2000" dirty="0"/>
              <a:t>转</a:t>
            </a:r>
            <a:r>
              <a:rPr lang="en-US" altLang="zh-CN" sz="2000" dirty="0"/>
              <a:t>/</a:t>
            </a:r>
            <a:r>
              <a:rPr lang="zh-CN" altLang="en-US" sz="2000" dirty="0"/>
              <a:t>分，即</a:t>
            </a:r>
            <a:r>
              <a:rPr lang="en-US" altLang="zh-CN" sz="2000" dirty="0"/>
              <a:t>20ms/</a:t>
            </a:r>
            <a:r>
              <a:rPr lang="zh-CN" altLang="en-US" sz="2000" dirty="0"/>
              <a:t>转</a:t>
            </a:r>
          </a:p>
          <a:p>
            <a:pPr lvl="1">
              <a:spcBef>
                <a:spcPct val="10000"/>
              </a:spcBef>
            </a:pPr>
            <a:r>
              <a:rPr lang="zh-CN" altLang="en-US" sz="2000" dirty="0"/>
              <a:t>读一个扇区需要时间：</a:t>
            </a:r>
            <a:r>
              <a:rPr lang="en-US" altLang="zh-CN" sz="2000" dirty="0"/>
              <a:t>20/8=2.5ms</a:t>
            </a:r>
          </a:p>
          <a:p>
            <a:pPr lvl="1">
              <a:spcBef>
                <a:spcPct val="10000"/>
              </a:spcBef>
            </a:pPr>
            <a:r>
              <a:rPr lang="zh-CN" altLang="en-US" sz="2000" dirty="0"/>
              <a:t>读一个扇区并将扇区数据送入内存需要时间：</a:t>
            </a:r>
            <a:r>
              <a:rPr lang="en-US" altLang="zh-CN" sz="2000" dirty="0"/>
              <a:t>2.5×3=7.5ms</a:t>
            </a:r>
          </a:p>
          <a:p>
            <a:pPr lvl="1">
              <a:spcBef>
                <a:spcPct val="10000"/>
              </a:spcBef>
            </a:pPr>
            <a:r>
              <a:rPr lang="zh-CN" altLang="en-US" sz="2000" dirty="0"/>
              <a:t>读出一个磁道上所有扇区需要时间：</a:t>
            </a:r>
          </a:p>
          <a:p>
            <a:pPr lvl="1">
              <a:spcBef>
                <a:spcPct val="10000"/>
              </a:spcBef>
              <a:buFontTx/>
              <a:buNone/>
            </a:pPr>
            <a:r>
              <a:rPr lang="zh-CN" altLang="en-US" sz="2000" dirty="0"/>
              <a:t>    </a:t>
            </a:r>
            <a:r>
              <a:rPr lang="en-US" altLang="zh-CN" sz="2000" dirty="0"/>
              <a:t>20/2+8×7.5=70ms=0.07s</a:t>
            </a:r>
          </a:p>
          <a:p>
            <a:pPr lvl="1">
              <a:spcBef>
                <a:spcPct val="10000"/>
              </a:spcBef>
            </a:pPr>
            <a:r>
              <a:rPr lang="zh-CN" altLang="en-US" sz="2000" dirty="0"/>
              <a:t>每磁道数据量：</a:t>
            </a:r>
            <a:r>
              <a:rPr lang="en-US" altLang="zh-CN" sz="2000" dirty="0"/>
              <a:t>8×512=4KB</a:t>
            </a:r>
          </a:p>
          <a:p>
            <a:pPr lvl="1">
              <a:spcBef>
                <a:spcPct val="10000"/>
              </a:spcBef>
            </a:pPr>
            <a:r>
              <a:rPr lang="zh-CN" altLang="en-US" sz="2000" dirty="0"/>
              <a:t>数据传输速度为： </a:t>
            </a:r>
            <a:r>
              <a:rPr lang="en-US" altLang="zh-CN" sz="2000" dirty="0"/>
              <a:t>4KB/0.07=57.1KB/</a:t>
            </a:r>
            <a:r>
              <a:rPr lang="zh-CN" altLang="en-US" sz="2000" dirty="0"/>
              <a:t>秒</a:t>
            </a:r>
          </a:p>
          <a:p>
            <a:pPr lvl="1"/>
            <a:endParaRPr lang="zh-CN" altLang="en-US" dirty="0"/>
          </a:p>
        </p:txBody>
      </p:sp>
      <p:sp>
        <p:nvSpPr>
          <p:cNvPr id="4" name="Date Placeholder 3"/>
          <p:cNvSpPr>
            <a:spLocks noGrp="1"/>
          </p:cNvSpPr>
          <p:nvPr>
            <p:ph type="dt" sz="half" idx="10"/>
          </p:nvPr>
        </p:nvSpPr>
        <p:spPr/>
        <p:txBody>
          <a:bodyPr/>
          <a:lstStyle/>
          <a:p>
            <a:fld id="{B617CA73-6C50-4F10-8C57-C85C1B5CEB7E}"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79</a:t>
            </a:fld>
            <a:endParaRPr lang="zh-CN" altLang="en-US" dirty="0"/>
          </a:p>
        </p:txBody>
      </p:sp>
    </p:spTree>
    <p:extLst>
      <p:ext uri="{BB962C8B-B14F-4D97-AF65-F5344CB8AC3E}">
        <p14:creationId xmlns:p14="http://schemas.microsoft.com/office/powerpoint/2010/main" val="37109268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磁盘缓存置换算法</a:t>
            </a:r>
          </a:p>
        </p:txBody>
      </p:sp>
      <p:sp>
        <p:nvSpPr>
          <p:cNvPr id="3" name="Content Placeholder 2"/>
          <p:cNvSpPr>
            <a:spLocks noGrp="1"/>
          </p:cNvSpPr>
          <p:nvPr>
            <p:ph idx="1"/>
          </p:nvPr>
        </p:nvSpPr>
        <p:spPr/>
        <p:txBody>
          <a:bodyPr/>
          <a:lstStyle/>
          <a:p>
            <a:r>
              <a:rPr lang="zh-CN" altLang="en-US" dirty="0"/>
              <a:t>磁盘缓存是磁盘扇区在内存中的缓冲区</a:t>
            </a:r>
            <a:endParaRPr lang="en-US" altLang="zh-CN" dirty="0"/>
          </a:p>
          <a:p>
            <a:endParaRPr lang="en-US" altLang="zh-CN" dirty="0"/>
          </a:p>
          <a:p>
            <a:r>
              <a:rPr lang="zh-CN" altLang="en-US" dirty="0"/>
              <a:t>磁盘缓存的调度算法很类似虚拟存储调度算法，但由于磁盘的访问频率远低于虚拟存储，它们又存在区别</a:t>
            </a:r>
            <a:endParaRPr lang="en-US" altLang="zh-CN" dirty="0"/>
          </a:p>
          <a:p>
            <a:endParaRPr lang="en-US" altLang="zh-CN" dirty="0"/>
          </a:p>
          <a:p>
            <a:r>
              <a:rPr lang="zh-CN" altLang="en-US" dirty="0"/>
              <a:t>通常磁盘缓存调度算法会比虚拟存储复杂</a:t>
            </a:r>
          </a:p>
        </p:txBody>
      </p:sp>
      <p:sp>
        <p:nvSpPr>
          <p:cNvPr id="4" name="Date Placeholder 3"/>
          <p:cNvSpPr>
            <a:spLocks noGrp="1"/>
          </p:cNvSpPr>
          <p:nvPr>
            <p:ph type="dt" sz="half" idx="10"/>
          </p:nvPr>
        </p:nvSpPr>
        <p:spPr/>
        <p:txBody>
          <a:bodyPr/>
          <a:lstStyle/>
          <a:p>
            <a:fld id="{27EEA5E4-A143-4831-AD9C-9B768D7B87D5}"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80</a:t>
            </a:fld>
            <a:endParaRPr lang="zh-CN" altLang="en-US" dirty="0"/>
          </a:p>
        </p:txBody>
      </p:sp>
    </p:spTree>
    <p:extLst>
      <p:ext uri="{BB962C8B-B14F-4D97-AF65-F5344CB8AC3E}">
        <p14:creationId xmlns:p14="http://schemas.microsoft.com/office/powerpoint/2010/main" val="1405059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磁盘缓存置换算法</a:t>
            </a:r>
          </a:p>
        </p:txBody>
      </p:sp>
      <p:sp>
        <p:nvSpPr>
          <p:cNvPr id="3" name="Content Placeholder 2"/>
          <p:cNvSpPr>
            <a:spLocks noGrp="1"/>
          </p:cNvSpPr>
          <p:nvPr>
            <p:ph idx="1"/>
          </p:nvPr>
        </p:nvSpPr>
        <p:spPr/>
        <p:txBody>
          <a:bodyPr>
            <a:normAutofit fontScale="92500" lnSpcReduction="20000"/>
          </a:bodyPr>
          <a:lstStyle/>
          <a:p>
            <a:r>
              <a:rPr lang="zh-CN" altLang="en-US" dirty="0"/>
              <a:t>访问频率置换算法的引入</a:t>
            </a:r>
            <a:endParaRPr lang="en-US" altLang="zh-CN" dirty="0"/>
          </a:p>
          <a:p>
            <a:pPr lvl="1"/>
            <a:endParaRPr lang="en-US" altLang="zh-CN" sz="2400" dirty="0"/>
          </a:p>
          <a:p>
            <a:pPr lvl="1"/>
            <a:r>
              <a:rPr lang="zh-CN" altLang="en-US" sz="2400" dirty="0"/>
              <a:t>它是对</a:t>
            </a:r>
            <a:r>
              <a:rPr lang="en-US" altLang="zh-CN" sz="2400" dirty="0"/>
              <a:t>LRU(</a:t>
            </a:r>
            <a:r>
              <a:rPr lang="zh-CN" altLang="en-US" sz="2400" dirty="0"/>
              <a:t>最近最久未使用</a:t>
            </a:r>
            <a:r>
              <a:rPr lang="en-US" altLang="zh-CN" sz="2400" dirty="0"/>
              <a:t>)</a:t>
            </a:r>
            <a:r>
              <a:rPr lang="zh-CN" altLang="en-US" sz="2400" dirty="0"/>
              <a:t>算法和</a:t>
            </a:r>
            <a:r>
              <a:rPr lang="en-US" altLang="zh-CN" sz="2400" dirty="0"/>
              <a:t>LFU(</a:t>
            </a:r>
            <a:r>
              <a:rPr lang="zh-CN" altLang="en-US" sz="2400" dirty="0"/>
              <a:t>最不常用</a:t>
            </a:r>
            <a:r>
              <a:rPr lang="en-US" altLang="zh-CN" sz="2400" dirty="0"/>
              <a:t>)</a:t>
            </a:r>
            <a:r>
              <a:rPr lang="zh-CN" altLang="en-US" sz="2400" dirty="0"/>
              <a:t>算法的改进；它要解决的主要问题是在</a:t>
            </a:r>
            <a:r>
              <a:rPr lang="en-US" altLang="zh-CN" sz="2400" dirty="0"/>
              <a:t>LFU</a:t>
            </a:r>
            <a:r>
              <a:rPr lang="zh-CN" altLang="en-US" sz="2400" dirty="0"/>
              <a:t>算法中的引用计数问题</a:t>
            </a:r>
            <a:endParaRPr lang="en-US" altLang="zh-CN" sz="2400" dirty="0"/>
          </a:p>
          <a:p>
            <a:pPr lvl="1"/>
            <a:endParaRPr lang="en-US" altLang="zh-CN" sz="2400" dirty="0"/>
          </a:p>
          <a:p>
            <a:pPr lvl="1"/>
            <a:r>
              <a:rPr lang="zh-CN" altLang="en-US" sz="2400" dirty="0"/>
              <a:t>磁盘访问可能会十分集中，在一段密集使用后，引用计数的变化就不能反映当前的引用情况。需要考虑磁盘访问的这种密集特征，对密集引用不计数</a:t>
            </a:r>
            <a:endParaRPr lang="en-US" altLang="zh-CN" sz="2400" dirty="0"/>
          </a:p>
          <a:p>
            <a:pPr lvl="1"/>
            <a:endParaRPr lang="en-US" altLang="zh-CN" sz="2400" dirty="0"/>
          </a:p>
          <a:p>
            <a:pPr lvl="1"/>
            <a:r>
              <a:rPr lang="zh-CN" altLang="en-US" sz="2400" dirty="0"/>
              <a:t>其基本思想是在短周期中使用</a:t>
            </a:r>
            <a:r>
              <a:rPr lang="en-US" altLang="zh-CN" sz="2400" dirty="0"/>
              <a:t>LRU</a:t>
            </a:r>
            <a:r>
              <a:rPr lang="zh-CN" altLang="en-US" sz="2400" dirty="0"/>
              <a:t>算法，而在长周期中使用</a:t>
            </a:r>
            <a:r>
              <a:rPr lang="en-US" altLang="zh-CN" sz="2400" dirty="0"/>
              <a:t>LFU</a:t>
            </a:r>
            <a:r>
              <a:rPr lang="zh-CN" altLang="en-US" sz="2400" dirty="0"/>
              <a:t>算法</a:t>
            </a:r>
            <a:endParaRPr lang="zh-CN" altLang="en-US" sz="2600" dirty="0"/>
          </a:p>
        </p:txBody>
      </p:sp>
      <p:sp>
        <p:nvSpPr>
          <p:cNvPr id="4" name="Date Placeholder 3"/>
          <p:cNvSpPr>
            <a:spLocks noGrp="1"/>
          </p:cNvSpPr>
          <p:nvPr>
            <p:ph type="dt" sz="half" idx="10"/>
          </p:nvPr>
        </p:nvSpPr>
        <p:spPr/>
        <p:txBody>
          <a:bodyPr/>
          <a:lstStyle/>
          <a:p>
            <a:fld id="{DDEA9C00-E8AB-426C-BC03-BAC837BDA278}"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81</a:t>
            </a:fld>
            <a:endParaRPr lang="zh-CN" altLang="en-US" dirty="0"/>
          </a:p>
        </p:txBody>
      </p:sp>
    </p:spTree>
    <p:extLst>
      <p:ext uri="{BB962C8B-B14F-4D97-AF65-F5344CB8AC3E}">
        <p14:creationId xmlns:p14="http://schemas.microsoft.com/office/powerpoint/2010/main" val="318333867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磁盘缓存置换算法</a:t>
            </a:r>
          </a:p>
        </p:txBody>
      </p:sp>
      <p:sp>
        <p:nvSpPr>
          <p:cNvPr id="3" name="Content Placeholder 2"/>
          <p:cNvSpPr>
            <a:spLocks noGrp="1"/>
          </p:cNvSpPr>
          <p:nvPr>
            <p:ph idx="1"/>
          </p:nvPr>
        </p:nvSpPr>
        <p:spPr/>
        <p:txBody>
          <a:bodyPr/>
          <a:lstStyle/>
          <a:p>
            <a:r>
              <a:rPr lang="zh-CN" altLang="en-US" dirty="0"/>
              <a:t>访问频率置换算法</a:t>
            </a:r>
            <a:endParaRPr lang="en-US" altLang="zh-CN" dirty="0"/>
          </a:p>
          <a:p>
            <a:pPr lvl="1"/>
            <a:r>
              <a:rPr lang="zh-CN" altLang="en-US" dirty="0"/>
              <a:t>把</a:t>
            </a:r>
            <a:r>
              <a:rPr lang="en-US" altLang="zh-CN" dirty="0"/>
              <a:t>LRU</a:t>
            </a:r>
            <a:r>
              <a:rPr lang="zh-CN" altLang="en-US" dirty="0"/>
              <a:t>栈分成三部分，并为每个缓存块增加计数器</a:t>
            </a:r>
            <a:endParaRPr lang="en-US" altLang="zh-CN" dirty="0"/>
          </a:p>
          <a:p>
            <a:pPr lvl="1"/>
            <a:r>
              <a:rPr lang="zh-CN" altLang="en-US" dirty="0"/>
              <a:t>新区域、中间区域、旧区域</a:t>
            </a:r>
            <a:endParaRPr lang="en-US" altLang="zh-CN" dirty="0"/>
          </a:p>
          <a:p>
            <a:pPr lvl="1"/>
            <a:endParaRPr lang="zh-CN" altLang="en-US" dirty="0"/>
          </a:p>
        </p:txBody>
      </p:sp>
      <p:sp>
        <p:nvSpPr>
          <p:cNvPr id="4" name="Date Placeholder 3"/>
          <p:cNvSpPr>
            <a:spLocks noGrp="1"/>
          </p:cNvSpPr>
          <p:nvPr>
            <p:ph type="dt" sz="half" idx="10"/>
          </p:nvPr>
        </p:nvSpPr>
        <p:spPr/>
        <p:txBody>
          <a:bodyPr/>
          <a:lstStyle/>
          <a:p>
            <a:fld id="{700EC620-A602-4542-8F02-DE421384D79D}"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82</a:t>
            </a:fld>
            <a:endParaRPr lang="zh-CN" altLang="en-US" dirty="0"/>
          </a:p>
        </p:txBody>
      </p:sp>
      <p:graphicFrame>
        <p:nvGraphicFramePr>
          <p:cNvPr id="7" name="Object 7"/>
          <p:cNvGraphicFramePr>
            <a:graphicFrameLocks noChangeAspect="1"/>
          </p:cNvGraphicFramePr>
          <p:nvPr>
            <p:extLst/>
          </p:nvPr>
        </p:nvGraphicFramePr>
        <p:xfrm>
          <a:off x="1295400" y="3032547"/>
          <a:ext cx="6553200" cy="2052637"/>
        </p:xfrm>
        <a:graphic>
          <a:graphicData uri="http://schemas.openxmlformats.org/presentationml/2006/ole">
            <mc:AlternateContent xmlns:mc="http://schemas.openxmlformats.org/markup-compatibility/2006">
              <mc:Choice xmlns:v="urn:schemas-microsoft-com:vml" Requires="v">
                <p:oleObj spid="_x0000_s1039" name="VISIO" r:id="rId3" imgW="4500720" imgH="1409400" progId="Visio.Drawing.11">
                  <p:embed/>
                </p:oleObj>
              </mc:Choice>
              <mc:Fallback>
                <p:oleObj name="VISIO" r:id="rId3" imgW="4500720" imgH="1409400" progId="Visio.Drawing.11">
                  <p:embed/>
                  <p:pic>
                    <p:nvPicPr>
                      <p:cNvPr id="0"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3032547"/>
                        <a:ext cx="6553200" cy="2052637"/>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5364483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磁盘缓存置换算法</a:t>
            </a:r>
          </a:p>
        </p:txBody>
      </p:sp>
      <p:sp>
        <p:nvSpPr>
          <p:cNvPr id="3" name="Content Placeholder 2"/>
          <p:cNvSpPr>
            <a:spLocks noGrp="1"/>
          </p:cNvSpPr>
          <p:nvPr>
            <p:ph idx="1"/>
          </p:nvPr>
        </p:nvSpPr>
        <p:spPr/>
        <p:txBody>
          <a:bodyPr>
            <a:normAutofit/>
          </a:bodyPr>
          <a:lstStyle/>
          <a:p>
            <a:r>
              <a:rPr lang="zh-CN" altLang="en-US" dirty="0"/>
              <a:t>访问频率置换算法的计数更新策略</a:t>
            </a:r>
            <a:endParaRPr lang="en-US" altLang="zh-CN" dirty="0"/>
          </a:p>
          <a:p>
            <a:pPr lvl="1"/>
            <a:r>
              <a:rPr lang="zh-CN" altLang="en-US" sz="2400" dirty="0"/>
              <a:t>栈中缓存块被访问时移到栈顶；如果该块在新区域，引用计数不变；否则，引用计数加</a:t>
            </a:r>
            <a:r>
              <a:rPr lang="en-US" altLang="zh-CN" sz="2400" dirty="0"/>
              <a:t>1</a:t>
            </a:r>
          </a:p>
          <a:p>
            <a:pPr lvl="2"/>
            <a:r>
              <a:rPr lang="zh-CN" altLang="en-US" dirty="0"/>
              <a:t>在新区域中引用计数不变的目的是避免密集访问对引用计数不利影响</a:t>
            </a:r>
            <a:endParaRPr lang="en-US" altLang="zh-CN" dirty="0"/>
          </a:p>
          <a:p>
            <a:pPr lvl="2"/>
            <a:r>
              <a:rPr lang="zh-CN" altLang="en-US" dirty="0"/>
              <a:t>在中间区域和旧区域中引用计数加</a:t>
            </a:r>
            <a:r>
              <a:rPr lang="en-US" altLang="zh-CN" dirty="0"/>
              <a:t>1</a:t>
            </a:r>
            <a:r>
              <a:rPr lang="zh-CN" altLang="en-US" dirty="0"/>
              <a:t>是为了使用</a:t>
            </a:r>
            <a:r>
              <a:rPr lang="en-US" altLang="zh-CN" dirty="0"/>
              <a:t>LFU</a:t>
            </a:r>
            <a:r>
              <a:rPr lang="zh-CN" altLang="en-US" dirty="0"/>
              <a:t>算法</a:t>
            </a:r>
            <a:endParaRPr lang="en-US" altLang="zh-CN" dirty="0"/>
          </a:p>
          <a:p>
            <a:pPr lvl="1"/>
            <a:r>
              <a:rPr lang="zh-CN" altLang="en-US" sz="2400" dirty="0"/>
              <a:t>未缓存数据块读入后放在栈顶，引用计数为</a:t>
            </a:r>
            <a:r>
              <a:rPr lang="en-US" altLang="zh-CN" sz="2400" dirty="0"/>
              <a:t>1</a:t>
            </a:r>
          </a:p>
          <a:p>
            <a:pPr lvl="1"/>
            <a:r>
              <a:rPr lang="zh-CN" altLang="en-US" sz="2400" dirty="0"/>
              <a:t>在旧区域中引用计数最小的缓存块被置换；中间区域的定义是为了避免新读入的缓存块在第一次出现在新区域时马上被置换，有一个过渡期</a:t>
            </a:r>
            <a:endParaRPr lang="zh-CN" altLang="en-US" sz="2600" dirty="0"/>
          </a:p>
        </p:txBody>
      </p:sp>
      <p:sp>
        <p:nvSpPr>
          <p:cNvPr id="4" name="Date Placeholder 3"/>
          <p:cNvSpPr>
            <a:spLocks noGrp="1"/>
          </p:cNvSpPr>
          <p:nvPr>
            <p:ph type="dt" sz="half" idx="10"/>
          </p:nvPr>
        </p:nvSpPr>
        <p:spPr/>
        <p:txBody>
          <a:bodyPr/>
          <a:lstStyle/>
          <a:p>
            <a:fld id="{6B6C65F3-CAC6-4058-94CF-7FAAAD852BC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83</a:t>
            </a:fld>
            <a:endParaRPr lang="zh-CN" altLang="en-US" dirty="0"/>
          </a:p>
        </p:txBody>
      </p:sp>
    </p:spTree>
    <p:extLst>
      <p:ext uri="{BB962C8B-B14F-4D97-AF65-F5344CB8AC3E}">
        <p14:creationId xmlns:p14="http://schemas.microsoft.com/office/powerpoint/2010/main" val="269623724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RAID</a:t>
            </a:r>
            <a:r>
              <a:rPr lang="zh-CN" altLang="en-US" dirty="0"/>
              <a:t>技术</a:t>
            </a:r>
          </a:p>
        </p:txBody>
      </p:sp>
      <p:sp>
        <p:nvSpPr>
          <p:cNvPr id="3" name="Content Placeholder 2"/>
          <p:cNvSpPr>
            <a:spLocks noGrp="1"/>
          </p:cNvSpPr>
          <p:nvPr>
            <p:ph idx="1"/>
          </p:nvPr>
        </p:nvSpPr>
        <p:spPr/>
        <p:txBody>
          <a:bodyPr/>
          <a:lstStyle/>
          <a:p>
            <a:pPr>
              <a:lnSpc>
                <a:spcPct val="110000"/>
              </a:lnSpc>
            </a:pPr>
            <a:r>
              <a:rPr lang="zh-CN" altLang="en-US" dirty="0"/>
              <a:t>处理机速度提高很快，磁盘速度的提高相对而言极其缓慢</a:t>
            </a:r>
          </a:p>
          <a:p>
            <a:pPr>
              <a:lnSpc>
                <a:spcPct val="110000"/>
              </a:lnSpc>
            </a:pPr>
            <a:r>
              <a:rPr lang="zh-CN" altLang="en-US" dirty="0"/>
              <a:t>对于磁盘，转速并非主要速度参数，瓶颈是磁头引臂的移动速度；</a:t>
            </a:r>
          </a:p>
          <a:p>
            <a:pPr>
              <a:lnSpc>
                <a:spcPct val="110000"/>
              </a:lnSpc>
            </a:pPr>
            <a:r>
              <a:rPr lang="zh-CN" altLang="en-US" dirty="0"/>
              <a:t>解决方法：多磁盘同时操作</a:t>
            </a:r>
          </a:p>
          <a:p>
            <a:pPr>
              <a:lnSpc>
                <a:spcPct val="110000"/>
              </a:lnSpc>
            </a:pPr>
            <a:r>
              <a:rPr lang="en-US" altLang="zh-CN" dirty="0"/>
              <a:t>RAID</a:t>
            </a:r>
            <a:r>
              <a:rPr lang="zh-CN" altLang="en-US" dirty="0"/>
              <a:t>：多磁盘冗余阵列 </a:t>
            </a:r>
            <a:r>
              <a:rPr lang="en-US" altLang="zh-CN" dirty="0"/>
              <a:t>(Redundant Array of Inexpensive Disks)</a:t>
            </a:r>
            <a:r>
              <a:rPr lang="zh-CN" altLang="en-US" dirty="0"/>
              <a:t>，是一个物理磁盘的集合，作为一个逻辑磁盘管理和使用</a:t>
            </a:r>
          </a:p>
        </p:txBody>
      </p:sp>
      <p:sp>
        <p:nvSpPr>
          <p:cNvPr id="4" name="Date Placeholder 3"/>
          <p:cNvSpPr>
            <a:spLocks noGrp="1"/>
          </p:cNvSpPr>
          <p:nvPr>
            <p:ph type="dt" sz="half" idx="10"/>
          </p:nvPr>
        </p:nvSpPr>
        <p:spPr/>
        <p:txBody>
          <a:bodyPr/>
          <a:lstStyle/>
          <a:p>
            <a:fld id="{EE615347-2013-497D-A102-F8B914B3B49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84</a:t>
            </a:fld>
            <a:endParaRPr lang="zh-CN" altLang="en-US" dirty="0"/>
          </a:p>
        </p:txBody>
      </p:sp>
    </p:spTree>
    <p:extLst>
      <p:ext uri="{BB962C8B-B14F-4D97-AF65-F5344CB8AC3E}">
        <p14:creationId xmlns:p14="http://schemas.microsoft.com/office/powerpoint/2010/main" val="401118147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RAID</a:t>
            </a:r>
            <a:r>
              <a:rPr lang="zh-CN" altLang="en-US" dirty="0"/>
              <a:t>技术</a:t>
            </a:r>
          </a:p>
        </p:txBody>
      </p:sp>
      <p:sp>
        <p:nvSpPr>
          <p:cNvPr id="3" name="Content Placeholder 2"/>
          <p:cNvSpPr>
            <a:spLocks noGrp="1"/>
          </p:cNvSpPr>
          <p:nvPr>
            <p:ph idx="1"/>
          </p:nvPr>
        </p:nvSpPr>
        <p:spPr/>
        <p:txBody>
          <a:bodyPr/>
          <a:lstStyle/>
          <a:p>
            <a:r>
              <a:rPr lang="en-US" altLang="zh-CN" dirty="0"/>
              <a:t>Level 0</a:t>
            </a:r>
            <a:r>
              <a:rPr lang="zh-CN" altLang="en-US" dirty="0"/>
              <a:t>：数据分条，存于不同磁盘上 </a:t>
            </a:r>
            <a:r>
              <a:rPr lang="en-US" altLang="zh-CN" dirty="0"/>
              <a:t>(</a:t>
            </a:r>
            <a:r>
              <a:rPr lang="zh-CN" altLang="en-US" dirty="0"/>
              <a:t>无冗余</a:t>
            </a:r>
            <a:r>
              <a:rPr lang="en-US" altLang="zh-CN" dirty="0"/>
              <a:t>)</a:t>
            </a:r>
          </a:p>
          <a:p>
            <a:r>
              <a:rPr lang="zh-CN" altLang="en-US" dirty="0"/>
              <a:t>如果一个</a:t>
            </a:r>
            <a:r>
              <a:rPr lang="en-US" altLang="zh-CN" dirty="0"/>
              <a:t>I/O</a:t>
            </a:r>
            <a:r>
              <a:rPr lang="zh-CN" altLang="en-US" dirty="0"/>
              <a:t>请求由多个逻辑上连续的条组成，则该请求可以并行处理</a:t>
            </a:r>
          </a:p>
        </p:txBody>
      </p:sp>
      <p:sp>
        <p:nvSpPr>
          <p:cNvPr id="4" name="Date Placeholder 3"/>
          <p:cNvSpPr>
            <a:spLocks noGrp="1"/>
          </p:cNvSpPr>
          <p:nvPr>
            <p:ph type="dt" sz="half" idx="10"/>
          </p:nvPr>
        </p:nvSpPr>
        <p:spPr/>
        <p:txBody>
          <a:bodyPr/>
          <a:lstStyle/>
          <a:p>
            <a:fld id="{F5ECBD21-1210-465D-8BFE-03E9A5044A33}"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85</a:t>
            </a:fld>
            <a:endParaRPr lang="zh-CN" altLang="en-US" dirty="0"/>
          </a:p>
        </p:txBody>
      </p:sp>
      <p:grpSp>
        <p:nvGrpSpPr>
          <p:cNvPr id="7" name="Group 27"/>
          <p:cNvGrpSpPr>
            <a:grpSpLocks/>
          </p:cNvGrpSpPr>
          <p:nvPr/>
        </p:nvGrpSpPr>
        <p:grpSpPr bwMode="auto">
          <a:xfrm>
            <a:off x="2308225" y="3426817"/>
            <a:ext cx="4064000" cy="1730375"/>
            <a:chOff x="1318" y="2023"/>
            <a:chExt cx="2968" cy="1316"/>
          </a:xfrm>
        </p:grpSpPr>
        <p:sp>
          <p:nvSpPr>
            <p:cNvPr id="8" name="AutoShape 10"/>
            <p:cNvSpPr>
              <a:spLocks noChangeArrowheads="1"/>
            </p:cNvSpPr>
            <p:nvPr/>
          </p:nvSpPr>
          <p:spPr bwMode="auto">
            <a:xfrm>
              <a:off x="1318"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AutoShape 8"/>
            <p:cNvSpPr>
              <a:spLocks noChangeArrowheads="1"/>
            </p:cNvSpPr>
            <p:nvPr/>
          </p:nvSpPr>
          <p:spPr bwMode="auto">
            <a:xfrm>
              <a:off x="1319"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strip12</a:t>
              </a:r>
            </a:p>
          </p:txBody>
        </p:sp>
        <p:sp>
          <p:nvSpPr>
            <p:cNvPr id="10" name="AutoShape 9"/>
            <p:cNvSpPr>
              <a:spLocks noChangeArrowheads="1"/>
            </p:cNvSpPr>
            <p:nvPr/>
          </p:nvSpPr>
          <p:spPr bwMode="auto">
            <a:xfrm>
              <a:off x="1318"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strip8</a:t>
              </a:r>
            </a:p>
          </p:txBody>
        </p:sp>
        <p:sp>
          <p:nvSpPr>
            <p:cNvPr id="11" name="AutoShape 7"/>
            <p:cNvSpPr>
              <a:spLocks noChangeArrowheads="1"/>
            </p:cNvSpPr>
            <p:nvPr/>
          </p:nvSpPr>
          <p:spPr bwMode="auto">
            <a:xfrm>
              <a:off x="1319"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strip4</a:t>
              </a:r>
            </a:p>
          </p:txBody>
        </p:sp>
        <p:sp>
          <p:nvSpPr>
            <p:cNvPr id="12" name="AutoShape 5"/>
            <p:cNvSpPr>
              <a:spLocks noChangeArrowheads="1"/>
            </p:cNvSpPr>
            <p:nvPr/>
          </p:nvSpPr>
          <p:spPr bwMode="auto">
            <a:xfrm>
              <a:off x="1318"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strip0</a:t>
              </a:r>
            </a:p>
          </p:txBody>
        </p:sp>
        <p:sp>
          <p:nvSpPr>
            <p:cNvPr id="13" name="AutoShape 12"/>
            <p:cNvSpPr>
              <a:spLocks noChangeArrowheads="1"/>
            </p:cNvSpPr>
            <p:nvPr/>
          </p:nvSpPr>
          <p:spPr bwMode="auto">
            <a:xfrm>
              <a:off x="2089"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AutoShape 13"/>
            <p:cNvSpPr>
              <a:spLocks noChangeArrowheads="1"/>
            </p:cNvSpPr>
            <p:nvPr/>
          </p:nvSpPr>
          <p:spPr bwMode="auto">
            <a:xfrm>
              <a:off x="2090"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strip13</a:t>
              </a:r>
            </a:p>
          </p:txBody>
        </p:sp>
        <p:sp>
          <p:nvSpPr>
            <p:cNvPr id="15" name="AutoShape 14"/>
            <p:cNvSpPr>
              <a:spLocks noChangeArrowheads="1"/>
            </p:cNvSpPr>
            <p:nvPr/>
          </p:nvSpPr>
          <p:spPr bwMode="auto">
            <a:xfrm>
              <a:off x="2089"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strip9</a:t>
              </a:r>
            </a:p>
          </p:txBody>
        </p:sp>
        <p:sp>
          <p:nvSpPr>
            <p:cNvPr id="16" name="AutoShape 15"/>
            <p:cNvSpPr>
              <a:spLocks noChangeArrowheads="1"/>
            </p:cNvSpPr>
            <p:nvPr/>
          </p:nvSpPr>
          <p:spPr bwMode="auto">
            <a:xfrm>
              <a:off x="2090"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strip5</a:t>
              </a:r>
            </a:p>
          </p:txBody>
        </p:sp>
        <p:sp>
          <p:nvSpPr>
            <p:cNvPr id="17" name="AutoShape 16"/>
            <p:cNvSpPr>
              <a:spLocks noChangeArrowheads="1"/>
            </p:cNvSpPr>
            <p:nvPr/>
          </p:nvSpPr>
          <p:spPr bwMode="auto">
            <a:xfrm>
              <a:off x="2089"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strip1</a:t>
              </a:r>
            </a:p>
          </p:txBody>
        </p:sp>
        <p:sp>
          <p:nvSpPr>
            <p:cNvPr id="18" name="AutoShape 17"/>
            <p:cNvSpPr>
              <a:spLocks noChangeArrowheads="1"/>
            </p:cNvSpPr>
            <p:nvPr/>
          </p:nvSpPr>
          <p:spPr bwMode="auto">
            <a:xfrm>
              <a:off x="2852"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AutoShape 18"/>
            <p:cNvSpPr>
              <a:spLocks noChangeArrowheads="1"/>
            </p:cNvSpPr>
            <p:nvPr/>
          </p:nvSpPr>
          <p:spPr bwMode="auto">
            <a:xfrm>
              <a:off x="2853"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strip14</a:t>
              </a:r>
            </a:p>
          </p:txBody>
        </p:sp>
        <p:sp>
          <p:nvSpPr>
            <p:cNvPr id="20" name="AutoShape 19"/>
            <p:cNvSpPr>
              <a:spLocks noChangeArrowheads="1"/>
            </p:cNvSpPr>
            <p:nvPr/>
          </p:nvSpPr>
          <p:spPr bwMode="auto">
            <a:xfrm>
              <a:off x="2852"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strip10</a:t>
              </a:r>
            </a:p>
          </p:txBody>
        </p:sp>
        <p:sp>
          <p:nvSpPr>
            <p:cNvPr id="21" name="AutoShape 20"/>
            <p:cNvSpPr>
              <a:spLocks noChangeArrowheads="1"/>
            </p:cNvSpPr>
            <p:nvPr/>
          </p:nvSpPr>
          <p:spPr bwMode="auto">
            <a:xfrm>
              <a:off x="2853"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strip6</a:t>
              </a:r>
            </a:p>
          </p:txBody>
        </p:sp>
        <p:sp>
          <p:nvSpPr>
            <p:cNvPr id="22" name="AutoShape 21"/>
            <p:cNvSpPr>
              <a:spLocks noChangeArrowheads="1"/>
            </p:cNvSpPr>
            <p:nvPr/>
          </p:nvSpPr>
          <p:spPr bwMode="auto">
            <a:xfrm>
              <a:off x="2852"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strip2</a:t>
              </a:r>
            </a:p>
          </p:txBody>
        </p:sp>
        <p:sp>
          <p:nvSpPr>
            <p:cNvPr id="23" name="AutoShape 22"/>
            <p:cNvSpPr>
              <a:spLocks noChangeArrowheads="1"/>
            </p:cNvSpPr>
            <p:nvPr/>
          </p:nvSpPr>
          <p:spPr bwMode="auto">
            <a:xfrm>
              <a:off x="3605"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AutoShape 23"/>
            <p:cNvSpPr>
              <a:spLocks noChangeArrowheads="1"/>
            </p:cNvSpPr>
            <p:nvPr/>
          </p:nvSpPr>
          <p:spPr bwMode="auto">
            <a:xfrm>
              <a:off x="3606"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strip15</a:t>
              </a:r>
            </a:p>
          </p:txBody>
        </p:sp>
        <p:sp>
          <p:nvSpPr>
            <p:cNvPr id="25" name="AutoShape 24"/>
            <p:cNvSpPr>
              <a:spLocks noChangeArrowheads="1"/>
            </p:cNvSpPr>
            <p:nvPr/>
          </p:nvSpPr>
          <p:spPr bwMode="auto">
            <a:xfrm>
              <a:off x="3605"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strip11</a:t>
              </a:r>
            </a:p>
          </p:txBody>
        </p:sp>
        <p:sp>
          <p:nvSpPr>
            <p:cNvPr id="26" name="AutoShape 25"/>
            <p:cNvSpPr>
              <a:spLocks noChangeArrowheads="1"/>
            </p:cNvSpPr>
            <p:nvPr/>
          </p:nvSpPr>
          <p:spPr bwMode="auto">
            <a:xfrm>
              <a:off x="3606"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strip7</a:t>
              </a:r>
            </a:p>
          </p:txBody>
        </p:sp>
        <p:sp>
          <p:nvSpPr>
            <p:cNvPr id="27" name="AutoShape 26"/>
            <p:cNvSpPr>
              <a:spLocks noChangeArrowheads="1"/>
            </p:cNvSpPr>
            <p:nvPr/>
          </p:nvSpPr>
          <p:spPr bwMode="auto">
            <a:xfrm>
              <a:off x="3605"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strip3</a:t>
              </a:r>
            </a:p>
          </p:txBody>
        </p:sp>
      </p:grpSp>
    </p:spTree>
    <p:extLst>
      <p:ext uri="{BB962C8B-B14F-4D97-AF65-F5344CB8AC3E}">
        <p14:creationId xmlns:p14="http://schemas.microsoft.com/office/powerpoint/2010/main" val="218094234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RAID</a:t>
            </a:r>
            <a:r>
              <a:rPr lang="zh-CN" altLang="en-US" dirty="0"/>
              <a:t>技术</a:t>
            </a:r>
          </a:p>
        </p:txBody>
      </p:sp>
      <p:sp>
        <p:nvSpPr>
          <p:cNvPr id="3" name="Content Placeholder 2"/>
          <p:cNvSpPr>
            <a:spLocks noGrp="1"/>
          </p:cNvSpPr>
          <p:nvPr>
            <p:ph idx="1"/>
          </p:nvPr>
        </p:nvSpPr>
        <p:spPr/>
        <p:txBody>
          <a:bodyPr/>
          <a:lstStyle/>
          <a:p>
            <a:r>
              <a:rPr lang="en-US" altLang="zh-CN" dirty="0"/>
              <a:t>Level 1</a:t>
            </a:r>
            <a:r>
              <a:rPr lang="zh-CN" altLang="en-US" dirty="0"/>
              <a:t>：被镜像</a:t>
            </a:r>
            <a:endParaRPr lang="en-US" altLang="zh-CN" dirty="0"/>
          </a:p>
          <a:p>
            <a:pPr lvl="1"/>
            <a:r>
              <a:rPr lang="zh-CN" altLang="en-US" dirty="0"/>
              <a:t>读请求可以由包含被请求数据的任何一个磁盘提供服务，只要拥有最少寻道、寻区时间</a:t>
            </a:r>
            <a:endParaRPr lang="en-US" altLang="zh-CN" dirty="0"/>
          </a:p>
          <a:p>
            <a:pPr lvl="1"/>
            <a:r>
              <a:rPr lang="zh-CN" altLang="en-US" dirty="0"/>
              <a:t>写请求需要对两个条均进行更新，可并行完成</a:t>
            </a:r>
            <a:endParaRPr lang="en-US" altLang="zh-CN" dirty="0"/>
          </a:p>
          <a:p>
            <a:pPr lvl="1"/>
            <a:r>
              <a:rPr lang="zh-CN" altLang="en-US" dirty="0"/>
              <a:t>一个驱动器失败时，可从另一个访问</a:t>
            </a:r>
          </a:p>
        </p:txBody>
      </p:sp>
      <p:sp>
        <p:nvSpPr>
          <p:cNvPr id="4" name="Date Placeholder 3"/>
          <p:cNvSpPr>
            <a:spLocks noGrp="1"/>
          </p:cNvSpPr>
          <p:nvPr>
            <p:ph type="dt" sz="half" idx="10"/>
          </p:nvPr>
        </p:nvSpPr>
        <p:spPr/>
        <p:txBody>
          <a:bodyPr/>
          <a:lstStyle/>
          <a:p>
            <a:fld id="{C8DB076C-11A1-46FB-8A76-FD6CDD8DB791}"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86</a:t>
            </a:fld>
            <a:endParaRPr lang="zh-CN" altLang="en-US" dirty="0"/>
          </a:p>
        </p:txBody>
      </p:sp>
      <p:grpSp>
        <p:nvGrpSpPr>
          <p:cNvPr id="7" name="Group 87"/>
          <p:cNvGrpSpPr>
            <a:grpSpLocks/>
          </p:cNvGrpSpPr>
          <p:nvPr/>
        </p:nvGrpSpPr>
        <p:grpSpPr bwMode="auto">
          <a:xfrm>
            <a:off x="467544" y="4002881"/>
            <a:ext cx="8270875" cy="1730375"/>
            <a:chOff x="139" y="1933"/>
            <a:chExt cx="5210" cy="1090"/>
          </a:xfrm>
        </p:grpSpPr>
        <p:grpSp>
          <p:nvGrpSpPr>
            <p:cNvPr id="8" name="Group 45"/>
            <p:cNvGrpSpPr>
              <a:grpSpLocks/>
            </p:cNvGrpSpPr>
            <p:nvPr/>
          </p:nvGrpSpPr>
          <p:grpSpPr bwMode="auto">
            <a:xfrm>
              <a:off x="139" y="1933"/>
              <a:ext cx="2560" cy="1090"/>
              <a:chOff x="1318" y="2023"/>
              <a:chExt cx="2968" cy="1316"/>
            </a:xfrm>
          </p:grpSpPr>
          <p:sp>
            <p:nvSpPr>
              <p:cNvPr id="30" name="AutoShape 46"/>
              <p:cNvSpPr>
                <a:spLocks noChangeArrowheads="1"/>
              </p:cNvSpPr>
              <p:nvPr/>
            </p:nvSpPr>
            <p:spPr bwMode="auto">
              <a:xfrm>
                <a:off x="1318"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AutoShape 47"/>
              <p:cNvSpPr>
                <a:spLocks noChangeArrowheads="1"/>
              </p:cNvSpPr>
              <p:nvPr/>
            </p:nvSpPr>
            <p:spPr bwMode="auto">
              <a:xfrm>
                <a:off x="1319"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strip12</a:t>
                </a:r>
              </a:p>
            </p:txBody>
          </p:sp>
          <p:sp>
            <p:nvSpPr>
              <p:cNvPr id="32" name="AutoShape 48"/>
              <p:cNvSpPr>
                <a:spLocks noChangeArrowheads="1"/>
              </p:cNvSpPr>
              <p:nvPr/>
            </p:nvSpPr>
            <p:spPr bwMode="auto">
              <a:xfrm>
                <a:off x="1318"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strip8</a:t>
                </a:r>
              </a:p>
            </p:txBody>
          </p:sp>
          <p:sp>
            <p:nvSpPr>
              <p:cNvPr id="33" name="AutoShape 49"/>
              <p:cNvSpPr>
                <a:spLocks noChangeArrowheads="1"/>
              </p:cNvSpPr>
              <p:nvPr/>
            </p:nvSpPr>
            <p:spPr bwMode="auto">
              <a:xfrm>
                <a:off x="1319"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strip4</a:t>
                </a:r>
              </a:p>
            </p:txBody>
          </p:sp>
          <p:sp>
            <p:nvSpPr>
              <p:cNvPr id="34" name="AutoShape 50"/>
              <p:cNvSpPr>
                <a:spLocks noChangeArrowheads="1"/>
              </p:cNvSpPr>
              <p:nvPr/>
            </p:nvSpPr>
            <p:spPr bwMode="auto">
              <a:xfrm>
                <a:off x="1318"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strip0</a:t>
                </a:r>
              </a:p>
            </p:txBody>
          </p:sp>
          <p:sp>
            <p:nvSpPr>
              <p:cNvPr id="35" name="AutoShape 51"/>
              <p:cNvSpPr>
                <a:spLocks noChangeArrowheads="1"/>
              </p:cNvSpPr>
              <p:nvPr/>
            </p:nvSpPr>
            <p:spPr bwMode="auto">
              <a:xfrm>
                <a:off x="2089"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AutoShape 52"/>
              <p:cNvSpPr>
                <a:spLocks noChangeArrowheads="1"/>
              </p:cNvSpPr>
              <p:nvPr/>
            </p:nvSpPr>
            <p:spPr bwMode="auto">
              <a:xfrm>
                <a:off x="2090"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strip13</a:t>
                </a:r>
              </a:p>
            </p:txBody>
          </p:sp>
          <p:sp>
            <p:nvSpPr>
              <p:cNvPr id="37" name="AutoShape 53"/>
              <p:cNvSpPr>
                <a:spLocks noChangeArrowheads="1"/>
              </p:cNvSpPr>
              <p:nvPr/>
            </p:nvSpPr>
            <p:spPr bwMode="auto">
              <a:xfrm>
                <a:off x="2089"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strip9</a:t>
                </a:r>
              </a:p>
            </p:txBody>
          </p:sp>
          <p:sp>
            <p:nvSpPr>
              <p:cNvPr id="38" name="AutoShape 54"/>
              <p:cNvSpPr>
                <a:spLocks noChangeArrowheads="1"/>
              </p:cNvSpPr>
              <p:nvPr/>
            </p:nvSpPr>
            <p:spPr bwMode="auto">
              <a:xfrm>
                <a:off x="2090"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strip5</a:t>
                </a:r>
              </a:p>
            </p:txBody>
          </p:sp>
          <p:sp>
            <p:nvSpPr>
              <p:cNvPr id="39" name="AutoShape 55"/>
              <p:cNvSpPr>
                <a:spLocks noChangeArrowheads="1"/>
              </p:cNvSpPr>
              <p:nvPr/>
            </p:nvSpPr>
            <p:spPr bwMode="auto">
              <a:xfrm>
                <a:off x="2089"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strip1</a:t>
                </a:r>
              </a:p>
            </p:txBody>
          </p:sp>
          <p:sp>
            <p:nvSpPr>
              <p:cNvPr id="40" name="AutoShape 56"/>
              <p:cNvSpPr>
                <a:spLocks noChangeArrowheads="1"/>
              </p:cNvSpPr>
              <p:nvPr/>
            </p:nvSpPr>
            <p:spPr bwMode="auto">
              <a:xfrm>
                <a:off x="2852"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AutoShape 57"/>
              <p:cNvSpPr>
                <a:spLocks noChangeArrowheads="1"/>
              </p:cNvSpPr>
              <p:nvPr/>
            </p:nvSpPr>
            <p:spPr bwMode="auto">
              <a:xfrm>
                <a:off x="2853"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strip14</a:t>
                </a:r>
              </a:p>
            </p:txBody>
          </p:sp>
          <p:sp>
            <p:nvSpPr>
              <p:cNvPr id="42" name="AutoShape 58"/>
              <p:cNvSpPr>
                <a:spLocks noChangeArrowheads="1"/>
              </p:cNvSpPr>
              <p:nvPr/>
            </p:nvSpPr>
            <p:spPr bwMode="auto">
              <a:xfrm>
                <a:off x="2852"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strip10</a:t>
                </a:r>
              </a:p>
            </p:txBody>
          </p:sp>
          <p:sp>
            <p:nvSpPr>
              <p:cNvPr id="43" name="AutoShape 59"/>
              <p:cNvSpPr>
                <a:spLocks noChangeArrowheads="1"/>
              </p:cNvSpPr>
              <p:nvPr/>
            </p:nvSpPr>
            <p:spPr bwMode="auto">
              <a:xfrm>
                <a:off x="2853"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strip6</a:t>
                </a:r>
              </a:p>
            </p:txBody>
          </p:sp>
          <p:sp>
            <p:nvSpPr>
              <p:cNvPr id="44" name="AutoShape 60"/>
              <p:cNvSpPr>
                <a:spLocks noChangeArrowheads="1"/>
              </p:cNvSpPr>
              <p:nvPr/>
            </p:nvSpPr>
            <p:spPr bwMode="auto">
              <a:xfrm>
                <a:off x="2852"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strip2</a:t>
                </a:r>
              </a:p>
            </p:txBody>
          </p:sp>
          <p:sp>
            <p:nvSpPr>
              <p:cNvPr id="45" name="AutoShape 61"/>
              <p:cNvSpPr>
                <a:spLocks noChangeArrowheads="1"/>
              </p:cNvSpPr>
              <p:nvPr/>
            </p:nvSpPr>
            <p:spPr bwMode="auto">
              <a:xfrm>
                <a:off x="3605"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AutoShape 62"/>
              <p:cNvSpPr>
                <a:spLocks noChangeArrowheads="1"/>
              </p:cNvSpPr>
              <p:nvPr/>
            </p:nvSpPr>
            <p:spPr bwMode="auto">
              <a:xfrm>
                <a:off x="3606"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strip15</a:t>
                </a:r>
              </a:p>
            </p:txBody>
          </p:sp>
          <p:sp>
            <p:nvSpPr>
              <p:cNvPr id="47" name="AutoShape 63"/>
              <p:cNvSpPr>
                <a:spLocks noChangeArrowheads="1"/>
              </p:cNvSpPr>
              <p:nvPr/>
            </p:nvSpPr>
            <p:spPr bwMode="auto">
              <a:xfrm>
                <a:off x="3605"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strip11</a:t>
                </a:r>
              </a:p>
            </p:txBody>
          </p:sp>
          <p:sp>
            <p:nvSpPr>
              <p:cNvPr id="48" name="AutoShape 64"/>
              <p:cNvSpPr>
                <a:spLocks noChangeArrowheads="1"/>
              </p:cNvSpPr>
              <p:nvPr/>
            </p:nvSpPr>
            <p:spPr bwMode="auto">
              <a:xfrm>
                <a:off x="3606"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strip7</a:t>
                </a:r>
              </a:p>
            </p:txBody>
          </p:sp>
          <p:sp>
            <p:nvSpPr>
              <p:cNvPr id="49" name="AutoShape 65"/>
              <p:cNvSpPr>
                <a:spLocks noChangeArrowheads="1"/>
              </p:cNvSpPr>
              <p:nvPr/>
            </p:nvSpPr>
            <p:spPr bwMode="auto">
              <a:xfrm>
                <a:off x="3605"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strip3</a:t>
                </a:r>
              </a:p>
            </p:txBody>
          </p:sp>
        </p:grpSp>
        <p:grpSp>
          <p:nvGrpSpPr>
            <p:cNvPr id="9" name="Group 66"/>
            <p:cNvGrpSpPr>
              <a:grpSpLocks/>
            </p:cNvGrpSpPr>
            <p:nvPr/>
          </p:nvGrpSpPr>
          <p:grpSpPr bwMode="auto">
            <a:xfrm>
              <a:off x="2789" y="1933"/>
              <a:ext cx="2560" cy="1090"/>
              <a:chOff x="1318" y="2023"/>
              <a:chExt cx="2968" cy="1316"/>
            </a:xfrm>
          </p:grpSpPr>
          <p:sp>
            <p:nvSpPr>
              <p:cNvPr id="10" name="AutoShape 67"/>
              <p:cNvSpPr>
                <a:spLocks noChangeArrowheads="1"/>
              </p:cNvSpPr>
              <p:nvPr/>
            </p:nvSpPr>
            <p:spPr bwMode="auto">
              <a:xfrm>
                <a:off x="1318" y="3002"/>
                <a:ext cx="680" cy="337"/>
              </a:xfrm>
              <a:prstGeom prst="can">
                <a:avLst>
                  <a:gd name="adj" fmla="val 25000"/>
                </a:avLst>
              </a:prstGeom>
              <a:solidFill>
                <a:srgbClr val="66FF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AutoShape 68"/>
              <p:cNvSpPr>
                <a:spLocks noChangeArrowheads="1"/>
              </p:cNvSpPr>
              <p:nvPr/>
            </p:nvSpPr>
            <p:spPr bwMode="auto">
              <a:xfrm>
                <a:off x="1319" y="2755"/>
                <a:ext cx="680" cy="337"/>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strip12</a:t>
                </a:r>
              </a:p>
            </p:txBody>
          </p:sp>
          <p:sp>
            <p:nvSpPr>
              <p:cNvPr id="12" name="AutoShape 69"/>
              <p:cNvSpPr>
                <a:spLocks noChangeArrowheads="1"/>
              </p:cNvSpPr>
              <p:nvPr/>
            </p:nvSpPr>
            <p:spPr bwMode="auto">
              <a:xfrm>
                <a:off x="1318" y="2507"/>
                <a:ext cx="680" cy="337"/>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strip8</a:t>
                </a:r>
              </a:p>
            </p:txBody>
          </p:sp>
          <p:sp>
            <p:nvSpPr>
              <p:cNvPr id="13" name="AutoShape 70"/>
              <p:cNvSpPr>
                <a:spLocks noChangeArrowheads="1"/>
              </p:cNvSpPr>
              <p:nvPr/>
            </p:nvSpPr>
            <p:spPr bwMode="auto">
              <a:xfrm>
                <a:off x="1319" y="2271"/>
                <a:ext cx="680" cy="337"/>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strip4</a:t>
                </a:r>
              </a:p>
            </p:txBody>
          </p:sp>
          <p:sp>
            <p:nvSpPr>
              <p:cNvPr id="14" name="AutoShape 71"/>
              <p:cNvSpPr>
                <a:spLocks noChangeArrowheads="1"/>
              </p:cNvSpPr>
              <p:nvPr/>
            </p:nvSpPr>
            <p:spPr bwMode="auto">
              <a:xfrm>
                <a:off x="1318" y="2023"/>
                <a:ext cx="680" cy="337"/>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strip0</a:t>
                </a:r>
              </a:p>
            </p:txBody>
          </p:sp>
          <p:sp>
            <p:nvSpPr>
              <p:cNvPr id="15" name="AutoShape 72"/>
              <p:cNvSpPr>
                <a:spLocks noChangeArrowheads="1"/>
              </p:cNvSpPr>
              <p:nvPr/>
            </p:nvSpPr>
            <p:spPr bwMode="auto">
              <a:xfrm>
                <a:off x="2089" y="3002"/>
                <a:ext cx="680" cy="337"/>
              </a:xfrm>
              <a:prstGeom prst="can">
                <a:avLst>
                  <a:gd name="adj" fmla="val 25000"/>
                </a:avLst>
              </a:prstGeom>
              <a:solidFill>
                <a:srgbClr val="66FF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AutoShape 73"/>
              <p:cNvSpPr>
                <a:spLocks noChangeArrowheads="1"/>
              </p:cNvSpPr>
              <p:nvPr/>
            </p:nvSpPr>
            <p:spPr bwMode="auto">
              <a:xfrm>
                <a:off x="2090" y="2755"/>
                <a:ext cx="680" cy="337"/>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strip13</a:t>
                </a:r>
              </a:p>
            </p:txBody>
          </p:sp>
          <p:sp>
            <p:nvSpPr>
              <p:cNvPr id="17" name="AutoShape 74"/>
              <p:cNvSpPr>
                <a:spLocks noChangeArrowheads="1"/>
              </p:cNvSpPr>
              <p:nvPr/>
            </p:nvSpPr>
            <p:spPr bwMode="auto">
              <a:xfrm>
                <a:off x="2089" y="2507"/>
                <a:ext cx="680" cy="337"/>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strip9</a:t>
                </a:r>
              </a:p>
            </p:txBody>
          </p:sp>
          <p:sp>
            <p:nvSpPr>
              <p:cNvPr id="18" name="AutoShape 75"/>
              <p:cNvSpPr>
                <a:spLocks noChangeArrowheads="1"/>
              </p:cNvSpPr>
              <p:nvPr/>
            </p:nvSpPr>
            <p:spPr bwMode="auto">
              <a:xfrm>
                <a:off x="2090" y="2271"/>
                <a:ext cx="680" cy="337"/>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strip5</a:t>
                </a:r>
              </a:p>
            </p:txBody>
          </p:sp>
          <p:sp>
            <p:nvSpPr>
              <p:cNvPr id="19" name="AutoShape 76"/>
              <p:cNvSpPr>
                <a:spLocks noChangeArrowheads="1"/>
              </p:cNvSpPr>
              <p:nvPr/>
            </p:nvSpPr>
            <p:spPr bwMode="auto">
              <a:xfrm>
                <a:off x="2089" y="2023"/>
                <a:ext cx="680" cy="337"/>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strip1</a:t>
                </a:r>
              </a:p>
            </p:txBody>
          </p:sp>
          <p:sp>
            <p:nvSpPr>
              <p:cNvPr id="20" name="AutoShape 77"/>
              <p:cNvSpPr>
                <a:spLocks noChangeArrowheads="1"/>
              </p:cNvSpPr>
              <p:nvPr/>
            </p:nvSpPr>
            <p:spPr bwMode="auto">
              <a:xfrm>
                <a:off x="2852" y="3002"/>
                <a:ext cx="680" cy="337"/>
              </a:xfrm>
              <a:prstGeom prst="can">
                <a:avLst>
                  <a:gd name="adj" fmla="val 25000"/>
                </a:avLst>
              </a:prstGeom>
              <a:solidFill>
                <a:srgbClr val="66FF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AutoShape 78"/>
              <p:cNvSpPr>
                <a:spLocks noChangeArrowheads="1"/>
              </p:cNvSpPr>
              <p:nvPr/>
            </p:nvSpPr>
            <p:spPr bwMode="auto">
              <a:xfrm>
                <a:off x="2853" y="2755"/>
                <a:ext cx="680" cy="337"/>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strip14</a:t>
                </a:r>
              </a:p>
            </p:txBody>
          </p:sp>
          <p:sp>
            <p:nvSpPr>
              <p:cNvPr id="22" name="AutoShape 79"/>
              <p:cNvSpPr>
                <a:spLocks noChangeArrowheads="1"/>
              </p:cNvSpPr>
              <p:nvPr/>
            </p:nvSpPr>
            <p:spPr bwMode="auto">
              <a:xfrm>
                <a:off x="2852" y="2507"/>
                <a:ext cx="680" cy="337"/>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strip10</a:t>
                </a:r>
              </a:p>
            </p:txBody>
          </p:sp>
          <p:sp>
            <p:nvSpPr>
              <p:cNvPr id="23" name="AutoShape 80"/>
              <p:cNvSpPr>
                <a:spLocks noChangeArrowheads="1"/>
              </p:cNvSpPr>
              <p:nvPr/>
            </p:nvSpPr>
            <p:spPr bwMode="auto">
              <a:xfrm>
                <a:off x="2853" y="2271"/>
                <a:ext cx="680" cy="337"/>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strip6</a:t>
                </a:r>
              </a:p>
            </p:txBody>
          </p:sp>
          <p:sp>
            <p:nvSpPr>
              <p:cNvPr id="24" name="AutoShape 81"/>
              <p:cNvSpPr>
                <a:spLocks noChangeArrowheads="1"/>
              </p:cNvSpPr>
              <p:nvPr/>
            </p:nvSpPr>
            <p:spPr bwMode="auto">
              <a:xfrm>
                <a:off x="2852" y="2023"/>
                <a:ext cx="680" cy="337"/>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strip2</a:t>
                </a:r>
              </a:p>
            </p:txBody>
          </p:sp>
          <p:sp>
            <p:nvSpPr>
              <p:cNvPr id="25" name="AutoShape 82"/>
              <p:cNvSpPr>
                <a:spLocks noChangeArrowheads="1"/>
              </p:cNvSpPr>
              <p:nvPr/>
            </p:nvSpPr>
            <p:spPr bwMode="auto">
              <a:xfrm>
                <a:off x="3605" y="3002"/>
                <a:ext cx="680" cy="337"/>
              </a:xfrm>
              <a:prstGeom prst="can">
                <a:avLst>
                  <a:gd name="adj" fmla="val 25000"/>
                </a:avLst>
              </a:prstGeom>
              <a:solidFill>
                <a:srgbClr val="66FF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83"/>
              <p:cNvSpPr>
                <a:spLocks noChangeArrowheads="1"/>
              </p:cNvSpPr>
              <p:nvPr/>
            </p:nvSpPr>
            <p:spPr bwMode="auto">
              <a:xfrm>
                <a:off x="3606" y="2755"/>
                <a:ext cx="680" cy="337"/>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strip15</a:t>
                </a:r>
              </a:p>
            </p:txBody>
          </p:sp>
          <p:sp>
            <p:nvSpPr>
              <p:cNvPr id="27" name="AutoShape 84"/>
              <p:cNvSpPr>
                <a:spLocks noChangeArrowheads="1"/>
              </p:cNvSpPr>
              <p:nvPr/>
            </p:nvSpPr>
            <p:spPr bwMode="auto">
              <a:xfrm>
                <a:off x="3605" y="2507"/>
                <a:ext cx="680" cy="337"/>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strip11</a:t>
                </a:r>
              </a:p>
            </p:txBody>
          </p:sp>
          <p:sp>
            <p:nvSpPr>
              <p:cNvPr id="28" name="AutoShape 85"/>
              <p:cNvSpPr>
                <a:spLocks noChangeArrowheads="1"/>
              </p:cNvSpPr>
              <p:nvPr/>
            </p:nvSpPr>
            <p:spPr bwMode="auto">
              <a:xfrm>
                <a:off x="3606" y="2271"/>
                <a:ext cx="680" cy="337"/>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strip7</a:t>
                </a:r>
              </a:p>
            </p:txBody>
          </p:sp>
          <p:sp>
            <p:nvSpPr>
              <p:cNvPr id="29" name="AutoShape 86"/>
              <p:cNvSpPr>
                <a:spLocks noChangeArrowheads="1"/>
              </p:cNvSpPr>
              <p:nvPr/>
            </p:nvSpPr>
            <p:spPr bwMode="auto">
              <a:xfrm>
                <a:off x="3605" y="2023"/>
                <a:ext cx="680" cy="337"/>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strip3</a:t>
                </a:r>
              </a:p>
            </p:txBody>
          </p:sp>
        </p:grpSp>
      </p:grpSp>
    </p:spTree>
    <p:extLst>
      <p:ext uri="{BB962C8B-B14F-4D97-AF65-F5344CB8AC3E}">
        <p14:creationId xmlns:p14="http://schemas.microsoft.com/office/powerpoint/2010/main" val="313284183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RAID</a:t>
            </a:r>
            <a:r>
              <a:rPr lang="zh-CN" altLang="en-US" dirty="0"/>
              <a:t>技术</a:t>
            </a:r>
          </a:p>
        </p:txBody>
      </p:sp>
      <p:sp>
        <p:nvSpPr>
          <p:cNvPr id="3" name="Content Placeholder 2"/>
          <p:cNvSpPr>
            <a:spLocks noGrp="1"/>
          </p:cNvSpPr>
          <p:nvPr>
            <p:ph idx="1"/>
          </p:nvPr>
        </p:nvSpPr>
        <p:spPr/>
        <p:txBody>
          <a:bodyPr/>
          <a:lstStyle/>
          <a:p>
            <a:r>
              <a:rPr lang="en-US" altLang="zh-CN" dirty="0"/>
              <a:t>Level 2</a:t>
            </a:r>
            <a:r>
              <a:rPr lang="zh-CN" altLang="en-US" dirty="0"/>
              <a:t>：通过海明码实现冗余</a:t>
            </a:r>
            <a:endParaRPr lang="en-US" altLang="zh-CN" dirty="0"/>
          </a:p>
          <a:p>
            <a:pPr lvl="1"/>
            <a:r>
              <a:rPr lang="zh-CN" altLang="en-US" dirty="0"/>
              <a:t>条通常只有一个字节或一个字</a:t>
            </a:r>
            <a:endParaRPr lang="en-US" altLang="zh-CN" dirty="0"/>
          </a:p>
          <a:p>
            <a:pPr lvl="1"/>
            <a:r>
              <a:rPr lang="zh-CN" altLang="en-US" dirty="0"/>
              <a:t>使用并行访问技术</a:t>
            </a:r>
            <a:endParaRPr lang="en-US" altLang="zh-CN" dirty="0"/>
          </a:p>
          <a:p>
            <a:pPr lvl="1"/>
            <a:r>
              <a:rPr lang="zh-CN" altLang="en-US" dirty="0"/>
              <a:t>对每个数据磁盘中的相应位都计算一个错误校正码（海明码）</a:t>
            </a:r>
          </a:p>
        </p:txBody>
      </p:sp>
      <p:sp>
        <p:nvSpPr>
          <p:cNvPr id="4" name="Date Placeholder 3"/>
          <p:cNvSpPr>
            <a:spLocks noGrp="1"/>
          </p:cNvSpPr>
          <p:nvPr>
            <p:ph type="dt" sz="half" idx="10"/>
          </p:nvPr>
        </p:nvSpPr>
        <p:spPr/>
        <p:txBody>
          <a:bodyPr/>
          <a:lstStyle/>
          <a:p>
            <a:fld id="{1C491F87-8C8A-42DD-A1DD-08B35C622856}"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87</a:t>
            </a:fld>
            <a:endParaRPr lang="zh-CN" altLang="en-US" dirty="0"/>
          </a:p>
        </p:txBody>
      </p:sp>
      <p:grpSp>
        <p:nvGrpSpPr>
          <p:cNvPr id="7" name="Group 49"/>
          <p:cNvGrpSpPr>
            <a:grpSpLocks/>
          </p:cNvGrpSpPr>
          <p:nvPr/>
        </p:nvGrpSpPr>
        <p:grpSpPr bwMode="auto">
          <a:xfrm>
            <a:off x="1043608" y="3717032"/>
            <a:ext cx="7240587" cy="1730375"/>
            <a:chOff x="340" y="1752"/>
            <a:chExt cx="4561" cy="1090"/>
          </a:xfrm>
        </p:grpSpPr>
        <p:grpSp>
          <p:nvGrpSpPr>
            <p:cNvPr id="8" name="Group 6"/>
            <p:cNvGrpSpPr>
              <a:grpSpLocks/>
            </p:cNvGrpSpPr>
            <p:nvPr/>
          </p:nvGrpSpPr>
          <p:grpSpPr bwMode="auto">
            <a:xfrm>
              <a:off x="340" y="1752"/>
              <a:ext cx="2560" cy="1090"/>
              <a:chOff x="1318" y="2023"/>
              <a:chExt cx="2968" cy="1316"/>
            </a:xfrm>
          </p:grpSpPr>
          <p:sp>
            <p:nvSpPr>
              <p:cNvPr id="24" name="AutoShape 7"/>
              <p:cNvSpPr>
                <a:spLocks noChangeArrowheads="1"/>
              </p:cNvSpPr>
              <p:nvPr/>
            </p:nvSpPr>
            <p:spPr bwMode="auto">
              <a:xfrm>
                <a:off x="1318"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AutoShape 8"/>
              <p:cNvSpPr>
                <a:spLocks noChangeArrowheads="1"/>
              </p:cNvSpPr>
              <p:nvPr/>
            </p:nvSpPr>
            <p:spPr bwMode="auto">
              <a:xfrm>
                <a:off x="1319"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26" name="AutoShape 9"/>
              <p:cNvSpPr>
                <a:spLocks noChangeArrowheads="1"/>
              </p:cNvSpPr>
              <p:nvPr/>
            </p:nvSpPr>
            <p:spPr bwMode="auto">
              <a:xfrm>
                <a:off x="1318"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a:t>
                </a:r>
                <a:r>
                  <a:rPr lang="en-US" altLang="zh-CN" sz="2000" b="1" baseline="-25000">
                    <a:ea typeface="宋体" panose="02010600030101010101" pitchFamily="2" charset="-122"/>
                  </a:rPr>
                  <a:t>0</a:t>
                </a:r>
              </a:p>
            </p:txBody>
          </p:sp>
          <p:sp>
            <p:nvSpPr>
              <p:cNvPr id="27" name="AutoShape 10"/>
              <p:cNvSpPr>
                <a:spLocks noChangeArrowheads="1"/>
              </p:cNvSpPr>
              <p:nvPr/>
            </p:nvSpPr>
            <p:spPr bwMode="auto">
              <a:xfrm>
                <a:off x="1319"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28" name="AutoShape 11"/>
              <p:cNvSpPr>
                <a:spLocks noChangeArrowheads="1"/>
              </p:cNvSpPr>
              <p:nvPr/>
            </p:nvSpPr>
            <p:spPr bwMode="auto">
              <a:xfrm>
                <a:off x="1318"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29" name="AutoShape 12"/>
              <p:cNvSpPr>
                <a:spLocks noChangeArrowheads="1"/>
              </p:cNvSpPr>
              <p:nvPr/>
            </p:nvSpPr>
            <p:spPr bwMode="auto">
              <a:xfrm>
                <a:off x="2089"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AutoShape 13"/>
              <p:cNvSpPr>
                <a:spLocks noChangeArrowheads="1"/>
              </p:cNvSpPr>
              <p:nvPr/>
            </p:nvSpPr>
            <p:spPr bwMode="auto">
              <a:xfrm>
                <a:off x="2090"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31" name="AutoShape 14"/>
              <p:cNvSpPr>
                <a:spLocks noChangeArrowheads="1"/>
              </p:cNvSpPr>
              <p:nvPr/>
            </p:nvSpPr>
            <p:spPr bwMode="auto">
              <a:xfrm>
                <a:off x="2089"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a:t>
                </a:r>
                <a:r>
                  <a:rPr lang="en-US" altLang="zh-CN" sz="2000" b="1" baseline="-25000">
                    <a:ea typeface="宋体" panose="02010600030101010101" pitchFamily="2" charset="-122"/>
                  </a:rPr>
                  <a:t>1</a:t>
                </a:r>
              </a:p>
            </p:txBody>
          </p:sp>
          <p:sp>
            <p:nvSpPr>
              <p:cNvPr id="32" name="AutoShape 15"/>
              <p:cNvSpPr>
                <a:spLocks noChangeArrowheads="1"/>
              </p:cNvSpPr>
              <p:nvPr/>
            </p:nvSpPr>
            <p:spPr bwMode="auto">
              <a:xfrm>
                <a:off x="2090"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33" name="AutoShape 16"/>
              <p:cNvSpPr>
                <a:spLocks noChangeArrowheads="1"/>
              </p:cNvSpPr>
              <p:nvPr/>
            </p:nvSpPr>
            <p:spPr bwMode="auto">
              <a:xfrm>
                <a:off x="2089"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34" name="AutoShape 17"/>
              <p:cNvSpPr>
                <a:spLocks noChangeArrowheads="1"/>
              </p:cNvSpPr>
              <p:nvPr/>
            </p:nvSpPr>
            <p:spPr bwMode="auto">
              <a:xfrm>
                <a:off x="2852"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AutoShape 18"/>
              <p:cNvSpPr>
                <a:spLocks noChangeArrowheads="1"/>
              </p:cNvSpPr>
              <p:nvPr/>
            </p:nvSpPr>
            <p:spPr bwMode="auto">
              <a:xfrm>
                <a:off x="2853"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36" name="AutoShape 19"/>
              <p:cNvSpPr>
                <a:spLocks noChangeArrowheads="1"/>
              </p:cNvSpPr>
              <p:nvPr/>
            </p:nvSpPr>
            <p:spPr bwMode="auto">
              <a:xfrm>
                <a:off x="2852"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a:t>
                </a:r>
                <a:r>
                  <a:rPr lang="en-US" altLang="zh-CN" sz="2000" b="1" baseline="-25000">
                    <a:ea typeface="宋体" panose="02010600030101010101" pitchFamily="2" charset="-122"/>
                  </a:rPr>
                  <a:t>2</a:t>
                </a:r>
              </a:p>
            </p:txBody>
          </p:sp>
          <p:sp>
            <p:nvSpPr>
              <p:cNvPr id="37" name="AutoShape 20"/>
              <p:cNvSpPr>
                <a:spLocks noChangeArrowheads="1"/>
              </p:cNvSpPr>
              <p:nvPr/>
            </p:nvSpPr>
            <p:spPr bwMode="auto">
              <a:xfrm>
                <a:off x="2853"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38" name="AutoShape 21"/>
              <p:cNvSpPr>
                <a:spLocks noChangeArrowheads="1"/>
              </p:cNvSpPr>
              <p:nvPr/>
            </p:nvSpPr>
            <p:spPr bwMode="auto">
              <a:xfrm>
                <a:off x="2852"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39" name="AutoShape 22"/>
              <p:cNvSpPr>
                <a:spLocks noChangeArrowheads="1"/>
              </p:cNvSpPr>
              <p:nvPr/>
            </p:nvSpPr>
            <p:spPr bwMode="auto">
              <a:xfrm>
                <a:off x="3605"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AutoShape 23"/>
              <p:cNvSpPr>
                <a:spLocks noChangeArrowheads="1"/>
              </p:cNvSpPr>
              <p:nvPr/>
            </p:nvSpPr>
            <p:spPr bwMode="auto">
              <a:xfrm>
                <a:off x="3606"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41" name="AutoShape 24"/>
              <p:cNvSpPr>
                <a:spLocks noChangeArrowheads="1"/>
              </p:cNvSpPr>
              <p:nvPr/>
            </p:nvSpPr>
            <p:spPr bwMode="auto">
              <a:xfrm>
                <a:off x="3605"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a:t>
                </a:r>
                <a:r>
                  <a:rPr lang="en-US" altLang="zh-CN" sz="2000" b="1" baseline="-25000">
                    <a:ea typeface="宋体" panose="02010600030101010101" pitchFamily="2" charset="-122"/>
                  </a:rPr>
                  <a:t>3</a:t>
                </a:r>
              </a:p>
            </p:txBody>
          </p:sp>
          <p:sp>
            <p:nvSpPr>
              <p:cNvPr id="42" name="AutoShape 25"/>
              <p:cNvSpPr>
                <a:spLocks noChangeArrowheads="1"/>
              </p:cNvSpPr>
              <p:nvPr/>
            </p:nvSpPr>
            <p:spPr bwMode="auto">
              <a:xfrm>
                <a:off x="3606"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43" name="AutoShape 26"/>
              <p:cNvSpPr>
                <a:spLocks noChangeArrowheads="1"/>
              </p:cNvSpPr>
              <p:nvPr/>
            </p:nvSpPr>
            <p:spPr bwMode="auto">
              <a:xfrm>
                <a:off x="3605"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grpSp>
        <p:sp>
          <p:nvSpPr>
            <p:cNvPr id="9" name="AutoShape 28"/>
            <p:cNvSpPr>
              <a:spLocks noChangeArrowheads="1"/>
            </p:cNvSpPr>
            <p:nvPr/>
          </p:nvSpPr>
          <p:spPr bwMode="auto">
            <a:xfrm>
              <a:off x="2990" y="2563"/>
              <a:ext cx="587" cy="279"/>
            </a:xfrm>
            <a:prstGeom prst="can">
              <a:avLst>
                <a:gd name="adj" fmla="val 25000"/>
              </a:avLst>
            </a:prstGeom>
            <a:solidFill>
              <a:srgbClr val="66FF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AutoShape 29"/>
            <p:cNvSpPr>
              <a:spLocks noChangeArrowheads="1"/>
            </p:cNvSpPr>
            <p:nvPr/>
          </p:nvSpPr>
          <p:spPr bwMode="auto">
            <a:xfrm>
              <a:off x="2991" y="2358"/>
              <a:ext cx="586" cy="279"/>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11" name="AutoShape 30"/>
            <p:cNvSpPr>
              <a:spLocks noChangeArrowheads="1"/>
            </p:cNvSpPr>
            <p:nvPr/>
          </p:nvSpPr>
          <p:spPr bwMode="auto">
            <a:xfrm>
              <a:off x="2990" y="2153"/>
              <a:ext cx="587" cy="279"/>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f</a:t>
              </a:r>
              <a:r>
                <a:rPr lang="en-US" altLang="zh-CN" sz="2000" b="1" baseline="-25000">
                  <a:ea typeface="宋体" panose="02010600030101010101" pitchFamily="2" charset="-122"/>
                </a:rPr>
                <a:t>0</a:t>
              </a:r>
              <a:r>
                <a:rPr lang="en-US" altLang="zh-CN" sz="2000" b="1">
                  <a:ea typeface="宋体" panose="02010600030101010101" pitchFamily="2" charset="-122"/>
                </a:rPr>
                <a:t>(b)</a:t>
              </a:r>
            </a:p>
          </p:txBody>
        </p:sp>
        <p:sp>
          <p:nvSpPr>
            <p:cNvPr id="12" name="AutoShape 31"/>
            <p:cNvSpPr>
              <a:spLocks noChangeArrowheads="1"/>
            </p:cNvSpPr>
            <p:nvPr/>
          </p:nvSpPr>
          <p:spPr bwMode="auto">
            <a:xfrm>
              <a:off x="2991" y="1957"/>
              <a:ext cx="586" cy="280"/>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13" name="AutoShape 32"/>
            <p:cNvSpPr>
              <a:spLocks noChangeArrowheads="1"/>
            </p:cNvSpPr>
            <p:nvPr/>
          </p:nvSpPr>
          <p:spPr bwMode="auto">
            <a:xfrm>
              <a:off x="2990" y="1752"/>
              <a:ext cx="587" cy="279"/>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14" name="AutoShape 33"/>
            <p:cNvSpPr>
              <a:spLocks noChangeArrowheads="1"/>
            </p:cNvSpPr>
            <p:nvPr/>
          </p:nvSpPr>
          <p:spPr bwMode="auto">
            <a:xfrm>
              <a:off x="3655" y="2563"/>
              <a:ext cx="587" cy="279"/>
            </a:xfrm>
            <a:prstGeom prst="can">
              <a:avLst>
                <a:gd name="adj" fmla="val 25000"/>
              </a:avLst>
            </a:prstGeom>
            <a:solidFill>
              <a:srgbClr val="66FF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AutoShape 34"/>
            <p:cNvSpPr>
              <a:spLocks noChangeArrowheads="1"/>
            </p:cNvSpPr>
            <p:nvPr/>
          </p:nvSpPr>
          <p:spPr bwMode="auto">
            <a:xfrm>
              <a:off x="3656" y="2358"/>
              <a:ext cx="586" cy="279"/>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16" name="AutoShape 35"/>
            <p:cNvSpPr>
              <a:spLocks noChangeArrowheads="1"/>
            </p:cNvSpPr>
            <p:nvPr/>
          </p:nvSpPr>
          <p:spPr bwMode="auto">
            <a:xfrm>
              <a:off x="3655" y="2153"/>
              <a:ext cx="587" cy="279"/>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f</a:t>
              </a:r>
              <a:r>
                <a:rPr lang="en-US" altLang="zh-CN" sz="2000" b="1" baseline="-25000">
                  <a:ea typeface="宋体" panose="02010600030101010101" pitchFamily="2" charset="-122"/>
                </a:rPr>
                <a:t>1</a:t>
              </a:r>
              <a:r>
                <a:rPr lang="en-US" altLang="zh-CN" sz="2000" b="1">
                  <a:ea typeface="宋体" panose="02010600030101010101" pitchFamily="2" charset="-122"/>
                </a:rPr>
                <a:t>(b)</a:t>
              </a:r>
            </a:p>
          </p:txBody>
        </p:sp>
        <p:sp>
          <p:nvSpPr>
            <p:cNvPr id="17" name="AutoShape 36"/>
            <p:cNvSpPr>
              <a:spLocks noChangeArrowheads="1"/>
            </p:cNvSpPr>
            <p:nvPr/>
          </p:nvSpPr>
          <p:spPr bwMode="auto">
            <a:xfrm>
              <a:off x="3656" y="1957"/>
              <a:ext cx="586" cy="280"/>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18" name="AutoShape 37"/>
            <p:cNvSpPr>
              <a:spLocks noChangeArrowheads="1"/>
            </p:cNvSpPr>
            <p:nvPr/>
          </p:nvSpPr>
          <p:spPr bwMode="auto">
            <a:xfrm>
              <a:off x="3655" y="1752"/>
              <a:ext cx="587" cy="279"/>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19" name="AutoShape 38"/>
            <p:cNvSpPr>
              <a:spLocks noChangeArrowheads="1"/>
            </p:cNvSpPr>
            <p:nvPr/>
          </p:nvSpPr>
          <p:spPr bwMode="auto">
            <a:xfrm>
              <a:off x="4313" y="2563"/>
              <a:ext cx="587" cy="279"/>
            </a:xfrm>
            <a:prstGeom prst="can">
              <a:avLst>
                <a:gd name="adj" fmla="val 25000"/>
              </a:avLst>
            </a:prstGeom>
            <a:solidFill>
              <a:srgbClr val="66FF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AutoShape 39"/>
            <p:cNvSpPr>
              <a:spLocks noChangeArrowheads="1"/>
            </p:cNvSpPr>
            <p:nvPr/>
          </p:nvSpPr>
          <p:spPr bwMode="auto">
            <a:xfrm>
              <a:off x="4314" y="2358"/>
              <a:ext cx="587" cy="279"/>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21" name="AutoShape 40"/>
            <p:cNvSpPr>
              <a:spLocks noChangeArrowheads="1"/>
            </p:cNvSpPr>
            <p:nvPr/>
          </p:nvSpPr>
          <p:spPr bwMode="auto">
            <a:xfrm>
              <a:off x="4313" y="2153"/>
              <a:ext cx="587" cy="279"/>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f</a:t>
              </a:r>
              <a:r>
                <a:rPr lang="en-US" altLang="zh-CN" sz="2000" b="1" baseline="-25000">
                  <a:ea typeface="宋体" panose="02010600030101010101" pitchFamily="2" charset="-122"/>
                </a:rPr>
                <a:t>2</a:t>
              </a:r>
              <a:r>
                <a:rPr lang="en-US" altLang="zh-CN" sz="2000" b="1">
                  <a:ea typeface="宋体" panose="02010600030101010101" pitchFamily="2" charset="-122"/>
                </a:rPr>
                <a:t>(b)</a:t>
              </a:r>
            </a:p>
          </p:txBody>
        </p:sp>
        <p:sp>
          <p:nvSpPr>
            <p:cNvPr id="22" name="AutoShape 41"/>
            <p:cNvSpPr>
              <a:spLocks noChangeArrowheads="1"/>
            </p:cNvSpPr>
            <p:nvPr/>
          </p:nvSpPr>
          <p:spPr bwMode="auto">
            <a:xfrm>
              <a:off x="4314" y="1957"/>
              <a:ext cx="587" cy="280"/>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23" name="AutoShape 42"/>
            <p:cNvSpPr>
              <a:spLocks noChangeArrowheads="1"/>
            </p:cNvSpPr>
            <p:nvPr/>
          </p:nvSpPr>
          <p:spPr bwMode="auto">
            <a:xfrm>
              <a:off x="4313" y="1752"/>
              <a:ext cx="587" cy="279"/>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grpSp>
    </p:spTree>
    <p:extLst>
      <p:ext uri="{BB962C8B-B14F-4D97-AF65-F5344CB8AC3E}">
        <p14:creationId xmlns:p14="http://schemas.microsoft.com/office/powerpoint/2010/main" val="225072932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RAID</a:t>
            </a:r>
            <a:r>
              <a:rPr lang="zh-CN" altLang="en-US" dirty="0"/>
              <a:t>技术</a:t>
            </a:r>
          </a:p>
        </p:txBody>
      </p:sp>
      <p:sp>
        <p:nvSpPr>
          <p:cNvPr id="3" name="Content Placeholder 2"/>
          <p:cNvSpPr>
            <a:spLocks noGrp="1"/>
          </p:cNvSpPr>
          <p:nvPr>
            <p:ph idx="1"/>
          </p:nvPr>
        </p:nvSpPr>
        <p:spPr/>
        <p:txBody>
          <a:bodyPr/>
          <a:lstStyle/>
          <a:p>
            <a:r>
              <a:rPr lang="en-US" altLang="zh-CN" dirty="0"/>
              <a:t>Level 3</a:t>
            </a:r>
            <a:r>
              <a:rPr lang="zh-CN" altLang="en-US" dirty="0"/>
              <a:t>：交错位奇偶校验</a:t>
            </a:r>
            <a:endParaRPr lang="en-US" altLang="zh-CN" dirty="0"/>
          </a:p>
          <a:p>
            <a:pPr lvl="1"/>
            <a:r>
              <a:rPr lang="zh-CN" altLang="en-US" dirty="0"/>
              <a:t>为所有数据磁盘中同一位置的位计算一奇偶校验位</a:t>
            </a:r>
            <a:endParaRPr lang="en-US" altLang="zh-CN" dirty="0"/>
          </a:p>
          <a:p>
            <a:pPr lvl="1"/>
            <a:r>
              <a:rPr lang="zh-CN" altLang="en-US" dirty="0"/>
              <a:t>第</a:t>
            </a:r>
            <a:r>
              <a:rPr lang="en-US" altLang="zh-CN" dirty="0" err="1"/>
              <a:t>i</a:t>
            </a:r>
            <a:r>
              <a:rPr lang="zh-CN" altLang="en-US" dirty="0"/>
              <a:t>位奇偶校验位：</a:t>
            </a:r>
            <a:r>
              <a:rPr lang="en-US" altLang="zh-CN" dirty="0"/>
              <a:t>X4(</a:t>
            </a:r>
            <a:r>
              <a:rPr lang="en-US" altLang="zh-CN" dirty="0" err="1"/>
              <a:t>i</a:t>
            </a:r>
            <a:r>
              <a:rPr lang="en-US" altLang="zh-CN" dirty="0"/>
              <a:t>)=X3(</a:t>
            </a:r>
            <a:r>
              <a:rPr lang="en-US" altLang="zh-CN" dirty="0" err="1"/>
              <a:t>i</a:t>
            </a:r>
            <a:r>
              <a:rPr lang="en-US" altLang="zh-CN" dirty="0"/>
              <a:t>)</a:t>
            </a:r>
            <a:r>
              <a:rPr lang="en-US" altLang="zh-CN" dirty="0">
                <a:sym typeface="Symbol" panose="05050102010706020507" pitchFamily="18" charset="2"/>
              </a:rPr>
              <a:t>X2(</a:t>
            </a:r>
            <a:r>
              <a:rPr lang="en-US" altLang="zh-CN" dirty="0" err="1">
                <a:sym typeface="Symbol" panose="05050102010706020507" pitchFamily="18" charset="2"/>
              </a:rPr>
              <a:t>i</a:t>
            </a:r>
            <a:r>
              <a:rPr lang="en-US" altLang="zh-CN" dirty="0">
                <a:sym typeface="Symbol" panose="05050102010706020507" pitchFamily="18" charset="2"/>
              </a:rPr>
              <a:t>)X1(</a:t>
            </a:r>
            <a:r>
              <a:rPr lang="en-US" altLang="zh-CN" dirty="0" err="1">
                <a:sym typeface="Symbol" panose="05050102010706020507" pitchFamily="18" charset="2"/>
              </a:rPr>
              <a:t>i</a:t>
            </a:r>
            <a:r>
              <a:rPr lang="en-US" altLang="zh-CN" dirty="0">
                <a:sym typeface="Symbol" panose="05050102010706020507" pitchFamily="18" charset="2"/>
              </a:rPr>
              <a:t>)X0(</a:t>
            </a:r>
            <a:r>
              <a:rPr lang="en-US" altLang="zh-CN" dirty="0" err="1">
                <a:sym typeface="Symbol" panose="05050102010706020507" pitchFamily="18" charset="2"/>
              </a:rPr>
              <a:t>i</a:t>
            </a:r>
            <a:r>
              <a:rPr lang="en-US" altLang="zh-CN" dirty="0">
                <a:sym typeface="Symbol" panose="05050102010706020507" pitchFamily="18" charset="2"/>
              </a:rPr>
              <a:t>)</a:t>
            </a:r>
          </a:p>
          <a:p>
            <a:pPr lvl="1"/>
            <a:r>
              <a:rPr lang="zh-CN" altLang="en-US" dirty="0">
                <a:sym typeface="Symbol" panose="05050102010706020507" pitchFamily="18" charset="2"/>
              </a:rPr>
              <a:t>若</a:t>
            </a:r>
            <a:r>
              <a:rPr lang="en-US" altLang="zh-CN" dirty="0">
                <a:sym typeface="Symbol" panose="05050102010706020507" pitchFamily="18" charset="2"/>
              </a:rPr>
              <a:t>X1</a:t>
            </a:r>
            <a:r>
              <a:rPr lang="zh-CN" altLang="en-US" dirty="0">
                <a:sym typeface="Symbol" panose="05050102010706020507" pitchFamily="18" charset="2"/>
              </a:rPr>
              <a:t>失败，</a:t>
            </a:r>
            <a:r>
              <a:rPr lang="en-US" altLang="zh-CN" dirty="0"/>
              <a:t>X1(</a:t>
            </a:r>
            <a:r>
              <a:rPr lang="en-US" altLang="zh-CN" dirty="0" err="1"/>
              <a:t>i</a:t>
            </a:r>
            <a:r>
              <a:rPr lang="en-US" altLang="zh-CN" dirty="0"/>
              <a:t>)=X4(</a:t>
            </a:r>
            <a:r>
              <a:rPr lang="en-US" altLang="zh-CN" dirty="0" err="1"/>
              <a:t>i</a:t>
            </a:r>
            <a:r>
              <a:rPr lang="en-US" altLang="zh-CN" dirty="0"/>
              <a:t>)</a:t>
            </a:r>
            <a:r>
              <a:rPr lang="en-US" altLang="zh-CN" dirty="0">
                <a:sym typeface="Symbol" panose="05050102010706020507" pitchFamily="18" charset="2"/>
              </a:rPr>
              <a:t>X3(</a:t>
            </a:r>
            <a:r>
              <a:rPr lang="en-US" altLang="zh-CN" dirty="0" err="1">
                <a:sym typeface="Symbol" panose="05050102010706020507" pitchFamily="18" charset="2"/>
              </a:rPr>
              <a:t>i</a:t>
            </a:r>
            <a:r>
              <a:rPr lang="en-US" altLang="zh-CN" dirty="0">
                <a:sym typeface="Symbol" panose="05050102010706020507" pitchFamily="18" charset="2"/>
              </a:rPr>
              <a:t>)X2(</a:t>
            </a:r>
            <a:r>
              <a:rPr lang="en-US" altLang="zh-CN" dirty="0" err="1">
                <a:sym typeface="Symbol" panose="05050102010706020507" pitchFamily="18" charset="2"/>
              </a:rPr>
              <a:t>i</a:t>
            </a:r>
            <a:r>
              <a:rPr lang="en-US" altLang="zh-CN" dirty="0">
                <a:sym typeface="Symbol" panose="05050102010706020507" pitchFamily="18" charset="2"/>
              </a:rPr>
              <a:t>)X0(</a:t>
            </a:r>
            <a:r>
              <a:rPr lang="en-US" altLang="zh-CN" dirty="0" err="1">
                <a:sym typeface="Symbol" panose="05050102010706020507" pitchFamily="18" charset="2"/>
              </a:rPr>
              <a:t>i</a:t>
            </a:r>
            <a:r>
              <a:rPr lang="en-US" altLang="zh-CN" dirty="0">
                <a:sym typeface="Symbol" panose="05050102010706020507" pitchFamily="18" charset="2"/>
              </a:rPr>
              <a:t>)</a:t>
            </a:r>
          </a:p>
          <a:p>
            <a:pPr lvl="1"/>
            <a:r>
              <a:rPr lang="zh-CN" altLang="en-US" dirty="0">
                <a:sym typeface="Symbol" panose="05050102010706020507" pitchFamily="18" charset="2"/>
              </a:rPr>
              <a:t>写数据时计算校验位</a:t>
            </a:r>
          </a:p>
          <a:p>
            <a:endParaRPr lang="zh-CN" altLang="en-US" dirty="0"/>
          </a:p>
        </p:txBody>
      </p:sp>
      <p:sp>
        <p:nvSpPr>
          <p:cNvPr id="4" name="Date Placeholder 3"/>
          <p:cNvSpPr>
            <a:spLocks noGrp="1"/>
          </p:cNvSpPr>
          <p:nvPr>
            <p:ph type="dt" sz="half" idx="10"/>
          </p:nvPr>
        </p:nvSpPr>
        <p:spPr/>
        <p:txBody>
          <a:bodyPr/>
          <a:lstStyle/>
          <a:p>
            <a:fld id="{BF481089-AB32-4688-BC33-416FCFF29856}"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88</a:t>
            </a:fld>
            <a:endParaRPr lang="zh-CN" altLang="en-US" dirty="0"/>
          </a:p>
        </p:txBody>
      </p:sp>
      <p:grpSp>
        <p:nvGrpSpPr>
          <p:cNvPr id="7" name="Group 42"/>
          <p:cNvGrpSpPr>
            <a:grpSpLocks/>
          </p:cNvGrpSpPr>
          <p:nvPr/>
        </p:nvGrpSpPr>
        <p:grpSpPr bwMode="auto">
          <a:xfrm>
            <a:off x="1907704" y="4002881"/>
            <a:ext cx="5138738" cy="1730375"/>
            <a:chOff x="340" y="1752"/>
            <a:chExt cx="3237" cy="1090"/>
          </a:xfrm>
        </p:grpSpPr>
        <p:grpSp>
          <p:nvGrpSpPr>
            <p:cNvPr id="8" name="Group 5"/>
            <p:cNvGrpSpPr>
              <a:grpSpLocks/>
            </p:cNvGrpSpPr>
            <p:nvPr/>
          </p:nvGrpSpPr>
          <p:grpSpPr bwMode="auto">
            <a:xfrm>
              <a:off x="340" y="1752"/>
              <a:ext cx="2560" cy="1090"/>
              <a:chOff x="1318" y="2023"/>
              <a:chExt cx="2968" cy="1316"/>
            </a:xfrm>
          </p:grpSpPr>
          <p:sp>
            <p:nvSpPr>
              <p:cNvPr id="14" name="AutoShape 6"/>
              <p:cNvSpPr>
                <a:spLocks noChangeArrowheads="1"/>
              </p:cNvSpPr>
              <p:nvPr/>
            </p:nvSpPr>
            <p:spPr bwMode="auto">
              <a:xfrm>
                <a:off x="1318"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AutoShape 7"/>
              <p:cNvSpPr>
                <a:spLocks noChangeArrowheads="1"/>
              </p:cNvSpPr>
              <p:nvPr/>
            </p:nvSpPr>
            <p:spPr bwMode="auto">
              <a:xfrm>
                <a:off x="1319"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16" name="AutoShape 8"/>
              <p:cNvSpPr>
                <a:spLocks noChangeArrowheads="1"/>
              </p:cNvSpPr>
              <p:nvPr/>
            </p:nvSpPr>
            <p:spPr bwMode="auto">
              <a:xfrm>
                <a:off x="1318"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a:t>
                </a:r>
                <a:r>
                  <a:rPr lang="en-US" altLang="zh-CN" sz="2000" b="1" baseline="-25000">
                    <a:ea typeface="宋体" panose="02010600030101010101" pitchFamily="2" charset="-122"/>
                  </a:rPr>
                  <a:t>0</a:t>
                </a:r>
              </a:p>
            </p:txBody>
          </p:sp>
          <p:sp>
            <p:nvSpPr>
              <p:cNvPr id="17" name="AutoShape 9"/>
              <p:cNvSpPr>
                <a:spLocks noChangeArrowheads="1"/>
              </p:cNvSpPr>
              <p:nvPr/>
            </p:nvSpPr>
            <p:spPr bwMode="auto">
              <a:xfrm>
                <a:off x="1319"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18" name="AutoShape 10"/>
              <p:cNvSpPr>
                <a:spLocks noChangeArrowheads="1"/>
              </p:cNvSpPr>
              <p:nvPr/>
            </p:nvSpPr>
            <p:spPr bwMode="auto">
              <a:xfrm>
                <a:off x="1318"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19" name="AutoShape 11"/>
              <p:cNvSpPr>
                <a:spLocks noChangeArrowheads="1"/>
              </p:cNvSpPr>
              <p:nvPr/>
            </p:nvSpPr>
            <p:spPr bwMode="auto">
              <a:xfrm>
                <a:off x="2089"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AutoShape 12"/>
              <p:cNvSpPr>
                <a:spLocks noChangeArrowheads="1"/>
              </p:cNvSpPr>
              <p:nvPr/>
            </p:nvSpPr>
            <p:spPr bwMode="auto">
              <a:xfrm>
                <a:off x="2090"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21" name="AutoShape 13"/>
              <p:cNvSpPr>
                <a:spLocks noChangeArrowheads="1"/>
              </p:cNvSpPr>
              <p:nvPr/>
            </p:nvSpPr>
            <p:spPr bwMode="auto">
              <a:xfrm>
                <a:off x="2089"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a:t>
                </a:r>
                <a:r>
                  <a:rPr lang="en-US" altLang="zh-CN" sz="2000" b="1" baseline="-25000">
                    <a:ea typeface="宋体" panose="02010600030101010101" pitchFamily="2" charset="-122"/>
                  </a:rPr>
                  <a:t>1</a:t>
                </a:r>
              </a:p>
            </p:txBody>
          </p:sp>
          <p:sp>
            <p:nvSpPr>
              <p:cNvPr id="22" name="AutoShape 14"/>
              <p:cNvSpPr>
                <a:spLocks noChangeArrowheads="1"/>
              </p:cNvSpPr>
              <p:nvPr/>
            </p:nvSpPr>
            <p:spPr bwMode="auto">
              <a:xfrm>
                <a:off x="2090"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23" name="AutoShape 15"/>
              <p:cNvSpPr>
                <a:spLocks noChangeArrowheads="1"/>
              </p:cNvSpPr>
              <p:nvPr/>
            </p:nvSpPr>
            <p:spPr bwMode="auto">
              <a:xfrm>
                <a:off x="2089"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24" name="AutoShape 16"/>
              <p:cNvSpPr>
                <a:spLocks noChangeArrowheads="1"/>
              </p:cNvSpPr>
              <p:nvPr/>
            </p:nvSpPr>
            <p:spPr bwMode="auto">
              <a:xfrm>
                <a:off x="2852"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AutoShape 17"/>
              <p:cNvSpPr>
                <a:spLocks noChangeArrowheads="1"/>
              </p:cNvSpPr>
              <p:nvPr/>
            </p:nvSpPr>
            <p:spPr bwMode="auto">
              <a:xfrm>
                <a:off x="2853"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26" name="AutoShape 18"/>
              <p:cNvSpPr>
                <a:spLocks noChangeArrowheads="1"/>
              </p:cNvSpPr>
              <p:nvPr/>
            </p:nvSpPr>
            <p:spPr bwMode="auto">
              <a:xfrm>
                <a:off x="2852"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a:t>
                </a:r>
                <a:r>
                  <a:rPr lang="en-US" altLang="zh-CN" sz="2000" b="1" baseline="-25000">
                    <a:ea typeface="宋体" panose="02010600030101010101" pitchFamily="2" charset="-122"/>
                  </a:rPr>
                  <a:t>2</a:t>
                </a:r>
              </a:p>
            </p:txBody>
          </p:sp>
          <p:sp>
            <p:nvSpPr>
              <p:cNvPr id="27" name="AutoShape 19"/>
              <p:cNvSpPr>
                <a:spLocks noChangeArrowheads="1"/>
              </p:cNvSpPr>
              <p:nvPr/>
            </p:nvSpPr>
            <p:spPr bwMode="auto">
              <a:xfrm>
                <a:off x="2853"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28" name="AutoShape 20"/>
              <p:cNvSpPr>
                <a:spLocks noChangeArrowheads="1"/>
              </p:cNvSpPr>
              <p:nvPr/>
            </p:nvSpPr>
            <p:spPr bwMode="auto">
              <a:xfrm>
                <a:off x="2852"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29" name="AutoShape 21"/>
              <p:cNvSpPr>
                <a:spLocks noChangeArrowheads="1"/>
              </p:cNvSpPr>
              <p:nvPr/>
            </p:nvSpPr>
            <p:spPr bwMode="auto">
              <a:xfrm>
                <a:off x="3605"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AutoShape 22"/>
              <p:cNvSpPr>
                <a:spLocks noChangeArrowheads="1"/>
              </p:cNvSpPr>
              <p:nvPr/>
            </p:nvSpPr>
            <p:spPr bwMode="auto">
              <a:xfrm>
                <a:off x="3606"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31" name="AutoShape 23"/>
              <p:cNvSpPr>
                <a:spLocks noChangeArrowheads="1"/>
              </p:cNvSpPr>
              <p:nvPr/>
            </p:nvSpPr>
            <p:spPr bwMode="auto">
              <a:xfrm>
                <a:off x="3605"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a:t>
                </a:r>
                <a:r>
                  <a:rPr lang="en-US" altLang="zh-CN" sz="2000" b="1" baseline="-25000">
                    <a:ea typeface="宋体" panose="02010600030101010101" pitchFamily="2" charset="-122"/>
                  </a:rPr>
                  <a:t>3</a:t>
                </a:r>
              </a:p>
            </p:txBody>
          </p:sp>
          <p:sp>
            <p:nvSpPr>
              <p:cNvPr id="32" name="AutoShape 24"/>
              <p:cNvSpPr>
                <a:spLocks noChangeArrowheads="1"/>
              </p:cNvSpPr>
              <p:nvPr/>
            </p:nvSpPr>
            <p:spPr bwMode="auto">
              <a:xfrm>
                <a:off x="3606"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33" name="AutoShape 25"/>
              <p:cNvSpPr>
                <a:spLocks noChangeArrowheads="1"/>
              </p:cNvSpPr>
              <p:nvPr/>
            </p:nvSpPr>
            <p:spPr bwMode="auto">
              <a:xfrm>
                <a:off x="3605"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grpSp>
        <p:sp>
          <p:nvSpPr>
            <p:cNvPr id="9" name="AutoShape 26"/>
            <p:cNvSpPr>
              <a:spLocks noChangeArrowheads="1"/>
            </p:cNvSpPr>
            <p:nvPr/>
          </p:nvSpPr>
          <p:spPr bwMode="auto">
            <a:xfrm>
              <a:off x="2990" y="2563"/>
              <a:ext cx="587" cy="279"/>
            </a:xfrm>
            <a:prstGeom prst="can">
              <a:avLst>
                <a:gd name="adj" fmla="val 25000"/>
              </a:avLst>
            </a:prstGeom>
            <a:solidFill>
              <a:srgbClr val="66FF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AutoShape 27"/>
            <p:cNvSpPr>
              <a:spLocks noChangeArrowheads="1"/>
            </p:cNvSpPr>
            <p:nvPr/>
          </p:nvSpPr>
          <p:spPr bwMode="auto">
            <a:xfrm>
              <a:off x="2991" y="2358"/>
              <a:ext cx="586" cy="279"/>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11" name="AutoShape 28"/>
            <p:cNvSpPr>
              <a:spLocks noChangeArrowheads="1"/>
            </p:cNvSpPr>
            <p:nvPr/>
          </p:nvSpPr>
          <p:spPr bwMode="auto">
            <a:xfrm>
              <a:off x="2990" y="2153"/>
              <a:ext cx="587" cy="279"/>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p(b)</a:t>
              </a:r>
            </a:p>
          </p:txBody>
        </p:sp>
        <p:sp>
          <p:nvSpPr>
            <p:cNvPr id="12" name="AutoShape 29"/>
            <p:cNvSpPr>
              <a:spLocks noChangeArrowheads="1"/>
            </p:cNvSpPr>
            <p:nvPr/>
          </p:nvSpPr>
          <p:spPr bwMode="auto">
            <a:xfrm>
              <a:off x="2991" y="1957"/>
              <a:ext cx="586" cy="280"/>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sp>
          <p:nvSpPr>
            <p:cNvPr id="13" name="AutoShape 30"/>
            <p:cNvSpPr>
              <a:spLocks noChangeArrowheads="1"/>
            </p:cNvSpPr>
            <p:nvPr/>
          </p:nvSpPr>
          <p:spPr bwMode="auto">
            <a:xfrm>
              <a:off x="2990" y="1752"/>
              <a:ext cx="587" cy="279"/>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ea typeface="宋体" panose="02010600030101010101" pitchFamily="2" charset="-122"/>
              </a:endParaRPr>
            </a:p>
          </p:txBody>
        </p:sp>
      </p:grpSp>
    </p:spTree>
    <p:extLst>
      <p:ext uri="{BB962C8B-B14F-4D97-AF65-F5344CB8AC3E}">
        <p14:creationId xmlns:p14="http://schemas.microsoft.com/office/powerpoint/2010/main" val="164638451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RAID</a:t>
            </a:r>
            <a:r>
              <a:rPr lang="zh-CN" altLang="en-US" dirty="0"/>
              <a:t>技术</a:t>
            </a:r>
          </a:p>
        </p:txBody>
      </p:sp>
      <p:sp>
        <p:nvSpPr>
          <p:cNvPr id="3" name="Content Placeholder 2"/>
          <p:cNvSpPr>
            <a:spLocks noGrp="1"/>
          </p:cNvSpPr>
          <p:nvPr>
            <p:ph idx="1"/>
          </p:nvPr>
        </p:nvSpPr>
        <p:spPr/>
        <p:txBody>
          <a:bodyPr/>
          <a:lstStyle/>
          <a:p>
            <a:r>
              <a:rPr lang="en-US" altLang="zh-CN" dirty="0"/>
              <a:t>Level 4</a:t>
            </a:r>
            <a:r>
              <a:rPr lang="zh-CN" altLang="en-US" dirty="0"/>
              <a:t>：块奇偶校验</a:t>
            </a:r>
            <a:endParaRPr lang="en-US" altLang="zh-CN" dirty="0"/>
          </a:p>
          <a:p>
            <a:pPr lvl="1"/>
            <a:r>
              <a:rPr lang="zh-CN" altLang="en-US" dirty="0"/>
              <a:t>按块计算校验位</a:t>
            </a:r>
            <a:endParaRPr lang="en-US" altLang="zh-CN" dirty="0"/>
          </a:p>
          <a:p>
            <a:pPr lvl="1"/>
            <a:r>
              <a:rPr lang="zh-CN" altLang="en-US" dirty="0"/>
              <a:t>写数据时计算校验位</a:t>
            </a:r>
            <a:endParaRPr lang="en-US" altLang="zh-CN" dirty="0"/>
          </a:p>
          <a:p>
            <a:pPr lvl="1"/>
            <a:r>
              <a:rPr lang="zh-CN" altLang="en-US" dirty="0"/>
              <a:t>校验盘可能成为瓶颈</a:t>
            </a:r>
          </a:p>
          <a:p>
            <a:endParaRPr lang="zh-CN" altLang="en-US" dirty="0"/>
          </a:p>
          <a:p>
            <a:endParaRPr lang="zh-CN" altLang="en-US" dirty="0"/>
          </a:p>
        </p:txBody>
      </p:sp>
      <p:sp>
        <p:nvSpPr>
          <p:cNvPr id="4" name="Date Placeholder 3"/>
          <p:cNvSpPr>
            <a:spLocks noGrp="1"/>
          </p:cNvSpPr>
          <p:nvPr>
            <p:ph type="dt" sz="half" idx="10"/>
          </p:nvPr>
        </p:nvSpPr>
        <p:spPr/>
        <p:txBody>
          <a:bodyPr/>
          <a:lstStyle/>
          <a:p>
            <a:fld id="{94C8F54F-563D-47B1-B4CA-46816CA649D7}"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89</a:t>
            </a:fld>
            <a:endParaRPr lang="zh-CN" altLang="en-US" dirty="0"/>
          </a:p>
        </p:txBody>
      </p:sp>
      <p:grpSp>
        <p:nvGrpSpPr>
          <p:cNvPr id="7" name="Group 5"/>
          <p:cNvGrpSpPr>
            <a:grpSpLocks/>
          </p:cNvGrpSpPr>
          <p:nvPr/>
        </p:nvGrpSpPr>
        <p:grpSpPr bwMode="auto">
          <a:xfrm>
            <a:off x="2013263" y="3717032"/>
            <a:ext cx="5138738" cy="1730375"/>
            <a:chOff x="340" y="1752"/>
            <a:chExt cx="3237" cy="1090"/>
          </a:xfrm>
        </p:grpSpPr>
        <p:grpSp>
          <p:nvGrpSpPr>
            <p:cNvPr id="8" name="Group 6"/>
            <p:cNvGrpSpPr>
              <a:grpSpLocks/>
            </p:cNvGrpSpPr>
            <p:nvPr/>
          </p:nvGrpSpPr>
          <p:grpSpPr bwMode="auto">
            <a:xfrm>
              <a:off x="340" y="1752"/>
              <a:ext cx="2560" cy="1090"/>
              <a:chOff x="1318" y="2023"/>
              <a:chExt cx="2968" cy="1316"/>
            </a:xfrm>
          </p:grpSpPr>
          <p:sp>
            <p:nvSpPr>
              <p:cNvPr id="14" name="AutoShape 7"/>
              <p:cNvSpPr>
                <a:spLocks noChangeArrowheads="1"/>
              </p:cNvSpPr>
              <p:nvPr/>
            </p:nvSpPr>
            <p:spPr bwMode="auto">
              <a:xfrm>
                <a:off x="1318"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AutoShape 8"/>
              <p:cNvSpPr>
                <a:spLocks noChangeArrowheads="1"/>
              </p:cNvSpPr>
              <p:nvPr/>
            </p:nvSpPr>
            <p:spPr bwMode="auto">
              <a:xfrm>
                <a:off x="1319"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block12</a:t>
                </a:r>
              </a:p>
            </p:txBody>
          </p:sp>
          <p:sp>
            <p:nvSpPr>
              <p:cNvPr id="16" name="AutoShape 9"/>
              <p:cNvSpPr>
                <a:spLocks noChangeArrowheads="1"/>
              </p:cNvSpPr>
              <p:nvPr/>
            </p:nvSpPr>
            <p:spPr bwMode="auto">
              <a:xfrm>
                <a:off x="1318"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block8</a:t>
                </a:r>
                <a:endParaRPr lang="en-US" altLang="zh-CN" sz="2000" b="1" baseline="-25000">
                  <a:ea typeface="宋体" panose="02010600030101010101" pitchFamily="2" charset="-122"/>
                </a:endParaRPr>
              </a:p>
            </p:txBody>
          </p:sp>
          <p:sp>
            <p:nvSpPr>
              <p:cNvPr id="17" name="AutoShape 10"/>
              <p:cNvSpPr>
                <a:spLocks noChangeArrowheads="1"/>
              </p:cNvSpPr>
              <p:nvPr/>
            </p:nvSpPr>
            <p:spPr bwMode="auto">
              <a:xfrm>
                <a:off x="1319"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block4</a:t>
                </a:r>
              </a:p>
            </p:txBody>
          </p:sp>
          <p:sp>
            <p:nvSpPr>
              <p:cNvPr id="18" name="AutoShape 11"/>
              <p:cNvSpPr>
                <a:spLocks noChangeArrowheads="1"/>
              </p:cNvSpPr>
              <p:nvPr/>
            </p:nvSpPr>
            <p:spPr bwMode="auto">
              <a:xfrm>
                <a:off x="1318"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block0</a:t>
                </a:r>
              </a:p>
            </p:txBody>
          </p:sp>
          <p:sp>
            <p:nvSpPr>
              <p:cNvPr id="19" name="AutoShape 12"/>
              <p:cNvSpPr>
                <a:spLocks noChangeArrowheads="1"/>
              </p:cNvSpPr>
              <p:nvPr/>
            </p:nvSpPr>
            <p:spPr bwMode="auto">
              <a:xfrm>
                <a:off x="2089"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AutoShape 13"/>
              <p:cNvSpPr>
                <a:spLocks noChangeArrowheads="1"/>
              </p:cNvSpPr>
              <p:nvPr/>
            </p:nvSpPr>
            <p:spPr bwMode="auto">
              <a:xfrm>
                <a:off x="2090"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block13</a:t>
                </a:r>
              </a:p>
            </p:txBody>
          </p:sp>
          <p:sp>
            <p:nvSpPr>
              <p:cNvPr id="21" name="AutoShape 14"/>
              <p:cNvSpPr>
                <a:spLocks noChangeArrowheads="1"/>
              </p:cNvSpPr>
              <p:nvPr/>
            </p:nvSpPr>
            <p:spPr bwMode="auto">
              <a:xfrm>
                <a:off x="2089"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block9</a:t>
                </a:r>
                <a:endParaRPr lang="en-US" altLang="zh-CN" sz="2000" b="1" baseline="-25000">
                  <a:ea typeface="宋体" panose="02010600030101010101" pitchFamily="2" charset="-122"/>
                </a:endParaRPr>
              </a:p>
            </p:txBody>
          </p:sp>
          <p:sp>
            <p:nvSpPr>
              <p:cNvPr id="22" name="AutoShape 15"/>
              <p:cNvSpPr>
                <a:spLocks noChangeArrowheads="1"/>
              </p:cNvSpPr>
              <p:nvPr/>
            </p:nvSpPr>
            <p:spPr bwMode="auto">
              <a:xfrm>
                <a:off x="2090"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block5</a:t>
                </a:r>
              </a:p>
            </p:txBody>
          </p:sp>
          <p:sp>
            <p:nvSpPr>
              <p:cNvPr id="23" name="AutoShape 16"/>
              <p:cNvSpPr>
                <a:spLocks noChangeArrowheads="1"/>
              </p:cNvSpPr>
              <p:nvPr/>
            </p:nvSpPr>
            <p:spPr bwMode="auto">
              <a:xfrm>
                <a:off x="2089"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block1</a:t>
                </a:r>
              </a:p>
            </p:txBody>
          </p:sp>
          <p:sp>
            <p:nvSpPr>
              <p:cNvPr id="24" name="AutoShape 17"/>
              <p:cNvSpPr>
                <a:spLocks noChangeArrowheads="1"/>
              </p:cNvSpPr>
              <p:nvPr/>
            </p:nvSpPr>
            <p:spPr bwMode="auto">
              <a:xfrm>
                <a:off x="2852"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AutoShape 18"/>
              <p:cNvSpPr>
                <a:spLocks noChangeArrowheads="1"/>
              </p:cNvSpPr>
              <p:nvPr/>
            </p:nvSpPr>
            <p:spPr bwMode="auto">
              <a:xfrm>
                <a:off x="2853"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block14</a:t>
                </a:r>
              </a:p>
            </p:txBody>
          </p:sp>
          <p:sp>
            <p:nvSpPr>
              <p:cNvPr id="26" name="AutoShape 19"/>
              <p:cNvSpPr>
                <a:spLocks noChangeArrowheads="1"/>
              </p:cNvSpPr>
              <p:nvPr/>
            </p:nvSpPr>
            <p:spPr bwMode="auto">
              <a:xfrm>
                <a:off x="2852"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block10</a:t>
                </a:r>
                <a:endParaRPr lang="en-US" altLang="zh-CN" sz="2000" b="1" baseline="-25000">
                  <a:ea typeface="宋体" panose="02010600030101010101" pitchFamily="2" charset="-122"/>
                </a:endParaRPr>
              </a:p>
            </p:txBody>
          </p:sp>
          <p:sp>
            <p:nvSpPr>
              <p:cNvPr id="27" name="AutoShape 20"/>
              <p:cNvSpPr>
                <a:spLocks noChangeArrowheads="1"/>
              </p:cNvSpPr>
              <p:nvPr/>
            </p:nvSpPr>
            <p:spPr bwMode="auto">
              <a:xfrm>
                <a:off x="2853"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block6</a:t>
                </a:r>
              </a:p>
            </p:txBody>
          </p:sp>
          <p:sp>
            <p:nvSpPr>
              <p:cNvPr id="28" name="AutoShape 21"/>
              <p:cNvSpPr>
                <a:spLocks noChangeArrowheads="1"/>
              </p:cNvSpPr>
              <p:nvPr/>
            </p:nvSpPr>
            <p:spPr bwMode="auto">
              <a:xfrm>
                <a:off x="2852"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block2</a:t>
                </a:r>
              </a:p>
            </p:txBody>
          </p:sp>
          <p:sp>
            <p:nvSpPr>
              <p:cNvPr id="29" name="AutoShape 22"/>
              <p:cNvSpPr>
                <a:spLocks noChangeArrowheads="1"/>
              </p:cNvSpPr>
              <p:nvPr/>
            </p:nvSpPr>
            <p:spPr bwMode="auto">
              <a:xfrm>
                <a:off x="3605"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AutoShape 23"/>
              <p:cNvSpPr>
                <a:spLocks noChangeArrowheads="1"/>
              </p:cNvSpPr>
              <p:nvPr/>
            </p:nvSpPr>
            <p:spPr bwMode="auto">
              <a:xfrm>
                <a:off x="3606"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block15</a:t>
                </a:r>
              </a:p>
            </p:txBody>
          </p:sp>
          <p:sp>
            <p:nvSpPr>
              <p:cNvPr id="31" name="AutoShape 24"/>
              <p:cNvSpPr>
                <a:spLocks noChangeArrowheads="1"/>
              </p:cNvSpPr>
              <p:nvPr/>
            </p:nvSpPr>
            <p:spPr bwMode="auto">
              <a:xfrm>
                <a:off x="3605"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block11</a:t>
                </a:r>
                <a:endParaRPr lang="en-US" altLang="zh-CN" sz="2000" b="1" baseline="-25000">
                  <a:ea typeface="宋体" panose="02010600030101010101" pitchFamily="2" charset="-122"/>
                </a:endParaRPr>
              </a:p>
            </p:txBody>
          </p:sp>
          <p:sp>
            <p:nvSpPr>
              <p:cNvPr id="32" name="AutoShape 25"/>
              <p:cNvSpPr>
                <a:spLocks noChangeArrowheads="1"/>
              </p:cNvSpPr>
              <p:nvPr/>
            </p:nvSpPr>
            <p:spPr bwMode="auto">
              <a:xfrm>
                <a:off x="3606"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block7</a:t>
                </a:r>
              </a:p>
            </p:txBody>
          </p:sp>
          <p:sp>
            <p:nvSpPr>
              <p:cNvPr id="33" name="AutoShape 26"/>
              <p:cNvSpPr>
                <a:spLocks noChangeArrowheads="1"/>
              </p:cNvSpPr>
              <p:nvPr/>
            </p:nvSpPr>
            <p:spPr bwMode="auto">
              <a:xfrm>
                <a:off x="3605"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blovk3</a:t>
                </a:r>
              </a:p>
            </p:txBody>
          </p:sp>
        </p:grpSp>
        <p:sp>
          <p:nvSpPr>
            <p:cNvPr id="9" name="AutoShape 27"/>
            <p:cNvSpPr>
              <a:spLocks noChangeArrowheads="1"/>
            </p:cNvSpPr>
            <p:nvPr/>
          </p:nvSpPr>
          <p:spPr bwMode="auto">
            <a:xfrm>
              <a:off x="2990" y="2563"/>
              <a:ext cx="587" cy="279"/>
            </a:xfrm>
            <a:prstGeom prst="can">
              <a:avLst>
                <a:gd name="adj" fmla="val 25000"/>
              </a:avLst>
            </a:prstGeom>
            <a:solidFill>
              <a:srgbClr val="66FF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AutoShape 28"/>
            <p:cNvSpPr>
              <a:spLocks noChangeArrowheads="1"/>
            </p:cNvSpPr>
            <p:nvPr/>
          </p:nvSpPr>
          <p:spPr bwMode="auto">
            <a:xfrm>
              <a:off x="2991" y="2358"/>
              <a:ext cx="586" cy="279"/>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P(12-15)</a:t>
              </a:r>
            </a:p>
          </p:txBody>
        </p:sp>
        <p:sp>
          <p:nvSpPr>
            <p:cNvPr id="11" name="AutoShape 29"/>
            <p:cNvSpPr>
              <a:spLocks noChangeArrowheads="1"/>
            </p:cNvSpPr>
            <p:nvPr/>
          </p:nvSpPr>
          <p:spPr bwMode="auto">
            <a:xfrm>
              <a:off x="2990" y="2153"/>
              <a:ext cx="587" cy="279"/>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P(8-11)</a:t>
              </a:r>
            </a:p>
          </p:txBody>
        </p:sp>
        <p:sp>
          <p:nvSpPr>
            <p:cNvPr id="12" name="AutoShape 30"/>
            <p:cNvSpPr>
              <a:spLocks noChangeArrowheads="1"/>
            </p:cNvSpPr>
            <p:nvPr/>
          </p:nvSpPr>
          <p:spPr bwMode="auto">
            <a:xfrm>
              <a:off x="2991" y="1957"/>
              <a:ext cx="586" cy="280"/>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P(4-7)</a:t>
              </a:r>
            </a:p>
          </p:txBody>
        </p:sp>
        <p:sp>
          <p:nvSpPr>
            <p:cNvPr id="13" name="AutoShape 31"/>
            <p:cNvSpPr>
              <a:spLocks noChangeArrowheads="1"/>
            </p:cNvSpPr>
            <p:nvPr/>
          </p:nvSpPr>
          <p:spPr bwMode="auto">
            <a:xfrm>
              <a:off x="2990" y="1752"/>
              <a:ext cx="587" cy="279"/>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P(0-3)</a:t>
              </a:r>
            </a:p>
          </p:txBody>
        </p:sp>
      </p:grpSp>
    </p:spTree>
    <p:extLst>
      <p:ext uri="{BB962C8B-B14F-4D97-AF65-F5344CB8AC3E}">
        <p14:creationId xmlns:p14="http://schemas.microsoft.com/office/powerpoint/2010/main" val="278265292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RAID</a:t>
            </a:r>
            <a:r>
              <a:rPr lang="zh-CN" altLang="en-US" dirty="0"/>
              <a:t>技术</a:t>
            </a:r>
          </a:p>
        </p:txBody>
      </p:sp>
      <p:sp>
        <p:nvSpPr>
          <p:cNvPr id="3" name="Content Placeholder 2"/>
          <p:cNvSpPr>
            <a:spLocks noGrp="1"/>
          </p:cNvSpPr>
          <p:nvPr>
            <p:ph idx="1"/>
          </p:nvPr>
        </p:nvSpPr>
        <p:spPr/>
        <p:txBody>
          <a:bodyPr/>
          <a:lstStyle/>
          <a:p>
            <a:r>
              <a:rPr lang="en-US" altLang="zh-CN" dirty="0"/>
              <a:t>Level 5</a:t>
            </a:r>
            <a:r>
              <a:rPr lang="zh-CN" altLang="en-US" dirty="0"/>
              <a:t>：块分布奇偶校验</a:t>
            </a:r>
          </a:p>
          <a:p>
            <a:pPr lvl="1"/>
            <a:r>
              <a:rPr lang="zh-CN" altLang="en-US" sz="2400" dirty="0"/>
              <a:t>奇偶校验块分布在所有磁盘上</a:t>
            </a:r>
          </a:p>
          <a:p>
            <a:pPr lvl="1"/>
            <a:endParaRPr lang="zh-CN" altLang="en-US" dirty="0"/>
          </a:p>
        </p:txBody>
      </p:sp>
      <p:sp>
        <p:nvSpPr>
          <p:cNvPr id="4" name="Date Placeholder 3"/>
          <p:cNvSpPr>
            <a:spLocks noGrp="1"/>
          </p:cNvSpPr>
          <p:nvPr>
            <p:ph type="dt" sz="half" idx="10"/>
          </p:nvPr>
        </p:nvSpPr>
        <p:spPr/>
        <p:txBody>
          <a:bodyPr/>
          <a:lstStyle/>
          <a:p>
            <a:fld id="{D4C3A400-94CA-452B-94FF-1C4CB8F719CA}"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90</a:t>
            </a:fld>
            <a:endParaRPr lang="zh-CN" altLang="en-US" dirty="0"/>
          </a:p>
        </p:txBody>
      </p:sp>
      <p:grpSp>
        <p:nvGrpSpPr>
          <p:cNvPr id="7" name="Group 5"/>
          <p:cNvGrpSpPr>
            <a:grpSpLocks/>
          </p:cNvGrpSpPr>
          <p:nvPr/>
        </p:nvGrpSpPr>
        <p:grpSpPr bwMode="auto">
          <a:xfrm>
            <a:off x="2051050" y="2994769"/>
            <a:ext cx="5138738" cy="1730375"/>
            <a:chOff x="340" y="1752"/>
            <a:chExt cx="3237" cy="1090"/>
          </a:xfrm>
        </p:grpSpPr>
        <p:grpSp>
          <p:nvGrpSpPr>
            <p:cNvPr id="8" name="Group 6"/>
            <p:cNvGrpSpPr>
              <a:grpSpLocks/>
            </p:cNvGrpSpPr>
            <p:nvPr/>
          </p:nvGrpSpPr>
          <p:grpSpPr bwMode="auto">
            <a:xfrm>
              <a:off x="340" y="1752"/>
              <a:ext cx="2560" cy="1090"/>
              <a:chOff x="1318" y="2023"/>
              <a:chExt cx="2968" cy="1316"/>
            </a:xfrm>
          </p:grpSpPr>
          <p:sp>
            <p:nvSpPr>
              <p:cNvPr id="14" name="AutoShape 7"/>
              <p:cNvSpPr>
                <a:spLocks noChangeArrowheads="1"/>
              </p:cNvSpPr>
              <p:nvPr/>
            </p:nvSpPr>
            <p:spPr bwMode="auto">
              <a:xfrm>
                <a:off x="1318" y="3002"/>
                <a:ext cx="680" cy="337"/>
              </a:xfrm>
              <a:prstGeom prst="can">
                <a:avLst>
                  <a:gd name="adj" fmla="val 25000"/>
                </a:avLst>
              </a:prstGeom>
              <a:solidFill>
                <a:srgbClr val="66FF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AutoShape 8"/>
              <p:cNvSpPr>
                <a:spLocks noChangeArrowheads="1"/>
              </p:cNvSpPr>
              <p:nvPr/>
            </p:nvSpPr>
            <p:spPr bwMode="auto">
              <a:xfrm>
                <a:off x="1319"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block12</a:t>
                </a:r>
              </a:p>
            </p:txBody>
          </p:sp>
          <p:sp>
            <p:nvSpPr>
              <p:cNvPr id="16" name="AutoShape 9"/>
              <p:cNvSpPr>
                <a:spLocks noChangeArrowheads="1"/>
              </p:cNvSpPr>
              <p:nvPr/>
            </p:nvSpPr>
            <p:spPr bwMode="auto">
              <a:xfrm>
                <a:off x="1318"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block8</a:t>
                </a:r>
                <a:endParaRPr lang="en-US" altLang="zh-CN" sz="2000" b="1" baseline="-25000">
                  <a:ea typeface="宋体" panose="02010600030101010101" pitchFamily="2" charset="-122"/>
                </a:endParaRPr>
              </a:p>
            </p:txBody>
          </p:sp>
          <p:sp>
            <p:nvSpPr>
              <p:cNvPr id="17" name="AutoShape 10"/>
              <p:cNvSpPr>
                <a:spLocks noChangeArrowheads="1"/>
              </p:cNvSpPr>
              <p:nvPr/>
            </p:nvSpPr>
            <p:spPr bwMode="auto">
              <a:xfrm>
                <a:off x="1319"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block4</a:t>
                </a:r>
              </a:p>
            </p:txBody>
          </p:sp>
          <p:sp>
            <p:nvSpPr>
              <p:cNvPr id="18" name="AutoShape 11"/>
              <p:cNvSpPr>
                <a:spLocks noChangeArrowheads="1"/>
              </p:cNvSpPr>
              <p:nvPr/>
            </p:nvSpPr>
            <p:spPr bwMode="auto">
              <a:xfrm>
                <a:off x="1318"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block0</a:t>
                </a:r>
              </a:p>
            </p:txBody>
          </p:sp>
          <p:sp>
            <p:nvSpPr>
              <p:cNvPr id="19" name="AutoShape 12"/>
              <p:cNvSpPr>
                <a:spLocks noChangeArrowheads="1"/>
              </p:cNvSpPr>
              <p:nvPr/>
            </p:nvSpPr>
            <p:spPr bwMode="auto">
              <a:xfrm>
                <a:off x="2089"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AutoShape 13"/>
              <p:cNvSpPr>
                <a:spLocks noChangeArrowheads="1"/>
              </p:cNvSpPr>
              <p:nvPr/>
            </p:nvSpPr>
            <p:spPr bwMode="auto">
              <a:xfrm>
                <a:off x="2090" y="2755"/>
                <a:ext cx="680" cy="337"/>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P(12-15)</a:t>
                </a:r>
              </a:p>
            </p:txBody>
          </p:sp>
          <p:sp>
            <p:nvSpPr>
              <p:cNvPr id="21" name="AutoShape 14"/>
              <p:cNvSpPr>
                <a:spLocks noChangeArrowheads="1"/>
              </p:cNvSpPr>
              <p:nvPr/>
            </p:nvSpPr>
            <p:spPr bwMode="auto">
              <a:xfrm>
                <a:off x="2089"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block9</a:t>
                </a:r>
                <a:endParaRPr lang="en-US" altLang="zh-CN" sz="2000" b="1" baseline="-25000">
                  <a:ea typeface="宋体" panose="02010600030101010101" pitchFamily="2" charset="-122"/>
                </a:endParaRPr>
              </a:p>
            </p:txBody>
          </p:sp>
          <p:sp>
            <p:nvSpPr>
              <p:cNvPr id="22" name="AutoShape 15"/>
              <p:cNvSpPr>
                <a:spLocks noChangeArrowheads="1"/>
              </p:cNvSpPr>
              <p:nvPr/>
            </p:nvSpPr>
            <p:spPr bwMode="auto">
              <a:xfrm>
                <a:off x="2090"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block5</a:t>
                </a:r>
              </a:p>
            </p:txBody>
          </p:sp>
          <p:sp>
            <p:nvSpPr>
              <p:cNvPr id="23" name="AutoShape 16"/>
              <p:cNvSpPr>
                <a:spLocks noChangeArrowheads="1"/>
              </p:cNvSpPr>
              <p:nvPr/>
            </p:nvSpPr>
            <p:spPr bwMode="auto">
              <a:xfrm>
                <a:off x="2089"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block1</a:t>
                </a:r>
              </a:p>
            </p:txBody>
          </p:sp>
          <p:sp>
            <p:nvSpPr>
              <p:cNvPr id="24" name="AutoShape 17"/>
              <p:cNvSpPr>
                <a:spLocks noChangeArrowheads="1"/>
              </p:cNvSpPr>
              <p:nvPr/>
            </p:nvSpPr>
            <p:spPr bwMode="auto">
              <a:xfrm>
                <a:off x="2852"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AutoShape 18"/>
              <p:cNvSpPr>
                <a:spLocks noChangeArrowheads="1"/>
              </p:cNvSpPr>
              <p:nvPr/>
            </p:nvSpPr>
            <p:spPr bwMode="auto">
              <a:xfrm>
                <a:off x="2853"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block13</a:t>
                </a:r>
              </a:p>
            </p:txBody>
          </p:sp>
          <p:sp>
            <p:nvSpPr>
              <p:cNvPr id="26" name="AutoShape 19"/>
              <p:cNvSpPr>
                <a:spLocks noChangeArrowheads="1"/>
              </p:cNvSpPr>
              <p:nvPr/>
            </p:nvSpPr>
            <p:spPr bwMode="auto">
              <a:xfrm>
                <a:off x="2852" y="2507"/>
                <a:ext cx="680" cy="337"/>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P(8-11)</a:t>
                </a:r>
                <a:endParaRPr lang="en-US" altLang="zh-CN" sz="2000" b="1" baseline="-25000">
                  <a:ea typeface="宋体" panose="02010600030101010101" pitchFamily="2" charset="-122"/>
                </a:endParaRPr>
              </a:p>
            </p:txBody>
          </p:sp>
          <p:sp>
            <p:nvSpPr>
              <p:cNvPr id="27" name="AutoShape 20"/>
              <p:cNvSpPr>
                <a:spLocks noChangeArrowheads="1"/>
              </p:cNvSpPr>
              <p:nvPr/>
            </p:nvSpPr>
            <p:spPr bwMode="auto">
              <a:xfrm>
                <a:off x="2853" y="2271"/>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block6</a:t>
                </a:r>
              </a:p>
            </p:txBody>
          </p:sp>
          <p:sp>
            <p:nvSpPr>
              <p:cNvPr id="28" name="AutoShape 21"/>
              <p:cNvSpPr>
                <a:spLocks noChangeArrowheads="1"/>
              </p:cNvSpPr>
              <p:nvPr/>
            </p:nvSpPr>
            <p:spPr bwMode="auto">
              <a:xfrm>
                <a:off x="2852"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block2</a:t>
                </a:r>
              </a:p>
            </p:txBody>
          </p:sp>
          <p:sp>
            <p:nvSpPr>
              <p:cNvPr id="29" name="AutoShape 22"/>
              <p:cNvSpPr>
                <a:spLocks noChangeArrowheads="1"/>
              </p:cNvSpPr>
              <p:nvPr/>
            </p:nvSpPr>
            <p:spPr bwMode="auto">
              <a:xfrm>
                <a:off x="3605" y="3002"/>
                <a:ext cx="680" cy="337"/>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AutoShape 23"/>
              <p:cNvSpPr>
                <a:spLocks noChangeArrowheads="1"/>
              </p:cNvSpPr>
              <p:nvPr/>
            </p:nvSpPr>
            <p:spPr bwMode="auto">
              <a:xfrm>
                <a:off x="3606" y="2755"/>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block14</a:t>
                </a:r>
              </a:p>
            </p:txBody>
          </p:sp>
          <p:sp>
            <p:nvSpPr>
              <p:cNvPr id="31" name="AutoShape 24"/>
              <p:cNvSpPr>
                <a:spLocks noChangeArrowheads="1"/>
              </p:cNvSpPr>
              <p:nvPr/>
            </p:nvSpPr>
            <p:spPr bwMode="auto">
              <a:xfrm>
                <a:off x="3605" y="2507"/>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block10</a:t>
                </a:r>
                <a:endParaRPr lang="en-US" altLang="zh-CN" sz="2000" b="1" baseline="-25000">
                  <a:ea typeface="宋体" panose="02010600030101010101" pitchFamily="2" charset="-122"/>
                </a:endParaRPr>
              </a:p>
            </p:txBody>
          </p:sp>
          <p:sp>
            <p:nvSpPr>
              <p:cNvPr id="32" name="AutoShape 25"/>
              <p:cNvSpPr>
                <a:spLocks noChangeArrowheads="1"/>
              </p:cNvSpPr>
              <p:nvPr/>
            </p:nvSpPr>
            <p:spPr bwMode="auto">
              <a:xfrm>
                <a:off x="3606" y="2271"/>
                <a:ext cx="680" cy="337"/>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P(4-7)</a:t>
                </a:r>
              </a:p>
            </p:txBody>
          </p:sp>
          <p:sp>
            <p:nvSpPr>
              <p:cNvPr id="33" name="AutoShape 26"/>
              <p:cNvSpPr>
                <a:spLocks noChangeArrowheads="1"/>
              </p:cNvSpPr>
              <p:nvPr/>
            </p:nvSpPr>
            <p:spPr bwMode="auto">
              <a:xfrm>
                <a:off x="3605" y="2023"/>
                <a:ext cx="680" cy="337"/>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blovk3</a:t>
                </a:r>
              </a:p>
            </p:txBody>
          </p:sp>
        </p:grpSp>
        <p:sp>
          <p:nvSpPr>
            <p:cNvPr id="9" name="AutoShape 27"/>
            <p:cNvSpPr>
              <a:spLocks noChangeArrowheads="1"/>
            </p:cNvSpPr>
            <p:nvPr/>
          </p:nvSpPr>
          <p:spPr bwMode="auto">
            <a:xfrm>
              <a:off x="2990" y="2563"/>
              <a:ext cx="587" cy="279"/>
            </a:xfrm>
            <a:prstGeom prst="can">
              <a:avLst>
                <a:gd name="adj" fmla="val 25000"/>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AutoShape 28"/>
            <p:cNvSpPr>
              <a:spLocks noChangeArrowheads="1"/>
            </p:cNvSpPr>
            <p:nvPr/>
          </p:nvSpPr>
          <p:spPr bwMode="auto">
            <a:xfrm>
              <a:off x="2991" y="2358"/>
              <a:ext cx="586" cy="279"/>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block15</a:t>
              </a:r>
            </a:p>
          </p:txBody>
        </p:sp>
        <p:sp>
          <p:nvSpPr>
            <p:cNvPr id="11" name="AutoShape 29"/>
            <p:cNvSpPr>
              <a:spLocks noChangeArrowheads="1"/>
            </p:cNvSpPr>
            <p:nvPr/>
          </p:nvSpPr>
          <p:spPr bwMode="auto">
            <a:xfrm>
              <a:off x="2990" y="2153"/>
              <a:ext cx="587" cy="279"/>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block11</a:t>
              </a:r>
            </a:p>
          </p:txBody>
        </p:sp>
        <p:sp>
          <p:nvSpPr>
            <p:cNvPr id="12" name="AutoShape 30"/>
            <p:cNvSpPr>
              <a:spLocks noChangeArrowheads="1"/>
            </p:cNvSpPr>
            <p:nvPr/>
          </p:nvSpPr>
          <p:spPr bwMode="auto">
            <a:xfrm>
              <a:off x="2991" y="1957"/>
              <a:ext cx="586" cy="280"/>
            </a:xfrm>
            <a:prstGeom prst="can">
              <a:avLst>
                <a:gd name="adj" fmla="val 25000"/>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block7</a:t>
              </a:r>
            </a:p>
          </p:txBody>
        </p:sp>
        <p:sp>
          <p:nvSpPr>
            <p:cNvPr id="13" name="AutoShape 31"/>
            <p:cNvSpPr>
              <a:spLocks noChangeArrowheads="1"/>
            </p:cNvSpPr>
            <p:nvPr/>
          </p:nvSpPr>
          <p:spPr bwMode="auto">
            <a:xfrm>
              <a:off x="2990" y="1752"/>
              <a:ext cx="587" cy="279"/>
            </a:xfrm>
            <a:prstGeom prst="can">
              <a:avLst>
                <a:gd name="adj" fmla="val 25000"/>
              </a:avLst>
            </a:prstGeom>
            <a:solidFill>
              <a:srgbClr val="66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ea typeface="宋体" panose="02010600030101010101" pitchFamily="2" charset="-122"/>
                </a:rPr>
                <a:t>P(0-3)</a:t>
              </a:r>
            </a:p>
          </p:txBody>
        </p:sp>
      </p:grpSp>
    </p:spTree>
    <p:extLst>
      <p:ext uri="{BB962C8B-B14F-4D97-AF65-F5344CB8AC3E}">
        <p14:creationId xmlns:p14="http://schemas.microsoft.com/office/powerpoint/2010/main" val="67428346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8D73DDA-BE73-4913-A52A-4E6FFF0B0362}"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91</a:t>
            </a:fld>
            <a:endParaRPr lang="zh-CN" altLang="en-US" dirty="0"/>
          </a:p>
        </p:txBody>
      </p:sp>
      <p:grpSp>
        <p:nvGrpSpPr>
          <p:cNvPr id="7" name="Group 28"/>
          <p:cNvGrpSpPr>
            <a:grpSpLocks/>
          </p:cNvGrpSpPr>
          <p:nvPr/>
        </p:nvGrpSpPr>
        <p:grpSpPr bwMode="auto">
          <a:xfrm>
            <a:off x="1763713" y="620713"/>
            <a:ext cx="5759450" cy="5688012"/>
            <a:chOff x="1111" y="391"/>
            <a:chExt cx="3628" cy="3583"/>
          </a:xfrm>
        </p:grpSpPr>
        <p:sp>
          <p:nvSpPr>
            <p:cNvPr id="8" name="Text Box 5"/>
            <p:cNvSpPr txBox="1">
              <a:spLocks noChangeArrowheads="1"/>
            </p:cNvSpPr>
            <p:nvPr/>
          </p:nvSpPr>
          <p:spPr bwMode="auto">
            <a:xfrm>
              <a:off x="1701" y="391"/>
              <a:ext cx="1036" cy="771"/>
            </a:xfrm>
            <a:prstGeom prst="rect">
              <a:avLst/>
            </a:prstGeom>
            <a:solidFill>
              <a:srgbClr val="CCFFCC"/>
            </a:solidFill>
            <a:ln w="28575">
              <a:solidFill>
                <a:srgbClr val="0000CC"/>
              </a:solidFill>
              <a:miter lim="800000"/>
              <a:headEnd/>
              <a:tailEnd/>
            </a:ln>
          </p:spPr>
          <p:txBody>
            <a:bodyPr/>
            <a:lstStyle/>
            <a:p>
              <a:pPr algn="ctr"/>
              <a:r>
                <a:rPr kumimoji="0" lang="zh-CN" altLang="en-US" sz="1400" b="1" dirty="0">
                  <a:solidFill>
                    <a:srgbClr val="0000CC"/>
                  </a:solidFill>
                  <a:ea typeface="宋体" panose="02010600030101010101" pitchFamily="2" charset="-122"/>
                </a:rPr>
                <a:t>设备管理重要性</a:t>
              </a:r>
            </a:p>
            <a:p>
              <a:pPr algn="ctr"/>
              <a:r>
                <a:rPr kumimoji="0" lang="zh-CN" altLang="en-US" sz="1400" b="1" dirty="0">
                  <a:solidFill>
                    <a:srgbClr val="0000CC"/>
                  </a:solidFill>
                  <a:ea typeface="宋体" panose="02010600030101010101" pitchFamily="2" charset="-122"/>
                </a:rPr>
                <a:t>设备独立性</a:t>
              </a:r>
            </a:p>
            <a:p>
              <a:pPr algn="ctr"/>
              <a:r>
                <a:rPr kumimoji="0" lang="zh-CN" altLang="en-US" sz="1400" b="1" dirty="0">
                  <a:solidFill>
                    <a:srgbClr val="0000CC"/>
                  </a:solidFill>
                  <a:ea typeface="宋体" panose="02010600030101010101" pitchFamily="2" charset="-122"/>
                </a:rPr>
                <a:t>设备分类</a:t>
              </a:r>
            </a:p>
            <a:p>
              <a:pPr algn="ctr"/>
              <a:r>
                <a:rPr kumimoji="0" lang="zh-CN" altLang="en-US" sz="1400" b="1" dirty="0">
                  <a:solidFill>
                    <a:srgbClr val="0000CC"/>
                  </a:solidFill>
                  <a:ea typeface="宋体" panose="02010600030101010101" pitchFamily="2" charset="-122"/>
                </a:rPr>
                <a:t>设备管理任务</a:t>
              </a:r>
            </a:p>
            <a:p>
              <a:pPr algn="ctr"/>
              <a:r>
                <a:rPr kumimoji="0" lang="zh-CN" altLang="en-US" sz="1400" b="1" dirty="0">
                  <a:solidFill>
                    <a:srgbClr val="0000CC"/>
                  </a:solidFill>
                  <a:ea typeface="宋体" panose="02010600030101010101" pitchFamily="2" charset="-122"/>
                </a:rPr>
                <a:t>设备管理功能</a:t>
              </a:r>
              <a:endParaRPr kumimoji="0" lang="zh-CN" altLang="en-US" sz="1400" b="1" dirty="0">
                <a:solidFill>
                  <a:srgbClr val="0000CC"/>
                </a:solidFill>
                <a:latin typeface="Arial" panose="020B0604020202020204" pitchFamily="34" charset="0"/>
                <a:ea typeface="宋体" panose="02010600030101010101" pitchFamily="2" charset="-122"/>
              </a:endParaRPr>
            </a:p>
          </p:txBody>
        </p:sp>
        <p:sp>
          <p:nvSpPr>
            <p:cNvPr id="9" name="Text Box 6"/>
            <p:cNvSpPr txBox="1">
              <a:spLocks noChangeArrowheads="1"/>
            </p:cNvSpPr>
            <p:nvPr/>
          </p:nvSpPr>
          <p:spPr bwMode="auto">
            <a:xfrm>
              <a:off x="3097" y="391"/>
              <a:ext cx="936" cy="771"/>
            </a:xfrm>
            <a:prstGeom prst="rect">
              <a:avLst/>
            </a:prstGeom>
            <a:solidFill>
              <a:srgbClr val="CCFFCC"/>
            </a:solidFill>
            <a:ln w="28575">
              <a:solidFill>
                <a:srgbClr val="0000CC"/>
              </a:solidFill>
              <a:miter lim="800000"/>
              <a:headEnd/>
              <a:tailEnd/>
            </a:ln>
          </p:spPr>
          <p:txBody>
            <a:bodyPr/>
            <a:lstStyle/>
            <a:p>
              <a:pPr algn="ctr"/>
              <a:endParaRPr kumimoji="0" lang="en-US" altLang="zh-CN" sz="800" b="1">
                <a:solidFill>
                  <a:srgbClr val="0000CC"/>
                </a:solidFill>
                <a:ea typeface="宋体" panose="02010600030101010101" pitchFamily="2" charset="-122"/>
              </a:endParaRPr>
            </a:p>
            <a:p>
              <a:pPr algn="ctr"/>
              <a:r>
                <a:rPr kumimoji="0" lang="zh-CN" altLang="en-US" sz="1400" b="1">
                  <a:solidFill>
                    <a:srgbClr val="0000CC"/>
                  </a:solidFill>
                  <a:ea typeface="宋体" panose="02010600030101010101" pitchFamily="2" charset="-122"/>
                </a:rPr>
                <a:t>用户进程</a:t>
              </a:r>
            </a:p>
            <a:p>
              <a:pPr algn="ctr"/>
              <a:r>
                <a:rPr kumimoji="0" lang="zh-CN" altLang="en-US" sz="1400" b="1">
                  <a:solidFill>
                    <a:srgbClr val="0000CC"/>
                  </a:solidFill>
                  <a:ea typeface="宋体" panose="02010600030101010101" pitchFamily="2" charset="-122"/>
                </a:rPr>
                <a:t>与设备无关软件</a:t>
              </a:r>
            </a:p>
            <a:p>
              <a:pPr algn="ctr"/>
              <a:r>
                <a:rPr kumimoji="0" lang="zh-CN" altLang="en-US" sz="1400" b="1">
                  <a:solidFill>
                    <a:srgbClr val="0000CC"/>
                  </a:solidFill>
                  <a:ea typeface="宋体" panose="02010600030101010101" pitchFamily="2" charset="-122"/>
                </a:rPr>
                <a:t>设备驱动程序</a:t>
              </a:r>
            </a:p>
            <a:p>
              <a:pPr algn="ctr"/>
              <a:r>
                <a:rPr kumimoji="0" lang="zh-CN" altLang="en-US" sz="1400" b="1">
                  <a:solidFill>
                    <a:srgbClr val="0000CC"/>
                  </a:solidFill>
                  <a:ea typeface="宋体" panose="02010600030101010101" pitchFamily="2" charset="-122"/>
                </a:rPr>
                <a:t>中断处理程序</a:t>
              </a:r>
              <a:endParaRPr kumimoji="0" lang="zh-CN" altLang="en-US" sz="1400" b="1">
                <a:solidFill>
                  <a:srgbClr val="0000CC"/>
                </a:solidFill>
                <a:latin typeface="Arial" panose="020B0604020202020204" pitchFamily="34" charset="0"/>
                <a:ea typeface="宋体" panose="02010600030101010101" pitchFamily="2" charset="-122"/>
              </a:endParaRPr>
            </a:p>
          </p:txBody>
        </p:sp>
        <p:sp>
          <p:nvSpPr>
            <p:cNvPr id="10" name="Text Box 7"/>
            <p:cNvSpPr txBox="1">
              <a:spLocks noChangeArrowheads="1"/>
            </p:cNvSpPr>
            <p:nvPr/>
          </p:nvSpPr>
          <p:spPr bwMode="auto">
            <a:xfrm>
              <a:off x="1231" y="3291"/>
              <a:ext cx="969" cy="683"/>
            </a:xfrm>
            <a:prstGeom prst="rect">
              <a:avLst/>
            </a:prstGeom>
            <a:solidFill>
              <a:srgbClr val="CCFFCC"/>
            </a:solidFill>
            <a:ln w="28575">
              <a:solidFill>
                <a:srgbClr val="0000CC"/>
              </a:solidFill>
              <a:miter lim="800000"/>
              <a:headEnd/>
              <a:tailEnd/>
            </a:ln>
          </p:spPr>
          <p:txBody>
            <a:bodyPr/>
            <a:lstStyle/>
            <a:p>
              <a:pPr algn="ctr"/>
              <a:r>
                <a:rPr kumimoji="0" lang="zh-CN" altLang="en-US" sz="1400" b="1">
                  <a:solidFill>
                    <a:srgbClr val="0000CC"/>
                  </a:solidFill>
                  <a:ea typeface="宋体" panose="02010600030101010101" pitchFamily="2" charset="-122"/>
                </a:rPr>
                <a:t>通道</a:t>
              </a:r>
            </a:p>
            <a:p>
              <a:pPr algn="ctr"/>
              <a:r>
                <a:rPr kumimoji="0" lang="zh-CN" altLang="en-US" sz="1400" b="1">
                  <a:solidFill>
                    <a:srgbClr val="0000CC"/>
                  </a:solidFill>
                  <a:ea typeface="宋体" panose="02010600030101010101" pitchFamily="2" charset="-122"/>
                </a:rPr>
                <a:t>通道分类</a:t>
              </a:r>
            </a:p>
            <a:p>
              <a:pPr algn="ctr"/>
              <a:r>
                <a:rPr kumimoji="0" lang="zh-CN" altLang="en-US" sz="1400" b="1">
                  <a:solidFill>
                    <a:srgbClr val="0000CC"/>
                  </a:solidFill>
                  <a:ea typeface="宋体" panose="02010600030101010101" pitchFamily="2" charset="-122"/>
                </a:rPr>
                <a:t>通道硬件连接</a:t>
              </a:r>
            </a:p>
            <a:p>
              <a:pPr algn="ctr"/>
              <a:r>
                <a:rPr kumimoji="0" lang="zh-CN" altLang="en-US" sz="1400" b="1">
                  <a:solidFill>
                    <a:srgbClr val="0000CC"/>
                  </a:solidFill>
                  <a:ea typeface="宋体" panose="02010600030101010101" pitchFamily="2" charset="-122"/>
                </a:rPr>
                <a:t>通道工作原理</a:t>
              </a:r>
              <a:endParaRPr kumimoji="0" lang="zh-CN" altLang="en-US" sz="1400" b="1">
                <a:solidFill>
                  <a:srgbClr val="0000CC"/>
                </a:solidFill>
                <a:latin typeface="Arial" panose="020B0604020202020204" pitchFamily="34" charset="0"/>
                <a:ea typeface="宋体" panose="02010600030101010101" pitchFamily="2" charset="-122"/>
              </a:endParaRPr>
            </a:p>
          </p:txBody>
        </p:sp>
        <p:sp>
          <p:nvSpPr>
            <p:cNvPr id="11" name="Text Box 8"/>
            <p:cNvSpPr txBox="1">
              <a:spLocks noChangeArrowheads="1"/>
            </p:cNvSpPr>
            <p:nvPr/>
          </p:nvSpPr>
          <p:spPr bwMode="auto">
            <a:xfrm>
              <a:off x="3424" y="3291"/>
              <a:ext cx="953" cy="680"/>
            </a:xfrm>
            <a:prstGeom prst="rect">
              <a:avLst/>
            </a:prstGeom>
            <a:solidFill>
              <a:srgbClr val="CCFFCC"/>
            </a:solidFill>
            <a:ln w="28575">
              <a:solidFill>
                <a:srgbClr val="0000CC"/>
              </a:solidFill>
              <a:miter lim="800000"/>
              <a:headEnd/>
              <a:tailEnd/>
            </a:ln>
          </p:spPr>
          <p:txBody>
            <a:bodyPr/>
            <a:lstStyle/>
            <a:p>
              <a:pPr algn="ctr"/>
              <a:r>
                <a:rPr kumimoji="0" lang="zh-CN" altLang="en-US" sz="1400" b="1">
                  <a:solidFill>
                    <a:srgbClr val="0000CC"/>
                  </a:solidFill>
                  <a:ea typeface="宋体" panose="02010600030101010101" pitchFamily="2" charset="-122"/>
                </a:rPr>
                <a:t>设备管理</a:t>
              </a:r>
            </a:p>
            <a:p>
              <a:pPr algn="ctr"/>
              <a:r>
                <a:rPr kumimoji="0" lang="zh-CN" altLang="en-US" sz="1400" b="1">
                  <a:solidFill>
                    <a:srgbClr val="0000CC"/>
                  </a:solidFill>
                  <a:ea typeface="宋体" panose="02010600030101010101" pitchFamily="2" charset="-122"/>
                </a:rPr>
                <a:t>设备分配回收</a:t>
              </a:r>
            </a:p>
            <a:p>
              <a:pPr algn="ctr"/>
              <a:r>
                <a:rPr kumimoji="0" lang="zh-CN" altLang="en-US" sz="1400" b="1">
                  <a:solidFill>
                    <a:srgbClr val="0000CC"/>
                  </a:solidFill>
                  <a:ea typeface="宋体" panose="02010600030101010101" pitchFamily="2" charset="-122"/>
                </a:rPr>
                <a:t>独占设备分配</a:t>
              </a:r>
            </a:p>
            <a:p>
              <a:pPr algn="ctr"/>
              <a:r>
                <a:rPr kumimoji="0" lang="zh-CN" altLang="en-US" sz="1400" b="1">
                  <a:solidFill>
                    <a:srgbClr val="0000CC"/>
                  </a:solidFill>
                  <a:ea typeface="宋体" panose="02010600030101010101" pitchFamily="2" charset="-122"/>
                </a:rPr>
                <a:t>共享设备分配 </a:t>
              </a:r>
              <a:endParaRPr kumimoji="0" lang="zh-CN" altLang="en-US" sz="1400" b="1">
                <a:solidFill>
                  <a:srgbClr val="0000CC"/>
                </a:solidFill>
                <a:latin typeface="Arial" panose="020B0604020202020204" pitchFamily="34" charset="0"/>
                <a:ea typeface="宋体" panose="02010600030101010101" pitchFamily="2" charset="-122"/>
              </a:endParaRPr>
            </a:p>
          </p:txBody>
        </p:sp>
        <p:sp>
          <p:nvSpPr>
            <p:cNvPr id="12" name="Text Box 9"/>
            <p:cNvSpPr txBox="1">
              <a:spLocks noChangeArrowheads="1"/>
            </p:cNvSpPr>
            <p:nvPr/>
          </p:nvSpPr>
          <p:spPr bwMode="auto">
            <a:xfrm>
              <a:off x="1701" y="1388"/>
              <a:ext cx="1043" cy="243"/>
            </a:xfrm>
            <a:prstGeom prst="rect">
              <a:avLst/>
            </a:prstGeom>
            <a:solidFill>
              <a:srgbClr val="FFCCFF"/>
            </a:solidFill>
            <a:ln w="28575">
              <a:solidFill>
                <a:srgbClr val="0000CC"/>
              </a:solidFill>
              <a:miter lim="800000"/>
              <a:headEnd/>
              <a:tailEnd/>
            </a:ln>
          </p:spPr>
          <p:txBody>
            <a:bodyPr/>
            <a:lstStyle/>
            <a:p>
              <a:pPr algn="ctr"/>
              <a:r>
                <a:rPr kumimoji="0" lang="zh-CN" altLang="en-US" sz="1600" b="1">
                  <a:solidFill>
                    <a:srgbClr val="0000CC"/>
                  </a:solidFill>
                  <a:ea typeface="宋体" panose="02010600030101010101" pitchFamily="2" charset="-122"/>
                </a:rPr>
                <a:t>基本概念</a:t>
              </a:r>
              <a:endParaRPr kumimoji="0" lang="zh-CN" altLang="en-US" sz="1600" b="1">
                <a:solidFill>
                  <a:srgbClr val="0000CC"/>
                </a:solidFill>
                <a:latin typeface="Arial" panose="020B0604020202020204" pitchFamily="34" charset="0"/>
                <a:ea typeface="宋体" panose="02010600030101010101" pitchFamily="2" charset="-122"/>
              </a:endParaRPr>
            </a:p>
          </p:txBody>
        </p:sp>
        <p:sp>
          <p:nvSpPr>
            <p:cNvPr id="13" name="Text Box 10"/>
            <p:cNvSpPr txBox="1">
              <a:spLocks noChangeArrowheads="1"/>
            </p:cNvSpPr>
            <p:nvPr/>
          </p:nvSpPr>
          <p:spPr bwMode="auto">
            <a:xfrm>
              <a:off x="3097" y="1388"/>
              <a:ext cx="962" cy="243"/>
            </a:xfrm>
            <a:prstGeom prst="rect">
              <a:avLst/>
            </a:prstGeom>
            <a:solidFill>
              <a:srgbClr val="FFCCFF"/>
            </a:solidFill>
            <a:ln w="28575">
              <a:solidFill>
                <a:srgbClr val="0000CC"/>
              </a:solidFill>
              <a:miter lim="800000"/>
              <a:headEnd/>
              <a:tailEnd/>
            </a:ln>
          </p:spPr>
          <p:txBody>
            <a:bodyPr/>
            <a:lstStyle/>
            <a:p>
              <a:pPr algn="ctr"/>
              <a:r>
                <a:rPr kumimoji="0" lang="en-US" altLang="zh-CN" sz="1600" b="1">
                  <a:solidFill>
                    <a:srgbClr val="0000CC"/>
                  </a:solidFill>
                  <a:ea typeface="宋体" panose="02010600030101010101" pitchFamily="2" charset="-122"/>
                </a:rPr>
                <a:t>I/O</a:t>
              </a:r>
              <a:r>
                <a:rPr kumimoji="0" lang="zh-CN" altLang="en-US" sz="1600" b="1">
                  <a:solidFill>
                    <a:srgbClr val="0000CC"/>
                  </a:solidFill>
                  <a:ea typeface="宋体" panose="02010600030101010101" pitchFamily="2" charset="-122"/>
                </a:rPr>
                <a:t>软件组成</a:t>
              </a:r>
              <a:endParaRPr kumimoji="0" lang="zh-CN" altLang="en-US" sz="1600" b="1">
                <a:solidFill>
                  <a:srgbClr val="0000CC"/>
                </a:solidFill>
                <a:latin typeface="Arial" panose="020B0604020202020204" pitchFamily="34" charset="0"/>
                <a:ea typeface="宋体" panose="02010600030101010101" pitchFamily="2" charset="-122"/>
              </a:endParaRPr>
            </a:p>
          </p:txBody>
        </p:sp>
        <p:sp>
          <p:nvSpPr>
            <p:cNvPr id="14" name="Text Box 11"/>
            <p:cNvSpPr txBox="1">
              <a:spLocks noChangeArrowheads="1"/>
            </p:cNvSpPr>
            <p:nvPr/>
          </p:nvSpPr>
          <p:spPr bwMode="auto">
            <a:xfrm>
              <a:off x="1111" y="2069"/>
              <a:ext cx="907" cy="243"/>
            </a:xfrm>
            <a:prstGeom prst="rect">
              <a:avLst/>
            </a:prstGeom>
            <a:solidFill>
              <a:srgbClr val="FFCCFF"/>
            </a:solidFill>
            <a:ln w="28575">
              <a:solidFill>
                <a:srgbClr val="0000CC"/>
              </a:solidFill>
              <a:miter lim="800000"/>
              <a:headEnd/>
              <a:tailEnd/>
            </a:ln>
          </p:spPr>
          <p:txBody>
            <a:bodyPr/>
            <a:lstStyle/>
            <a:p>
              <a:pPr algn="ctr"/>
              <a:r>
                <a:rPr kumimoji="0" lang="zh-CN" altLang="en-US" sz="1600" b="1">
                  <a:solidFill>
                    <a:srgbClr val="0000CC"/>
                  </a:solidFill>
                  <a:ea typeface="宋体" panose="02010600030101010101" pitchFamily="2" charset="-122"/>
                </a:rPr>
                <a:t>缓冲技术</a:t>
              </a:r>
              <a:endParaRPr kumimoji="0" lang="zh-CN" altLang="en-US" sz="1600" b="1">
                <a:solidFill>
                  <a:srgbClr val="0000CC"/>
                </a:solidFill>
                <a:latin typeface="Arial" panose="020B0604020202020204" pitchFamily="34" charset="0"/>
                <a:ea typeface="宋体" panose="02010600030101010101" pitchFamily="2" charset="-122"/>
              </a:endParaRPr>
            </a:p>
          </p:txBody>
        </p:sp>
        <p:sp>
          <p:nvSpPr>
            <p:cNvPr id="15" name="Text Box 12"/>
            <p:cNvSpPr txBox="1">
              <a:spLocks noChangeArrowheads="1"/>
            </p:cNvSpPr>
            <p:nvPr/>
          </p:nvSpPr>
          <p:spPr bwMode="auto">
            <a:xfrm>
              <a:off x="3107" y="2704"/>
              <a:ext cx="726" cy="243"/>
            </a:xfrm>
            <a:prstGeom prst="rect">
              <a:avLst/>
            </a:prstGeom>
            <a:solidFill>
              <a:srgbClr val="FFCCFF"/>
            </a:solidFill>
            <a:ln w="28575">
              <a:solidFill>
                <a:srgbClr val="0000CC"/>
              </a:solidFill>
              <a:miter lim="800000"/>
              <a:headEnd/>
              <a:tailEnd/>
            </a:ln>
          </p:spPr>
          <p:txBody>
            <a:bodyPr/>
            <a:lstStyle/>
            <a:p>
              <a:pPr algn="ctr"/>
              <a:r>
                <a:rPr kumimoji="0" lang="zh-CN" altLang="en-US" sz="1600" b="1">
                  <a:solidFill>
                    <a:srgbClr val="0000CC"/>
                  </a:solidFill>
                  <a:ea typeface="宋体" panose="02010600030101010101" pitchFamily="2" charset="-122"/>
                </a:rPr>
                <a:t>设备处理</a:t>
              </a:r>
              <a:endParaRPr kumimoji="0" lang="zh-CN" altLang="en-US" sz="1600" b="1">
                <a:solidFill>
                  <a:srgbClr val="0000CC"/>
                </a:solidFill>
                <a:latin typeface="Arial" panose="020B0604020202020204" pitchFamily="34" charset="0"/>
                <a:ea typeface="宋体" panose="02010600030101010101" pitchFamily="2" charset="-122"/>
              </a:endParaRPr>
            </a:p>
          </p:txBody>
        </p:sp>
        <p:sp>
          <p:nvSpPr>
            <p:cNvPr id="16" name="Text Box 13"/>
            <p:cNvSpPr txBox="1">
              <a:spLocks noChangeArrowheads="1"/>
            </p:cNvSpPr>
            <p:nvPr/>
          </p:nvSpPr>
          <p:spPr bwMode="auto">
            <a:xfrm>
              <a:off x="1746" y="2704"/>
              <a:ext cx="862" cy="253"/>
            </a:xfrm>
            <a:prstGeom prst="rect">
              <a:avLst/>
            </a:prstGeom>
            <a:solidFill>
              <a:srgbClr val="FFCCFF"/>
            </a:solidFill>
            <a:ln w="28575">
              <a:solidFill>
                <a:srgbClr val="0000CC"/>
              </a:solidFill>
              <a:miter lim="800000"/>
              <a:headEnd/>
              <a:tailEnd/>
            </a:ln>
          </p:spPr>
          <p:txBody>
            <a:bodyPr/>
            <a:lstStyle/>
            <a:p>
              <a:pPr algn="ctr"/>
              <a:r>
                <a:rPr kumimoji="0" lang="zh-CN" altLang="en-US" sz="1600" b="1">
                  <a:solidFill>
                    <a:srgbClr val="0000CC"/>
                  </a:solidFill>
                  <a:ea typeface="宋体" panose="02010600030101010101" pitchFamily="2" charset="-122"/>
                </a:rPr>
                <a:t>虚设备技术</a:t>
              </a:r>
              <a:endParaRPr kumimoji="0" lang="zh-CN" altLang="en-US" sz="1600" b="1">
                <a:solidFill>
                  <a:srgbClr val="0000CC"/>
                </a:solidFill>
                <a:latin typeface="Arial" panose="020B0604020202020204" pitchFamily="34" charset="0"/>
                <a:ea typeface="宋体" panose="02010600030101010101" pitchFamily="2" charset="-122"/>
              </a:endParaRPr>
            </a:p>
          </p:txBody>
        </p:sp>
        <p:sp>
          <p:nvSpPr>
            <p:cNvPr id="17" name="Line 14"/>
            <p:cNvSpPr>
              <a:spLocks noChangeShapeType="1"/>
            </p:cNvSpPr>
            <p:nvPr/>
          </p:nvSpPr>
          <p:spPr bwMode="auto">
            <a:xfrm>
              <a:off x="2200" y="1615"/>
              <a:ext cx="453" cy="454"/>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5"/>
            <p:cNvSpPr>
              <a:spLocks noChangeShapeType="1"/>
            </p:cNvSpPr>
            <p:nvPr/>
          </p:nvSpPr>
          <p:spPr bwMode="auto">
            <a:xfrm flipH="1">
              <a:off x="3152" y="1615"/>
              <a:ext cx="408" cy="408"/>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6"/>
            <p:cNvSpPr>
              <a:spLocks noChangeShapeType="1"/>
            </p:cNvSpPr>
            <p:nvPr/>
          </p:nvSpPr>
          <p:spPr bwMode="auto">
            <a:xfrm flipV="1">
              <a:off x="2200" y="2523"/>
              <a:ext cx="544" cy="181"/>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17"/>
            <p:cNvSpPr>
              <a:spLocks noChangeShapeType="1"/>
            </p:cNvSpPr>
            <p:nvPr/>
          </p:nvSpPr>
          <p:spPr bwMode="auto">
            <a:xfrm flipH="1" flipV="1">
              <a:off x="3062" y="2477"/>
              <a:ext cx="362" cy="227"/>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18"/>
            <p:cNvSpPr>
              <a:spLocks noChangeShapeType="1"/>
            </p:cNvSpPr>
            <p:nvPr/>
          </p:nvSpPr>
          <p:spPr bwMode="auto">
            <a:xfrm flipH="1">
              <a:off x="2018" y="2205"/>
              <a:ext cx="539" cy="0"/>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19"/>
            <p:cNvSpPr>
              <a:spLocks noChangeShapeType="1"/>
            </p:cNvSpPr>
            <p:nvPr/>
          </p:nvSpPr>
          <p:spPr bwMode="auto">
            <a:xfrm flipV="1">
              <a:off x="3243" y="1979"/>
              <a:ext cx="499" cy="226"/>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20"/>
            <p:cNvSpPr>
              <a:spLocks noChangeShapeType="1"/>
            </p:cNvSpPr>
            <p:nvPr/>
          </p:nvSpPr>
          <p:spPr bwMode="auto">
            <a:xfrm>
              <a:off x="2200" y="1162"/>
              <a:ext cx="0" cy="226"/>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21"/>
            <p:cNvSpPr>
              <a:spLocks noChangeShapeType="1"/>
            </p:cNvSpPr>
            <p:nvPr/>
          </p:nvSpPr>
          <p:spPr bwMode="auto">
            <a:xfrm>
              <a:off x="3560" y="1178"/>
              <a:ext cx="0" cy="210"/>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Rectangle 22"/>
            <p:cNvSpPr>
              <a:spLocks noChangeArrowheads="1"/>
            </p:cNvSpPr>
            <p:nvPr/>
          </p:nvSpPr>
          <p:spPr bwMode="auto">
            <a:xfrm>
              <a:off x="3742" y="1842"/>
              <a:ext cx="952" cy="273"/>
            </a:xfrm>
            <a:prstGeom prst="rect">
              <a:avLst/>
            </a:prstGeom>
            <a:solidFill>
              <a:srgbClr val="FFCCFF"/>
            </a:solidFill>
            <a:ln w="28575">
              <a:solidFill>
                <a:srgbClr val="0000CC"/>
              </a:solidFill>
              <a:miter lim="800000"/>
              <a:headEnd/>
              <a:tailEnd/>
            </a:ln>
          </p:spPr>
          <p:txBody>
            <a:bodyPr/>
            <a:lstStyle/>
            <a:p>
              <a:pPr algn="ctr"/>
              <a:r>
                <a:rPr kumimoji="0" lang="zh-CN" altLang="en-US" sz="1600" b="1">
                  <a:solidFill>
                    <a:srgbClr val="0000CC"/>
                  </a:solidFill>
                  <a:ea typeface="宋体" panose="02010600030101010101" pitchFamily="2" charset="-122"/>
                </a:rPr>
                <a:t>设备驱动程序</a:t>
              </a:r>
              <a:endParaRPr kumimoji="0" lang="zh-CN" altLang="en-US" sz="1600" b="1">
                <a:solidFill>
                  <a:srgbClr val="0000CC"/>
                </a:solidFill>
                <a:latin typeface="Arial" panose="020B0604020202020204" pitchFamily="34" charset="0"/>
                <a:ea typeface="宋体" panose="02010600030101010101" pitchFamily="2" charset="-122"/>
              </a:endParaRPr>
            </a:p>
          </p:txBody>
        </p:sp>
        <p:sp>
          <p:nvSpPr>
            <p:cNvPr id="26" name="AutoShape 23"/>
            <p:cNvSpPr>
              <a:spLocks noChangeArrowheads="1"/>
            </p:cNvSpPr>
            <p:nvPr/>
          </p:nvSpPr>
          <p:spPr bwMode="auto">
            <a:xfrm>
              <a:off x="2562" y="1888"/>
              <a:ext cx="725" cy="636"/>
            </a:xfrm>
            <a:prstGeom prst="hexagon">
              <a:avLst>
                <a:gd name="adj" fmla="val 28498"/>
                <a:gd name="vf" fmla="val 115470"/>
              </a:avLst>
            </a:prstGeom>
            <a:solidFill>
              <a:srgbClr val="FFFF99"/>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b="1">
                  <a:solidFill>
                    <a:srgbClr val="FF3300"/>
                  </a:solidFill>
                  <a:latin typeface="Arial" panose="020B0604020202020204" pitchFamily="34" charset="0"/>
                  <a:ea typeface="宋体" panose="02010600030101010101" pitchFamily="2" charset="-122"/>
                </a:rPr>
                <a:t>设备</a:t>
              </a:r>
            </a:p>
            <a:p>
              <a:pPr algn="ctr"/>
              <a:r>
                <a:rPr kumimoji="0" lang="zh-CN" altLang="en-US" sz="1600" b="1">
                  <a:solidFill>
                    <a:srgbClr val="FF3300"/>
                  </a:solidFill>
                  <a:latin typeface="Arial" panose="020B0604020202020204" pitchFamily="34" charset="0"/>
                  <a:ea typeface="宋体" panose="02010600030101010101" pitchFamily="2" charset="-122"/>
                </a:rPr>
                <a:t>管理</a:t>
              </a:r>
            </a:p>
          </p:txBody>
        </p:sp>
        <p:sp>
          <p:nvSpPr>
            <p:cNvPr id="27" name="Line 24"/>
            <p:cNvSpPr>
              <a:spLocks noChangeShapeType="1"/>
            </p:cNvSpPr>
            <p:nvPr/>
          </p:nvSpPr>
          <p:spPr bwMode="auto">
            <a:xfrm flipH="1">
              <a:off x="1746" y="2976"/>
              <a:ext cx="454" cy="31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25"/>
            <p:cNvSpPr>
              <a:spLocks noChangeShapeType="1"/>
            </p:cNvSpPr>
            <p:nvPr/>
          </p:nvSpPr>
          <p:spPr bwMode="auto">
            <a:xfrm>
              <a:off x="3424" y="2931"/>
              <a:ext cx="454" cy="363"/>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26"/>
            <p:cNvSpPr>
              <a:spLocks noChangeShapeType="1"/>
            </p:cNvSpPr>
            <p:nvPr/>
          </p:nvSpPr>
          <p:spPr bwMode="auto">
            <a:xfrm>
              <a:off x="3198" y="2341"/>
              <a:ext cx="589" cy="46"/>
            </a:xfrm>
            <a:prstGeom prst="line">
              <a:avLst/>
            </a:prstGeom>
            <a:noFill/>
            <a:ln w="28575">
              <a:solidFill>
                <a:srgbClr val="00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Rectangle 27"/>
            <p:cNvSpPr>
              <a:spLocks noChangeArrowheads="1"/>
            </p:cNvSpPr>
            <p:nvPr/>
          </p:nvSpPr>
          <p:spPr bwMode="auto">
            <a:xfrm>
              <a:off x="3787" y="2251"/>
              <a:ext cx="952" cy="273"/>
            </a:xfrm>
            <a:prstGeom prst="rect">
              <a:avLst/>
            </a:prstGeom>
            <a:solidFill>
              <a:srgbClr val="FFCCFF"/>
            </a:solidFill>
            <a:ln w="28575">
              <a:solidFill>
                <a:srgbClr val="0000CC"/>
              </a:solidFill>
              <a:miter lim="800000"/>
              <a:headEnd/>
              <a:tailEnd/>
            </a:ln>
          </p:spPr>
          <p:txBody>
            <a:bodyPr/>
            <a:lstStyle/>
            <a:p>
              <a:pPr algn="ctr"/>
              <a:r>
                <a:rPr kumimoji="0" lang="zh-CN" altLang="en-US" sz="1600" b="1">
                  <a:solidFill>
                    <a:srgbClr val="0000CC"/>
                  </a:solidFill>
                  <a:ea typeface="宋体" panose="02010600030101010101" pitchFamily="2" charset="-122"/>
                </a:rPr>
                <a:t>磁盘存储管理</a:t>
              </a:r>
              <a:endParaRPr kumimoji="0" lang="zh-CN" altLang="en-US" sz="1600" b="1">
                <a:solidFill>
                  <a:srgbClr val="0000CC"/>
                </a:solidFill>
                <a:latin typeface="Arial" panose="020B0604020202020204" pitchFamily="34" charset="0"/>
                <a:ea typeface="宋体" panose="02010600030101010101" pitchFamily="2" charset="-122"/>
              </a:endParaRPr>
            </a:p>
          </p:txBody>
        </p:sp>
      </p:grpSp>
    </p:spTree>
    <p:extLst>
      <p:ext uri="{BB962C8B-B14F-4D97-AF65-F5344CB8AC3E}">
        <p14:creationId xmlns:p14="http://schemas.microsoft.com/office/powerpoint/2010/main" val="89278667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作业</a:t>
            </a:r>
          </a:p>
        </p:txBody>
      </p:sp>
      <p:sp>
        <p:nvSpPr>
          <p:cNvPr id="3" name="Content Placeholder 2"/>
          <p:cNvSpPr>
            <a:spLocks noGrp="1"/>
          </p:cNvSpPr>
          <p:nvPr>
            <p:ph idx="1"/>
          </p:nvPr>
        </p:nvSpPr>
        <p:spPr/>
        <p:txBody>
          <a:bodyPr/>
          <a:lstStyle/>
          <a:p>
            <a:pPr marL="342900" lvl="1" indent="-342900">
              <a:spcBef>
                <a:spcPts val="1200"/>
              </a:spcBef>
              <a:buFont typeface="Arial" pitchFamily="34" charset="0"/>
              <a:buChar char="•"/>
            </a:pPr>
            <a:r>
              <a:rPr lang="zh-CN" altLang="en-US" sz="2400" b="1" dirty="0"/>
              <a:t>设磁盘有</a:t>
            </a:r>
            <a:r>
              <a:rPr lang="en-US" altLang="zh-CN" sz="2400" b="1" dirty="0"/>
              <a:t>200</a:t>
            </a:r>
            <a:r>
              <a:rPr lang="zh-CN" altLang="en-US" sz="2400" b="1" dirty="0"/>
              <a:t>个磁道，磁盘请求队列中是一些随机请求，它们按照到达的次序分别处于</a:t>
            </a:r>
            <a:r>
              <a:rPr lang="en-US" altLang="zh-CN" sz="2400" b="1" dirty="0"/>
              <a:t>55</a:t>
            </a:r>
            <a:r>
              <a:rPr lang="zh-CN" altLang="en-US" sz="2400" b="1" dirty="0"/>
              <a:t>、</a:t>
            </a:r>
            <a:r>
              <a:rPr lang="en-US" altLang="zh-CN" sz="2400" b="1" dirty="0"/>
              <a:t>58</a:t>
            </a:r>
            <a:r>
              <a:rPr lang="zh-CN" altLang="en-US" sz="2400" b="1" dirty="0"/>
              <a:t>、</a:t>
            </a:r>
            <a:r>
              <a:rPr lang="en-US" altLang="zh-CN" sz="2400" b="1" dirty="0"/>
              <a:t>39</a:t>
            </a:r>
            <a:r>
              <a:rPr lang="zh-CN" altLang="en-US" sz="2400" b="1" dirty="0"/>
              <a:t>、</a:t>
            </a:r>
            <a:r>
              <a:rPr lang="en-US" altLang="zh-CN" sz="2400" b="1" dirty="0"/>
              <a:t>18</a:t>
            </a:r>
            <a:r>
              <a:rPr lang="zh-CN" altLang="en-US" sz="2400" b="1" dirty="0"/>
              <a:t>、</a:t>
            </a:r>
            <a:r>
              <a:rPr lang="en-US" altLang="zh-CN" sz="2400" b="1" dirty="0"/>
              <a:t>90</a:t>
            </a:r>
            <a:r>
              <a:rPr lang="zh-CN" altLang="en-US" sz="2400" b="1" dirty="0"/>
              <a:t>、</a:t>
            </a:r>
            <a:r>
              <a:rPr lang="en-US" altLang="zh-CN" sz="2400" b="1" dirty="0"/>
              <a:t>160</a:t>
            </a:r>
            <a:r>
              <a:rPr lang="zh-CN" altLang="en-US" sz="2400" b="1" dirty="0"/>
              <a:t>、</a:t>
            </a:r>
            <a:r>
              <a:rPr lang="en-US" altLang="zh-CN" sz="2400" b="1" dirty="0"/>
              <a:t>150</a:t>
            </a:r>
            <a:r>
              <a:rPr lang="zh-CN" altLang="en-US" sz="2400" b="1" dirty="0"/>
              <a:t>、</a:t>
            </a:r>
            <a:r>
              <a:rPr lang="en-US" altLang="zh-CN" sz="2400" b="1" dirty="0"/>
              <a:t>38</a:t>
            </a:r>
            <a:r>
              <a:rPr lang="zh-CN" altLang="en-US" sz="2400" b="1" dirty="0"/>
              <a:t>、</a:t>
            </a:r>
            <a:r>
              <a:rPr lang="en-US" altLang="zh-CN" sz="2400" b="1" dirty="0"/>
              <a:t>184</a:t>
            </a:r>
            <a:r>
              <a:rPr lang="zh-CN" altLang="en-US" sz="2400" b="1" dirty="0"/>
              <a:t>号磁道上，当前磁头在</a:t>
            </a:r>
            <a:r>
              <a:rPr lang="en-US" altLang="zh-CN" sz="2400" b="1" dirty="0"/>
              <a:t>100</a:t>
            </a:r>
            <a:r>
              <a:rPr lang="zh-CN" altLang="en-US" sz="2400" b="1" dirty="0"/>
              <a:t>号磁道上，并向磁道号增加的方向上移动。请给出按</a:t>
            </a:r>
            <a:r>
              <a:rPr lang="en-US" altLang="zh-CN" sz="2400" b="1" dirty="0"/>
              <a:t>FCFS</a:t>
            </a:r>
            <a:r>
              <a:rPr lang="zh-CN" altLang="en-US" sz="2400" b="1" dirty="0"/>
              <a:t>、</a:t>
            </a:r>
            <a:r>
              <a:rPr lang="en-US" altLang="zh-CN" sz="2400" b="1" dirty="0"/>
              <a:t>SSTF</a:t>
            </a:r>
            <a:r>
              <a:rPr lang="zh-CN" altLang="en-US" sz="2400" b="1" dirty="0"/>
              <a:t>、</a:t>
            </a:r>
            <a:r>
              <a:rPr lang="en-US" altLang="zh-CN" sz="2400" b="1" dirty="0"/>
              <a:t>SCAN</a:t>
            </a:r>
            <a:r>
              <a:rPr lang="zh-CN" altLang="en-US" sz="2400" b="1" dirty="0"/>
              <a:t>算法进行磁盘调度时请求的次序，并计算它们的平均寻道长度</a:t>
            </a:r>
          </a:p>
          <a:p>
            <a:endParaRPr lang="zh-CN" altLang="en-US" dirty="0"/>
          </a:p>
        </p:txBody>
      </p:sp>
      <p:sp>
        <p:nvSpPr>
          <p:cNvPr id="4" name="Date Placeholder 3"/>
          <p:cNvSpPr>
            <a:spLocks noGrp="1"/>
          </p:cNvSpPr>
          <p:nvPr>
            <p:ph type="dt" sz="half" idx="10"/>
          </p:nvPr>
        </p:nvSpPr>
        <p:spPr/>
        <p:txBody>
          <a:bodyPr/>
          <a:lstStyle/>
          <a:p>
            <a:fld id="{CD9F57BF-59D8-464C-834F-1BBF1D607BDB}" type="datetime1">
              <a:rPr lang="zh-CN" altLang="en-US" smtClean="0"/>
              <a:pPr/>
              <a:t>2018/8/3</a:t>
            </a:fld>
            <a:endParaRPr lang="zh-CN" altLang="en-US" dirty="0"/>
          </a:p>
        </p:txBody>
      </p:sp>
      <p:sp>
        <p:nvSpPr>
          <p:cNvPr id="5" name="Footer Placeholder 4"/>
          <p:cNvSpPr>
            <a:spLocks noGrp="1"/>
          </p:cNvSpPr>
          <p:nvPr>
            <p:ph type="ftr" sz="quarter" idx="11"/>
          </p:nvPr>
        </p:nvSpPr>
        <p:spPr/>
        <p:txBody>
          <a:bodyPr/>
          <a:lstStyle/>
          <a:p>
            <a:r>
              <a:rPr lang="en-US" altLang="zh-CN"/>
              <a:t>CH09 - Device Management</a:t>
            </a:r>
            <a:endParaRPr lang="zh-CN" altLang="en-US" dirty="0"/>
          </a:p>
        </p:txBody>
      </p:sp>
      <p:sp>
        <p:nvSpPr>
          <p:cNvPr id="6" name="Slide Number Placeholder 5"/>
          <p:cNvSpPr>
            <a:spLocks noGrp="1"/>
          </p:cNvSpPr>
          <p:nvPr>
            <p:ph type="sldNum" sz="quarter" idx="12"/>
          </p:nvPr>
        </p:nvSpPr>
        <p:spPr/>
        <p:txBody>
          <a:bodyPr/>
          <a:lstStyle/>
          <a:p>
            <a:fld id="{EC83B811-08A7-493A-864A-0A97D48BC524}" type="slidenum">
              <a:rPr lang="zh-CN" altLang="en-US" smtClean="0"/>
              <a:pPr/>
              <a:t>92</a:t>
            </a:fld>
            <a:endParaRPr lang="zh-CN" altLang="en-US" dirty="0"/>
          </a:p>
        </p:txBody>
      </p:sp>
    </p:spTree>
    <p:extLst>
      <p:ext uri="{BB962C8B-B14F-4D97-AF65-F5344CB8AC3E}">
        <p14:creationId xmlns:p14="http://schemas.microsoft.com/office/powerpoint/2010/main" val="337384313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normAutofit/>
          </a:bodyPr>
          <a:lstStyle/>
          <a:p>
            <a:pPr>
              <a:defRPr/>
            </a:pPr>
            <a:fld id="{F1D89CC5-1E91-4B07-A49D-F0591162D17E}" type="slidenum">
              <a:rPr lang="zh-CN" altLang="en-US" smtClean="0"/>
              <a:pPr>
                <a:defRPr/>
              </a:pPr>
              <a:t>93</a:t>
            </a:fld>
            <a:endParaRPr lang="en-US" altLang="zh-CN"/>
          </a:p>
        </p:txBody>
      </p:sp>
      <p:sp>
        <p:nvSpPr>
          <p:cNvPr id="293890" name="Text Box 15"/>
          <p:cNvSpPr txBox="1">
            <a:spLocks noChangeArrowheads="1"/>
          </p:cNvSpPr>
          <p:nvPr/>
        </p:nvSpPr>
        <p:spPr bwMode="auto">
          <a:xfrm>
            <a:off x="304800" y="2781300"/>
            <a:ext cx="8839200" cy="1016000"/>
          </a:xfrm>
          <a:prstGeom prst="rect">
            <a:avLst/>
          </a:prstGeom>
          <a:noFill/>
          <a:ln w="9525">
            <a:noFill/>
            <a:miter lim="800000"/>
          </a:ln>
        </p:spPr>
        <p:txBody>
          <a:bodyPr>
            <a:spAutoFit/>
          </a:bodyPr>
          <a:lstStyle/>
          <a:p>
            <a:pPr algn="ctr"/>
            <a:r>
              <a:rPr lang="zh-CN" altLang="en-US" sz="6000">
                <a:solidFill>
                  <a:srgbClr val="3737C3"/>
                </a:solidFill>
                <a:latin typeface="华文新魏" panose="02010800040101010101" charset="-122"/>
                <a:ea typeface="华文新魏" panose="02010800040101010101" charset="-122"/>
                <a:cs typeface="华文新魏" panose="02010800040101010101" charset="-122"/>
              </a:rPr>
              <a:t>谢谢！</a:t>
            </a:r>
            <a:endParaRPr lang="en-US" altLang="zh-CN" sz="6000">
              <a:solidFill>
                <a:srgbClr val="3737C3"/>
              </a:solidFill>
              <a:latin typeface="华文新魏" panose="02010800040101010101" charset="-122"/>
              <a:ea typeface="华文新魏" panose="02010800040101010101" charset="-122"/>
              <a:cs typeface="华文新魏" panose="02010800040101010101" charset="-122"/>
            </a:endParaRPr>
          </a:p>
        </p:txBody>
      </p:sp>
      <p:sp>
        <p:nvSpPr>
          <p:cNvPr id="6" name="Rectangle 5"/>
          <p:cNvSpPr/>
          <p:nvPr/>
        </p:nvSpPr>
        <p:spPr>
          <a:xfrm>
            <a:off x="8172450" y="-26988"/>
            <a:ext cx="958850" cy="8953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293892" name="Picture 6"/>
          <p:cNvPicPr>
            <a:picLocks noChangeAspect="1"/>
          </p:cNvPicPr>
          <p:nvPr/>
        </p:nvPicPr>
        <p:blipFill>
          <a:blip r:embed="rId3" cstate="print"/>
          <a:srcRect/>
          <a:stretch>
            <a:fillRect/>
          </a:stretch>
        </p:blipFill>
        <p:spPr bwMode="auto">
          <a:xfrm>
            <a:off x="6372225" y="188913"/>
            <a:ext cx="2622550" cy="646112"/>
          </a:xfrm>
          <a:prstGeom prst="rect">
            <a:avLst/>
          </a:prstGeom>
          <a:noFill/>
          <a:ln w="9525">
            <a:noFill/>
            <a:miter lim="800000"/>
            <a:headEnd/>
            <a:tailEnd/>
          </a:ln>
        </p:spPr>
      </p:pic>
    </p:spTree>
    <p:extLst>
      <p:ext uri="{BB962C8B-B14F-4D97-AF65-F5344CB8AC3E}">
        <p14:creationId xmlns:p14="http://schemas.microsoft.com/office/powerpoint/2010/main" val="62813132"/>
      </p:ext>
    </p:extLst>
  </p:cSld>
  <p:clrMapOvr>
    <a:masterClrMapping/>
  </p:clrMapOvr>
  <p:transition advTm="3985"/>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1820</TotalTime>
  <Words>6354</Words>
  <Application>Microsoft Office PowerPoint</Application>
  <PresentationFormat>全屏显示(4:3)</PresentationFormat>
  <Paragraphs>1554</Paragraphs>
  <Slides>93</Slides>
  <Notes>8</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93</vt:i4>
      </vt:variant>
    </vt:vector>
  </HeadingPairs>
  <TitlesOfParts>
    <vt:vector size="106" baseType="lpstr">
      <vt:lpstr>华文仿宋</vt:lpstr>
      <vt:lpstr>华文新魏</vt:lpstr>
      <vt:lpstr>楷体</vt:lpstr>
      <vt:lpstr>宋体</vt:lpstr>
      <vt:lpstr>微软雅黑</vt:lpstr>
      <vt:lpstr>Arial</vt:lpstr>
      <vt:lpstr>Calibri</vt:lpstr>
      <vt:lpstr>Segoe UI Symbol</vt:lpstr>
      <vt:lpstr>Symbol</vt:lpstr>
      <vt:lpstr>Times New Roman</vt:lpstr>
      <vt:lpstr>Wingdings</vt:lpstr>
      <vt:lpstr>Office Theme</vt:lpstr>
      <vt:lpstr>VISIO</vt:lpstr>
      <vt:lpstr>第9章  设备管理</vt:lpstr>
      <vt:lpstr>主要内容</vt:lpstr>
      <vt:lpstr>主要内容</vt:lpstr>
      <vt:lpstr>外设的分类</vt:lpstr>
      <vt:lpstr>外设的分类</vt:lpstr>
      <vt:lpstr>外设的分类</vt:lpstr>
      <vt:lpstr>外设的特点</vt:lpstr>
      <vt:lpstr>设备与控制器之间的接口</vt:lpstr>
      <vt:lpstr>I/O管理的目的</vt:lpstr>
      <vt:lpstr>I/O管理的功能</vt:lpstr>
      <vt:lpstr>I/O软件的设计目标</vt:lpstr>
      <vt:lpstr>I/O软件的设计目标</vt:lpstr>
      <vt:lpstr>I/O管理结构</vt:lpstr>
      <vt:lpstr>主要内容</vt:lpstr>
      <vt:lpstr>PC中的各类总线</vt:lpstr>
      <vt:lpstr>程序I/O方式</vt:lpstr>
      <vt:lpstr>程序I/O方式</vt:lpstr>
      <vt:lpstr>程序中断方式</vt:lpstr>
      <vt:lpstr>程序中断方式</vt:lpstr>
      <vt:lpstr>DMA方式</vt:lpstr>
      <vt:lpstr>DMA方式</vt:lpstr>
      <vt:lpstr>DMA方式</vt:lpstr>
      <vt:lpstr>通道控制方式</vt:lpstr>
      <vt:lpstr>通道控制方式</vt:lpstr>
      <vt:lpstr>通道控制方式</vt:lpstr>
      <vt:lpstr>通道控制方式</vt:lpstr>
      <vt:lpstr>通道控制方式</vt:lpstr>
      <vt:lpstr>通道控制方式</vt:lpstr>
      <vt:lpstr>通道控制方式</vt:lpstr>
      <vt:lpstr>通道控制方式</vt:lpstr>
      <vt:lpstr>通道控制方式</vt:lpstr>
      <vt:lpstr>通道控制方式</vt:lpstr>
      <vt:lpstr>主要内容</vt:lpstr>
      <vt:lpstr>缓冲技术的引入</vt:lpstr>
      <vt:lpstr>高速缓存</vt:lpstr>
      <vt:lpstr>单缓冲技术</vt:lpstr>
      <vt:lpstr>双缓冲技术</vt:lpstr>
      <vt:lpstr>环形缓冲技术</vt:lpstr>
      <vt:lpstr>环形缓冲技术</vt:lpstr>
      <vt:lpstr>环形缓冲技术</vt:lpstr>
      <vt:lpstr>环形缓冲技术</vt:lpstr>
      <vt:lpstr>环形缓冲技术</vt:lpstr>
      <vt:lpstr>环形缓冲技术</vt:lpstr>
      <vt:lpstr>环形缓冲技术</vt:lpstr>
      <vt:lpstr>环形缓冲技术</vt:lpstr>
      <vt:lpstr>环形缓冲技术</vt:lpstr>
      <vt:lpstr>环形缓冲技术</vt:lpstr>
      <vt:lpstr>缓冲池技术</vt:lpstr>
      <vt:lpstr>缓冲池技术</vt:lpstr>
      <vt:lpstr>缓冲池技术</vt:lpstr>
      <vt:lpstr>缓冲池技术</vt:lpstr>
      <vt:lpstr>缓冲区的工作方式</vt:lpstr>
      <vt:lpstr>缓冲区的工作方式</vt:lpstr>
      <vt:lpstr>缓冲区的工作方式</vt:lpstr>
      <vt:lpstr>缓冲区的工作方式</vt:lpstr>
      <vt:lpstr>主要内容</vt:lpstr>
      <vt:lpstr>设备分配时须考虑的因素</vt:lpstr>
      <vt:lpstr>设备分配算法</vt:lpstr>
      <vt:lpstr>Spooling技术</vt:lpstr>
      <vt:lpstr>Spooling技术</vt:lpstr>
      <vt:lpstr>Spooling技术</vt:lpstr>
      <vt:lpstr>Spooling技术</vt:lpstr>
      <vt:lpstr>主要内容</vt:lpstr>
      <vt:lpstr>磁盘结构</vt:lpstr>
      <vt:lpstr>磁盘结构</vt:lpstr>
      <vt:lpstr>磁盘I/O访问时间的组成</vt:lpstr>
      <vt:lpstr>磁盘I/O访问时间的组成</vt:lpstr>
      <vt:lpstr>磁盘调度算法</vt:lpstr>
      <vt:lpstr>磁盘调度算法</vt:lpstr>
      <vt:lpstr>磁盘调度算法</vt:lpstr>
      <vt:lpstr>磁盘调度算法</vt:lpstr>
      <vt:lpstr>磁盘调度算法</vt:lpstr>
      <vt:lpstr>磁盘调度算法</vt:lpstr>
      <vt:lpstr>磁盘调度算法</vt:lpstr>
      <vt:lpstr>旋转调度</vt:lpstr>
      <vt:lpstr>旋转调度</vt:lpstr>
      <vt:lpstr>旋转调度</vt:lpstr>
      <vt:lpstr>旋转调度举例</vt:lpstr>
      <vt:lpstr>旋转调度举例</vt:lpstr>
      <vt:lpstr>磁盘缓存置换算法</vt:lpstr>
      <vt:lpstr>磁盘缓存置换算法</vt:lpstr>
      <vt:lpstr>磁盘缓存置换算法</vt:lpstr>
      <vt:lpstr>磁盘缓存置换算法</vt:lpstr>
      <vt:lpstr>RAID技术</vt:lpstr>
      <vt:lpstr>RAID技术</vt:lpstr>
      <vt:lpstr>RAID技术</vt:lpstr>
      <vt:lpstr>RAID技术</vt:lpstr>
      <vt:lpstr>RAID技术</vt:lpstr>
      <vt:lpstr>RAID技术</vt:lpstr>
      <vt:lpstr>RAID技术</vt:lpstr>
      <vt:lpstr>PowerPoint 演示文稿</vt:lpstr>
      <vt:lpstr>作业</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第0章  课程简介</dc:title>
  <dc:creator>Mingsong Lu</dc:creator>
  <cp:lastModifiedBy>zhuzongwei1988@outlook.com</cp:lastModifiedBy>
  <cp:revision>390</cp:revision>
  <dcterms:created xsi:type="dcterms:W3CDTF">2015-03-10T09:46:44Z</dcterms:created>
  <dcterms:modified xsi:type="dcterms:W3CDTF">2018-08-03T04:43:02Z</dcterms:modified>
</cp:coreProperties>
</file>