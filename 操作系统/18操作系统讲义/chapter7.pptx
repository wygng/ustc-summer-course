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42"/>
  </p:notesMasterIdLst>
  <p:sldIdLst>
    <p:sldId id="256" r:id="rId2"/>
    <p:sldId id="260" r:id="rId3"/>
    <p:sldId id="261" r:id="rId4"/>
    <p:sldId id="262" r:id="rId5"/>
    <p:sldId id="263" r:id="rId6"/>
    <p:sldId id="264" r:id="rId7"/>
    <p:sldId id="265" r:id="rId8"/>
    <p:sldId id="266" r:id="rId9"/>
    <p:sldId id="267" r:id="rId10"/>
    <p:sldId id="268" r:id="rId11"/>
    <p:sldId id="403"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90" r:id="rId33"/>
    <p:sldId id="291" r:id="rId34"/>
    <p:sldId id="292" r:id="rId35"/>
    <p:sldId id="293" r:id="rId36"/>
    <p:sldId id="294" r:id="rId37"/>
    <p:sldId id="295" r:id="rId38"/>
    <p:sldId id="296" r:id="rId39"/>
    <p:sldId id="297" r:id="rId40"/>
    <p:sldId id="298" r:id="rId41"/>
    <p:sldId id="299" r:id="rId42"/>
    <p:sldId id="300" r:id="rId43"/>
    <p:sldId id="301" r:id="rId44"/>
    <p:sldId id="302" r:id="rId45"/>
    <p:sldId id="303" r:id="rId46"/>
    <p:sldId id="304" r:id="rId47"/>
    <p:sldId id="305" r:id="rId48"/>
    <p:sldId id="306" r:id="rId49"/>
    <p:sldId id="307" r:id="rId50"/>
    <p:sldId id="308" r:id="rId51"/>
    <p:sldId id="309" r:id="rId52"/>
    <p:sldId id="310" r:id="rId53"/>
    <p:sldId id="311" r:id="rId54"/>
    <p:sldId id="312" r:id="rId55"/>
    <p:sldId id="313" r:id="rId56"/>
    <p:sldId id="314" r:id="rId57"/>
    <p:sldId id="405" r:id="rId58"/>
    <p:sldId id="406" r:id="rId59"/>
    <p:sldId id="320" r:id="rId60"/>
    <p:sldId id="319" r:id="rId61"/>
    <p:sldId id="417" r:id="rId62"/>
    <p:sldId id="418" r:id="rId63"/>
    <p:sldId id="321" r:id="rId64"/>
    <p:sldId id="421" r:id="rId65"/>
    <p:sldId id="323" r:id="rId66"/>
    <p:sldId id="324" r:id="rId67"/>
    <p:sldId id="325" r:id="rId68"/>
    <p:sldId id="326" r:id="rId69"/>
    <p:sldId id="327" r:id="rId70"/>
    <p:sldId id="328" r:id="rId71"/>
    <p:sldId id="329" r:id="rId72"/>
    <p:sldId id="330" r:id="rId73"/>
    <p:sldId id="331" r:id="rId74"/>
    <p:sldId id="332" r:id="rId75"/>
    <p:sldId id="333" r:id="rId76"/>
    <p:sldId id="334" r:id="rId77"/>
    <p:sldId id="335" r:id="rId78"/>
    <p:sldId id="336" r:id="rId79"/>
    <p:sldId id="337" r:id="rId80"/>
    <p:sldId id="338" r:id="rId81"/>
    <p:sldId id="339" r:id="rId82"/>
    <p:sldId id="340" r:id="rId83"/>
    <p:sldId id="341" r:id="rId84"/>
    <p:sldId id="342" r:id="rId85"/>
    <p:sldId id="343" r:id="rId86"/>
    <p:sldId id="344" r:id="rId87"/>
    <p:sldId id="345" r:id="rId88"/>
    <p:sldId id="346" r:id="rId89"/>
    <p:sldId id="347" r:id="rId90"/>
    <p:sldId id="348" r:id="rId91"/>
    <p:sldId id="349" r:id="rId92"/>
    <p:sldId id="350" r:id="rId93"/>
    <p:sldId id="351" r:id="rId94"/>
    <p:sldId id="352" r:id="rId95"/>
    <p:sldId id="353" r:id="rId96"/>
    <p:sldId id="354" r:id="rId97"/>
    <p:sldId id="355" r:id="rId98"/>
    <p:sldId id="356" r:id="rId99"/>
    <p:sldId id="357" r:id="rId100"/>
    <p:sldId id="358" r:id="rId101"/>
    <p:sldId id="359" r:id="rId102"/>
    <p:sldId id="360" r:id="rId103"/>
    <p:sldId id="361" r:id="rId104"/>
    <p:sldId id="362" r:id="rId105"/>
    <p:sldId id="363" r:id="rId106"/>
    <p:sldId id="364" r:id="rId107"/>
    <p:sldId id="365" r:id="rId108"/>
    <p:sldId id="366" r:id="rId109"/>
    <p:sldId id="367" r:id="rId110"/>
    <p:sldId id="368" r:id="rId111"/>
    <p:sldId id="369" r:id="rId112"/>
    <p:sldId id="370" r:id="rId113"/>
    <p:sldId id="371" r:id="rId114"/>
    <p:sldId id="372" r:id="rId115"/>
    <p:sldId id="373" r:id="rId116"/>
    <p:sldId id="374" r:id="rId117"/>
    <p:sldId id="375" r:id="rId118"/>
    <p:sldId id="376" r:id="rId119"/>
    <p:sldId id="377" r:id="rId120"/>
    <p:sldId id="378" r:id="rId121"/>
    <p:sldId id="379" r:id="rId122"/>
    <p:sldId id="380" r:id="rId123"/>
    <p:sldId id="381" r:id="rId124"/>
    <p:sldId id="382" r:id="rId125"/>
    <p:sldId id="383" r:id="rId126"/>
    <p:sldId id="384" r:id="rId127"/>
    <p:sldId id="385" r:id="rId128"/>
    <p:sldId id="386" r:id="rId129"/>
    <p:sldId id="387" r:id="rId130"/>
    <p:sldId id="388" r:id="rId131"/>
    <p:sldId id="389" r:id="rId132"/>
    <p:sldId id="391" r:id="rId133"/>
    <p:sldId id="392" r:id="rId134"/>
    <p:sldId id="393" r:id="rId135"/>
    <p:sldId id="396" r:id="rId136"/>
    <p:sldId id="398" r:id="rId137"/>
    <p:sldId id="401" r:id="rId138"/>
    <p:sldId id="404" r:id="rId139"/>
    <p:sldId id="397" r:id="rId140"/>
    <p:sldId id="399" r:id="rId141"/>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25" autoAdjust="0"/>
    <p:restoredTop sz="94660"/>
  </p:normalViewPr>
  <p:slideViewPr>
    <p:cSldViewPr snapToGrid="0">
      <p:cViewPr varScale="1">
        <p:scale>
          <a:sx n="84" d="100"/>
          <a:sy n="84" d="100"/>
        </p:scale>
        <p:origin x="1430"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slide" Target="slides/slide139.xml"/><Relationship Id="rId14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E82BA1-E2D1-46E6-8340-747B43510923}" type="datetimeFigureOut">
              <a:rPr lang="zh-CN" altLang="en-US" smtClean="0"/>
              <a:pPr/>
              <a:t>2018/8/3</a:t>
            </a:fld>
            <a:endParaRPr lang="zh-CN" alt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3F40E8-B080-4069-9916-BB6BA31401C1}" type="slidenum">
              <a:rPr lang="zh-CN" altLang="en-US" smtClean="0"/>
              <a:pPr/>
              <a:t>‹#›</a:t>
            </a:fld>
            <a:endParaRPr lang="zh-CN" altLang="en-US"/>
          </a:p>
        </p:txBody>
      </p:sp>
    </p:spTree>
    <p:extLst>
      <p:ext uri="{BB962C8B-B14F-4D97-AF65-F5344CB8AC3E}">
        <p14:creationId xmlns:p14="http://schemas.microsoft.com/office/powerpoint/2010/main" val="23652571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10"/>
          </p:nvPr>
        </p:nvSpPr>
        <p:spPr/>
        <p:txBody>
          <a:bodyPr/>
          <a:lstStyle/>
          <a:p>
            <a:fld id="{053F40E8-B080-4069-9916-BB6BA31401C1}" type="slidenum">
              <a:rPr lang="zh-CN" altLang="en-US" smtClean="0"/>
              <a:pPr/>
              <a:t>1</a:t>
            </a:fld>
            <a:endParaRPr lang="zh-CN" altLang="en-US"/>
          </a:p>
        </p:txBody>
      </p:sp>
    </p:spTree>
    <p:extLst>
      <p:ext uri="{BB962C8B-B14F-4D97-AF65-F5344CB8AC3E}">
        <p14:creationId xmlns:p14="http://schemas.microsoft.com/office/powerpoint/2010/main" val="19575988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10"/>
          </p:nvPr>
        </p:nvSpPr>
        <p:spPr/>
        <p:txBody>
          <a:bodyPr/>
          <a:lstStyle/>
          <a:p>
            <a:fld id="{60169739-D473-4AEE-B1D4-2221777FD447}" type="slidenum">
              <a:rPr lang="zh-CN" altLang="en-US" smtClean="0"/>
              <a:pPr/>
              <a:t>2</a:t>
            </a:fld>
            <a:endParaRPr lang="zh-CN" altLang="en-US"/>
          </a:p>
        </p:txBody>
      </p:sp>
    </p:spTree>
    <p:extLst>
      <p:ext uri="{BB962C8B-B14F-4D97-AF65-F5344CB8AC3E}">
        <p14:creationId xmlns:p14="http://schemas.microsoft.com/office/powerpoint/2010/main" val="8125517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10"/>
          </p:nvPr>
        </p:nvSpPr>
        <p:spPr/>
        <p:txBody>
          <a:bodyPr/>
          <a:lstStyle/>
          <a:p>
            <a:fld id="{60169739-D473-4AEE-B1D4-2221777FD447}" type="slidenum">
              <a:rPr lang="zh-CN" altLang="en-US" smtClean="0"/>
              <a:pPr/>
              <a:t>3</a:t>
            </a:fld>
            <a:endParaRPr lang="zh-CN" altLang="en-US"/>
          </a:p>
        </p:txBody>
      </p:sp>
    </p:spTree>
    <p:extLst>
      <p:ext uri="{BB962C8B-B14F-4D97-AF65-F5344CB8AC3E}">
        <p14:creationId xmlns:p14="http://schemas.microsoft.com/office/powerpoint/2010/main" val="26805614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10"/>
          </p:nvPr>
        </p:nvSpPr>
        <p:spPr/>
        <p:txBody>
          <a:bodyPr/>
          <a:lstStyle/>
          <a:p>
            <a:fld id="{60169739-D473-4AEE-B1D4-2221777FD447}" type="slidenum">
              <a:rPr lang="zh-CN" altLang="en-US" smtClean="0"/>
              <a:pPr/>
              <a:t>27</a:t>
            </a:fld>
            <a:endParaRPr lang="zh-CN" altLang="en-US"/>
          </a:p>
        </p:txBody>
      </p:sp>
    </p:spTree>
    <p:extLst>
      <p:ext uri="{BB962C8B-B14F-4D97-AF65-F5344CB8AC3E}">
        <p14:creationId xmlns:p14="http://schemas.microsoft.com/office/powerpoint/2010/main" val="30651759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10"/>
          </p:nvPr>
        </p:nvSpPr>
        <p:spPr/>
        <p:txBody>
          <a:bodyPr/>
          <a:lstStyle/>
          <a:p>
            <a:fld id="{60169739-D473-4AEE-B1D4-2221777FD447}" type="slidenum">
              <a:rPr lang="zh-CN" altLang="en-US" smtClean="0"/>
              <a:pPr/>
              <a:t>49</a:t>
            </a:fld>
            <a:endParaRPr lang="zh-CN" altLang="en-US"/>
          </a:p>
        </p:txBody>
      </p:sp>
    </p:spTree>
    <p:extLst>
      <p:ext uri="{BB962C8B-B14F-4D97-AF65-F5344CB8AC3E}">
        <p14:creationId xmlns:p14="http://schemas.microsoft.com/office/powerpoint/2010/main" val="27126898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10"/>
          </p:nvPr>
        </p:nvSpPr>
        <p:spPr/>
        <p:txBody>
          <a:bodyPr/>
          <a:lstStyle/>
          <a:p>
            <a:fld id="{053F40E8-B080-4069-9916-BB6BA31401C1}" type="slidenum">
              <a:rPr lang="zh-CN" altLang="en-US" smtClean="0"/>
              <a:pPr/>
              <a:t>53</a:t>
            </a:fld>
            <a:endParaRPr lang="zh-CN" altLang="en-US"/>
          </a:p>
        </p:txBody>
      </p:sp>
    </p:spTree>
    <p:extLst>
      <p:ext uri="{BB962C8B-B14F-4D97-AF65-F5344CB8AC3E}">
        <p14:creationId xmlns:p14="http://schemas.microsoft.com/office/powerpoint/2010/main" val="23637421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10"/>
          </p:nvPr>
        </p:nvSpPr>
        <p:spPr/>
        <p:txBody>
          <a:bodyPr/>
          <a:lstStyle/>
          <a:p>
            <a:fld id="{60169739-D473-4AEE-B1D4-2221777FD447}" type="slidenum">
              <a:rPr lang="zh-CN" altLang="en-US" smtClean="0"/>
              <a:pPr/>
              <a:t>55</a:t>
            </a:fld>
            <a:endParaRPr lang="zh-CN" altLang="en-US"/>
          </a:p>
        </p:txBody>
      </p:sp>
    </p:spTree>
    <p:extLst>
      <p:ext uri="{BB962C8B-B14F-4D97-AF65-F5344CB8AC3E}">
        <p14:creationId xmlns:p14="http://schemas.microsoft.com/office/powerpoint/2010/main" val="27344513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F750B31-1095-46BB-AEA4-3BEBFF2C9300}" type="slidenum">
              <a:rPr lang="en-US" altLang="zh-CN"/>
              <a:pPr/>
              <a:t>57</a:t>
            </a:fld>
            <a:endParaRPr lang="en-US" altLang="zh-CN"/>
          </a:p>
        </p:txBody>
      </p:sp>
      <p:sp>
        <p:nvSpPr>
          <p:cNvPr id="315394" name="Rectangle 2"/>
          <p:cNvSpPr>
            <a:spLocks noRot="1" noChangeArrowheads="1" noTextEdit="1"/>
          </p:cNvSpPr>
          <p:nvPr>
            <p:ph type="sldImg"/>
          </p:nvPr>
        </p:nvSpPr>
        <p:spPr>
          <a:ln/>
        </p:spPr>
      </p:sp>
      <p:sp>
        <p:nvSpPr>
          <p:cNvPr id="315395"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10075478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4E4C556-97D8-4C38-BBA1-4CDE3A7397C6}" type="slidenum">
              <a:rPr lang="en-US" altLang="zh-CN"/>
              <a:pPr/>
              <a:t>58</a:t>
            </a:fld>
            <a:endParaRPr lang="en-US" altLang="zh-CN"/>
          </a:p>
        </p:txBody>
      </p:sp>
      <p:sp>
        <p:nvSpPr>
          <p:cNvPr id="316418" name="Rectangle 2"/>
          <p:cNvSpPr>
            <a:spLocks noRot="1" noChangeArrowheads="1" noTextEdit="1"/>
          </p:cNvSpPr>
          <p:nvPr>
            <p:ph type="sldImg"/>
          </p:nvPr>
        </p:nvSpPr>
        <p:spPr>
          <a:ln/>
        </p:spPr>
      </p:sp>
      <p:sp>
        <p:nvSpPr>
          <p:cNvPr id="316419"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941023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D522A0A-8325-4686-B6B1-2EDB71F8064D}" type="slidenum">
              <a:rPr lang="en-US" altLang="zh-CN"/>
              <a:pPr/>
              <a:t>61</a:t>
            </a:fld>
            <a:endParaRPr lang="en-US" altLang="zh-CN"/>
          </a:p>
        </p:txBody>
      </p:sp>
      <p:sp>
        <p:nvSpPr>
          <p:cNvPr id="327682" name="Rectangle 2"/>
          <p:cNvSpPr>
            <a:spLocks noRot="1" noChangeArrowheads="1" noTextEdit="1"/>
          </p:cNvSpPr>
          <p:nvPr>
            <p:ph type="sldImg"/>
          </p:nvPr>
        </p:nvSpPr>
        <p:spPr>
          <a:ln/>
        </p:spPr>
      </p:sp>
      <p:sp>
        <p:nvSpPr>
          <p:cNvPr id="327683"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1472822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E0F64EB-3887-49AD-832A-794430D71AB4}" type="slidenum">
              <a:rPr lang="en-US" altLang="zh-CN"/>
              <a:pPr/>
              <a:t>62</a:t>
            </a:fld>
            <a:endParaRPr lang="en-US" altLang="zh-CN"/>
          </a:p>
        </p:txBody>
      </p:sp>
      <p:sp>
        <p:nvSpPr>
          <p:cNvPr id="328706" name="Rectangle 2"/>
          <p:cNvSpPr>
            <a:spLocks noRot="1" noChangeArrowheads="1" noTextEdit="1"/>
          </p:cNvSpPr>
          <p:nvPr>
            <p:ph type="sldImg"/>
          </p:nvPr>
        </p:nvSpPr>
        <p:spPr>
          <a:ln/>
        </p:spPr>
      </p:sp>
      <p:sp>
        <p:nvSpPr>
          <p:cNvPr id="328707"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32167175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9B981AA-8EFC-4185-BD5D-F4FDB9B003B6}" type="slidenum">
              <a:rPr lang="en-US" altLang="zh-CN"/>
              <a:pPr/>
              <a:t>64</a:t>
            </a:fld>
            <a:endParaRPr lang="en-US" altLang="zh-CN"/>
          </a:p>
        </p:txBody>
      </p:sp>
      <p:sp>
        <p:nvSpPr>
          <p:cNvPr id="331778" name="Rectangle 2"/>
          <p:cNvSpPr>
            <a:spLocks noRot="1" noChangeArrowheads="1" noTextEdit="1"/>
          </p:cNvSpPr>
          <p:nvPr>
            <p:ph type="sldImg"/>
          </p:nvPr>
        </p:nvSpPr>
        <p:spPr>
          <a:ln/>
        </p:spPr>
      </p:sp>
      <p:sp>
        <p:nvSpPr>
          <p:cNvPr id="331779"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9457675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10"/>
          </p:nvPr>
        </p:nvSpPr>
        <p:spPr/>
        <p:txBody>
          <a:bodyPr/>
          <a:lstStyle/>
          <a:p>
            <a:fld id="{60169739-D473-4AEE-B1D4-2221777FD447}" type="slidenum">
              <a:rPr lang="zh-CN" altLang="en-US" smtClean="0"/>
              <a:pPr/>
              <a:t>70</a:t>
            </a:fld>
            <a:endParaRPr lang="zh-CN" altLang="en-US"/>
          </a:p>
        </p:txBody>
      </p:sp>
    </p:spTree>
    <p:extLst>
      <p:ext uri="{BB962C8B-B14F-4D97-AF65-F5344CB8AC3E}">
        <p14:creationId xmlns:p14="http://schemas.microsoft.com/office/powerpoint/2010/main" val="23739404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10"/>
          </p:nvPr>
        </p:nvSpPr>
        <p:spPr/>
        <p:txBody>
          <a:bodyPr/>
          <a:lstStyle/>
          <a:p>
            <a:fld id="{60169739-D473-4AEE-B1D4-2221777FD447}" type="slidenum">
              <a:rPr lang="zh-CN" altLang="en-US" smtClean="0"/>
              <a:pPr/>
              <a:t>77</a:t>
            </a:fld>
            <a:endParaRPr lang="zh-CN" altLang="en-US"/>
          </a:p>
        </p:txBody>
      </p:sp>
    </p:spTree>
    <p:extLst>
      <p:ext uri="{BB962C8B-B14F-4D97-AF65-F5344CB8AC3E}">
        <p14:creationId xmlns:p14="http://schemas.microsoft.com/office/powerpoint/2010/main" val="15754593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53F40E8-B080-4069-9916-BB6BA31401C1}" type="slidenum">
              <a:rPr lang="zh-CN" altLang="en-US" smtClean="0"/>
              <a:pPr/>
              <a:t>93</a:t>
            </a:fld>
            <a:endParaRPr lang="zh-CN" altLang="en-US"/>
          </a:p>
        </p:txBody>
      </p:sp>
    </p:spTree>
    <p:extLst>
      <p:ext uri="{BB962C8B-B14F-4D97-AF65-F5344CB8AC3E}">
        <p14:creationId xmlns:p14="http://schemas.microsoft.com/office/powerpoint/2010/main" val="12392951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53F40E8-B080-4069-9916-BB6BA31401C1}" type="slidenum">
              <a:rPr lang="zh-CN" altLang="en-US" smtClean="0"/>
              <a:pPr/>
              <a:t>96</a:t>
            </a:fld>
            <a:endParaRPr lang="zh-CN" altLang="en-US"/>
          </a:p>
        </p:txBody>
      </p:sp>
    </p:spTree>
    <p:extLst>
      <p:ext uri="{BB962C8B-B14F-4D97-AF65-F5344CB8AC3E}">
        <p14:creationId xmlns:p14="http://schemas.microsoft.com/office/powerpoint/2010/main" val="14195746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10"/>
          </p:nvPr>
        </p:nvSpPr>
        <p:spPr/>
        <p:txBody>
          <a:bodyPr/>
          <a:lstStyle/>
          <a:p>
            <a:fld id="{60169739-D473-4AEE-B1D4-2221777FD447}" type="slidenum">
              <a:rPr lang="zh-CN" altLang="en-US" smtClean="0"/>
              <a:pPr/>
              <a:t>118</a:t>
            </a:fld>
            <a:endParaRPr lang="zh-CN" altLang="en-US"/>
          </a:p>
        </p:txBody>
      </p:sp>
    </p:spTree>
    <p:extLst>
      <p:ext uri="{BB962C8B-B14F-4D97-AF65-F5344CB8AC3E}">
        <p14:creationId xmlns:p14="http://schemas.microsoft.com/office/powerpoint/2010/main" val="38216841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Rectangle 7"/>
          <p:cNvSpPr>
            <a:spLocks noGrp="1" noChangeArrowheads="1"/>
          </p:cNvSpPr>
          <p:nvPr>
            <p:ph type="sldNum" sz="quarter" idx="5"/>
          </p:nvPr>
        </p:nvSpPr>
        <p:spPr>
          <a:noFill/>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B166E086-BF4B-45F0-801E-214B9FADF977}" type="slidenum">
              <a:rPr lang="en-US" altLang="zh-CN" sz="1200" smtClean="0"/>
              <a:pPr/>
              <a:t>119</a:t>
            </a:fld>
            <a:endParaRPr lang="en-US" altLang="zh-CN" sz="1200"/>
          </a:p>
        </p:txBody>
      </p:sp>
      <p:sp>
        <p:nvSpPr>
          <p:cNvPr id="326659" name="Rectangle 2"/>
          <p:cNvSpPr>
            <a:spLocks noGrp="1" noRot="1" noChangeAspect="1" noChangeArrowheads="1" noTextEdit="1"/>
          </p:cNvSpPr>
          <p:nvPr>
            <p:ph type="sldImg"/>
          </p:nvPr>
        </p:nvSpPr>
        <p:spPr>
          <a:ln/>
        </p:spPr>
      </p:sp>
      <p:sp>
        <p:nvSpPr>
          <p:cNvPr id="326660" name="Rectangle 3"/>
          <p:cNvSpPr>
            <a:spLocks noGrp="1" noChangeArrowheads="1"/>
          </p:cNvSpPr>
          <p:nvPr>
            <p:ph type="body" idx="1"/>
          </p:nvPr>
        </p:nvSpPr>
        <p:spPr>
          <a:noFill/>
        </p:spPr>
        <p:txBody>
          <a:bodyPr/>
          <a:lstStyle/>
          <a:p>
            <a:pPr eaLnBrk="1" hangingPunct="1"/>
            <a:endParaRPr lang="zh-CN" altLang="zh-CN"/>
          </a:p>
        </p:txBody>
      </p:sp>
    </p:spTree>
    <p:extLst>
      <p:ext uri="{BB962C8B-B14F-4D97-AF65-F5344CB8AC3E}">
        <p14:creationId xmlns:p14="http://schemas.microsoft.com/office/powerpoint/2010/main" val="5536947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6" name="Rectangle 7"/>
          <p:cNvSpPr>
            <a:spLocks noGrp="1" noChangeArrowheads="1"/>
          </p:cNvSpPr>
          <p:nvPr>
            <p:ph type="sldNum" sz="quarter" idx="5"/>
          </p:nvPr>
        </p:nvSpPr>
        <p:spPr>
          <a:noFill/>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B7D06C02-3DE5-41AC-A6A6-E99114C6121E}" type="slidenum">
              <a:rPr lang="en-US" altLang="zh-CN" sz="1200" smtClean="0"/>
              <a:pPr/>
              <a:t>120</a:t>
            </a:fld>
            <a:endParaRPr lang="en-US" altLang="zh-CN" sz="1200"/>
          </a:p>
        </p:txBody>
      </p:sp>
      <p:sp>
        <p:nvSpPr>
          <p:cNvPr id="328707" name="Rectangle 2"/>
          <p:cNvSpPr>
            <a:spLocks noGrp="1" noRot="1" noChangeAspect="1" noChangeArrowheads="1" noTextEdit="1"/>
          </p:cNvSpPr>
          <p:nvPr>
            <p:ph type="sldImg"/>
          </p:nvPr>
        </p:nvSpPr>
        <p:spPr>
          <a:ln/>
        </p:spPr>
      </p:sp>
      <p:sp>
        <p:nvSpPr>
          <p:cNvPr id="328708" name="Rectangle 3"/>
          <p:cNvSpPr>
            <a:spLocks noGrp="1" noChangeArrowheads="1"/>
          </p:cNvSpPr>
          <p:nvPr>
            <p:ph type="body" idx="1"/>
          </p:nvPr>
        </p:nvSpPr>
        <p:spPr>
          <a:noFill/>
        </p:spPr>
        <p:txBody>
          <a:bodyPr/>
          <a:lstStyle/>
          <a:p>
            <a:pPr eaLnBrk="1" hangingPunct="1"/>
            <a:endParaRPr lang="zh-CN" altLang="zh-CN"/>
          </a:p>
        </p:txBody>
      </p:sp>
    </p:spTree>
    <p:extLst>
      <p:ext uri="{BB962C8B-B14F-4D97-AF65-F5344CB8AC3E}">
        <p14:creationId xmlns:p14="http://schemas.microsoft.com/office/powerpoint/2010/main" val="23691895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4" name="Rectangle 7"/>
          <p:cNvSpPr>
            <a:spLocks noGrp="1" noChangeArrowheads="1"/>
          </p:cNvSpPr>
          <p:nvPr>
            <p:ph type="sldNum" sz="quarter" idx="5"/>
          </p:nvPr>
        </p:nvSpPr>
        <p:spPr>
          <a:noFill/>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10A42FA0-7982-463D-8C33-97529DB1A52B}" type="slidenum">
              <a:rPr lang="en-US" altLang="zh-CN" sz="1200" smtClean="0"/>
              <a:pPr/>
              <a:t>121</a:t>
            </a:fld>
            <a:endParaRPr lang="en-US" altLang="zh-CN" sz="1200"/>
          </a:p>
        </p:txBody>
      </p:sp>
      <p:sp>
        <p:nvSpPr>
          <p:cNvPr id="330755" name="Rectangle 2"/>
          <p:cNvSpPr>
            <a:spLocks noGrp="1" noRot="1" noChangeAspect="1" noChangeArrowheads="1" noTextEdit="1"/>
          </p:cNvSpPr>
          <p:nvPr>
            <p:ph type="sldImg"/>
          </p:nvPr>
        </p:nvSpPr>
        <p:spPr>
          <a:ln/>
        </p:spPr>
      </p:sp>
      <p:sp>
        <p:nvSpPr>
          <p:cNvPr id="330756" name="Rectangle 3"/>
          <p:cNvSpPr>
            <a:spLocks noGrp="1" noChangeArrowheads="1"/>
          </p:cNvSpPr>
          <p:nvPr>
            <p:ph type="body" idx="1"/>
          </p:nvPr>
        </p:nvSpPr>
        <p:spPr>
          <a:noFill/>
        </p:spPr>
        <p:txBody>
          <a:bodyPr/>
          <a:lstStyle/>
          <a:p>
            <a:pPr eaLnBrk="1" hangingPunct="1"/>
            <a:endParaRPr lang="zh-CN" altLang="zh-CN"/>
          </a:p>
        </p:txBody>
      </p:sp>
    </p:spTree>
    <p:extLst>
      <p:ext uri="{BB962C8B-B14F-4D97-AF65-F5344CB8AC3E}">
        <p14:creationId xmlns:p14="http://schemas.microsoft.com/office/powerpoint/2010/main" val="25382455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802" name="Rectangle 7"/>
          <p:cNvSpPr>
            <a:spLocks noGrp="1" noChangeArrowheads="1"/>
          </p:cNvSpPr>
          <p:nvPr>
            <p:ph type="sldNum" sz="quarter" idx="5"/>
          </p:nvPr>
        </p:nvSpPr>
        <p:spPr>
          <a:noFill/>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644D26EE-149A-4A57-AAF9-05EEC0A6A6BF}" type="slidenum">
              <a:rPr lang="en-US" altLang="zh-CN" sz="1200" smtClean="0"/>
              <a:pPr/>
              <a:t>122</a:t>
            </a:fld>
            <a:endParaRPr lang="en-US" altLang="zh-CN" sz="1200"/>
          </a:p>
        </p:txBody>
      </p:sp>
      <p:sp>
        <p:nvSpPr>
          <p:cNvPr id="332803" name="Rectangle 2"/>
          <p:cNvSpPr>
            <a:spLocks noGrp="1" noRot="1" noChangeAspect="1" noChangeArrowheads="1" noTextEdit="1"/>
          </p:cNvSpPr>
          <p:nvPr>
            <p:ph type="sldImg"/>
          </p:nvPr>
        </p:nvSpPr>
        <p:spPr>
          <a:ln/>
        </p:spPr>
      </p:sp>
      <p:sp>
        <p:nvSpPr>
          <p:cNvPr id="332804" name="Rectangle 3"/>
          <p:cNvSpPr>
            <a:spLocks noGrp="1" noChangeArrowheads="1"/>
          </p:cNvSpPr>
          <p:nvPr>
            <p:ph type="body" idx="1"/>
          </p:nvPr>
        </p:nvSpPr>
        <p:spPr>
          <a:noFill/>
        </p:spPr>
        <p:txBody>
          <a:bodyPr/>
          <a:lstStyle/>
          <a:p>
            <a:pPr eaLnBrk="1" hangingPunct="1"/>
            <a:endParaRPr lang="zh-CN" altLang="zh-CN"/>
          </a:p>
        </p:txBody>
      </p:sp>
    </p:spTree>
    <p:extLst>
      <p:ext uri="{BB962C8B-B14F-4D97-AF65-F5344CB8AC3E}">
        <p14:creationId xmlns:p14="http://schemas.microsoft.com/office/powerpoint/2010/main" val="26208758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850" name="Rectangle 7"/>
          <p:cNvSpPr>
            <a:spLocks noGrp="1" noChangeArrowheads="1"/>
          </p:cNvSpPr>
          <p:nvPr>
            <p:ph type="sldNum" sz="quarter" idx="5"/>
          </p:nvPr>
        </p:nvSpPr>
        <p:spPr>
          <a:noFill/>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17142B37-F99E-4A8D-8BE1-4BB6393CBFEA}" type="slidenum">
              <a:rPr lang="en-US" altLang="zh-CN" sz="1200" smtClean="0"/>
              <a:pPr/>
              <a:t>123</a:t>
            </a:fld>
            <a:endParaRPr lang="en-US" altLang="zh-CN" sz="1200"/>
          </a:p>
        </p:txBody>
      </p:sp>
      <p:sp>
        <p:nvSpPr>
          <p:cNvPr id="334851" name="Rectangle 2"/>
          <p:cNvSpPr>
            <a:spLocks noGrp="1" noRot="1" noChangeAspect="1" noChangeArrowheads="1" noTextEdit="1"/>
          </p:cNvSpPr>
          <p:nvPr>
            <p:ph type="sldImg"/>
          </p:nvPr>
        </p:nvSpPr>
        <p:spPr>
          <a:ln/>
        </p:spPr>
      </p:sp>
      <p:sp>
        <p:nvSpPr>
          <p:cNvPr id="334852" name="Rectangle 3"/>
          <p:cNvSpPr>
            <a:spLocks noGrp="1" noChangeArrowheads="1"/>
          </p:cNvSpPr>
          <p:nvPr>
            <p:ph type="body" idx="1"/>
          </p:nvPr>
        </p:nvSpPr>
        <p:spPr>
          <a:noFill/>
        </p:spPr>
        <p:txBody>
          <a:bodyPr/>
          <a:lstStyle/>
          <a:p>
            <a:pPr eaLnBrk="1" hangingPunct="1"/>
            <a:endParaRPr lang="zh-CN" altLang="zh-CN"/>
          </a:p>
        </p:txBody>
      </p:sp>
    </p:spTree>
    <p:extLst>
      <p:ext uri="{BB962C8B-B14F-4D97-AF65-F5344CB8AC3E}">
        <p14:creationId xmlns:p14="http://schemas.microsoft.com/office/powerpoint/2010/main" val="288101966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898" name="Rectangle 7"/>
          <p:cNvSpPr>
            <a:spLocks noGrp="1" noChangeArrowheads="1"/>
          </p:cNvSpPr>
          <p:nvPr>
            <p:ph type="sldNum" sz="quarter" idx="5"/>
          </p:nvPr>
        </p:nvSpPr>
        <p:spPr>
          <a:noFill/>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AF66A751-B845-40E9-8251-3586C2DA3A5F}" type="slidenum">
              <a:rPr lang="en-US" altLang="zh-CN" sz="1200" smtClean="0"/>
              <a:pPr/>
              <a:t>124</a:t>
            </a:fld>
            <a:endParaRPr lang="en-US" altLang="zh-CN" sz="1200"/>
          </a:p>
        </p:txBody>
      </p:sp>
      <p:sp>
        <p:nvSpPr>
          <p:cNvPr id="336899" name="Rectangle 2"/>
          <p:cNvSpPr>
            <a:spLocks noGrp="1" noRot="1" noChangeAspect="1" noChangeArrowheads="1" noTextEdit="1"/>
          </p:cNvSpPr>
          <p:nvPr>
            <p:ph type="sldImg"/>
          </p:nvPr>
        </p:nvSpPr>
        <p:spPr>
          <a:ln/>
        </p:spPr>
      </p:sp>
      <p:sp>
        <p:nvSpPr>
          <p:cNvPr id="336900" name="Rectangle 3"/>
          <p:cNvSpPr>
            <a:spLocks noGrp="1" noChangeArrowheads="1"/>
          </p:cNvSpPr>
          <p:nvPr>
            <p:ph type="body" idx="1"/>
          </p:nvPr>
        </p:nvSpPr>
        <p:spPr>
          <a:noFill/>
        </p:spPr>
        <p:txBody>
          <a:bodyPr/>
          <a:lstStyle/>
          <a:p>
            <a:pPr eaLnBrk="1" hangingPunct="1"/>
            <a:endParaRPr lang="zh-CN" altLang="zh-CN"/>
          </a:p>
        </p:txBody>
      </p:sp>
    </p:spTree>
    <p:extLst>
      <p:ext uri="{BB962C8B-B14F-4D97-AF65-F5344CB8AC3E}">
        <p14:creationId xmlns:p14="http://schemas.microsoft.com/office/powerpoint/2010/main" val="242298294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Rectangle 7"/>
          <p:cNvSpPr>
            <a:spLocks noGrp="1" noChangeArrowheads="1"/>
          </p:cNvSpPr>
          <p:nvPr>
            <p:ph type="sldNum" sz="quarter" idx="5"/>
          </p:nvPr>
        </p:nvSpPr>
        <p:spPr>
          <a:noFill/>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BAE2A38F-FEA1-46DD-BE84-2BB5A683C73B}" type="slidenum">
              <a:rPr lang="en-US" altLang="zh-CN" sz="1200" smtClean="0"/>
              <a:pPr/>
              <a:t>125</a:t>
            </a:fld>
            <a:endParaRPr lang="en-US" altLang="zh-CN" sz="1200"/>
          </a:p>
        </p:txBody>
      </p:sp>
      <p:sp>
        <p:nvSpPr>
          <p:cNvPr id="338947" name="Rectangle 2"/>
          <p:cNvSpPr>
            <a:spLocks noGrp="1" noRot="1" noChangeAspect="1" noChangeArrowheads="1" noTextEdit="1"/>
          </p:cNvSpPr>
          <p:nvPr>
            <p:ph type="sldImg"/>
          </p:nvPr>
        </p:nvSpPr>
        <p:spPr>
          <a:ln/>
        </p:spPr>
      </p:sp>
      <p:sp>
        <p:nvSpPr>
          <p:cNvPr id="338948" name="Rectangle 3"/>
          <p:cNvSpPr>
            <a:spLocks noGrp="1" noChangeArrowheads="1"/>
          </p:cNvSpPr>
          <p:nvPr>
            <p:ph type="body" idx="1"/>
          </p:nvPr>
        </p:nvSpPr>
        <p:spPr>
          <a:noFill/>
        </p:spPr>
        <p:txBody>
          <a:bodyPr/>
          <a:lstStyle/>
          <a:p>
            <a:pPr eaLnBrk="1" hangingPunct="1"/>
            <a:endParaRPr lang="zh-CN" altLang="zh-CN"/>
          </a:p>
        </p:txBody>
      </p:sp>
    </p:spTree>
    <p:extLst>
      <p:ext uri="{BB962C8B-B14F-4D97-AF65-F5344CB8AC3E}">
        <p14:creationId xmlns:p14="http://schemas.microsoft.com/office/powerpoint/2010/main" val="27105349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7"/>
          <p:cNvSpPr>
            <a:spLocks noGrp="1" noChangeArrowheads="1"/>
          </p:cNvSpPr>
          <p:nvPr>
            <p:ph type="sldNum" sz="quarter" idx="5"/>
          </p:nvPr>
        </p:nvSpPr>
        <p:spPr>
          <a:noFill/>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81677097-6620-4C29-BD88-3EB6C5C30CD6}" type="slidenum">
              <a:rPr lang="en-US" altLang="zh-CN" sz="1200" smtClean="0"/>
              <a:pPr/>
              <a:t>126</a:t>
            </a:fld>
            <a:endParaRPr lang="en-US" altLang="zh-CN" sz="1200"/>
          </a:p>
        </p:txBody>
      </p:sp>
      <p:sp>
        <p:nvSpPr>
          <p:cNvPr id="340995" name="Rectangle 2"/>
          <p:cNvSpPr>
            <a:spLocks noGrp="1" noRot="1" noChangeAspect="1" noChangeArrowheads="1" noTextEdit="1"/>
          </p:cNvSpPr>
          <p:nvPr>
            <p:ph type="sldImg"/>
          </p:nvPr>
        </p:nvSpPr>
        <p:spPr>
          <a:ln/>
        </p:spPr>
      </p:sp>
      <p:sp>
        <p:nvSpPr>
          <p:cNvPr id="340996" name="Rectangle 3"/>
          <p:cNvSpPr>
            <a:spLocks noGrp="1" noChangeArrowheads="1"/>
          </p:cNvSpPr>
          <p:nvPr>
            <p:ph type="body" idx="1"/>
          </p:nvPr>
        </p:nvSpPr>
        <p:spPr>
          <a:noFill/>
        </p:spPr>
        <p:txBody>
          <a:bodyPr/>
          <a:lstStyle/>
          <a:p>
            <a:pPr eaLnBrk="1" hangingPunct="1"/>
            <a:endParaRPr lang="zh-CN" altLang="zh-CN"/>
          </a:p>
        </p:txBody>
      </p:sp>
    </p:spTree>
    <p:extLst>
      <p:ext uri="{BB962C8B-B14F-4D97-AF65-F5344CB8AC3E}">
        <p14:creationId xmlns:p14="http://schemas.microsoft.com/office/powerpoint/2010/main" val="25664620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Rectangle 7"/>
          <p:cNvSpPr>
            <a:spLocks noGrp="1" noChangeArrowheads="1"/>
          </p:cNvSpPr>
          <p:nvPr>
            <p:ph type="sldNum" sz="quarter" idx="5"/>
          </p:nvPr>
        </p:nvSpPr>
        <p:spPr>
          <a:noFill/>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116A1AED-AEEF-44B1-887B-F95E877D0393}" type="slidenum">
              <a:rPr lang="en-US" altLang="zh-CN" sz="1200" smtClean="0"/>
              <a:pPr/>
              <a:t>127</a:t>
            </a:fld>
            <a:endParaRPr lang="en-US" altLang="zh-CN" sz="1200"/>
          </a:p>
        </p:txBody>
      </p:sp>
      <p:sp>
        <p:nvSpPr>
          <p:cNvPr id="343043" name="Rectangle 2"/>
          <p:cNvSpPr>
            <a:spLocks noGrp="1" noRot="1" noChangeAspect="1" noChangeArrowheads="1" noTextEdit="1"/>
          </p:cNvSpPr>
          <p:nvPr>
            <p:ph type="sldImg"/>
          </p:nvPr>
        </p:nvSpPr>
        <p:spPr>
          <a:ln/>
        </p:spPr>
      </p:sp>
      <p:sp>
        <p:nvSpPr>
          <p:cNvPr id="343044" name="Rectangle 3"/>
          <p:cNvSpPr>
            <a:spLocks noGrp="1" noChangeArrowheads="1"/>
          </p:cNvSpPr>
          <p:nvPr>
            <p:ph type="body" idx="1"/>
          </p:nvPr>
        </p:nvSpPr>
        <p:spPr>
          <a:noFill/>
        </p:spPr>
        <p:txBody>
          <a:bodyPr/>
          <a:lstStyle/>
          <a:p>
            <a:pPr eaLnBrk="1" hangingPunct="1"/>
            <a:endParaRPr lang="zh-CN" altLang="zh-CN"/>
          </a:p>
        </p:txBody>
      </p:sp>
    </p:spTree>
    <p:extLst>
      <p:ext uri="{BB962C8B-B14F-4D97-AF65-F5344CB8AC3E}">
        <p14:creationId xmlns:p14="http://schemas.microsoft.com/office/powerpoint/2010/main" val="7259349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090" name="Rectangle 7"/>
          <p:cNvSpPr>
            <a:spLocks noGrp="1" noChangeArrowheads="1"/>
          </p:cNvSpPr>
          <p:nvPr>
            <p:ph type="sldNum" sz="quarter" idx="5"/>
          </p:nvPr>
        </p:nvSpPr>
        <p:spPr>
          <a:noFill/>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362E4BBD-1438-471C-BAC0-A7D2A6FA6FA7}" type="slidenum">
              <a:rPr lang="en-US" altLang="zh-CN" sz="1200" smtClean="0"/>
              <a:pPr/>
              <a:t>128</a:t>
            </a:fld>
            <a:endParaRPr lang="en-US" altLang="zh-CN" sz="1200"/>
          </a:p>
        </p:txBody>
      </p:sp>
      <p:sp>
        <p:nvSpPr>
          <p:cNvPr id="345091" name="Rectangle 2"/>
          <p:cNvSpPr>
            <a:spLocks noGrp="1" noRot="1" noChangeAspect="1" noChangeArrowheads="1" noTextEdit="1"/>
          </p:cNvSpPr>
          <p:nvPr>
            <p:ph type="sldImg"/>
          </p:nvPr>
        </p:nvSpPr>
        <p:spPr>
          <a:ln/>
        </p:spPr>
      </p:sp>
      <p:sp>
        <p:nvSpPr>
          <p:cNvPr id="345092" name="Rectangle 3"/>
          <p:cNvSpPr>
            <a:spLocks noGrp="1" noChangeArrowheads="1"/>
          </p:cNvSpPr>
          <p:nvPr>
            <p:ph type="body" idx="1"/>
          </p:nvPr>
        </p:nvSpPr>
        <p:spPr>
          <a:noFill/>
        </p:spPr>
        <p:txBody>
          <a:bodyPr/>
          <a:lstStyle/>
          <a:p>
            <a:pPr eaLnBrk="1" hangingPunct="1"/>
            <a:endParaRPr lang="zh-CN" altLang="zh-CN"/>
          </a:p>
        </p:txBody>
      </p:sp>
    </p:spTree>
    <p:extLst>
      <p:ext uri="{BB962C8B-B14F-4D97-AF65-F5344CB8AC3E}">
        <p14:creationId xmlns:p14="http://schemas.microsoft.com/office/powerpoint/2010/main" val="282004629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8" name="Rectangle 7"/>
          <p:cNvSpPr>
            <a:spLocks noGrp="1" noChangeArrowheads="1"/>
          </p:cNvSpPr>
          <p:nvPr>
            <p:ph type="sldNum" sz="quarter" idx="5"/>
          </p:nvPr>
        </p:nvSpPr>
        <p:spPr>
          <a:noFill/>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2A05AE35-0E71-4328-9EE0-50B4C1F3E591}" type="slidenum">
              <a:rPr lang="en-US" altLang="zh-CN" sz="1200" smtClean="0"/>
              <a:pPr/>
              <a:t>129</a:t>
            </a:fld>
            <a:endParaRPr lang="en-US" altLang="zh-CN" sz="1200"/>
          </a:p>
        </p:txBody>
      </p:sp>
      <p:sp>
        <p:nvSpPr>
          <p:cNvPr id="347139" name="Rectangle 2"/>
          <p:cNvSpPr>
            <a:spLocks noGrp="1" noRot="1" noChangeAspect="1" noChangeArrowheads="1" noTextEdit="1"/>
          </p:cNvSpPr>
          <p:nvPr>
            <p:ph type="sldImg"/>
          </p:nvPr>
        </p:nvSpPr>
        <p:spPr>
          <a:ln/>
        </p:spPr>
      </p:sp>
      <p:sp>
        <p:nvSpPr>
          <p:cNvPr id="347140" name="Rectangle 3"/>
          <p:cNvSpPr>
            <a:spLocks noGrp="1" noChangeArrowheads="1"/>
          </p:cNvSpPr>
          <p:nvPr>
            <p:ph type="body" idx="1"/>
          </p:nvPr>
        </p:nvSpPr>
        <p:spPr>
          <a:noFill/>
        </p:spPr>
        <p:txBody>
          <a:bodyPr/>
          <a:lstStyle/>
          <a:p>
            <a:pPr eaLnBrk="1" hangingPunct="1"/>
            <a:endParaRPr lang="zh-CN" altLang="zh-CN"/>
          </a:p>
        </p:txBody>
      </p:sp>
    </p:spTree>
    <p:extLst>
      <p:ext uri="{BB962C8B-B14F-4D97-AF65-F5344CB8AC3E}">
        <p14:creationId xmlns:p14="http://schemas.microsoft.com/office/powerpoint/2010/main" val="315884150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6" name="Rectangle 7"/>
          <p:cNvSpPr>
            <a:spLocks noGrp="1" noChangeArrowheads="1"/>
          </p:cNvSpPr>
          <p:nvPr>
            <p:ph type="sldNum" sz="quarter" idx="5"/>
          </p:nvPr>
        </p:nvSpPr>
        <p:spPr>
          <a:noFill/>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6C830938-17E0-4F78-B710-300EF5C2F54C}" type="slidenum">
              <a:rPr lang="en-US" altLang="zh-CN" sz="1200" smtClean="0"/>
              <a:pPr/>
              <a:t>130</a:t>
            </a:fld>
            <a:endParaRPr lang="en-US" altLang="zh-CN" sz="1200"/>
          </a:p>
        </p:txBody>
      </p:sp>
      <p:sp>
        <p:nvSpPr>
          <p:cNvPr id="349187" name="Rectangle 2"/>
          <p:cNvSpPr>
            <a:spLocks noGrp="1" noRot="1" noChangeAspect="1" noChangeArrowheads="1" noTextEdit="1"/>
          </p:cNvSpPr>
          <p:nvPr>
            <p:ph type="sldImg"/>
          </p:nvPr>
        </p:nvSpPr>
        <p:spPr>
          <a:ln/>
        </p:spPr>
      </p:sp>
      <p:sp>
        <p:nvSpPr>
          <p:cNvPr id="349188" name="Rectangle 3"/>
          <p:cNvSpPr>
            <a:spLocks noGrp="1" noChangeArrowheads="1"/>
          </p:cNvSpPr>
          <p:nvPr>
            <p:ph type="body" idx="1"/>
          </p:nvPr>
        </p:nvSpPr>
        <p:spPr>
          <a:noFill/>
        </p:spPr>
        <p:txBody>
          <a:bodyPr/>
          <a:lstStyle/>
          <a:p>
            <a:pPr eaLnBrk="1" hangingPunct="1"/>
            <a:endParaRPr lang="zh-CN" altLang="zh-CN"/>
          </a:p>
        </p:txBody>
      </p:sp>
    </p:spTree>
    <p:extLst>
      <p:ext uri="{BB962C8B-B14F-4D97-AF65-F5344CB8AC3E}">
        <p14:creationId xmlns:p14="http://schemas.microsoft.com/office/powerpoint/2010/main" val="124510762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3" name="幻灯片图像占位符 1"/>
          <p:cNvSpPr>
            <a:spLocks noGrp="1" noRot="1" noChangeAspect="1"/>
          </p:cNvSpPr>
          <p:nvPr>
            <p:ph type="sldImg"/>
          </p:nvPr>
        </p:nvSpPr>
        <p:spPr bwMode="auto">
          <a:noFill/>
          <a:ln>
            <a:solidFill>
              <a:srgbClr val="000000"/>
            </a:solidFill>
            <a:miter lim="800000"/>
          </a:ln>
        </p:spPr>
      </p:sp>
      <p:sp>
        <p:nvSpPr>
          <p:cNvPr id="294914" name="备注占位符 2"/>
          <p:cNvSpPr>
            <a:spLocks noGrp="1"/>
          </p:cNvSpPr>
          <p:nvPr>
            <p:ph type="body" idx="1"/>
          </p:nvPr>
        </p:nvSpPr>
        <p:spPr bwMode="auto">
          <a:noFill/>
        </p:spPr>
        <p:txBody>
          <a:bodyPr wrap="square" numCol="1" anchor="t" anchorCtr="0" compatLnSpc="1"/>
          <a:lstStyle/>
          <a:p>
            <a:pPr>
              <a:spcBef>
                <a:spcPct val="0"/>
              </a:spcBef>
            </a:pPr>
            <a:endParaRPr lang="zh-CN" altLang="en-US" smtClean="0"/>
          </a:p>
        </p:txBody>
      </p:sp>
      <p:sp>
        <p:nvSpPr>
          <p:cNvPr id="294915"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4AAA4A30-F643-404A-80F4-58BF81F7EE2C}" type="slidenum">
              <a:rPr lang="zh-CN" altLang="en-US">
                <a:cs typeface="华文仿宋" panose="02010600040101010101" charset="-122"/>
              </a:rPr>
              <a:pPr fontAlgn="base">
                <a:spcBef>
                  <a:spcPct val="0"/>
                </a:spcBef>
                <a:spcAft>
                  <a:spcPct val="0"/>
                </a:spcAft>
              </a:pPr>
              <a:t>138</a:t>
            </a:fld>
            <a:endParaRPr lang="en-US" altLang="zh-CN">
              <a:cs typeface="华文仿宋" panose="02010600040101010101" charset="-122"/>
            </a:endParaRPr>
          </a:p>
        </p:txBody>
      </p:sp>
    </p:spTree>
    <p:extLst>
      <p:ext uri="{BB962C8B-B14F-4D97-AF65-F5344CB8AC3E}">
        <p14:creationId xmlns:p14="http://schemas.microsoft.com/office/powerpoint/2010/main" val="21235734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atin typeface="微软雅黑" pitchFamily="34" charset="-122"/>
                <a:ea typeface="微软雅黑" pitchFamily="34" charset="-122"/>
              </a:defRPr>
            </a:lvl1pPr>
          </a:lstStyle>
          <a:p>
            <a:r>
              <a:rPr lang="en-US" altLang="zh-CN" dirty="0"/>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a:t>Click to edit Master subtitle style</a:t>
            </a:r>
            <a:endParaRPr lang="en-US" dirty="0"/>
          </a:p>
        </p:txBody>
      </p:sp>
      <p:sp>
        <p:nvSpPr>
          <p:cNvPr id="4" name="Date Placeholder 3"/>
          <p:cNvSpPr>
            <a:spLocks noGrp="1"/>
          </p:cNvSpPr>
          <p:nvPr>
            <p:ph type="dt" sz="half" idx="10"/>
          </p:nvPr>
        </p:nvSpPr>
        <p:spPr/>
        <p:txBody>
          <a:bodyPr/>
          <a:lstStyle/>
          <a:p>
            <a:fld id="{D74C9139-4974-48CE-BD57-BC279C5038FF}" type="datetime1">
              <a:rPr lang="zh-CN" altLang="en-US" smtClean="0"/>
              <a:pPr/>
              <a:t>2018/8/3</a:t>
            </a:fld>
            <a:endParaRPr lang="zh-CN" altLang="en-US"/>
          </a:p>
        </p:txBody>
      </p:sp>
      <p:sp>
        <p:nvSpPr>
          <p:cNvPr id="5" name="Footer Placeholder 4"/>
          <p:cNvSpPr>
            <a:spLocks noGrp="1"/>
          </p:cNvSpPr>
          <p:nvPr>
            <p:ph type="ftr" sz="quarter" idx="11"/>
          </p:nvPr>
        </p:nvSpPr>
        <p:spPr/>
        <p:txBody>
          <a:bodyPr/>
          <a:lstStyle/>
          <a:p>
            <a:r>
              <a:rPr lang="en-US" altLang="zh-CN"/>
              <a:t>CH07 Memory Management</a:t>
            </a:r>
            <a:endParaRPr lang="zh-CN" altLang="en-US"/>
          </a:p>
        </p:txBody>
      </p:sp>
      <p:sp>
        <p:nvSpPr>
          <p:cNvPr id="6" name="Slide Number Placeholder 5"/>
          <p:cNvSpPr>
            <a:spLocks noGrp="1"/>
          </p:cNvSpPr>
          <p:nvPr>
            <p:ph type="sldNum" sz="quarter" idx="12"/>
          </p:nvPr>
        </p:nvSpPr>
        <p:spPr/>
        <p:txBody>
          <a:bodyPr/>
          <a:lstStyle/>
          <a:p>
            <a:fld id="{56BAEEBF-3716-487D-AE7C-1F66A971DC3D}" type="slidenum">
              <a:rPr lang="zh-CN" altLang="en-US" smtClean="0"/>
              <a:pPr/>
              <a:t>‹#›</a:t>
            </a:fld>
            <a:endParaRPr lang="zh-CN" altLang="en-US"/>
          </a:p>
        </p:txBody>
      </p:sp>
    </p:spTree>
    <p:extLst>
      <p:ext uri="{BB962C8B-B14F-4D97-AF65-F5344CB8AC3E}">
        <p14:creationId xmlns:p14="http://schemas.microsoft.com/office/powerpoint/2010/main" val="10280417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dirty="0"/>
          </a:p>
        </p:txBody>
      </p:sp>
      <p:sp>
        <p:nvSpPr>
          <p:cNvPr id="3" name="Content Placeholder 2"/>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8C44C51F-CD3A-47BC-AEFF-238AD9206BA5}" type="datetime1">
              <a:rPr lang="zh-CN" altLang="en-US" smtClean="0"/>
              <a:pPr/>
              <a:t>2018/8/3</a:t>
            </a:fld>
            <a:endParaRPr lang="zh-CN" altLang="en-US"/>
          </a:p>
        </p:txBody>
      </p:sp>
      <p:sp>
        <p:nvSpPr>
          <p:cNvPr id="5" name="Footer Placeholder 4"/>
          <p:cNvSpPr>
            <a:spLocks noGrp="1"/>
          </p:cNvSpPr>
          <p:nvPr>
            <p:ph type="ftr" sz="quarter" idx="11"/>
          </p:nvPr>
        </p:nvSpPr>
        <p:spPr/>
        <p:txBody>
          <a:bodyPr/>
          <a:lstStyle/>
          <a:p>
            <a:r>
              <a:rPr lang="en-US" altLang="zh-CN"/>
              <a:t>CH07 Memory Management</a:t>
            </a:r>
            <a:endParaRPr lang="zh-CN" altLang="en-US"/>
          </a:p>
        </p:txBody>
      </p:sp>
      <p:sp>
        <p:nvSpPr>
          <p:cNvPr id="6" name="Slide Number Placeholder 5"/>
          <p:cNvSpPr>
            <a:spLocks noGrp="1"/>
          </p:cNvSpPr>
          <p:nvPr>
            <p:ph type="sldNum" sz="quarter" idx="12"/>
          </p:nvPr>
        </p:nvSpPr>
        <p:spPr/>
        <p:txBody>
          <a:bodyPr/>
          <a:lstStyle/>
          <a:p>
            <a:fld id="{56BAEEBF-3716-487D-AE7C-1F66A971DC3D}" type="slidenum">
              <a:rPr lang="zh-CN" altLang="en-US" smtClean="0"/>
              <a:pPr/>
              <a:t>‹#›</a:t>
            </a:fld>
            <a:endParaRPr lang="zh-CN" altLang="en-US"/>
          </a:p>
        </p:txBody>
      </p:sp>
    </p:spTree>
    <p:extLst>
      <p:ext uri="{BB962C8B-B14F-4D97-AF65-F5344CB8AC3E}">
        <p14:creationId xmlns:p14="http://schemas.microsoft.com/office/powerpoint/2010/main" val="5152039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ltLang="zh-CN"/>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CN"/>
              <a:t>Click to edit Master text styles</a:t>
            </a:r>
          </a:p>
        </p:txBody>
      </p:sp>
      <p:sp>
        <p:nvSpPr>
          <p:cNvPr id="4" name="Date Placeholder 3"/>
          <p:cNvSpPr>
            <a:spLocks noGrp="1"/>
          </p:cNvSpPr>
          <p:nvPr>
            <p:ph type="dt" sz="half" idx="10"/>
          </p:nvPr>
        </p:nvSpPr>
        <p:spPr/>
        <p:txBody>
          <a:bodyPr/>
          <a:lstStyle/>
          <a:p>
            <a:fld id="{5591385F-A3A4-49B9-BA1C-7C70BCF72432}" type="datetime1">
              <a:rPr lang="zh-CN" altLang="en-US" smtClean="0"/>
              <a:pPr/>
              <a:t>2018/8/3</a:t>
            </a:fld>
            <a:endParaRPr lang="zh-CN" altLang="en-US"/>
          </a:p>
        </p:txBody>
      </p:sp>
      <p:sp>
        <p:nvSpPr>
          <p:cNvPr id="5" name="Footer Placeholder 4"/>
          <p:cNvSpPr>
            <a:spLocks noGrp="1"/>
          </p:cNvSpPr>
          <p:nvPr>
            <p:ph type="ftr" sz="quarter" idx="11"/>
          </p:nvPr>
        </p:nvSpPr>
        <p:spPr/>
        <p:txBody>
          <a:bodyPr/>
          <a:lstStyle/>
          <a:p>
            <a:r>
              <a:rPr lang="en-US" altLang="zh-CN"/>
              <a:t>CH07 Memory Management</a:t>
            </a:r>
            <a:endParaRPr lang="zh-CN" altLang="en-US"/>
          </a:p>
        </p:txBody>
      </p:sp>
      <p:sp>
        <p:nvSpPr>
          <p:cNvPr id="6" name="Slide Number Placeholder 5"/>
          <p:cNvSpPr>
            <a:spLocks noGrp="1"/>
          </p:cNvSpPr>
          <p:nvPr>
            <p:ph type="sldNum" sz="quarter" idx="12"/>
          </p:nvPr>
        </p:nvSpPr>
        <p:spPr/>
        <p:txBody>
          <a:bodyPr/>
          <a:lstStyle/>
          <a:p>
            <a:fld id="{56BAEEBF-3716-487D-AE7C-1F66A971DC3D}" type="slidenum">
              <a:rPr lang="zh-CN" altLang="en-US" smtClean="0"/>
              <a:pPr/>
              <a:t>‹#›</a:t>
            </a:fld>
            <a:endParaRPr lang="zh-CN" altLang="en-US"/>
          </a:p>
        </p:txBody>
      </p:sp>
    </p:spTree>
    <p:extLst>
      <p:ext uri="{BB962C8B-B14F-4D97-AF65-F5344CB8AC3E}">
        <p14:creationId xmlns:p14="http://schemas.microsoft.com/office/powerpoint/2010/main" val="13239000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B035A299-52D2-4C16-9E5D-99BACCB8D46E}" type="datetime1">
              <a:rPr lang="zh-CN" altLang="en-US" smtClean="0"/>
              <a:pPr/>
              <a:t>2018/8/3</a:t>
            </a:fld>
            <a:endParaRPr lang="zh-CN" altLang="en-US"/>
          </a:p>
        </p:txBody>
      </p:sp>
      <p:sp>
        <p:nvSpPr>
          <p:cNvPr id="6" name="Footer Placeholder 5"/>
          <p:cNvSpPr>
            <a:spLocks noGrp="1"/>
          </p:cNvSpPr>
          <p:nvPr>
            <p:ph type="ftr" sz="quarter" idx="11"/>
          </p:nvPr>
        </p:nvSpPr>
        <p:spPr/>
        <p:txBody>
          <a:bodyPr/>
          <a:lstStyle/>
          <a:p>
            <a:r>
              <a:rPr lang="en-US" altLang="zh-CN"/>
              <a:t>CH07 Memory Management</a:t>
            </a:r>
            <a:endParaRPr lang="zh-CN" altLang="en-US"/>
          </a:p>
        </p:txBody>
      </p:sp>
      <p:sp>
        <p:nvSpPr>
          <p:cNvPr id="7" name="Slide Number Placeholder 6"/>
          <p:cNvSpPr>
            <a:spLocks noGrp="1"/>
          </p:cNvSpPr>
          <p:nvPr>
            <p:ph type="sldNum" sz="quarter" idx="12"/>
          </p:nvPr>
        </p:nvSpPr>
        <p:spPr/>
        <p:txBody>
          <a:bodyPr/>
          <a:lstStyle/>
          <a:p>
            <a:fld id="{56BAEEBF-3716-487D-AE7C-1F66A971DC3D}" type="slidenum">
              <a:rPr lang="zh-CN" altLang="en-US" smtClean="0"/>
              <a:pPr/>
              <a:t>‹#›</a:t>
            </a:fld>
            <a:endParaRPr lang="zh-CN" altLang="en-US"/>
          </a:p>
        </p:txBody>
      </p:sp>
    </p:spTree>
    <p:extLst>
      <p:ext uri="{BB962C8B-B14F-4D97-AF65-F5344CB8AC3E}">
        <p14:creationId xmlns:p14="http://schemas.microsoft.com/office/powerpoint/2010/main" val="28280877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1F3CB808-0104-4118-992D-56A1F4BAFF68}" type="datetime1">
              <a:rPr lang="zh-CN" altLang="en-US" smtClean="0"/>
              <a:pPr/>
              <a:t>2018/8/3</a:t>
            </a:fld>
            <a:endParaRPr lang="zh-CN" altLang="en-US"/>
          </a:p>
        </p:txBody>
      </p:sp>
      <p:sp>
        <p:nvSpPr>
          <p:cNvPr id="8" name="Footer Placeholder 7"/>
          <p:cNvSpPr>
            <a:spLocks noGrp="1"/>
          </p:cNvSpPr>
          <p:nvPr>
            <p:ph type="ftr" sz="quarter" idx="11"/>
          </p:nvPr>
        </p:nvSpPr>
        <p:spPr/>
        <p:txBody>
          <a:bodyPr/>
          <a:lstStyle/>
          <a:p>
            <a:r>
              <a:rPr lang="en-US" altLang="zh-CN"/>
              <a:t>CH07 Memory Management</a:t>
            </a:r>
            <a:endParaRPr lang="zh-CN" altLang="en-US"/>
          </a:p>
        </p:txBody>
      </p:sp>
      <p:sp>
        <p:nvSpPr>
          <p:cNvPr id="9" name="Slide Number Placeholder 8"/>
          <p:cNvSpPr>
            <a:spLocks noGrp="1"/>
          </p:cNvSpPr>
          <p:nvPr>
            <p:ph type="sldNum" sz="quarter" idx="12"/>
          </p:nvPr>
        </p:nvSpPr>
        <p:spPr/>
        <p:txBody>
          <a:bodyPr/>
          <a:lstStyle/>
          <a:p>
            <a:fld id="{56BAEEBF-3716-487D-AE7C-1F66A971DC3D}" type="slidenum">
              <a:rPr lang="zh-CN" altLang="en-US" smtClean="0"/>
              <a:pPr/>
              <a:t>‹#›</a:t>
            </a:fld>
            <a:endParaRPr lang="zh-CN" altLang="en-US"/>
          </a:p>
        </p:txBody>
      </p:sp>
    </p:spTree>
    <p:extLst>
      <p:ext uri="{BB962C8B-B14F-4D97-AF65-F5344CB8AC3E}">
        <p14:creationId xmlns:p14="http://schemas.microsoft.com/office/powerpoint/2010/main" val="21959134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77FF2283-5FFE-49CC-8E7A-B6F00C4599B9}" type="datetime1">
              <a:rPr lang="zh-CN" altLang="en-US" smtClean="0"/>
              <a:pPr/>
              <a:t>2018/8/3</a:t>
            </a:fld>
            <a:endParaRPr lang="zh-CN" altLang="en-US"/>
          </a:p>
        </p:txBody>
      </p:sp>
      <p:sp>
        <p:nvSpPr>
          <p:cNvPr id="4" name="Footer Placeholder 3"/>
          <p:cNvSpPr>
            <a:spLocks noGrp="1"/>
          </p:cNvSpPr>
          <p:nvPr>
            <p:ph type="ftr" sz="quarter" idx="11"/>
          </p:nvPr>
        </p:nvSpPr>
        <p:spPr/>
        <p:txBody>
          <a:bodyPr/>
          <a:lstStyle/>
          <a:p>
            <a:r>
              <a:rPr lang="en-US" altLang="zh-CN"/>
              <a:t>CH07 Memory Management</a:t>
            </a:r>
            <a:endParaRPr lang="zh-CN" altLang="en-US"/>
          </a:p>
        </p:txBody>
      </p:sp>
      <p:sp>
        <p:nvSpPr>
          <p:cNvPr id="5" name="Slide Number Placeholder 4"/>
          <p:cNvSpPr>
            <a:spLocks noGrp="1"/>
          </p:cNvSpPr>
          <p:nvPr>
            <p:ph type="sldNum" sz="quarter" idx="12"/>
          </p:nvPr>
        </p:nvSpPr>
        <p:spPr/>
        <p:txBody>
          <a:bodyPr/>
          <a:lstStyle/>
          <a:p>
            <a:fld id="{56BAEEBF-3716-487D-AE7C-1F66A971DC3D}" type="slidenum">
              <a:rPr lang="zh-CN" altLang="en-US" smtClean="0"/>
              <a:pPr/>
              <a:t>‹#›</a:t>
            </a:fld>
            <a:endParaRPr lang="zh-CN" altLang="en-US"/>
          </a:p>
        </p:txBody>
      </p:sp>
    </p:spTree>
    <p:extLst>
      <p:ext uri="{BB962C8B-B14F-4D97-AF65-F5344CB8AC3E}">
        <p14:creationId xmlns:p14="http://schemas.microsoft.com/office/powerpoint/2010/main" val="32854353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9BAF196-2E5F-4D91-876C-D271844C16DB}" type="datetime1">
              <a:rPr lang="zh-CN" altLang="en-US" smtClean="0"/>
              <a:pPr/>
              <a:t>2018/8/3</a:t>
            </a:fld>
            <a:endParaRPr lang="zh-CN" altLang="en-US"/>
          </a:p>
        </p:txBody>
      </p:sp>
      <p:sp>
        <p:nvSpPr>
          <p:cNvPr id="3" name="Footer Placeholder 2"/>
          <p:cNvSpPr>
            <a:spLocks noGrp="1"/>
          </p:cNvSpPr>
          <p:nvPr>
            <p:ph type="ftr" sz="quarter" idx="11"/>
          </p:nvPr>
        </p:nvSpPr>
        <p:spPr/>
        <p:txBody>
          <a:bodyPr/>
          <a:lstStyle/>
          <a:p>
            <a:r>
              <a:rPr lang="en-US" altLang="zh-CN"/>
              <a:t>CH07 Memory Management</a:t>
            </a:r>
            <a:endParaRPr lang="zh-CN" altLang="en-US"/>
          </a:p>
        </p:txBody>
      </p:sp>
      <p:sp>
        <p:nvSpPr>
          <p:cNvPr id="4" name="Slide Number Placeholder 3"/>
          <p:cNvSpPr>
            <a:spLocks noGrp="1"/>
          </p:cNvSpPr>
          <p:nvPr>
            <p:ph type="sldNum" sz="quarter" idx="12"/>
          </p:nvPr>
        </p:nvSpPr>
        <p:spPr/>
        <p:txBody>
          <a:bodyPr/>
          <a:lstStyle/>
          <a:p>
            <a:fld id="{56BAEEBF-3716-487D-AE7C-1F66A971DC3D}" type="slidenum">
              <a:rPr lang="zh-CN" altLang="en-US" smtClean="0"/>
              <a:pPr/>
              <a:t>‹#›</a:t>
            </a:fld>
            <a:endParaRPr lang="zh-CN" altLang="en-US"/>
          </a:p>
        </p:txBody>
      </p:sp>
    </p:spTree>
    <p:extLst>
      <p:ext uri="{BB962C8B-B14F-4D97-AF65-F5344CB8AC3E}">
        <p14:creationId xmlns:p14="http://schemas.microsoft.com/office/powerpoint/2010/main" val="3846815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ltLang="zh-CN"/>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953F3D1B-CA6F-4E72-B014-DF6126EEE9CB}" type="datetime1">
              <a:rPr lang="zh-CN" altLang="en-US" smtClean="0"/>
              <a:pPr/>
              <a:t>2018/8/3</a:t>
            </a:fld>
            <a:endParaRPr lang="zh-CN" altLang="en-US"/>
          </a:p>
        </p:txBody>
      </p:sp>
      <p:sp>
        <p:nvSpPr>
          <p:cNvPr id="6" name="Footer Placeholder 5"/>
          <p:cNvSpPr>
            <a:spLocks noGrp="1"/>
          </p:cNvSpPr>
          <p:nvPr>
            <p:ph type="ftr" sz="quarter" idx="11"/>
          </p:nvPr>
        </p:nvSpPr>
        <p:spPr/>
        <p:txBody>
          <a:bodyPr/>
          <a:lstStyle/>
          <a:p>
            <a:r>
              <a:rPr lang="en-US" altLang="zh-CN"/>
              <a:t>CH07 Memory Management</a:t>
            </a:r>
            <a:endParaRPr lang="zh-CN" altLang="en-US"/>
          </a:p>
        </p:txBody>
      </p:sp>
      <p:sp>
        <p:nvSpPr>
          <p:cNvPr id="7" name="Slide Number Placeholder 6"/>
          <p:cNvSpPr>
            <a:spLocks noGrp="1"/>
          </p:cNvSpPr>
          <p:nvPr>
            <p:ph type="sldNum" sz="quarter" idx="12"/>
          </p:nvPr>
        </p:nvSpPr>
        <p:spPr/>
        <p:txBody>
          <a:bodyPr/>
          <a:lstStyle/>
          <a:p>
            <a:fld id="{56BAEEBF-3716-487D-AE7C-1F66A971DC3D}" type="slidenum">
              <a:rPr lang="zh-CN" altLang="en-US" smtClean="0"/>
              <a:pPr/>
              <a:t>‹#›</a:t>
            </a:fld>
            <a:endParaRPr lang="zh-CN" altLang="en-US"/>
          </a:p>
        </p:txBody>
      </p:sp>
    </p:spTree>
    <p:extLst>
      <p:ext uri="{BB962C8B-B14F-4D97-AF65-F5344CB8AC3E}">
        <p14:creationId xmlns:p14="http://schemas.microsoft.com/office/powerpoint/2010/main" val="20448972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zh-CN"/>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F4F0E3DA-70A7-4B09-86A3-D1862B4EA5EA}" type="datetime1">
              <a:rPr lang="zh-CN" altLang="en-US" smtClean="0"/>
              <a:pPr/>
              <a:t>2018/8/3</a:t>
            </a:fld>
            <a:endParaRPr lang="zh-CN" altLang="en-US"/>
          </a:p>
        </p:txBody>
      </p:sp>
      <p:sp>
        <p:nvSpPr>
          <p:cNvPr id="6" name="Footer Placeholder 5"/>
          <p:cNvSpPr>
            <a:spLocks noGrp="1"/>
          </p:cNvSpPr>
          <p:nvPr>
            <p:ph type="ftr" sz="quarter" idx="11"/>
          </p:nvPr>
        </p:nvSpPr>
        <p:spPr/>
        <p:txBody>
          <a:bodyPr/>
          <a:lstStyle/>
          <a:p>
            <a:r>
              <a:rPr lang="en-US" altLang="zh-CN"/>
              <a:t>CH07 Memory Management</a:t>
            </a:r>
            <a:endParaRPr lang="zh-CN" altLang="en-US"/>
          </a:p>
        </p:txBody>
      </p:sp>
      <p:sp>
        <p:nvSpPr>
          <p:cNvPr id="7" name="Slide Number Placeholder 6"/>
          <p:cNvSpPr>
            <a:spLocks noGrp="1"/>
          </p:cNvSpPr>
          <p:nvPr>
            <p:ph type="sldNum" sz="quarter" idx="12"/>
          </p:nvPr>
        </p:nvSpPr>
        <p:spPr/>
        <p:txBody>
          <a:bodyPr/>
          <a:lstStyle/>
          <a:p>
            <a:fld id="{56BAEEBF-3716-487D-AE7C-1F66A971DC3D}" type="slidenum">
              <a:rPr lang="zh-CN" altLang="en-US" smtClean="0"/>
              <a:pPr/>
              <a:t>‹#›</a:t>
            </a:fld>
            <a:endParaRPr lang="zh-CN" altLang="en-US"/>
          </a:p>
        </p:txBody>
      </p:sp>
    </p:spTree>
    <p:extLst>
      <p:ext uri="{BB962C8B-B14F-4D97-AF65-F5344CB8AC3E}">
        <p14:creationId xmlns:p14="http://schemas.microsoft.com/office/powerpoint/2010/main" val="3148769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6BA50A43-A320-40BD-8EC5-B40F97EFBEFB}" type="datetime1">
              <a:rPr lang="zh-CN" altLang="en-US" smtClean="0"/>
              <a:pPr/>
              <a:t>2018/8/3</a:t>
            </a:fld>
            <a:endParaRPr lang="zh-CN" altLang="en-US"/>
          </a:p>
        </p:txBody>
      </p:sp>
      <p:sp>
        <p:nvSpPr>
          <p:cNvPr id="5" name="Footer Placeholder 4"/>
          <p:cNvSpPr>
            <a:spLocks noGrp="1"/>
          </p:cNvSpPr>
          <p:nvPr>
            <p:ph type="ftr" sz="quarter" idx="11"/>
          </p:nvPr>
        </p:nvSpPr>
        <p:spPr/>
        <p:txBody>
          <a:bodyPr/>
          <a:lstStyle/>
          <a:p>
            <a:r>
              <a:rPr lang="en-US" altLang="zh-CN"/>
              <a:t>CH07 Memory Management</a:t>
            </a:r>
            <a:endParaRPr lang="zh-CN" altLang="en-US"/>
          </a:p>
        </p:txBody>
      </p:sp>
      <p:sp>
        <p:nvSpPr>
          <p:cNvPr id="6" name="Slide Number Placeholder 5"/>
          <p:cNvSpPr>
            <a:spLocks noGrp="1"/>
          </p:cNvSpPr>
          <p:nvPr>
            <p:ph type="sldNum" sz="quarter" idx="12"/>
          </p:nvPr>
        </p:nvSpPr>
        <p:spPr/>
        <p:txBody>
          <a:bodyPr/>
          <a:lstStyle/>
          <a:p>
            <a:fld id="{56BAEEBF-3716-487D-AE7C-1F66A971DC3D}" type="slidenum">
              <a:rPr lang="zh-CN" altLang="en-US" smtClean="0"/>
              <a:pPr/>
              <a:t>‹#›</a:t>
            </a:fld>
            <a:endParaRPr lang="zh-CN" altLang="en-US"/>
          </a:p>
        </p:txBody>
      </p:sp>
    </p:spTree>
    <p:extLst>
      <p:ext uri="{BB962C8B-B14F-4D97-AF65-F5344CB8AC3E}">
        <p14:creationId xmlns:p14="http://schemas.microsoft.com/office/powerpoint/2010/main" val="27867774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BF8F2367-F37E-4E21-AFC2-A3594903E576}" type="datetime1">
              <a:rPr lang="zh-CN" altLang="en-US" smtClean="0"/>
              <a:pPr/>
              <a:t>2018/8/3</a:t>
            </a:fld>
            <a:endParaRPr lang="zh-CN" altLang="en-US"/>
          </a:p>
        </p:txBody>
      </p:sp>
      <p:sp>
        <p:nvSpPr>
          <p:cNvPr id="5" name="Footer Placeholder 4"/>
          <p:cNvSpPr>
            <a:spLocks noGrp="1"/>
          </p:cNvSpPr>
          <p:nvPr>
            <p:ph type="ftr" sz="quarter" idx="11"/>
          </p:nvPr>
        </p:nvSpPr>
        <p:spPr/>
        <p:txBody>
          <a:bodyPr/>
          <a:lstStyle/>
          <a:p>
            <a:r>
              <a:rPr lang="en-US" altLang="zh-CN"/>
              <a:t>CH07 Memory Management</a:t>
            </a:r>
            <a:endParaRPr lang="zh-CN" altLang="en-US"/>
          </a:p>
        </p:txBody>
      </p:sp>
      <p:sp>
        <p:nvSpPr>
          <p:cNvPr id="6" name="Slide Number Placeholder 5"/>
          <p:cNvSpPr>
            <a:spLocks noGrp="1"/>
          </p:cNvSpPr>
          <p:nvPr>
            <p:ph type="sldNum" sz="quarter" idx="12"/>
          </p:nvPr>
        </p:nvSpPr>
        <p:spPr/>
        <p:txBody>
          <a:bodyPr/>
          <a:lstStyle/>
          <a:p>
            <a:fld id="{56BAEEBF-3716-487D-AE7C-1F66A971DC3D}" type="slidenum">
              <a:rPr lang="zh-CN" altLang="en-US" smtClean="0"/>
              <a:pPr/>
              <a:t>‹#›</a:t>
            </a:fld>
            <a:endParaRPr lang="zh-CN" altLang="en-US"/>
          </a:p>
        </p:txBody>
      </p:sp>
    </p:spTree>
    <p:extLst>
      <p:ext uri="{BB962C8B-B14F-4D97-AF65-F5344CB8AC3E}">
        <p14:creationId xmlns:p14="http://schemas.microsoft.com/office/powerpoint/2010/main" val="13198546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3588" y="157309"/>
            <a:ext cx="7886700" cy="693274"/>
          </a:xfrm>
          <a:prstGeom prst="rect">
            <a:avLst/>
          </a:prstGeom>
        </p:spPr>
        <p:txBody>
          <a:bodyPr vert="horz" lIns="91440" tIns="45720" rIns="91440" bIns="45720" rtlCol="0" anchor="ctr">
            <a:normAutofit/>
          </a:bodyPr>
          <a:lstStyle/>
          <a:p>
            <a:r>
              <a:rPr lang="en-US" altLang="zh-CN" dirty="0"/>
              <a:t>Click to edit Master title style</a:t>
            </a:r>
            <a:endParaRPr lang="en-US" dirty="0"/>
          </a:p>
        </p:txBody>
      </p:sp>
      <p:sp>
        <p:nvSpPr>
          <p:cNvPr id="3" name="Text Placeholder 2"/>
          <p:cNvSpPr>
            <a:spLocks noGrp="1"/>
          </p:cNvSpPr>
          <p:nvPr>
            <p:ph type="body" idx="1"/>
          </p:nvPr>
        </p:nvSpPr>
        <p:spPr>
          <a:xfrm>
            <a:off x="628650" y="1317600"/>
            <a:ext cx="7886700" cy="4917600"/>
          </a:xfrm>
          <a:prstGeom prst="rect">
            <a:avLst/>
          </a:prstGeom>
        </p:spPr>
        <p:txBody>
          <a:bodyPr vert="horz" lIns="91440" tIns="45720" rIns="91440" bIns="45720" rtlCol="0">
            <a:normAutofit/>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100">
                <a:solidFill>
                  <a:schemeClr val="tx1">
                    <a:tint val="75000"/>
                  </a:schemeClr>
                </a:solidFill>
                <a:latin typeface="Segoe UI Symbol" panose="020B0502040204020203" pitchFamily="34" charset="0"/>
              </a:defRPr>
            </a:lvl1pPr>
          </a:lstStyle>
          <a:p>
            <a:fld id="{FF66F40E-84CA-443D-B4AD-51609BA8E257}" type="datetime1">
              <a:rPr lang="zh-CN" altLang="en-US" smtClean="0"/>
              <a:pPr/>
              <a:t>2018/8/3</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100">
                <a:solidFill>
                  <a:schemeClr val="tx1">
                    <a:tint val="75000"/>
                  </a:schemeClr>
                </a:solidFill>
                <a:latin typeface="Segoe UI Symbol" panose="020B0502040204020203" pitchFamily="34" charset="0"/>
              </a:defRPr>
            </a:lvl1pPr>
          </a:lstStyle>
          <a:p>
            <a:r>
              <a:rPr lang="en-US" altLang="zh-CN">
                <a:ea typeface="Segoe UI Symbol" panose="020B0502040204020203" pitchFamily="34" charset="0"/>
              </a:rPr>
              <a:t>CH07 Memory Management</a:t>
            </a:r>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100">
                <a:solidFill>
                  <a:schemeClr val="tx1">
                    <a:tint val="75000"/>
                  </a:schemeClr>
                </a:solidFill>
                <a:latin typeface="Segoe UI Symbol" panose="020B0502040204020203" pitchFamily="34" charset="0"/>
              </a:defRPr>
            </a:lvl1pPr>
          </a:lstStyle>
          <a:p>
            <a:fld id="{56BAEEBF-3716-487D-AE7C-1F66A971DC3D}" type="slidenum">
              <a:rPr lang="zh-CN" altLang="en-US" smtClean="0"/>
              <a:pPr/>
              <a:t>‹#›</a:t>
            </a:fld>
            <a:endParaRPr lang="zh-CN" altLang="en-US"/>
          </a:p>
        </p:txBody>
      </p:sp>
    </p:spTree>
    <p:extLst>
      <p:ext uri="{BB962C8B-B14F-4D97-AF65-F5344CB8AC3E}">
        <p14:creationId xmlns:p14="http://schemas.microsoft.com/office/powerpoint/2010/main" val="15612909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ctr" defTabSz="914400" rtl="0" eaLnBrk="1" latinLnBrk="0" hangingPunct="1">
        <a:lnSpc>
          <a:spcPct val="90000"/>
        </a:lnSpc>
        <a:spcBef>
          <a:spcPct val="0"/>
        </a:spcBef>
        <a:buNone/>
        <a:defRPr sz="3600" kern="1200">
          <a:solidFill>
            <a:schemeClr val="tx1"/>
          </a:solidFill>
          <a:latin typeface="微软雅黑" pitchFamily="34" charset="-122"/>
          <a:ea typeface="微软雅黑" pitchFamily="34" charset="-122"/>
          <a:cs typeface="微软雅黑" pitchFamily="34" charset="-122"/>
        </a:defRPr>
      </a:lvl1pPr>
    </p:titleStyle>
    <p:bodyStyle>
      <a:lvl1pPr marL="228600" indent="-228600" algn="l" defTabSz="914400" rtl="0" eaLnBrk="1" latinLnBrk="0" hangingPunct="1">
        <a:lnSpc>
          <a:spcPct val="125000"/>
        </a:lnSpc>
        <a:spcBef>
          <a:spcPts val="1000"/>
        </a:spcBef>
        <a:buFont typeface="Arial" panose="020B0604020202020204" pitchFamily="34" charset="0"/>
        <a:buChar char="•"/>
        <a:defRPr sz="2400" kern="1200">
          <a:solidFill>
            <a:schemeClr val="tx1"/>
          </a:solidFill>
          <a:latin typeface="微软雅黑" pitchFamily="34" charset="-122"/>
          <a:ea typeface="微软雅黑" pitchFamily="34" charset="-122"/>
          <a:cs typeface="微软雅黑" pitchFamily="34" charset="-122"/>
        </a:defRPr>
      </a:lvl1pPr>
      <a:lvl2pPr marL="685800" indent="-228600" algn="l" defTabSz="914400" rtl="0" eaLnBrk="1" latinLnBrk="0" hangingPunct="1">
        <a:lnSpc>
          <a:spcPct val="125000"/>
        </a:lnSpc>
        <a:spcBef>
          <a:spcPts val="500"/>
        </a:spcBef>
        <a:buFont typeface="Arial" panose="020B0604020202020204" pitchFamily="34" charset="0"/>
        <a:buChar char="•"/>
        <a:defRPr sz="2000" kern="1200">
          <a:solidFill>
            <a:schemeClr val="tx1"/>
          </a:solidFill>
          <a:latin typeface="微软雅黑" pitchFamily="34" charset="-122"/>
          <a:ea typeface="微软雅黑" pitchFamily="34" charset="-122"/>
          <a:cs typeface="微软雅黑" pitchFamily="34" charset="-122"/>
        </a:defRPr>
      </a:lvl2pPr>
      <a:lvl3pPr marL="1143000" indent="-228600" algn="l" defTabSz="914400" rtl="0" eaLnBrk="1" latinLnBrk="0" hangingPunct="1">
        <a:lnSpc>
          <a:spcPct val="125000"/>
        </a:lnSpc>
        <a:spcBef>
          <a:spcPts val="500"/>
        </a:spcBef>
        <a:buFont typeface="Arial" panose="020B0604020202020204" pitchFamily="34" charset="0"/>
        <a:buChar char="•"/>
        <a:defRPr sz="1800" kern="1200">
          <a:solidFill>
            <a:schemeClr val="tx1"/>
          </a:solidFill>
          <a:latin typeface="微软雅黑" pitchFamily="34" charset="-122"/>
          <a:ea typeface="微软雅黑" pitchFamily="34" charset="-122"/>
          <a:cs typeface="微软雅黑" pitchFamily="34" charset="-122"/>
        </a:defRPr>
      </a:lvl3pPr>
      <a:lvl4pPr marL="1600200" indent="-228600" algn="l" defTabSz="914400" rtl="0" eaLnBrk="1" latinLnBrk="0" hangingPunct="1">
        <a:lnSpc>
          <a:spcPct val="125000"/>
        </a:lnSpc>
        <a:spcBef>
          <a:spcPts val="500"/>
        </a:spcBef>
        <a:buFont typeface="Arial" panose="020B0604020202020204" pitchFamily="34" charset="0"/>
        <a:buChar char="•"/>
        <a:defRPr sz="1800" kern="1200">
          <a:solidFill>
            <a:schemeClr val="tx1"/>
          </a:solidFill>
          <a:latin typeface="微软雅黑" pitchFamily="34" charset="-122"/>
          <a:ea typeface="微软雅黑" pitchFamily="34" charset="-122"/>
          <a:cs typeface="微软雅黑" pitchFamily="34" charset="-122"/>
        </a:defRPr>
      </a:lvl4pPr>
      <a:lvl5pPr marL="2057400" indent="-228600" algn="l" defTabSz="914400" rtl="0" eaLnBrk="1" latinLnBrk="0" hangingPunct="1">
        <a:lnSpc>
          <a:spcPct val="125000"/>
        </a:lnSpc>
        <a:spcBef>
          <a:spcPts val="500"/>
        </a:spcBef>
        <a:buFont typeface="Arial" panose="020B0604020202020204" pitchFamily="34" charset="0"/>
        <a:buChar char="•"/>
        <a:defRPr sz="1800" kern="1200">
          <a:solidFill>
            <a:schemeClr val="tx1"/>
          </a:solidFill>
          <a:latin typeface="微软雅黑" pitchFamily="34" charset="-122"/>
          <a:ea typeface="微软雅黑" pitchFamily="34" charset="-122"/>
          <a:cs typeface="微软雅黑" pitchFamily="3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2.emf"/></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13.wmf"/></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18.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024697"/>
          </a:xfrm>
        </p:spPr>
        <p:txBody>
          <a:bodyPr>
            <a:normAutofit/>
          </a:bodyPr>
          <a:lstStyle/>
          <a:p>
            <a:r>
              <a:rPr lang="zh-CN" altLang="en-US" sz="4800" dirty="0"/>
              <a:t>第</a:t>
            </a:r>
            <a:r>
              <a:rPr lang="en-US" altLang="zh-CN" sz="4800" dirty="0"/>
              <a:t>7</a:t>
            </a:r>
            <a:r>
              <a:rPr lang="zh-CN" altLang="en-US" sz="4800" dirty="0"/>
              <a:t>章  存储管理</a:t>
            </a:r>
          </a:p>
        </p:txBody>
      </p:sp>
      <p:sp>
        <p:nvSpPr>
          <p:cNvPr id="3" name="Subtitle 2"/>
          <p:cNvSpPr>
            <a:spLocks noGrp="1"/>
          </p:cNvSpPr>
          <p:nvPr>
            <p:ph type="subTitle" idx="1"/>
          </p:nvPr>
        </p:nvSpPr>
        <p:spPr>
          <a:xfrm>
            <a:off x="1143000" y="3815398"/>
            <a:ext cx="6858000" cy="1655762"/>
          </a:xfrm>
        </p:spPr>
        <p:txBody>
          <a:bodyPr>
            <a:normAutofit/>
          </a:bodyPr>
          <a:lstStyle/>
          <a:p>
            <a:r>
              <a:rPr lang="zh-CN" altLang="en-US" b="1" dirty="0" smtClean="0">
                <a:latin typeface="楷体" panose="02010609060101010101" pitchFamily="49" charset="-122"/>
                <a:ea typeface="楷体" panose="02010609060101010101" pitchFamily="49" charset="-122"/>
              </a:rPr>
              <a:t>朱宗卫</a:t>
            </a:r>
            <a:endParaRPr lang="en-US" altLang="zh-CN" b="1" dirty="0">
              <a:latin typeface="楷体" panose="02010609060101010101" pitchFamily="49" charset="-122"/>
              <a:ea typeface="楷体" panose="02010609060101010101" pitchFamily="49" charset="-122"/>
            </a:endParaRPr>
          </a:p>
          <a:p>
            <a:r>
              <a:rPr lang="zh-CN" altLang="en-US" b="1" dirty="0" smtClean="0">
                <a:latin typeface="楷体" panose="02010609060101010101" pitchFamily="49" charset="-122"/>
                <a:ea typeface="楷体" panose="02010609060101010101" pitchFamily="49" charset="-122"/>
              </a:rPr>
              <a:t>中国科学技术大学   软件学院</a:t>
            </a:r>
            <a:endParaRPr lang="en-US" altLang="zh-CN" b="1" dirty="0">
              <a:latin typeface="楷体" panose="02010609060101010101" pitchFamily="49" charset="-122"/>
              <a:ea typeface="楷体" panose="02010609060101010101" pitchFamily="49" charset="-122"/>
            </a:endParaRPr>
          </a:p>
          <a:p>
            <a:endParaRPr lang="zh-CN" altLang="en-US" b="1"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2020533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主要内容</a:t>
            </a:r>
          </a:p>
        </p:txBody>
      </p:sp>
      <p:sp>
        <p:nvSpPr>
          <p:cNvPr id="3" name="Content Placeholder 2"/>
          <p:cNvSpPr>
            <a:spLocks noGrp="1"/>
          </p:cNvSpPr>
          <p:nvPr>
            <p:ph idx="1"/>
          </p:nvPr>
        </p:nvSpPr>
        <p:spPr/>
        <p:txBody>
          <a:bodyPr/>
          <a:lstStyle/>
          <a:p>
            <a:r>
              <a:rPr lang="zh-CN" altLang="en-US" dirty="0"/>
              <a:t>存储管理的功能与目标</a:t>
            </a:r>
            <a:endParaRPr lang="en-US" altLang="zh-CN" dirty="0"/>
          </a:p>
          <a:p>
            <a:r>
              <a:rPr lang="zh-CN" altLang="en-US" dirty="0"/>
              <a:t>分区存储管理</a:t>
            </a:r>
            <a:endParaRPr lang="en-US" altLang="zh-CN" dirty="0"/>
          </a:p>
          <a:p>
            <a:r>
              <a:rPr lang="zh-CN" altLang="en-US" dirty="0"/>
              <a:t>覆盖与交换技术</a:t>
            </a:r>
            <a:endParaRPr lang="en-US" altLang="zh-CN" dirty="0"/>
          </a:p>
          <a:p>
            <a:r>
              <a:rPr lang="zh-CN" altLang="en-US" dirty="0"/>
              <a:t>页式与段式存储管理机制</a:t>
            </a:r>
            <a:endParaRPr lang="en-US" altLang="zh-CN" dirty="0"/>
          </a:p>
          <a:p>
            <a:r>
              <a:rPr lang="zh-CN" altLang="en-US" dirty="0"/>
              <a:t>虚拟存储器（重中之重）</a:t>
            </a:r>
          </a:p>
        </p:txBody>
      </p:sp>
      <p:sp>
        <p:nvSpPr>
          <p:cNvPr id="4" name="Date Placeholder 3"/>
          <p:cNvSpPr>
            <a:spLocks noGrp="1"/>
          </p:cNvSpPr>
          <p:nvPr>
            <p:ph type="dt" sz="half" idx="10"/>
          </p:nvPr>
        </p:nvSpPr>
        <p:spPr/>
        <p:txBody>
          <a:bodyPr/>
          <a:lstStyle/>
          <a:p>
            <a:fld id="{8425E9F9-698D-4C92-9BF0-E792D1372B2D}"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2</a:t>
            </a:fld>
            <a:endParaRPr lang="zh-CN" altLang="en-US" dirty="0"/>
          </a:p>
        </p:txBody>
      </p:sp>
    </p:spTree>
    <p:extLst>
      <p:ext uri="{BB962C8B-B14F-4D97-AF65-F5344CB8AC3E}">
        <p14:creationId xmlns:p14="http://schemas.microsoft.com/office/powerpoint/2010/main" val="1698723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主要内容</a:t>
            </a:r>
          </a:p>
        </p:txBody>
      </p:sp>
      <p:sp>
        <p:nvSpPr>
          <p:cNvPr id="3" name="Content Placeholder 2"/>
          <p:cNvSpPr>
            <a:spLocks noGrp="1"/>
          </p:cNvSpPr>
          <p:nvPr>
            <p:ph idx="1"/>
          </p:nvPr>
        </p:nvSpPr>
        <p:spPr/>
        <p:txBody>
          <a:bodyPr/>
          <a:lstStyle/>
          <a:p>
            <a:r>
              <a:rPr lang="zh-CN" altLang="en-US" dirty="0">
                <a:solidFill>
                  <a:srgbClr val="FFC000"/>
                </a:solidFill>
              </a:rPr>
              <a:t>存储管理的功能与目标</a:t>
            </a:r>
            <a:endParaRPr lang="en-US" altLang="zh-CN" dirty="0">
              <a:solidFill>
                <a:srgbClr val="FFC000"/>
              </a:solidFill>
            </a:endParaRPr>
          </a:p>
          <a:p>
            <a:r>
              <a:rPr lang="zh-CN" altLang="en-US" dirty="0">
                <a:solidFill>
                  <a:schemeClr val="bg1">
                    <a:lumMod val="85000"/>
                  </a:schemeClr>
                </a:solidFill>
              </a:rPr>
              <a:t>分区存储管理</a:t>
            </a:r>
            <a:endParaRPr lang="en-US" altLang="zh-CN" dirty="0">
              <a:solidFill>
                <a:schemeClr val="bg1">
                  <a:lumMod val="85000"/>
                </a:schemeClr>
              </a:solidFill>
            </a:endParaRPr>
          </a:p>
          <a:p>
            <a:r>
              <a:rPr lang="zh-CN" altLang="en-US" dirty="0">
                <a:solidFill>
                  <a:schemeClr val="bg1">
                    <a:lumMod val="85000"/>
                  </a:schemeClr>
                </a:solidFill>
              </a:rPr>
              <a:t>覆盖与交换技术</a:t>
            </a:r>
            <a:endParaRPr lang="en-US" altLang="zh-CN" dirty="0">
              <a:solidFill>
                <a:schemeClr val="bg1">
                  <a:lumMod val="85000"/>
                </a:schemeClr>
              </a:solidFill>
            </a:endParaRPr>
          </a:p>
          <a:p>
            <a:r>
              <a:rPr lang="zh-CN" altLang="en-US" dirty="0">
                <a:solidFill>
                  <a:schemeClr val="bg1">
                    <a:lumMod val="85000"/>
                  </a:schemeClr>
                </a:solidFill>
              </a:rPr>
              <a:t>页式与段式存储管理机制</a:t>
            </a:r>
            <a:endParaRPr lang="en-US" altLang="zh-CN" dirty="0">
              <a:solidFill>
                <a:schemeClr val="bg1">
                  <a:lumMod val="85000"/>
                </a:schemeClr>
              </a:solidFill>
            </a:endParaRPr>
          </a:p>
          <a:p>
            <a:r>
              <a:rPr lang="zh-CN" altLang="en-US" dirty="0">
                <a:solidFill>
                  <a:schemeClr val="bg1">
                    <a:lumMod val="85000"/>
                  </a:schemeClr>
                </a:solidFill>
              </a:rPr>
              <a:t>虚拟存储器（重中之重）</a:t>
            </a:r>
          </a:p>
        </p:txBody>
      </p:sp>
      <p:sp>
        <p:nvSpPr>
          <p:cNvPr id="4" name="Date Placeholder 3"/>
          <p:cNvSpPr>
            <a:spLocks noGrp="1"/>
          </p:cNvSpPr>
          <p:nvPr>
            <p:ph type="dt" sz="half" idx="10"/>
          </p:nvPr>
        </p:nvSpPr>
        <p:spPr/>
        <p:txBody>
          <a:bodyPr/>
          <a:lstStyle/>
          <a:p>
            <a:fld id="{3DCFC1C4-0283-4147-88B9-A46CAC3A6D23}"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3</a:t>
            </a:fld>
            <a:endParaRPr lang="zh-CN" altLang="en-US" dirty="0"/>
          </a:p>
        </p:txBody>
      </p:sp>
    </p:spTree>
    <p:extLst>
      <p:ext uri="{BB962C8B-B14F-4D97-AF65-F5344CB8AC3E}">
        <p14:creationId xmlns:p14="http://schemas.microsoft.com/office/powerpoint/2010/main" val="8355723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存储管理</a:t>
            </a:r>
          </a:p>
        </p:txBody>
      </p:sp>
      <p:sp>
        <p:nvSpPr>
          <p:cNvPr id="3" name="Content Placeholder 2"/>
          <p:cNvSpPr>
            <a:spLocks noGrp="1"/>
          </p:cNvSpPr>
          <p:nvPr>
            <p:ph idx="1"/>
          </p:nvPr>
        </p:nvSpPr>
        <p:spPr/>
        <p:txBody>
          <a:bodyPr/>
          <a:lstStyle/>
          <a:p>
            <a:r>
              <a:rPr lang="zh-CN" altLang="en-US" dirty="0"/>
              <a:t>存储器</a:t>
            </a:r>
            <a:endParaRPr lang="en-US" altLang="zh-CN" dirty="0"/>
          </a:p>
          <a:p>
            <a:pPr lvl="1"/>
            <a:r>
              <a:rPr lang="zh-CN" altLang="en-US" dirty="0"/>
              <a:t>功能是保存数据，发展方向是高速、大容量和小体积</a:t>
            </a:r>
            <a:endParaRPr lang="en-US" altLang="zh-CN" dirty="0"/>
          </a:p>
          <a:p>
            <a:endParaRPr lang="en-US" altLang="zh-CN" dirty="0"/>
          </a:p>
          <a:p>
            <a:r>
              <a:rPr lang="zh-CN" altLang="en-US" dirty="0"/>
              <a:t>存储组织</a:t>
            </a:r>
            <a:endParaRPr lang="en-US" altLang="zh-CN" dirty="0"/>
          </a:p>
          <a:p>
            <a:pPr lvl="1"/>
            <a:r>
              <a:rPr lang="zh-CN" altLang="en-US" dirty="0"/>
              <a:t>在存储技术和</a:t>
            </a:r>
            <a:r>
              <a:rPr lang="en-US" altLang="zh-CN" dirty="0"/>
              <a:t>CPU</a:t>
            </a:r>
            <a:r>
              <a:rPr lang="zh-CN" altLang="en-US" dirty="0"/>
              <a:t>寻址许可的范围内组织合理的存储结构</a:t>
            </a:r>
            <a:endParaRPr lang="en-US" altLang="zh-CN" dirty="0"/>
          </a:p>
          <a:p>
            <a:pPr lvl="1"/>
            <a:r>
              <a:rPr lang="zh-CN" altLang="en-US" dirty="0"/>
              <a:t>依据是访问速度、容量、价格等因素</a:t>
            </a:r>
            <a:endParaRPr lang="en-US" altLang="zh-CN" dirty="0"/>
          </a:p>
          <a:p>
            <a:pPr lvl="1"/>
            <a:r>
              <a:rPr lang="zh-CN" altLang="en-US" dirty="0"/>
              <a:t>当前典型的存储体系结构</a:t>
            </a:r>
            <a:endParaRPr lang="en-US" altLang="zh-CN" dirty="0"/>
          </a:p>
          <a:p>
            <a:pPr lvl="2"/>
            <a:r>
              <a:rPr lang="zh-CN" altLang="en-US" dirty="0"/>
              <a:t>寄存器</a:t>
            </a:r>
            <a:r>
              <a:rPr lang="en-US" altLang="zh-CN" dirty="0"/>
              <a:t>-</a:t>
            </a:r>
            <a:r>
              <a:rPr lang="zh-CN" altLang="en-US" dirty="0"/>
              <a:t>缓存</a:t>
            </a:r>
            <a:r>
              <a:rPr lang="en-US" altLang="zh-CN" dirty="0"/>
              <a:t>-</a:t>
            </a:r>
            <a:r>
              <a:rPr lang="zh-CN" altLang="en-US" dirty="0"/>
              <a:t>内存</a:t>
            </a:r>
            <a:r>
              <a:rPr lang="en-US" altLang="zh-CN" dirty="0"/>
              <a:t>-</a:t>
            </a:r>
            <a:r>
              <a:rPr lang="zh-CN" altLang="en-US" dirty="0"/>
              <a:t>外存</a:t>
            </a:r>
          </a:p>
        </p:txBody>
      </p:sp>
      <p:sp>
        <p:nvSpPr>
          <p:cNvPr id="4" name="Date Placeholder 3"/>
          <p:cNvSpPr>
            <a:spLocks noGrp="1"/>
          </p:cNvSpPr>
          <p:nvPr>
            <p:ph type="dt" sz="half" idx="10"/>
          </p:nvPr>
        </p:nvSpPr>
        <p:spPr/>
        <p:txBody>
          <a:bodyPr/>
          <a:lstStyle/>
          <a:p>
            <a:fld id="{BF90BC44-7C81-4AAB-86B1-AB174D4F329B}"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4</a:t>
            </a:fld>
            <a:endParaRPr lang="zh-CN" altLang="en-US" dirty="0"/>
          </a:p>
        </p:txBody>
      </p:sp>
    </p:spTree>
    <p:extLst>
      <p:ext uri="{BB962C8B-B14F-4D97-AF65-F5344CB8AC3E}">
        <p14:creationId xmlns:p14="http://schemas.microsoft.com/office/powerpoint/2010/main" val="26066039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存储体系结构</a:t>
            </a:r>
          </a:p>
        </p:txBody>
      </p:sp>
      <p:sp>
        <p:nvSpPr>
          <p:cNvPr id="4" name="Date Placeholder 3"/>
          <p:cNvSpPr>
            <a:spLocks noGrp="1"/>
          </p:cNvSpPr>
          <p:nvPr>
            <p:ph type="dt" sz="half" idx="10"/>
          </p:nvPr>
        </p:nvSpPr>
        <p:spPr/>
        <p:txBody>
          <a:bodyPr/>
          <a:lstStyle/>
          <a:p>
            <a:fld id="{734137C1-417C-4496-A9C5-43847046D1F6}"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5</a:t>
            </a:fld>
            <a:endParaRPr lang="zh-CN" altLang="en-US" dirty="0"/>
          </a:p>
        </p:txBody>
      </p:sp>
      <p:pic>
        <p:nvPicPr>
          <p:cNvPr id="7" name="Picture 6"/>
          <p:cNvPicPr>
            <a:picLocks noChangeAspect="1"/>
          </p:cNvPicPr>
          <p:nvPr/>
        </p:nvPicPr>
        <p:blipFill>
          <a:blip r:embed="rId2"/>
          <a:stretch>
            <a:fillRect/>
          </a:stretch>
        </p:blipFill>
        <p:spPr>
          <a:xfrm>
            <a:off x="777815" y="1559870"/>
            <a:ext cx="4971653" cy="4550116"/>
          </a:xfrm>
          <a:prstGeom prst="rect">
            <a:avLst/>
          </a:prstGeom>
        </p:spPr>
      </p:pic>
      <p:cxnSp>
        <p:nvCxnSpPr>
          <p:cNvPr id="9" name="Straight Arrow Connector 8"/>
          <p:cNvCxnSpPr/>
          <p:nvPr/>
        </p:nvCxnSpPr>
        <p:spPr>
          <a:xfrm>
            <a:off x="6372200" y="1998724"/>
            <a:ext cx="0" cy="36724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5796136" y="5842139"/>
            <a:ext cx="1152128" cy="646331"/>
          </a:xfrm>
          <a:prstGeom prst="rect">
            <a:avLst/>
          </a:prstGeom>
          <a:noFill/>
        </p:spPr>
        <p:txBody>
          <a:bodyPr wrap="square" rtlCol="0">
            <a:spAutoFit/>
          </a:bodyPr>
          <a:lstStyle/>
          <a:p>
            <a:pPr algn="ctr"/>
            <a:r>
              <a:rPr lang="zh-CN" altLang="en-US" b="1" dirty="0">
                <a:solidFill>
                  <a:srgbClr val="0000FF"/>
                </a:solidFill>
                <a:latin typeface="楷体" panose="02010609060101010101" pitchFamily="49" charset="-122"/>
                <a:ea typeface="楷体" panose="02010609060101010101" pitchFamily="49" charset="-122"/>
              </a:rPr>
              <a:t>容量</a:t>
            </a:r>
            <a:endParaRPr lang="en-US" altLang="zh-CN" b="1" dirty="0">
              <a:solidFill>
                <a:srgbClr val="0000FF"/>
              </a:solidFill>
              <a:latin typeface="楷体" panose="02010609060101010101" pitchFamily="49" charset="-122"/>
              <a:ea typeface="楷体" panose="02010609060101010101" pitchFamily="49" charset="-122"/>
            </a:endParaRPr>
          </a:p>
          <a:p>
            <a:pPr algn="ctr"/>
            <a:r>
              <a:rPr lang="zh-CN" altLang="en-US" b="1" dirty="0">
                <a:solidFill>
                  <a:srgbClr val="0000FF"/>
                </a:solidFill>
                <a:latin typeface="楷体" panose="02010609060101010101" pitchFamily="49" charset="-122"/>
                <a:ea typeface="楷体" panose="02010609060101010101" pitchFamily="49" charset="-122"/>
              </a:rPr>
              <a:t>更大</a:t>
            </a:r>
          </a:p>
        </p:txBody>
      </p:sp>
      <p:cxnSp>
        <p:nvCxnSpPr>
          <p:cNvPr id="12" name="Straight Arrow Connector 11"/>
          <p:cNvCxnSpPr/>
          <p:nvPr/>
        </p:nvCxnSpPr>
        <p:spPr>
          <a:xfrm>
            <a:off x="7308304" y="1988840"/>
            <a:ext cx="0" cy="36724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6732240" y="5855592"/>
            <a:ext cx="1152128" cy="646331"/>
          </a:xfrm>
          <a:prstGeom prst="rect">
            <a:avLst/>
          </a:prstGeom>
          <a:noFill/>
        </p:spPr>
        <p:txBody>
          <a:bodyPr wrap="square" rtlCol="0">
            <a:spAutoFit/>
          </a:bodyPr>
          <a:lstStyle/>
          <a:p>
            <a:pPr algn="ctr"/>
            <a:r>
              <a:rPr lang="zh-CN" altLang="en-US" b="1" dirty="0">
                <a:solidFill>
                  <a:srgbClr val="0000FF"/>
                </a:solidFill>
                <a:latin typeface="楷体" panose="02010609060101010101" pitchFamily="49" charset="-122"/>
                <a:ea typeface="楷体" panose="02010609060101010101" pitchFamily="49" charset="-122"/>
              </a:rPr>
              <a:t>单位容量</a:t>
            </a:r>
            <a:endParaRPr lang="en-US" altLang="zh-CN" b="1" dirty="0">
              <a:solidFill>
                <a:srgbClr val="0000FF"/>
              </a:solidFill>
              <a:latin typeface="楷体" panose="02010609060101010101" pitchFamily="49" charset="-122"/>
              <a:ea typeface="楷体" panose="02010609060101010101" pitchFamily="49" charset="-122"/>
            </a:endParaRPr>
          </a:p>
          <a:p>
            <a:pPr algn="ctr"/>
            <a:r>
              <a:rPr lang="zh-CN" altLang="en-US" b="1" dirty="0">
                <a:solidFill>
                  <a:srgbClr val="0000FF"/>
                </a:solidFill>
                <a:latin typeface="楷体" panose="02010609060101010101" pitchFamily="49" charset="-122"/>
                <a:ea typeface="楷体" panose="02010609060101010101" pitchFamily="49" charset="-122"/>
              </a:rPr>
              <a:t>更便宜</a:t>
            </a:r>
          </a:p>
        </p:txBody>
      </p:sp>
      <p:cxnSp>
        <p:nvCxnSpPr>
          <p:cNvPr id="15" name="Straight Arrow Connector 14"/>
          <p:cNvCxnSpPr/>
          <p:nvPr/>
        </p:nvCxnSpPr>
        <p:spPr>
          <a:xfrm flipV="1">
            <a:off x="8172400" y="1998724"/>
            <a:ext cx="0" cy="36625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7631618" y="5828685"/>
            <a:ext cx="1152128" cy="646331"/>
          </a:xfrm>
          <a:prstGeom prst="rect">
            <a:avLst/>
          </a:prstGeom>
          <a:noFill/>
        </p:spPr>
        <p:txBody>
          <a:bodyPr wrap="square" rtlCol="0">
            <a:spAutoFit/>
          </a:bodyPr>
          <a:lstStyle/>
          <a:p>
            <a:pPr algn="ctr"/>
            <a:r>
              <a:rPr lang="zh-CN" altLang="en-US" b="1" dirty="0">
                <a:solidFill>
                  <a:srgbClr val="0000FF"/>
                </a:solidFill>
                <a:latin typeface="楷体" panose="02010609060101010101" pitchFamily="49" charset="-122"/>
                <a:ea typeface="楷体" panose="02010609060101010101" pitchFamily="49" charset="-122"/>
              </a:rPr>
              <a:t>速度</a:t>
            </a:r>
            <a:endParaRPr lang="en-US" altLang="zh-CN" b="1" dirty="0">
              <a:solidFill>
                <a:srgbClr val="0000FF"/>
              </a:solidFill>
              <a:latin typeface="楷体" panose="02010609060101010101" pitchFamily="49" charset="-122"/>
              <a:ea typeface="楷体" panose="02010609060101010101" pitchFamily="49" charset="-122"/>
            </a:endParaRPr>
          </a:p>
          <a:p>
            <a:pPr algn="ctr"/>
            <a:r>
              <a:rPr lang="zh-CN" altLang="en-US" b="1" dirty="0">
                <a:solidFill>
                  <a:srgbClr val="0000FF"/>
                </a:solidFill>
                <a:latin typeface="楷体" panose="02010609060101010101" pitchFamily="49" charset="-122"/>
                <a:ea typeface="楷体" panose="02010609060101010101" pitchFamily="49" charset="-122"/>
              </a:rPr>
              <a:t>更快</a:t>
            </a:r>
          </a:p>
        </p:txBody>
      </p:sp>
      <p:sp>
        <p:nvSpPr>
          <p:cNvPr id="3" name="Oval 2"/>
          <p:cNvSpPr/>
          <p:nvPr/>
        </p:nvSpPr>
        <p:spPr>
          <a:xfrm rot="19935889">
            <a:off x="3170201" y="2498854"/>
            <a:ext cx="929638" cy="369682"/>
          </a:xfrm>
          <a:prstGeom prst="ellipse">
            <a:avLst/>
          </a:prstGeom>
          <a:noFill/>
          <a:ln w="19050">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85318528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存储体系结构</a:t>
            </a:r>
          </a:p>
        </p:txBody>
      </p:sp>
      <p:sp>
        <p:nvSpPr>
          <p:cNvPr id="3" name="Content Placeholder 2"/>
          <p:cNvSpPr>
            <a:spLocks noGrp="1"/>
          </p:cNvSpPr>
          <p:nvPr>
            <p:ph idx="1"/>
          </p:nvPr>
        </p:nvSpPr>
        <p:spPr/>
        <p:txBody>
          <a:bodyPr/>
          <a:lstStyle/>
          <a:p>
            <a:r>
              <a:rPr lang="zh-CN" altLang="en-US" dirty="0"/>
              <a:t>寄存器</a:t>
            </a:r>
            <a:endParaRPr lang="en-US" altLang="zh-CN" dirty="0"/>
          </a:p>
          <a:p>
            <a:pPr lvl="1"/>
            <a:r>
              <a:rPr lang="zh-CN" altLang="en-US" dirty="0"/>
              <a:t>位于</a:t>
            </a:r>
            <a:r>
              <a:rPr lang="en-US" altLang="zh-CN" dirty="0"/>
              <a:t>CPU</a:t>
            </a:r>
            <a:r>
              <a:rPr lang="zh-CN" altLang="en-US" dirty="0"/>
              <a:t>内部，有几个到几十个寄存器</a:t>
            </a:r>
            <a:endParaRPr lang="en-US" altLang="zh-CN" dirty="0"/>
          </a:p>
          <a:p>
            <a:r>
              <a:rPr lang="zh-CN" altLang="en-US" dirty="0"/>
              <a:t>缓存</a:t>
            </a:r>
            <a:endParaRPr lang="en-US" altLang="zh-CN" dirty="0"/>
          </a:p>
          <a:p>
            <a:pPr lvl="1"/>
            <a:r>
              <a:rPr lang="en-US" altLang="zh-CN" dirty="0"/>
              <a:t>Intel i7 6700k 4-core  8MB </a:t>
            </a:r>
            <a:r>
              <a:rPr lang="zh-CN" altLang="en-US" dirty="0"/>
              <a:t>：</a:t>
            </a:r>
            <a:r>
              <a:rPr lang="en-US" altLang="zh-CN" dirty="0"/>
              <a:t>2599.00</a:t>
            </a:r>
          </a:p>
          <a:p>
            <a:pPr lvl="1"/>
            <a:r>
              <a:rPr lang="en-US" altLang="zh-CN" dirty="0"/>
              <a:t>Intel i7 5960x 8-core 20MB</a:t>
            </a:r>
            <a:r>
              <a:rPr lang="zh-CN" altLang="en-US" dirty="0"/>
              <a:t>：</a:t>
            </a:r>
            <a:r>
              <a:rPr lang="en-US" altLang="zh-CN" dirty="0"/>
              <a:t>7499.00</a:t>
            </a:r>
          </a:p>
          <a:p>
            <a:pPr lvl="1"/>
            <a:r>
              <a:rPr lang="zh-CN" altLang="en-US" dirty="0"/>
              <a:t>速度为几个到几十个时钟周期</a:t>
            </a:r>
          </a:p>
        </p:txBody>
      </p:sp>
      <p:sp>
        <p:nvSpPr>
          <p:cNvPr id="4" name="Date Placeholder 3"/>
          <p:cNvSpPr>
            <a:spLocks noGrp="1"/>
          </p:cNvSpPr>
          <p:nvPr>
            <p:ph type="dt" sz="half" idx="10"/>
          </p:nvPr>
        </p:nvSpPr>
        <p:spPr/>
        <p:txBody>
          <a:bodyPr/>
          <a:lstStyle/>
          <a:p>
            <a:fld id="{309BDDAC-A7D4-48A7-845E-C6B5830935C2}"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6</a:t>
            </a:fld>
            <a:endParaRPr lang="zh-CN" alt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02195" y="4162697"/>
            <a:ext cx="3512855" cy="2254614"/>
          </a:xfrm>
          <a:prstGeom prst="rect">
            <a:avLst/>
          </a:prstGeom>
        </p:spPr>
      </p:pic>
    </p:spTree>
    <p:extLst>
      <p:ext uri="{BB962C8B-B14F-4D97-AF65-F5344CB8AC3E}">
        <p14:creationId xmlns:p14="http://schemas.microsoft.com/office/powerpoint/2010/main" val="167125424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存储体系结构</a:t>
            </a:r>
          </a:p>
        </p:txBody>
      </p:sp>
      <p:sp>
        <p:nvSpPr>
          <p:cNvPr id="3" name="Content Placeholder 2"/>
          <p:cNvSpPr>
            <a:spLocks noGrp="1"/>
          </p:cNvSpPr>
          <p:nvPr>
            <p:ph idx="1"/>
          </p:nvPr>
        </p:nvSpPr>
        <p:spPr/>
        <p:txBody>
          <a:bodyPr/>
          <a:lstStyle/>
          <a:p>
            <a:r>
              <a:rPr lang="zh-CN" altLang="en-US" dirty="0"/>
              <a:t>内存</a:t>
            </a:r>
            <a:endParaRPr lang="en-US" altLang="zh-CN" dirty="0"/>
          </a:p>
          <a:p>
            <a:pPr lvl="1"/>
            <a:r>
              <a:rPr lang="en-US" altLang="zh-CN" dirty="0"/>
              <a:t>8GB</a:t>
            </a:r>
            <a:r>
              <a:rPr lang="zh-CN" altLang="en-US" dirty="0"/>
              <a:t>内存价格</a:t>
            </a:r>
            <a:r>
              <a:rPr lang="en-US" altLang="zh-CN" dirty="0"/>
              <a:t>300.00</a:t>
            </a:r>
          </a:p>
          <a:p>
            <a:pPr lvl="1"/>
            <a:r>
              <a:rPr lang="zh-CN" altLang="en-US" dirty="0"/>
              <a:t>传输带宽在</a:t>
            </a:r>
            <a:r>
              <a:rPr lang="en-US" altLang="zh-CN" dirty="0"/>
              <a:t>20GB/S</a:t>
            </a:r>
            <a:r>
              <a:rPr lang="zh-CN" altLang="en-US" dirty="0"/>
              <a:t>级别</a:t>
            </a:r>
          </a:p>
        </p:txBody>
      </p:sp>
      <p:sp>
        <p:nvSpPr>
          <p:cNvPr id="4" name="Date Placeholder 3"/>
          <p:cNvSpPr>
            <a:spLocks noGrp="1"/>
          </p:cNvSpPr>
          <p:nvPr>
            <p:ph type="dt" sz="half" idx="10"/>
          </p:nvPr>
        </p:nvSpPr>
        <p:spPr/>
        <p:txBody>
          <a:bodyPr/>
          <a:lstStyle/>
          <a:p>
            <a:fld id="{DF19B90C-84D7-45F8-87B8-C707C55E3010}"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7</a:t>
            </a:fld>
            <a:endParaRPr lang="zh-CN" alt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3992" y="2698188"/>
            <a:ext cx="4716016" cy="3537012"/>
          </a:xfrm>
          <a:prstGeom prst="rect">
            <a:avLst/>
          </a:prstGeom>
        </p:spPr>
      </p:pic>
    </p:spTree>
    <p:extLst>
      <p:ext uri="{BB962C8B-B14F-4D97-AF65-F5344CB8AC3E}">
        <p14:creationId xmlns:p14="http://schemas.microsoft.com/office/powerpoint/2010/main" val="119703152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存储体系结构</a:t>
            </a:r>
          </a:p>
        </p:txBody>
      </p:sp>
      <p:sp>
        <p:nvSpPr>
          <p:cNvPr id="3" name="Content Placeholder 2"/>
          <p:cNvSpPr>
            <a:spLocks noGrp="1"/>
          </p:cNvSpPr>
          <p:nvPr>
            <p:ph idx="1"/>
          </p:nvPr>
        </p:nvSpPr>
        <p:spPr/>
        <p:txBody>
          <a:bodyPr/>
          <a:lstStyle/>
          <a:p>
            <a:r>
              <a:rPr lang="zh-CN" altLang="en-US" dirty="0"/>
              <a:t>外存</a:t>
            </a:r>
            <a:endParaRPr lang="en-US" altLang="zh-CN" dirty="0"/>
          </a:p>
          <a:p>
            <a:pPr lvl="1"/>
            <a:r>
              <a:rPr lang="zh-CN" altLang="en-US" dirty="0"/>
              <a:t>希捷</a:t>
            </a:r>
            <a:r>
              <a:rPr lang="en-US" altLang="zh-CN" dirty="0"/>
              <a:t>4TB</a:t>
            </a:r>
            <a:r>
              <a:rPr lang="zh-CN" altLang="en-US" dirty="0"/>
              <a:t>硬盘：</a:t>
            </a:r>
            <a:r>
              <a:rPr lang="en-US" altLang="zh-CN" dirty="0"/>
              <a:t>929.00</a:t>
            </a:r>
          </a:p>
          <a:p>
            <a:pPr lvl="1"/>
            <a:r>
              <a:rPr lang="zh-CN" altLang="en-US" dirty="0"/>
              <a:t>速度：每秒传输数据</a:t>
            </a:r>
            <a:r>
              <a:rPr lang="en-US" altLang="zh-CN" dirty="0"/>
              <a:t>100-180MB</a:t>
            </a:r>
          </a:p>
          <a:p>
            <a:pPr lvl="1"/>
            <a:r>
              <a:rPr lang="en-US" altLang="zh-CN" dirty="0"/>
              <a:t>Intel</a:t>
            </a:r>
            <a:r>
              <a:rPr lang="zh-CN" altLang="en-US" dirty="0"/>
              <a:t>固态硬盘</a:t>
            </a:r>
            <a:r>
              <a:rPr lang="en-US" altLang="zh-CN" dirty="0"/>
              <a:t>480GB</a:t>
            </a:r>
            <a:r>
              <a:rPr lang="zh-CN" altLang="en-US" dirty="0"/>
              <a:t>：</a:t>
            </a:r>
            <a:r>
              <a:rPr lang="en-US" altLang="zh-CN" dirty="0"/>
              <a:t>1999.00</a:t>
            </a:r>
          </a:p>
          <a:p>
            <a:pPr lvl="1"/>
            <a:r>
              <a:rPr lang="zh-CN" altLang="en-US" dirty="0"/>
              <a:t>速度：</a:t>
            </a:r>
            <a:r>
              <a:rPr lang="en-US" altLang="zh-CN" dirty="0"/>
              <a:t>&gt; 500MB/s</a:t>
            </a:r>
            <a:endParaRPr lang="zh-CN" altLang="en-US" dirty="0"/>
          </a:p>
        </p:txBody>
      </p:sp>
      <p:sp>
        <p:nvSpPr>
          <p:cNvPr id="4" name="Date Placeholder 3"/>
          <p:cNvSpPr>
            <a:spLocks noGrp="1"/>
          </p:cNvSpPr>
          <p:nvPr>
            <p:ph type="dt" sz="half" idx="10"/>
          </p:nvPr>
        </p:nvSpPr>
        <p:spPr/>
        <p:txBody>
          <a:bodyPr/>
          <a:lstStyle/>
          <a:p>
            <a:fld id="{582C1063-257B-451D-BEE7-188EE52CC8D9}"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8</a:t>
            </a:fld>
            <a:endParaRPr lang="zh-CN" alt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3296" y="3725568"/>
            <a:ext cx="2541984" cy="2509632"/>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19926" y="3654723"/>
            <a:ext cx="2939783" cy="2580477"/>
          </a:xfrm>
          <a:prstGeom prst="rect">
            <a:avLst/>
          </a:prstGeom>
        </p:spPr>
      </p:pic>
    </p:spTree>
    <p:extLst>
      <p:ext uri="{BB962C8B-B14F-4D97-AF65-F5344CB8AC3E}">
        <p14:creationId xmlns:p14="http://schemas.microsoft.com/office/powerpoint/2010/main" val="141375337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存储管理的功能</a:t>
            </a:r>
          </a:p>
        </p:txBody>
      </p:sp>
      <p:sp>
        <p:nvSpPr>
          <p:cNvPr id="3" name="Content Placeholder 2"/>
          <p:cNvSpPr>
            <a:spLocks noGrp="1"/>
          </p:cNvSpPr>
          <p:nvPr>
            <p:ph idx="1"/>
          </p:nvPr>
        </p:nvSpPr>
        <p:spPr/>
        <p:txBody>
          <a:bodyPr>
            <a:normAutofit/>
          </a:bodyPr>
          <a:lstStyle/>
          <a:p>
            <a:r>
              <a:rPr lang="zh-CN" altLang="en-US" dirty="0"/>
              <a:t>存储的分配和回收</a:t>
            </a:r>
            <a:endParaRPr lang="en-US" altLang="zh-CN" dirty="0"/>
          </a:p>
          <a:p>
            <a:pPr lvl="1"/>
            <a:r>
              <a:rPr lang="zh-CN" altLang="en-US" dirty="0"/>
              <a:t>将外存中的数据调入内存，在内存中为它们安排合适的位置</a:t>
            </a:r>
            <a:endParaRPr lang="en-US" altLang="zh-CN" dirty="0"/>
          </a:p>
          <a:p>
            <a:pPr lvl="1"/>
            <a:r>
              <a:rPr lang="zh-CN" altLang="en-US" dirty="0"/>
              <a:t>目的是可使多个程序同时驻留在内存中，以提高</a:t>
            </a:r>
            <a:r>
              <a:rPr lang="en-US" altLang="zh-CN" dirty="0"/>
              <a:t>CPU</a:t>
            </a:r>
            <a:r>
              <a:rPr lang="zh-CN" altLang="en-US" dirty="0"/>
              <a:t>利用率</a:t>
            </a:r>
            <a:endParaRPr lang="en-US" altLang="zh-CN" dirty="0"/>
          </a:p>
          <a:p>
            <a:pPr lvl="1"/>
            <a:r>
              <a:rPr lang="zh-CN" altLang="en-US" dirty="0"/>
              <a:t>进程执行结束时，回收该进程所占内存资源</a:t>
            </a:r>
            <a:endParaRPr lang="en-US" altLang="zh-CN" dirty="0"/>
          </a:p>
          <a:p>
            <a:endParaRPr lang="en-US" altLang="zh-CN" dirty="0"/>
          </a:p>
          <a:p>
            <a:r>
              <a:rPr lang="zh-CN" altLang="en-US" dirty="0"/>
              <a:t>涉及的设计问题</a:t>
            </a:r>
            <a:endParaRPr lang="en-US" altLang="zh-CN" dirty="0"/>
          </a:p>
          <a:p>
            <a:pPr lvl="1"/>
            <a:r>
              <a:rPr lang="zh-CN" altLang="en-US" dirty="0"/>
              <a:t>分配结构</a:t>
            </a:r>
            <a:endParaRPr lang="en-US" altLang="zh-CN" dirty="0"/>
          </a:p>
          <a:p>
            <a:pPr lvl="1"/>
            <a:r>
              <a:rPr lang="zh-CN" altLang="en-US" dirty="0"/>
              <a:t>放置策略</a:t>
            </a:r>
            <a:endParaRPr lang="en-US" altLang="zh-CN" dirty="0"/>
          </a:p>
          <a:p>
            <a:pPr lvl="1"/>
            <a:r>
              <a:rPr lang="zh-CN" altLang="en-US" dirty="0"/>
              <a:t>交换策略</a:t>
            </a:r>
            <a:endParaRPr lang="en-US" altLang="zh-CN" dirty="0"/>
          </a:p>
          <a:p>
            <a:pPr lvl="1"/>
            <a:r>
              <a:rPr lang="en-US" altLang="zh-CN" dirty="0"/>
              <a:t>……</a:t>
            </a:r>
          </a:p>
        </p:txBody>
      </p:sp>
      <p:sp>
        <p:nvSpPr>
          <p:cNvPr id="4" name="Date Placeholder 3"/>
          <p:cNvSpPr>
            <a:spLocks noGrp="1"/>
          </p:cNvSpPr>
          <p:nvPr>
            <p:ph type="dt" sz="half" idx="10"/>
          </p:nvPr>
        </p:nvSpPr>
        <p:spPr/>
        <p:txBody>
          <a:bodyPr/>
          <a:lstStyle/>
          <a:p>
            <a:fld id="{A370FFD1-4142-4928-AB53-B231CA1D794D}"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9</a:t>
            </a:fld>
            <a:endParaRPr lang="zh-CN" altLang="en-US" dirty="0"/>
          </a:p>
        </p:txBody>
      </p:sp>
    </p:spTree>
    <p:extLst>
      <p:ext uri="{BB962C8B-B14F-4D97-AF65-F5344CB8AC3E}">
        <p14:creationId xmlns:p14="http://schemas.microsoft.com/office/powerpoint/2010/main" val="16199534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存储管理的功能</a:t>
            </a:r>
          </a:p>
        </p:txBody>
      </p:sp>
      <p:sp>
        <p:nvSpPr>
          <p:cNvPr id="3" name="Content Placeholder 2"/>
          <p:cNvSpPr>
            <a:spLocks noGrp="1"/>
          </p:cNvSpPr>
          <p:nvPr>
            <p:ph idx="1"/>
          </p:nvPr>
        </p:nvSpPr>
        <p:spPr/>
        <p:txBody>
          <a:bodyPr>
            <a:normAutofit/>
          </a:bodyPr>
          <a:lstStyle/>
          <a:p>
            <a:r>
              <a:rPr lang="zh-CN" altLang="en-US" dirty="0"/>
              <a:t>地址变换</a:t>
            </a:r>
            <a:endParaRPr lang="en-US" altLang="zh-CN" dirty="0"/>
          </a:p>
          <a:p>
            <a:pPr lvl="1"/>
            <a:r>
              <a:rPr lang="zh-CN" altLang="en-US" dirty="0"/>
              <a:t>可执行文件生成中的链接技术</a:t>
            </a:r>
          </a:p>
          <a:p>
            <a:pPr lvl="1"/>
            <a:r>
              <a:rPr lang="zh-CN" altLang="en-US" dirty="0"/>
              <a:t>程序加载</a:t>
            </a:r>
            <a:r>
              <a:rPr lang="en-US" altLang="zh-CN" dirty="0"/>
              <a:t>(</a:t>
            </a:r>
            <a:r>
              <a:rPr lang="zh-CN" altLang="en-US" dirty="0"/>
              <a:t>装入</a:t>
            </a:r>
            <a:r>
              <a:rPr lang="en-US" altLang="zh-CN" dirty="0"/>
              <a:t>)</a:t>
            </a:r>
            <a:r>
              <a:rPr lang="zh-CN" altLang="en-US" dirty="0"/>
              <a:t>时的重定位技术</a:t>
            </a:r>
          </a:p>
          <a:p>
            <a:pPr lvl="1"/>
            <a:r>
              <a:rPr lang="zh-CN" altLang="en-US" dirty="0"/>
              <a:t>进程运行时硬件和软件的地址变换技术和机构</a:t>
            </a:r>
          </a:p>
          <a:p>
            <a:endParaRPr lang="zh-CN" altLang="en-US" dirty="0"/>
          </a:p>
        </p:txBody>
      </p:sp>
      <p:sp>
        <p:nvSpPr>
          <p:cNvPr id="4" name="Date Placeholder 3"/>
          <p:cNvSpPr>
            <a:spLocks noGrp="1"/>
          </p:cNvSpPr>
          <p:nvPr>
            <p:ph type="dt" sz="half" idx="10"/>
          </p:nvPr>
        </p:nvSpPr>
        <p:spPr/>
        <p:txBody>
          <a:bodyPr/>
          <a:lstStyle/>
          <a:p>
            <a:fld id="{B1E715AC-FD29-4179-B61A-89A447739826}"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10</a:t>
            </a:fld>
            <a:endParaRPr lang="zh-CN" altLang="en-US" dirty="0"/>
          </a:p>
        </p:txBody>
      </p:sp>
    </p:spTree>
    <p:extLst>
      <p:ext uri="{BB962C8B-B14F-4D97-AF65-F5344CB8AC3E}">
        <p14:creationId xmlns:p14="http://schemas.microsoft.com/office/powerpoint/2010/main" val="86596000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二进制学习</a:t>
            </a:r>
          </a:p>
        </p:txBody>
      </p:sp>
      <p:sp>
        <p:nvSpPr>
          <p:cNvPr id="3" name="Content Placeholder 2"/>
          <p:cNvSpPr>
            <a:spLocks noGrp="1"/>
          </p:cNvSpPr>
          <p:nvPr>
            <p:ph idx="1"/>
          </p:nvPr>
        </p:nvSpPr>
        <p:spPr/>
        <p:txBody>
          <a:bodyPr/>
          <a:lstStyle/>
          <a:p>
            <a:r>
              <a:rPr lang="zh-CN" altLang="en-US" dirty="0"/>
              <a:t>二进制</a:t>
            </a:r>
            <a:endParaRPr lang="en-US" altLang="zh-CN" dirty="0"/>
          </a:p>
          <a:p>
            <a:r>
              <a:rPr lang="en-US" altLang="zh-CN" dirty="0"/>
              <a:t>K, M, G</a:t>
            </a:r>
          </a:p>
          <a:p>
            <a:r>
              <a:rPr lang="zh-CN" altLang="en-US" dirty="0"/>
              <a:t>二进制与十进制的转换</a:t>
            </a:r>
            <a:endParaRPr lang="en-US" altLang="zh-CN" dirty="0"/>
          </a:p>
          <a:p>
            <a:endParaRPr lang="zh-CN" altLang="en-US" dirty="0"/>
          </a:p>
        </p:txBody>
      </p:sp>
      <p:sp>
        <p:nvSpPr>
          <p:cNvPr id="4" name="Date Placeholder 3"/>
          <p:cNvSpPr>
            <a:spLocks noGrp="1"/>
          </p:cNvSpPr>
          <p:nvPr>
            <p:ph type="dt" sz="half" idx="10"/>
          </p:nvPr>
        </p:nvSpPr>
        <p:spPr/>
        <p:txBody>
          <a:bodyPr/>
          <a:lstStyle/>
          <a:p>
            <a:fld id="{8C44C51F-CD3A-47BC-AEFF-238AD9206BA5}" type="datetime1">
              <a:rPr lang="zh-CN" altLang="en-US" smtClean="0"/>
              <a:pPr/>
              <a:t>2018/8/3</a:t>
            </a:fld>
            <a:endParaRPr lang="zh-CN" altLang="en-US"/>
          </a:p>
        </p:txBody>
      </p:sp>
      <p:sp>
        <p:nvSpPr>
          <p:cNvPr id="5" name="Footer Placeholder 4"/>
          <p:cNvSpPr>
            <a:spLocks noGrp="1"/>
          </p:cNvSpPr>
          <p:nvPr>
            <p:ph type="ftr" sz="quarter" idx="11"/>
          </p:nvPr>
        </p:nvSpPr>
        <p:spPr/>
        <p:txBody>
          <a:bodyPr/>
          <a:lstStyle/>
          <a:p>
            <a:r>
              <a:rPr lang="en-US" altLang="zh-CN"/>
              <a:t>CH07 Memory Management</a:t>
            </a:r>
            <a:endParaRPr lang="zh-CN" altLang="en-US"/>
          </a:p>
        </p:txBody>
      </p:sp>
      <p:sp>
        <p:nvSpPr>
          <p:cNvPr id="6" name="Slide Number Placeholder 5"/>
          <p:cNvSpPr>
            <a:spLocks noGrp="1"/>
          </p:cNvSpPr>
          <p:nvPr>
            <p:ph type="sldNum" sz="quarter" idx="12"/>
          </p:nvPr>
        </p:nvSpPr>
        <p:spPr/>
        <p:txBody>
          <a:bodyPr/>
          <a:lstStyle/>
          <a:p>
            <a:fld id="{56BAEEBF-3716-487D-AE7C-1F66A971DC3D}" type="slidenum">
              <a:rPr lang="zh-CN" altLang="en-US" smtClean="0"/>
              <a:pPr/>
              <a:t>11</a:t>
            </a:fld>
            <a:endParaRPr lang="zh-CN" altLang="en-US"/>
          </a:p>
        </p:txBody>
      </p:sp>
    </p:spTree>
    <p:extLst>
      <p:ext uri="{BB962C8B-B14F-4D97-AF65-F5344CB8AC3E}">
        <p14:creationId xmlns:p14="http://schemas.microsoft.com/office/powerpoint/2010/main" val="50567951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存储管理的功能</a:t>
            </a:r>
          </a:p>
        </p:txBody>
      </p:sp>
      <p:sp>
        <p:nvSpPr>
          <p:cNvPr id="3" name="Content Placeholder 2"/>
          <p:cNvSpPr>
            <a:spLocks noGrp="1"/>
          </p:cNvSpPr>
          <p:nvPr>
            <p:ph idx="1"/>
          </p:nvPr>
        </p:nvSpPr>
        <p:spPr/>
        <p:txBody>
          <a:bodyPr/>
          <a:lstStyle/>
          <a:p>
            <a:r>
              <a:rPr lang="zh-CN" altLang="en-US" dirty="0"/>
              <a:t>逻辑地址（相对地址，虚地址）</a:t>
            </a:r>
            <a:endParaRPr lang="en-US" altLang="zh-CN" dirty="0"/>
          </a:p>
          <a:p>
            <a:pPr lvl="1"/>
            <a:r>
              <a:rPr lang="zh-CN" altLang="en-US" dirty="0"/>
              <a:t>用户的程序经过汇编或编译后形成目标代码，目标代码通常采用相对地址的形式</a:t>
            </a:r>
          </a:p>
          <a:p>
            <a:pPr lvl="1"/>
            <a:r>
              <a:rPr lang="zh-CN" altLang="en-US" dirty="0"/>
              <a:t>其首地址为</a:t>
            </a:r>
            <a:r>
              <a:rPr lang="en-US" altLang="zh-CN" dirty="0"/>
              <a:t>0</a:t>
            </a:r>
            <a:r>
              <a:rPr lang="zh-CN" altLang="en-US" dirty="0"/>
              <a:t>，其余指令中的地址都相对于首地址来编址</a:t>
            </a:r>
            <a:endParaRPr lang="en-US" altLang="zh-CN" dirty="0"/>
          </a:p>
          <a:p>
            <a:pPr lvl="1"/>
            <a:r>
              <a:rPr lang="zh-CN" altLang="en-US" dirty="0"/>
              <a:t>不能用逻辑地址在内存中读取信息</a:t>
            </a:r>
            <a:endParaRPr lang="en-US" altLang="zh-CN" dirty="0"/>
          </a:p>
          <a:p>
            <a:r>
              <a:rPr lang="zh-CN" altLang="en-US" dirty="0"/>
              <a:t>物理地址（绝对地址，实地址）</a:t>
            </a:r>
            <a:endParaRPr lang="en-US" altLang="zh-CN" dirty="0"/>
          </a:p>
          <a:p>
            <a:pPr lvl="1"/>
            <a:r>
              <a:rPr lang="zh-CN" altLang="en-US" dirty="0"/>
              <a:t>内存中存储单元的地址，物理地址可直接寻址</a:t>
            </a:r>
            <a:endParaRPr lang="en-US" altLang="zh-CN" dirty="0"/>
          </a:p>
          <a:p>
            <a:pPr lvl="1"/>
            <a:endParaRPr lang="zh-CN" altLang="en-US" dirty="0"/>
          </a:p>
        </p:txBody>
      </p:sp>
      <p:sp>
        <p:nvSpPr>
          <p:cNvPr id="4" name="Date Placeholder 3"/>
          <p:cNvSpPr>
            <a:spLocks noGrp="1"/>
          </p:cNvSpPr>
          <p:nvPr>
            <p:ph type="dt" sz="half" idx="10"/>
          </p:nvPr>
        </p:nvSpPr>
        <p:spPr/>
        <p:txBody>
          <a:bodyPr/>
          <a:lstStyle/>
          <a:p>
            <a:fld id="{950C353F-A609-4419-843A-EB7C00E5F044}"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12</a:t>
            </a:fld>
            <a:endParaRPr lang="zh-CN" altLang="en-US" dirty="0"/>
          </a:p>
        </p:txBody>
      </p:sp>
      <p:grpSp>
        <p:nvGrpSpPr>
          <p:cNvPr id="7" name="Group 25"/>
          <p:cNvGrpSpPr>
            <a:grpSpLocks/>
          </p:cNvGrpSpPr>
          <p:nvPr/>
        </p:nvGrpSpPr>
        <p:grpSpPr bwMode="auto">
          <a:xfrm>
            <a:off x="1043608" y="4512270"/>
            <a:ext cx="1076325" cy="1535113"/>
            <a:chOff x="711" y="1721"/>
            <a:chExt cx="678" cy="967"/>
          </a:xfrm>
        </p:grpSpPr>
        <p:sp>
          <p:nvSpPr>
            <p:cNvPr id="8" name="Rectangle 16"/>
            <p:cNvSpPr>
              <a:spLocks noChangeArrowheads="1"/>
            </p:cNvSpPr>
            <p:nvPr/>
          </p:nvSpPr>
          <p:spPr bwMode="auto">
            <a:xfrm>
              <a:off x="912" y="1728"/>
              <a:ext cx="432" cy="768"/>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9" name="Line 17"/>
            <p:cNvSpPr>
              <a:spLocks noChangeShapeType="1"/>
            </p:cNvSpPr>
            <p:nvPr/>
          </p:nvSpPr>
          <p:spPr bwMode="auto">
            <a:xfrm>
              <a:off x="912" y="1872"/>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10" name="Line 18"/>
            <p:cNvSpPr>
              <a:spLocks noChangeShapeType="1"/>
            </p:cNvSpPr>
            <p:nvPr/>
          </p:nvSpPr>
          <p:spPr bwMode="auto">
            <a:xfrm>
              <a:off x="912" y="2016"/>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11" name="Line 19"/>
            <p:cNvSpPr>
              <a:spLocks noChangeShapeType="1"/>
            </p:cNvSpPr>
            <p:nvPr/>
          </p:nvSpPr>
          <p:spPr bwMode="auto">
            <a:xfrm>
              <a:off x="912" y="2160"/>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12" name="Line 20"/>
            <p:cNvSpPr>
              <a:spLocks noChangeShapeType="1"/>
            </p:cNvSpPr>
            <p:nvPr/>
          </p:nvSpPr>
          <p:spPr bwMode="auto">
            <a:xfrm>
              <a:off x="912" y="2334"/>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13" name="Text Box 22"/>
            <p:cNvSpPr txBox="1">
              <a:spLocks noChangeArrowheads="1"/>
            </p:cNvSpPr>
            <p:nvPr/>
          </p:nvSpPr>
          <p:spPr bwMode="auto">
            <a:xfrm>
              <a:off x="1030" y="2151"/>
              <a:ext cx="31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p>
              <a:pPr>
                <a:spcBef>
                  <a:spcPct val="50000"/>
                </a:spcBef>
              </a:pPr>
              <a:r>
                <a:rPr lang="en-US" altLang="zh-CN" sz="2000" b="1">
                  <a:ea typeface="楷体" panose="02010609060101010101" pitchFamily="49" charset="-122"/>
                </a:rPr>
                <a:t>…</a:t>
              </a:r>
            </a:p>
          </p:txBody>
        </p:sp>
        <p:sp>
          <p:nvSpPr>
            <p:cNvPr id="14" name="Text Box 23"/>
            <p:cNvSpPr txBox="1">
              <a:spLocks noChangeArrowheads="1"/>
            </p:cNvSpPr>
            <p:nvPr/>
          </p:nvSpPr>
          <p:spPr bwMode="auto">
            <a:xfrm>
              <a:off x="711" y="1721"/>
              <a:ext cx="336" cy="7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05000"/>
                </a:lnSpc>
              </a:pPr>
              <a:r>
                <a:rPr lang="en-US" altLang="zh-CN" sz="1200" b="1">
                  <a:ea typeface="楷体" panose="02010609060101010101" pitchFamily="49" charset="-122"/>
                </a:rPr>
                <a:t>0</a:t>
              </a:r>
            </a:p>
            <a:p>
              <a:pPr>
                <a:lnSpc>
                  <a:spcPct val="105000"/>
                </a:lnSpc>
              </a:pPr>
              <a:r>
                <a:rPr lang="en-US" altLang="zh-CN" sz="1200" b="1">
                  <a:ea typeface="楷体" panose="02010609060101010101" pitchFamily="49" charset="-122"/>
                </a:rPr>
                <a:t>1</a:t>
              </a:r>
            </a:p>
            <a:p>
              <a:pPr>
                <a:lnSpc>
                  <a:spcPct val="105000"/>
                </a:lnSpc>
              </a:pPr>
              <a:r>
                <a:rPr lang="en-US" altLang="zh-CN" sz="1200" b="1">
                  <a:ea typeface="楷体" panose="02010609060101010101" pitchFamily="49" charset="-122"/>
                </a:rPr>
                <a:t>.</a:t>
              </a:r>
            </a:p>
            <a:p>
              <a:pPr>
                <a:lnSpc>
                  <a:spcPct val="105000"/>
                </a:lnSpc>
              </a:pPr>
              <a:r>
                <a:rPr lang="en-US" altLang="zh-CN" sz="1200" b="1">
                  <a:ea typeface="楷体" panose="02010609060101010101" pitchFamily="49" charset="-122"/>
                </a:rPr>
                <a:t>.</a:t>
              </a:r>
            </a:p>
            <a:p>
              <a:pPr>
                <a:lnSpc>
                  <a:spcPct val="105000"/>
                </a:lnSpc>
              </a:pPr>
              <a:r>
                <a:rPr lang="en-US" altLang="zh-CN" sz="1200" b="1">
                  <a:ea typeface="楷体" panose="02010609060101010101" pitchFamily="49" charset="-122"/>
                </a:rPr>
                <a:t>.</a:t>
              </a:r>
            </a:p>
            <a:p>
              <a:pPr>
                <a:lnSpc>
                  <a:spcPct val="105000"/>
                </a:lnSpc>
              </a:pPr>
              <a:r>
                <a:rPr lang="en-US" altLang="zh-CN" sz="1200" b="1">
                  <a:ea typeface="楷体" panose="02010609060101010101" pitchFamily="49" charset="-122"/>
                </a:rPr>
                <a:t>n-1</a:t>
              </a:r>
            </a:p>
          </p:txBody>
        </p:sp>
        <p:sp>
          <p:nvSpPr>
            <p:cNvPr id="15" name="Text Box 24"/>
            <p:cNvSpPr txBox="1">
              <a:spLocks noChangeArrowheads="1"/>
            </p:cNvSpPr>
            <p:nvPr/>
          </p:nvSpPr>
          <p:spPr bwMode="auto">
            <a:xfrm>
              <a:off x="909" y="2457"/>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1800" b="1">
                  <a:ea typeface="楷体" panose="02010609060101010101" pitchFamily="49" charset="-122"/>
                </a:rPr>
                <a:t>内存</a:t>
              </a:r>
            </a:p>
          </p:txBody>
        </p:sp>
      </p:grpSp>
      <p:grpSp>
        <p:nvGrpSpPr>
          <p:cNvPr id="16" name="Group 34"/>
          <p:cNvGrpSpPr>
            <a:grpSpLocks/>
          </p:cNvGrpSpPr>
          <p:nvPr/>
        </p:nvGrpSpPr>
        <p:grpSpPr bwMode="auto">
          <a:xfrm>
            <a:off x="2839070" y="4523383"/>
            <a:ext cx="1190625" cy="1785937"/>
            <a:chOff x="1842" y="1728"/>
            <a:chExt cx="750" cy="1125"/>
          </a:xfrm>
        </p:grpSpPr>
        <p:sp>
          <p:nvSpPr>
            <p:cNvPr id="17" name="Rectangle 26"/>
            <p:cNvSpPr>
              <a:spLocks noChangeArrowheads="1"/>
            </p:cNvSpPr>
            <p:nvPr/>
          </p:nvSpPr>
          <p:spPr bwMode="auto">
            <a:xfrm>
              <a:off x="2016" y="1728"/>
              <a:ext cx="576" cy="912"/>
            </a:xfrm>
            <a:prstGeom prst="rect">
              <a:avLst/>
            </a:prstGeom>
            <a:solidFill>
              <a:srgbClr val="FFFF00"/>
            </a:solidFill>
            <a:ln w="9525">
              <a:solidFill>
                <a:schemeClr val="tx1"/>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18" name="Line 27"/>
            <p:cNvSpPr>
              <a:spLocks noChangeShapeType="1"/>
            </p:cNvSpPr>
            <p:nvPr/>
          </p:nvSpPr>
          <p:spPr bwMode="auto">
            <a:xfrm>
              <a:off x="2016" y="1857"/>
              <a:ext cx="576"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19" name="Line 28"/>
            <p:cNvSpPr>
              <a:spLocks noChangeShapeType="1"/>
            </p:cNvSpPr>
            <p:nvPr/>
          </p:nvSpPr>
          <p:spPr bwMode="auto">
            <a:xfrm>
              <a:off x="2016" y="2004"/>
              <a:ext cx="576"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20" name="Line 29"/>
            <p:cNvSpPr>
              <a:spLocks noChangeShapeType="1"/>
            </p:cNvSpPr>
            <p:nvPr/>
          </p:nvSpPr>
          <p:spPr bwMode="auto">
            <a:xfrm>
              <a:off x="2016" y="2142"/>
              <a:ext cx="576"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21" name="Line 30"/>
            <p:cNvSpPr>
              <a:spLocks noChangeShapeType="1"/>
            </p:cNvSpPr>
            <p:nvPr/>
          </p:nvSpPr>
          <p:spPr bwMode="auto">
            <a:xfrm>
              <a:off x="2007" y="2496"/>
              <a:ext cx="576"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22" name="Text Box 31"/>
            <p:cNvSpPr txBox="1">
              <a:spLocks noChangeArrowheads="1"/>
            </p:cNvSpPr>
            <p:nvPr/>
          </p:nvSpPr>
          <p:spPr bwMode="auto">
            <a:xfrm>
              <a:off x="2204" y="2265"/>
              <a:ext cx="310"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p>
              <a:pPr>
                <a:spcBef>
                  <a:spcPct val="50000"/>
                </a:spcBef>
              </a:pPr>
              <a:r>
                <a:rPr lang="en-US" altLang="zh-CN" sz="2000" b="1">
                  <a:ea typeface="楷体" panose="02010609060101010101" pitchFamily="49" charset="-122"/>
                </a:rPr>
                <a:t>…</a:t>
              </a:r>
            </a:p>
          </p:txBody>
        </p:sp>
        <p:sp>
          <p:nvSpPr>
            <p:cNvPr id="23" name="Text Box 32"/>
            <p:cNvSpPr txBox="1">
              <a:spLocks noChangeArrowheads="1"/>
            </p:cNvSpPr>
            <p:nvPr/>
          </p:nvSpPr>
          <p:spPr bwMode="auto">
            <a:xfrm>
              <a:off x="1842" y="1728"/>
              <a:ext cx="240" cy="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1200" b="1">
                  <a:ea typeface="楷体" panose="02010609060101010101" pitchFamily="49" charset="-122"/>
                </a:rPr>
                <a:t>0</a:t>
              </a:r>
            </a:p>
            <a:p>
              <a:r>
                <a:rPr lang="en-US" altLang="zh-CN" sz="1200" b="1">
                  <a:ea typeface="楷体" panose="02010609060101010101" pitchFamily="49" charset="-122"/>
                </a:rPr>
                <a:t>1</a:t>
              </a:r>
            </a:p>
            <a:p>
              <a:r>
                <a:rPr lang="en-US" altLang="zh-CN" sz="1200" b="1">
                  <a:ea typeface="楷体" panose="02010609060101010101" pitchFamily="49" charset="-122"/>
                </a:rPr>
                <a:t>.</a:t>
              </a:r>
            </a:p>
            <a:p>
              <a:r>
                <a:rPr lang="en-US" altLang="zh-CN" sz="1200" b="1">
                  <a:ea typeface="楷体" panose="02010609060101010101" pitchFamily="49" charset="-122"/>
                </a:rPr>
                <a:t>.</a:t>
              </a:r>
            </a:p>
            <a:p>
              <a:r>
                <a:rPr lang="en-US" altLang="zh-CN" sz="1200" b="1">
                  <a:ea typeface="楷体" panose="02010609060101010101" pitchFamily="49" charset="-122"/>
                </a:rPr>
                <a:t>.</a:t>
              </a:r>
            </a:p>
          </p:txBody>
        </p:sp>
        <p:sp>
          <p:nvSpPr>
            <p:cNvPr id="24" name="Text Box 33"/>
            <p:cNvSpPr txBox="1">
              <a:spLocks noChangeArrowheads="1"/>
            </p:cNvSpPr>
            <p:nvPr/>
          </p:nvSpPr>
          <p:spPr bwMode="auto">
            <a:xfrm>
              <a:off x="2139" y="2622"/>
              <a:ext cx="43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800" b="1">
                  <a:ea typeface="楷体" panose="02010609060101010101" pitchFamily="49" charset="-122"/>
                </a:rPr>
                <a:t>虚存</a:t>
              </a:r>
            </a:p>
          </p:txBody>
        </p:sp>
      </p:grpSp>
      <p:grpSp>
        <p:nvGrpSpPr>
          <p:cNvPr id="25" name="Group 35"/>
          <p:cNvGrpSpPr>
            <a:grpSpLocks/>
          </p:cNvGrpSpPr>
          <p:nvPr/>
        </p:nvGrpSpPr>
        <p:grpSpPr bwMode="auto">
          <a:xfrm>
            <a:off x="4563095" y="4509095"/>
            <a:ext cx="1190625" cy="1785938"/>
            <a:chOff x="1842" y="1728"/>
            <a:chExt cx="750" cy="1125"/>
          </a:xfrm>
        </p:grpSpPr>
        <p:sp>
          <p:nvSpPr>
            <p:cNvPr id="26" name="Rectangle 36"/>
            <p:cNvSpPr>
              <a:spLocks noChangeArrowheads="1"/>
            </p:cNvSpPr>
            <p:nvPr/>
          </p:nvSpPr>
          <p:spPr bwMode="auto">
            <a:xfrm>
              <a:off x="2016" y="1728"/>
              <a:ext cx="576" cy="912"/>
            </a:xfrm>
            <a:prstGeom prst="rect">
              <a:avLst/>
            </a:prstGeom>
            <a:solidFill>
              <a:srgbClr val="FFFF00"/>
            </a:solidFill>
            <a:ln w="9525">
              <a:solidFill>
                <a:schemeClr val="tx1"/>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27" name="Line 37"/>
            <p:cNvSpPr>
              <a:spLocks noChangeShapeType="1"/>
            </p:cNvSpPr>
            <p:nvPr/>
          </p:nvSpPr>
          <p:spPr bwMode="auto">
            <a:xfrm>
              <a:off x="2016" y="1857"/>
              <a:ext cx="576"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28" name="Line 38"/>
            <p:cNvSpPr>
              <a:spLocks noChangeShapeType="1"/>
            </p:cNvSpPr>
            <p:nvPr/>
          </p:nvSpPr>
          <p:spPr bwMode="auto">
            <a:xfrm>
              <a:off x="2016" y="2004"/>
              <a:ext cx="576"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29" name="Line 39"/>
            <p:cNvSpPr>
              <a:spLocks noChangeShapeType="1"/>
            </p:cNvSpPr>
            <p:nvPr/>
          </p:nvSpPr>
          <p:spPr bwMode="auto">
            <a:xfrm>
              <a:off x="2016" y="2142"/>
              <a:ext cx="576"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30" name="Line 40"/>
            <p:cNvSpPr>
              <a:spLocks noChangeShapeType="1"/>
            </p:cNvSpPr>
            <p:nvPr/>
          </p:nvSpPr>
          <p:spPr bwMode="auto">
            <a:xfrm>
              <a:off x="2007" y="2496"/>
              <a:ext cx="576"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31" name="Text Box 41"/>
            <p:cNvSpPr txBox="1">
              <a:spLocks noChangeArrowheads="1"/>
            </p:cNvSpPr>
            <p:nvPr/>
          </p:nvSpPr>
          <p:spPr bwMode="auto">
            <a:xfrm>
              <a:off x="2204" y="2265"/>
              <a:ext cx="310"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p>
              <a:pPr>
                <a:spcBef>
                  <a:spcPct val="50000"/>
                </a:spcBef>
              </a:pPr>
              <a:r>
                <a:rPr lang="en-US" altLang="zh-CN" sz="2000" b="1">
                  <a:ea typeface="楷体" panose="02010609060101010101" pitchFamily="49" charset="-122"/>
                </a:rPr>
                <a:t>…</a:t>
              </a:r>
            </a:p>
          </p:txBody>
        </p:sp>
        <p:sp>
          <p:nvSpPr>
            <p:cNvPr id="32" name="Text Box 42"/>
            <p:cNvSpPr txBox="1">
              <a:spLocks noChangeArrowheads="1"/>
            </p:cNvSpPr>
            <p:nvPr/>
          </p:nvSpPr>
          <p:spPr bwMode="auto">
            <a:xfrm>
              <a:off x="1842" y="1728"/>
              <a:ext cx="240" cy="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1200" b="1">
                  <a:ea typeface="楷体" panose="02010609060101010101" pitchFamily="49" charset="-122"/>
                </a:rPr>
                <a:t>0</a:t>
              </a:r>
            </a:p>
            <a:p>
              <a:r>
                <a:rPr lang="en-US" altLang="zh-CN" sz="1200" b="1">
                  <a:ea typeface="楷体" panose="02010609060101010101" pitchFamily="49" charset="-122"/>
                </a:rPr>
                <a:t>1</a:t>
              </a:r>
            </a:p>
            <a:p>
              <a:r>
                <a:rPr lang="en-US" altLang="zh-CN" sz="1200" b="1">
                  <a:ea typeface="楷体" panose="02010609060101010101" pitchFamily="49" charset="-122"/>
                </a:rPr>
                <a:t>.</a:t>
              </a:r>
            </a:p>
            <a:p>
              <a:r>
                <a:rPr lang="en-US" altLang="zh-CN" sz="1200" b="1">
                  <a:ea typeface="楷体" panose="02010609060101010101" pitchFamily="49" charset="-122"/>
                </a:rPr>
                <a:t>.</a:t>
              </a:r>
            </a:p>
            <a:p>
              <a:r>
                <a:rPr lang="en-US" altLang="zh-CN" sz="1200" b="1">
                  <a:ea typeface="楷体" panose="02010609060101010101" pitchFamily="49" charset="-122"/>
                </a:rPr>
                <a:t>.</a:t>
              </a:r>
            </a:p>
          </p:txBody>
        </p:sp>
        <p:sp>
          <p:nvSpPr>
            <p:cNvPr id="33" name="Text Box 43"/>
            <p:cNvSpPr txBox="1">
              <a:spLocks noChangeArrowheads="1"/>
            </p:cNvSpPr>
            <p:nvPr/>
          </p:nvSpPr>
          <p:spPr bwMode="auto">
            <a:xfrm>
              <a:off x="2139" y="2622"/>
              <a:ext cx="43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800" b="1">
                  <a:ea typeface="楷体" panose="02010609060101010101" pitchFamily="49" charset="-122"/>
                </a:rPr>
                <a:t>虚存</a:t>
              </a:r>
            </a:p>
          </p:txBody>
        </p:sp>
      </p:grpSp>
      <p:grpSp>
        <p:nvGrpSpPr>
          <p:cNvPr id="34" name="Group 44"/>
          <p:cNvGrpSpPr>
            <a:grpSpLocks/>
          </p:cNvGrpSpPr>
          <p:nvPr/>
        </p:nvGrpSpPr>
        <p:grpSpPr bwMode="auto">
          <a:xfrm>
            <a:off x="6849095" y="4523383"/>
            <a:ext cx="1190625" cy="1785937"/>
            <a:chOff x="1842" y="1728"/>
            <a:chExt cx="750" cy="1125"/>
          </a:xfrm>
        </p:grpSpPr>
        <p:sp>
          <p:nvSpPr>
            <p:cNvPr id="35" name="Rectangle 45"/>
            <p:cNvSpPr>
              <a:spLocks noChangeArrowheads="1"/>
            </p:cNvSpPr>
            <p:nvPr/>
          </p:nvSpPr>
          <p:spPr bwMode="auto">
            <a:xfrm>
              <a:off x="2016" y="1728"/>
              <a:ext cx="576" cy="912"/>
            </a:xfrm>
            <a:prstGeom prst="rect">
              <a:avLst/>
            </a:prstGeom>
            <a:solidFill>
              <a:srgbClr val="FFFF00"/>
            </a:solidFill>
            <a:ln w="9525">
              <a:solidFill>
                <a:schemeClr val="tx1"/>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36" name="Line 46"/>
            <p:cNvSpPr>
              <a:spLocks noChangeShapeType="1"/>
            </p:cNvSpPr>
            <p:nvPr/>
          </p:nvSpPr>
          <p:spPr bwMode="auto">
            <a:xfrm>
              <a:off x="2016" y="1857"/>
              <a:ext cx="576"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37" name="Line 47"/>
            <p:cNvSpPr>
              <a:spLocks noChangeShapeType="1"/>
            </p:cNvSpPr>
            <p:nvPr/>
          </p:nvSpPr>
          <p:spPr bwMode="auto">
            <a:xfrm>
              <a:off x="2016" y="2004"/>
              <a:ext cx="576"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38" name="Line 48"/>
            <p:cNvSpPr>
              <a:spLocks noChangeShapeType="1"/>
            </p:cNvSpPr>
            <p:nvPr/>
          </p:nvSpPr>
          <p:spPr bwMode="auto">
            <a:xfrm>
              <a:off x="2016" y="2142"/>
              <a:ext cx="576"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39" name="Line 49"/>
            <p:cNvSpPr>
              <a:spLocks noChangeShapeType="1"/>
            </p:cNvSpPr>
            <p:nvPr/>
          </p:nvSpPr>
          <p:spPr bwMode="auto">
            <a:xfrm>
              <a:off x="2007" y="2496"/>
              <a:ext cx="576"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40" name="Text Box 50"/>
            <p:cNvSpPr txBox="1">
              <a:spLocks noChangeArrowheads="1"/>
            </p:cNvSpPr>
            <p:nvPr/>
          </p:nvSpPr>
          <p:spPr bwMode="auto">
            <a:xfrm>
              <a:off x="2204" y="2265"/>
              <a:ext cx="310"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p>
              <a:pPr>
                <a:spcBef>
                  <a:spcPct val="50000"/>
                </a:spcBef>
              </a:pPr>
              <a:r>
                <a:rPr lang="en-US" altLang="zh-CN" sz="2000" b="1">
                  <a:ea typeface="楷体" panose="02010609060101010101" pitchFamily="49" charset="-122"/>
                </a:rPr>
                <a:t>…</a:t>
              </a:r>
            </a:p>
          </p:txBody>
        </p:sp>
        <p:sp>
          <p:nvSpPr>
            <p:cNvPr id="41" name="Text Box 51"/>
            <p:cNvSpPr txBox="1">
              <a:spLocks noChangeArrowheads="1"/>
            </p:cNvSpPr>
            <p:nvPr/>
          </p:nvSpPr>
          <p:spPr bwMode="auto">
            <a:xfrm>
              <a:off x="1842" y="1728"/>
              <a:ext cx="240" cy="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1200" b="1">
                  <a:ea typeface="楷体" panose="02010609060101010101" pitchFamily="49" charset="-122"/>
                </a:rPr>
                <a:t>0</a:t>
              </a:r>
            </a:p>
            <a:p>
              <a:r>
                <a:rPr lang="en-US" altLang="zh-CN" sz="1200" b="1">
                  <a:ea typeface="楷体" panose="02010609060101010101" pitchFamily="49" charset="-122"/>
                </a:rPr>
                <a:t>1</a:t>
              </a:r>
            </a:p>
            <a:p>
              <a:r>
                <a:rPr lang="en-US" altLang="zh-CN" sz="1200" b="1">
                  <a:ea typeface="楷体" panose="02010609060101010101" pitchFamily="49" charset="-122"/>
                </a:rPr>
                <a:t>.</a:t>
              </a:r>
            </a:p>
            <a:p>
              <a:r>
                <a:rPr lang="en-US" altLang="zh-CN" sz="1200" b="1">
                  <a:ea typeface="楷体" panose="02010609060101010101" pitchFamily="49" charset="-122"/>
                </a:rPr>
                <a:t>.</a:t>
              </a:r>
            </a:p>
            <a:p>
              <a:r>
                <a:rPr lang="en-US" altLang="zh-CN" sz="1200" b="1">
                  <a:ea typeface="楷体" panose="02010609060101010101" pitchFamily="49" charset="-122"/>
                </a:rPr>
                <a:t>.</a:t>
              </a:r>
            </a:p>
          </p:txBody>
        </p:sp>
        <p:sp>
          <p:nvSpPr>
            <p:cNvPr id="42" name="Text Box 52"/>
            <p:cNvSpPr txBox="1">
              <a:spLocks noChangeArrowheads="1"/>
            </p:cNvSpPr>
            <p:nvPr/>
          </p:nvSpPr>
          <p:spPr bwMode="auto">
            <a:xfrm>
              <a:off x="2139" y="2622"/>
              <a:ext cx="43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800" b="1">
                  <a:ea typeface="楷体" panose="02010609060101010101" pitchFamily="49" charset="-122"/>
                </a:rPr>
                <a:t>虚存</a:t>
              </a:r>
            </a:p>
          </p:txBody>
        </p:sp>
      </p:grpSp>
      <p:sp>
        <p:nvSpPr>
          <p:cNvPr id="43" name="Text Box 53"/>
          <p:cNvSpPr txBox="1">
            <a:spLocks noChangeArrowheads="1"/>
          </p:cNvSpPr>
          <p:nvPr/>
        </p:nvSpPr>
        <p:spPr bwMode="auto">
          <a:xfrm>
            <a:off x="6163295" y="4980583"/>
            <a:ext cx="6096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ea typeface="楷体" panose="02010609060101010101" pitchFamily="49" charset="-122"/>
              </a:rPr>
              <a:t>…</a:t>
            </a:r>
          </a:p>
        </p:txBody>
      </p:sp>
    </p:spTree>
    <p:extLst>
      <p:ext uri="{BB962C8B-B14F-4D97-AF65-F5344CB8AC3E}">
        <p14:creationId xmlns:p14="http://schemas.microsoft.com/office/powerpoint/2010/main" val="200914468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存储管理的功能</a:t>
            </a:r>
          </a:p>
        </p:txBody>
      </p:sp>
      <p:sp>
        <p:nvSpPr>
          <p:cNvPr id="3" name="Content Placeholder 2"/>
          <p:cNvSpPr>
            <a:spLocks noGrp="1"/>
          </p:cNvSpPr>
          <p:nvPr>
            <p:ph idx="1"/>
          </p:nvPr>
        </p:nvSpPr>
        <p:spPr/>
        <p:txBody>
          <a:bodyPr/>
          <a:lstStyle/>
          <a:p>
            <a:r>
              <a:rPr lang="zh-CN" altLang="en-US" dirty="0"/>
              <a:t>地址映射</a:t>
            </a:r>
            <a:endParaRPr lang="en-US" altLang="zh-CN" dirty="0"/>
          </a:p>
          <a:p>
            <a:pPr lvl="1"/>
            <a:endParaRPr lang="en-US" altLang="zh-CN" dirty="0"/>
          </a:p>
          <a:p>
            <a:pPr lvl="1"/>
            <a:r>
              <a:rPr lang="zh-CN" altLang="en-US" dirty="0"/>
              <a:t>将用户程序中的逻辑地址转换为运行时由机器直接寻址的物理地址</a:t>
            </a:r>
            <a:endParaRPr lang="en-US" altLang="zh-CN" dirty="0"/>
          </a:p>
          <a:p>
            <a:pPr lvl="1"/>
            <a:endParaRPr lang="en-US" altLang="zh-CN" dirty="0"/>
          </a:p>
          <a:p>
            <a:pPr lvl="1"/>
            <a:r>
              <a:rPr lang="zh-CN" altLang="en-US" dirty="0"/>
              <a:t>当程序装入内存时，操作系统要为该程序分配一个合适的内存空间，由于程序的逻辑地址与分配到内存物理地址不一致，而</a:t>
            </a:r>
            <a:r>
              <a:rPr lang="en-US" altLang="zh-CN" dirty="0"/>
              <a:t>CPU</a:t>
            </a:r>
            <a:r>
              <a:rPr lang="zh-CN" altLang="en-US" dirty="0"/>
              <a:t>执行指令时，是按物理地址进行的，所以要进行地址转换</a:t>
            </a:r>
          </a:p>
          <a:p>
            <a:pPr lvl="1"/>
            <a:endParaRPr lang="zh-CN" altLang="en-US" dirty="0"/>
          </a:p>
          <a:p>
            <a:pPr lvl="1"/>
            <a:endParaRPr lang="en-US" altLang="zh-CN" dirty="0"/>
          </a:p>
          <a:p>
            <a:endParaRPr lang="en-US" altLang="zh-CN" dirty="0"/>
          </a:p>
        </p:txBody>
      </p:sp>
      <p:sp>
        <p:nvSpPr>
          <p:cNvPr id="4" name="Date Placeholder 3"/>
          <p:cNvSpPr>
            <a:spLocks noGrp="1"/>
          </p:cNvSpPr>
          <p:nvPr>
            <p:ph type="dt" sz="half" idx="10"/>
          </p:nvPr>
        </p:nvSpPr>
        <p:spPr/>
        <p:txBody>
          <a:bodyPr/>
          <a:lstStyle/>
          <a:p>
            <a:fld id="{CDE24380-C72B-4F3A-86A4-426A6D2827FC}"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13</a:t>
            </a:fld>
            <a:endParaRPr lang="zh-CN" altLang="en-US" dirty="0"/>
          </a:p>
        </p:txBody>
      </p:sp>
    </p:spTree>
    <p:extLst>
      <p:ext uri="{BB962C8B-B14F-4D97-AF65-F5344CB8AC3E}">
        <p14:creationId xmlns:p14="http://schemas.microsoft.com/office/powerpoint/2010/main" val="375758677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存储管理的功能</a:t>
            </a:r>
          </a:p>
        </p:txBody>
      </p:sp>
      <p:sp>
        <p:nvSpPr>
          <p:cNvPr id="3" name="Content Placeholder 2"/>
          <p:cNvSpPr>
            <a:spLocks noGrp="1"/>
          </p:cNvSpPr>
          <p:nvPr>
            <p:ph idx="1"/>
          </p:nvPr>
        </p:nvSpPr>
        <p:spPr/>
        <p:txBody>
          <a:bodyPr/>
          <a:lstStyle/>
          <a:p>
            <a:r>
              <a:rPr lang="zh-CN" altLang="en-US" dirty="0"/>
              <a:t>静态地址重定位</a:t>
            </a:r>
            <a:endParaRPr lang="en-US" altLang="zh-CN" dirty="0"/>
          </a:p>
          <a:p>
            <a:pPr lvl="1"/>
            <a:r>
              <a:rPr lang="zh-CN" altLang="en-US" dirty="0"/>
              <a:t>在虚拟空间程序执行之前由装配程序完成地址映射</a:t>
            </a:r>
          </a:p>
          <a:p>
            <a:pPr lvl="1"/>
            <a:endParaRPr lang="zh-CN" altLang="en-US" dirty="0"/>
          </a:p>
        </p:txBody>
      </p:sp>
      <p:sp>
        <p:nvSpPr>
          <p:cNvPr id="4" name="Date Placeholder 3"/>
          <p:cNvSpPr>
            <a:spLocks noGrp="1"/>
          </p:cNvSpPr>
          <p:nvPr>
            <p:ph type="dt" sz="half" idx="10"/>
          </p:nvPr>
        </p:nvSpPr>
        <p:spPr/>
        <p:txBody>
          <a:bodyPr/>
          <a:lstStyle/>
          <a:p>
            <a:fld id="{7DF1C7FB-54A6-47DA-9A62-5976E2E32DB4}"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14</a:t>
            </a:fld>
            <a:endParaRPr lang="zh-CN" altLang="en-US" dirty="0"/>
          </a:p>
        </p:txBody>
      </p:sp>
      <p:sp>
        <p:nvSpPr>
          <p:cNvPr id="7" name="Text Box 27"/>
          <p:cNvSpPr txBox="1">
            <a:spLocks noChangeArrowheads="1"/>
          </p:cNvSpPr>
          <p:nvPr/>
        </p:nvSpPr>
        <p:spPr bwMode="auto">
          <a:xfrm>
            <a:off x="1762745" y="3474790"/>
            <a:ext cx="1728788" cy="1077218"/>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80000"/>
              </a:lnSpc>
            </a:pPr>
            <a:r>
              <a:rPr lang="en-US" altLang="zh-CN" sz="2000" b="1">
                <a:ea typeface="楷体" panose="02010609060101010101" pitchFamily="49" charset="-122"/>
              </a:rPr>
              <a:t>.</a:t>
            </a:r>
          </a:p>
          <a:p>
            <a:pPr algn="ctr">
              <a:lnSpc>
                <a:spcPct val="80000"/>
              </a:lnSpc>
            </a:pPr>
            <a:r>
              <a:rPr lang="en-US" altLang="zh-CN" sz="2000" b="1">
                <a:ea typeface="楷体" panose="02010609060101010101" pitchFamily="49" charset="-122"/>
              </a:rPr>
              <a:t>Mov AX,[    k]</a:t>
            </a:r>
          </a:p>
          <a:p>
            <a:pPr algn="ctr">
              <a:lnSpc>
                <a:spcPct val="80000"/>
              </a:lnSpc>
            </a:pPr>
            <a:r>
              <a:rPr lang="en-US" altLang="zh-CN" sz="2000" b="1">
                <a:ea typeface="楷体" panose="02010609060101010101" pitchFamily="49" charset="-122"/>
              </a:rPr>
              <a:t>.</a:t>
            </a:r>
          </a:p>
          <a:p>
            <a:pPr algn="ctr">
              <a:lnSpc>
                <a:spcPct val="80000"/>
              </a:lnSpc>
            </a:pPr>
            <a:r>
              <a:rPr lang="en-US" altLang="zh-CN" sz="2000" b="1">
                <a:ea typeface="楷体" panose="02010609060101010101" pitchFamily="49" charset="-122"/>
              </a:rPr>
              <a:t>.</a:t>
            </a:r>
          </a:p>
        </p:txBody>
      </p:sp>
      <p:sp>
        <p:nvSpPr>
          <p:cNvPr id="8" name="Text Box 20"/>
          <p:cNvSpPr txBox="1">
            <a:spLocks noChangeArrowheads="1"/>
          </p:cNvSpPr>
          <p:nvPr/>
        </p:nvSpPr>
        <p:spPr bwMode="auto">
          <a:xfrm>
            <a:off x="1762745" y="3042990"/>
            <a:ext cx="115252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a:ea typeface="楷体" panose="02010609060101010101" pitchFamily="49" charset="-122"/>
              </a:rPr>
              <a:t>进程：</a:t>
            </a:r>
          </a:p>
        </p:txBody>
      </p:sp>
      <p:grpSp>
        <p:nvGrpSpPr>
          <p:cNvPr id="9" name="Group 32"/>
          <p:cNvGrpSpPr>
            <a:grpSpLocks/>
          </p:cNvGrpSpPr>
          <p:nvPr/>
        </p:nvGrpSpPr>
        <p:grpSpPr bwMode="auto">
          <a:xfrm>
            <a:off x="1043608" y="3344615"/>
            <a:ext cx="2447925" cy="1311275"/>
            <a:chOff x="839" y="2713"/>
            <a:chExt cx="1542" cy="826"/>
          </a:xfrm>
        </p:grpSpPr>
        <p:sp>
          <p:nvSpPr>
            <p:cNvPr id="10" name="Text Box 21"/>
            <p:cNvSpPr txBox="1">
              <a:spLocks noChangeArrowheads="1"/>
            </p:cNvSpPr>
            <p:nvPr/>
          </p:nvSpPr>
          <p:spPr bwMode="auto">
            <a:xfrm>
              <a:off x="1292" y="2795"/>
              <a:ext cx="1089" cy="680"/>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80000"/>
                </a:lnSpc>
              </a:pPr>
              <a:r>
                <a:rPr lang="en-US" altLang="zh-CN" sz="2000" b="1">
                  <a:ea typeface="楷体" panose="02010609060101010101" pitchFamily="49" charset="-122"/>
                </a:rPr>
                <a:t>.</a:t>
              </a:r>
            </a:p>
            <a:p>
              <a:pPr algn="ctr">
                <a:lnSpc>
                  <a:spcPct val="80000"/>
                </a:lnSpc>
              </a:pPr>
              <a:r>
                <a:rPr lang="en-US" altLang="zh-CN" sz="2000" b="1">
                  <a:ea typeface="楷体" panose="02010609060101010101" pitchFamily="49" charset="-122"/>
                </a:rPr>
                <a:t>Mov AX,[20k]</a:t>
              </a:r>
            </a:p>
            <a:p>
              <a:pPr algn="ctr">
                <a:lnSpc>
                  <a:spcPct val="80000"/>
                </a:lnSpc>
              </a:pPr>
              <a:r>
                <a:rPr lang="en-US" altLang="zh-CN" sz="2000" b="1">
                  <a:ea typeface="楷体" panose="02010609060101010101" pitchFamily="49" charset="-122"/>
                </a:rPr>
                <a:t>.</a:t>
              </a:r>
            </a:p>
            <a:p>
              <a:pPr algn="ctr">
                <a:lnSpc>
                  <a:spcPct val="80000"/>
                </a:lnSpc>
              </a:pPr>
              <a:r>
                <a:rPr lang="en-US" altLang="zh-CN" sz="2000" b="1">
                  <a:ea typeface="楷体" panose="02010609060101010101" pitchFamily="49" charset="-122"/>
                </a:rPr>
                <a:t>.</a:t>
              </a:r>
            </a:p>
          </p:txBody>
        </p:sp>
        <p:sp>
          <p:nvSpPr>
            <p:cNvPr id="11" name="Text Box 22"/>
            <p:cNvSpPr txBox="1">
              <a:spLocks noChangeArrowheads="1"/>
            </p:cNvSpPr>
            <p:nvPr/>
          </p:nvSpPr>
          <p:spPr bwMode="auto">
            <a:xfrm>
              <a:off x="839" y="2713"/>
              <a:ext cx="454" cy="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en-US" altLang="zh-CN" sz="2000" b="1">
                  <a:ea typeface="楷体" panose="02010609060101010101" pitchFamily="49" charset="-122"/>
                </a:rPr>
                <a:t>0</a:t>
              </a:r>
            </a:p>
            <a:p>
              <a:pPr algn="r">
                <a:spcBef>
                  <a:spcPct val="50000"/>
                </a:spcBef>
              </a:pPr>
              <a:endParaRPr lang="en-US" altLang="zh-CN" sz="2000" b="1">
                <a:ea typeface="楷体" panose="02010609060101010101" pitchFamily="49" charset="-122"/>
              </a:endParaRPr>
            </a:p>
            <a:p>
              <a:pPr algn="r">
                <a:spcBef>
                  <a:spcPct val="50000"/>
                </a:spcBef>
              </a:pPr>
              <a:r>
                <a:rPr lang="en-US" altLang="zh-CN" sz="2000" b="1">
                  <a:ea typeface="楷体" panose="02010609060101010101" pitchFamily="49" charset="-122"/>
                </a:rPr>
                <a:t>30k</a:t>
              </a:r>
            </a:p>
          </p:txBody>
        </p:sp>
      </p:grpSp>
      <p:grpSp>
        <p:nvGrpSpPr>
          <p:cNvPr id="12" name="Group 33"/>
          <p:cNvGrpSpPr>
            <a:grpSpLocks/>
          </p:cNvGrpSpPr>
          <p:nvPr/>
        </p:nvGrpSpPr>
        <p:grpSpPr bwMode="auto">
          <a:xfrm>
            <a:off x="5363195" y="2996952"/>
            <a:ext cx="2305050" cy="2892425"/>
            <a:chOff x="3061" y="2503"/>
            <a:chExt cx="1452" cy="1822"/>
          </a:xfrm>
        </p:grpSpPr>
        <p:sp>
          <p:nvSpPr>
            <p:cNvPr id="13" name="Text Box 23"/>
            <p:cNvSpPr txBox="1">
              <a:spLocks noChangeArrowheads="1"/>
            </p:cNvSpPr>
            <p:nvPr/>
          </p:nvSpPr>
          <p:spPr bwMode="auto">
            <a:xfrm>
              <a:off x="3424" y="2568"/>
              <a:ext cx="1089" cy="169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2000" b="1">
                  <a:ea typeface="楷体" panose="02010609060101010101" pitchFamily="49" charset="-122"/>
                </a:rPr>
                <a:t>操作系统</a:t>
              </a:r>
            </a:p>
            <a:p>
              <a:pPr algn="ctr">
                <a:spcBef>
                  <a:spcPct val="50000"/>
                </a:spcBef>
              </a:pPr>
              <a:endParaRPr lang="zh-CN" altLang="en-US" sz="2000" b="1">
                <a:ea typeface="楷体" panose="02010609060101010101" pitchFamily="49" charset="-122"/>
              </a:endParaRPr>
            </a:p>
            <a:p>
              <a:pPr algn="ctr">
                <a:spcBef>
                  <a:spcPct val="50000"/>
                </a:spcBef>
              </a:pPr>
              <a:endParaRPr lang="zh-CN" altLang="en-US" sz="2000" b="1">
                <a:ea typeface="楷体" panose="02010609060101010101" pitchFamily="49" charset="-122"/>
              </a:endParaRPr>
            </a:p>
            <a:p>
              <a:pPr algn="ctr">
                <a:spcBef>
                  <a:spcPct val="50000"/>
                </a:spcBef>
              </a:pPr>
              <a:endParaRPr lang="zh-CN" altLang="en-US" sz="2000" b="1">
                <a:ea typeface="楷体" panose="02010609060101010101" pitchFamily="49" charset="-122"/>
              </a:endParaRPr>
            </a:p>
            <a:p>
              <a:pPr algn="ctr">
                <a:spcBef>
                  <a:spcPct val="50000"/>
                </a:spcBef>
              </a:pPr>
              <a:endParaRPr lang="zh-CN" altLang="en-US" sz="2000" b="1">
                <a:ea typeface="楷体" panose="02010609060101010101" pitchFamily="49" charset="-122"/>
              </a:endParaRPr>
            </a:p>
            <a:p>
              <a:pPr algn="ctr">
                <a:spcBef>
                  <a:spcPct val="50000"/>
                </a:spcBef>
              </a:pPr>
              <a:endParaRPr lang="en-US" altLang="zh-CN" sz="2000" b="1">
                <a:ea typeface="楷体" panose="02010609060101010101" pitchFamily="49" charset="-122"/>
              </a:endParaRPr>
            </a:p>
          </p:txBody>
        </p:sp>
        <p:sp>
          <p:nvSpPr>
            <p:cNvPr id="14" name="Line 28"/>
            <p:cNvSpPr>
              <a:spLocks noChangeShapeType="1"/>
            </p:cNvSpPr>
            <p:nvPr/>
          </p:nvSpPr>
          <p:spPr bwMode="auto">
            <a:xfrm>
              <a:off x="3424" y="2795"/>
              <a:ext cx="108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15" name="Line 29"/>
            <p:cNvSpPr>
              <a:spLocks noChangeShapeType="1"/>
            </p:cNvSpPr>
            <p:nvPr/>
          </p:nvSpPr>
          <p:spPr bwMode="auto">
            <a:xfrm>
              <a:off x="3415" y="2967"/>
              <a:ext cx="108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16" name="Line 30"/>
            <p:cNvSpPr>
              <a:spLocks noChangeShapeType="1"/>
            </p:cNvSpPr>
            <p:nvPr/>
          </p:nvSpPr>
          <p:spPr bwMode="auto">
            <a:xfrm>
              <a:off x="3415" y="3657"/>
              <a:ext cx="108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17" name="Text Box 31"/>
            <p:cNvSpPr txBox="1">
              <a:spLocks noChangeArrowheads="1"/>
            </p:cNvSpPr>
            <p:nvPr/>
          </p:nvSpPr>
          <p:spPr bwMode="auto">
            <a:xfrm>
              <a:off x="3061" y="2503"/>
              <a:ext cx="363" cy="18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lnSpc>
                  <a:spcPct val="70000"/>
                </a:lnSpc>
              </a:pPr>
              <a:r>
                <a:rPr lang="en-US" altLang="zh-CN" sz="2000" b="1">
                  <a:ea typeface="楷体" panose="02010609060101010101" pitchFamily="49" charset="-122"/>
                </a:rPr>
                <a:t>0</a:t>
              </a:r>
            </a:p>
            <a:p>
              <a:pPr algn="r">
                <a:lnSpc>
                  <a:spcPct val="70000"/>
                </a:lnSpc>
              </a:pPr>
              <a:endParaRPr lang="en-US" altLang="zh-CN" sz="2000" b="1">
                <a:ea typeface="楷体" panose="02010609060101010101" pitchFamily="49" charset="-122"/>
              </a:endParaRPr>
            </a:p>
            <a:p>
              <a:pPr algn="r">
                <a:lnSpc>
                  <a:spcPct val="70000"/>
                </a:lnSpc>
              </a:pPr>
              <a:endParaRPr lang="en-US" altLang="zh-CN" sz="2000" b="1">
                <a:ea typeface="楷体" panose="02010609060101010101" pitchFamily="49" charset="-122"/>
              </a:endParaRPr>
            </a:p>
            <a:p>
              <a:pPr algn="r">
                <a:lnSpc>
                  <a:spcPct val="70000"/>
                </a:lnSpc>
              </a:pPr>
              <a:r>
                <a:rPr lang="en-US" altLang="zh-CN" sz="2000" b="1">
                  <a:ea typeface="楷体" panose="02010609060101010101" pitchFamily="49" charset="-122"/>
                </a:rPr>
                <a:t>50</a:t>
              </a:r>
            </a:p>
            <a:p>
              <a:pPr algn="r">
                <a:lnSpc>
                  <a:spcPct val="70000"/>
                </a:lnSpc>
              </a:pPr>
              <a:endParaRPr lang="en-US" altLang="zh-CN" sz="2000" b="1">
                <a:ea typeface="楷体" panose="02010609060101010101" pitchFamily="49" charset="-122"/>
              </a:endParaRPr>
            </a:p>
            <a:p>
              <a:pPr algn="r">
                <a:lnSpc>
                  <a:spcPct val="70000"/>
                </a:lnSpc>
              </a:pPr>
              <a:endParaRPr lang="en-US" altLang="zh-CN" sz="2000" b="1">
                <a:ea typeface="楷体" panose="02010609060101010101" pitchFamily="49" charset="-122"/>
              </a:endParaRPr>
            </a:p>
            <a:p>
              <a:pPr algn="r">
                <a:lnSpc>
                  <a:spcPct val="70000"/>
                </a:lnSpc>
              </a:pPr>
              <a:endParaRPr lang="en-US" altLang="zh-CN" sz="2000" b="1">
                <a:ea typeface="楷体" panose="02010609060101010101" pitchFamily="49" charset="-122"/>
              </a:endParaRPr>
            </a:p>
            <a:p>
              <a:pPr algn="r">
                <a:lnSpc>
                  <a:spcPct val="70000"/>
                </a:lnSpc>
              </a:pPr>
              <a:endParaRPr lang="en-US" altLang="zh-CN" sz="2000" b="1">
                <a:ea typeface="楷体" panose="02010609060101010101" pitchFamily="49" charset="-122"/>
              </a:endParaRPr>
            </a:p>
            <a:p>
              <a:pPr algn="r">
                <a:lnSpc>
                  <a:spcPct val="70000"/>
                </a:lnSpc>
              </a:pPr>
              <a:r>
                <a:rPr lang="en-US" altLang="zh-CN" sz="2000" b="1">
                  <a:ea typeface="楷体" panose="02010609060101010101" pitchFamily="49" charset="-122"/>
                </a:rPr>
                <a:t>80</a:t>
              </a:r>
            </a:p>
            <a:p>
              <a:pPr algn="r">
                <a:lnSpc>
                  <a:spcPct val="70000"/>
                </a:lnSpc>
              </a:pPr>
              <a:endParaRPr lang="en-US" altLang="zh-CN" sz="2000" b="1">
                <a:ea typeface="楷体" panose="02010609060101010101" pitchFamily="49" charset="-122"/>
              </a:endParaRPr>
            </a:p>
            <a:p>
              <a:pPr algn="r">
                <a:lnSpc>
                  <a:spcPct val="70000"/>
                </a:lnSpc>
              </a:pPr>
              <a:endParaRPr lang="en-US" altLang="zh-CN" sz="2000" b="1">
                <a:ea typeface="楷体" panose="02010609060101010101" pitchFamily="49" charset="-122"/>
              </a:endParaRPr>
            </a:p>
            <a:p>
              <a:pPr algn="r">
                <a:lnSpc>
                  <a:spcPct val="70000"/>
                </a:lnSpc>
              </a:pPr>
              <a:endParaRPr lang="en-US" altLang="zh-CN" sz="2000" b="1">
                <a:ea typeface="楷体" panose="02010609060101010101" pitchFamily="49" charset="-122"/>
              </a:endParaRPr>
            </a:p>
            <a:p>
              <a:pPr algn="r">
                <a:lnSpc>
                  <a:spcPct val="70000"/>
                </a:lnSpc>
              </a:pPr>
              <a:r>
                <a:rPr lang="en-US" altLang="zh-CN" sz="2000" b="1">
                  <a:ea typeface="楷体" panose="02010609060101010101" pitchFamily="49" charset="-122"/>
                </a:rPr>
                <a:t>120</a:t>
              </a:r>
            </a:p>
          </p:txBody>
        </p:sp>
      </p:grpSp>
      <p:sp>
        <p:nvSpPr>
          <p:cNvPr id="18" name="Text Box 34"/>
          <p:cNvSpPr txBox="1">
            <a:spLocks noChangeArrowheads="1"/>
          </p:cNvSpPr>
          <p:nvPr/>
        </p:nvSpPr>
        <p:spPr bwMode="auto">
          <a:xfrm>
            <a:off x="3664570" y="4143127"/>
            <a:ext cx="17287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1">
                <a:solidFill>
                  <a:srgbClr val="FF3300"/>
                </a:solidFill>
                <a:ea typeface="楷体" panose="02010609060101010101" pitchFamily="49" charset="-122"/>
              </a:rPr>
              <a:t>20k+50k=70k</a:t>
            </a:r>
          </a:p>
        </p:txBody>
      </p:sp>
      <p:grpSp>
        <p:nvGrpSpPr>
          <p:cNvPr id="19" name="Group 40"/>
          <p:cNvGrpSpPr>
            <a:grpSpLocks/>
          </p:cNvGrpSpPr>
          <p:nvPr/>
        </p:nvGrpSpPr>
        <p:grpSpPr bwMode="auto">
          <a:xfrm>
            <a:off x="3131170" y="3762127"/>
            <a:ext cx="2376488" cy="504825"/>
            <a:chOff x="2018" y="2960"/>
            <a:chExt cx="1497" cy="318"/>
          </a:xfrm>
        </p:grpSpPr>
        <p:sp>
          <p:nvSpPr>
            <p:cNvPr id="20" name="Line 35"/>
            <p:cNvSpPr>
              <a:spLocks noChangeShapeType="1"/>
            </p:cNvSpPr>
            <p:nvPr/>
          </p:nvSpPr>
          <p:spPr bwMode="auto">
            <a:xfrm>
              <a:off x="2018" y="3097"/>
              <a:ext cx="408" cy="181"/>
            </a:xfrm>
            <a:prstGeom prst="line">
              <a:avLst/>
            </a:prstGeom>
            <a:noFill/>
            <a:ln w="952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21" name="Line 36"/>
            <p:cNvSpPr>
              <a:spLocks noChangeShapeType="1"/>
            </p:cNvSpPr>
            <p:nvPr/>
          </p:nvSpPr>
          <p:spPr bwMode="auto">
            <a:xfrm flipH="1">
              <a:off x="2880" y="2960"/>
              <a:ext cx="635" cy="273"/>
            </a:xfrm>
            <a:prstGeom prst="line">
              <a:avLst/>
            </a:prstGeom>
            <a:noFill/>
            <a:ln w="952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grpSp>
        <p:nvGrpSpPr>
          <p:cNvPr id="22" name="Group 41"/>
          <p:cNvGrpSpPr>
            <a:grpSpLocks/>
          </p:cNvGrpSpPr>
          <p:nvPr/>
        </p:nvGrpSpPr>
        <p:grpSpPr bwMode="auto">
          <a:xfrm>
            <a:off x="5004420" y="3965327"/>
            <a:ext cx="2476500" cy="769938"/>
            <a:chOff x="3198" y="3088"/>
            <a:chExt cx="1560" cy="485"/>
          </a:xfrm>
        </p:grpSpPr>
        <p:sp>
          <p:nvSpPr>
            <p:cNvPr id="23" name="Text Box 37"/>
            <p:cNvSpPr txBox="1">
              <a:spLocks noChangeArrowheads="1"/>
            </p:cNvSpPr>
            <p:nvPr/>
          </p:nvSpPr>
          <p:spPr bwMode="auto">
            <a:xfrm>
              <a:off x="4441" y="3088"/>
              <a:ext cx="31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1">
                  <a:solidFill>
                    <a:srgbClr val="FF3300"/>
                  </a:solidFill>
                  <a:ea typeface="楷体" panose="02010609060101010101" pitchFamily="49" charset="-122"/>
                </a:rPr>
                <a:t>70</a:t>
              </a:r>
            </a:p>
          </p:txBody>
        </p:sp>
        <p:sp>
          <p:nvSpPr>
            <p:cNvPr id="24" name="Freeform 38"/>
            <p:cNvSpPr>
              <a:spLocks/>
            </p:cNvSpPr>
            <p:nvPr/>
          </p:nvSpPr>
          <p:spPr bwMode="auto">
            <a:xfrm>
              <a:off x="3198" y="3278"/>
              <a:ext cx="1406" cy="295"/>
            </a:xfrm>
            <a:custGeom>
              <a:avLst/>
              <a:gdLst>
                <a:gd name="T0" fmla="*/ 0 w 1406"/>
                <a:gd name="T1" fmla="*/ 136 h 295"/>
                <a:gd name="T2" fmla="*/ 453 w 1406"/>
                <a:gd name="T3" fmla="*/ 272 h 295"/>
                <a:gd name="T4" fmla="*/ 1406 w 1406"/>
                <a:gd name="T5" fmla="*/ 0 h 295"/>
              </a:gdLst>
              <a:ahLst/>
              <a:cxnLst>
                <a:cxn ang="0">
                  <a:pos x="T0" y="T1"/>
                </a:cxn>
                <a:cxn ang="0">
                  <a:pos x="T2" y="T3"/>
                </a:cxn>
                <a:cxn ang="0">
                  <a:pos x="T4" y="T5"/>
                </a:cxn>
              </a:cxnLst>
              <a:rect l="0" t="0" r="r" b="b"/>
              <a:pathLst>
                <a:path w="1406" h="295">
                  <a:moveTo>
                    <a:pt x="0" y="136"/>
                  </a:moveTo>
                  <a:cubicBezTo>
                    <a:pt x="109" y="215"/>
                    <a:pt x="219" y="295"/>
                    <a:pt x="453" y="272"/>
                  </a:cubicBezTo>
                  <a:cubicBezTo>
                    <a:pt x="687" y="249"/>
                    <a:pt x="1247" y="45"/>
                    <a:pt x="1406" y="0"/>
                  </a:cubicBezTo>
                </a:path>
              </a:pathLst>
            </a:custGeom>
            <a:noFill/>
            <a:ln w="9525">
              <a:solidFill>
                <a:srgbClr val="FF33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Tree>
    <p:extLst>
      <p:ext uri="{BB962C8B-B14F-4D97-AF65-F5344CB8AC3E}">
        <p14:creationId xmlns:p14="http://schemas.microsoft.com/office/powerpoint/2010/main" val="1032750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13403 0.02635 L 0.45833 0.0393 " pathEditMode="relative" rAng="0" ptsTypes="AA">
                                      <p:cBhvr>
                                        <p:cTn id="6" dur="1000" fill="hold"/>
                                        <p:tgtEl>
                                          <p:spTgt spid="7"/>
                                        </p:tgtEl>
                                        <p:attrNameLst>
                                          <p:attrName>ppt_x</p:attrName>
                                          <p:attrName>ppt_y</p:attrName>
                                        </p:attrNameLst>
                                      </p:cBhvr>
                                      <p:rCtr x="16215" y="647"/>
                                    </p:animMotion>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up)">
                                      <p:cBhvr>
                                        <p:cTn id="11" dur="500"/>
                                        <p:tgtEl>
                                          <p:spTgt spid="19"/>
                                        </p:tgtEl>
                                      </p:cBhvr>
                                    </p:animEffect>
                                  </p:childTnLst>
                                </p:cTn>
                              </p:par>
                            </p:childTnLst>
                          </p:cTn>
                        </p:par>
                        <p:par>
                          <p:cTn id="12" fill="hold">
                            <p:stCondLst>
                              <p:cond delay="500"/>
                            </p:stCondLst>
                            <p:childTnLst>
                              <p:par>
                                <p:cTn id="13" presetID="4" presetClass="entr" presetSubtype="32" fill="hold" grpId="0" nodeType="after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box(out)">
                                      <p:cBhvr>
                                        <p:cTn id="15" dur="500"/>
                                        <p:tgtEl>
                                          <p:spTgt spid="18"/>
                                        </p:tgtEl>
                                      </p:cBhvr>
                                    </p:animEffect>
                                  </p:childTnLst>
                                </p:cTn>
                              </p:par>
                            </p:childTnLst>
                          </p:cTn>
                        </p:par>
                        <p:par>
                          <p:cTn id="16" fill="hold">
                            <p:stCondLst>
                              <p:cond delay="1000"/>
                            </p:stCondLst>
                            <p:childTnLst>
                              <p:par>
                                <p:cTn id="17" presetID="18" presetClass="entr" presetSubtype="3" fill="hold" nodeType="after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strips(upRight)">
                                      <p:cBhvr>
                                        <p:cTn id="19"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存储管理的功能</a:t>
            </a:r>
          </a:p>
        </p:txBody>
      </p:sp>
      <p:sp>
        <p:nvSpPr>
          <p:cNvPr id="3" name="Content Placeholder 2"/>
          <p:cNvSpPr>
            <a:spLocks noGrp="1"/>
          </p:cNvSpPr>
          <p:nvPr>
            <p:ph idx="1"/>
          </p:nvPr>
        </p:nvSpPr>
        <p:spPr/>
        <p:txBody>
          <a:bodyPr/>
          <a:lstStyle/>
          <a:p>
            <a:r>
              <a:rPr lang="zh-CN" altLang="en-US" dirty="0"/>
              <a:t>静态地址重定位</a:t>
            </a:r>
            <a:endParaRPr lang="en-US" altLang="zh-CN" dirty="0"/>
          </a:p>
          <a:p>
            <a:r>
              <a:rPr lang="zh-CN" altLang="en-US" dirty="0"/>
              <a:t>优点</a:t>
            </a:r>
            <a:endParaRPr lang="en-US" altLang="zh-CN" dirty="0"/>
          </a:p>
          <a:p>
            <a:pPr lvl="1"/>
            <a:r>
              <a:rPr lang="zh-CN" altLang="en-US" dirty="0"/>
              <a:t>无需硬件支持</a:t>
            </a:r>
            <a:endParaRPr lang="en-US" altLang="zh-CN" dirty="0"/>
          </a:p>
          <a:p>
            <a:endParaRPr lang="en-US" altLang="zh-CN" dirty="0"/>
          </a:p>
          <a:p>
            <a:r>
              <a:rPr lang="zh-CN" altLang="en-US" dirty="0"/>
              <a:t>缺点</a:t>
            </a:r>
            <a:endParaRPr lang="en-US" altLang="zh-CN" dirty="0"/>
          </a:p>
          <a:p>
            <a:pPr lvl="1"/>
            <a:r>
              <a:rPr lang="zh-CN" altLang="en-US" dirty="0"/>
              <a:t>只能装入有限数量的程序</a:t>
            </a:r>
            <a:endParaRPr lang="en-US" altLang="zh-CN" dirty="0"/>
          </a:p>
          <a:p>
            <a:pPr lvl="1"/>
            <a:r>
              <a:rPr lang="zh-CN" altLang="en-US" dirty="0"/>
              <a:t>一个程序占用连续的空间，不易实现共享</a:t>
            </a:r>
            <a:endParaRPr lang="en-US" altLang="zh-CN" dirty="0"/>
          </a:p>
          <a:p>
            <a:pPr lvl="1"/>
            <a:r>
              <a:rPr lang="zh-CN" altLang="en-US" dirty="0"/>
              <a:t>程序一旦装入内存，无法再移动</a:t>
            </a:r>
            <a:endParaRPr lang="en-US" altLang="zh-CN" dirty="0"/>
          </a:p>
          <a:p>
            <a:pPr lvl="1"/>
            <a:r>
              <a:rPr lang="zh-CN" altLang="en-US" dirty="0"/>
              <a:t>无法实现虚拟存储器</a:t>
            </a:r>
          </a:p>
        </p:txBody>
      </p:sp>
      <p:sp>
        <p:nvSpPr>
          <p:cNvPr id="4" name="Date Placeholder 3"/>
          <p:cNvSpPr>
            <a:spLocks noGrp="1"/>
          </p:cNvSpPr>
          <p:nvPr>
            <p:ph type="dt" sz="half" idx="10"/>
          </p:nvPr>
        </p:nvSpPr>
        <p:spPr/>
        <p:txBody>
          <a:bodyPr/>
          <a:lstStyle/>
          <a:p>
            <a:fld id="{FFACFDD5-9FE2-443C-AC6F-705F111536B9}"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15</a:t>
            </a:fld>
            <a:endParaRPr lang="zh-CN" altLang="en-US" dirty="0"/>
          </a:p>
        </p:txBody>
      </p:sp>
    </p:spTree>
    <p:extLst>
      <p:ext uri="{BB962C8B-B14F-4D97-AF65-F5344CB8AC3E}">
        <p14:creationId xmlns:p14="http://schemas.microsoft.com/office/powerpoint/2010/main" val="168519476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存储管理的功能</a:t>
            </a:r>
          </a:p>
        </p:txBody>
      </p:sp>
      <p:sp>
        <p:nvSpPr>
          <p:cNvPr id="3" name="Content Placeholder 2"/>
          <p:cNvSpPr>
            <a:spLocks noGrp="1"/>
          </p:cNvSpPr>
          <p:nvPr>
            <p:ph idx="1"/>
          </p:nvPr>
        </p:nvSpPr>
        <p:spPr/>
        <p:txBody>
          <a:bodyPr>
            <a:normAutofit/>
          </a:bodyPr>
          <a:lstStyle/>
          <a:p>
            <a:r>
              <a:rPr lang="zh-CN" altLang="en-US" dirty="0"/>
              <a:t>动态地址重定位</a:t>
            </a:r>
            <a:endParaRPr lang="en-US" altLang="zh-CN" dirty="0"/>
          </a:p>
          <a:p>
            <a:pPr lvl="1"/>
            <a:endParaRPr lang="en-US" altLang="zh-CN" dirty="0"/>
          </a:p>
          <a:p>
            <a:pPr lvl="1"/>
            <a:r>
              <a:rPr lang="zh-CN" altLang="en-US" dirty="0"/>
              <a:t>在程序运行过程中要访问数据时再进行地址变换（即在逐条指令执行时完成地址映射。一般为了提高效率，此工作由硬件地址映射机制来完成）</a:t>
            </a:r>
          </a:p>
          <a:p>
            <a:pPr lvl="1"/>
            <a:endParaRPr lang="en-US" altLang="zh-CN" dirty="0"/>
          </a:p>
          <a:p>
            <a:pPr lvl="1"/>
            <a:r>
              <a:rPr lang="zh-CN" altLang="en-US" dirty="0"/>
              <a:t>硬件上需要一对寄存器的支持，装入和执行时通过硬件地址变换机构，完成虚拟地址到实际内存地址的变换</a:t>
            </a:r>
          </a:p>
        </p:txBody>
      </p:sp>
      <p:sp>
        <p:nvSpPr>
          <p:cNvPr id="4" name="Date Placeholder 3"/>
          <p:cNvSpPr>
            <a:spLocks noGrp="1"/>
          </p:cNvSpPr>
          <p:nvPr>
            <p:ph type="dt" sz="half" idx="10"/>
          </p:nvPr>
        </p:nvSpPr>
        <p:spPr/>
        <p:txBody>
          <a:bodyPr/>
          <a:lstStyle/>
          <a:p>
            <a:fld id="{5DDF68A0-ACBE-4EB7-829B-178F177829AA}"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16</a:t>
            </a:fld>
            <a:endParaRPr lang="zh-CN" altLang="en-US" dirty="0"/>
          </a:p>
        </p:txBody>
      </p:sp>
    </p:spTree>
    <p:extLst>
      <p:ext uri="{BB962C8B-B14F-4D97-AF65-F5344CB8AC3E}">
        <p14:creationId xmlns:p14="http://schemas.microsoft.com/office/powerpoint/2010/main" val="74156715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存储管理的功能</a:t>
            </a:r>
          </a:p>
        </p:txBody>
      </p:sp>
      <p:sp>
        <p:nvSpPr>
          <p:cNvPr id="3" name="Content Placeholder 2"/>
          <p:cNvSpPr>
            <a:spLocks noGrp="1"/>
          </p:cNvSpPr>
          <p:nvPr>
            <p:ph idx="1"/>
          </p:nvPr>
        </p:nvSpPr>
        <p:spPr/>
        <p:txBody>
          <a:bodyPr/>
          <a:lstStyle/>
          <a:p>
            <a:r>
              <a:rPr lang="zh-CN" altLang="en-US" dirty="0"/>
              <a:t>动态地址重定位</a:t>
            </a:r>
          </a:p>
        </p:txBody>
      </p:sp>
      <p:sp>
        <p:nvSpPr>
          <p:cNvPr id="4" name="Date Placeholder 3"/>
          <p:cNvSpPr>
            <a:spLocks noGrp="1"/>
          </p:cNvSpPr>
          <p:nvPr>
            <p:ph type="dt" sz="half" idx="10"/>
          </p:nvPr>
        </p:nvSpPr>
        <p:spPr/>
        <p:txBody>
          <a:bodyPr/>
          <a:lstStyle/>
          <a:p>
            <a:fld id="{FE14142F-3E2C-486F-8476-C19792D8CC0A}"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17</a:t>
            </a:fld>
            <a:endParaRPr lang="zh-CN" altLang="en-US" dirty="0"/>
          </a:p>
        </p:txBody>
      </p:sp>
      <p:sp>
        <p:nvSpPr>
          <p:cNvPr id="7" name="Slide Number Placeholder 5"/>
          <p:cNvSpPr txBox="1">
            <a:spLocks/>
          </p:cNvSpPr>
          <p:nvPr/>
        </p:nvSpPr>
        <p:spPr>
          <a:xfrm>
            <a:off x="6175301" y="5530676"/>
            <a:ext cx="1905000" cy="457200"/>
          </a:xfrm>
          <a:prstGeom prst="rect">
            <a:avLst/>
          </a:prstGeom>
        </p:spPr>
        <p:txBody>
          <a:bodyPr vert="horz" lIns="91440" tIns="45720" rIns="91440" bIns="45720" rtlCol="0" anchor="ctr"/>
          <a:lstStyle>
            <a:defPPr>
              <a:defRPr lang="zh-CN"/>
            </a:defPPr>
            <a:lvl1pPr marL="0" algn="r" defTabSz="914400" rtl="0" eaLnBrk="1" latinLnBrk="0" hangingPunct="1">
              <a:defRPr sz="1100" kern="1200">
                <a:solidFill>
                  <a:srgbClr val="0000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23F5972-4F9D-45A9-B05F-F236CF89D6C2}" type="slidenum">
              <a:rPr lang="en-US" altLang="zh-CN" smtClean="0">
                <a:ea typeface="楷体" panose="02010609060101010101" pitchFamily="49" charset="-122"/>
              </a:rPr>
              <a:pPr/>
              <a:t>17</a:t>
            </a:fld>
            <a:r>
              <a:rPr lang="en-US" altLang="zh-CN">
                <a:ea typeface="楷体" panose="02010609060101010101" pitchFamily="49" charset="-122"/>
              </a:rPr>
              <a:t>/</a:t>
            </a:r>
            <a:r>
              <a:rPr lang="en-US" altLang="zh-CN">
                <a:solidFill>
                  <a:srgbClr val="FF3300"/>
                </a:solidFill>
                <a:ea typeface="楷体" panose="02010609060101010101" pitchFamily="49" charset="-122"/>
              </a:rPr>
              <a:t>185</a:t>
            </a:r>
          </a:p>
        </p:txBody>
      </p:sp>
      <p:grpSp>
        <p:nvGrpSpPr>
          <p:cNvPr id="8" name="Group 92"/>
          <p:cNvGrpSpPr>
            <a:grpSpLocks/>
          </p:cNvGrpSpPr>
          <p:nvPr/>
        </p:nvGrpSpPr>
        <p:grpSpPr bwMode="auto">
          <a:xfrm>
            <a:off x="755576" y="2204864"/>
            <a:ext cx="2214563" cy="3554412"/>
            <a:chOff x="2004" y="1841"/>
            <a:chExt cx="1395" cy="2239"/>
          </a:xfrm>
        </p:grpSpPr>
        <p:sp>
          <p:nvSpPr>
            <p:cNvPr id="9" name="Rectangle 64"/>
            <p:cNvSpPr>
              <a:spLocks noChangeArrowheads="1"/>
            </p:cNvSpPr>
            <p:nvPr/>
          </p:nvSpPr>
          <p:spPr bwMode="auto">
            <a:xfrm>
              <a:off x="2319" y="2066"/>
              <a:ext cx="1060" cy="2014"/>
            </a:xfrm>
            <a:prstGeom prst="rect">
              <a:avLst/>
            </a:prstGeom>
            <a:solidFill>
              <a:srgbClr val="003399"/>
            </a:solidFill>
            <a:ln w="39688">
              <a:solidFill>
                <a:srgbClr val="FF0000"/>
              </a:solidFill>
              <a:miter lim="800000"/>
              <a:headEnd/>
              <a:tailEnd/>
            </a:ln>
          </p:spPr>
          <p:txBody>
            <a:bodyPr/>
            <a:lstStyle/>
            <a:p>
              <a:endParaRPr lang="zh-CN" altLang="en-US">
                <a:ea typeface="楷体" panose="02010609060101010101" pitchFamily="49" charset="-122"/>
              </a:endParaRPr>
            </a:p>
          </p:txBody>
        </p:sp>
        <p:sp>
          <p:nvSpPr>
            <p:cNvPr id="10" name="Rectangle 65"/>
            <p:cNvSpPr>
              <a:spLocks noChangeArrowheads="1"/>
            </p:cNvSpPr>
            <p:nvPr/>
          </p:nvSpPr>
          <p:spPr bwMode="auto">
            <a:xfrm>
              <a:off x="2498" y="2433"/>
              <a:ext cx="664"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800" b="1">
                  <a:solidFill>
                    <a:srgbClr val="FFFF00"/>
                  </a:solidFill>
                  <a:ea typeface="楷体" panose="02010609060101010101" pitchFamily="49" charset="-122"/>
                </a:rPr>
                <a:t>Load A 200</a:t>
              </a:r>
              <a:endParaRPr lang="en-US" altLang="zh-CN" sz="1800" b="1">
                <a:ea typeface="楷体" panose="02010609060101010101" pitchFamily="49" charset="-122"/>
              </a:endParaRPr>
            </a:p>
          </p:txBody>
        </p:sp>
        <p:sp>
          <p:nvSpPr>
            <p:cNvPr id="11" name="Rectangle 66"/>
            <p:cNvSpPr>
              <a:spLocks noChangeArrowheads="1"/>
            </p:cNvSpPr>
            <p:nvPr/>
          </p:nvSpPr>
          <p:spPr bwMode="auto">
            <a:xfrm>
              <a:off x="2677" y="3620"/>
              <a:ext cx="36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2000" b="1">
                  <a:solidFill>
                    <a:srgbClr val="FFFF00"/>
                  </a:solidFill>
                  <a:ea typeface="楷体" panose="02010609060101010101" pitchFamily="49" charset="-122"/>
                </a:rPr>
                <a:t> 3456</a:t>
              </a:r>
            </a:p>
          </p:txBody>
        </p:sp>
        <p:sp>
          <p:nvSpPr>
            <p:cNvPr id="12" name="Rectangle 68"/>
            <p:cNvSpPr>
              <a:spLocks noChangeArrowheads="1"/>
            </p:cNvSpPr>
            <p:nvPr/>
          </p:nvSpPr>
          <p:spPr bwMode="auto">
            <a:xfrm>
              <a:off x="2148" y="2044"/>
              <a:ext cx="74"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800" b="1">
                  <a:solidFill>
                    <a:srgbClr val="FF0000"/>
                  </a:solidFill>
                  <a:ea typeface="楷体" panose="02010609060101010101" pitchFamily="49" charset="-122"/>
                </a:rPr>
                <a:t>0</a:t>
              </a:r>
            </a:p>
          </p:txBody>
        </p:sp>
        <p:sp>
          <p:nvSpPr>
            <p:cNvPr id="13" name="Rectangle 69"/>
            <p:cNvSpPr>
              <a:spLocks noChangeArrowheads="1"/>
            </p:cNvSpPr>
            <p:nvPr/>
          </p:nvSpPr>
          <p:spPr bwMode="auto">
            <a:xfrm>
              <a:off x="2004" y="2304"/>
              <a:ext cx="221"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800" b="1">
                  <a:solidFill>
                    <a:srgbClr val="FF0000"/>
                  </a:solidFill>
                  <a:ea typeface="楷体" panose="02010609060101010101" pitchFamily="49" charset="-122"/>
                </a:rPr>
                <a:t>100</a:t>
              </a:r>
            </a:p>
          </p:txBody>
        </p:sp>
        <p:sp>
          <p:nvSpPr>
            <p:cNvPr id="14" name="Rectangle 70"/>
            <p:cNvSpPr>
              <a:spLocks noChangeArrowheads="1"/>
            </p:cNvSpPr>
            <p:nvPr/>
          </p:nvSpPr>
          <p:spPr bwMode="auto">
            <a:xfrm>
              <a:off x="2032" y="3518"/>
              <a:ext cx="221"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800" b="1">
                  <a:solidFill>
                    <a:srgbClr val="FF0000"/>
                  </a:solidFill>
                  <a:ea typeface="楷体" panose="02010609060101010101" pitchFamily="49" charset="-122"/>
                </a:rPr>
                <a:t>200</a:t>
              </a:r>
            </a:p>
          </p:txBody>
        </p:sp>
        <p:sp>
          <p:nvSpPr>
            <p:cNvPr id="15" name="Rectangle 72"/>
            <p:cNvSpPr>
              <a:spLocks noChangeArrowheads="1"/>
            </p:cNvSpPr>
            <p:nvPr/>
          </p:nvSpPr>
          <p:spPr bwMode="auto">
            <a:xfrm>
              <a:off x="2361" y="1841"/>
              <a:ext cx="96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zh-CN" altLang="en-US" sz="2000" b="1">
                  <a:solidFill>
                    <a:srgbClr val="003399"/>
                  </a:solidFill>
                  <a:ea typeface="楷体" panose="02010609060101010101" pitchFamily="49" charset="-122"/>
                </a:rPr>
                <a:t>逻辑地址空间</a:t>
              </a:r>
            </a:p>
          </p:txBody>
        </p:sp>
        <p:sp>
          <p:nvSpPr>
            <p:cNvPr id="16" name="Rectangle 73"/>
            <p:cNvSpPr>
              <a:spLocks noChangeArrowheads="1"/>
            </p:cNvSpPr>
            <p:nvPr/>
          </p:nvSpPr>
          <p:spPr bwMode="auto">
            <a:xfrm>
              <a:off x="2314" y="2398"/>
              <a:ext cx="1083" cy="21"/>
            </a:xfrm>
            <a:prstGeom prst="rect">
              <a:avLst/>
            </a:prstGeom>
            <a:solidFill>
              <a:srgbClr val="FF0000"/>
            </a:solidFill>
            <a:ln w="9525">
              <a:solidFill>
                <a:srgbClr val="FF0000"/>
              </a:solidFill>
              <a:miter lim="800000"/>
              <a:headEnd/>
              <a:tailEnd/>
            </a:ln>
          </p:spPr>
          <p:txBody>
            <a:bodyPr/>
            <a:lstStyle/>
            <a:p>
              <a:endParaRPr lang="zh-CN" altLang="en-US">
                <a:ea typeface="楷体" panose="02010609060101010101" pitchFamily="49" charset="-122"/>
              </a:endParaRPr>
            </a:p>
          </p:txBody>
        </p:sp>
        <p:sp>
          <p:nvSpPr>
            <p:cNvPr id="17" name="Rectangle 74"/>
            <p:cNvSpPr>
              <a:spLocks noChangeArrowheads="1"/>
            </p:cNvSpPr>
            <p:nvPr/>
          </p:nvSpPr>
          <p:spPr bwMode="auto">
            <a:xfrm>
              <a:off x="2316" y="2637"/>
              <a:ext cx="1083" cy="22"/>
            </a:xfrm>
            <a:prstGeom prst="rect">
              <a:avLst/>
            </a:prstGeom>
            <a:solidFill>
              <a:srgbClr val="FF0000"/>
            </a:solidFill>
            <a:ln w="9525">
              <a:solidFill>
                <a:srgbClr val="FF0000"/>
              </a:solidFill>
              <a:miter lim="800000"/>
              <a:headEnd/>
              <a:tailEnd/>
            </a:ln>
          </p:spPr>
          <p:txBody>
            <a:bodyPr/>
            <a:lstStyle/>
            <a:p>
              <a:endParaRPr lang="zh-CN" altLang="en-US">
                <a:ea typeface="楷体" panose="02010609060101010101" pitchFamily="49" charset="-122"/>
              </a:endParaRPr>
            </a:p>
          </p:txBody>
        </p:sp>
        <p:sp>
          <p:nvSpPr>
            <p:cNvPr id="18" name="Line 75"/>
            <p:cNvSpPr>
              <a:spLocks noChangeShapeType="1"/>
            </p:cNvSpPr>
            <p:nvPr/>
          </p:nvSpPr>
          <p:spPr bwMode="auto">
            <a:xfrm>
              <a:off x="2316" y="3604"/>
              <a:ext cx="1048"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19" name="Line 76"/>
            <p:cNvSpPr>
              <a:spLocks noChangeShapeType="1"/>
            </p:cNvSpPr>
            <p:nvPr/>
          </p:nvSpPr>
          <p:spPr bwMode="auto">
            <a:xfrm>
              <a:off x="2325" y="3823"/>
              <a:ext cx="1049"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
        <p:nvSpPr>
          <p:cNvPr id="20" name="Rectangle 77"/>
          <p:cNvSpPr>
            <a:spLocks noChangeArrowheads="1"/>
          </p:cNvSpPr>
          <p:nvPr/>
        </p:nvSpPr>
        <p:spPr bwMode="auto">
          <a:xfrm>
            <a:off x="6316589" y="2562051"/>
            <a:ext cx="1681162" cy="3389313"/>
          </a:xfrm>
          <a:prstGeom prst="rect">
            <a:avLst/>
          </a:prstGeom>
          <a:solidFill>
            <a:srgbClr val="003399"/>
          </a:solidFill>
          <a:ln w="39688">
            <a:solidFill>
              <a:srgbClr val="FF0000"/>
            </a:solidFill>
            <a:miter lim="800000"/>
            <a:headEnd/>
            <a:tailEnd/>
          </a:ln>
        </p:spPr>
        <p:txBody>
          <a:bodyPr/>
          <a:lstStyle/>
          <a:p>
            <a:endParaRPr lang="zh-CN" altLang="en-US">
              <a:ea typeface="楷体" panose="02010609060101010101" pitchFamily="49" charset="-122"/>
            </a:endParaRPr>
          </a:p>
        </p:txBody>
      </p:sp>
      <p:sp>
        <p:nvSpPr>
          <p:cNvPr id="21" name="Rectangle 87"/>
          <p:cNvSpPr>
            <a:spLocks noChangeArrowheads="1"/>
          </p:cNvSpPr>
          <p:nvPr/>
        </p:nvSpPr>
        <p:spPr bwMode="auto">
          <a:xfrm>
            <a:off x="6338814" y="2219151"/>
            <a:ext cx="15335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zh-CN" altLang="en-US" sz="2000" b="1">
                <a:solidFill>
                  <a:srgbClr val="003399"/>
                </a:solidFill>
                <a:ea typeface="楷体" panose="02010609060101010101" pitchFamily="49" charset="-122"/>
              </a:rPr>
              <a:t>物理地址空间</a:t>
            </a:r>
          </a:p>
        </p:txBody>
      </p:sp>
      <p:sp>
        <p:nvSpPr>
          <p:cNvPr id="22" name="Rectangle 56"/>
          <p:cNvSpPr>
            <a:spLocks noChangeArrowheads="1"/>
          </p:cNvSpPr>
          <p:nvPr/>
        </p:nvSpPr>
        <p:spPr bwMode="auto">
          <a:xfrm>
            <a:off x="4986264" y="2279476"/>
            <a:ext cx="9207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zh-CN" altLang="en-US" sz="1800" b="1">
                <a:solidFill>
                  <a:srgbClr val="FF0000"/>
                </a:solidFill>
                <a:ea typeface="楷体" panose="02010609060101010101" pitchFamily="49" charset="-122"/>
              </a:rPr>
              <a:t>地址映射</a:t>
            </a:r>
          </a:p>
        </p:txBody>
      </p:sp>
      <p:sp>
        <p:nvSpPr>
          <p:cNvPr id="23" name="Rectangle 78"/>
          <p:cNvSpPr>
            <a:spLocks noChangeArrowheads="1"/>
          </p:cNvSpPr>
          <p:nvPr/>
        </p:nvSpPr>
        <p:spPr bwMode="auto">
          <a:xfrm>
            <a:off x="1536626" y="3143076"/>
            <a:ext cx="105477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800" b="1">
                <a:solidFill>
                  <a:srgbClr val="FFFF00"/>
                </a:solidFill>
                <a:ea typeface="楷体" panose="02010609060101010101" pitchFamily="49" charset="-122"/>
              </a:rPr>
              <a:t>Load A 200</a:t>
            </a:r>
            <a:endParaRPr lang="en-US" altLang="zh-CN" sz="1800" b="1">
              <a:ea typeface="楷体" panose="02010609060101010101" pitchFamily="49" charset="-122"/>
            </a:endParaRPr>
          </a:p>
        </p:txBody>
      </p:sp>
      <p:grpSp>
        <p:nvGrpSpPr>
          <p:cNvPr id="24" name="Group 101"/>
          <p:cNvGrpSpPr>
            <a:grpSpLocks/>
          </p:cNvGrpSpPr>
          <p:nvPr/>
        </p:nvGrpSpPr>
        <p:grpSpPr bwMode="auto">
          <a:xfrm>
            <a:off x="5689526" y="2711276"/>
            <a:ext cx="2335213" cy="366713"/>
            <a:chOff x="3822" y="2722"/>
            <a:chExt cx="1471" cy="231"/>
          </a:xfrm>
        </p:grpSpPr>
        <p:sp>
          <p:nvSpPr>
            <p:cNvPr id="25" name="Line 99"/>
            <p:cNvSpPr>
              <a:spLocks noChangeShapeType="1"/>
            </p:cNvSpPr>
            <p:nvPr/>
          </p:nvSpPr>
          <p:spPr bwMode="auto">
            <a:xfrm>
              <a:off x="4204" y="2840"/>
              <a:ext cx="1089" cy="0"/>
            </a:xfrm>
            <a:prstGeom prst="line">
              <a:avLst/>
            </a:prstGeom>
            <a:noFill/>
            <a:ln w="2857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26" name="Text Box 100"/>
            <p:cNvSpPr txBox="1">
              <a:spLocks noChangeArrowheads="1"/>
            </p:cNvSpPr>
            <p:nvPr/>
          </p:nvSpPr>
          <p:spPr bwMode="auto">
            <a:xfrm>
              <a:off x="3822" y="2722"/>
              <a:ext cx="40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b="1">
                  <a:solidFill>
                    <a:srgbClr val="FF3300"/>
                  </a:solidFill>
                  <a:ea typeface="楷体" panose="02010609060101010101" pitchFamily="49" charset="-122"/>
                </a:rPr>
                <a:t>1000</a:t>
              </a:r>
            </a:p>
          </p:txBody>
        </p:sp>
      </p:grpSp>
      <p:sp>
        <p:nvSpPr>
          <p:cNvPr id="27" name="Rectangle 104"/>
          <p:cNvSpPr>
            <a:spLocks noChangeArrowheads="1"/>
          </p:cNvSpPr>
          <p:nvPr/>
        </p:nvSpPr>
        <p:spPr bwMode="auto">
          <a:xfrm>
            <a:off x="3617839" y="2639839"/>
            <a:ext cx="1223962" cy="431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28" name="Text Box 105"/>
          <p:cNvSpPr txBox="1">
            <a:spLocks noChangeArrowheads="1"/>
          </p:cNvSpPr>
          <p:nvPr/>
        </p:nvSpPr>
        <p:spPr bwMode="auto">
          <a:xfrm>
            <a:off x="3935339" y="2265189"/>
            <a:ext cx="5746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1">
                <a:ea typeface="楷体" panose="02010609060101010101" pitchFamily="49" charset="-122"/>
              </a:rPr>
              <a:t>BR</a:t>
            </a:r>
          </a:p>
        </p:txBody>
      </p:sp>
      <p:sp>
        <p:nvSpPr>
          <p:cNvPr id="29" name="Line 106"/>
          <p:cNvSpPr>
            <a:spLocks noChangeShapeType="1"/>
          </p:cNvSpPr>
          <p:nvPr/>
        </p:nvSpPr>
        <p:spPr bwMode="auto">
          <a:xfrm>
            <a:off x="4194101" y="3071639"/>
            <a:ext cx="0" cy="431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30" name="AutoShape 107"/>
          <p:cNvSpPr>
            <a:spLocks noChangeArrowheads="1"/>
          </p:cNvSpPr>
          <p:nvPr/>
        </p:nvSpPr>
        <p:spPr bwMode="auto">
          <a:xfrm>
            <a:off x="4006776" y="3517726"/>
            <a:ext cx="403225" cy="431800"/>
          </a:xfrm>
          <a:prstGeom prst="flowChartOr">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31" name="Rectangle 108"/>
          <p:cNvSpPr>
            <a:spLocks noChangeArrowheads="1"/>
          </p:cNvSpPr>
          <p:nvPr/>
        </p:nvSpPr>
        <p:spPr bwMode="auto">
          <a:xfrm>
            <a:off x="3617839" y="4295601"/>
            <a:ext cx="1225550" cy="431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32" name="Text Box 109"/>
          <p:cNvSpPr txBox="1">
            <a:spLocks noChangeArrowheads="1"/>
          </p:cNvSpPr>
          <p:nvPr/>
        </p:nvSpPr>
        <p:spPr bwMode="auto">
          <a:xfrm>
            <a:off x="3949626" y="4684539"/>
            <a:ext cx="5746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1">
                <a:ea typeface="楷体" panose="02010609060101010101" pitchFamily="49" charset="-122"/>
              </a:rPr>
              <a:t>VR</a:t>
            </a:r>
          </a:p>
        </p:txBody>
      </p:sp>
      <p:sp>
        <p:nvSpPr>
          <p:cNvPr id="33" name="Line 111"/>
          <p:cNvSpPr>
            <a:spLocks noChangeShapeType="1"/>
          </p:cNvSpPr>
          <p:nvPr/>
        </p:nvSpPr>
        <p:spPr bwMode="auto">
          <a:xfrm flipV="1">
            <a:off x="4194101" y="3935239"/>
            <a:ext cx="0" cy="36036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34" name="AutoShape 120"/>
          <p:cNvSpPr>
            <a:spLocks noChangeArrowheads="1"/>
          </p:cNvSpPr>
          <p:nvPr/>
        </p:nvSpPr>
        <p:spPr bwMode="auto">
          <a:xfrm>
            <a:off x="3992489" y="3517726"/>
            <a:ext cx="431800" cy="431800"/>
          </a:xfrm>
          <a:prstGeom prst="flowChartOr">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grpSp>
        <p:nvGrpSpPr>
          <p:cNvPr id="35" name="Group 141"/>
          <p:cNvGrpSpPr>
            <a:grpSpLocks/>
          </p:cNvGrpSpPr>
          <p:nvPr/>
        </p:nvGrpSpPr>
        <p:grpSpPr bwMode="auto">
          <a:xfrm>
            <a:off x="1284214" y="2566814"/>
            <a:ext cx="1657350" cy="2816225"/>
            <a:chOff x="4150" y="119"/>
            <a:chExt cx="1044" cy="1774"/>
          </a:xfrm>
        </p:grpSpPr>
        <p:sp>
          <p:nvSpPr>
            <p:cNvPr id="36" name="Rectangle 123"/>
            <p:cNvSpPr>
              <a:spLocks noChangeArrowheads="1"/>
            </p:cNvSpPr>
            <p:nvPr/>
          </p:nvSpPr>
          <p:spPr bwMode="auto">
            <a:xfrm>
              <a:off x="4150" y="119"/>
              <a:ext cx="1044" cy="1769"/>
            </a:xfrm>
            <a:prstGeom prst="rect">
              <a:avLst/>
            </a:prstGeom>
            <a:solidFill>
              <a:schemeClr val="accent2"/>
            </a:solidFill>
            <a:ln w="9525">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37" name="Line 124"/>
            <p:cNvSpPr>
              <a:spLocks noChangeShapeType="1"/>
            </p:cNvSpPr>
            <p:nvPr/>
          </p:nvSpPr>
          <p:spPr bwMode="auto">
            <a:xfrm>
              <a:off x="4150" y="446"/>
              <a:ext cx="1043" cy="0"/>
            </a:xfrm>
            <a:prstGeom prst="line">
              <a:avLst/>
            </a:prstGeom>
            <a:noFill/>
            <a:ln w="952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38" name="Line 125"/>
            <p:cNvSpPr>
              <a:spLocks noChangeShapeType="1"/>
            </p:cNvSpPr>
            <p:nvPr/>
          </p:nvSpPr>
          <p:spPr bwMode="auto">
            <a:xfrm>
              <a:off x="4150" y="709"/>
              <a:ext cx="1043" cy="0"/>
            </a:xfrm>
            <a:prstGeom prst="line">
              <a:avLst/>
            </a:prstGeom>
            <a:noFill/>
            <a:ln w="952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39" name="Line 126"/>
            <p:cNvSpPr>
              <a:spLocks noChangeShapeType="1"/>
            </p:cNvSpPr>
            <p:nvPr/>
          </p:nvSpPr>
          <p:spPr bwMode="auto">
            <a:xfrm>
              <a:off x="4150" y="1662"/>
              <a:ext cx="1043" cy="0"/>
            </a:xfrm>
            <a:prstGeom prst="line">
              <a:avLst/>
            </a:prstGeom>
            <a:noFill/>
            <a:ln w="952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40" name="Rectangle 127"/>
            <p:cNvSpPr>
              <a:spLocks noChangeArrowheads="1"/>
            </p:cNvSpPr>
            <p:nvPr/>
          </p:nvSpPr>
          <p:spPr bwMode="auto">
            <a:xfrm>
              <a:off x="4332" y="482"/>
              <a:ext cx="664"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800" b="1">
                  <a:solidFill>
                    <a:srgbClr val="FFFF00"/>
                  </a:solidFill>
                  <a:ea typeface="楷体" panose="02010609060101010101" pitchFamily="49" charset="-122"/>
                </a:rPr>
                <a:t>Load A 200</a:t>
              </a:r>
              <a:endParaRPr lang="en-US" altLang="zh-CN" sz="1800" b="1">
                <a:ea typeface="楷体" panose="02010609060101010101" pitchFamily="49" charset="-122"/>
              </a:endParaRPr>
            </a:p>
          </p:txBody>
        </p:sp>
        <p:sp>
          <p:nvSpPr>
            <p:cNvPr id="41" name="Text Box 140"/>
            <p:cNvSpPr txBox="1">
              <a:spLocks noChangeArrowheads="1"/>
            </p:cNvSpPr>
            <p:nvPr/>
          </p:nvSpPr>
          <p:spPr bwMode="auto">
            <a:xfrm>
              <a:off x="4458" y="1643"/>
              <a:ext cx="49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1">
                  <a:solidFill>
                    <a:srgbClr val="FFFF00"/>
                  </a:solidFill>
                  <a:ea typeface="楷体" panose="02010609060101010101" pitchFamily="49" charset="-122"/>
                </a:rPr>
                <a:t>3456</a:t>
              </a:r>
            </a:p>
          </p:txBody>
        </p:sp>
      </p:grpSp>
      <p:sp>
        <p:nvSpPr>
          <p:cNvPr id="42" name="Rectangle 142"/>
          <p:cNvSpPr>
            <a:spLocks noChangeArrowheads="1"/>
          </p:cNvSpPr>
          <p:nvPr/>
        </p:nvSpPr>
        <p:spPr bwMode="auto">
          <a:xfrm>
            <a:off x="5778426" y="3287539"/>
            <a:ext cx="46807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800" b="1">
                <a:solidFill>
                  <a:srgbClr val="FF0000"/>
                </a:solidFill>
                <a:ea typeface="楷体" panose="02010609060101010101" pitchFamily="49" charset="-122"/>
              </a:rPr>
              <a:t>1000</a:t>
            </a:r>
          </a:p>
        </p:txBody>
      </p:sp>
      <p:sp>
        <p:nvSpPr>
          <p:cNvPr id="43" name="Text Box 144"/>
          <p:cNvSpPr txBox="1">
            <a:spLocks noChangeArrowheads="1"/>
          </p:cNvSpPr>
          <p:nvPr/>
        </p:nvSpPr>
        <p:spPr bwMode="auto">
          <a:xfrm>
            <a:off x="7362751" y="3444701"/>
            <a:ext cx="5762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b="1">
                <a:solidFill>
                  <a:srgbClr val="FF3300"/>
                </a:solidFill>
                <a:ea typeface="楷体" panose="02010609060101010101" pitchFamily="49" charset="-122"/>
              </a:rPr>
              <a:t>200</a:t>
            </a:r>
          </a:p>
        </p:txBody>
      </p:sp>
      <p:sp>
        <p:nvSpPr>
          <p:cNvPr id="44" name="Oval 145"/>
          <p:cNvSpPr>
            <a:spLocks noChangeArrowheads="1"/>
          </p:cNvSpPr>
          <p:nvPr/>
        </p:nvSpPr>
        <p:spPr bwMode="auto">
          <a:xfrm>
            <a:off x="4165526" y="2782714"/>
            <a:ext cx="71438" cy="73025"/>
          </a:xfrm>
          <a:prstGeom prst="ellipse">
            <a:avLst/>
          </a:prstGeom>
          <a:solidFill>
            <a:srgbClr val="FF3300"/>
          </a:solidFill>
          <a:ln w="9525">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45" name="Oval 146"/>
          <p:cNvSpPr>
            <a:spLocks noChangeArrowheads="1"/>
          </p:cNvSpPr>
          <p:nvPr/>
        </p:nvSpPr>
        <p:spPr bwMode="auto">
          <a:xfrm>
            <a:off x="4165526" y="4452764"/>
            <a:ext cx="71438" cy="73025"/>
          </a:xfrm>
          <a:prstGeom prst="ellipse">
            <a:avLst/>
          </a:prstGeom>
          <a:solidFill>
            <a:srgbClr val="FF3300"/>
          </a:solidFill>
          <a:ln w="9525">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46" name="Text Box 148"/>
          <p:cNvSpPr txBox="1">
            <a:spLocks noChangeArrowheads="1"/>
          </p:cNvSpPr>
          <p:nvPr/>
        </p:nvSpPr>
        <p:spPr bwMode="auto">
          <a:xfrm>
            <a:off x="3849614" y="3503439"/>
            <a:ext cx="7191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1">
                <a:solidFill>
                  <a:srgbClr val="FF3300"/>
                </a:solidFill>
                <a:ea typeface="楷体" panose="02010609060101010101" pitchFamily="49" charset="-122"/>
              </a:rPr>
              <a:t>1200</a:t>
            </a:r>
          </a:p>
        </p:txBody>
      </p:sp>
    </p:spTree>
    <p:extLst>
      <p:ext uri="{BB962C8B-B14F-4D97-AF65-F5344CB8AC3E}">
        <p14:creationId xmlns:p14="http://schemas.microsoft.com/office/powerpoint/2010/main" val="410045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par>
                          <p:cTn id="7" fill="hold">
                            <p:stCondLst>
                              <p:cond delay="0"/>
                            </p:stCondLst>
                            <p:childTnLst>
                              <p:par>
                                <p:cTn id="8" presetID="0" presetClass="path" presetSubtype="0" accel="50000" decel="50000" fill="hold" nodeType="afterEffect">
                                  <p:stCondLst>
                                    <p:cond delay="0"/>
                                  </p:stCondLst>
                                  <p:childTnLst>
                                    <p:animMotion origin="layout" path="M 0.08593 -0.06867 L 0.55173 0.0467 " pathEditMode="relative" rAng="0" ptsTypes="AA">
                                      <p:cBhvr>
                                        <p:cTn id="9" dur="1000" fill="hold"/>
                                        <p:tgtEl>
                                          <p:spTgt spid="35"/>
                                        </p:tgtEl>
                                        <p:attrNameLst>
                                          <p:attrName>ppt_x</p:attrName>
                                          <p:attrName>ppt_y</p:attrName>
                                        </p:attrNameLst>
                                      </p:cBhvr>
                                      <p:rCtr x="23281" y="5757"/>
                                    </p:animMotion>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42"/>
                                        </p:tgtEl>
                                        <p:attrNameLst>
                                          <p:attrName>style.visibility</p:attrName>
                                        </p:attrNameLst>
                                      </p:cBhvr>
                                      <p:to>
                                        <p:strVal val="visible"/>
                                      </p:to>
                                    </p:set>
                                  </p:childTnLst>
                                </p:cTn>
                              </p:par>
                            </p:childTnLst>
                          </p:cTn>
                        </p:par>
                        <p:par>
                          <p:cTn id="14" fill="hold">
                            <p:stCondLst>
                              <p:cond delay="0"/>
                            </p:stCondLst>
                            <p:childTnLst>
                              <p:par>
                                <p:cTn id="15" presetID="0" presetClass="path" presetSubtype="0" accel="50000" decel="50000" fill="hold" grpId="1" nodeType="afterEffect">
                                  <p:stCondLst>
                                    <p:cond delay="0"/>
                                  </p:stCondLst>
                                  <p:childTnLst>
                                    <p:animMotion origin="layout" path="M 0.00712 -0.07768 L -0.19757 -0.08809 " pathEditMode="relative" rAng="0" ptsTypes="AA">
                                      <p:cBhvr>
                                        <p:cTn id="16" dur="1000" fill="hold"/>
                                        <p:tgtEl>
                                          <p:spTgt spid="42"/>
                                        </p:tgtEl>
                                        <p:attrNameLst>
                                          <p:attrName>ppt_x</p:attrName>
                                          <p:attrName>ppt_y</p:attrName>
                                        </p:attrNameLst>
                                      </p:cBhvr>
                                      <p:rCtr x="-10243" y="-532"/>
                                    </p:animMotion>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3"/>
                                        </p:tgtEl>
                                        <p:attrNameLst>
                                          <p:attrName>style.visibility</p:attrName>
                                        </p:attrNameLst>
                                      </p:cBhvr>
                                      <p:to>
                                        <p:strVal val="visible"/>
                                      </p:to>
                                    </p:set>
                                  </p:childTnLst>
                                </p:cTn>
                              </p:par>
                            </p:childTnLst>
                          </p:cTn>
                        </p:par>
                        <p:par>
                          <p:cTn id="21" fill="hold">
                            <p:stCondLst>
                              <p:cond delay="0"/>
                            </p:stCondLst>
                            <p:childTnLst>
                              <p:par>
                                <p:cTn id="22" presetID="0" presetClass="path" presetSubtype="0" accel="50000" decel="50000" fill="hold" grpId="1" nodeType="afterEffect">
                                  <p:stCondLst>
                                    <p:cond delay="0"/>
                                  </p:stCondLst>
                                  <p:childTnLst>
                                    <p:animMotion origin="layout" path="M -1.38889E-6 -2.36994E-6 L -0.37795 0.12879 " pathEditMode="relative" rAng="0" ptsTypes="AA">
                                      <p:cBhvr>
                                        <p:cTn id="23" dur="1000" fill="hold"/>
                                        <p:tgtEl>
                                          <p:spTgt spid="43"/>
                                        </p:tgtEl>
                                        <p:attrNameLst>
                                          <p:attrName>ppt_x</p:attrName>
                                          <p:attrName>ppt_y</p:attrName>
                                        </p:attrNameLst>
                                      </p:cBhvr>
                                      <p:rCtr x="-18906" y="6428"/>
                                    </p:animMotion>
                                  </p:childTnLst>
                                </p:cTn>
                              </p:par>
                            </p:childTnLst>
                          </p:cTn>
                        </p:par>
                        <p:par>
                          <p:cTn id="24" fill="hold">
                            <p:stCondLst>
                              <p:cond delay="1000"/>
                            </p:stCondLst>
                            <p:childTnLst>
                              <p:par>
                                <p:cTn id="25" presetID="1" presetClass="entr" presetSubtype="0" fill="hold" grpId="0" nodeType="afterEffect">
                                  <p:stCondLst>
                                    <p:cond delay="0"/>
                                  </p:stCondLst>
                                  <p:childTnLst>
                                    <p:set>
                                      <p:cBhvr>
                                        <p:cTn id="26" dur="1" fill="hold">
                                          <p:stCondLst>
                                            <p:cond delay="0"/>
                                          </p:stCondLst>
                                        </p:cTn>
                                        <p:tgtEl>
                                          <p:spTgt spid="44"/>
                                        </p:tgtEl>
                                        <p:attrNameLst>
                                          <p:attrName>style.visibility</p:attrName>
                                        </p:attrNameLst>
                                      </p:cBhvr>
                                      <p:to>
                                        <p:strVal val="visible"/>
                                      </p:to>
                                    </p:set>
                                  </p:childTnLst>
                                </p:cTn>
                              </p:par>
                            </p:childTnLst>
                          </p:cTn>
                        </p:par>
                        <p:par>
                          <p:cTn id="27" fill="hold">
                            <p:stCondLst>
                              <p:cond delay="1000"/>
                            </p:stCondLst>
                            <p:childTnLst>
                              <p:par>
                                <p:cTn id="28" presetID="0" presetClass="path" presetSubtype="0" accel="50000" decel="50000" fill="hold" grpId="1" nodeType="afterEffect">
                                  <p:stCondLst>
                                    <p:cond delay="0"/>
                                  </p:stCondLst>
                                  <p:childTnLst>
                                    <p:animMotion origin="layout" path="M 4.44444E-6 7.91908E-6 L 4.44444E-6 0.13642 " pathEditMode="relative" ptsTypes="AA">
                                      <p:cBhvr>
                                        <p:cTn id="29" dur="1000" fill="hold"/>
                                        <p:tgtEl>
                                          <p:spTgt spid="44"/>
                                        </p:tgtEl>
                                        <p:attrNameLst>
                                          <p:attrName>ppt_x</p:attrName>
                                          <p:attrName>ppt_y</p:attrName>
                                        </p:attrNameLst>
                                      </p:cBhvr>
                                    </p:animMotion>
                                  </p:childTnLst>
                                </p:cTn>
                              </p:par>
                            </p:childTnLst>
                          </p:cTn>
                        </p:par>
                        <p:par>
                          <p:cTn id="30" fill="hold">
                            <p:stCondLst>
                              <p:cond delay="2000"/>
                            </p:stCondLst>
                            <p:childTnLst>
                              <p:par>
                                <p:cTn id="31" presetID="1" presetClass="entr" presetSubtype="0" fill="hold" grpId="0" nodeType="afterEffect">
                                  <p:stCondLst>
                                    <p:cond delay="0"/>
                                  </p:stCondLst>
                                  <p:childTnLst>
                                    <p:set>
                                      <p:cBhvr>
                                        <p:cTn id="32" dur="1" fill="hold">
                                          <p:stCondLst>
                                            <p:cond delay="0"/>
                                          </p:stCondLst>
                                        </p:cTn>
                                        <p:tgtEl>
                                          <p:spTgt spid="45"/>
                                        </p:tgtEl>
                                        <p:attrNameLst>
                                          <p:attrName>style.visibility</p:attrName>
                                        </p:attrNameLst>
                                      </p:cBhvr>
                                      <p:to>
                                        <p:strVal val="visible"/>
                                      </p:to>
                                    </p:set>
                                  </p:childTnLst>
                                </p:cTn>
                              </p:par>
                            </p:childTnLst>
                          </p:cTn>
                        </p:par>
                        <p:par>
                          <p:cTn id="33" fill="hold">
                            <p:stCondLst>
                              <p:cond delay="2000"/>
                            </p:stCondLst>
                            <p:childTnLst>
                              <p:par>
                                <p:cTn id="34" presetID="0" presetClass="path" presetSubtype="0" accel="50000" decel="50000" fill="hold" grpId="1" nodeType="afterEffect">
                                  <p:stCondLst>
                                    <p:cond delay="0"/>
                                  </p:stCondLst>
                                  <p:childTnLst>
                                    <p:animMotion origin="layout" path="M 4.44444E-6 3.00578E-6 L 4.44444E-6 -0.11538 " pathEditMode="relative" ptsTypes="AA">
                                      <p:cBhvr>
                                        <p:cTn id="35" dur="1000" fill="hold"/>
                                        <p:tgtEl>
                                          <p:spTgt spid="45"/>
                                        </p:tgtEl>
                                        <p:attrNameLst>
                                          <p:attrName>ppt_x</p:attrName>
                                          <p:attrName>ppt_y</p:attrName>
                                        </p:attrNameLst>
                                      </p:cBhvr>
                                    </p:animMotion>
                                  </p:childTnLst>
                                </p:cTn>
                              </p:par>
                            </p:childTnLst>
                          </p:cTn>
                        </p:par>
                        <p:par>
                          <p:cTn id="36" fill="hold">
                            <p:stCondLst>
                              <p:cond delay="3000"/>
                            </p:stCondLst>
                            <p:childTnLst>
                              <p:par>
                                <p:cTn id="37" presetID="1" presetClass="entr" presetSubtype="0" fill="hold" grpId="0" nodeType="afterEffect">
                                  <p:stCondLst>
                                    <p:cond delay="0"/>
                                  </p:stCondLst>
                                  <p:childTnLst>
                                    <p:set>
                                      <p:cBhvr>
                                        <p:cTn id="38" dur="1" fill="hold">
                                          <p:stCondLst>
                                            <p:cond delay="0"/>
                                          </p:stCondLst>
                                        </p:cTn>
                                        <p:tgtEl>
                                          <p:spTgt spid="34"/>
                                        </p:tgtEl>
                                        <p:attrNameLst>
                                          <p:attrName>style.visibility</p:attrName>
                                        </p:attrNameLst>
                                      </p:cBhvr>
                                      <p:to>
                                        <p:strVal val="visible"/>
                                      </p:to>
                                    </p:set>
                                  </p:childTnLst>
                                </p:cTn>
                              </p:par>
                            </p:childTnLst>
                          </p:cTn>
                        </p:par>
                        <p:par>
                          <p:cTn id="39" fill="hold">
                            <p:stCondLst>
                              <p:cond delay="3000"/>
                            </p:stCondLst>
                            <p:childTnLst>
                              <p:par>
                                <p:cTn id="40" presetID="1" presetClass="entr" presetSubtype="0" fill="hold" grpId="0" nodeType="afterEffect">
                                  <p:stCondLst>
                                    <p:cond delay="0"/>
                                  </p:stCondLst>
                                  <p:childTnLst>
                                    <p:set>
                                      <p:cBhvr>
                                        <p:cTn id="41" dur="1" fill="hold">
                                          <p:stCondLst>
                                            <p:cond delay="0"/>
                                          </p:stCondLst>
                                        </p:cTn>
                                        <p:tgtEl>
                                          <p:spTgt spid="46"/>
                                        </p:tgtEl>
                                        <p:attrNameLst>
                                          <p:attrName>style.visibility</p:attrName>
                                        </p:attrNameLst>
                                      </p:cBhvr>
                                      <p:to>
                                        <p:strVal val="visible"/>
                                      </p:to>
                                    </p:set>
                                  </p:childTnLst>
                                </p:cTn>
                              </p:par>
                            </p:childTnLst>
                          </p:cTn>
                        </p:par>
                        <p:par>
                          <p:cTn id="42" fill="hold">
                            <p:stCondLst>
                              <p:cond delay="3000"/>
                            </p:stCondLst>
                            <p:childTnLst>
                              <p:par>
                                <p:cTn id="43" presetID="0" presetClass="path" presetSubtype="0" accel="50000" decel="50000" fill="hold" grpId="1" nodeType="afterEffect">
                                  <p:stCondLst>
                                    <p:cond delay="0"/>
                                  </p:stCondLst>
                                  <p:childTnLst>
                                    <p:animMotion origin="layout" path="M -4.44444E-6 -6.93642E-7 L 0.204 0.24647 " pathEditMode="relative" rAng="0" ptsTypes="AA">
                                      <p:cBhvr>
                                        <p:cTn id="44" dur="1000" fill="hold"/>
                                        <p:tgtEl>
                                          <p:spTgt spid="46"/>
                                        </p:tgtEl>
                                        <p:attrNameLst>
                                          <p:attrName>ppt_x</p:attrName>
                                          <p:attrName>ppt_y</p:attrName>
                                        </p:attrNameLst>
                                      </p:cBhvr>
                                      <p:rCtr x="10191" y="1232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42" grpId="0"/>
      <p:bldP spid="42" grpId="1"/>
      <p:bldP spid="43" grpId="0"/>
      <p:bldP spid="43" grpId="1"/>
      <p:bldP spid="44" grpId="0" animBg="1"/>
      <p:bldP spid="44" grpId="1" animBg="1"/>
      <p:bldP spid="45" grpId="0" animBg="1"/>
      <p:bldP spid="45" grpId="1" animBg="1"/>
      <p:bldP spid="46" grpId="0"/>
      <p:bldP spid="46"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存储管理的功能</a:t>
            </a:r>
          </a:p>
        </p:txBody>
      </p:sp>
      <p:sp>
        <p:nvSpPr>
          <p:cNvPr id="3" name="Content Placeholder 2"/>
          <p:cNvSpPr>
            <a:spLocks noGrp="1"/>
          </p:cNvSpPr>
          <p:nvPr>
            <p:ph idx="1"/>
          </p:nvPr>
        </p:nvSpPr>
        <p:spPr/>
        <p:txBody>
          <a:bodyPr/>
          <a:lstStyle/>
          <a:p>
            <a:r>
              <a:rPr lang="zh-CN" altLang="en-US" dirty="0"/>
              <a:t>动态地址重定位</a:t>
            </a:r>
            <a:endParaRPr lang="en-US" altLang="zh-CN" dirty="0"/>
          </a:p>
          <a:p>
            <a:r>
              <a:rPr lang="zh-CN" altLang="en-US" dirty="0"/>
              <a:t>优点</a:t>
            </a:r>
            <a:endParaRPr lang="en-US" altLang="zh-CN" dirty="0"/>
          </a:p>
          <a:p>
            <a:pPr lvl="1"/>
            <a:r>
              <a:rPr lang="zh-CN" altLang="en-US" dirty="0"/>
              <a:t>可以移动程序，有利于实现共享（只要改变</a:t>
            </a:r>
            <a:r>
              <a:rPr lang="en-US" altLang="zh-CN" dirty="0"/>
              <a:t>BR</a:t>
            </a:r>
            <a:r>
              <a:rPr lang="zh-CN" altLang="en-US" dirty="0"/>
              <a:t>中地内容，便可将程序定位在新地内存空间中）</a:t>
            </a:r>
          </a:p>
          <a:p>
            <a:pPr lvl="1"/>
            <a:r>
              <a:rPr lang="zh-CN" altLang="en-US" dirty="0"/>
              <a:t>可部分地、动态地分配内存，是虚拟存储器实现的基础</a:t>
            </a:r>
            <a:endParaRPr lang="en-US" altLang="zh-CN" dirty="0"/>
          </a:p>
          <a:p>
            <a:endParaRPr lang="en-US" altLang="zh-CN" dirty="0"/>
          </a:p>
          <a:p>
            <a:r>
              <a:rPr lang="zh-CN" altLang="en-US" dirty="0"/>
              <a:t>缺点</a:t>
            </a:r>
            <a:endParaRPr lang="en-US" altLang="zh-CN" dirty="0"/>
          </a:p>
          <a:p>
            <a:pPr lvl="1"/>
            <a:r>
              <a:rPr lang="zh-CN" altLang="en-US" dirty="0"/>
              <a:t>需要硬件支持，操作系统实现复杂</a:t>
            </a:r>
          </a:p>
        </p:txBody>
      </p:sp>
      <p:sp>
        <p:nvSpPr>
          <p:cNvPr id="4" name="Date Placeholder 3"/>
          <p:cNvSpPr>
            <a:spLocks noGrp="1"/>
          </p:cNvSpPr>
          <p:nvPr>
            <p:ph type="dt" sz="half" idx="10"/>
          </p:nvPr>
        </p:nvSpPr>
        <p:spPr/>
        <p:txBody>
          <a:bodyPr/>
          <a:lstStyle/>
          <a:p>
            <a:fld id="{65C7BAAE-6601-4431-9A29-090D0C2D2D81}"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18</a:t>
            </a:fld>
            <a:endParaRPr lang="zh-CN" altLang="en-US" dirty="0"/>
          </a:p>
        </p:txBody>
      </p:sp>
    </p:spTree>
    <p:extLst>
      <p:ext uri="{BB962C8B-B14F-4D97-AF65-F5344CB8AC3E}">
        <p14:creationId xmlns:p14="http://schemas.microsoft.com/office/powerpoint/2010/main" val="5458450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存储管理的功能</a:t>
            </a:r>
          </a:p>
        </p:txBody>
      </p:sp>
      <p:sp>
        <p:nvSpPr>
          <p:cNvPr id="3" name="Content Placeholder 2"/>
          <p:cNvSpPr>
            <a:spLocks noGrp="1"/>
          </p:cNvSpPr>
          <p:nvPr>
            <p:ph idx="1"/>
          </p:nvPr>
        </p:nvSpPr>
        <p:spPr/>
        <p:txBody>
          <a:bodyPr/>
          <a:lstStyle/>
          <a:p>
            <a:r>
              <a:rPr lang="zh-CN" altLang="en-US" dirty="0"/>
              <a:t>程序的链接</a:t>
            </a:r>
            <a:r>
              <a:rPr lang="en-US" altLang="zh-CN" dirty="0"/>
              <a:t>——</a:t>
            </a:r>
            <a:r>
              <a:rPr lang="zh-CN" altLang="en-US" dirty="0">
                <a:solidFill>
                  <a:srgbClr val="0000FF"/>
                </a:solidFill>
              </a:rPr>
              <a:t>静态链接</a:t>
            </a:r>
            <a:endParaRPr lang="en-US" altLang="zh-CN" dirty="0">
              <a:solidFill>
                <a:srgbClr val="0000FF"/>
              </a:solidFill>
            </a:endParaRPr>
          </a:p>
          <a:p>
            <a:pPr lvl="1"/>
            <a:r>
              <a:rPr lang="zh-CN" altLang="en-US" dirty="0"/>
              <a:t>在程序执行之前，必须由链接装配程序把它们链接成一个可运行的目标程序，并在程序运行前都装入内存</a:t>
            </a:r>
            <a:endParaRPr lang="en-US" altLang="zh-CN" dirty="0"/>
          </a:p>
          <a:p>
            <a:endParaRPr lang="zh-CN" altLang="en-US" dirty="0"/>
          </a:p>
        </p:txBody>
      </p:sp>
      <p:sp>
        <p:nvSpPr>
          <p:cNvPr id="4" name="Date Placeholder 3"/>
          <p:cNvSpPr>
            <a:spLocks noGrp="1"/>
          </p:cNvSpPr>
          <p:nvPr>
            <p:ph type="dt" sz="half" idx="10"/>
          </p:nvPr>
        </p:nvSpPr>
        <p:spPr/>
        <p:txBody>
          <a:bodyPr/>
          <a:lstStyle/>
          <a:p>
            <a:fld id="{50625F15-5AA2-445A-BDB1-34048536F960}"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19</a:t>
            </a:fld>
            <a:endParaRPr lang="zh-CN" altLang="en-US" dirty="0"/>
          </a:p>
        </p:txBody>
      </p:sp>
      <p:grpSp>
        <p:nvGrpSpPr>
          <p:cNvPr id="7" name="Group 43"/>
          <p:cNvGrpSpPr>
            <a:grpSpLocks/>
          </p:cNvGrpSpPr>
          <p:nvPr/>
        </p:nvGrpSpPr>
        <p:grpSpPr bwMode="auto">
          <a:xfrm>
            <a:off x="2123728" y="3284984"/>
            <a:ext cx="1655762" cy="2670175"/>
            <a:chOff x="2608" y="2529"/>
            <a:chExt cx="1043" cy="1682"/>
          </a:xfrm>
        </p:grpSpPr>
        <p:sp>
          <p:nvSpPr>
            <p:cNvPr id="8" name="Rectangle 44"/>
            <p:cNvSpPr>
              <a:spLocks noChangeArrowheads="1"/>
            </p:cNvSpPr>
            <p:nvPr/>
          </p:nvSpPr>
          <p:spPr bwMode="auto">
            <a:xfrm>
              <a:off x="2925" y="2606"/>
              <a:ext cx="726" cy="499"/>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600" b="1">
                  <a:ea typeface="楷体" panose="02010609060101010101" pitchFamily="49" charset="-122"/>
                </a:rPr>
                <a:t>模块</a:t>
              </a:r>
              <a:r>
                <a:rPr kumimoji="0" lang="en-US" altLang="zh-CN" sz="1600" b="1">
                  <a:ea typeface="楷体" panose="02010609060101010101" pitchFamily="49" charset="-122"/>
                </a:rPr>
                <a:t>A</a:t>
              </a:r>
            </a:p>
            <a:p>
              <a:pPr algn="ctr"/>
              <a:r>
                <a:rPr kumimoji="0" lang="en-US" altLang="zh-CN" sz="1600" b="1">
                  <a:ea typeface="楷体" panose="02010609060101010101" pitchFamily="49" charset="-122"/>
                </a:rPr>
                <a:t>Call B;</a:t>
              </a:r>
            </a:p>
            <a:p>
              <a:pPr algn="ctr"/>
              <a:r>
                <a:rPr kumimoji="0" lang="en-US" altLang="zh-CN" sz="1600" b="1">
                  <a:ea typeface="楷体" panose="02010609060101010101" pitchFamily="49" charset="-122"/>
                </a:rPr>
                <a:t>Return</a:t>
              </a:r>
            </a:p>
          </p:txBody>
        </p:sp>
        <p:sp>
          <p:nvSpPr>
            <p:cNvPr id="9" name="Rectangle 45"/>
            <p:cNvSpPr>
              <a:spLocks noChangeArrowheads="1"/>
            </p:cNvSpPr>
            <p:nvPr/>
          </p:nvSpPr>
          <p:spPr bwMode="auto">
            <a:xfrm>
              <a:off x="2925" y="3150"/>
              <a:ext cx="726" cy="499"/>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600" b="1">
                  <a:ea typeface="楷体" panose="02010609060101010101" pitchFamily="49" charset="-122"/>
                </a:rPr>
                <a:t>模块</a:t>
              </a:r>
              <a:r>
                <a:rPr kumimoji="0" lang="en-US" altLang="zh-CN" sz="1600" b="1">
                  <a:ea typeface="楷体" panose="02010609060101010101" pitchFamily="49" charset="-122"/>
                </a:rPr>
                <a:t>B</a:t>
              </a:r>
            </a:p>
            <a:p>
              <a:pPr algn="ctr"/>
              <a:r>
                <a:rPr kumimoji="0" lang="en-US" altLang="zh-CN" sz="1600" b="1">
                  <a:ea typeface="楷体" panose="02010609060101010101" pitchFamily="49" charset="-122"/>
                </a:rPr>
                <a:t>Call C;</a:t>
              </a:r>
            </a:p>
            <a:p>
              <a:pPr algn="ctr"/>
              <a:r>
                <a:rPr kumimoji="0" lang="en-US" altLang="zh-CN" sz="1600" b="1">
                  <a:ea typeface="楷体" panose="02010609060101010101" pitchFamily="49" charset="-122"/>
                </a:rPr>
                <a:t>Return</a:t>
              </a:r>
            </a:p>
          </p:txBody>
        </p:sp>
        <p:sp>
          <p:nvSpPr>
            <p:cNvPr id="10" name="Rectangle 46"/>
            <p:cNvSpPr>
              <a:spLocks noChangeArrowheads="1"/>
            </p:cNvSpPr>
            <p:nvPr/>
          </p:nvSpPr>
          <p:spPr bwMode="auto">
            <a:xfrm>
              <a:off x="2925" y="3695"/>
              <a:ext cx="726" cy="31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600" b="1">
                  <a:ea typeface="楷体" panose="02010609060101010101" pitchFamily="49" charset="-122"/>
                </a:rPr>
                <a:t>模块</a:t>
              </a:r>
              <a:r>
                <a:rPr kumimoji="0" lang="en-US" altLang="zh-CN" sz="1600" b="1">
                  <a:ea typeface="楷体" panose="02010609060101010101" pitchFamily="49" charset="-122"/>
                </a:rPr>
                <a:t>C</a:t>
              </a:r>
            </a:p>
            <a:p>
              <a:pPr algn="ctr"/>
              <a:r>
                <a:rPr kumimoji="0" lang="en-US" altLang="zh-CN" sz="1600" b="1">
                  <a:ea typeface="楷体" panose="02010609060101010101" pitchFamily="49" charset="-122"/>
                </a:rPr>
                <a:t>Return</a:t>
              </a:r>
            </a:p>
          </p:txBody>
        </p:sp>
        <p:sp>
          <p:nvSpPr>
            <p:cNvPr id="11" name="Text Box 47"/>
            <p:cNvSpPr txBox="1">
              <a:spLocks noChangeArrowheads="1"/>
            </p:cNvSpPr>
            <p:nvPr/>
          </p:nvSpPr>
          <p:spPr bwMode="auto">
            <a:xfrm>
              <a:off x="2689" y="2529"/>
              <a:ext cx="27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kumimoji="0" lang="en-US" altLang="zh-CN" sz="1600" b="1">
                  <a:ea typeface="楷体" panose="02010609060101010101" pitchFamily="49" charset="-122"/>
                </a:rPr>
                <a:t>0</a:t>
              </a:r>
            </a:p>
          </p:txBody>
        </p:sp>
        <p:sp>
          <p:nvSpPr>
            <p:cNvPr id="12" name="Text Box 48"/>
            <p:cNvSpPr txBox="1">
              <a:spLocks noChangeArrowheads="1"/>
            </p:cNvSpPr>
            <p:nvPr/>
          </p:nvSpPr>
          <p:spPr bwMode="auto">
            <a:xfrm>
              <a:off x="2678" y="3071"/>
              <a:ext cx="27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kumimoji="0" lang="en-US" altLang="zh-CN" sz="1600" b="1">
                  <a:ea typeface="楷体" panose="02010609060101010101" pitchFamily="49" charset="-122"/>
                </a:rPr>
                <a:t>0</a:t>
              </a:r>
            </a:p>
          </p:txBody>
        </p:sp>
        <p:sp>
          <p:nvSpPr>
            <p:cNvPr id="13" name="Text Box 49"/>
            <p:cNvSpPr txBox="1">
              <a:spLocks noChangeArrowheads="1"/>
            </p:cNvSpPr>
            <p:nvPr/>
          </p:nvSpPr>
          <p:spPr bwMode="auto">
            <a:xfrm>
              <a:off x="2678" y="3619"/>
              <a:ext cx="27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kumimoji="0" lang="en-US" altLang="zh-CN" sz="1600" b="1">
                  <a:ea typeface="楷体" panose="02010609060101010101" pitchFamily="49" charset="-122"/>
                </a:rPr>
                <a:t>0</a:t>
              </a:r>
            </a:p>
          </p:txBody>
        </p:sp>
        <p:sp>
          <p:nvSpPr>
            <p:cNvPr id="14" name="Text Box 50"/>
            <p:cNvSpPr txBox="1">
              <a:spLocks noChangeArrowheads="1"/>
            </p:cNvSpPr>
            <p:nvPr/>
          </p:nvSpPr>
          <p:spPr bwMode="auto">
            <a:xfrm>
              <a:off x="2636" y="2938"/>
              <a:ext cx="33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kumimoji="0" lang="en-US" altLang="zh-CN" sz="1600" b="1">
                  <a:ea typeface="楷体" panose="02010609060101010101" pitchFamily="49" charset="-122"/>
                </a:rPr>
                <a:t>L-1</a:t>
              </a:r>
            </a:p>
          </p:txBody>
        </p:sp>
        <p:sp>
          <p:nvSpPr>
            <p:cNvPr id="15" name="Text Box 51"/>
            <p:cNvSpPr txBox="1">
              <a:spLocks noChangeArrowheads="1"/>
            </p:cNvSpPr>
            <p:nvPr/>
          </p:nvSpPr>
          <p:spPr bwMode="auto">
            <a:xfrm>
              <a:off x="2608" y="3483"/>
              <a:ext cx="36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kumimoji="0" lang="en-US" altLang="zh-CN" sz="1600" b="1">
                  <a:ea typeface="楷体" panose="02010609060101010101" pitchFamily="49" charset="-122"/>
                </a:rPr>
                <a:t>M-1</a:t>
              </a:r>
            </a:p>
          </p:txBody>
        </p:sp>
        <p:sp>
          <p:nvSpPr>
            <p:cNvPr id="16" name="Text Box 52"/>
            <p:cNvSpPr txBox="1">
              <a:spLocks noChangeArrowheads="1"/>
            </p:cNvSpPr>
            <p:nvPr/>
          </p:nvSpPr>
          <p:spPr bwMode="auto">
            <a:xfrm>
              <a:off x="2629" y="3853"/>
              <a:ext cx="33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kumimoji="0" lang="en-US" altLang="zh-CN" sz="1600" b="1">
                  <a:ea typeface="楷体" panose="02010609060101010101" pitchFamily="49" charset="-122"/>
                </a:rPr>
                <a:t>N-1</a:t>
              </a:r>
            </a:p>
          </p:txBody>
        </p:sp>
        <p:sp>
          <p:nvSpPr>
            <p:cNvPr id="17" name="Text Box 53"/>
            <p:cNvSpPr txBox="1">
              <a:spLocks noChangeArrowheads="1"/>
            </p:cNvSpPr>
            <p:nvPr/>
          </p:nvSpPr>
          <p:spPr bwMode="auto">
            <a:xfrm>
              <a:off x="2954" y="3999"/>
              <a:ext cx="69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600" b="1">
                  <a:ea typeface="楷体" panose="02010609060101010101" pitchFamily="49" charset="-122"/>
                </a:rPr>
                <a:t>目标模块</a:t>
              </a:r>
            </a:p>
          </p:txBody>
        </p:sp>
      </p:grpSp>
      <p:sp>
        <p:nvSpPr>
          <p:cNvPr id="18" name="AutoShape 54"/>
          <p:cNvSpPr>
            <a:spLocks noChangeArrowheads="1"/>
          </p:cNvSpPr>
          <p:nvPr/>
        </p:nvSpPr>
        <p:spPr bwMode="auto">
          <a:xfrm>
            <a:off x="6443315" y="4094609"/>
            <a:ext cx="649288" cy="576263"/>
          </a:xfrm>
          <a:prstGeom prst="rightArrow">
            <a:avLst>
              <a:gd name="adj1" fmla="val 50000"/>
              <a:gd name="adj2" fmla="val 28168"/>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b="1">
                <a:ea typeface="楷体" panose="02010609060101010101" pitchFamily="49" charset="-122"/>
              </a:rPr>
              <a:t>装入</a:t>
            </a:r>
          </a:p>
        </p:txBody>
      </p:sp>
      <p:grpSp>
        <p:nvGrpSpPr>
          <p:cNvPr id="19" name="Group 55"/>
          <p:cNvGrpSpPr>
            <a:grpSpLocks/>
          </p:cNvGrpSpPr>
          <p:nvPr/>
        </p:nvGrpSpPr>
        <p:grpSpPr bwMode="auto">
          <a:xfrm>
            <a:off x="3923953" y="3289747"/>
            <a:ext cx="2185987" cy="2581275"/>
            <a:chOff x="3878" y="2515"/>
            <a:chExt cx="1377" cy="1626"/>
          </a:xfrm>
        </p:grpSpPr>
        <p:grpSp>
          <p:nvGrpSpPr>
            <p:cNvPr id="20" name="Group 56"/>
            <p:cNvGrpSpPr>
              <a:grpSpLocks/>
            </p:cNvGrpSpPr>
            <p:nvPr/>
          </p:nvGrpSpPr>
          <p:grpSpPr bwMode="auto">
            <a:xfrm>
              <a:off x="3878" y="2515"/>
              <a:ext cx="1361" cy="1452"/>
              <a:chOff x="3878" y="2515"/>
              <a:chExt cx="1361" cy="1452"/>
            </a:xfrm>
          </p:grpSpPr>
          <p:sp>
            <p:nvSpPr>
              <p:cNvPr id="22" name="Rectangle 57"/>
              <p:cNvSpPr>
                <a:spLocks noChangeArrowheads="1"/>
              </p:cNvSpPr>
              <p:nvPr/>
            </p:nvSpPr>
            <p:spPr bwMode="auto">
              <a:xfrm>
                <a:off x="4513" y="2606"/>
                <a:ext cx="726" cy="499"/>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600" b="1">
                    <a:ea typeface="楷体" panose="02010609060101010101" pitchFamily="49" charset="-122"/>
                  </a:rPr>
                  <a:t>模块</a:t>
                </a:r>
                <a:r>
                  <a:rPr kumimoji="0" lang="en-US" altLang="zh-CN" sz="1600" b="1">
                    <a:ea typeface="楷体" panose="02010609060101010101" pitchFamily="49" charset="-122"/>
                  </a:rPr>
                  <a:t>A</a:t>
                </a:r>
              </a:p>
              <a:p>
                <a:pPr algn="ctr"/>
                <a:r>
                  <a:rPr kumimoji="0" lang="en-US" altLang="zh-CN" sz="1600" b="1">
                    <a:ea typeface="楷体" panose="02010609060101010101" pitchFamily="49" charset="-122"/>
                  </a:rPr>
                  <a:t>JSR L;</a:t>
                </a:r>
              </a:p>
              <a:p>
                <a:pPr algn="ctr"/>
                <a:r>
                  <a:rPr kumimoji="0" lang="en-US" altLang="zh-CN" sz="1600" b="1">
                    <a:ea typeface="楷体" panose="02010609060101010101" pitchFamily="49" charset="-122"/>
                  </a:rPr>
                  <a:t>Return</a:t>
                </a:r>
              </a:p>
            </p:txBody>
          </p:sp>
          <p:sp>
            <p:nvSpPr>
              <p:cNvPr id="23" name="Rectangle 58"/>
              <p:cNvSpPr>
                <a:spLocks noChangeArrowheads="1"/>
              </p:cNvSpPr>
              <p:nvPr/>
            </p:nvSpPr>
            <p:spPr bwMode="auto">
              <a:xfrm>
                <a:off x="4513" y="3094"/>
                <a:ext cx="726" cy="499"/>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600" b="1">
                    <a:ea typeface="楷体" panose="02010609060101010101" pitchFamily="49" charset="-122"/>
                  </a:rPr>
                  <a:t>模块</a:t>
                </a:r>
                <a:r>
                  <a:rPr kumimoji="0" lang="en-US" altLang="zh-CN" sz="1600" b="1">
                    <a:ea typeface="楷体" panose="02010609060101010101" pitchFamily="49" charset="-122"/>
                  </a:rPr>
                  <a:t>B</a:t>
                </a:r>
              </a:p>
              <a:p>
                <a:pPr algn="ctr"/>
                <a:r>
                  <a:rPr kumimoji="0" lang="en-US" altLang="zh-CN" sz="1600" b="1">
                    <a:ea typeface="楷体" panose="02010609060101010101" pitchFamily="49" charset="-122"/>
                  </a:rPr>
                  <a:t>JSR L+M;</a:t>
                </a:r>
              </a:p>
              <a:p>
                <a:pPr algn="ctr"/>
                <a:r>
                  <a:rPr kumimoji="0" lang="en-US" altLang="zh-CN" sz="1600" b="1">
                    <a:ea typeface="楷体" panose="02010609060101010101" pitchFamily="49" charset="-122"/>
                  </a:rPr>
                  <a:t>Return</a:t>
                </a:r>
              </a:p>
            </p:txBody>
          </p:sp>
          <p:sp>
            <p:nvSpPr>
              <p:cNvPr id="24" name="Rectangle 59"/>
              <p:cNvSpPr>
                <a:spLocks noChangeArrowheads="1"/>
              </p:cNvSpPr>
              <p:nvPr/>
            </p:nvSpPr>
            <p:spPr bwMode="auto">
              <a:xfrm>
                <a:off x="4513" y="3583"/>
                <a:ext cx="726" cy="31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600" b="1">
                    <a:ea typeface="楷体" panose="02010609060101010101" pitchFamily="49" charset="-122"/>
                  </a:rPr>
                  <a:t>模块</a:t>
                </a:r>
                <a:r>
                  <a:rPr kumimoji="0" lang="en-US" altLang="zh-CN" sz="1600" b="1">
                    <a:ea typeface="楷体" panose="02010609060101010101" pitchFamily="49" charset="-122"/>
                  </a:rPr>
                  <a:t>C</a:t>
                </a:r>
              </a:p>
              <a:p>
                <a:pPr algn="ctr"/>
                <a:r>
                  <a:rPr kumimoji="0" lang="en-US" altLang="zh-CN" sz="1600" b="1">
                    <a:ea typeface="楷体" panose="02010609060101010101" pitchFamily="49" charset="-122"/>
                  </a:rPr>
                  <a:t>Return</a:t>
                </a:r>
              </a:p>
            </p:txBody>
          </p:sp>
          <p:sp>
            <p:nvSpPr>
              <p:cNvPr id="25" name="Text Box 60"/>
              <p:cNvSpPr txBox="1">
                <a:spLocks noChangeArrowheads="1"/>
              </p:cNvSpPr>
              <p:nvPr/>
            </p:nvSpPr>
            <p:spPr bwMode="auto">
              <a:xfrm>
                <a:off x="4284" y="2515"/>
                <a:ext cx="27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kumimoji="0" lang="en-US" altLang="zh-CN" sz="1600" b="1">
                    <a:ea typeface="楷体" panose="02010609060101010101" pitchFamily="49" charset="-122"/>
                  </a:rPr>
                  <a:t>0</a:t>
                </a:r>
              </a:p>
            </p:txBody>
          </p:sp>
          <p:sp>
            <p:nvSpPr>
              <p:cNvPr id="26" name="Text Box 61"/>
              <p:cNvSpPr txBox="1">
                <a:spLocks noChangeArrowheads="1"/>
              </p:cNvSpPr>
              <p:nvPr/>
            </p:nvSpPr>
            <p:spPr bwMode="auto">
              <a:xfrm>
                <a:off x="4231" y="2924"/>
                <a:ext cx="33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kumimoji="0" lang="en-US" altLang="zh-CN" sz="1600" b="1">
                    <a:ea typeface="楷体" panose="02010609060101010101" pitchFamily="49" charset="-122"/>
                  </a:rPr>
                  <a:t>L-1</a:t>
                </a:r>
              </a:p>
            </p:txBody>
          </p:sp>
          <p:sp>
            <p:nvSpPr>
              <p:cNvPr id="27" name="Text Box 62"/>
              <p:cNvSpPr txBox="1">
                <a:spLocks noChangeArrowheads="1"/>
              </p:cNvSpPr>
              <p:nvPr/>
            </p:nvSpPr>
            <p:spPr bwMode="auto">
              <a:xfrm>
                <a:off x="4280" y="3042"/>
                <a:ext cx="27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kumimoji="0" lang="en-US" altLang="zh-CN" sz="1600" b="1">
                    <a:ea typeface="楷体" panose="02010609060101010101" pitchFamily="49" charset="-122"/>
                  </a:rPr>
                  <a:t>L</a:t>
                </a:r>
              </a:p>
            </p:txBody>
          </p:sp>
          <p:sp>
            <p:nvSpPr>
              <p:cNvPr id="28" name="Text Box 63"/>
              <p:cNvSpPr txBox="1">
                <a:spLocks noChangeArrowheads="1"/>
              </p:cNvSpPr>
              <p:nvPr/>
            </p:nvSpPr>
            <p:spPr bwMode="auto">
              <a:xfrm>
                <a:off x="3923" y="3409"/>
                <a:ext cx="635"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kumimoji="0" lang="en-US" altLang="zh-CN" sz="1600" b="1">
                    <a:ea typeface="楷体" panose="02010609060101010101" pitchFamily="49" charset="-122"/>
                  </a:rPr>
                  <a:t>L+M-1</a:t>
                </a:r>
              </a:p>
            </p:txBody>
          </p:sp>
          <p:sp>
            <p:nvSpPr>
              <p:cNvPr id="29" name="Text Box 64"/>
              <p:cNvSpPr txBox="1">
                <a:spLocks noChangeArrowheads="1"/>
              </p:cNvSpPr>
              <p:nvPr/>
            </p:nvSpPr>
            <p:spPr bwMode="auto">
              <a:xfrm>
                <a:off x="4059" y="3520"/>
                <a:ext cx="499"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kumimoji="0" lang="en-US" altLang="zh-CN" sz="1600" b="1">
                    <a:ea typeface="楷体" panose="02010609060101010101" pitchFamily="49" charset="-122"/>
                  </a:rPr>
                  <a:t>L+M</a:t>
                </a:r>
              </a:p>
            </p:txBody>
          </p:sp>
          <p:sp>
            <p:nvSpPr>
              <p:cNvPr id="30" name="Text Box 65"/>
              <p:cNvSpPr txBox="1">
                <a:spLocks noChangeArrowheads="1"/>
              </p:cNvSpPr>
              <p:nvPr/>
            </p:nvSpPr>
            <p:spPr bwMode="auto">
              <a:xfrm>
                <a:off x="3878" y="3755"/>
                <a:ext cx="6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kumimoji="0" lang="en-US" altLang="zh-CN" sz="1600" b="1">
                    <a:ea typeface="楷体" panose="02010609060101010101" pitchFamily="49" charset="-122"/>
                  </a:rPr>
                  <a:t>L+M+N-1</a:t>
                </a:r>
              </a:p>
            </p:txBody>
          </p:sp>
        </p:grpSp>
        <p:sp>
          <p:nvSpPr>
            <p:cNvPr id="21" name="Text Box 66"/>
            <p:cNvSpPr txBox="1">
              <a:spLocks noChangeArrowheads="1"/>
            </p:cNvSpPr>
            <p:nvPr/>
          </p:nvSpPr>
          <p:spPr bwMode="auto">
            <a:xfrm>
              <a:off x="4558" y="3929"/>
              <a:ext cx="69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600" b="1">
                  <a:ea typeface="楷体" panose="02010609060101010101" pitchFamily="49" charset="-122"/>
                </a:rPr>
                <a:t>装入模块</a:t>
              </a:r>
            </a:p>
          </p:txBody>
        </p:sp>
      </p:grpSp>
      <p:grpSp>
        <p:nvGrpSpPr>
          <p:cNvPr id="31" name="Group 67"/>
          <p:cNvGrpSpPr>
            <a:grpSpLocks/>
          </p:cNvGrpSpPr>
          <p:nvPr/>
        </p:nvGrpSpPr>
        <p:grpSpPr bwMode="auto">
          <a:xfrm>
            <a:off x="5984528" y="3883472"/>
            <a:ext cx="387350" cy="1235075"/>
            <a:chOff x="5176" y="2889"/>
            <a:chExt cx="244" cy="778"/>
          </a:xfrm>
        </p:grpSpPr>
        <p:sp>
          <p:nvSpPr>
            <p:cNvPr id="32" name="Freeform 68"/>
            <p:cNvSpPr>
              <a:spLocks/>
            </p:cNvSpPr>
            <p:nvPr/>
          </p:nvSpPr>
          <p:spPr bwMode="auto">
            <a:xfrm>
              <a:off x="5176" y="2889"/>
              <a:ext cx="227" cy="318"/>
            </a:xfrm>
            <a:custGeom>
              <a:avLst/>
              <a:gdLst>
                <a:gd name="T0" fmla="*/ 0 w 227"/>
                <a:gd name="T1" fmla="*/ 0 h 318"/>
                <a:gd name="T2" fmla="*/ 227 w 227"/>
                <a:gd name="T3" fmla="*/ 136 h 318"/>
                <a:gd name="T4" fmla="*/ 0 w 227"/>
                <a:gd name="T5" fmla="*/ 318 h 318"/>
              </a:gdLst>
              <a:ahLst/>
              <a:cxnLst>
                <a:cxn ang="0">
                  <a:pos x="T0" y="T1"/>
                </a:cxn>
                <a:cxn ang="0">
                  <a:pos x="T2" y="T3"/>
                </a:cxn>
                <a:cxn ang="0">
                  <a:pos x="T4" y="T5"/>
                </a:cxn>
              </a:cxnLst>
              <a:rect l="0" t="0" r="r" b="b"/>
              <a:pathLst>
                <a:path w="227" h="318">
                  <a:moveTo>
                    <a:pt x="0" y="0"/>
                  </a:moveTo>
                  <a:cubicBezTo>
                    <a:pt x="113" y="41"/>
                    <a:pt x="227" y="83"/>
                    <a:pt x="227" y="136"/>
                  </a:cubicBezTo>
                  <a:cubicBezTo>
                    <a:pt x="227" y="189"/>
                    <a:pt x="38" y="288"/>
                    <a:pt x="0" y="318"/>
                  </a:cubicBezTo>
                </a:path>
              </a:pathLst>
            </a:custGeom>
            <a:noFill/>
            <a:ln w="9525">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33" name="Freeform 69"/>
            <p:cNvSpPr>
              <a:spLocks/>
            </p:cNvSpPr>
            <p:nvPr/>
          </p:nvSpPr>
          <p:spPr bwMode="auto">
            <a:xfrm>
              <a:off x="5193" y="3349"/>
              <a:ext cx="227" cy="318"/>
            </a:xfrm>
            <a:custGeom>
              <a:avLst/>
              <a:gdLst>
                <a:gd name="T0" fmla="*/ 0 w 227"/>
                <a:gd name="T1" fmla="*/ 0 h 318"/>
                <a:gd name="T2" fmla="*/ 227 w 227"/>
                <a:gd name="T3" fmla="*/ 136 h 318"/>
                <a:gd name="T4" fmla="*/ 0 w 227"/>
                <a:gd name="T5" fmla="*/ 318 h 318"/>
              </a:gdLst>
              <a:ahLst/>
              <a:cxnLst>
                <a:cxn ang="0">
                  <a:pos x="T0" y="T1"/>
                </a:cxn>
                <a:cxn ang="0">
                  <a:pos x="T2" y="T3"/>
                </a:cxn>
                <a:cxn ang="0">
                  <a:pos x="T4" y="T5"/>
                </a:cxn>
              </a:cxnLst>
              <a:rect l="0" t="0" r="r" b="b"/>
              <a:pathLst>
                <a:path w="227" h="318">
                  <a:moveTo>
                    <a:pt x="0" y="0"/>
                  </a:moveTo>
                  <a:cubicBezTo>
                    <a:pt x="113" y="41"/>
                    <a:pt x="227" y="83"/>
                    <a:pt x="227" y="136"/>
                  </a:cubicBezTo>
                  <a:cubicBezTo>
                    <a:pt x="227" y="189"/>
                    <a:pt x="38" y="288"/>
                    <a:pt x="0" y="318"/>
                  </a:cubicBezTo>
                </a:path>
              </a:pathLst>
            </a:custGeom>
            <a:noFill/>
            <a:ln w="9525">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Tree>
    <p:extLst>
      <p:ext uri="{BB962C8B-B14F-4D97-AF65-F5344CB8AC3E}">
        <p14:creationId xmlns:p14="http://schemas.microsoft.com/office/powerpoint/2010/main" val="4047682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up)">
                                      <p:cBhvr>
                                        <p:cTn id="11" dur="500"/>
                                        <p:tgtEl>
                                          <p:spTgt spid="1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31"/>
                                        </p:tgtEl>
                                        <p:attrNameLst>
                                          <p:attrName>style.visibility</p:attrName>
                                        </p:attrNameLst>
                                      </p:cBhvr>
                                      <p:to>
                                        <p:strVal val="visible"/>
                                      </p:to>
                                    </p:set>
                                    <p:animEffect transition="in" filter="wipe(up)">
                                      <p:cBhvr>
                                        <p:cTn id="16" dur="500"/>
                                        <p:tgtEl>
                                          <p:spTgt spid="3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wipe(left)">
                                      <p:cBhvr>
                                        <p:cTn id="2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存储管理的功能</a:t>
            </a:r>
          </a:p>
        </p:txBody>
      </p:sp>
      <p:sp>
        <p:nvSpPr>
          <p:cNvPr id="3" name="Content Placeholder 2"/>
          <p:cNvSpPr>
            <a:spLocks noGrp="1"/>
          </p:cNvSpPr>
          <p:nvPr>
            <p:ph idx="1"/>
          </p:nvPr>
        </p:nvSpPr>
        <p:spPr/>
        <p:txBody>
          <a:bodyPr/>
          <a:lstStyle/>
          <a:p>
            <a:r>
              <a:rPr lang="zh-CN" altLang="en-US" dirty="0"/>
              <a:t>程序的链接</a:t>
            </a:r>
            <a:r>
              <a:rPr lang="en-US" altLang="zh-CN" dirty="0"/>
              <a:t>——</a:t>
            </a:r>
            <a:r>
              <a:rPr lang="zh-CN" altLang="en-US" dirty="0">
                <a:solidFill>
                  <a:srgbClr val="0000FF"/>
                </a:solidFill>
              </a:rPr>
              <a:t>装入时动态链接</a:t>
            </a:r>
            <a:endParaRPr lang="en-US" altLang="zh-CN" dirty="0">
              <a:solidFill>
                <a:srgbClr val="0000FF"/>
              </a:solidFill>
            </a:endParaRPr>
          </a:p>
          <a:p>
            <a:pPr lvl="1"/>
            <a:r>
              <a:rPr lang="zh-CN" altLang="en-US" dirty="0"/>
              <a:t>边装入边链接。装入一个模块时，若发生外部模块调用，装入程序将去找出相应的外部模块并装入</a:t>
            </a:r>
          </a:p>
        </p:txBody>
      </p:sp>
      <p:sp>
        <p:nvSpPr>
          <p:cNvPr id="4" name="Date Placeholder 3"/>
          <p:cNvSpPr>
            <a:spLocks noGrp="1"/>
          </p:cNvSpPr>
          <p:nvPr>
            <p:ph type="dt" sz="half" idx="10"/>
          </p:nvPr>
        </p:nvSpPr>
        <p:spPr/>
        <p:txBody>
          <a:bodyPr/>
          <a:lstStyle/>
          <a:p>
            <a:fld id="{03908B41-E0B2-41CC-87E1-7CE3D766FF04}"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20</a:t>
            </a:fld>
            <a:endParaRPr lang="zh-CN" altLang="en-US" dirty="0"/>
          </a:p>
        </p:txBody>
      </p:sp>
      <p:grpSp>
        <p:nvGrpSpPr>
          <p:cNvPr id="7" name="Group 31"/>
          <p:cNvGrpSpPr>
            <a:grpSpLocks/>
          </p:cNvGrpSpPr>
          <p:nvPr/>
        </p:nvGrpSpPr>
        <p:grpSpPr bwMode="auto">
          <a:xfrm>
            <a:off x="2411760" y="3212976"/>
            <a:ext cx="1655763" cy="2670175"/>
            <a:chOff x="2608" y="2529"/>
            <a:chExt cx="1043" cy="1682"/>
          </a:xfrm>
        </p:grpSpPr>
        <p:sp>
          <p:nvSpPr>
            <p:cNvPr id="8" name="Rectangle 32"/>
            <p:cNvSpPr>
              <a:spLocks noChangeArrowheads="1"/>
            </p:cNvSpPr>
            <p:nvPr/>
          </p:nvSpPr>
          <p:spPr bwMode="auto">
            <a:xfrm>
              <a:off x="2925" y="2606"/>
              <a:ext cx="726" cy="499"/>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600" b="1">
                  <a:ea typeface="楷体" panose="02010609060101010101" pitchFamily="49" charset="-122"/>
                </a:rPr>
                <a:t>模块</a:t>
              </a:r>
              <a:r>
                <a:rPr kumimoji="0" lang="en-US" altLang="zh-CN" sz="1600" b="1">
                  <a:ea typeface="楷体" panose="02010609060101010101" pitchFamily="49" charset="-122"/>
                </a:rPr>
                <a:t>A</a:t>
              </a:r>
            </a:p>
            <a:p>
              <a:pPr algn="ctr"/>
              <a:r>
                <a:rPr kumimoji="0" lang="en-US" altLang="zh-CN" sz="1600" b="1">
                  <a:ea typeface="楷体" panose="02010609060101010101" pitchFamily="49" charset="-122"/>
                </a:rPr>
                <a:t>Call B;</a:t>
              </a:r>
            </a:p>
            <a:p>
              <a:pPr algn="ctr"/>
              <a:r>
                <a:rPr kumimoji="0" lang="en-US" altLang="zh-CN" sz="1600" b="1">
                  <a:ea typeface="楷体" panose="02010609060101010101" pitchFamily="49" charset="-122"/>
                </a:rPr>
                <a:t>Return</a:t>
              </a:r>
            </a:p>
          </p:txBody>
        </p:sp>
        <p:sp>
          <p:nvSpPr>
            <p:cNvPr id="9" name="Rectangle 33"/>
            <p:cNvSpPr>
              <a:spLocks noChangeArrowheads="1"/>
            </p:cNvSpPr>
            <p:nvPr/>
          </p:nvSpPr>
          <p:spPr bwMode="auto">
            <a:xfrm>
              <a:off x="2925" y="3150"/>
              <a:ext cx="726" cy="499"/>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600" b="1">
                  <a:ea typeface="楷体" panose="02010609060101010101" pitchFamily="49" charset="-122"/>
                </a:rPr>
                <a:t>模块</a:t>
              </a:r>
              <a:r>
                <a:rPr kumimoji="0" lang="en-US" altLang="zh-CN" sz="1600" b="1">
                  <a:ea typeface="楷体" panose="02010609060101010101" pitchFamily="49" charset="-122"/>
                </a:rPr>
                <a:t>B</a:t>
              </a:r>
            </a:p>
            <a:p>
              <a:pPr algn="ctr"/>
              <a:r>
                <a:rPr kumimoji="0" lang="en-US" altLang="zh-CN" sz="1600" b="1">
                  <a:ea typeface="楷体" panose="02010609060101010101" pitchFamily="49" charset="-122"/>
                </a:rPr>
                <a:t>Call C;</a:t>
              </a:r>
            </a:p>
            <a:p>
              <a:pPr algn="ctr"/>
              <a:r>
                <a:rPr kumimoji="0" lang="en-US" altLang="zh-CN" sz="1600" b="1">
                  <a:ea typeface="楷体" panose="02010609060101010101" pitchFamily="49" charset="-122"/>
                </a:rPr>
                <a:t>Return</a:t>
              </a:r>
            </a:p>
          </p:txBody>
        </p:sp>
        <p:sp>
          <p:nvSpPr>
            <p:cNvPr id="10" name="Rectangle 34"/>
            <p:cNvSpPr>
              <a:spLocks noChangeArrowheads="1"/>
            </p:cNvSpPr>
            <p:nvPr/>
          </p:nvSpPr>
          <p:spPr bwMode="auto">
            <a:xfrm>
              <a:off x="2925" y="3695"/>
              <a:ext cx="726" cy="31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600" b="1">
                  <a:ea typeface="楷体" panose="02010609060101010101" pitchFamily="49" charset="-122"/>
                </a:rPr>
                <a:t>模块</a:t>
              </a:r>
              <a:r>
                <a:rPr kumimoji="0" lang="en-US" altLang="zh-CN" sz="1600" b="1">
                  <a:ea typeface="楷体" panose="02010609060101010101" pitchFamily="49" charset="-122"/>
                </a:rPr>
                <a:t>C</a:t>
              </a:r>
            </a:p>
            <a:p>
              <a:pPr algn="ctr"/>
              <a:r>
                <a:rPr kumimoji="0" lang="en-US" altLang="zh-CN" sz="1600" b="1">
                  <a:ea typeface="楷体" panose="02010609060101010101" pitchFamily="49" charset="-122"/>
                </a:rPr>
                <a:t>Return</a:t>
              </a:r>
            </a:p>
          </p:txBody>
        </p:sp>
        <p:sp>
          <p:nvSpPr>
            <p:cNvPr id="11" name="Text Box 35"/>
            <p:cNvSpPr txBox="1">
              <a:spLocks noChangeArrowheads="1"/>
            </p:cNvSpPr>
            <p:nvPr/>
          </p:nvSpPr>
          <p:spPr bwMode="auto">
            <a:xfrm>
              <a:off x="2689" y="2529"/>
              <a:ext cx="27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kumimoji="0" lang="en-US" altLang="zh-CN" sz="1600" b="1">
                  <a:ea typeface="楷体" panose="02010609060101010101" pitchFamily="49" charset="-122"/>
                </a:rPr>
                <a:t>0</a:t>
              </a:r>
            </a:p>
          </p:txBody>
        </p:sp>
        <p:sp>
          <p:nvSpPr>
            <p:cNvPr id="12" name="Text Box 36"/>
            <p:cNvSpPr txBox="1">
              <a:spLocks noChangeArrowheads="1"/>
            </p:cNvSpPr>
            <p:nvPr/>
          </p:nvSpPr>
          <p:spPr bwMode="auto">
            <a:xfrm>
              <a:off x="2678" y="3071"/>
              <a:ext cx="27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kumimoji="0" lang="en-US" altLang="zh-CN" sz="1600" b="1">
                  <a:ea typeface="楷体" panose="02010609060101010101" pitchFamily="49" charset="-122"/>
                </a:rPr>
                <a:t>0</a:t>
              </a:r>
            </a:p>
          </p:txBody>
        </p:sp>
        <p:sp>
          <p:nvSpPr>
            <p:cNvPr id="13" name="Text Box 37"/>
            <p:cNvSpPr txBox="1">
              <a:spLocks noChangeArrowheads="1"/>
            </p:cNvSpPr>
            <p:nvPr/>
          </p:nvSpPr>
          <p:spPr bwMode="auto">
            <a:xfrm>
              <a:off x="2678" y="3619"/>
              <a:ext cx="27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kumimoji="0" lang="en-US" altLang="zh-CN" sz="1600" b="1">
                  <a:ea typeface="楷体" panose="02010609060101010101" pitchFamily="49" charset="-122"/>
                </a:rPr>
                <a:t>0</a:t>
              </a:r>
            </a:p>
          </p:txBody>
        </p:sp>
        <p:sp>
          <p:nvSpPr>
            <p:cNvPr id="14" name="Text Box 38"/>
            <p:cNvSpPr txBox="1">
              <a:spLocks noChangeArrowheads="1"/>
            </p:cNvSpPr>
            <p:nvPr/>
          </p:nvSpPr>
          <p:spPr bwMode="auto">
            <a:xfrm>
              <a:off x="2636" y="2938"/>
              <a:ext cx="33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kumimoji="0" lang="en-US" altLang="zh-CN" sz="1600" b="1">
                  <a:ea typeface="楷体" panose="02010609060101010101" pitchFamily="49" charset="-122"/>
                </a:rPr>
                <a:t>L-1</a:t>
              </a:r>
            </a:p>
          </p:txBody>
        </p:sp>
        <p:sp>
          <p:nvSpPr>
            <p:cNvPr id="15" name="Text Box 39"/>
            <p:cNvSpPr txBox="1">
              <a:spLocks noChangeArrowheads="1"/>
            </p:cNvSpPr>
            <p:nvPr/>
          </p:nvSpPr>
          <p:spPr bwMode="auto">
            <a:xfrm>
              <a:off x="2608" y="3483"/>
              <a:ext cx="36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kumimoji="0" lang="en-US" altLang="zh-CN" sz="1600" b="1">
                  <a:ea typeface="楷体" panose="02010609060101010101" pitchFamily="49" charset="-122"/>
                </a:rPr>
                <a:t>M-1</a:t>
              </a:r>
            </a:p>
          </p:txBody>
        </p:sp>
        <p:sp>
          <p:nvSpPr>
            <p:cNvPr id="16" name="Text Box 40"/>
            <p:cNvSpPr txBox="1">
              <a:spLocks noChangeArrowheads="1"/>
            </p:cNvSpPr>
            <p:nvPr/>
          </p:nvSpPr>
          <p:spPr bwMode="auto">
            <a:xfrm>
              <a:off x="2629" y="3853"/>
              <a:ext cx="33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kumimoji="0" lang="en-US" altLang="zh-CN" sz="1600" b="1">
                  <a:ea typeface="楷体" panose="02010609060101010101" pitchFamily="49" charset="-122"/>
                </a:rPr>
                <a:t>N-1</a:t>
              </a:r>
            </a:p>
          </p:txBody>
        </p:sp>
        <p:sp>
          <p:nvSpPr>
            <p:cNvPr id="17" name="Text Box 41"/>
            <p:cNvSpPr txBox="1">
              <a:spLocks noChangeArrowheads="1"/>
            </p:cNvSpPr>
            <p:nvPr/>
          </p:nvSpPr>
          <p:spPr bwMode="auto">
            <a:xfrm>
              <a:off x="2954" y="3999"/>
              <a:ext cx="69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600" b="1">
                  <a:ea typeface="楷体" panose="02010609060101010101" pitchFamily="49" charset="-122"/>
                </a:rPr>
                <a:t>目标模块</a:t>
              </a:r>
            </a:p>
          </p:txBody>
        </p:sp>
      </p:grpSp>
      <p:sp>
        <p:nvSpPr>
          <p:cNvPr id="18" name="AutoShape 42"/>
          <p:cNvSpPr>
            <a:spLocks noChangeArrowheads="1"/>
          </p:cNvSpPr>
          <p:nvPr/>
        </p:nvSpPr>
        <p:spPr bwMode="auto">
          <a:xfrm>
            <a:off x="4210398" y="4082926"/>
            <a:ext cx="649287" cy="576263"/>
          </a:xfrm>
          <a:prstGeom prst="rightArrow">
            <a:avLst>
              <a:gd name="adj1" fmla="val 50000"/>
              <a:gd name="adj2" fmla="val 28168"/>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b="1">
                <a:ea typeface="楷体" panose="02010609060101010101" pitchFamily="49" charset="-122"/>
              </a:rPr>
              <a:t>装入</a:t>
            </a:r>
          </a:p>
        </p:txBody>
      </p:sp>
      <p:grpSp>
        <p:nvGrpSpPr>
          <p:cNvPr id="19" name="Group 43"/>
          <p:cNvGrpSpPr>
            <a:grpSpLocks/>
          </p:cNvGrpSpPr>
          <p:nvPr/>
        </p:nvGrpSpPr>
        <p:grpSpPr bwMode="auto">
          <a:xfrm>
            <a:off x="4843810" y="3290764"/>
            <a:ext cx="1600200" cy="985837"/>
            <a:chOff x="4095" y="2523"/>
            <a:chExt cx="1008" cy="621"/>
          </a:xfrm>
        </p:grpSpPr>
        <p:sp>
          <p:nvSpPr>
            <p:cNvPr id="20" name="Rectangle 44"/>
            <p:cNvSpPr>
              <a:spLocks noChangeArrowheads="1"/>
            </p:cNvSpPr>
            <p:nvPr/>
          </p:nvSpPr>
          <p:spPr bwMode="auto">
            <a:xfrm>
              <a:off x="4377" y="2614"/>
              <a:ext cx="726" cy="499"/>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600" b="1">
                  <a:ea typeface="楷体" panose="02010609060101010101" pitchFamily="49" charset="-122"/>
                </a:rPr>
                <a:t>模块</a:t>
              </a:r>
              <a:r>
                <a:rPr kumimoji="0" lang="en-US" altLang="zh-CN" sz="1600" b="1">
                  <a:ea typeface="楷体" panose="02010609060101010101" pitchFamily="49" charset="-122"/>
                </a:rPr>
                <a:t>A</a:t>
              </a:r>
            </a:p>
            <a:p>
              <a:pPr algn="ctr"/>
              <a:r>
                <a:rPr kumimoji="0" lang="en-US" altLang="zh-CN" sz="1600" b="1">
                  <a:ea typeface="楷体" panose="02010609060101010101" pitchFamily="49" charset="-122"/>
                </a:rPr>
                <a:t> </a:t>
              </a:r>
            </a:p>
            <a:p>
              <a:pPr algn="ctr"/>
              <a:r>
                <a:rPr kumimoji="0" lang="en-US" altLang="zh-CN" sz="1600" b="1">
                  <a:ea typeface="楷体" panose="02010609060101010101" pitchFamily="49" charset="-122"/>
                </a:rPr>
                <a:t>Return</a:t>
              </a:r>
            </a:p>
          </p:txBody>
        </p:sp>
        <p:sp>
          <p:nvSpPr>
            <p:cNvPr id="21" name="Text Box 45"/>
            <p:cNvSpPr txBox="1">
              <a:spLocks noChangeArrowheads="1"/>
            </p:cNvSpPr>
            <p:nvPr/>
          </p:nvSpPr>
          <p:spPr bwMode="auto">
            <a:xfrm>
              <a:off x="4148" y="2523"/>
              <a:ext cx="27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kumimoji="0" lang="en-US" altLang="zh-CN" sz="1600" b="1">
                  <a:ea typeface="楷体" panose="02010609060101010101" pitchFamily="49" charset="-122"/>
                </a:rPr>
                <a:t>0</a:t>
              </a:r>
            </a:p>
          </p:txBody>
        </p:sp>
        <p:sp>
          <p:nvSpPr>
            <p:cNvPr id="22" name="Text Box 46"/>
            <p:cNvSpPr txBox="1">
              <a:spLocks noChangeArrowheads="1"/>
            </p:cNvSpPr>
            <p:nvPr/>
          </p:nvSpPr>
          <p:spPr bwMode="auto">
            <a:xfrm>
              <a:off x="4095" y="2932"/>
              <a:ext cx="33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kumimoji="0" lang="en-US" altLang="zh-CN" sz="1600" b="1">
                  <a:ea typeface="楷体" panose="02010609060101010101" pitchFamily="49" charset="-122"/>
                </a:rPr>
                <a:t>L-1</a:t>
              </a:r>
            </a:p>
          </p:txBody>
        </p:sp>
      </p:grpSp>
      <p:grpSp>
        <p:nvGrpSpPr>
          <p:cNvPr id="23" name="Group 47"/>
          <p:cNvGrpSpPr>
            <a:grpSpLocks/>
          </p:cNvGrpSpPr>
          <p:nvPr/>
        </p:nvGrpSpPr>
        <p:grpSpPr bwMode="auto">
          <a:xfrm>
            <a:off x="4354860" y="4127376"/>
            <a:ext cx="2089150" cy="919163"/>
            <a:chOff x="3787" y="3050"/>
            <a:chExt cx="1316" cy="579"/>
          </a:xfrm>
        </p:grpSpPr>
        <p:sp>
          <p:nvSpPr>
            <p:cNvPr id="24" name="Rectangle 48"/>
            <p:cNvSpPr>
              <a:spLocks noChangeArrowheads="1"/>
            </p:cNvSpPr>
            <p:nvPr/>
          </p:nvSpPr>
          <p:spPr bwMode="auto">
            <a:xfrm>
              <a:off x="4377" y="3102"/>
              <a:ext cx="726" cy="499"/>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600" b="1">
                  <a:ea typeface="楷体" panose="02010609060101010101" pitchFamily="49" charset="-122"/>
                </a:rPr>
                <a:t>模块</a:t>
              </a:r>
              <a:r>
                <a:rPr kumimoji="0" lang="en-US" altLang="zh-CN" sz="1600" b="1">
                  <a:ea typeface="楷体" panose="02010609060101010101" pitchFamily="49" charset="-122"/>
                </a:rPr>
                <a:t>B</a:t>
              </a:r>
            </a:p>
            <a:p>
              <a:pPr algn="ctr"/>
              <a:endParaRPr kumimoji="0" lang="en-US" altLang="zh-CN" sz="1600" b="1">
                <a:ea typeface="楷体" panose="02010609060101010101" pitchFamily="49" charset="-122"/>
              </a:endParaRPr>
            </a:p>
            <a:p>
              <a:pPr algn="ctr"/>
              <a:r>
                <a:rPr kumimoji="0" lang="en-US" altLang="zh-CN" sz="1600" b="1">
                  <a:ea typeface="楷体" panose="02010609060101010101" pitchFamily="49" charset="-122"/>
                </a:rPr>
                <a:t>Return</a:t>
              </a:r>
            </a:p>
          </p:txBody>
        </p:sp>
        <p:sp>
          <p:nvSpPr>
            <p:cNvPr id="25" name="Text Box 49"/>
            <p:cNvSpPr txBox="1">
              <a:spLocks noChangeArrowheads="1"/>
            </p:cNvSpPr>
            <p:nvPr/>
          </p:nvSpPr>
          <p:spPr bwMode="auto">
            <a:xfrm>
              <a:off x="4144" y="3050"/>
              <a:ext cx="27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kumimoji="0" lang="en-US" altLang="zh-CN" sz="1600" b="1">
                  <a:ea typeface="楷体" panose="02010609060101010101" pitchFamily="49" charset="-122"/>
                </a:rPr>
                <a:t>L</a:t>
              </a:r>
            </a:p>
          </p:txBody>
        </p:sp>
        <p:sp>
          <p:nvSpPr>
            <p:cNvPr id="26" name="Text Box 50"/>
            <p:cNvSpPr txBox="1">
              <a:spLocks noChangeArrowheads="1"/>
            </p:cNvSpPr>
            <p:nvPr/>
          </p:nvSpPr>
          <p:spPr bwMode="auto">
            <a:xfrm>
              <a:off x="3787" y="3417"/>
              <a:ext cx="635"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kumimoji="0" lang="en-US" altLang="zh-CN" sz="1600" b="1">
                  <a:ea typeface="楷体" panose="02010609060101010101" pitchFamily="49" charset="-122"/>
                </a:rPr>
                <a:t>L+M-1</a:t>
              </a:r>
            </a:p>
          </p:txBody>
        </p:sp>
      </p:grpSp>
      <p:grpSp>
        <p:nvGrpSpPr>
          <p:cNvPr id="27" name="Group 51"/>
          <p:cNvGrpSpPr>
            <a:grpSpLocks/>
          </p:cNvGrpSpPr>
          <p:nvPr/>
        </p:nvGrpSpPr>
        <p:grpSpPr bwMode="auto">
          <a:xfrm>
            <a:off x="4283423" y="4886201"/>
            <a:ext cx="2160587" cy="709613"/>
            <a:chOff x="3742" y="3528"/>
            <a:chExt cx="1361" cy="447"/>
          </a:xfrm>
        </p:grpSpPr>
        <p:sp>
          <p:nvSpPr>
            <p:cNvPr id="28" name="Rectangle 52"/>
            <p:cNvSpPr>
              <a:spLocks noChangeArrowheads="1"/>
            </p:cNvSpPr>
            <p:nvPr/>
          </p:nvSpPr>
          <p:spPr bwMode="auto">
            <a:xfrm>
              <a:off x="4377" y="3591"/>
              <a:ext cx="726" cy="31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600" b="1">
                  <a:ea typeface="楷体" panose="02010609060101010101" pitchFamily="49" charset="-122"/>
                </a:rPr>
                <a:t>模块</a:t>
              </a:r>
              <a:r>
                <a:rPr kumimoji="0" lang="en-US" altLang="zh-CN" sz="1600" b="1">
                  <a:ea typeface="楷体" panose="02010609060101010101" pitchFamily="49" charset="-122"/>
                </a:rPr>
                <a:t>C</a:t>
              </a:r>
            </a:p>
            <a:p>
              <a:pPr algn="ctr"/>
              <a:r>
                <a:rPr kumimoji="0" lang="en-US" altLang="zh-CN" sz="1600" b="1">
                  <a:ea typeface="楷体" panose="02010609060101010101" pitchFamily="49" charset="-122"/>
                </a:rPr>
                <a:t>Return</a:t>
              </a:r>
            </a:p>
          </p:txBody>
        </p:sp>
        <p:sp>
          <p:nvSpPr>
            <p:cNvPr id="29" name="Text Box 53"/>
            <p:cNvSpPr txBox="1">
              <a:spLocks noChangeArrowheads="1"/>
            </p:cNvSpPr>
            <p:nvPr/>
          </p:nvSpPr>
          <p:spPr bwMode="auto">
            <a:xfrm>
              <a:off x="3923" y="3528"/>
              <a:ext cx="499"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kumimoji="0" lang="en-US" altLang="zh-CN" sz="1600" b="1">
                  <a:ea typeface="楷体" panose="02010609060101010101" pitchFamily="49" charset="-122"/>
                </a:rPr>
                <a:t>L+M</a:t>
              </a:r>
            </a:p>
          </p:txBody>
        </p:sp>
        <p:sp>
          <p:nvSpPr>
            <p:cNvPr id="30" name="Text Box 54"/>
            <p:cNvSpPr txBox="1">
              <a:spLocks noChangeArrowheads="1"/>
            </p:cNvSpPr>
            <p:nvPr/>
          </p:nvSpPr>
          <p:spPr bwMode="auto">
            <a:xfrm>
              <a:off x="3742" y="3763"/>
              <a:ext cx="6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kumimoji="0" lang="en-US" altLang="zh-CN" sz="1600" b="1">
                  <a:ea typeface="楷体" panose="02010609060101010101" pitchFamily="49" charset="-122"/>
                </a:rPr>
                <a:t>L+M+N-1</a:t>
              </a:r>
            </a:p>
          </p:txBody>
        </p:sp>
      </p:grpSp>
      <p:grpSp>
        <p:nvGrpSpPr>
          <p:cNvPr id="31" name="Group 55"/>
          <p:cNvGrpSpPr>
            <a:grpSpLocks/>
          </p:cNvGrpSpPr>
          <p:nvPr/>
        </p:nvGrpSpPr>
        <p:grpSpPr bwMode="auto">
          <a:xfrm>
            <a:off x="5502623" y="3667001"/>
            <a:ext cx="1084262" cy="703263"/>
            <a:chOff x="4510" y="2760"/>
            <a:chExt cx="683" cy="443"/>
          </a:xfrm>
        </p:grpSpPr>
        <p:sp>
          <p:nvSpPr>
            <p:cNvPr id="32" name="Text Box 56"/>
            <p:cNvSpPr txBox="1">
              <a:spLocks noChangeArrowheads="1"/>
            </p:cNvSpPr>
            <p:nvPr/>
          </p:nvSpPr>
          <p:spPr bwMode="auto">
            <a:xfrm>
              <a:off x="4510" y="2760"/>
              <a:ext cx="589"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楷体" panose="02010609060101010101" pitchFamily="49" charset="-122"/>
                </a:rPr>
                <a:t>JCR L</a:t>
              </a:r>
            </a:p>
          </p:txBody>
        </p:sp>
        <p:sp>
          <p:nvSpPr>
            <p:cNvPr id="33" name="Freeform 57"/>
            <p:cNvSpPr>
              <a:spLocks/>
            </p:cNvSpPr>
            <p:nvPr/>
          </p:nvSpPr>
          <p:spPr bwMode="auto">
            <a:xfrm>
              <a:off x="5012" y="2885"/>
              <a:ext cx="181" cy="318"/>
            </a:xfrm>
            <a:custGeom>
              <a:avLst/>
              <a:gdLst>
                <a:gd name="T0" fmla="*/ 0 w 181"/>
                <a:gd name="T1" fmla="*/ 0 h 227"/>
                <a:gd name="T2" fmla="*/ 181 w 181"/>
                <a:gd name="T3" fmla="*/ 91 h 227"/>
                <a:gd name="T4" fmla="*/ 0 w 181"/>
                <a:gd name="T5" fmla="*/ 227 h 227"/>
              </a:gdLst>
              <a:ahLst/>
              <a:cxnLst>
                <a:cxn ang="0">
                  <a:pos x="T0" y="T1"/>
                </a:cxn>
                <a:cxn ang="0">
                  <a:pos x="T2" y="T3"/>
                </a:cxn>
                <a:cxn ang="0">
                  <a:pos x="T4" y="T5"/>
                </a:cxn>
              </a:cxnLst>
              <a:rect l="0" t="0" r="r" b="b"/>
              <a:pathLst>
                <a:path w="181" h="227">
                  <a:moveTo>
                    <a:pt x="0" y="0"/>
                  </a:moveTo>
                  <a:cubicBezTo>
                    <a:pt x="90" y="26"/>
                    <a:pt x="181" y="53"/>
                    <a:pt x="181" y="91"/>
                  </a:cubicBezTo>
                  <a:cubicBezTo>
                    <a:pt x="181" y="129"/>
                    <a:pt x="30" y="204"/>
                    <a:pt x="0" y="227"/>
                  </a:cubicBezTo>
                </a:path>
              </a:pathLst>
            </a:custGeom>
            <a:noFill/>
            <a:ln w="19050" cmpd="sng">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grpSp>
        <p:nvGrpSpPr>
          <p:cNvPr id="34" name="Group 58"/>
          <p:cNvGrpSpPr>
            <a:grpSpLocks/>
          </p:cNvGrpSpPr>
          <p:nvPr/>
        </p:nvGrpSpPr>
        <p:grpSpPr bwMode="auto">
          <a:xfrm>
            <a:off x="5320060" y="4432176"/>
            <a:ext cx="1295400" cy="658813"/>
            <a:chOff x="4395" y="3242"/>
            <a:chExt cx="816" cy="415"/>
          </a:xfrm>
        </p:grpSpPr>
        <p:sp>
          <p:nvSpPr>
            <p:cNvPr id="35" name="Text Box 59"/>
            <p:cNvSpPr txBox="1">
              <a:spLocks noChangeArrowheads="1"/>
            </p:cNvSpPr>
            <p:nvPr/>
          </p:nvSpPr>
          <p:spPr bwMode="auto">
            <a:xfrm>
              <a:off x="4395" y="3242"/>
              <a:ext cx="81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楷体" panose="02010609060101010101" pitchFamily="49" charset="-122"/>
                </a:rPr>
                <a:t>JCR L+M</a:t>
              </a:r>
            </a:p>
          </p:txBody>
        </p:sp>
        <p:sp>
          <p:nvSpPr>
            <p:cNvPr id="36" name="Freeform 60"/>
            <p:cNvSpPr>
              <a:spLocks/>
            </p:cNvSpPr>
            <p:nvPr/>
          </p:nvSpPr>
          <p:spPr bwMode="auto">
            <a:xfrm>
              <a:off x="5057" y="3339"/>
              <a:ext cx="136" cy="318"/>
            </a:xfrm>
            <a:custGeom>
              <a:avLst/>
              <a:gdLst>
                <a:gd name="T0" fmla="*/ 0 w 136"/>
                <a:gd name="T1" fmla="*/ 0 h 318"/>
                <a:gd name="T2" fmla="*/ 136 w 136"/>
                <a:gd name="T3" fmla="*/ 136 h 318"/>
                <a:gd name="T4" fmla="*/ 0 w 136"/>
                <a:gd name="T5" fmla="*/ 318 h 318"/>
              </a:gdLst>
              <a:ahLst/>
              <a:cxnLst>
                <a:cxn ang="0">
                  <a:pos x="T0" y="T1"/>
                </a:cxn>
                <a:cxn ang="0">
                  <a:pos x="T2" y="T3"/>
                </a:cxn>
                <a:cxn ang="0">
                  <a:pos x="T4" y="T5"/>
                </a:cxn>
              </a:cxnLst>
              <a:rect l="0" t="0" r="r" b="b"/>
              <a:pathLst>
                <a:path w="136" h="318">
                  <a:moveTo>
                    <a:pt x="0" y="0"/>
                  </a:moveTo>
                  <a:cubicBezTo>
                    <a:pt x="68" y="41"/>
                    <a:pt x="136" y="83"/>
                    <a:pt x="136" y="136"/>
                  </a:cubicBezTo>
                  <a:cubicBezTo>
                    <a:pt x="136" y="189"/>
                    <a:pt x="23" y="288"/>
                    <a:pt x="0" y="318"/>
                  </a:cubicBezTo>
                </a:path>
              </a:pathLst>
            </a:custGeom>
            <a:noFill/>
            <a:ln w="19050" cmpd="sng">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Tree>
    <p:extLst>
      <p:ext uri="{BB962C8B-B14F-4D97-AF65-F5344CB8AC3E}">
        <p14:creationId xmlns:p14="http://schemas.microsoft.com/office/powerpoint/2010/main" val="2707610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left)">
                                      <p:cBhvr>
                                        <p:cTn id="11" dur="500"/>
                                        <p:tgtEl>
                                          <p:spTgt spid="1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wipe(left)">
                                      <p:cBhvr>
                                        <p:cTn id="16" dur="500"/>
                                        <p:tgtEl>
                                          <p:spTgt spid="1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wipe(left)">
                                      <p:cBhvr>
                                        <p:cTn id="21" dur="500"/>
                                        <p:tgtEl>
                                          <p:spTgt spid="2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31"/>
                                        </p:tgtEl>
                                        <p:attrNameLst>
                                          <p:attrName>style.visibility</p:attrName>
                                        </p:attrNameLst>
                                      </p:cBhvr>
                                      <p:to>
                                        <p:strVal val="visible"/>
                                      </p:to>
                                    </p:set>
                                    <p:animEffect transition="in" filter="wipe(up)">
                                      <p:cBhvr>
                                        <p:cTn id="26" dur="500"/>
                                        <p:tgtEl>
                                          <p:spTgt spid="31"/>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wipe(left)">
                                      <p:cBhvr>
                                        <p:cTn id="31" dur="500"/>
                                        <p:tgtEl>
                                          <p:spTgt spid="27"/>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nodeType="clickEffect">
                                  <p:stCondLst>
                                    <p:cond delay="0"/>
                                  </p:stCondLst>
                                  <p:childTnLst>
                                    <p:set>
                                      <p:cBhvr>
                                        <p:cTn id="35" dur="1" fill="hold">
                                          <p:stCondLst>
                                            <p:cond delay="0"/>
                                          </p:stCondLst>
                                        </p:cTn>
                                        <p:tgtEl>
                                          <p:spTgt spid="34"/>
                                        </p:tgtEl>
                                        <p:attrNameLst>
                                          <p:attrName>style.visibility</p:attrName>
                                        </p:attrNameLst>
                                      </p:cBhvr>
                                      <p:to>
                                        <p:strVal val="visible"/>
                                      </p:to>
                                    </p:set>
                                    <p:animEffect transition="in" filter="wipe(up)">
                                      <p:cBhvr>
                                        <p:cTn id="36"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存储管理的功能</a:t>
            </a:r>
          </a:p>
        </p:txBody>
      </p:sp>
      <p:sp>
        <p:nvSpPr>
          <p:cNvPr id="3" name="Content Placeholder 2"/>
          <p:cNvSpPr>
            <a:spLocks noGrp="1"/>
          </p:cNvSpPr>
          <p:nvPr>
            <p:ph idx="1"/>
          </p:nvPr>
        </p:nvSpPr>
        <p:spPr/>
        <p:txBody>
          <a:bodyPr/>
          <a:lstStyle/>
          <a:p>
            <a:r>
              <a:rPr lang="zh-CN" altLang="en-US" dirty="0"/>
              <a:t>程序的链接</a:t>
            </a:r>
            <a:r>
              <a:rPr lang="en-US" altLang="zh-CN" dirty="0"/>
              <a:t>——</a:t>
            </a:r>
            <a:r>
              <a:rPr lang="zh-CN" altLang="en-US" dirty="0">
                <a:solidFill>
                  <a:srgbClr val="0000FF"/>
                </a:solidFill>
              </a:rPr>
              <a:t>运行时动态链接</a:t>
            </a:r>
            <a:endParaRPr lang="en-US" altLang="zh-CN" dirty="0">
              <a:solidFill>
                <a:srgbClr val="0000FF"/>
              </a:solidFill>
            </a:endParaRPr>
          </a:p>
          <a:p>
            <a:pPr lvl="1"/>
            <a:r>
              <a:rPr lang="zh-CN" altLang="en-US" dirty="0"/>
              <a:t>边执行边链接。在执行过程中，若发现一个被调用模块尚未装入内存时，由</a:t>
            </a:r>
            <a:r>
              <a:rPr lang="en-US" altLang="zh-CN" dirty="0"/>
              <a:t>OS</a:t>
            </a:r>
            <a:r>
              <a:rPr lang="zh-CN" altLang="en-US" dirty="0"/>
              <a:t>去找该模块并将其装入内存，链接到调用者模块上</a:t>
            </a:r>
            <a:endParaRPr lang="en-US" altLang="zh-CN" dirty="0"/>
          </a:p>
          <a:p>
            <a:pPr lvl="1"/>
            <a:r>
              <a:rPr lang="zh-CN" altLang="en-US" dirty="0"/>
              <a:t>优点</a:t>
            </a:r>
            <a:endParaRPr lang="en-US" altLang="zh-CN" dirty="0"/>
          </a:p>
          <a:p>
            <a:pPr lvl="2"/>
            <a:r>
              <a:rPr lang="zh-CN" altLang="en-US" dirty="0"/>
              <a:t>能够加快程序的装入过程</a:t>
            </a:r>
            <a:endParaRPr lang="en-US" altLang="zh-CN" dirty="0"/>
          </a:p>
          <a:p>
            <a:pPr lvl="2"/>
            <a:r>
              <a:rPr lang="zh-CN" altLang="en-US" dirty="0"/>
              <a:t>节省内存</a:t>
            </a:r>
          </a:p>
        </p:txBody>
      </p:sp>
      <p:sp>
        <p:nvSpPr>
          <p:cNvPr id="4" name="Date Placeholder 3"/>
          <p:cNvSpPr>
            <a:spLocks noGrp="1"/>
          </p:cNvSpPr>
          <p:nvPr>
            <p:ph type="dt" sz="half" idx="10"/>
          </p:nvPr>
        </p:nvSpPr>
        <p:spPr/>
        <p:txBody>
          <a:bodyPr/>
          <a:lstStyle/>
          <a:p>
            <a:fld id="{F20DF32E-CE89-4A77-822E-54F2229B992E}"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21</a:t>
            </a:fld>
            <a:endParaRPr lang="zh-CN" altLang="en-US" dirty="0"/>
          </a:p>
        </p:txBody>
      </p:sp>
    </p:spTree>
    <p:extLst>
      <p:ext uri="{BB962C8B-B14F-4D97-AF65-F5344CB8AC3E}">
        <p14:creationId xmlns:p14="http://schemas.microsoft.com/office/powerpoint/2010/main" val="390421164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存储管理的功能</a:t>
            </a:r>
          </a:p>
        </p:txBody>
      </p:sp>
      <p:sp>
        <p:nvSpPr>
          <p:cNvPr id="3" name="Content Placeholder 2"/>
          <p:cNvSpPr>
            <a:spLocks noGrp="1"/>
          </p:cNvSpPr>
          <p:nvPr>
            <p:ph idx="1"/>
          </p:nvPr>
        </p:nvSpPr>
        <p:spPr/>
        <p:txBody>
          <a:bodyPr>
            <a:normAutofit/>
          </a:bodyPr>
          <a:lstStyle/>
          <a:p>
            <a:pPr marL="342900" lvl="1" indent="-342900">
              <a:spcBef>
                <a:spcPts val="1200"/>
              </a:spcBef>
              <a:buFont typeface="Arial" pitchFamily="34" charset="0"/>
              <a:buChar char="•"/>
            </a:pPr>
            <a:r>
              <a:rPr lang="zh-CN" altLang="en-US" sz="2600" dirty="0"/>
              <a:t>内外存数据的传输控制</a:t>
            </a:r>
            <a:endParaRPr lang="en-US" altLang="zh-CN" sz="2600" dirty="0"/>
          </a:p>
          <a:p>
            <a:pPr marL="742950" lvl="2" indent="-342900">
              <a:spcBef>
                <a:spcPts val="1200"/>
              </a:spcBef>
            </a:pPr>
            <a:r>
              <a:rPr lang="zh-CN" altLang="en-US" sz="2200" dirty="0"/>
              <a:t>将执行的程序和数据段调入内存，把处于等待状态的程序和数据段调出内存</a:t>
            </a:r>
            <a:endParaRPr lang="en-US" altLang="zh-CN" sz="2200" dirty="0"/>
          </a:p>
          <a:p>
            <a:pPr marL="742950" lvl="2" indent="-342900">
              <a:spcBef>
                <a:spcPts val="1200"/>
              </a:spcBef>
            </a:pPr>
            <a:r>
              <a:rPr lang="zh-CN" altLang="en-US" sz="2200" dirty="0"/>
              <a:t>方法</a:t>
            </a:r>
            <a:endParaRPr lang="en-US" altLang="zh-CN" sz="2200" dirty="0"/>
          </a:p>
          <a:p>
            <a:pPr marL="1200150" lvl="3" indent="-342900">
              <a:spcBef>
                <a:spcPts val="1200"/>
              </a:spcBef>
            </a:pPr>
            <a:r>
              <a:rPr lang="zh-CN" altLang="en-US" dirty="0"/>
              <a:t>用户程序控制：例如，覆盖（</a:t>
            </a:r>
            <a:r>
              <a:rPr lang="en-US" altLang="zh-CN" dirty="0"/>
              <a:t>Overlay</a:t>
            </a:r>
            <a:r>
              <a:rPr lang="zh-CN" altLang="en-US" dirty="0"/>
              <a:t>）</a:t>
            </a:r>
            <a:endParaRPr lang="en-US" altLang="zh-CN" dirty="0"/>
          </a:p>
          <a:p>
            <a:pPr marL="1200150" lvl="3" indent="-342900">
              <a:spcBef>
                <a:spcPts val="1200"/>
              </a:spcBef>
            </a:pPr>
            <a:r>
              <a:rPr lang="zh-CN" altLang="en-US" dirty="0"/>
              <a:t>操作系统控制</a:t>
            </a:r>
            <a:endParaRPr lang="en-US" altLang="zh-CN" dirty="0"/>
          </a:p>
          <a:p>
            <a:pPr marL="1657350" lvl="4" indent="-342900">
              <a:spcBef>
                <a:spcPts val="1200"/>
              </a:spcBef>
            </a:pPr>
            <a:r>
              <a:rPr lang="zh-CN" altLang="en-US" dirty="0"/>
              <a:t>交换（</a:t>
            </a:r>
            <a:r>
              <a:rPr lang="en-US" altLang="zh-CN" dirty="0"/>
              <a:t>Swapping</a:t>
            </a:r>
            <a:r>
              <a:rPr lang="zh-CN" altLang="en-US" dirty="0"/>
              <a:t>）</a:t>
            </a:r>
            <a:endParaRPr lang="en-US" altLang="zh-CN" dirty="0"/>
          </a:p>
          <a:p>
            <a:pPr marL="1657350" lvl="4" indent="-342900">
              <a:spcBef>
                <a:spcPts val="1200"/>
              </a:spcBef>
            </a:pPr>
            <a:r>
              <a:rPr lang="zh-CN" altLang="en-US" dirty="0"/>
              <a:t>请求调入（</a:t>
            </a:r>
            <a:r>
              <a:rPr lang="en-US" altLang="zh-CN" dirty="0"/>
              <a:t>on demand</a:t>
            </a:r>
            <a:r>
              <a:rPr lang="zh-CN" altLang="en-US" dirty="0"/>
              <a:t>）和预调入（</a:t>
            </a:r>
            <a:r>
              <a:rPr lang="en-US" altLang="zh-CN" dirty="0"/>
              <a:t>on </a:t>
            </a:r>
            <a:r>
              <a:rPr lang="en-US" altLang="zh-CN" dirty="0" err="1"/>
              <a:t>prefetch</a:t>
            </a:r>
            <a:r>
              <a:rPr lang="zh-CN" altLang="en-US" dirty="0"/>
              <a:t>）</a:t>
            </a:r>
          </a:p>
          <a:p>
            <a:endParaRPr lang="zh-CN" altLang="en-US" dirty="0"/>
          </a:p>
        </p:txBody>
      </p:sp>
      <p:sp>
        <p:nvSpPr>
          <p:cNvPr id="4" name="Date Placeholder 3"/>
          <p:cNvSpPr>
            <a:spLocks noGrp="1"/>
          </p:cNvSpPr>
          <p:nvPr>
            <p:ph type="dt" sz="half" idx="10"/>
          </p:nvPr>
        </p:nvSpPr>
        <p:spPr/>
        <p:txBody>
          <a:bodyPr/>
          <a:lstStyle/>
          <a:p>
            <a:fld id="{24128ED9-24DF-4CEC-9F9C-DF80E760D1FF}"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22</a:t>
            </a:fld>
            <a:endParaRPr lang="zh-CN" altLang="en-US" dirty="0"/>
          </a:p>
        </p:txBody>
      </p:sp>
    </p:spTree>
    <p:extLst>
      <p:ext uri="{BB962C8B-B14F-4D97-AF65-F5344CB8AC3E}">
        <p14:creationId xmlns:p14="http://schemas.microsoft.com/office/powerpoint/2010/main" val="19275158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存储管理的功能</a:t>
            </a:r>
          </a:p>
        </p:txBody>
      </p:sp>
      <p:sp>
        <p:nvSpPr>
          <p:cNvPr id="3" name="Content Placeholder 2"/>
          <p:cNvSpPr>
            <a:spLocks noGrp="1"/>
          </p:cNvSpPr>
          <p:nvPr>
            <p:ph idx="1"/>
          </p:nvPr>
        </p:nvSpPr>
        <p:spPr/>
        <p:txBody>
          <a:bodyPr>
            <a:normAutofit fontScale="92500" lnSpcReduction="20000"/>
          </a:bodyPr>
          <a:lstStyle/>
          <a:p>
            <a:r>
              <a:rPr lang="zh-CN" altLang="en-US" dirty="0"/>
              <a:t>存储共享和保护</a:t>
            </a:r>
            <a:endParaRPr lang="en-US" altLang="zh-CN" dirty="0"/>
          </a:p>
          <a:p>
            <a:pPr lvl="1"/>
            <a:r>
              <a:rPr lang="zh-CN" altLang="en-US" dirty="0"/>
              <a:t>各道作业只在自己所属区域中运行，不破坏其他作业以及不被其他作业破坏</a:t>
            </a:r>
            <a:endParaRPr lang="en-US" altLang="zh-CN" dirty="0"/>
          </a:p>
          <a:p>
            <a:pPr lvl="2"/>
            <a:r>
              <a:rPr lang="zh-CN" altLang="en-US" dirty="0"/>
              <a:t>保护</a:t>
            </a:r>
            <a:r>
              <a:rPr lang="zh-CN" altLang="en-US" dirty="0">
                <a:solidFill>
                  <a:srgbClr val="FF3300"/>
                </a:solidFill>
              </a:rPr>
              <a:t>系统程序区</a:t>
            </a:r>
            <a:r>
              <a:rPr lang="zh-CN" altLang="en-US" dirty="0"/>
              <a:t>不被用户侵犯（有意或无意的）</a:t>
            </a:r>
          </a:p>
          <a:p>
            <a:pPr lvl="2"/>
            <a:r>
              <a:rPr lang="zh-CN" altLang="en-US" dirty="0"/>
              <a:t>不允许用户程序读写</a:t>
            </a:r>
            <a:r>
              <a:rPr lang="zh-CN" altLang="en-US" dirty="0">
                <a:solidFill>
                  <a:srgbClr val="FF3300"/>
                </a:solidFill>
              </a:rPr>
              <a:t>不属于自己地址空间的数据</a:t>
            </a:r>
            <a:r>
              <a:rPr lang="zh-CN" altLang="en-US" dirty="0"/>
              <a:t>（系统区地址空间，其他用户程序的地址空间）</a:t>
            </a:r>
          </a:p>
          <a:p>
            <a:pPr lvl="1"/>
            <a:r>
              <a:rPr lang="zh-CN" altLang="en-US" dirty="0"/>
              <a:t>代码和数据共享</a:t>
            </a:r>
          </a:p>
          <a:p>
            <a:pPr lvl="1"/>
            <a:r>
              <a:rPr lang="zh-CN" altLang="en-US" dirty="0"/>
              <a:t>地址空间访问权限（读、写、执行）</a:t>
            </a:r>
            <a:endParaRPr lang="en-US" altLang="zh-CN" dirty="0"/>
          </a:p>
          <a:p>
            <a:endParaRPr lang="en-US" altLang="zh-CN" dirty="0"/>
          </a:p>
          <a:p>
            <a:r>
              <a:rPr lang="zh-CN" altLang="en-US" dirty="0"/>
              <a:t>保护方法</a:t>
            </a:r>
            <a:endParaRPr lang="en-US" altLang="zh-CN" dirty="0"/>
          </a:p>
          <a:p>
            <a:pPr lvl="1"/>
            <a:r>
              <a:rPr lang="zh-CN" altLang="en-US" dirty="0"/>
              <a:t>界限保护</a:t>
            </a:r>
            <a:endParaRPr lang="en-US" altLang="zh-CN" dirty="0"/>
          </a:p>
          <a:p>
            <a:pPr lvl="1"/>
            <a:r>
              <a:rPr lang="zh-CN" altLang="en-US" dirty="0"/>
              <a:t>访问方式保护</a:t>
            </a:r>
            <a:endParaRPr lang="en-US" altLang="zh-CN" dirty="0"/>
          </a:p>
          <a:p>
            <a:pPr lvl="1"/>
            <a:r>
              <a:rPr lang="zh-CN" altLang="en-US" dirty="0"/>
              <a:t>其它</a:t>
            </a:r>
            <a:endParaRPr lang="en-US" altLang="zh-CN" dirty="0"/>
          </a:p>
        </p:txBody>
      </p:sp>
      <p:sp>
        <p:nvSpPr>
          <p:cNvPr id="4" name="Date Placeholder 3"/>
          <p:cNvSpPr>
            <a:spLocks noGrp="1"/>
          </p:cNvSpPr>
          <p:nvPr>
            <p:ph type="dt" sz="half" idx="10"/>
          </p:nvPr>
        </p:nvSpPr>
        <p:spPr/>
        <p:txBody>
          <a:bodyPr/>
          <a:lstStyle/>
          <a:p>
            <a:fld id="{C756C8E4-12C0-4E7B-90EE-E7BB5F110BBD}"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23</a:t>
            </a:fld>
            <a:endParaRPr lang="zh-CN" altLang="en-US" dirty="0"/>
          </a:p>
        </p:txBody>
      </p:sp>
    </p:spTree>
    <p:extLst>
      <p:ext uri="{BB962C8B-B14F-4D97-AF65-F5344CB8AC3E}">
        <p14:creationId xmlns:p14="http://schemas.microsoft.com/office/powerpoint/2010/main" val="260384895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内存信息的共享与保护</a:t>
            </a:r>
          </a:p>
        </p:txBody>
      </p:sp>
      <p:sp>
        <p:nvSpPr>
          <p:cNvPr id="3" name="Content Placeholder 2"/>
          <p:cNvSpPr>
            <a:spLocks noGrp="1"/>
          </p:cNvSpPr>
          <p:nvPr>
            <p:ph idx="1"/>
          </p:nvPr>
        </p:nvSpPr>
        <p:spPr/>
        <p:txBody>
          <a:bodyPr/>
          <a:lstStyle/>
          <a:p>
            <a:r>
              <a:rPr lang="zh-CN" altLang="en-US" dirty="0"/>
              <a:t>界限保护</a:t>
            </a:r>
            <a:endParaRPr lang="en-US" altLang="zh-CN" dirty="0"/>
          </a:p>
          <a:p>
            <a:pPr lvl="1"/>
            <a:endParaRPr lang="en-US" altLang="zh-CN" b="1" dirty="0"/>
          </a:p>
          <a:p>
            <a:pPr lvl="1"/>
            <a:r>
              <a:rPr lang="zh-CN" altLang="en-US" dirty="0"/>
              <a:t>所有访问地址必须在上下界之间；</a:t>
            </a:r>
            <a:endParaRPr lang="en-US" altLang="zh-CN" dirty="0"/>
          </a:p>
          <a:p>
            <a:pPr lvl="1"/>
            <a:endParaRPr lang="en-US" altLang="zh-CN" dirty="0"/>
          </a:p>
          <a:p>
            <a:pPr lvl="1"/>
            <a:r>
              <a:rPr lang="zh-CN" altLang="en-US" dirty="0"/>
              <a:t>每个进程都有自己独立的进程空间，如果一个进程在运行时所产生的地址在其地址空间之外，则发生地址越界</a:t>
            </a:r>
            <a:endParaRPr lang="en-US" altLang="zh-CN" dirty="0"/>
          </a:p>
          <a:p>
            <a:pPr lvl="1"/>
            <a:endParaRPr lang="en-US" altLang="zh-CN" dirty="0"/>
          </a:p>
          <a:p>
            <a:pPr lvl="1"/>
            <a:r>
              <a:rPr lang="zh-CN" altLang="en-US" dirty="0"/>
              <a:t>当程序要访问某个内存单元时，由硬件检查是否允许，如果允许则执行，否则产生地址越界中断，由操作系统进行相应处理</a:t>
            </a:r>
          </a:p>
        </p:txBody>
      </p:sp>
      <p:sp>
        <p:nvSpPr>
          <p:cNvPr id="4" name="Date Placeholder 3"/>
          <p:cNvSpPr>
            <a:spLocks noGrp="1"/>
          </p:cNvSpPr>
          <p:nvPr>
            <p:ph type="dt" sz="half" idx="10"/>
          </p:nvPr>
        </p:nvSpPr>
        <p:spPr/>
        <p:txBody>
          <a:bodyPr/>
          <a:lstStyle/>
          <a:p>
            <a:fld id="{C7D9F878-88F6-4D89-9B07-E0130BFE2DBB}"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24</a:t>
            </a:fld>
            <a:endParaRPr lang="zh-CN" altLang="en-US" dirty="0"/>
          </a:p>
        </p:txBody>
      </p:sp>
      <p:grpSp>
        <p:nvGrpSpPr>
          <p:cNvPr id="7" name="Group 33"/>
          <p:cNvGrpSpPr>
            <a:grpSpLocks/>
          </p:cNvGrpSpPr>
          <p:nvPr/>
        </p:nvGrpSpPr>
        <p:grpSpPr bwMode="auto">
          <a:xfrm>
            <a:off x="2312640" y="2492896"/>
            <a:ext cx="4419600" cy="3048000"/>
            <a:chOff x="1824" y="2016"/>
            <a:chExt cx="2784" cy="1920"/>
          </a:xfrm>
        </p:grpSpPr>
        <p:sp>
          <p:nvSpPr>
            <p:cNvPr id="8" name="Rectangle 18"/>
            <p:cNvSpPr>
              <a:spLocks noChangeArrowheads="1"/>
            </p:cNvSpPr>
            <p:nvPr/>
          </p:nvSpPr>
          <p:spPr bwMode="auto">
            <a:xfrm>
              <a:off x="1824" y="2016"/>
              <a:ext cx="2784" cy="1920"/>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9" name="Group 19"/>
            <p:cNvGrpSpPr>
              <a:grpSpLocks/>
            </p:cNvGrpSpPr>
            <p:nvPr/>
          </p:nvGrpSpPr>
          <p:grpSpPr bwMode="auto">
            <a:xfrm>
              <a:off x="1968" y="2086"/>
              <a:ext cx="2400" cy="1802"/>
              <a:chOff x="2592" y="1296"/>
              <a:chExt cx="3072" cy="2533"/>
            </a:xfrm>
          </p:grpSpPr>
          <p:sp>
            <p:nvSpPr>
              <p:cNvPr id="10" name="Rectangle 20"/>
              <p:cNvSpPr>
                <a:spLocks noChangeArrowheads="1"/>
              </p:cNvSpPr>
              <p:nvPr/>
            </p:nvSpPr>
            <p:spPr bwMode="auto">
              <a:xfrm>
                <a:off x="2784" y="1680"/>
                <a:ext cx="864" cy="288"/>
              </a:xfrm>
              <a:prstGeom prst="rect">
                <a:avLst/>
              </a:prstGeom>
              <a:solidFill>
                <a:srgbClr val="3333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800" b="1">
                    <a:solidFill>
                      <a:schemeClr val="bg1"/>
                    </a:solidFill>
                  </a:rPr>
                  <a:t>100K</a:t>
                </a:r>
              </a:p>
            </p:txBody>
          </p:sp>
          <p:sp>
            <p:nvSpPr>
              <p:cNvPr id="11" name="Rectangle 21"/>
              <p:cNvSpPr>
                <a:spLocks noChangeArrowheads="1"/>
              </p:cNvSpPr>
              <p:nvPr/>
            </p:nvSpPr>
            <p:spPr bwMode="auto">
              <a:xfrm>
                <a:off x="2832" y="2736"/>
                <a:ext cx="864" cy="288"/>
              </a:xfrm>
              <a:prstGeom prst="rect">
                <a:avLst/>
              </a:prstGeom>
              <a:solidFill>
                <a:srgbClr val="3333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800" b="1">
                    <a:solidFill>
                      <a:schemeClr val="bg1"/>
                    </a:solidFill>
                  </a:rPr>
                  <a:t>200K</a:t>
                </a:r>
              </a:p>
            </p:txBody>
          </p:sp>
          <p:sp>
            <p:nvSpPr>
              <p:cNvPr id="12" name="Text Box 22"/>
              <p:cNvSpPr txBox="1">
                <a:spLocks noChangeArrowheads="1"/>
              </p:cNvSpPr>
              <p:nvPr/>
            </p:nvSpPr>
            <p:spPr bwMode="auto">
              <a:xfrm>
                <a:off x="2688" y="2399"/>
                <a:ext cx="1440" cy="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800" b="1"/>
                  <a:t>下界寄存器</a:t>
                </a:r>
                <a:r>
                  <a:rPr lang="en-US" altLang="zh-CN" sz="1800" b="1"/>
                  <a:t>LR</a:t>
                </a:r>
              </a:p>
            </p:txBody>
          </p:sp>
          <p:sp>
            <p:nvSpPr>
              <p:cNvPr id="13" name="Text Box 23"/>
              <p:cNvSpPr txBox="1">
                <a:spLocks noChangeArrowheads="1"/>
              </p:cNvSpPr>
              <p:nvPr/>
            </p:nvSpPr>
            <p:spPr bwMode="auto">
              <a:xfrm>
                <a:off x="2592" y="1296"/>
                <a:ext cx="1440" cy="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800" b="1"/>
                  <a:t>上界寄存器</a:t>
                </a:r>
                <a:r>
                  <a:rPr lang="en-US" altLang="zh-CN" sz="1800" b="1"/>
                  <a:t>UR</a:t>
                </a:r>
              </a:p>
            </p:txBody>
          </p:sp>
          <p:sp>
            <p:nvSpPr>
              <p:cNvPr id="14" name="Line 24"/>
              <p:cNvSpPr>
                <a:spLocks noChangeShapeType="1"/>
              </p:cNvSpPr>
              <p:nvPr/>
            </p:nvSpPr>
            <p:spPr bwMode="auto">
              <a:xfrm>
                <a:off x="4848" y="1536"/>
                <a:ext cx="0" cy="14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 name="Line 25"/>
              <p:cNvSpPr>
                <a:spLocks noChangeShapeType="1"/>
              </p:cNvSpPr>
              <p:nvPr/>
            </p:nvSpPr>
            <p:spPr bwMode="auto">
              <a:xfrm>
                <a:off x="5664" y="1536"/>
                <a:ext cx="0" cy="14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Rectangle 26"/>
              <p:cNvSpPr>
                <a:spLocks noChangeArrowheads="1"/>
              </p:cNvSpPr>
              <p:nvPr/>
            </p:nvSpPr>
            <p:spPr bwMode="auto">
              <a:xfrm>
                <a:off x="4848" y="2016"/>
                <a:ext cx="816" cy="528"/>
              </a:xfrm>
              <a:prstGeom prst="rect">
                <a:avLst/>
              </a:prstGeom>
              <a:solidFill>
                <a:srgbClr val="3333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800" b="1">
                    <a:solidFill>
                      <a:schemeClr val="bg1"/>
                    </a:solidFill>
                  </a:rPr>
                  <a:t>被保护</a:t>
                </a:r>
              </a:p>
              <a:p>
                <a:pPr algn="ctr"/>
                <a:r>
                  <a:rPr lang="zh-CN" altLang="en-US" sz="1800" b="1">
                    <a:solidFill>
                      <a:schemeClr val="bg1"/>
                    </a:solidFill>
                  </a:rPr>
                  <a:t>程序</a:t>
                </a:r>
              </a:p>
            </p:txBody>
          </p:sp>
          <p:sp>
            <p:nvSpPr>
              <p:cNvPr id="17" name="Text Box 27"/>
              <p:cNvSpPr txBox="1">
                <a:spLocks noChangeArrowheads="1"/>
              </p:cNvSpPr>
              <p:nvPr/>
            </p:nvSpPr>
            <p:spPr bwMode="auto">
              <a:xfrm>
                <a:off x="4224" y="1825"/>
                <a:ext cx="768" cy="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b="1"/>
                  <a:t>100K</a:t>
                </a:r>
              </a:p>
            </p:txBody>
          </p:sp>
          <p:sp>
            <p:nvSpPr>
              <p:cNvPr id="18" name="Text Box 28"/>
              <p:cNvSpPr txBox="1">
                <a:spLocks noChangeArrowheads="1"/>
              </p:cNvSpPr>
              <p:nvPr/>
            </p:nvSpPr>
            <p:spPr bwMode="auto">
              <a:xfrm>
                <a:off x="4224" y="2352"/>
                <a:ext cx="768" cy="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b="1"/>
                  <a:t>200K</a:t>
                </a:r>
              </a:p>
            </p:txBody>
          </p:sp>
          <p:sp>
            <p:nvSpPr>
              <p:cNvPr id="19" name="Text Box 29"/>
              <p:cNvSpPr txBox="1">
                <a:spLocks noChangeArrowheads="1"/>
              </p:cNvSpPr>
              <p:nvPr/>
            </p:nvSpPr>
            <p:spPr bwMode="auto">
              <a:xfrm>
                <a:off x="4992" y="2928"/>
                <a:ext cx="576" cy="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800" b="1"/>
                  <a:t>内存</a:t>
                </a:r>
              </a:p>
            </p:txBody>
          </p:sp>
          <p:sp>
            <p:nvSpPr>
              <p:cNvPr id="20" name="Text Box 30"/>
              <p:cNvSpPr txBox="1">
                <a:spLocks noChangeArrowheads="1"/>
              </p:cNvSpPr>
              <p:nvPr/>
            </p:nvSpPr>
            <p:spPr bwMode="auto">
              <a:xfrm>
                <a:off x="3456" y="3504"/>
                <a:ext cx="1105" cy="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800" b="1"/>
                  <a:t>被访问地址</a:t>
                </a:r>
              </a:p>
            </p:txBody>
          </p:sp>
          <p:sp>
            <p:nvSpPr>
              <p:cNvPr id="21" name="Text Box 31"/>
              <p:cNvSpPr txBox="1">
                <a:spLocks noChangeArrowheads="1"/>
              </p:cNvSpPr>
              <p:nvPr/>
            </p:nvSpPr>
            <p:spPr bwMode="auto">
              <a:xfrm>
                <a:off x="4416" y="3492"/>
                <a:ext cx="864" cy="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b="1"/>
                  <a:t>&lt;=200K</a:t>
                </a:r>
              </a:p>
            </p:txBody>
          </p:sp>
          <p:sp>
            <p:nvSpPr>
              <p:cNvPr id="22" name="Text Box 32"/>
              <p:cNvSpPr txBox="1">
                <a:spLocks noChangeArrowheads="1"/>
              </p:cNvSpPr>
              <p:nvPr/>
            </p:nvSpPr>
            <p:spPr bwMode="auto">
              <a:xfrm>
                <a:off x="2833" y="3505"/>
                <a:ext cx="1103" cy="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b="1"/>
                  <a:t>100K&lt;=</a:t>
                </a:r>
              </a:p>
            </p:txBody>
          </p:sp>
        </p:grpSp>
      </p:grpSp>
    </p:spTree>
    <p:extLst>
      <p:ext uri="{BB962C8B-B14F-4D97-AF65-F5344CB8AC3E}">
        <p14:creationId xmlns:p14="http://schemas.microsoft.com/office/powerpoint/2010/main" val="2315348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i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内存信息的共享与保护</a:t>
            </a:r>
          </a:p>
        </p:txBody>
      </p:sp>
      <p:sp>
        <p:nvSpPr>
          <p:cNvPr id="3" name="Content Placeholder 2"/>
          <p:cNvSpPr>
            <a:spLocks noGrp="1"/>
          </p:cNvSpPr>
          <p:nvPr>
            <p:ph idx="1"/>
          </p:nvPr>
        </p:nvSpPr>
        <p:spPr/>
        <p:txBody>
          <a:bodyPr/>
          <a:lstStyle/>
          <a:p>
            <a:r>
              <a:rPr lang="zh-CN" altLang="en-US" dirty="0"/>
              <a:t>访问方式保护（保护键）</a:t>
            </a:r>
          </a:p>
        </p:txBody>
      </p:sp>
      <p:sp>
        <p:nvSpPr>
          <p:cNvPr id="4" name="Date Placeholder 3"/>
          <p:cNvSpPr>
            <a:spLocks noGrp="1"/>
          </p:cNvSpPr>
          <p:nvPr>
            <p:ph type="dt" sz="half" idx="10"/>
          </p:nvPr>
        </p:nvSpPr>
        <p:spPr/>
        <p:txBody>
          <a:bodyPr/>
          <a:lstStyle/>
          <a:p>
            <a:fld id="{8C75F30B-10C3-4739-8019-D307CD98DE18}"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25</a:t>
            </a:fld>
            <a:endParaRPr lang="zh-CN" altLang="en-US" dirty="0"/>
          </a:p>
        </p:txBody>
      </p:sp>
      <p:grpSp>
        <p:nvGrpSpPr>
          <p:cNvPr id="7" name="Group 74"/>
          <p:cNvGrpSpPr>
            <a:grpSpLocks/>
          </p:cNvGrpSpPr>
          <p:nvPr/>
        </p:nvGrpSpPr>
        <p:grpSpPr bwMode="auto">
          <a:xfrm>
            <a:off x="442664" y="2204864"/>
            <a:ext cx="8305800" cy="3657600"/>
            <a:chOff x="288" y="1824"/>
            <a:chExt cx="5232" cy="2304"/>
          </a:xfrm>
        </p:grpSpPr>
        <p:sp>
          <p:nvSpPr>
            <p:cNvPr id="8" name="Rectangle 42"/>
            <p:cNvSpPr>
              <a:spLocks noChangeArrowheads="1"/>
            </p:cNvSpPr>
            <p:nvPr/>
          </p:nvSpPr>
          <p:spPr bwMode="auto">
            <a:xfrm>
              <a:off x="288" y="1824"/>
              <a:ext cx="5232" cy="2304"/>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9" name="Group 73"/>
            <p:cNvGrpSpPr>
              <a:grpSpLocks/>
            </p:cNvGrpSpPr>
            <p:nvPr/>
          </p:nvGrpSpPr>
          <p:grpSpPr bwMode="auto">
            <a:xfrm>
              <a:off x="680" y="1920"/>
              <a:ext cx="1973" cy="528"/>
              <a:chOff x="680" y="1920"/>
              <a:chExt cx="1973" cy="528"/>
            </a:xfrm>
          </p:grpSpPr>
          <p:sp>
            <p:nvSpPr>
              <p:cNvPr id="30" name="Rectangle 44"/>
              <p:cNvSpPr>
                <a:spLocks noChangeArrowheads="1"/>
              </p:cNvSpPr>
              <p:nvPr/>
            </p:nvSpPr>
            <p:spPr bwMode="auto">
              <a:xfrm>
                <a:off x="680" y="2160"/>
                <a:ext cx="576" cy="288"/>
              </a:xfrm>
              <a:prstGeom prst="rect">
                <a:avLst/>
              </a:prstGeom>
              <a:solidFill>
                <a:schemeClr val="accent1">
                  <a:lumMod val="20000"/>
                  <a:lumOff val="8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solidFill>
                      <a:srgbClr val="FF0000"/>
                    </a:solidFill>
                  </a:rPr>
                  <a:t>….</a:t>
                </a:r>
              </a:p>
            </p:txBody>
          </p:sp>
          <p:sp>
            <p:nvSpPr>
              <p:cNvPr id="31" name="Rectangle 45"/>
              <p:cNvSpPr>
                <a:spLocks noChangeArrowheads="1"/>
              </p:cNvSpPr>
              <p:nvPr/>
            </p:nvSpPr>
            <p:spPr bwMode="auto">
              <a:xfrm>
                <a:off x="1256" y="2160"/>
                <a:ext cx="445" cy="288"/>
              </a:xfrm>
              <a:prstGeom prst="rect">
                <a:avLst/>
              </a:prstGeom>
              <a:solidFill>
                <a:schemeClr val="accent1">
                  <a:lumMod val="20000"/>
                  <a:lumOff val="8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solidFill>
                      <a:srgbClr val="FF0000"/>
                    </a:solidFill>
                  </a:rPr>
                  <a:t>2</a:t>
                </a:r>
              </a:p>
            </p:txBody>
          </p:sp>
          <p:sp>
            <p:nvSpPr>
              <p:cNvPr id="32" name="Rectangle 46"/>
              <p:cNvSpPr>
                <a:spLocks noChangeArrowheads="1"/>
              </p:cNvSpPr>
              <p:nvPr/>
            </p:nvSpPr>
            <p:spPr bwMode="auto">
              <a:xfrm>
                <a:off x="1701" y="2160"/>
                <a:ext cx="952" cy="288"/>
              </a:xfrm>
              <a:prstGeom prst="rect">
                <a:avLst/>
              </a:prstGeom>
              <a:solidFill>
                <a:schemeClr val="accent1">
                  <a:lumMod val="20000"/>
                  <a:lumOff val="8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solidFill>
                      <a:srgbClr val="FF0000"/>
                    </a:solidFill>
                  </a:rPr>
                  <a:t>….</a:t>
                </a:r>
              </a:p>
            </p:txBody>
          </p:sp>
          <p:sp>
            <p:nvSpPr>
              <p:cNvPr id="33" name="Text Box 47"/>
              <p:cNvSpPr txBox="1">
                <a:spLocks noChangeArrowheads="1"/>
              </p:cNvSpPr>
              <p:nvPr/>
            </p:nvSpPr>
            <p:spPr bwMode="auto">
              <a:xfrm>
                <a:off x="968" y="1920"/>
                <a:ext cx="15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b="1"/>
                  <a:t>当前程序状态字</a:t>
                </a:r>
              </a:p>
            </p:txBody>
          </p:sp>
        </p:grpSp>
        <p:sp>
          <p:nvSpPr>
            <p:cNvPr id="10" name="Text Box 48"/>
            <p:cNvSpPr txBox="1">
              <a:spLocks noChangeArrowheads="1"/>
            </p:cNvSpPr>
            <p:nvPr/>
          </p:nvSpPr>
          <p:spPr bwMode="auto">
            <a:xfrm>
              <a:off x="2842" y="2016"/>
              <a:ext cx="2630" cy="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Blip>
                  <a:blip r:embed="rId2"/>
                </a:buBlip>
              </a:pPr>
              <a:r>
                <a:rPr lang="en-US" altLang="zh-CN" sz="2000" b="1" dirty="0"/>
                <a:t> </a:t>
              </a:r>
              <a:r>
                <a:rPr lang="zh-CN" altLang="en-US" sz="2000" b="1" dirty="0"/>
                <a:t>正确访问</a:t>
              </a:r>
            </a:p>
            <a:p>
              <a:pPr>
                <a:spcBef>
                  <a:spcPct val="50000"/>
                </a:spcBef>
              </a:pPr>
              <a:r>
                <a:rPr lang="en-US" altLang="zh-CN" sz="2000" b="1" dirty="0"/>
                <a:t>LOAD 2</a:t>
              </a:r>
              <a:r>
                <a:rPr lang="zh-CN" altLang="en-US" sz="2000" b="1" dirty="0"/>
                <a:t>，</a:t>
              </a:r>
              <a:r>
                <a:rPr lang="en-US" altLang="zh-CN" sz="2000" b="1" dirty="0"/>
                <a:t>7000</a:t>
              </a:r>
              <a:r>
                <a:rPr lang="zh-CN" altLang="en-US" sz="2000" b="1" dirty="0"/>
                <a:t>；符合读保护</a:t>
              </a:r>
            </a:p>
            <a:p>
              <a:pPr>
                <a:spcBef>
                  <a:spcPct val="50000"/>
                </a:spcBef>
              </a:pPr>
              <a:r>
                <a:rPr lang="en-US" altLang="zh-CN" sz="2000" b="1" dirty="0"/>
                <a:t>STORE 2</a:t>
              </a:r>
              <a:r>
                <a:rPr lang="zh-CN" altLang="en-US" sz="2000" b="1" dirty="0"/>
                <a:t>，</a:t>
              </a:r>
              <a:r>
                <a:rPr lang="en-US" altLang="zh-CN" sz="2000" b="1" dirty="0"/>
                <a:t>5200</a:t>
              </a:r>
              <a:r>
                <a:rPr lang="zh-CN" altLang="en-US" sz="2000" b="1" dirty="0"/>
                <a:t>；符合写保护</a:t>
              </a:r>
            </a:p>
          </p:txBody>
        </p:sp>
        <p:sp>
          <p:nvSpPr>
            <p:cNvPr id="11" name="Text Box 49"/>
            <p:cNvSpPr txBox="1">
              <a:spLocks noChangeArrowheads="1"/>
            </p:cNvSpPr>
            <p:nvPr/>
          </p:nvSpPr>
          <p:spPr bwMode="auto">
            <a:xfrm>
              <a:off x="2832" y="2976"/>
              <a:ext cx="2688" cy="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Blip>
                  <a:blip r:embed="rId2"/>
                </a:buBlip>
              </a:pPr>
              <a:r>
                <a:rPr lang="en-US" altLang="zh-CN" sz="2000" b="1"/>
                <a:t> </a:t>
              </a:r>
              <a:r>
                <a:rPr lang="zh-CN" altLang="en-US" sz="2000" b="1"/>
                <a:t>非正确访问</a:t>
              </a:r>
            </a:p>
            <a:p>
              <a:pPr>
                <a:spcBef>
                  <a:spcPct val="50000"/>
                </a:spcBef>
              </a:pPr>
              <a:r>
                <a:rPr lang="en-US" altLang="zh-CN" sz="2000" b="1"/>
                <a:t>STORE 2, 7200</a:t>
              </a:r>
              <a:r>
                <a:rPr lang="zh-CN" altLang="en-US" sz="2000" b="1"/>
                <a:t>；违反写保护</a:t>
              </a:r>
            </a:p>
            <a:p>
              <a:pPr>
                <a:spcBef>
                  <a:spcPct val="50000"/>
                </a:spcBef>
              </a:pPr>
              <a:r>
                <a:rPr lang="en-US" altLang="zh-CN" sz="2000" b="1"/>
                <a:t>LOAD 1</a:t>
              </a:r>
              <a:r>
                <a:rPr lang="zh-CN" altLang="en-US" sz="2000" b="1"/>
                <a:t>，</a:t>
              </a:r>
              <a:r>
                <a:rPr lang="en-US" altLang="zh-CN" sz="2000" b="1"/>
                <a:t>2500</a:t>
              </a:r>
              <a:r>
                <a:rPr lang="zh-CN" altLang="en-US" sz="2000" b="1"/>
                <a:t>；开关字－键不匹配</a:t>
              </a:r>
            </a:p>
          </p:txBody>
        </p:sp>
        <p:sp>
          <p:nvSpPr>
            <p:cNvPr id="12" name="Rectangle 51"/>
            <p:cNvSpPr>
              <a:spLocks noChangeArrowheads="1"/>
            </p:cNvSpPr>
            <p:nvPr/>
          </p:nvSpPr>
          <p:spPr bwMode="auto">
            <a:xfrm>
              <a:off x="671" y="2952"/>
              <a:ext cx="576" cy="240"/>
            </a:xfrm>
            <a:prstGeom prst="rect">
              <a:avLst/>
            </a:prstGeom>
            <a:solidFill>
              <a:schemeClr val="accent1">
                <a:lumMod val="20000"/>
                <a:lumOff val="8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Rectangle 52"/>
            <p:cNvSpPr>
              <a:spLocks noChangeArrowheads="1"/>
            </p:cNvSpPr>
            <p:nvPr/>
          </p:nvSpPr>
          <p:spPr bwMode="auto">
            <a:xfrm>
              <a:off x="671" y="3192"/>
              <a:ext cx="576" cy="240"/>
            </a:xfrm>
            <a:prstGeom prst="rect">
              <a:avLst/>
            </a:prstGeom>
            <a:solidFill>
              <a:schemeClr val="accent1">
                <a:lumMod val="20000"/>
                <a:lumOff val="8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Rectangle 53"/>
            <p:cNvSpPr>
              <a:spLocks noChangeArrowheads="1"/>
            </p:cNvSpPr>
            <p:nvPr/>
          </p:nvSpPr>
          <p:spPr bwMode="auto">
            <a:xfrm>
              <a:off x="1247" y="2952"/>
              <a:ext cx="432" cy="240"/>
            </a:xfrm>
            <a:prstGeom prst="rect">
              <a:avLst/>
            </a:prstGeom>
            <a:solidFill>
              <a:schemeClr val="accent1">
                <a:lumMod val="20000"/>
                <a:lumOff val="8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solidFill>
                    <a:srgbClr val="FF0000"/>
                  </a:solidFill>
                </a:rPr>
                <a:t>0</a:t>
              </a:r>
            </a:p>
          </p:txBody>
        </p:sp>
        <p:sp>
          <p:nvSpPr>
            <p:cNvPr id="15" name="Rectangle 54"/>
            <p:cNvSpPr>
              <a:spLocks noChangeArrowheads="1"/>
            </p:cNvSpPr>
            <p:nvPr/>
          </p:nvSpPr>
          <p:spPr bwMode="auto">
            <a:xfrm>
              <a:off x="1679" y="2952"/>
              <a:ext cx="480" cy="240"/>
            </a:xfrm>
            <a:prstGeom prst="rect">
              <a:avLst/>
            </a:prstGeom>
            <a:solidFill>
              <a:schemeClr val="accent1">
                <a:lumMod val="20000"/>
                <a:lumOff val="8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solidFill>
                    <a:srgbClr val="FF0000"/>
                  </a:solidFill>
                </a:rPr>
                <a:t>R</a:t>
              </a:r>
            </a:p>
          </p:txBody>
        </p:sp>
        <p:sp>
          <p:nvSpPr>
            <p:cNvPr id="16" name="Rectangle 55"/>
            <p:cNvSpPr>
              <a:spLocks noChangeArrowheads="1"/>
            </p:cNvSpPr>
            <p:nvPr/>
          </p:nvSpPr>
          <p:spPr bwMode="auto">
            <a:xfrm>
              <a:off x="2159" y="2952"/>
              <a:ext cx="480" cy="240"/>
            </a:xfrm>
            <a:prstGeom prst="rect">
              <a:avLst/>
            </a:prstGeom>
            <a:solidFill>
              <a:schemeClr val="accent1">
                <a:lumMod val="20000"/>
                <a:lumOff val="8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solidFill>
                    <a:srgbClr val="FF0000"/>
                  </a:solidFill>
                </a:rPr>
                <a:t>W</a:t>
              </a:r>
            </a:p>
          </p:txBody>
        </p:sp>
        <p:sp>
          <p:nvSpPr>
            <p:cNvPr id="17" name="Rectangle 56"/>
            <p:cNvSpPr>
              <a:spLocks noChangeArrowheads="1"/>
            </p:cNvSpPr>
            <p:nvPr/>
          </p:nvSpPr>
          <p:spPr bwMode="auto">
            <a:xfrm>
              <a:off x="1247" y="3192"/>
              <a:ext cx="432" cy="240"/>
            </a:xfrm>
            <a:prstGeom prst="rect">
              <a:avLst/>
            </a:prstGeom>
            <a:solidFill>
              <a:schemeClr val="accent1">
                <a:lumMod val="20000"/>
                <a:lumOff val="8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solidFill>
                    <a:srgbClr val="FF0000"/>
                  </a:solidFill>
                </a:rPr>
                <a:t>2</a:t>
              </a:r>
            </a:p>
          </p:txBody>
        </p:sp>
        <p:sp>
          <p:nvSpPr>
            <p:cNvPr id="18" name="Rectangle 57"/>
            <p:cNvSpPr>
              <a:spLocks noChangeArrowheads="1"/>
            </p:cNvSpPr>
            <p:nvPr/>
          </p:nvSpPr>
          <p:spPr bwMode="auto">
            <a:xfrm>
              <a:off x="1679" y="3192"/>
              <a:ext cx="960" cy="240"/>
            </a:xfrm>
            <a:prstGeom prst="rect">
              <a:avLst/>
            </a:prstGeom>
            <a:solidFill>
              <a:schemeClr val="accent1">
                <a:lumMod val="20000"/>
                <a:lumOff val="8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solidFill>
                    <a:srgbClr val="FF0000"/>
                  </a:solidFill>
                </a:rPr>
                <a:t>W</a:t>
              </a:r>
            </a:p>
          </p:txBody>
        </p:sp>
        <p:sp>
          <p:nvSpPr>
            <p:cNvPr id="19" name="Text Box 58"/>
            <p:cNvSpPr txBox="1">
              <a:spLocks noChangeArrowheads="1"/>
            </p:cNvSpPr>
            <p:nvPr/>
          </p:nvSpPr>
          <p:spPr bwMode="auto">
            <a:xfrm>
              <a:off x="348" y="3278"/>
              <a:ext cx="3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1"/>
                <a:t>6K</a:t>
              </a:r>
            </a:p>
          </p:txBody>
        </p:sp>
        <p:sp>
          <p:nvSpPr>
            <p:cNvPr id="20" name="Text Box 59"/>
            <p:cNvSpPr txBox="1">
              <a:spLocks noChangeArrowheads="1"/>
            </p:cNvSpPr>
            <p:nvPr/>
          </p:nvSpPr>
          <p:spPr bwMode="auto">
            <a:xfrm>
              <a:off x="336" y="3048"/>
              <a:ext cx="3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1"/>
                <a:t>4K</a:t>
              </a:r>
            </a:p>
          </p:txBody>
        </p:sp>
        <p:sp>
          <p:nvSpPr>
            <p:cNvPr id="21" name="Text Box 60"/>
            <p:cNvSpPr txBox="1">
              <a:spLocks noChangeArrowheads="1"/>
            </p:cNvSpPr>
            <p:nvPr/>
          </p:nvSpPr>
          <p:spPr bwMode="auto">
            <a:xfrm>
              <a:off x="350" y="2817"/>
              <a:ext cx="35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1"/>
                <a:t>2K</a:t>
              </a:r>
            </a:p>
          </p:txBody>
        </p:sp>
        <p:sp>
          <p:nvSpPr>
            <p:cNvPr id="22" name="Line 61"/>
            <p:cNvSpPr>
              <a:spLocks noChangeShapeType="1"/>
            </p:cNvSpPr>
            <p:nvPr/>
          </p:nvSpPr>
          <p:spPr bwMode="auto">
            <a:xfrm>
              <a:off x="1248" y="2762"/>
              <a:ext cx="0" cy="105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 name="Line 62"/>
            <p:cNvSpPr>
              <a:spLocks noChangeShapeType="1"/>
            </p:cNvSpPr>
            <p:nvPr/>
          </p:nvSpPr>
          <p:spPr bwMode="auto">
            <a:xfrm>
              <a:off x="674" y="2768"/>
              <a:ext cx="0" cy="105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 name="Text Box 63"/>
            <p:cNvSpPr txBox="1">
              <a:spLocks noChangeArrowheads="1"/>
            </p:cNvSpPr>
            <p:nvPr/>
          </p:nvSpPr>
          <p:spPr bwMode="auto">
            <a:xfrm>
              <a:off x="884" y="2687"/>
              <a:ext cx="240" cy="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40000"/>
                </a:lnSpc>
              </a:pPr>
              <a:r>
                <a:rPr lang="en-US" altLang="zh-CN" sz="2000" b="1"/>
                <a:t>.</a:t>
              </a:r>
            </a:p>
            <a:p>
              <a:pPr>
                <a:lnSpc>
                  <a:spcPct val="40000"/>
                </a:lnSpc>
              </a:pPr>
              <a:r>
                <a:rPr lang="en-US" altLang="zh-CN" sz="2000" b="1"/>
                <a:t>.</a:t>
              </a:r>
            </a:p>
            <a:p>
              <a:pPr>
                <a:lnSpc>
                  <a:spcPct val="40000"/>
                </a:lnSpc>
              </a:pPr>
              <a:r>
                <a:rPr lang="en-US" altLang="zh-CN" sz="2000" b="1"/>
                <a:t>.</a:t>
              </a:r>
            </a:p>
          </p:txBody>
        </p:sp>
        <p:sp>
          <p:nvSpPr>
            <p:cNvPr id="25" name="Text Box 64"/>
            <p:cNvSpPr txBox="1">
              <a:spLocks noChangeArrowheads="1"/>
            </p:cNvSpPr>
            <p:nvPr/>
          </p:nvSpPr>
          <p:spPr bwMode="auto">
            <a:xfrm>
              <a:off x="884" y="3612"/>
              <a:ext cx="240" cy="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40000"/>
                </a:lnSpc>
              </a:pPr>
              <a:r>
                <a:rPr lang="en-US" altLang="zh-CN" sz="2000" b="1"/>
                <a:t>.</a:t>
              </a:r>
            </a:p>
            <a:p>
              <a:pPr>
                <a:lnSpc>
                  <a:spcPct val="40000"/>
                </a:lnSpc>
              </a:pPr>
              <a:r>
                <a:rPr lang="en-US" altLang="zh-CN" sz="2000" b="1"/>
                <a:t>.</a:t>
              </a:r>
            </a:p>
            <a:p>
              <a:pPr>
                <a:lnSpc>
                  <a:spcPct val="40000"/>
                </a:lnSpc>
              </a:pPr>
              <a:r>
                <a:rPr lang="en-US" altLang="zh-CN" sz="2000" b="1"/>
                <a:t>.</a:t>
              </a:r>
            </a:p>
          </p:txBody>
        </p:sp>
        <p:sp>
          <p:nvSpPr>
            <p:cNvPr id="26" name="Text Box 66"/>
            <p:cNvSpPr txBox="1">
              <a:spLocks noChangeArrowheads="1"/>
            </p:cNvSpPr>
            <p:nvPr/>
          </p:nvSpPr>
          <p:spPr bwMode="auto">
            <a:xfrm>
              <a:off x="349" y="3498"/>
              <a:ext cx="3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1"/>
                <a:t>8K</a:t>
              </a:r>
            </a:p>
          </p:txBody>
        </p:sp>
        <p:sp>
          <p:nvSpPr>
            <p:cNvPr id="27" name="Rectangle 67"/>
            <p:cNvSpPr>
              <a:spLocks noChangeArrowheads="1"/>
            </p:cNvSpPr>
            <p:nvPr/>
          </p:nvSpPr>
          <p:spPr bwMode="auto">
            <a:xfrm>
              <a:off x="672" y="3412"/>
              <a:ext cx="576" cy="240"/>
            </a:xfrm>
            <a:prstGeom prst="rect">
              <a:avLst/>
            </a:prstGeom>
            <a:solidFill>
              <a:schemeClr val="accent1">
                <a:lumMod val="20000"/>
                <a:lumOff val="8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 name="Rectangle 68"/>
            <p:cNvSpPr>
              <a:spLocks noChangeArrowheads="1"/>
            </p:cNvSpPr>
            <p:nvPr/>
          </p:nvSpPr>
          <p:spPr bwMode="auto">
            <a:xfrm>
              <a:off x="1248" y="3412"/>
              <a:ext cx="432" cy="240"/>
            </a:xfrm>
            <a:prstGeom prst="rect">
              <a:avLst/>
            </a:prstGeom>
            <a:solidFill>
              <a:schemeClr val="accent1">
                <a:lumMod val="20000"/>
                <a:lumOff val="8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solidFill>
                    <a:srgbClr val="FF0000"/>
                  </a:solidFill>
                </a:rPr>
                <a:t>2</a:t>
              </a:r>
            </a:p>
          </p:txBody>
        </p:sp>
        <p:sp>
          <p:nvSpPr>
            <p:cNvPr id="29" name="Rectangle 69"/>
            <p:cNvSpPr>
              <a:spLocks noChangeArrowheads="1"/>
            </p:cNvSpPr>
            <p:nvPr/>
          </p:nvSpPr>
          <p:spPr bwMode="auto">
            <a:xfrm>
              <a:off x="1680" y="3412"/>
              <a:ext cx="960" cy="240"/>
            </a:xfrm>
            <a:prstGeom prst="rect">
              <a:avLst/>
            </a:prstGeom>
            <a:solidFill>
              <a:schemeClr val="accent1">
                <a:lumMod val="20000"/>
                <a:lumOff val="8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solidFill>
                    <a:srgbClr val="FF0000"/>
                  </a:solidFill>
                </a:rPr>
                <a:t>R</a:t>
              </a:r>
            </a:p>
          </p:txBody>
        </p:sp>
      </p:grpSp>
    </p:spTree>
    <p:extLst>
      <p:ext uri="{BB962C8B-B14F-4D97-AF65-F5344CB8AC3E}">
        <p14:creationId xmlns:p14="http://schemas.microsoft.com/office/powerpoint/2010/main" val="917375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out)">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内存信息的共享与保护</a:t>
            </a:r>
          </a:p>
        </p:txBody>
      </p:sp>
      <p:sp>
        <p:nvSpPr>
          <p:cNvPr id="3" name="Content Placeholder 2"/>
          <p:cNvSpPr>
            <a:spLocks noGrp="1"/>
          </p:cNvSpPr>
          <p:nvPr>
            <p:ph idx="1"/>
          </p:nvPr>
        </p:nvSpPr>
        <p:spPr/>
        <p:txBody>
          <a:bodyPr>
            <a:normAutofit fontScale="92500" lnSpcReduction="10000"/>
          </a:bodyPr>
          <a:lstStyle/>
          <a:p>
            <a:r>
              <a:rPr lang="zh-CN" altLang="en-US" dirty="0"/>
              <a:t>界限寄存器与</a:t>
            </a:r>
            <a:r>
              <a:rPr lang="en-US" altLang="zh-CN" dirty="0"/>
              <a:t>CPU</a:t>
            </a:r>
            <a:r>
              <a:rPr lang="zh-CN" altLang="en-US" dirty="0"/>
              <a:t>状态（用户态、核心态）相结合</a:t>
            </a:r>
            <a:endParaRPr lang="en-US" altLang="zh-CN" dirty="0"/>
          </a:p>
          <a:p>
            <a:pPr lvl="1"/>
            <a:r>
              <a:rPr lang="zh-CN" altLang="en-US" dirty="0"/>
              <a:t>用户态进程只能访问界限寄存器所规定范围内的内存；核心态进程可以访问整个内存地址空间</a:t>
            </a:r>
            <a:endParaRPr lang="en-US" altLang="zh-CN" dirty="0"/>
          </a:p>
          <a:p>
            <a:endParaRPr lang="en-US" altLang="zh-CN" dirty="0"/>
          </a:p>
          <a:p>
            <a:endParaRPr lang="en-US" altLang="zh-CN" dirty="0"/>
          </a:p>
          <a:p>
            <a:r>
              <a:rPr lang="zh-CN" altLang="en-US" dirty="0"/>
              <a:t>存储器扩充</a:t>
            </a:r>
            <a:endParaRPr lang="en-US" altLang="zh-CN" dirty="0"/>
          </a:p>
          <a:p>
            <a:pPr lvl="1"/>
            <a:r>
              <a:rPr lang="zh-CN" altLang="en-US" dirty="0"/>
              <a:t>使用虚存或自动复盖技术提供比实际内存更大的空间</a:t>
            </a:r>
          </a:p>
          <a:p>
            <a:pPr lvl="1"/>
            <a:r>
              <a:rPr lang="zh-CN" altLang="en-US" dirty="0"/>
              <a:t>存储器的逻辑组织和物理组织</a:t>
            </a:r>
          </a:p>
          <a:p>
            <a:pPr lvl="1"/>
            <a:r>
              <a:rPr lang="zh-CN" altLang="en-US" dirty="0"/>
              <a:t>由应用程序控制：覆盖</a:t>
            </a:r>
          </a:p>
          <a:p>
            <a:pPr lvl="1"/>
            <a:r>
              <a:rPr lang="zh-CN" altLang="en-US" dirty="0"/>
              <a:t>由</a:t>
            </a:r>
            <a:r>
              <a:rPr lang="en-US" altLang="zh-CN" dirty="0"/>
              <a:t>OS</a:t>
            </a:r>
            <a:r>
              <a:rPr lang="zh-CN" altLang="en-US" dirty="0"/>
              <a:t>控制：交换（整个进程空间），虚拟存储的请求调入和预调入（部分进程空间）</a:t>
            </a:r>
          </a:p>
        </p:txBody>
      </p:sp>
      <p:sp>
        <p:nvSpPr>
          <p:cNvPr id="4" name="Date Placeholder 3"/>
          <p:cNvSpPr>
            <a:spLocks noGrp="1"/>
          </p:cNvSpPr>
          <p:nvPr>
            <p:ph type="dt" sz="half" idx="10"/>
          </p:nvPr>
        </p:nvSpPr>
        <p:spPr/>
        <p:txBody>
          <a:bodyPr/>
          <a:lstStyle/>
          <a:p>
            <a:fld id="{AF7A749A-B561-493F-AE9B-2E34DF4280C9}"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26</a:t>
            </a:fld>
            <a:endParaRPr lang="zh-CN" altLang="en-US" dirty="0"/>
          </a:p>
        </p:txBody>
      </p:sp>
    </p:spTree>
    <p:extLst>
      <p:ext uri="{BB962C8B-B14F-4D97-AF65-F5344CB8AC3E}">
        <p14:creationId xmlns:p14="http://schemas.microsoft.com/office/powerpoint/2010/main" val="252773892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主要内容</a:t>
            </a:r>
          </a:p>
        </p:txBody>
      </p:sp>
      <p:sp>
        <p:nvSpPr>
          <p:cNvPr id="3" name="Content Placeholder 2"/>
          <p:cNvSpPr>
            <a:spLocks noGrp="1"/>
          </p:cNvSpPr>
          <p:nvPr>
            <p:ph idx="1"/>
          </p:nvPr>
        </p:nvSpPr>
        <p:spPr/>
        <p:txBody>
          <a:bodyPr/>
          <a:lstStyle/>
          <a:p>
            <a:r>
              <a:rPr lang="zh-CN" altLang="en-US" dirty="0">
                <a:solidFill>
                  <a:schemeClr val="bg1">
                    <a:lumMod val="85000"/>
                  </a:schemeClr>
                </a:solidFill>
              </a:rPr>
              <a:t>存储管理的功能与目标</a:t>
            </a:r>
            <a:endParaRPr lang="en-US" altLang="zh-CN" dirty="0">
              <a:solidFill>
                <a:schemeClr val="bg1">
                  <a:lumMod val="85000"/>
                </a:schemeClr>
              </a:solidFill>
            </a:endParaRPr>
          </a:p>
          <a:p>
            <a:r>
              <a:rPr lang="zh-CN" altLang="en-US" dirty="0">
                <a:solidFill>
                  <a:srgbClr val="FFC000"/>
                </a:solidFill>
              </a:rPr>
              <a:t>分区存储管理</a:t>
            </a:r>
            <a:endParaRPr lang="en-US" altLang="zh-CN" dirty="0">
              <a:solidFill>
                <a:srgbClr val="FFC000"/>
              </a:solidFill>
            </a:endParaRPr>
          </a:p>
          <a:p>
            <a:pPr lvl="1"/>
            <a:r>
              <a:rPr lang="zh-CN" altLang="en-US" dirty="0">
                <a:solidFill>
                  <a:srgbClr val="FFC000"/>
                </a:solidFill>
              </a:rPr>
              <a:t>分区管理的基本原理</a:t>
            </a:r>
            <a:endParaRPr lang="en-US" altLang="zh-CN" dirty="0">
              <a:solidFill>
                <a:srgbClr val="FFC000"/>
              </a:solidFill>
            </a:endParaRPr>
          </a:p>
          <a:p>
            <a:pPr lvl="1"/>
            <a:r>
              <a:rPr lang="zh-CN" altLang="en-US" dirty="0">
                <a:solidFill>
                  <a:srgbClr val="FFC000"/>
                </a:solidFill>
              </a:rPr>
              <a:t>固定分区</a:t>
            </a:r>
            <a:endParaRPr lang="en-US" altLang="zh-CN" dirty="0">
              <a:solidFill>
                <a:srgbClr val="FFC000"/>
              </a:solidFill>
            </a:endParaRPr>
          </a:p>
          <a:p>
            <a:pPr lvl="1"/>
            <a:r>
              <a:rPr lang="zh-CN" altLang="en-US" dirty="0">
                <a:solidFill>
                  <a:srgbClr val="FFC000"/>
                </a:solidFill>
              </a:rPr>
              <a:t>动态分区</a:t>
            </a:r>
            <a:endParaRPr lang="en-US" altLang="zh-CN" dirty="0">
              <a:solidFill>
                <a:srgbClr val="FFC000"/>
              </a:solidFill>
            </a:endParaRPr>
          </a:p>
          <a:p>
            <a:pPr lvl="1"/>
            <a:r>
              <a:rPr lang="zh-CN" altLang="en-US" dirty="0">
                <a:solidFill>
                  <a:srgbClr val="FFC000"/>
                </a:solidFill>
              </a:rPr>
              <a:t>动态分区分配算法</a:t>
            </a:r>
            <a:endParaRPr lang="en-US" altLang="zh-CN" dirty="0">
              <a:solidFill>
                <a:srgbClr val="FFC000"/>
              </a:solidFill>
            </a:endParaRPr>
          </a:p>
          <a:p>
            <a:r>
              <a:rPr lang="zh-CN" altLang="en-US" dirty="0">
                <a:solidFill>
                  <a:schemeClr val="bg1">
                    <a:lumMod val="85000"/>
                  </a:schemeClr>
                </a:solidFill>
              </a:rPr>
              <a:t>覆盖与交换技术</a:t>
            </a:r>
            <a:endParaRPr lang="en-US" altLang="zh-CN" dirty="0">
              <a:solidFill>
                <a:schemeClr val="bg1">
                  <a:lumMod val="85000"/>
                </a:schemeClr>
              </a:solidFill>
            </a:endParaRPr>
          </a:p>
          <a:p>
            <a:r>
              <a:rPr lang="zh-CN" altLang="en-US" dirty="0">
                <a:solidFill>
                  <a:schemeClr val="bg1">
                    <a:lumMod val="85000"/>
                  </a:schemeClr>
                </a:solidFill>
              </a:rPr>
              <a:t>页式与段式存储管理机制</a:t>
            </a:r>
            <a:endParaRPr lang="en-US" altLang="zh-CN" dirty="0">
              <a:solidFill>
                <a:schemeClr val="bg1">
                  <a:lumMod val="85000"/>
                </a:schemeClr>
              </a:solidFill>
            </a:endParaRPr>
          </a:p>
          <a:p>
            <a:r>
              <a:rPr lang="zh-CN" altLang="en-US" dirty="0">
                <a:solidFill>
                  <a:schemeClr val="bg1">
                    <a:lumMod val="85000"/>
                  </a:schemeClr>
                </a:solidFill>
              </a:rPr>
              <a:t>虚拟存储器（重中之重）</a:t>
            </a:r>
          </a:p>
        </p:txBody>
      </p:sp>
      <p:sp>
        <p:nvSpPr>
          <p:cNvPr id="4" name="Date Placeholder 3"/>
          <p:cNvSpPr>
            <a:spLocks noGrp="1"/>
          </p:cNvSpPr>
          <p:nvPr>
            <p:ph type="dt" sz="half" idx="10"/>
          </p:nvPr>
        </p:nvSpPr>
        <p:spPr/>
        <p:txBody>
          <a:bodyPr/>
          <a:lstStyle/>
          <a:p>
            <a:fld id="{B3FDD47B-A49E-4349-B155-D202CED5B85E}"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27</a:t>
            </a:fld>
            <a:endParaRPr lang="zh-CN" altLang="en-US" dirty="0"/>
          </a:p>
        </p:txBody>
      </p:sp>
    </p:spTree>
    <p:extLst>
      <p:ext uri="{BB962C8B-B14F-4D97-AF65-F5344CB8AC3E}">
        <p14:creationId xmlns:p14="http://schemas.microsoft.com/office/powerpoint/2010/main" val="249732279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分区管理的基本原理</a:t>
            </a:r>
          </a:p>
        </p:txBody>
      </p:sp>
      <p:sp>
        <p:nvSpPr>
          <p:cNvPr id="3" name="Content Placeholder 2"/>
          <p:cNvSpPr>
            <a:spLocks noGrp="1"/>
          </p:cNvSpPr>
          <p:nvPr>
            <p:ph idx="1"/>
          </p:nvPr>
        </p:nvSpPr>
        <p:spPr/>
        <p:txBody>
          <a:bodyPr>
            <a:normAutofit fontScale="77500" lnSpcReduction="20000"/>
          </a:bodyPr>
          <a:lstStyle/>
          <a:p>
            <a:r>
              <a:rPr lang="zh-CN" altLang="en-US" dirty="0"/>
              <a:t>原理</a:t>
            </a:r>
            <a:endParaRPr lang="en-US" altLang="zh-CN" dirty="0"/>
          </a:p>
          <a:p>
            <a:pPr lvl="1"/>
            <a:r>
              <a:rPr lang="zh-CN" altLang="en-US" dirty="0">
                <a:solidFill>
                  <a:srgbClr val="FF0000"/>
                </a:solidFill>
              </a:rPr>
              <a:t>把内存分为一些大小相等或不等的分区</a:t>
            </a:r>
            <a:r>
              <a:rPr lang="en-US" altLang="zh-CN" dirty="0">
                <a:solidFill>
                  <a:srgbClr val="FF0000"/>
                </a:solidFill>
              </a:rPr>
              <a:t>(partition)</a:t>
            </a:r>
            <a:r>
              <a:rPr lang="zh-CN" altLang="en-US" dirty="0">
                <a:solidFill>
                  <a:srgbClr val="FF0000"/>
                </a:solidFill>
              </a:rPr>
              <a:t>，每个应用进程占用一个或几个分区。操作系统占用其中一个分区</a:t>
            </a:r>
            <a:endParaRPr lang="en-US" altLang="zh-CN" dirty="0">
              <a:solidFill>
                <a:srgbClr val="FF0000"/>
              </a:solidFill>
            </a:endParaRPr>
          </a:p>
          <a:p>
            <a:endParaRPr lang="en-US" altLang="zh-CN" dirty="0"/>
          </a:p>
          <a:p>
            <a:r>
              <a:rPr lang="zh-CN" altLang="en-US" dirty="0"/>
              <a:t>特点</a:t>
            </a:r>
            <a:endParaRPr lang="en-US" altLang="zh-CN" dirty="0"/>
          </a:p>
          <a:p>
            <a:pPr lvl="1"/>
            <a:r>
              <a:rPr lang="zh-CN" altLang="en-US" sz="2400" dirty="0"/>
              <a:t>适用于多道程序系统和分时系统</a:t>
            </a:r>
          </a:p>
          <a:p>
            <a:pPr lvl="1"/>
            <a:r>
              <a:rPr lang="zh-CN" altLang="en-US" sz="2400" dirty="0"/>
              <a:t>支持多个程序并发执行</a:t>
            </a:r>
          </a:p>
          <a:p>
            <a:pPr lvl="1"/>
            <a:r>
              <a:rPr lang="zh-CN" altLang="en-US" sz="2400" dirty="0"/>
              <a:t>难以进行内存分区的共享</a:t>
            </a:r>
            <a:endParaRPr lang="en-US" altLang="zh-CN" sz="2400" dirty="0"/>
          </a:p>
          <a:p>
            <a:endParaRPr lang="en-US" altLang="zh-CN" sz="2600" dirty="0"/>
          </a:p>
          <a:p>
            <a:r>
              <a:rPr lang="zh-CN" altLang="en-US" sz="2600" dirty="0"/>
              <a:t>问题</a:t>
            </a:r>
            <a:endParaRPr lang="en-US" altLang="zh-CN" sz="2600" dirty="0"/>
          </a:p>
          <a:p>
            <a:pPr lvl="1"/>
            <a:r>
              <a:rPr lang="zh-CN" altLang="en-US" dirty="0"/>
              <a:t>可能存在内存片和外碎片</a:t>
            </a:r>
            <a:endParaRPr lang="en-US" altLang="zh-CN" dirty="0"/>
          </a:p>
          <a:p>
            <a:pPr lvl="1"/>
            <a:r>
              <a:rPr lang="zh-CN" altLang="en-US" dirty="0"/>
              <a:t>内碎片：占用分区之内未被利用的空间</a:t>
            </a:r>
            <a:endParaRPr lang="en-US" altLang="zh-CN" dirty="0"/>
          </a:p>
          <a:p>
            <a:pPr lvl="1"/>
            <a:r>
              <a:rPr lang="zh-CN" altLang="en-US" dirty="0"/>
              <a:t>外碎片：占用分区之间难以利用的空闲分区</a:t>
            </a:r>
          </a:p>
        </p:txBody>
      </p:sp>
      <p:sp>
        <p:nvSpPr>
          <p:cNvPr id="4" name="Date Placeholder 3"/>
          <p:cNvSpPr>
            <a:spLocks noGrp="1"/>
          </p:cNvSpPr>
          <p:nvPr>
            <p:ph type="dt" sz="half" idx="10"/>
          </p:nvPr>
        </p:nvSpPr>
        <p:spPr/>
        <p:txBody>
          <a:bodyPr/>
          <a:lstStyle/>
          <a:p>
            <a:fld id="{4E2A8367-1A3D-4378-8D26-84EEA6270F3C}"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28</a:t>
            </a:fld>
            <a:endParaRPr lang="zh-CN" altLang="en-US" dirty="0"/>
          </a:p>
        </p:txBody>
      </p:sp>
    </p:spTree>
    <p:extLst>
      <p:ext uri="{BB962C8B-B14F-4D97-AF65-F5344CB8AC3E}">
        <p14:creationId xmlns:p14="http://schemas.microsoft.com/office/powerpoint/2010/main" val="159918065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分区管理的基本原理</a:t>
            </a:r>
          </a:p>
        </p:txBody>
      </p:sp>
      <p:sp>
        <p:nvSpPr>
          <p:cNvPr id="3" name="Content Placeholder 2"/>
          <p:cNvSpPr>
            <a:spLocks noGrp="1"/>
          </p:cNvSpPr>
          <p:nvPr>
            <p:ph idx="1"/>
          </p:nvPr>
        </p:nvSpPr>
        <p:spPr/>
        <p:txBody>
          <a:bodyPr>
            <a:normAutofit/>
          </a:bodyPr>
          <a:lstStyle/>
          <a:p>
            <a:r>
              <a:rPr lang="zh-CN" altLang="en-US" dirty="0"/>
              <a:t>分区管理使用的数据结构</a:t>
            </a:r>
            <a:endParaRPr lang="en-US" altLang="zh-CN" dirty="0"/>
          </a:p>
          <a:p>
            <a:pPr lvl="1"/>
            <a:r>
              <a:rPr lang="zh-CN" altLang="en-US" dirty="0"/>
              <a:t>分区说明表，分区链表</a:t>
            </a:r>
            <a:endParaRPr lang="en-US" altLang="zh-CN" dirty="0"/>
          </a:p>
          <a:p>
            <a:pPr lvl="1"/>
            <a:r>
              <a:rPr lang="zh-CN" altLang="en-US" dirty="0"/>
              <a:t>可以值记录空闲分区，也可以同时记录空闲和占用分区</a:t>
            </a:r>
            <a:endParaRPr lang="en-US" altLang="zh-CN" dirty="0"/>
          </a:p>
          <a:p>
            <a:pPr lvl="1"/>
            <a:r>
              <a:rPr lang="zh-CN" altLang="en-US" dirty="0"/>
              <a:t>分区表中，表项数目随着内存的分配和释放而动态改变，可以规定最大表项数目</a:t>
            </a:r>
            <a:endParaRPr lang="en-US" altLang="zh-CN" dirty="0"/>
          </a:p>
          <a:p>
            <a:pPr lvl="1"/>
            <a:r>
              <a:rPr lang="zh-CN" altLang="en-US" dirty="0"/>
              <a:t>分区表可以划分为两个表格：空闲分区表，占用分区表。从而减小每个表格的长度</a:t>
            </a:r>
            <a:endParaRPr lang="en-US" altLang="zh-CN" dirty="0"/>
          </a:p>
          <a:p>
            <a:pPr lvl="1"/>
            <a:r>
              <a:rPr lang="zh-CN" altLang="en-US" dirty="0"/>
              <a:t>空闲分区表中按不同分配算法相应对表项排序</a:t>
            </a:r>
          </a:p>
        </p:txBody>
      </p:sp>
      <p:sp>
        <p:nvSpPr>
          <p:cNvPr id="4" name="Date Placeholder 3"/>
          <p:cNvSpPr>
            <a:spLocks noGrp="1"/>
          </p:cNvSpPr>
          <p:nvPr>
            <p:ph type="dt" sz="half" idx="10"/>
          </p:nvPr>
        </p:nvSpPr>
        <p:spPr/>
        <p:txBody>
          <a:bodyPr/>
          <a:lstStyle/>
          <a:p>
            <a:fld id="{34CFA3C7-3BD0-4F71-8C40-5C362DBF6DA3}"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29</a:t>
            </a:fld>
            <a:endParaRPr lang="zh-CN" altLang="en-US" dirty="0"/>
          </a:p>
        </p:txBody>
      </p:sp>
    </p:spTree>
    <p:extLst>
      <p:ext uri="{BB962C8B-B14F-4D97-AF65-F5344CB8AC3E}">
        <p14:creationId xmlns:p14="http://schemas.microsoft.com/office/powerpoint/2010/main" val="88623178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固定分区</a:t>
            </a:r>
          </a:p>
        </p:txBody>
      </p:sp>
      <p:sp>
        <p:nvSpPr>
          <p:cNvPr id="3" name="Content Placeholder 2"/>
          <p:cNvSpPr>
            <a:spLocks noGrp="1"/>
          </p:cNvSpPr>
          <p:nvPr>
            <p:ph idx="1"/>
          </p:nvPr>
        </p:nvSpPr>
        <p:spPr/>
        <p:txBody>
          <a:bodyPr/>
          <a:lstStyle/>
          <a:p>
            <a:r>
              <a:rPr lang="zh-CN" altLang="en-US" dirty="0"/>
              <a:t>原理</a:t>
            </a:r>
            <a:endParaRPr lang="en-US" altLang="zh-CN" dirty="0"/>
          </a:p>
          <a:p>
            <a:pPr lvl="1"/>
            <a:r>
              <a:rPr lang="zh-CN" altLang="en-US" b="1" dirty="0"/>
              <a:t>把内存区</a:t>
            </a:r>
            <a:r>
              <a:rPr lang="zh-CN" altLang="en-US" b="1" dirty="0">
                <a:solidFill>
                  <a:srgbClr val="FF0000"/>
                </a:solidFill>
              </a:rPr>
              <a:t>固定地划分</a:t>
            </a:r>
            <a:r>
              <a:rPr lang="zh-CN" altLang="en-US" b="1" dirty="0"/>
              <a:t>为若干个大小相等（和不等）的连续分区。每个分区装一个且只能装一个进程</a:t>
            </a:r>
          </a:p>
          <a:p>
            <a:endParaRPr lang="en-US" altLang="zh-CN" dirty="0"/>
          </a:p>
          <a:p>
            <a:r>
              <a:rPr lang="zh-CN" altLang="en-US" dirty="0"/>
              <a:t>原则</a:t>
            </a:r>
            <a:endParaRPr lang="en-US" altLang="zh-CN" dirty="0"/>
          </a:p>
          <a:p>
            <a:pPr lvl="1"/>
            <a:r>
              <a:rPr lang="zh-CN" altLang="en-US" b="1" dirty="0"/>
              <a:t>分区一旦划分，整个执行过程中每个分区的长度和内存中总的分区数不变</a:t>
            </a:r>
            <a:endParaRPr lang="zh-CN" altLang="en-US" sz="3200" b="1" dirty="0"/>
          </a:p>
          <a:p>
            <a:pPr lvl="1"/>
            <a:r>
              <a:rPr lang="zh-CN" altLang="en-US" b="1" dirty="0"/>
              <a:t>将每个进程指定到适应它的</a:t>
            </a:r>
            <a:r>
              <a:rPr lang="zh-CN" altLang="en-US" b="1" dirty="0">
                <a:solidFill>
                  <a:srgbClr val="0000FF"/>
                </a:solidFill>
              </a:rPr>
              <a:t>最小分区</a:t>
            </a:r>
          </a:p>
          <a:p>
            <a:pPr lvl="1"/>
            <a:r>
              <a:rPr lang="zh-CN" altLang="en-US" b="1" dirty="0"/>
              <a:t>数据结构：分区说明表</a:t>
            </a:r>
            <a:r>
              <a:rPr lang="en-US" altLang="zh-CN" b="1" dirty="0"/>
              <a:t>——</a:t>
            </a:r>
            <a:r>
              <a:rPr lang="zh-CN" altLang="en-US" b="1" dirty="0"/>
              <a:t>记录分区的大小和使用情况</a:t>
            </a:r>
            <a:endParaRPr lang="zh-CN" altLang="en-US" dirty="0"/>
          </a:p>
        </p:txBody>
      </p:sp>
      <p:sp>
        <p:nvSpPr>
          <p:cNvPr id="4" name="Date Placeholder 3"/>
          <p:cNvSpPr>
            <a:spLocks noGrp="1"/>
          </p:cNvSpPr>
          <p:nvPr>
            <p:ph type="dt" sz="half" idx="10"/>
          </p:nvPr>
        </p:nvSpPr>
        <p:spPr/>
        <p:txBody>
          <a:bodyPr/>
          <a:lstStyle/>
          <a:p>
            <a:fld id="{47469756-C926-4531-8E6F-C8746359F063}"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30</a:t>
            </a:fld>
            <a:endParaRPr lang="zh-CN" altLang="en-US" dirty="0"/>
          </a:p>
        </p:txBody>
      </p:sp>
      <p:grpSp>
        <p:nvGrpSpPr>
          <p:cNvPr id="7" name="Group 4"/>
          <p:cNvGrpSpPr>
            <a:grpSpLocks/>
          </p:cNvGrpSpPr>
          <p:nvPr/>
        </p:nvGrpSpPr>
        <p:grpSpPr bwMode="auto">
          <a:xfrm>
            <a:off x="1254968" y="5517232"/>
            <a:ext cx="6629400" cy="457200"/>
            <a:chOff x="480" y="1824"/>
            <a:chExt cx="4560" cy="336"/>
          </a:xfrm>
        </p:grpSpPr>
        <p:sp>
          <p:nvSpPr>
            <p:cNvPr id="8" name="Rectangle 5"/>
            <p:cNvSpPr>
              <a:spLocks noChangeArrowheads="1"/>
            </p:cNvSpPr>
            <p:nvPr/>
          </p:nvSpPr>
          <p:spPr bwMode="auto">
            <a:xfrm>
              <a:off x="480" y="1824"/>
              <a:ext cx="912" cy="336"/>
            </a:xfrm>
            <a:prstGeom prst="rect">
              <a:avLst/>
            </a:prstGeom>
            <a:solidFill>
              <a:srgbClr val="0033CC"/>
            </a:solidFill>
            <a:ln w="9525">
              <a:solidFill>
                <a:srgbClr val="FF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solidFill>
                    <a:schemeClr val="bg1"/>
                  </a:solidFill>
                </a:rPr>
                <a:t>分区号</a:t>
              </a:r>
            </a:p>
          </p:txBody>
        </p:sp>
        <p:sp>
          <p:nvSpPr>
            <p:cNvPr id="9" name="Rectangle 6"/>
            <p:cNvSpPr>
              <a:spLocks noChangeArrowheads="1"/>
            </p:cNvSpPr>
            <p:nvPr/>
          </p:nvSpPr>
          <p:spPr bwMode="auto">
            <a:xfrm>
              <a:off x="1392" y="1824"/>
              <a:ext cx="912" cy="336"/>
            </a:xfrm>
            <a:prstGeom prst="rect">
              <a:avLst/>
            </a:prstGeom>
            <a:solidFill>
              <a:srgbClr val="0033CC"/>
            </a:solidFill>
            <a:ln w="9525">
              <a:solidFill>
                <a:srgbClr val="FF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solidFill>
                    <a:schemeClr val="bg1"/>
                  </a:solidFill>
                </a:rPr>
                <a:t>起始地址</a:t>
              </a:r>
            </a:p>
          </p:txBody>
        </p:sp>
        <p:sp>
          <p:nvSpPr>
            <p:cNvPr id="10" name="Rectangle 7"/>
            <p:cNvSpPr>
              <a:spLocks noChangeArrowheads="1"/>
            </p:cNvSpPr>
            <p:nvPr/>
          </p:nvSpPr>
          <p:spPr bwMode="auto">
            <a:xfrm>
              <a:off x="2304" y="1824"/>
              <a:ext cx="912" cy="336"/>
            </a:xfrm>
            <a:prstGeom prst="rect">
              <a:avLst/>
            </a:prstGeom>
            <a:solidFill>
              <a:srgbClr val="0033CC"/>
            </a:solidFill>
            <a:ln w="9525">
              <a:solidFill>
                <a:srgbClr val="FF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solidFill>
                    <a:schemeClr val="bg1"/>
                  </a:solidFill>
                </a:rPr>
                <a:t>长度</a:t>
              </a:r>
            </a:p>
          </p:txBody>
        </p:sp>
        <p:sp>
          <p:nvSpPr>
            <p:cNvPr id="11" name="Rectangle 8"/>
            <p:cNvSpPr>
              <a:spLocks noChangeArrowheads="1"/>
            </p:cNvSpPr>
            <p:nvPr/>
          </p:nvSpPr>
          <p:spPr bwMode="auto">
            <a:xfrm>
              <a:off x="3216" y="1824"/>
              <a:ext cx="912" cy="336"/>
            </a:xfrm>
            <a:prstGeom prst="rect">
              <a:avLst/>
            </a:prstGeom>
            <a:solidFill>
              <a:srgbClr val="0033CC"/>
            </a:solidFill>
            <a:ln w="9525">
              <a:solidFill>
                <a:srgbClr val="FF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solidFill>
                    <a:schemeClr val="bg1"/>
                  </a:solidFill>
                </a:rPr>
                <a:t>状态</a:t>
              </a:r>
            </a:p>
          </p:txBody>
        </p:sp>
        <p:sp>
          <p:nvSpPr>
            <p:cNvPr id="12" name="Rectangle 9"/>
            <p:cNvSpPr>
              <a:spLocks noChangeArrowheads="1"/>
            </p:cNvSpPr>
            <p:nvPr/>
          </p:nvSpPr>
          <p:spPr bwMode="auto">
            <a:xfrm>
              <a:off x="4128" y="1824"/>
              <a:ext cx="912" cy="336"/>
            </a:xfrm>
            <a:prstGeom prst="rect">
              <a:avLst/>
            </a:prstGeom>
            <a:solidFill>
              <a:srgbClr val="0033CC"/>
            </a:solidFill>
            <a:ln w="9525">
              <a:solidFill>
                <a:srgbClr val="FF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solidFill>
                    <a:schemeClr val="bg1"/>
                  </a:solidFill>
                </a:rPr>
                <a:t>进程名</a:t>
              </a:r>
            </a:p>
          </p:txBody>
        </p:sp>
      </p:grpSp>
    </p:spTree>
    <p:extLst>
      <p:ext uri="{BB962C8B-B14F-4D97-AF65-F5344CB8AC3E}">
        <p14:creationId xmlns:p14="http://schemas.microsoft.com/office/powerpoint/2010/main" val="394494901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固定分区</a:t>
            </a:r>
          </a:p>
        </p:txBody>
      </p:sp>
      <p:sp>
        <p:nvSpPr>
          <p:cNvPr id="4" name="Date Placeholder 3"/>
          <p:cNvSpPr>
            <a:spLocks noGrp="1"/>
          </p:cNvSpPr>
          <p:nvPr>
            <p:ph type="dt" sz="half" idx="10"/>
          </p:nvPr>
        </p:nvSpPr>
        <p:spPr/>
        <p:txBody>
          <a:bodyPr/>
          <a:lstStyle/>
          <a:p>
            <a:fld id="{F9533AC9-7C40-4278-B2E7-6CED919D7FF9}"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31</a:t>
            </a:fld>
            <a:endParaRPr lang="zh-CN" altLang="en-US" dirty="0"/>
          </a:p>
        </p:txBody>
      </p:sp>
      <p:grpSp>
        <p:nvGrpSpPr>
          <p:cNvPr id="7" name="Group 63"/>
          <p:cNvGrpSpPr>
            <a:grpSpLocks/>
          </p:cNvGrpSpPr>
          <p:nvPr/>
        </p:nvGrpSpPr>
        <p:grpSpPr bwMode="auto">
          <a:xfrm>
            <a:off x="1721767" y="1985095"/>
            <a:ext cx="2178050" cy="4105275"/>
            <a:chOff x="528" y="1579"/>
            <a:chExt cx="1372" cy="2586"/>
          </a:xfrm>
        </p:grpSpPr>
        <p:sp>
          <p:nvSpPr>
            <p:cNvPr id="8" name="Rectangle 8"/>
            <p:cNvSpPr>
              <a:spLocks noChangeArrowheads="1"/>
            </p:cNvSpPr>
            <p:nvPr/>
          </p:nvSpPr>
          <p:spPr bwMode="auto">
            <a:xfrm>
              <a:off x="786" y="1625"/>
              <a:ext cx="961" cy="2272"/>
            </a:xfrm>
            <a:prstGeom prst="rect">
              <a:avLst/>
            </a:prstGeom>
            <a:solidFill>
              <a:srgbClr val="5E574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 name="Rectangle 9"/>
            <p:cNvSpPr>
              <a:spLocks noChangeArrowheads="1"/>
            </p:cNvSpPr>
            <p:nvPr/>
          </p:nvSpPr>
          <p:spPr bwMode="auto">
            <a:xfrm>
              <a:off x="740" y="1579"/>
              <a:ext cx="953" cy="2263"/>
            </a:xfrm>
            <a:prstGeom prst="rect">
              <a:avLst/>
            </a:prstGeom>
            <a:solidFill>
              <a:srgbClr val="FFCCFF"/>
            </a:solidFill>
            <a:ln w="14288">
              <a:solidFill>
                <a:srgbClr val="000000"/>
              </a:solidFill>
              <a:miter lim="800000"/>
              <a:headEnd/>
              <a:tailEnd/>
            </a:ln>
          </p:spPr>
          <p:txBody>
            <a:bodyPr/>
            <a:lstStyle/>
            <a:p>
              <a:endParaRPr lang="zh-CN" altLang="en-US"/>
            </a:p>
          </p:txBody>
        </p:sp>
        <p:sp>
          <p:nvSpPr>
            <p:cNvPr id="10" name="Line 10"/>
            <p:cNvSpPr>
              <a:spLocks noChangeShapeType="1"/>
            </p:cNvSpPr>
            <p:nvPr/>
          </p:nvSpPr>
          <p:spPr bwMode="auto">
            <a:xfrm>
              <a:off x="741" y="2032"/>
              <a:ext cx="952"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 name="Line 11"/>
            <p:cNvSpPr>
              <a:spLocks noChangeShapeType="1"/>
            </p:cNvSpPr>
            <p:nvPr/>
          </p:nvSpPr>
          <p:spPr bwMode="auto">
            <a:xfrm>
              <a:off x="741" y="2485"/>
              <a:ext cx="952"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 name="Line 12"/>
            <p:cNvSpPr>
              <a:spLocks noChangeShapeType="1"/>
            </p:cNvSpPr>
            <p:nvPr/>
          </p:nvSpPr>
          <p:spPr bwMode="auto">
            <a:xfrm>
              <a:off x="741" y="2937"/>
              <a:ext cx="952"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 name="Line 13"/>
            <p:cNvSpPr>
              <a:spLocks noChangeShapeType="1"/>
            </p:cNvSpPr>
            <p:nvPr/>
          </p:nvSpPr>
          <p:spPr bwMode="auto">
            <a:xfrm>
              <a:off x="741" y="3390"/>
              <a:ext cx="952"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 name="Rectangle 14"/>
            <p:cNvSpPr>
              <a:spLocks noChangeArrowheads="1"/>
            </p:cNvSpPr>
            <p:nvPr/>
          </p:nvSpPr>
          <p:spPr bwMode="auto">
            <a:xfrm>
              <a:off x="1041" y="3490"/>
              <a:ext cx="341"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5" name="Rectangle 15"/>
            <p:cNvSpPr>
              <a:spLocks noChangeArrowheads="1"/>
            </p:cNvSpPr>
            <p:nvPr/>
          </p:nvSpPr>
          <p:spPr bwMode="auto">
            <a:xfrm>
              <a:off x="1102" y="3531"/>
              <a:ext cx="8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b="1">
                  <a:solidFill>
                    <a:srgbClr val="000000"/>
                  </a:solidFill>
                </a:rPr>
                <a:t>8 </a:t>
              </a:r>
              <a:endParaRPr lang="en-US" altLang="zh-CN" sz="1400" b="1"/>
            </a:p>
          </p:txBody>
        </p:sp>
        <p:sp>
          <p:nvSpPr>
            <p:cNvPr id="16" name="Rectangle 16"/>
            <p:cNvSpPr>
              <a:spLocks noChangeArrowheads="1"/>
            </p:cNvSpPr>
            <p:nvPr/>
          </p:nvSpPr>
          <p:spPr bwMode="auto">
            <a:xfrm>
              <a:off x="1202" y="3531"/>
              <a:ext cx="10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b="1">
                  <a:solidFill>
                    <a:srgbClr val="000000"/>
                  </a:solidFill>
                </a:rPr>
                <a:t>M</a:t>
              </a:r>
              <a:endParaRPr lang="en-US" altLang="zh-CN" sz="1400" b="1"/>
            </a:p>
          </p:txBody>
        </p:sp>
        <p:sp>
          <p:nvSpPr>
            <p:cNvPr id="17" name="Rectangle 17"/>
            <p:cNvSpPr>
              <a:spLocks noChangeArrowheads="1"/>
            </p:cNvSpPr>
            <p:nvPr/>
          </p:nvSpPr>
          <p:spPr bwMode="auto">
            <a:xfrm>
              <a:off x="1041" y="3038"/>
              <a:ext cx="341"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8" name="Rectangle 18"/>
            <p:cNvSpPr>
              <a:spLocks noChangeArrowheads="1"/>
            </p:cNvSpPr>
            <p:nvPr/>
          </p:nvSpPr>
          <p:spPr bwMode="auto">
            <a:xfrm>
              <a:off x="1102" y="3078"/>
              <a:ext cx="8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b="1">
                  <a:solidFill>
                    <a:srgbClr val="000000"/>
                  </a:solidFill>
                </a:rPr>
                <a:t>8 </a:t>
              </a:r>
              <a:endParaRPr lang="en-US" altLang="zh-CN" sz="1400" b="1"/>
            </a:p>
          </p:txBody>
        </p:sp>
        <p:sp>
          <p:nvSpPr>
            <p:cNvPr id="19" name="Rectangle 19"/>
            <p:cNvSpPr>
              <a:spLocks noChangeArrowheads="1"/>
            </p:cNvSpPr>
            <p:nvPr/>
          </p:nvSpPr>
          <p:spPr bwMode="auto">
            <a:xfrm>
              <a:off x="1202" y="3078"/>
              <a:ext cx="10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b="1">
                  <a:solidFill>
                    <a:srgbClr val="000000"/>
                  </a:solidFill>
                </a:rPr>
                <a:t>M</a:t>
              </a:r>
              <a:endParaRPr lang="en-US" altLang="zh-CN" sz="1400" b="1"/>
            </a:p>
          </p:txBody>
        </p:sp>
        <p:sp>
          <p:nvSpPr>
            <p:cNvPr id="20" name="Rectangle 20"/>
            <p:cNvSpPr>
              <a:spLocks noChangeArrowheads="1"/>
            </p:cNvSpPr>
            <p:nvPr/>
          </p:nvSpPr>
          <p:spPr bwMode="auto">
            <a:xfrm>
              <a:off x="1041" y="2635"/>
              <a:ext cx="341"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1" name="Rectangle 21"/>
            <p:cNvSpPr>
              <a:spLocks noChangeArrowheads="1"/>
            </p:cNvSpPr>
            <p:nvPr/>
          </p:nvSpPr>
          <p:spPr bwMode="auto">
            <a:xfrm>
              <a:off x="1102" y="2676"/>
              <a:ext cx="8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b="1">
                  <a:solidFill>
                    <a:srgbClr val="000000"/>
                  </a:solidFill>
                </a:rPr>
                <a:t>8 </a:t>
              </a:r>
              <a:endParaRPr lang="en-US" altLang="zh-CN" sz="1400" b="1"/>
            </a:p>
          </p:txBody>
        </p:sp>
        <p:sp>
          <p:nvSpPr>
            <p:cNvPr id="22" name="Rectangle 22"/>
            <p:cNvSpPr>
              <a:spLocks noChangeArrowheads="1"/>
            </p:cNvSpPr>
            <p:nvPr/>
          </p:nvSpPr>
          <p:spPr bwMode="auto">
            <a:xfrm>
              <a:off x="1202" y="2676"/>
              <a:ext cx="10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b="1">
                  <a:solidFill>
                    <a:srgbClr val="000000"/>
                  </a:solidFill>
                </a:rPr>
                <a:t>M</a:t>
              </a:r>
              <a:endParaRPr lang="en-US" altLang="zh-CN" sz="1400" b="1"/>
            </a:p>
          </p:txBody>
        </p:sp>
        <p:sp>
          <p:nvSpPr>
            <p:cNvPr id="23" name="Rectangle 23"/>
            <p:cNvSpPr>
              <a:spLocks noChangeArrowheads="1"/>
            </p:cNvSpPr>
            <p:nvPr/>
          </p:nvSpPr>
          <p:spPr bwMode="auto">
            <a:xfrm>
              <a:off x="1041" y="2133"/>
              <a:ext cx="341"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4" name="Rectangle 24"/>
            <p:cNvSpPr>
              <a:spLocks noChangeArrowheads="1"/>
            </p:cNvSpPr>
            <p:nvPr/>
          </p:nvSpPr>
          <p:spPr bwMode="auto">
            <a:xfrm>
              <a:off x="1102" y="2173"/>
              <a:ext cx="8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b="1">
                  <a:solidFill>
                    <a:srgbClr val="000000"/>
                  </a:solidFill>
                </a:rPr>
                <a:t>8 </a:t>
              </a:r>
              <a:endParaRPr lang="en-US" altLang="zh-CN" sz="1400" b="1"/>
            </a:p>
          </p:txBody>
        </p:sp>
        <p:sp>
          <p:nvSpPr>
            <p:cNvPr id="25" name="Rectangle 25"/>
            <p:cNvSpPr>
              <a:spLocks noChangeArrowheads="1"/>
            </p:cNvSpPr>
            <p:nvPr/>
          </p:nvSpPr>
          <p:spPr bwMode="auto">
            <a:xfrm>
              <a:off x="1202" y="2173"/>
              <a:ext cx="10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b="1">
                  <a:solidFill>
                    <a:srgbClr val="000000"/>
                  </a:solidFill>
                </a:rPr>
                <a:t>M</a:t>
              </a:r>
              <a:endParaRPr lang="en-US" altLang="zh-CN" sz="1400" b="1"/>
            </a:p>
          </p:txBody>
        </p:sp>
        <p:sp>
          <p:nvSpPr>
            <p:cNvPr id="26" name="Rectangle 26"/>
            <p:cNvSpPr>
              <a:spLocks noChangeArrowheads="1"/>
            </p:cNvSpPr>
            <p:nvPr/>
          </p:nvSpPr>
          <p:spPr bwMode="auto">
            <a:xfrm>
              <a:off x="1041" y="1781"/>
              <a:ext cx="341"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7" name="Rectangle 27"/>
            <p:cNvSpPr>
              <a:spLocks noChangeArrowheads="1"/>
            </p:cNvSpPr>
            <p:nvPr/>
          </p:nvSpPr>
          <p:spPr bwMode="auto">
            <a:xfrm>
              <a:off x="1102" y="1821"/>
              <a:ext cx="8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b="1">
                  <a:solidFill>
                    <a:srgbClr val="000000"/>
                  </a:solidFill>
                </a:rPr>
                <a:t>8 </a:t>
              </a:r>
              <a:endParaRPr lang="en-US" altLang="zh-CN" sz="1400" b="1"/>
            </a:p>
          </p:txBody>
        </p:sp>
        <p:sp>
          <p:nvSpPr>
            <p:cNvPr id="28" name="Rectangle 28"/>
            <p:cNvSpPr>
              <a:spLocks noChangeArrowheads="1"/>
            </p:cNvSpPr>
            <p:nvPr/>
          </p:nvSpPr>
          <p:spPr bwMode="auto">
            <a:xfrm>
              <a:off x="1202" y="1821"/>
              <a:ext cx="10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b="1">
                  <a:solidFill>
                    <a:srgbClr val="000000"/>
                  </a:solidFill>
                </a:rPr>
                <a:t>M</a:t>
              </a:r>
              <a:endParaRPr lang="en-US" altLang="zh-CN" sz="1400" b="1"/>
            </a:p>
          </p:txBody>
        </p:sp>
        <p:sp>
          <p:nvSpPr>
            <p:cNvPr id="29" name="Rectangle 29"/>
            <p:cNvSpPr>
              <a:spLocks noChangeArrowheads="1"/>
            </p:cNvSpPr>
            <p:nvPr/>
          </p:nvSpPr>
          <p:spPr bwMode="auto">
            <a:xfrm>
              <a:off x="690" y="1630"/>
              <a:ext cx="1021"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0" name="Rectangle 30"/>
            <p:cNvSpPr>
              <a:spLocks noChangeArrowheads="1"/>
            </p:cNvSpPr>
            <p:nvPr/>
          </p:nvSpPr>
          <p:spPr bwMode="auto">
            <a:xfrm>
              <a:off x="751" y="1666"/>
              <a:ext cx="86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b="1">
                  <a:solidFill>
                    <a:srgbClr val="000000"/>
                  </a:solidFill>
                </a:rPr>
                <a:t>Operating System</a:t>
              </a:r>
              <a:endParaRPr lang="en-US" altLang="zh-CN" sz="1400" b="1"/>
            </a:p>
          </p:txBody>
        </p:sp>
        <p:sp>
          <p:nvSpPr>
            <p:cNvPr id="31" name="Text Box 6"/>
            <p:cNvSpPr txBox="1">
              <a:spLocks noChangeArrowheads="1"/>
            </p:cNvSpPr>
            <p:nvPr/>
          </p:nvSpPr>
          <p:spPr bwMode="auto">
            <a:xfrm>
              <a:off x="528" y="3934"/>
              <a:ext cx="137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800" b="1"/>
                <a:t>固定分区</a:t>
              </a:r>
              <a:r>
                <a:rPr lang="en-US" altLang="zh-CN" sz="1800" b="1"/>
                <a:t>(</a:t>
              </a:r>
              <a:r>
                <a:rPr lang="zh-CN" altLang="en-US" sz="1800" b="1"/>
                <a:t>大小相同</a:t>
              </a:r>
              <a:r>
                <a:rPr lang="en-US" altLang="zh-CN" sz="1800" b="1"/>
                <a:t>)</a:t>
              </a:r>
            </a:p>
          </p:txBody>
        </p:sp>
      </p:grpSp>
      <p:grpSp>
        <p:nvGrpSpPr>
          <p:cNvPr id="32" name="Group 65"/>
          <p:cNvGrpSpPr>
            <a:grpSpLocks/>
          </p:cNvGrpSpPr>
          <p:nvPr/>
        </p:nvGrpSpPr>
        <p:grpSpPr bwMode="auto">
          <a:xfrm>
            <a:off x="4906292" y="1916832"/>
            <a:ext cx="2185988" cy="4238625"/>
            <a:chOff x="3084" y="1536"/>
            <a:chExt cx="1377" cy="2670"/>
          </a:xfrm>
        </p:grpSpPr>
        <p:sp>
          <p:nvSpPr>
            <p:cNvPr id="33" name="Rectangle 32"/>
            <p:cNvSpPr>
              <a:spLocks noChangeArrowheads="1"/>
            </p:cNvSpPr>
            <p:nvPr/>
          </p:nvSpPr>
          <p:spPr bwMode="auto">
            <a:xfrm>
              <a:off x="3390" y="1582"/>
              <a:ext cx="809" cy="2367"/>
            </a:xfrm>
            <a:prstGeom prst="rect">
              <a:avLst/>
            </a:prstGeom>
            <a:solidFill>
              <a:srgbClr val="5E574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4" name="Rectangle 33"/>
            <p:cNvSpPr>
              <a:spLocks noChangeArrowheads="1"/>
            </p:cNvSpPr>
            <p:nvPr/>
          </p:nvSpPr>
          <p:spPr bwMode="auto">
            <a:xfrm>
              <a:off x="3344" y="1536"/>
              <a:ext cx="801" cy="2359"/>
            </a:xfrm>
            <a:prstGeom prst="rect">
              <a:avLst/>
            </a:prstGeom>
            <a:solidFill>
              <a:srgbClr val="66CCFF"/>
            </a:solidFill>
            <a:ln w="12700">
              <a:solidFill>
                <a:srgbClr val="000000"/>
              </a:solidFill>
              <a:miter lim="800000"/>
              <a:headEnd/>
              <a:tailEnd/>
            </a:ln>
          </p:spPr>
          <p:txBody>
            <a:bodyPr/>
            <a:lstStyle/>
            <a:p>
              <a:endParaRPr lang="zh-CN" altLang="en-US"/>
            </a:p>
          </p:txBody>
        </p:sp>
        <p:sp>
          <p:nvSpPr>
            <p:cNvPr id="35" name="Line 34"/>
            <p:cNvSpPr>
              <a:spLocks noChangeShapeType="1"/>
            </p:cNvSpPr>
            <p:nvPr/>
          </p:nvSpPr>
          <p:spPr bwMode="auto">
            <a:xfrm>
              <a:off x="3345" y="1888"/>
              <a:ext cx="800"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 name="Line 35"/>
            <p:cNvSpPr>
              <a:spLocks noChangeShapeType="1"/>
            </p:cNvSpPr>
            <p:nvPr/>
          </p:nvSpPr>
          <p:spPr bwMode="auto">
            <a:xfrm>
              <a:off x="3345" y="2038"/>
              <a:ext cx="800"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 name="Line 36"/>
            <p:cNvSpPr>
              <a:spLocks noChangeShapeType="1"/>
            </p:cNvSpPr>
            <p:nvPr/>
          </p:nvSpPr>
          <p:spPr bwMode="auto">
            <a:xfrm>
              <a:off x="3345" y="2239"/>
              <a:ext cx="800"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 name="Line 37"/>
            <p:cNvSpPr>
              <a:spLocks noChangeShapeType="1"/>
            </p:cNvSpPr>
            <p:nvPr/>
          </p:nvSpPr>
          <p:spPr bwMode="auto">
            <a:xfrm>
              <a:off x="3345" y="2490"/>
              <a:ext cx="800"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 name="Line 38"/>
            <p:cNvSpPr>
              <a:spLocks noChangeShapeType="1"/>
            </p:cNvSpPr>
            <p:nvPr/>
          </p:nvSpPr>
          <p:spPr bwMode="auto">
            <a:xfrm>
              <a:off x="3345" y="2891"/>
              <a:ext cx="800"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 name="Line 39"/>
            <p:cNvSpPr>
              <a:spLocks noChangeShapeType="1"/>
            </p:cNvSpPr>
            <p:nvPr/>
          </p:nvSpPr>
          <p:spPr bwMode="auto">
            <a:xfrm>
              <a:off x="3345" y="3293"/>
              <a:ext cx="800"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 name="Rectangle 40"/>
            <p:cNvSpPr>
              <a:spLocks noChangeArrowheads="1"/>
            </p:cNvSpPr>
            <p:nvPr/>
          </p:nvSpPr>
          <p:spPr bwMode="auto">
            <a:xfrm>
              <a:off x="3294" y="1536"/>
              <a:ext cx="891"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2" name="Rectangle 41"/>
            <p:cNvSpPr>
              <a:spLocks noChangeArrowheads="1"/>
            </p:cNvSpPr>
            <p:nvPr/>
          </p:nvSpPr>
          <p:spPr bwMode="auto">
            <a:xfrm>
              <a:off x="3355" y="1571"/>
              <a:ext cx="739"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b="1">
                  <a:solidFill>
                    <a:srgbClr val="000000"/>
                  </a:solidFill>
                </a:rPr>
                <a:t>Operating System</a:t>
              </a:r>
              <a:endParaRPr lang="en-US" altLang="zh-CN" sz="1200" b="1"/>
            </a:p>
          </p:txBody>
        </p:sp>
        <p:sp>
          <p:nvSpPr>
            <p:cNvPr id="43" name="Rectangle 42"/>
            <p:cNvSpPr>
              <a:spLocks noChangeArrowheads="1"/>
            </p:cNvSpPr>
            <p:nvPr/>
          </p:nvSpPr>
          <p:spPr bwMode="auto">
            <a:xfrm>
              <a:off x="3655" y="1691"/>
              <a:ext cx="8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b="1">
                  <a:solidFill>
                    <a:srgbClr val="000000"/>
                  </a:solidFill>
                </a:rPr>
                <a:t>8 </a:t>
              </a:r>
              <a:endParaRPr lang="en-US" altLang="zh-CN" sz="1400" b="1"/>
            </a:p>
          </p:txBody>
        </p:sp>
        <p:sp>
          <p:nvSpPr>
            <p:cNvPr id="44" name="Rectangle 43"/>
            <p:cNvSpPr>
              <a:spLocks noChangeArrowheads="1"/>
            </p:cNvSpPr>
            <p:nvPr/>
          </p:nvSpPr>
          <p:spPr bwMode="auto">
            <a:xfrm>
              <a:off x="3730" y="1691"/>
              <a:ext cx="10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b="1">
                  <a:solidFill>
                    <a:srgbClr val="000000"/>
                  </a:solidFill>
                </a:rPr>
                <a:t>M</a:t>
              </a:r>
              <a:endParaRPr lang="en-US" altLang="zh-CN" sz="1400" b="1"/>
            </a:p>
          </p:txBody>
        </p:sp>
        <p:sp>
          <p:nvSpPr>
            <p:cNvPr id="45" name="Rectangle 44"/>
            <p:cNvSpPr>
              <a:spLocks noChangeArrowheads="1"/>
            </p:cNvSpPr>
            <p:nvPr/>
          </p:nvSpPr>
          <p:spPr bwMode="auto">
            <a:xfrm>
              <a:off x="3594" y="3494"/>
              <a:ext cx="341"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6" name="Rectangle 45"/>
            <p:cNvSpPr>
              <a:spLocks noChangeArrowheads="1"/>
            </p:cNvSpPr>
            <p:nvPr/>
          </p:nvSpPr>
          <p:spPr bwMode="auto">
            <a:xfrm>
              <a:off x="3655" y="3528"/>
              <a:ext cx="14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b="1">
                  <a:solidFill>
                    <a:srgbClr val="000000"/>
                  </a:solidFill>
                </a:rPr>
                <a:t>12 </a:t>
              </a:r>
              <a:endParaRPr lang="en-US" altLang="zh-CN" sz="1400" b="1"/>
            </a:p>
          </p:txBody>
        </p:sp>
        <p:sp>
          <p:nvSpPr>
            <p:cNvPr id="47" name="Rectangle 46"/>
            <p:cNvSpPr>
              <a:spLocks noChangeArrowheads="1"/>
            </p:cNvSpPr>
            <p:nvPr/>
          </p:nvSpPr>
          <p:spPr bwMode="auto">
            <a:xfrm>
              <a:off x="3780" y="3528"/>
              <a:ext cx="10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b="1">
                  <a:solidFill>
                    <a:srgbClr val="000000"/>
                  </a:solidFill>
                </a:rPr>
                <a:t>M</a:t>
              </a:r>
              <a:endParaRPr lang="en-US" altLang="zh-CN" sz="1400" b="1"/>
            </a:p>
          </p:txBody>
        </p:sp>
        <p:sp>
          <p:nvSpPr>
            <p:cNvPr id="48" name="Rectangle 47"/>
            <p:cNvSpPr>
              <a:spLocks noChangeArrowheads="1"/>
            </p:cNvSpPr>
            <p:nvPr/>
          </p:nvSpPr>
          <p:spPr bwMode="auto">
            <a:xfrm>
              <a:off x="3594" y="2992"/>
              <a:ext cx="291"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9" name="Rectangle 48"/>
            <p:cNvSpPr>
              <a:spLocks noChangeArrowheads="1"/>
            </p:cNvSpPr>
            <p:nvPr/>
          </p:nvSpPr>
          <p:spPr bwMode="auto">
            <a:xfrm>
              <a:off x="3655" y="3026"/>
              <a:ext cx="14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b="1">
                  <a:solidFill>
                    <a:srgbClr val="000000"/>
                  </a:solidFill>
                </a:rPr>
                <a:t>10 </a:t>
              </a:r>
              <a:endParaRPr lang="en-US" altLang="zh-CN" sz="1400" b="1"/>
            </a:p>
          </p:txBody>
        </p:sp>
        <p:sp>
          <p:nvSpPr>
            <p:cNvPr id="50" name="Rectangle 49"/>
            <p:cNvSpPr>
              <a:spLocks noChangeArrowheads="1"/>
            </p:cNvSpPr>
            <p:nvPr/>
          </p:nvSpPr>
          <p:spPr bwMode="auto">
            <a:xfrm>
              <a:off x="3764" y="3026"/>
              <a:ext cx="10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b="1">
                  <a:solidFill>
                    <a:srgbClr val="000000"/>
                  </a:solidFill>
                </a:rPr>
                <a:t>M</a:t>
              </a:r>
              <a:endParaRPr lang="en-US" altLang="zh-CN" sz="1400" b="1"/>
            </a:p>
          </p:txBody>
        </p:sp>
        <p:sp>
          <p:nvSpPr>
            <p:cNvPr id="51" name="Rectangle 50"/>
            <p:cNvSpPr>
              <a:spLocks noChangeArrowheads="1"/>
            </p:cNvSpPr>
            <p:nvPr/>
          </p:nvSpPr>
          <p:spPr bwMode="auto">
            <a:xfrm>
              <a:off x="3594" y="2590"/>
              <a:ext cx="291"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2" name="Rectangle 51"/>
            <p:cNvSpPr>
              <a:spLocks noChangeArrowheads="1"/>
            </p:cNvSpPr>
            <p:nvPr/>
          </p:nvSpPr>
          <p:spPr bwMode="auto">
            <a:xfrm>
              <a:off x="3655" y="2625"/>
              <a:ext cx="8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b="1">
                  <a:solidFill>
                    <a:srgbClr val="000000"/>
                  </a:solidFill>
                </a:rPr>
                <a:t>8 </a:t>
              </a:r>
              <a:endParaRPr lang="en-US" altLang="zh-CN" sz="1400" b="1"/>
            </a:p>
          </p:txBody>
        </p:sp>
        <p:sp>
          <p:nvSpPr>
            <p:cNvPr id="53" name="Rectangle 52"/>
            <p:cNvSpPr>
              <a:spLocks noChangeArrowheads="1"/>
            </p:cNvSpPr>
            <p:nvPr/>
          </p:nvSpPr>
          <p:spPr bwMode="auto">
            <a:xfrm>
              <a:off x="3730" y="2625"/>
              <a:ext cx="10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b="1">
                  <a:solidFill>
                    <a:srgbClr val="000000"/>
                  </a:solidFill>
                </a:rPr>
                <a:t>M</a:t>
              </a:r>
              <a:endParaRPr lang="en-US" altLang="zh-CN" sz="1400" b="1"/>
            </a:p>
          </p:txBody>
        </p:sp>
        <p:sp>
          <p:nvSpPr>
            <p:cNvPr id="54" name="Rectangle 53"/>
            <p:cNvSpPr>
              <a:spLocks noChangeArrowheads="1"/>
            </p:cNvSpPr>
            <p:nvPr/>
          </p:nvSpPr>
          <p:spPr bwMode="auto">
            <a:xfrm>
              <a:off x="3594" y="2289"/>
              <a:ext cx="291"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5" name="Rectangle 54"/>
            <p:cNvSpPr>
              <a:spLocks noChangeArrowheads="1"/>
            </p:cNvSpPr>
            <p:nvPr/>
          </p:nvSpPr>
          <p:spPr bwMode="auto">
            <a:xfrm>
              <a:off x="3655" y="2324"/>
              <a:ext cx="8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b="1">
                  <a:solidFill>
                    <a:srgbClr val="000000"/>
                  </a:solidFill>
                </a:rPr>
                <a:t>6 </a:t>
              </a:r>
              <a:endParaRPr lang="en-US" altLang="zh-CN" sz="1400" b="1"/>
            </a:p>
          </p:txBody>
        </p:sp>
        <p:sp>
          <p:nvSpPr>
            <p:cNvPr id="56" name="Rectangle 55"/>
            <p:cNvSpPr>
              <a:spLocks noChangeArrowheads="1"/>
            </p:cNvSpPr>
            <p:nvPr/>
          </p:nvSpPr>
          <p:spPr bwMode="auto">
            <a:xfrm>
              <a:off x="3730" y="2324"/>
              <a:ext cx="10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b="1">
                  <a:solidFill>
                    <a:srgbClr val="000000"/>
                  </a:solidFill>
                </a:rPr>
                <a:t>M</a:t>
              </a:r>
              <a:endParaRPr lang="en-US" altLang="zh-CN" sz="1400" b="1"/>
            </a:p>
          </p:txBody>
        </p:sp>
        <p:sp>
          <p:nvSpPr>
            <p:cNvPr id="57" name="Rectangle 56"/>
            <p:cNvSpPr>
              <a:spLocks noChangeArrowheads="1"/>
            </p:cNvSpPr>
            <p:nvPr/>
          </p:nvSpPr>
          <p:spPr bwMode="auto">
            <a:xfrm>
              <a:off x="3594" y="2038"/>
              <a:ext cx="291"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8" name="Rectangle 57"/>
            <p:cNvSpPr>
              <a:spLocks noChangeArrowheads="1"/>
            </p:cNvSpPr>
            <p:nvPr/>
          </p:nvSpPr>
          <p:spPr bwMode="auto">
            <a:xfrm>
              <a:off x="3655" y="2073"/>
              <a:ext cx="8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b="1">
                  <a:solidFill>
                    <a:srgbClr val="000000"/>
                  </a:solidFill>
                </a:rPr>
                <a:t>4 </a:t>
              </a:r>
              <a:endParaRPr lang="en-US" altLang="zh-CN" sz="1400" b="1"/>
            </a:p>
          </p:txBody>
        </p:sp>
        <p:sp>
          <p:nvSpPr>
            <p:cNvPr id="59" name="Rectangle 58"/>
            <p:cNvSpPr>
              <a:spLocks noChangeArrowheads="1"/>
            </p:cNvSpPr>
            <p:nvPr/>
          </p:nvSpPr>
          <p:spPr bwMode="auto">
            <a:xfrm>
              <a:off x="3730" y="2073"/>
              <a:ext cx="10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b="1">
                  <a:solidFill>
                    <a:srgbClr val="000000"/>
                  </a:solidFill>
                </a:rPr>
                <a:t>M</a:t>
              </a:r>
              <a:endParaRPr lang="en-US" altLang="zh-CN" sz="1400" b="1"/>
            </a:p>
          </p:txBody>
        </p:sp>
        <p:sp>
          <p:nvSpPr>
            <p:cNvPr id="60" name="Rectangle 59"/>
            <p:cNvSpPr>
              <a:spLocks noChangeArrowheads="1"/>
            </p:cNvSpPr>
            <p:nvPr/>
          </p:nvSpPr>
          <p:spPr bwMode="auto">
            <a:xfrm>
              <a:off x="3594" y="1888"/>
              <a:ext cx="291"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1" name="Rectangle 60"/>
            <p:cNvSpPr>
              <a:spLocks noChangeArrowheads="1"/>
            </p:cNvSpPr>
            <p:nvPr/>
          </p:nvSpPr>
          <p:spPr bwMode="auto">
            <a:xfrm>
              <a:off x="3655" y="1922"/>
              <a:ext cx="8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b="1">
                  <a:solidFill>
                    <a:srgbClr val="000000"/>
                  </a:solidFill>
                </a:rPr>
                <a:t>2 </a:t>
              </a:r>
              <a:endParaRPr lang="en-US" altLang="zh-CN" sz="1400" b="1"/>
            </a:p>
          </p:txBody>
        </p:sp>
        <p:sp>
          <p:nvSpPr>
            <p:cNvPr id="62" name="Rectangle 61"/>
            <p:cNvSpPr>
              <a:spLocks noChangeArrowheads="1"/>
            </p:cNvSpPr>
            <p:nvPr/>
          </p:nvSpPr>
          <p:spPr bwMode="auto">
            <a:xfrm>
              <a:off x="3730" y="1922"/>
              <a:ext cx="10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b="1">
                  <a:solidFill>
                    <a:srgbClr val="000000"/>
                  </a:solidFill>
                </a:rPr>
                <a:t>M</a:t>
              </a:r>
              <a:endParaRPr lang="en-US" altLang="zh-CN" sz="1400" b="1"/>
            </a:p>
          </p:txBody>
        </p:sp>
        <p:sp>
          <p:nvSpPr>
            <p:cNvPr id="63" name="Text Box 7"/>
            <p:cNvSpPr txBox="1">
              <a:spLocks noChangeArrowheads="1"/>
            </p:cNvSpPr>
            <p:nvPr/>
          </p:nvSpPr>
          <p:spPr bwMode="auto">
            <a:xfrm>
              <a:off x="3084" y="3956"/>
              <a:ext cx="137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800" b="1"/>
                <a:t>固定分区</a:t>
              </a:r>
              <a:r>
                <a:rPr lang="en-US" altLang="zh-CN" sz="1800" b="1"/>
                <a:t>(</a:t>
              </a:r>
              <a:r>
                <a:rPr lang="zh-CN" altLang="en-US" sz="1800" b="1"/>
                <a:t>多种大小</a:t>
              </a:r>
              <a:r>
                <a:rPr lang="en-US" altLang="zh-CN" sz="2000" b="1"/>
                <a:t>)</a:t>
              </a:r>
            </a:p>
          </p:txBody>
        </p:sp>
      </p:grpSp>
    </p:spTree>
    <p:extLst>
      <p:ext uri="{BB962C8B-B14F-4D97-AF65-F5344CB8AC3E}">
        <p14:creationId xmlns:p14="http://schemas.microsoft.com/office/powerpoint/2010/main" val="373063220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固定分区</a:t>
            </a:r>
          </a:p>
        </p:txBody>
      </p:sp>
      <p:sp>
        <p:nvSpPr>
          <p:cNvPr id="3" name="Content Placeholder 2"/>
          <p:cNvSpPr>
            <a:spLocks noGrp="1"/>
          </p:cNvSpPr>
          <p:nvPr>
            <p:ph idx="1"/>
          </p:nvPr>
        </p:nvSpPr>
        <p:spPr/>
        <p:txBody>
          <a:bodyPr>
            <a:normAutofit/>
          </a:bodyPr>
          <a:lstStyle/>
          <a:p>
            <a:r>
              <a:rPr lang="zh-CN" altLang="en-US" dirty="0"/>
              <a:t>固定分区的</a:t>
            </a:r>
            <a:r>
              <a:rPr lang="zh-CN" altLang="en-US" dirty="0" smtClean="0"/>
              <a:t>评价</a:t>
            </a:r>
            <a:endParaRPr lang="en-US" altLang="zh-CN" dirty="0"/>
          </a:p>
          <a:p>
            <a:pPr lvl="1"/>
            <a:r>
              <a:rPr lang="zh-CN" altLang="en-US" dirty="0" smtClean="0"/>
              <a:t>优点</a:t>
            </a:r>
            <a:endParaRPr lang="en-US" altLang="zh-CN" dirty="0" smtClean="0"/>
          </a:p>
          <a:p>
            <a:pPr lvl="2"/>
            <a:r>
              <a:rPr lang="zh-CN" altLang="en-US" dirty="0" smtClean="0"/>
              <a:t>易于实现，开销小</a:t>
            </a:r>
            <a:endParaRPr lang="en-US" altLang="zh-CN" dirty="0" smtClean="0"/>
          </a:p>
          <a:p>
            <a:pPr lvl="1"/>
            <a:r>
              <a:rPr lang="zh-CN" altLang="en-US" dirty="0" smtClean="0"/>
              <a:t>缺点</a:t>
            </a:r>
            <a:endParaRPr lang="en-US" altLang="zh-CN" dirty="0" smtClean="0"/>
          </a:p>
          <a:p>
            <a:pPr lvl="2"/>
            <a:r>
              <a:rPr lang="zh-CN" altLang="en-US" dirty="0" smtClean="0"/>
              <a:t>内碎片造成浪费（小作业不能有效利用分区空间）</a:t>
            </a:r>
            <a:endParaRPr lang="en-US" altLang="zh-CN" dirty="0" smtClean="0"/>
          </a:p>
          <a:p>
            <a:pPr lvl="2"/>
            <a:r>
              <a:rPr lang="zh-CN" altLang="en-US" dirty="0" smtClean="0"/>
              <a:t>分区总数在系统生成时确定（固定），限制了系统的并发度</a:t>
            </a:r>
            <a:endParaRPr lang="en-US" altLang="zh-CN" dirty="0" smtClean="0"/>
          </a:p>
          <a:p>
            <a:endParaRPr lang="en-US" altLang="zh-CN" dirty="0" smtClean="0"/>
          </a:p>
          <a:p>
            <a:r>
              <a:rPr lang="zh-CN" altLang="en-US" dirty="0" smtClean="0"/>
              <a:t>可以</a:t>
            </a:r>
            <a:r>
              <a:rPr lang="zh-CN" altLang="en-US" dirty="0"/>
              <a:t>和覆盖、交换技术配合使用</a:t>
            </a:r>
          </a:p>
        </p:txBody>
      </p:sp>
      <p:sp>
        <p:nvSpPr>
          <p:cNvPr id="4" name="Date Placeholder 3"/>
          <p:cNvSpPr>
            <a:spLocks noGrp="1"/>
          </p:cNvSpPr>
          <p:nvPr>
            <p:ph type="dt" sz="half" idx="10"/>
          </p:nvPr>
        </p:nvSpPr>
        <p:spPr/>
        <p:txBody>
          <a:bodyPr/>
          <a:lstStyle/>
          <a:p>
            <a:fld id="{6537DCF7-B6DF-4F5D-B103-CEABB42D7F4D}"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32</a:t>
            </a:fld>
            <a:endParaRPr lang="zh-CN" altLang="en-US" dirty="0"/>
          </a:p>
        </p:txBody>
      </p:sp>
    </p:spTree>
    <p:extLst>
      <p:ext uri="{BB962C8B-B14F-4D97-AF65-F5344CB8AC3E}">
        <p14:creationId xmlns:p14="http://schemas.microsoft.com/office/powerpoint/2010/main" val="166139363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动态分区</a:t>
            </a:r>
          </a:p>
        </p:txBody>
      </p:sp>
      <p:sp>
        <p:nvSpPr>
          <p:cNvPr id="3" name="Content Placeholder 2"/>
          <p:cNvSpPr>
            <a:spLocks noGrp="1"/>
          </p:cNvSpPr>
          <p:nvPr>
            <p:ph idx="1"/>
          </p:nvPr>
        </p:nvSpPr>
        <p:spPr/>
        <p:txBody>
          <a:bodyPr>
            <a:normAutofit/>
          </a:bodyPr>
          <a:lstStyle/>
          <a:p>
            <a:r>
              <a:rPr lang="zh-CN" altLang="en-US" dirty="0"/>
              <a:t>基本思想</a:t>
            </a:r>
            <a:endParaRPr lang="en-US" altLang="zh-CN" dirty="0"/>
          </a:p>
          <a:p>
            <a:pPr lvl="1"/>
            <a:r>
              <a:rPr lang="zh-CN" altLang="en-US" dirty="0"/>
              <a:t>内存不是预先划分好的，而是当进程装入时，根据进程的需求和内存空间的使用情况来决定是否分配</a:t>
            </a:r>
            <a:endParaRPr lang="en-US" altLang="zh-CN" dirty="0"/>
          </a:p>
          <a:p>
            <a:pPr lvl="2"/>
            <a:r>
              <a:rPr lang="zh-CN" altLang="en-US" dirty="0"/>
              <a:t>若有足够的空间，则按需要分割一部分给进程</a:t>
            </a:r>
            <a:endParaRPr lang="en-US" altLang="zh-CN" dirty="0"/>
          </a:p>
          <a:p>
            <a:pPr lvl="2"/>
            <a:r>
              <a:rPr lang="zh-CN" altLang="en-US" dirty="0"/>
              <a:t>否则令其等待主存空间</a:t>
            </a:r>
            <a:endParaRPr lang="en-US" altLang="zh-CN" dirty="0"/>
          </a:p>
          <a:p>
            <a:endParaRPr lang="en-US" altLang="zh-CN" dirty="0"/>
          </a:p>
          <a:p>
            <a:r>
              <a:rPr lang="zh-CN" altLang="en-US" dirty="0"/>
              <a:t>评价</a:t>
            </a:r>
            <a:endParaRPr lang="en-US" altLang="zh-CN" dirty="0"/>
          </a:p>
          <a:p>
            <a:pPr lvl="1"/>
            <a:r>
              <a:rPr lang="zh-CN" altLang="en-US" dirty="0"/>
              <a:t>优点：没有内碎片</a:t>
            </a:r>
            <a:endParaRPr lang="en-US" altLang="zh-CN" dirty="0"/>
          </a:p>
          <a:p>
            <a:pPr lvl="1"/>
            <a:r>
              <a:rPr lang="zh-CN" altLang="en-US" dirty="0"/>
              <a:t>缺点：有外碎片</a:t>
            </a:r>
          </a:p>
        </p:txBody>
      </p:sp>
      <p:sp>
        <p:nvSpPr>
          <p:cNvPr id="4" name="Date Placeholder 3"/>
          <p:cNvSpPr>
            <a:spLocks noGrp="1"/>
          </p:cNvSpPr>
          <p:nvPr>
            <p:ph type="dt" sz="half" idx="10"/>
          </p:nvPr>
        </p:nvSpPr>
        <p:spPr/>
        <p:txBody>
          <a:bodyPr/>
          <a:lstStyle/>
          <a:p>
            <a:fld id="{6806DEC4-4779-4F29-AA09-CD42980AF84B}"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33</a:t>
            </a:fld>
            <a:endParaRPr lang="zh-CN" altLang="en-US" dirty="0"/>
          </a:p>
        </p:txBody>
      </p:sp>
    </p:spTree>
    <p:extLst>
      <p:ext uri="{BB962C8B-B14F-4D97-AF65-F5344CB8AC3E}">
        <p14:creationId xmlns:p14="http://schemas.microsoft.com/office/powerpoint/2010/main" val="21606736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动态分区分配算法</a:t>
            </a:r>
          </a:p>
        </p:txBody>
      </p:sp>
      <p:sp>
        <p:nvSpPr>
          <p:cNvPr id="3" name="Content Placeholder 2"/>
          <p:cNvSpPr>
            <a:spLocks noGrp="1"/>
          </p:cNvSpPr>
          <p:nvPr>
            <p:ph idx="1"/>
          </p:nvPr>
        </p:nvSpPr>
        <p:spPr/>
        <p:txBody>
          <a:bodyPr>
            <a:normAutofit/>
          </a:bodyPr>
          <a:lstStyle/>
          <a:p>
            <a:r>
              <a:rPr lang="zh-CN" altLang="en-US" dirty="0"/>
              <a:t>分区分配算法</a:t>
            </a:r>
            <a:endParaRPr lang="en-US" altLang="zh-CN" dirty="0"/>
          </a:p>
          <a:p>
            <a:pPr lvl="1"/>
            <a:r>
              <a:rPr lang="zh-CN" altLang="en-US" dirty="0"/>
              <a:t>寻找某个空闲分区，其大小需大于或等于程序的要求。若是大于要求，则将该分区分割成两个分区，其中一个分区为要求的大小并标记为“占用”，而另一个分区为余下部分并标记为“空闲”</a:t>
            </a:r>
            <a:endParaRPr lang="en-US" altLang="zh-CN" dirty="0"/>
          </a:p>
          <a:p>
            <a:pPr lvl="1"/>
            <a:endParaRPr lang="en-US" altLang="zh-CN" dirty="0"/>
          </a:p>
          <a:p>
            <a:r>
              <a:rPr lang="zh-CN" altLang="en-US" dirty="0"/>
              <a:t>分区释放算法</a:t>
            </a:r>
            <a:endParaRPr lang="en-US" altLang="zh-CN" dirty="0"/>
          </a:p>
          <a:p>
            <a:pPr lvl="1"/>
            <a:r>
              <a:rPr lang="zh-CN" altLang="en-US" dirty="0"/>
              <a:t>需要将相邻的空闲分区合并成一个空闲分区。</a:t>
            </a:r>
            <a:r>
              <a:rPr lang="en-US" altLang="zh-CN" dirty="0"/>
              <a:t>(</a:t>
            </a:r>
            <a:r>
              <a:rPr lang="zh-CN" altLang="en-US" dirty="0"/>
              <a:t>这时要解决的问题是：合并条件的判断和合并时机的选择</a:t>
            </a:r>
            <a:r>
              <a:rPr lang="en-US" altLang="zh-CN" dirty="0"/>
              <a:t>)</a:t>
            </a:r>
            <a:endParaRPr lang="zh-CN" altLang="en-US" dirty="0"/>
          </a:p>
        </p:txBody>
      </p:sp>
      <p:sp>
        <p:nvSpPr>
          <p:cNvPr id="4" name="Date Placeholder 3"/>
          <p:cNvSpPr>
            <a:spLocks noGrp="1"/>
          </p:cNvSpPr>
          <p:nvPr>
            <p:ph type="dt" sz="half" idx="10"/>
          </p:nvPr>
        </p:nvSpPr>
        <p:spPr/>
        <p:txBody>
          <a:bodyPr/>
          <a:lstStyle/>
          <a:p>
            <a:fld id="{6CA27078-877D-40CC-8CE2-2363EF9A0323}"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34</a:t>
            </a:fld>
            <a:endParaRPr lang="zh-CN" altLang="en-US" dirty="0"/>
          </a:p>
        </p:txBody>
      </p:sp>
    </p:spTree>
    <p:extLst>
      <p:ext uri="{BB962C8B-B14F-4D97-AF65-F5344CB8AC3E}">
        <p14:creationId xmlns:p14="http://schemas.microsoft.com/office/powerpoint/2010/main" val="277707379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动态分区分配算法</a:t>
            </a:r>
          </a:p>
        </p:txBody>
      </p:sp>
      <p:sp>
        <p:nvSpPr>
          <p:cNvPr id="3" name="Content Placeholder 2"/>
          <p:cNvSpPr>
            <a:spLocks noGrp="1"/>
          </p:cNvSpPr>
          <p:nvPr>
            <p:ph idx="1"/>
          </p:nvPr>
        </p:nvSpPr>
        <p:spPr/>
        <p:txBody>
          <a:bodyPr>
            <a:normAutofit/>
          </a:bodyPr>
          <a:lstStyle/>
          <a:p>
            <a:r>
              <a:rPr lang="zh-CN" altLang="en-US" dirty="0" smtClean="0">
                <a:solidFill>
                  <a:srgbClr val="0000FF"/>
                </a:solidFill>
              </a:rPr>
              <a:t>首次适应算法（</a:t>
            </a:r>
            <a:r>
              <a:rPr lang="en-US" altLang="zh-CN" dirty="0">
                <a:solidFill>
                  <a:srgbClr val="0000FF"/>
                </a:solidFill>
              </a:rPr>
              <a:t>First-Fit</a:t>
            </a:r>
            <a:r>
              <a:rPr lang="zh-CN" altLang="en-US" dirty="0">
                <a:solidFill>
                  <a:srgbClr val="0000FF"/>
                </a:solidFill>
              </a:rPr>
              <a:t>）</a:t>
            </a:r>
            <a:endParaRPr lang="en-US" altLang="zh-CN" dirty="0">
              <a:solidFill>
                <a:srgbClr val="0000FF"/>
              </a:solidFill>
            </a:endParaRPr>
          </a:p>
          <a:p>
            <a:pPr lvl="1"/>
            <a:r>
              <a:rPr lang="zh-CN" altLang="en-US" dirty="0"/>
              <a:t>按分区的先后次序（分区按起始</a:t>
            </a:r>
            <a:r>
              <a:rPr lang="zh-CN" altLang="en-US" dirty="0">
                <a:solidFill>
                  <a:srgbClr val="0000FF"/>
                </a:solidFill>
              </a:rPr>
              <a:t>地址递增的顺序</a:t>
            </a:r>
            <a:r>
              <a:rPr lang="zh-CN" altLang="en-US" dirty="0"/>
              <a:t>排列），从头查找，找到符合要求的第一个分区</a:t>
            </a:r>
            <a:endParaRPr lang="en-US" altLang="zh-CN" dirty="0"/>
          </a:p>
          <a:p>
            <a:endParaRPr lang="en-US" altLang="zh-CN" dirty="0"/>
          </a:p>
          <a:p>
            <a:r>
              <a:rPr lang="zh-CN" altLang="en-US" dirty="0"/>
              <a:t>特点</a:t>
            </a:r>
            <a:endParaRPr lang="en-US" altLang="zh-CN" dirty="0"/>
          </a:p>
          <a:p>
            <a:pPr lvl="1"/>
            <a:r>
              <a:rPr lang="zh-CN" altLang="en-US" dirty="0">
                <a:solidFill>
                  <a:srgbClr val="0000FF"/>
                </a:solidFill>
              </a:rPr>
              <a:t>简单、快速分配。</a:t>
            </a:r>
            <a:r>
              <a:rPr lang="zh-CN" altLang="en-US" dirty="0"/>
              <a:t>该算法的分配和释放的时间性能较好，较大的空闲分区可以被保留在内存高地址</a:t>
            </a:r>
          </a:p>
          <a:p>
            <a:pPr lvl="1"/>
            <a:r>
              <a:rPr lang="zh-CN" altLang="en-US" dirty="0"/>
              <a:t>但随着低地址分区不断划分而产生较多小分区，每次分配时查找时间</a:t>
            </a:r>
            <a:r>
              <a:rPr lang="zh-CN" altLang="en-US" dirty="0">
                <a:solidFill>
                  <a:srgbClr val="0000FF"/>
                </a:solidFill>
              </a:rPr>
              <a:t>开销会增大</a:t>
            </a:r>
          </a:p>
        </p:txBody>
      </p:sp>
      <p:sp>
        <p:nvSpPr>
          <p:cNvPr id="4" name="Date Placeholder 3"/>
          <p:cNvSpPr>
            <a:spLocks noGrp="1"/>
          </p:cNvSpPr>
          <p:nvPr>
            <p:ph type="dt" sz="half" idx="10"/>
          </p:nvPr>
        </p:nvSpPr>
        <p:spPr/>
        <p:txBody>
          <a:bodyPr/>
          <a:lstStyle/>
          <a:p>
            <a:fld id="{0BBCB971-82A5-471E-AC28-FBF02A50A009}"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35</a:t>
            </a:fld>
            <a:endParaRPr lang="zh-CN" altLang="en-US" dirty="0"/>
          </a:p>
        </p:txBody>
      </p:sp>
    </p:spTree>
    <p:extLst>
      <p:ext uri="{BB962C8B-B14F-4D97-AF65-F5344CB8AC3E}">
        <p14:creationId xmlns:p14="http://schemas.microsoft.com/office/powerpoint/2010/main" val="11232618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动态分区分配算法</a:t>
            </a:r>
          </a:p>
        </p:txBody>
      </p:sp>
      <p:sp>
        <p:nvSpPr>
          <p:cNvPr id="3" name="Content Placeholder 2"/>
          <p:cNvSpPr>
            <a:spLocks noGrp="1"/>
          </p:cNvSpPr>
          <p:nvPr>
            <p:ph idx="1"/>
          </p:nvPr>
        </p:nvSpPr>
        <p:spPr/>
        <p:txBody>
          <a:bodyPr/>
          <a:lstStyle/>
          <a:p>
            <a:r>
              <a:rPr lang="zh-CN" altLang="en-US" dirty="0" smtClean="0">
                <a:solidFill>
                  <a:srgbClr val="0000FF"/>
                </a:solidFill>
              </a:rPr>
              <a:t>循环首次适应算法</a:t>
            </a:r>
            <a:r>
              <a:rPr lang="zh-CN" altLang="en-US" dirty="0">
                <a:solidFill>
                  <a:srgbClr val="0000FF"/>
                </a:solidFill>
              </a:rPr>
              <a:t>（</a:t>
            </a:r>
            <a:r>
              <a:rPr lang="en-US" altLang="zh-CN" dirty="0">
                <a:solidFill>
                  <a:srgbClr val="0000FF"/>
                </a:solidFill>
              </a:rPr>
              <a:t>Next-Fit</a:t>
            </a:r>
            <a:r>
              <a:rPr lang="zh-CN" altLang="en-US" dirty="0">
                <a:solidFill>
                  <a:srgbClr val="0000FF"/>
                </a:solidFill>
              </a:rPr>
              <a:t>）</a:t>
            </a:r>
            <a:endParaRPr lang="en-US" altLang="zh-CN" dirty="0">
              <a:solidFill>
                <a:srgbClr val="0000FF"/>
              </a:solidFill>
            </a:endParaRPr>
          </a:p>
          <a:p>
            <a:pPr lvl="1"/>
            <a:r>
              <a:rPr lang="zh-CN" altLang="en-US" dirty="0"/>
              <a:t>由</a:t>
            </a:r>
            <a:r>
              <a:rPr lang="en-US" altLang="zh-CN" dirty="0"/>
              <a:t>First Fit</a:t>
            </a:r>
            <a:r>
              <a:rPr lang="zh-CN" altLang="en-US" dirty="0"/>
              <a:t>算法演变而来，不再是每次从链首查找，而是从上次找到的空闲分区的下一个空闲分区开始</a:t>
            </a:r>
            <a:r>
              <a:rPr lang="zh-CN" altLang="en-US" dirty="0" smtClean="0"/>
              <a:t>查找</a:t>
            </a:r>
            <a:r>
              <a:rPr lang="zh-CN" altLang="en-US" dirty="0" smtClean="0"/>
              <a:t>（</a:t>
            </a:r>
            <a:r>
              <a:rPr lang="zh-CN" altLang="en-US" dirty="0"/>
              <a:t>到最后分区时再回到开头），找到符合要求的第一个分区</a:t>
            </a:r>
          </a:p>
          <a:p>
            <a:pPr lvl="1"/>
            <a:endParaRPr lang="en-US" altLang="zh-CN" dirty="0"/>
          </a:p>
          <a:p>
            <a:pPr lvl="1"/>
            <a:r>
              <a:rPr lang="zh-CN" altLang="en-US" dirty="0"/>
              <a:t>该算法的分配和释放的时间性能较好，使空闲分区分布得更均匀，但较大的空闲分区不易保留</a:t>
            </a:r>
          </a:p>
        </p:txBody>
      </p:sp>
      <p:sp>
        <p:nvSpPr>
          <p:cNvPr id="4" name="Date Placeholder 3"/>
          <p:cNvSpPr>
            <a:spLocks noGrp="1"/>
          </p:cNvSpPr>
          <p:nvPr>
            <p:ph type="dt" sz="half" idx="10"/>
          </p:nvPr>
        </p:nvSpPr>
        <p:spPr/>
        <p:txBody>
          <a:bodyPr/>
          <a:lstStyle/>
          <a:p>
            <a:fld id="{594045D9-E257-40A8-99BB-962B4844D1CA}"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36</a:t>
            </a:fld>
            <a:endParaRPr lang="zh-CN" altLang="en-US" dirty="0"/>
          </a:p>
        </p:txBody>
      </p:sp>
    </p:spTree>
    <p:extLst>
      <p:ext uri="{BB962C8B-B14F-4D97-AF65-F5344CB8AC3E}">
        <p14:creationId xmlns:p14="http://schemas.microsoft.com/office/powerpoint/2010/main" val="359524064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动态分区分配算法</a:t>
            </a:r>
          </a:p>
        </p:txBody>
      </p:sp>
      <p:sp>
        <p:nvSpPr>
          <p:cNvPr id="3" name="Content Placeholder 2"/>
          <p:cNvSpPr>
            <a:spLocks noGrp="1"/>
          </p:cNvSpPr>
          <p:nvPr>
            <p:ph idx="1"/>
          </p:nvPr>
        </p:nvSpPr>
        <p:spPr/>
        <p:txBody>
          <a:bodyPr/>
          <a:lstStyle/>
          <a:p>
            <a:r>
              <a:rPr lang="zh-CN" altLang="en-US" dirty="0"/>
              <a:t>最佳匹配法（</a:t>
            </a:r>
            <a:r>
              <a:rPr lang="en-US" altLang="zh-CN" dirty="0"/>
              <a:t>Best-Fit</a:t>
            </a:r>
            <a:r>
              <a:rPr lang="zh-CN" altLang="en-US" dirty="0"/>
              <a:t>）</a:t>
            </a:r>
            <a:endParaRPr lang="en-US" altLang="zh-CN" dirty="0"/>
          </a:p>
          <a:p>
            <a:pPr lvl="1"/>
            <a:r>
              <a:rPr lang="zh-CN" altLang="en-US" dirty="0"/>
              <a:t>找到大小与要求相差最小的空闲分区（按空闲区大小从小到大的顺序排列）</a:t>
            </a:r>
            <a:endParaRPr lang="en-US" altLang="zh-CN" dirty="0"/>
          </a:p>
          <a:p>
            <a:pPr lvl="1"/>
            <a:r>
              <a:rPr lang="zh-CN" altLang="en-US" dirty="0"/>
              <a:t>会形成</a:t>
            </a:r>
            <a:r>
              <a:rPr lang="zh-CN" altLang="en-US" dirty="0">
                <a:solidFill>
                  <a:srgbClr val="FF0000"/>
                </a:solidFill>
              </a:rPr>
              <a:t>较多外碎片</a:t>
            </a:r>
            <a:r>
              <a:rPr lang="zh-CN" altLang="en-US" dirty="0"/>
              <a:t>，但是</a:t>
            </a:r>
            <a:r>
              <a:rPr lang="zh-CN" altLang="en-US" dirty="0">
                <a:solidFill>
                  <a:srgbClr val="0000FF"/>
                </a:solidFill>
              </a:rPr>
              <a:t>较大的空闲分区可以被保留</a:t>
            </a:r>
            <a:endParaRPr lang="en-US" altLang="zh-CN" dirty="0">
              <a:solidFill>
                <a:srgbClr val="0000FF"/>
              </a:solidFill>
            </a:endParaRPr>
          </a:p>
          <a:p>
            <a:pPr lvl="1"/>
            <a:endParaRPr lang="en-US" altLang="zh-CN" dirty="0"/>
          </a:p>
          <a:p>
            <a:r>
              <a:rPr lang="zh-CN" altLang="en-US" dirty="0"/>
              <a:t>最坏匹配法（</a:t>
            </a:r>
            <a:r>
              <a:rPr lang="en-US" altLang="zh-CN" dirty="0"/>
              <a:t>Worst-Fit</a:t>
            </a:r>
            <a:r>
              <a:rPr lang="zh-CN" altLang="en-US" dirty="0"/>
              <a:t>）</a:t>
            </a:r>
            <a:endParaRPr lang="en-US" altLang="zh-CN" dirty="0"/>
          </a:p>
          <a:p>
            <a:pPr lvl="1"/>
            <a:r>
              <a:rPr lang="zh-CN" altLang="en-US" dirty="0"/>
              <a:t>找到最大的空闲分区（空闲分区按从大到小顺序排列）</a:t>
            </a:r>
            <a:endParaRPr lang="en-US" altLang="zh-CN" dirty="0"/>
          </a:p>
          <a:p>
            <a:pPr lvl="1"/>
            <a:r>
              <a:rPr lang="zh-CN" altLang="en-US" dirty="0"/>
              <a:t>基本不留下小空闲分区，较大的空闲分区无法被保留</a:t>
            </a:r>
          </a:p>
        </p:txBody>
      </p:sp>
      <p:sp>
        <p:nvSpPr>
          <p:cNvPr id="4" name="Date Placeholder 3"/>
          <p:cNvSpPr>
            <a:spLocks noGrp="1"/>
          </p:cNvSpPr>
          <p:nvPr>
            <p:ph type="dt" sz="half" idx="10"/>
          </p:nvPr>
        </p:nvSpPr>
        <p:spPr/>
        <p:txBody>
          <a:bodyPr/>
          <a:lstStyle/>
          <a:p>
            <a:fld id="{5FC42996-119F-40F1-959A-0D098DC625E7}"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37</a:t>
            </a:fld>
            <a:endParaRPr lang="zh-CN" altLang="en-US" dirty="0"/>
          </a:p>
        </p:txBody>
      </p:sp>
    </p:spTree>
    <p:extLst>
      <p:ext uri="{BB962C8B-B14F-4D97-AF65-F5344CB8AC3E}">
        <p14:creationId xmlns:p14="http://schemas.microsoft.com/office/powerpoint/2010/main" val="284228153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动态分区分配算法</a:t>
            </a:r>
          </a:p>
        </p:txBody>
      </p:sp>
      <p:sp>
        <p:nvSpPr>
          <p:cNvPr id="4" name="Date Placeholder 3"/>
          <p:cNvSpPr>
            <a:spLocks noGrp="1"/>
          </p:cNvSpPr>
          <p:nvPr>
            <p:ph type="dt" sz="half" idx="10"/>
          </p:nvPr>
        </p:nvSpPr>
        <p:spPr/>
        <p:txBody>
          <a:bodyPr/>
          <a:lstStyle/>
          <a:p>
            <a:fld id="{FF2AE9D4-43CD-4095-80CB-981BB5EEFFF1}"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38</a:t>
            </a:fld>
            <a:endParaRPr lang="zh-CN" altLang="en-US" dirty="0"/>
          </a:p>
        </p:txBody>
      </p:sp>
      <p:grpSp>
        <p:nvGrpSpPr>
          <p:cNvPr id="7" name="Group 59"/>
          <p:cNvGrpSpPr>
            <a:grpSpLocks/>
          </p:cNvGrpSpPr>
          <p:nvPr/>
        </p:nvGrpSpPr>
        <p:grpSpPr bwMode="auto">
          <a:xfrm>
            <a:off x="755576" y="2132856"/>
            <a:ext cx="2255838" cy="3111500"/>
            <a:chOff x="576" y="1680"/>
            <a:chExt cx="1421" cy="1960"/>
          </a:xfrm>
        </p:grpSpPr>
        <p:sp>
          <p:nvSpPr>
            <p:cNvPr id="8" name="Rectangle 7"/>
            <p:cNvSpPr>
              <a:spLocks noChangeArrowheads="1"/>
            </p:cNvSpPr>
            <p:nvPr/>
          </p:nvSpPr>
          <p:spPr bwMode="auto">
            <a:xfrm>
              <a:off x="576" y="1680"/>
              <a:ext cx="1002" cy="356"/>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 name="Rectangle 8"/>
            <p:cNvSpPr>
              <a:spLocks noChangeArrowheads="1"/>
            </p:cNvSpPr>
            <p:nvPr/>
          </p:nvSpPr>
          <p:spPr bwMode="auto">
            <a:xfrm>
              <a:off x="580" y="1684"/>
              <a:ext cx="994" cy="1956"/>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 name="Line 9"/>
            <p:cNvSpPr>
              <a:spLocks noChangeShapeType="1"/>
            </p:cNvSpPr>
            <p:nvPr/>
          </p:nvSpPr>
          <p:spPr bwMode="auto">
            <a:xfrm>
              <a:off x="581" y="2036"/>
              <a:ext cx="993" cy="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 name="Rectangle 11"/>
            <p:cNvSpPr>
              <a:spLocks noChangeArrowheads="1"/>
            </p:cNvSpPr>
            <p:nvPr/>
          </p:nvSpPr>
          <p:spPr bwMode="auto">
            <a:xfrm>
              <a:off x="815" y="1715"/>
              <a:ext cx="56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Operating</a:t>
              </a:r>
            </a:p>
          </p:txBody>
        </p:sp>
        <p:sp>
          <p:nvSpPr>
            <p:cNvPr id="12" name="Rectangle 12"/>
            <p:cNvSpPr>
              <a:spLocks noChangeArrowheads="1"/>
            </p:cNvSpPr>
            <p:nvPr/>
          </p:nvSpPr>
          <p:spPr bwMode="auto">
            <a:xfrm>
              <a:off x="815" y="1857"/>
              <a:ext cx="9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   </a:t>
              </a:r>
            </a:p>
          </p:txBody>
        </p:sp>
        <p:sp>
          <p:nvSpPr>
            <p:cNvPr id="13" name="Rectangle 13"/>
            <p:cNvSpPr>
              <a:spLocks noChangeArrowheads="1"/>
            </p:cNvSpPr>
            <p:nvPr/>
          </p:nvSpPr>
          <p:spPr bwMode="auto">
            <a:xfrm>
              <a:off x="910" y="1857"/>
              <a:ext cx="39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System</a:t>
              </a:r>
            </a:p>
          </p:txBody>
        </p:sp>
        <p:sp>
          <p:nvSpPr>
            <p:cNvPr id="14" name="Rectangle 15"/>
            <p:cNvSpPr>
              <a:spLocks noChangeArrowheads="1"/>
            </p:cNvSpPr>
            <p:nvPr/>
          </p:nvSpPr>
          <p:spPr bwMode="auto">
            <a:xfrm>
              <a:off x="1673" y="1758"/>
              <a:ext cx="22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128 </a:t>
              </a:r>
            </a:p>
          </p:txBody>
        </p:sp>
        <p:sp>
          <p:nvSpPr>
            <p:cNvPr id="15" name="Rectangle 16"/>
            <p:cNvSpPr>
              <a:spLocks noChangeArrowheads="1"/>
            </p:cNvSpPr>
            <p:nvPr/>
          </p:nvSpPr>
          <p:spPr bwMode="auto">
            <a:xfrm>
              <a:off x="1897" y="1758"/>
              <a:ext cx="10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K</a:t>
              </a:r>
            </a:p>
          </p:txBody>
        </p:sp>
        <p:sp>
          <p:nvSpPr>
            <p:cNvPr id="16" name="Rectangle 18"/>
            <p:cNvSpPr>
              <a:spLocks noChangeArrowheads="1"/>
            </p:cNvSpPr>
            <p:nvPr/>
          </p:nvSpPr>
          <p:spPr bwMode="auto">
            <a:xfrm>
              <a:off x="1673" y="2697"/>
              <a:ext cx="22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896 </a:t>
              </a:r>
            </a:p>
          </p:txBody>
        </p:sp>
        <p:sp>
          <p:nvSpPr>
            <p:cNvPr id="17" name="Rectangle 19"/>
            <p:cNvSpPr>
              <a:spLocks noChangeArrowheads="1"/>
            </p:cNvSpPr>
            <p:nvPr/>
          </p:nvSpPr>
          <p:spPr bwMode="auto">
            <a:xfrm>
              <a:off x="1897" y="2697"/>
              <a:ext cx="10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K</a:t>
              </a:r>
            </a:p>
          </p:txBody>
        </p:sp>
      </p:grpSp>
      <p:grpSp>
        <p:nvGrpSpPr>
          <p:cNvPr id="18" name="Group 60"/>
          <p:cNvGrpSpPr>
            <a:grpSpLocks/>
          </p:cNvGrpSpPr>
          <p:nvPr/>
        </p:nvGrpSpPr>
        <p:grpSpPr bwMode="auto">
          <a:xfrm>
            <a:off x="3557518" y="2132856"/>
            <a:ext cx="2227264" cy="3111500"/>
            <a:chOff x="2341" y="1680"/>
            <a:chExt cx="1403" cy="1960"/>
          </a:xfrm>
        </p:grpSpPr>
        <p:sp>
          <p:nvSpPr>
            <p:cNvPr id="19" name="Rectangle 6"/>
            <p:cNvSpPr>
              <a:spLocks noChangeArrowheads="1"/>
            </p:cNvSpPr>
            <p:nvPr/>
          </p:nvSpPr>
          <p:spPr bwMode="auto">
            <a:xfrm>
              <a:off x="2341" y="1680"/>
              <a:ext cx="1003" cy="758"/>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0" name="Rectangle 20"/>
            <p:cNvSpPr>
              <a:spLocks noChangeArrowheads="1"/>
            </p:cNvSpPr>
            <p:nvPr/>
          </p:nvSpPr>
          <p:spPr bwMode="auto">
            <a:xfrm>
              <a:off x="2346" y="1684"/>
              <a:ext cx="994" cy="1956"/>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 name="Line 21"/>
            <p:cNvSpPr>
              <a:spLocks noChangeShapeType="1"/>
            </p:cNvSpPr>
            <p:nvPr/>
          </p:nvSpPr>
          <p:spPr bwMode="auto">
            <a:xfrm>
              <a:off x="2347" y="2036"/>
              <a:ext cx="993" cy="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Rectangle 23"/>
            <p:cNvSpPr>
              <a:spLocks noChangeArrowheads="1"/>
            </p:cNvSpPr>
            <p:nvPr/>
          </p:nvSpPr>
          <p:spPr bwMode="auto">
            <a:xfrm>
              <a:off x="2581" y="1715"/>
              <a:ext cx="56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Operating</a:t>
              </a:r>
            </a:p>
          </p:txBody>
        </p:sp>
        <p:sp>
          <p:nvSpPr>
            <p:cNvPr id="23" name="Rectangle 24"/>
            <p:cNvSpPr>
              <a:spLocks noChangeArrowheads="1"/>
            </p:cNvSpPr>
            <p:nvPr/>
          </p:nvSpPr>
          <p:spPr bwMode="auto">
            <a:xfrm>
              <a:off x="2581" y="1857"/>
              <a:ext cx="9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   </a:t>
              </a:r>
            </a:p>
          </p:txBody>
        </p:sp>
        <p:sp>
          <p:nvSpPr>
            <p:cNvPr id="24" name="Rectangle 25"/>
            <p:cNvSpPr>
              <a:spLocks noChangeArrowheads="1"/>
            </p:cNvSpPr>
            <p:nvPr/>
          </p:nvSpPr>
          <p:spPr bwMode="auto">
            <a:xfrm>
              <a:off x="2676" y="1857"/>
              <a:ext cx="39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System</a:t>
              </a:r>
            </a:p>
          </p:txBody>
        </p:sp>
        <p:sp>
          <p:nvSpPr>
            <p:cNvPr id="25" name="Line 26"/>
            <p:cNvSpPr>
              <a:spLocks noChangeShapeType="1"/>
            </p:cNvSpPr>
            <p:nvPr/>
          </p:nvSpPr>
          <p:spPr bwMode="auto">
            <a:xfrm>
              <a:off x="2347" y="2438"/>
              <a:ext cx="993" cy="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Rectangle 28"/>
            <p:cNvSpPr>
              <a:spLocks noChangeArrowheads="1"/>
            </p:cNvSpPr>
            <p:nvPr/>
          </p:nvSpPr>
          <p:spPr bwMode="auto">
            <a:xfrm>
              <a:off x="2581" y="2160"/>
              <a:ext cx="50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Process 1</a:t>
              </a:r>
            </a:p>
          </p:txBody>
        </p:sp>
        <p:sp>
          <p:nvSpPr>
            <p:cNvPr id="27" name="Rectangle 30"/>
            <p:cNvSpPr>
              <a:spLocks noChangeArrowheads="1"/>
            </p:cNvSpPr>
            <p:nvPr/>
          </p:nvSpPr>
          <p:spPr bwMode="auto">
            <a:xfrm>
              <a:off x="3420" y="2116"/>
              <a:ext cx="22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320 </a:t>
              </a:r>
            </a:p>
          </p:txBody>
        </p:sp>
        <p:sp>
          <p:nvSpPr>
            <p:cNvPr id="28" name="Rectangle 31"/>
            <p:cNvSpPr>
              <a:spLocks noChangeArrowheads="1"/>
            </p:cNvSpPr>
            <p:nvPr/>
          </p:nvSpPr>
          <p:spPr bwMode="auto">
            <a:xfrm>
              <a:off x="3644" y="2116"/>
              <a:ext cx="10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K</a:t>
              </a:r>
            </a:p>
          </p:txBody>
        </p:sp>
        <p:sp>
          <p:nvSpPr>
            <p:cNvPr id="29" name="Rectangle 33"/>
            <p:cNvSpPr>
              <a:spLocks noChangeArrowheads="1"/>
            </p:cNvSpPr>
            <p:nvPr/>
          </p:nvSpPr>
          <p:spPr bwMode="auto">
            <a:xfrm>
              <a:off x="3408" y="2964"/>
              <a:ext cx="22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576 </a:t>
              </a:r>
            </a:p>
          </p:txBody>
        </p:sp>
        <p:sp>
          <p:nvSpPr>
            <p:cNvPr id="30" name="Rectangle 34"/>
            <p:cNvSpPr>
              <a:spLocks noChangeArrowheads="1"/>
            </p:cNvSpPr>
            <p:nvPr/>
          </p:nvSpPr>
          <p:spPr bwMode="auto">
            <a:xfrm>
              <a:off x="3631" y="2964"/>
              <a:ext cx="10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K</a:t>
              </a:r>
            </a:p>
          </p:txBody>
        </p:sp>
      </p:grpSp>
      <p:grpSp>
        <p:nvGrpSpPr>
          <p:cNvPr id="31" name="Group 61"/>
          <p:cNvGrpSpPr>
            <a:grpSpLocks/>
          </p:cNvGrpSpPr>
          <p:nvPr/>
        </p:nvGrpSpPr>
        <p:grpSpPr bwMode="auto">
          <a:xfrm>
            <a:off x="6210226" y="2132856"/>
            <a:ext cx="2241550" cy="3111500"/>
            <a:chOff x="4012" y="1680"/>
            <a:chExt cx="1412" cy="1960"/>
          </a:xfrm>
        </p:grpSpPr>
        <p:sp>
          <p:nvSpPr>
            <p:cNvPr id="32" name="Rectangle 5"/>
            <p:cNvSpPr>
              <a:spLocks noChangeArrowheads="1"/>
            </p:cNvSpPr>
            <p:nvPr/>
          </p:nvSpPr>
          <p:spPr bwMode="auto">
            <a:xfrm>
              <a:off x="4012" y="1680"/>
              <a:ext cx="1003" cy="1115"/>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3" name="Rectangle 35"/>
            <p:cNvSpPr>
              <a:spLocks noChangeArrowheads="1"/>
            </p:cNvSpPr>
            <p:nvPr/>
          </p:nvSpPr>
          <p:spPr bwMode="auto">
            <a:xfrm>
              <a:off x="4017" y="1684"/>
              <a:ext cx="994" cy="1956"/>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 name="Line 36"/>
            <p:cNvSpPr>
              <a:spLocks noChangeShapeType="1"/>
            </p:cNvSpPr>
            <p:nvPr/>
          </p:nvSpPr>
          <p:spPr bwMode="auto">
            <a:xfrm>
              <a:off x="4018" y="2036"/>
              <a:ext cx="993" cy="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 name="Rectangle 38"/>
            <p:cNvSpPr>
              <a:spLocks noChangeArrowheads="1"/>
            </p:cNvSpPr>
            <p:nvPr/>
          </p:nvSpPr>
          <p:spPr bwMode="auto">
            <a:xfrm>
              <a:off x="4252" y="1715"/>
              <a:ext cx="56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Operating</a:t>
              </a:r>
            </a:p>
          </p:txBody>
        </p:sp>
        <p:sp>
          <p:nvSpPr>
            <p:cNvPr id="36" name="Rectangle 39"/>
            <p:cNvSpPr>
              <a:spLocks noChangeArrowheads="1"/>
            </p:cNvSpPr>
            <p:nvPr/>
          </p:nvSpPr>
          <p:spPr bwMode="auto">
            <a:xfrm>
              <a:off x="4252" y="1857"/>
              <a:ext cx="9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   </a:t>
              </a:r>
            </a:p>
          </p:txBody>
        </p:sp>
        <p:sp>
          <p:nvSpPr>
            <p:cNvPr id="37" name="Rectangle 40"/>
            <p:cNvSpPr>
              <a:spLocks noChangeArrowheads="1"/>
            </p:cNvSpPr>
            <p:nvPr/>
          </p:nvSpPr>
          <p:spPr bwMode="auto">
            <a:xfrm>
              <a:off x="4347" y="1857"/>
              <a:ext cx="39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System</a:t>
              </a:r>
            </a:p>
          </p:txBody>
        </p:sp>
        <p:sp>
          <p:nvSpPr>
            <p:cNvPr id="38" name="Line 41"/>
            <p:cNvSpPr>
              <a:spLocks noChangeShapeType="1"/>
            </p:cNvSpPr>
            <p:nvPr/>
          </p:nvSpPr>
          <p:spPr bwMode="auto">
            <a:xfrm>
              <a:off x="4018" y="2438"/>
              <a:ext cx="993" cy="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 name="Rectangle 43"/>
            <p:cNvSpPr>
              <a:spLocks noChangeArrowheads="1"/>
            </p:cNvSpPr>
            <p:nvPr/>
          </p:nvSpPr>
          <p:spPr bwMode="auto">
            <a:xfrm>
              <a:off x="4252" y="2160"/>
              <a:ext cx="50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Process 1</a:t>
              </a:r>
            </a:p>
          </p:txBody>
        </p:sp>
        <p:sp>
          <p:nvSpPr>
            <p:cNvPr id="40" name="Rectangle 45"/>
            <p:cNvSpPr>
              <a:spLocks noChangeArrowheads="1"/>
            </p:cNvSpPr>
            <p:nvPr/>
          </p:nvSpPr>
          <p:spPr bwMode="auto">
            <a:xfrm>
              <a:off x="5088" y="2160"/>
              <a:ext cx="22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320 </a:t>
              </a:r>
            </a:p>
          </p:txBody>
        </p:sp>
        <p:sp>
          <p:nvSpPr>
            <p:cNvPr id="41" name="Rectangle 46"/>
            <p:cNvSpPr>
              <a:spLocks noChangeArrowheads="1"/>
            </p:cNvSpPr>
            <p:nvPr/>
          </p:nvSpPr>
          <p:spPr bwMode="auto">
            <a:xfrm>
              <a:off x="5310" y="2160"/>
              <a:ext cx="10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K</a:t>
              </a:r>
            </a:p>
          </p:txBody>
        </p:sp>
        <p:sp>
          <p:nvSpPr>
            <p:cNvPr id="42" name="Line 47"/>
            <p:cNvSpPr>
              <a:spLocks noChangeShapeType="1"/>
            </p:cNvSpPr>
            <p:nvPr/>
          </p:nvSpPr>
          <p:spPr bwMode="auto">
            <a:xfrm>
              <a:off x="4018" y="2795"/>
              <a:ext cx="993" cy="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 name="Rectangle 49"/>
            <p:cNvSpPr>
              <a:spLocks noChangeArrowheads="1"/>
            </p:cNvSpPr>
            <p:nvPr/>
          </p:nvSpPr>
          <p:spPr bwMode="auto">
            <a:xfrm>
              <a:off x="4252" y="2562"/>
              <a:ext cx="50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Process 2</a:t>
              </a:r>
            </a:p>
          </p:txBody>
        </p:sp>
        <p:sp>
          <p:nvSpPr>
            <p:cNvPr id="44" name="Rectangle 51"/>
            <p:cNvSpPr>
              <a:spLocks noChangeArrowheads="1"/>
            </p:cNvSpPr>
            <p:nvPr/>
          </p:nvSpPr>
          <p:spPr bwMode="auto">
            <a:xfrm>
              <a:off x="5088" y="2544"/>
              <a:ext cx="22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224 </a:t>
              </a:r>
            </a:p>
          </p:txBody>
        </p:sp>
        <p:sp>
          <p:nvSpPr>
            <p:cNvPr id="45" name="Rectangle 52"/>
            <p:cNvSpPr>
              <a:spLocks noChangeArrowheads="1"/>
            </p:cNvSpPr>
            <p:nvPr/>
          </p:nvSpPr>
          <p:spPr bwMode="auto">
            <a:xfrm>
              <a:off x="5310" y="2544"/>
              <a:ext cx="10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K</a:t>
              </a:r>
            </a:p>
          </p:txBody>
        </p:sp>
        <p:sp>
          <p:nvSpPr>
            <p:cNvPr id="46" name="Rectangle 54"/>
            <p:cNvSpPr>
              <a:spLocks noChangeArrowheads="1"/>
            </p:cNvSpPr>
            <p:nvPr/>
          </p:nvSpPr>
          <p:spPr bwMode="auto">
            <a:xfrm>
              <a:off x="5102" y="3120"/>
              <a:ext cx="22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352 </a:t>
              </a:r>
            </a:p>
          </p:txBody>
        </p:sp>
        <p:sp>
          <p:nvSpPr>
            <p:cNvPr id="47" name="Rectangle 55"/>
            <p:cNvSpPr>
              <a:spLocks noChangeArrowheads="1"/>
            </p:cNvSpPr>
            <p:nvPr/>
          </p:nvSpPr>
          <p:spPr bwMode="auto">
            <a:xfrm>
              <a:off x="5324" y="3120"/>
              <a:ext cx="10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K</a:t>
              </a:r>
            </a:p>
          </p:txBody>
        </p:sp>
      </p:grpSp>
      <p:sp>
        <p:nvSpPr>
          <p:cNvPr id="48" name="Text Box 58"/>
          <p:cNvSpPr txBox="1">
            <a:spLocks noChangeArrowheads="1"/>
          </p:cNvSpPr>
          <p:nvPr/>
        </p:nvSpPr>
        <p:spPr bwMode="auto">
          <a:xfrm>
            <a:off x="1794599" y="5904184"/>
            <a:ext cx="51816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b="1" dirty="0"/>
              <a:t>采用最先适应法的内存分配变化过程</a:t>
            </a:r>
            <a:endParaRPr lang="zh-CN" altLang="en-US" dirty="0"/>
          </a:p>
        </p:txBody>
      </p:sp>
    </p:spTree>
    <p:extLst>
      <p:ext uri="{BB962C8B-B14F-4D97-AF65-F5344CB8AC3E}">
        <p14:creationId xmlns:p14="http://schemas.microsoft.com/office/powerpoint/2010/main" val="2490856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wipe(up)">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wipe(up)">
                                      <p:cBhvr>
                                        <p:cTn id="1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动态分区分配算法</a:t>
            </a:r>
          </a:p>
        </p:txBody>
      </p:sp>
      <p:sp>
        <p:nvSpPr>
          <p:cNvPr id="4" name="Date Placeholder 3"/>
          <p:cNvSpPr>
            <a:spLocks noGrp="1"/>
          </p:cNvSpPr>
          <p:nvPr>
            <p:ph type="dt" sz="half" idx="10"/>
          </p:nvPr>
        </p:nvSpPr>
        <p:spPr/>
        <p:txBody>
          <a:bodyPr/>
          <a:lstStyle/>
          <a:p>
            <a:fld id="{A7BFE82B-F137-4E52-BE73-29C6DF828FC1}"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39</a:t>
            </a:fld>
            <a:endParaRPr lang="zh-CN" altLang="en-US" dirty="0"/>
          </a:p>
        </p:txBody>
      </p:sp>
      <p:grpSp>
        <p:nvGrpSpPr>
          <p:cNvPr id="7" name="Group 134"/>
          <p:cNvGrpSpPr>
            <a:grpSpLocks/>
          </p:cNvGrpSpPr>
          <p:nvPr/>
        </p:nvGrpSpPr>
        <p:grpSpPr bwMode="auto">
          <a:xfrm>
            <a:off x="609600" y="1916832"/>
            <a:ext cx="2301875" cy="3124200"/>
            <a:chOff x="384" y="1632"/>
            <a:chExt cx="1450" cy="1968"/>
          </a:xfrm>
        </p:grpSpPr>
        <p:sp>
          <p:nvSpPr>
            <p:cNvPr id="8" name="Rectangle 49"/>
            <p:cNvSpPr>
              <a:spLocks noChangeArrowheads="1"/>
            </p:cNvSpPr>
            <p:nvPr/>
          </p:nvSpPr>
          <p:spPr bwMode="auto">
            <a:xfrm>
              <a:off x="384" y="1632"/>
              <a:ext cx="1035" cy="1613"/>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 name="Rectangle 50"/>
            <p:cNvSpPr>
              <a:spLocks noChangeArrowheads="1"/>
            </p:cNvSpPr>
            <p:nvPr/>
          </p:nvSpPr>
          <p:spPr bwMode="auto">
            <a:xfrm>
              <a:off x="388" y="1635"/>
              <a:ext cx="1026" cy="1965"/>
            </a:xfrm>
            <a:prstGeom prst="rect">
              <a:avLst/>
            </a:prstGeom>
            <a:noFill/>
            <a:ln w="14288">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 name="Line 51"/>
            <p:cNvSpPr>
              <a:spLocks noChangeShapeType="1"/>
            </p:cNvSpPr>
            <p:nvPr/>
          </p:nvSpPr>
          <p:spPr bwMode="auto">
            <a:xfrm>
              <a:off x="389" y="1991"/>
              <a:ext cx="1025" cy="1"/>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 name="Rectangle 53"/>
            <p:cNvSpPr>
              <a:spLocks noChangeArrowheads="1"/>
            </p:cNvSpPr>
            <p:nvPr/>
          </p:nvSpPr>
          <p:spPr bwMode="auto">
            <a:xfrm>
              <a:off x="630" y="1666"/>
              <a:ext cx="56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Operating</a:t>
              </a:r>
            </a:p>
          </p:txBody>
        </p:sp>
        <p:sp>
          <p:nvSpPr>
            <p:cNvPr id="12" name="Rectangle 54"/>
            <p:cNvSpPr>
              <a:spLocks noChangeArrowheads="1"/>
            </p:cNvSpPr>
            <p:nvPr/>
          </p:nvSpPr>
          <p:spPr bwMode="auto">
            <a:xfrm>
              <a:off x="630" y="1810"/>
              <a:ext cx="9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   </a:t>
              </a:r>
            </a:p>
          </p:txBody>
        </p:sp>
        <p:sp>
          <p:nvSpPr>
            <p:cNvPr id="13" name="Rectangle 55"/>
            <p:cNvSpPr>
              <a:spLocks noChangeArrowheads="1"/>
            </p:cNvSpPr>
            <p:nvPr/>
          </p:nvSpPr>
          <p:spPr bwMode="auto">
            <a:xfrm>
              <a:off x="729" y="1810"/>
              <a:ext cx="39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System</a:t>
              </a:r>
            </a:p>
          </p:txBody>
        </p:sp>
        <p:sp>
          <p:nvSpPr>
            <p:cNvPr id="14" name="Line 56"/>
            <p:cNvSpPr>
              <a:spLocks noChangeShapeType="1"/>
            </p:cNvSpPr>
            <p:nvPr/>
          </p:nvSpPr>
          <p:spPr bwMode="auto">
            <a:xfrm>
              <a:off x="389" y="2394"/>
              <a:ext cx="1025" cy="1"/>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 name="Rectangle 58"/>
            <p:cNvSpPr>
              <a:spLocks noChangeArrowheads="1"/>
            </p:cNvSpPr>
            <p:nvPr/>
          </p:nvSpPr>
          <p:spPr bwMode="auto">
            <a:xfrm>
              <a:off x="630" y="2114"/>
              <a:ext cx="50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Process 1</a:t>
              </a:r>
            </a:p>
          </p:txBody>
        </p:sp>
        <p:sp>
          <p:nvSpPr>
            <p:cNvPr id="16" name="Rectangle 60"/>
            <p:cNvSpPr>
              <a:spLocks noChangeArrowheads="1"/>
            </p:cNvSpPr>
            <p:nvPr/>
          </p:nvSpPr>
          <p:spPr bwMode="auto">
            <a:xfrm>
              <a:off x="1504" y="2069"/>
              <a:ext cx="22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320 </a:t>
              </a:r>
            </a:p>
          </p:txBody>
        </p:sp>
        <p:sp>
          <p:nvSpPr>
            <p:cNvPr id="17" name="Rectangle 61"/>
            <p:cNvSpPr>
              <a:spLocks noChangeArrowheads="1"/>
            </p:cNvSpPr>
            <p:nvPr/>
          </p:nvSpPr>
          <p:spPr bwMode="auto">
            <a:xfrm>
              <a:off x="1734" y="2069"/>
              <a:ext cx="10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K</a:t>
              </a:r>
            </a:p>
          </p:txBody>
        </p:sp>
        <p:sp>
          <p:nvSpPr>
            <p:cNvPr id="18" name="Line 62"/>
            <p:cNvSpPr>
              <a:spLocks noChangeShapeType="1"/>
            </p:cNvSpPr>
            <p:nvPr/>
          </p:nvSpPr>
          <p:spPr bwMode="auto">
            <a:xfrm>
              <a:off x="389" y="2752"/>
              <a:ext cx="1025" cy="1"/>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Rectangle 64"/>
            <p:cNvSpPr>
              <a:spLocks noChangeArrowheads="1"/>
            </p:cNvSpPr>
            <p:nvPr/>
          </p:nvSpPr>
          <p:spPr bwMode="auto">
            <a:xfrm>
              <a:off x="630" y="2517"/>
              <a:ext cx="50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Process 2</a:t>
              </a:r>
            </a:p>
          </p:txBody>
        </p:sp>
        <p:sp>
          <p:nvSpPr>
            <p:cNvPr id="20" name="Line 65"/>
            <p:cNvSpPr>
              <a:spLocks noChangeShapeType="1"/>
            </p:cNvSpPr>
            <p:nvPr/>
          </p:nvSpPr>
          <p:spPr bwMode="auto">
            <a:xfrm>
              <a:off x="389" y="3245"/>
              <a:ext cx="1025" cy="1"/>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Rectangle 67"/>
            <p:cNvSpPr>
              <a:spLocks noChangeArrowheads="1"/>
            </p:cNvSpPr>
            <p:nvPr/>
          </p:nvSpPr>
          <p:spPr bwMode="auto">
            <a:xfrm>
              <a:off x="630" y="2966"/>
              <a:ext cx="50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Process 3</a:t>
              </a:r>
            </a:p>
          </p:txBody>
        </p:sp>
        <p:sp>
          <p:nvSpPr>
            <p:cNvPr id="22" name="Rectangle 69"/>
            <p:cNvSpPr>
              <a:spLocks noChangeArrowheads="1"/>
            </p:cNvSpPr>
            <p:nvPr/>
          </p:nvSpPr>
          <p:spPr bwMode="auto">
            <a:xfrm>
              <a:off x="1504" y="2473"/>
              <a:ext cx="22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224 </a:t>
              </a:r>
            </a:p>
          </p:txBody>
        </p:sp>
        <p:sp>
          <p:nvSpPr>
            <p:cNvPr id="23" name="Rectangle 70"/>
            <p:cNvSpPr>
              <a:spLocks noChangeArrowheads="1"/>
            </p:cNvSpPr>
            <p:nvPr/>
          </p:nvSpPr>
          <p:spPr bwMode="auto">
            <a:xfrm>
              <a:off x="1734" y="2473"/>
              <a:ext cx="10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K</a:t>
              </a:r>
            </a:p>
          </p:txBody>
        </p:sp>
        <p:sp>
          <p:nvSpPr>
            <p:cNvPr id="24" name="Rectangle 72"/>
            <p:cNvSpPr>
              <a:spLocks noChangeArrowheads="1"/>
            </p:cNvSpPr>
            <p:nvPr/>
          </p:nvSpPr>
          <p:spPr bwMode="auto">
            <a:xfrm>
              <a:off x="1504" y="2966"/>
              <a:ext cx="22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288 </a:t>
              </a:r>
            </a:p>
          </p:txBody>
        </p:sp>
        <p:sp>
          <p:nvSpPr>
            <p:cNvPr id="25" name="Rectangle 73"/>
            <p:cNvSpPr>
              <a:spLocks noChangeArrowheads="1"/>
            </p:cNvSpPr>
            <p:nvPr/>
          </p:nvSpPr>
          <p:spPr bwMode="auto">
            <a:xfrm>
              <a:off x="1734" y="2966"/>
              <a:ext cx="10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K</a:t>
              </a:r>
            </a:p>
          </p:txBody>
        </p:sp>
        <p:sp>
          <p:nvSpPr>
            <p:cNvPr id="26" name="Rectangle 75"/>
            <p:cNvSpPr>
              <a:spLocks noChangeArrowheads="1"/>
            </p:cNvSpPr>
            <p:nvPr/>
          </p:nvSpPr>
          <p:spPr bwMode="auto">
            <a:xfrm>
              <a:off x="1553" y="3369"/>
              <a:ext cx="16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64 </a:t>
              </a:r>
            </a:p>
          </p:txBody>
        </p:sp>
        <p:sp>
          <p:nvSpPr>
            <p:cNvPr id="27" name="Rectangle 76"/>
            <p:cNvSpPr>
              <a:spLocks noChangeArrowheads="1"/>
            </p:cNvSpPr>
            <p:nvPr/>
          </p:nvSpPr>
          <p:spPr bwMode="auto">
            <a:xfrm>
              <a:off x="1717" y="3369"/>
              <a:ext cx="10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K</a:t>
              </a:r>
            </a:p>
          </p:txBody>
        </p:sp>
      </p:grpSp>
      <p:grpSp>
        <p:nvGrpSpPr>
          <p:cNvPr id="28" name="Group 135"/>
          <p:cNvGrpSpPr>
            <a:grpSpLocks/>
          </p:cNvGrpSpPr>
          <p:nvPr/>
        </p:nvGrpSpPr>
        <p:grpSpPr bwMode="auto">
          <a:xfrm>
            <a:off x="3348038" y="1916832"/>
            <a:ext cx="2312987" cy="3124200"/>
            <a:chOff x="2109" y="1632"/>
            <a:chExt cx="1457" cy="1968"/>
          </a:xfrm>
        </p:grpSpPr>
        <p:sp>
          <p:nvSpPr>
            <p:cNvPr id="29" name="Rectangle 47"/>
            <p:cNvSpPr>
              <a:spLocks noChangeArrowheads="1"/>
            </p:cNvSpPr>
            <p:nvPr/>
          </p:nvSpPr>
          <p:spPr bwMode="auto">
            <a:xfrm>
              <a:off x="2109" y="2752"/>
              <a:ext cx="1034" cy="493"/>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0" name="Rectangle 48"/>
            <p:cNvSpPr>
              <a:spLocks noChangeArrowheads="1"/>
            </p:cNvSpPr>
            <p:nvPr/>
          </p:nvSpPr>
          <p:spPr bwMode="auto">
            <a:xfrm>
              <a:off x="2112" y="1632"/>
              <a:ext cx="1027" cy="762"/>
            </a:xfrm>
            <a:prstGeom prst="rect">
              <a:avLst/>
            </a:prstGeom>
            <a:solidFill>
              <a:srgbClr val="FFCCFF"/>
            </a:solidFill>
            <a:ln w="9525">
              <a:solidFill>
                <a:schemeClr val="tx1"/>
              </a:solidFill>
              <a:miter lim="800000"/>
              <a:headEnd/>
              <a:tailEnd/>
            </a:ln>
          </p:spPr>
          <p:txBody>
            <a:bodyPr/>
            <a:lstStyle/>
            <a:p>
              <a:endParaRPr lang="zh-CN" altLang="en-US"/>
            </a:p>
          </p:txBody>
        </p:sp>
        <p:sp>
          <p:nvSpPr>
            <p:cNvPr id="31" name="Rectangle 77"/>
            <p:cNvSpPr>
              <a:spLocks noChangeArrowheads="1"/>
            </p:cNvSpPr>
            <p:nvPr/>
          </p:nvSpPr>
          <p:spPr bwMode="auto">
            <a:xfrm>
              <a:off x="2112" y="1635"/>
              <a:ext cx="1027" cy="1965"/>
            </a:xfrm>
            <a:prstGeom prst="rect">
              <a:avLst/>
            </a:prstGeom>
            <a:noFill/>
            <a:ln w="14288">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2" name="Line 78"/>
            <p:cNvSpPr>
              <a:spLocks noChangeShapeType="1"/>
            </p:cNvSpPr>
            <p:nvPr/>
          </p:nvSpPr>
          <p:spPr bwMode="auto">
            <a:xfrm>
              <a:off x="2113" y="1991"/>
              <a:ext cx="1026" cy="1"/>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 name="Rectangle 80"/>
            <p:cNvSpPr>
              <a:spLocks noChangeArrowheads="1"/>
            </p:cNvSpPr>
            <p:nvPr/>
          </p:nvSpPr>
          <p:spPr bwMode="auto">
            <a:xfrm>
              <a:off x="2355" y="1666"/>
              <a:ext cx="56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Operating</a:t>
              </a:r>
            </a:p>
          </p:txBody>
        </p:sp>
        <p:sp>
          <p:nvSpPr>
            <p:cNvPr id="34" name="Rectangle 81"/>
            <p:cNvSpPr>
              <a:spLocks noChangeArrowheads="1"/>
            </p:cNvSpPr>
            <p:nvPr/>
          </p:nvSpPr>
          <p:spPr bwMode="auto">
            <a:xfrm>
              <a:off x="2355" y="1810"/>
              <a:ext cx="9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   </a:t>
              </a:r>
            </a:p>
          </p:txBody>
        </p:sp>
        <p:sp>
          <p:nvSpPr>
            <p:cNvPr id="35" name="Rectangle 82"/>
            <p:cNvSpPr>
              <a:spLocks noChangeArrowheads="1"/>
            </p:cNvSpPr>
            <p:nvPr/>
          </p:nvSpPr>
          <p:spPr bwMode="auto">
            <a:xfrm>
              <a:off x="2453" y="1810"/>
              <a:ext cx="39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System</a:t>
              </a:r>
            </a:p>
          </p:txBody>
        </p:sp>
        <p:sp>
          <p:nvSpPr>
            <p:cNvPr id="36" name="Line 83"/>
            <p:cNvSpPr>
              <a:spLocks noChangeShapeType="1"/>
            </p:cNvSpPr>
            <p:nvPr/>
          </p:nvSpPr>
          <p:spPr bwMode="auto">
            <a:xfrm>
              <a:off x="2113" y="2394"/>
              <a:ext cx="1026" cy="1"/>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 name="Rectangle 85"/>
            <p:cNvSpPr>
              <a:spLocks noChangeArrowheads="1"/>
            </p:cNvSpPr>
            <p:nvPr/>
          </p:nvSpPr>
          <p:spPr bwMode="auto">
            <a:xfrm>
              <a:off x="2355" y="2114"/>
              <a:ext cx="50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Process 1</a:t>
              </a:r>
            </a:p>
          </p:txBody>
        </p:sp>
        <p:sp>
          <p:nvSpPr>
            <p:cNvPr id="38" name="Rectangle 87"/>
            <p:cNvSpPr>
              <a:spLocks noChangeArrowheads="1"/>
            </p:cNvSpPr>
            <p:nvPr/>
          </p:nvSpPr>
          <p:spPr bwMode="auto">
            <a:xfrm>
              <a:off x="3237" y="2069"/>
              <a:ext cx="22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320 </a:t>
              </a:r>
            </a:p>
          </p:txBody>
        </p:sp>
        <p:sp>
          <p:nvSpPr>
            <p:cNvPr id="39" name="Rectangle 88"/>
            <p:cNvSpPr>
              <a:spLocks noChangeArrowheads="1"/>
            </p:cNvSpPr>
            <p:nvPr/>
          </p:nvSpPr>
          <p:spPr bwMode="auto">
            <a:xfrm>
              <a:off x="3466" y="2069"/>
              <a:ext cx="10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K</a:t>
              </a:r>
            </a:p>
          </p:txBody>
        </p:sp>
        <p:sp>
          <p:nvSpPr>
            <p:cNvPr id="40" name="Line 89"/>
            <p:cNvSpPr>
              <a:spLocks noChangeShapeType="1"/>
            </p:cNvSpPr>
            <p:nvPr/>
          </p:nvSpPr>
          <p:spPr bwMode="auto">
            <a:xfrm>
              <a:off x="2113" y="2752"/>
              <a:ext cx="1026" cy="1"/>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 name="Line 90"/>
            <p:cNvSpPr>
              <a:spLocks noChangeShapeType="1"/>
            </p:cNvSpPr>
            <p:nvPr/>
          </p:nvSpPr>
          <p:spPr bwMode="auto">
            <a:xfrm>
              <a:off x="2113" y="3245"/>
              <a:ext cx="1026" cy="1"/>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 name="Rectangle 92"/>
            <p:cNvSpPr>
              <a:spLocks noChangeArrowheads="1"/>
            </p:cNvSpPr>
            <p:nvPr/>
          </p:nvSpPr>
          <p:spPr bwMode="auto">
            <a:xfrm>
              <a:off x="2355" y="2966"/>
              <a:ext cx="50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Process 3</a:t>
              </a:r>
            </a:p>
          </p:txBody>
        </p:sp>
        <p:sp>
          <p:nvSpPr>
            <p:cNvPr id="43" name="Rectangle 94"/>
            <p:cNvSpPr>
              <a:spLocks noChangeArrowheads="1"/>
            </p:cNvSpPr>
            <p:nvPr/>
          </p:nvSpPr>
          <p:spPr bwMode="auto">
            <a:xfrm>
              <a:off x="3237" y="2473"/>
              <a:ext cx="22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224 </a:t>
              </a:r>
            </a:p>
          </p:txBody>
        </p:sp>
        <p:sp>
          <p:nvSpPr>
            <p:cNvPr id="44" name="Rectangle 95"/>
            <p:cNvSpPr>
              <a:spLocks noChangeArrowheads="1"/>
            </p:cNvSpPr>
            <p:nvPr/>
          </p:nvSpPr>
          <p:spPr bwMode="auto">
            <a:xfrm>
              <a:off x="3466" y="2473"/>
              <a:ext cx="10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K</a:t>
              </a:r>
            </a:p>
          </p:txBody>
        </p:sp>
        <p:sp>
          <p:nvSpPr>
            <p:cNvPr id="45" name="Rectangle 97"/>
            <p:cNvSpPr>
              <a:spLocks noChangeArrowheads="1"/>
            </p:cNvSpPr>
            <p:nvPr/>
          </p:nvSpPr>
          <p:spPr bwMode="auto">
            <a:xfrm>
              <a:off x="3237" y="2966"/>
              <a:ext cx="22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288 </a:t>
              </a:r>
            </a:p>
          </p:txBody>
        </p:sp>
        <p:sp>
          <p:nvSpPr>
            <p:cNvPr id="46" name="Rectangle 98"/>
            <p:cNvSpPr>
              <a:spLocks noChangeArrowheads="1"/>
            </p:cNvSpPr>
            <p:nvPr/>
          </p:nvSpPr>
          <p:spPr bwMode="auto">
            <a:xfrm>
              <a:off x="3466" y="2966"/>
              <a:ext cx="10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K</a:t>
              </a:r>
            </a:p>
          </p:txBody>
        </p:sp>
        <p:sp>
          <p:nvSpPr>
            <p:cNvPr id="47" name="Rectangle 100"/>
            <p:cNvSpPr>
              <a:spLocks noChangeArrowheads="1"/>
            </p:cNvSpPr>
            <p:nvPr/>
          </p:nvSpPr>
          <p:spPr bwMode="auto">
            <a:xfrm>
              <a:off x="3286" y="3369"/>
              <a:ext cx="16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64 </a:t>
              </a:r>
            </a:p>
          </p:txBody>
        </p:sp>
        <p:sp>
          <p:nvSpPr>
            <p:cNvPr id="48" name="Rectangle 101"/>
            <p:cNvSpPr>
              <a:spLocks noChangeArrowheads="1"/>
            </p:cNvSpPr>
            <p:nvPr/>
          </p:nvSpPr>
          <p:spPr bwMode="auto">
            <a:xfrm>
              <a:off x="3450" y="3369"/>
              <a:ext cx="10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K</a:t>
              </a:r>
            </a:p>
          </p:txBody>
        </p:sp>
      </p:grpSp>
      <p:grpSp>
        <p:nvGrpSpPr>
          <p:cNvPr id="49" name="Group 136"/>
          <p:cNvGrpSpPr>
            <a:grpSpLocks/>
          </p:cNvGrpSpPr>
          <p:nvPr/>
        </p:nvGrpSpPr>
        <p:grpSpPr bwMode="auto">
          <a:xfrm>
            <a:off x="6319838" y="1916832"/>
            <a:ext cx="2328862" cy="3124200"/>
            <a:chOff x="3981" y="1632"/>
            <a:chExt cx="1467" cy="1968"/>
          </a:xfrm>
        </p:grpSpPr>
        <p:sp>
          <p:nvSpPr>
            <p:cNvPr id="50" name="Rectangle 45"/>
            <p:cNvSpPr>
              <a:spLocks noChangeArrowheads="1"/>
            </p:cNvSpPr>
            <p:nvPr/>
          </p:nvSpPr>
          <p:spPr bwMode="auto">
            <a:xfrm>
              <a:off x="3981" y="2752"/>
              <a:ext cx="1035" cy="493"/>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1" name="Rectangle 46"/>
            <p:cNvSpPr>
              <a:spLocks noChangeArrowheads="1"/>
            </p:cNvSpPr>
            <p:nvPr/>
          </p:nvSpPr>
          <p:spPr bwMode="auto">
            <a:xfrm>
              <a:off x="3981" y="1632"/>
              <a:ext cx="1035" cy="986"/>
            </a:xfrm>
            <a:prstGeom prst="rect">
              <a:avLst/>
            </a:prstGeom>
            <a:solidFill>
              <a:srgbClr val="FFCCFF"/>
            </a:solidFill>
            <a:ln w="9525">
              <a:solidFill>
                <a:schemeClr val="tx1"/>
              </a:solidFill>
              <a:miter lim="800000"/>
              <a:headEnd/>
              <a:tailEnd/>
            </a:ln>
          </p:spPr>
          <p:txBody>
            <a:bodyPr/>
            <a:lstStyle/>
            <a:p>
              <a:endParaRPr lang="zh-CN" altLang="en-US"/>
            </a:p>
          </p:txBody>
        </p:sp>
        <p:sp>
          <p:nvSpPr>
            <p:cNvPr id="52" name="Rectangle 102"/>
            <p:cNvSpPr>
              <a:spLocks noChangeArrowheads="1"/>
            </p:cNvSpPr>
            <p:nvPr/>
          </p:nvSpPr>
          <p:spPr bwMode="auto">
            <a:xfrm>
              <a:off x="3985" y="1635"/>
              <a:ext cx="1026" cy="1965"/>
            </a:xfrm>
            <a:prstGeom prst="rect">
              <a:avLst/>
            </a:prstGeom>
            <a:noFill/>
            <a:ln w="14288">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3" name="Line 103"/>
            <p:cNvSpPr>
              <a:spLocks noChangeShapeType="1"/>
            </p:cNvSpPr>
            <p:nvPr/>
          </p:nvSpPr>
          <p:spPr bwMode="auto">
            <a:xfrm>
              <a:off x="3986" y="1991"/>
              <a:ext cx="1025" cy="1"/>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 name="Rectangle 105"/>
            <p:cNvSpPr>
              <a:spLocks noChangeArrowheads="1"/>
            </p:cNvSpPr>
            <p:nvPr/>
          </p:nvSpPr>
          <p:spPr bwMode="auto">
            <a:xfrm>
              <a:off x="4227" y="1666"/>
              <a:ext cx="56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Operating</a:t>
              </a:r>
            </a:p>
          </p:txBody>
        </p:sp>
        <p:sp>
          <p:nvSpPr>
            <p:cNvPr id="55" name="Rectangle 106"/>
            <p:cNvSpPr>
              <a:spLocks noChangeArrowheads="1"/>
            </p:cNvSpPr>
            <p:nvPr/>
          </p:nvSpPr>
          <p:spPr bwMode="auto">
            <a:xfrm>
              <a:off x="4227" y="1810"/>
              <a:ext cx="9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   </a:t>
              </a:r>
            </a:p>
          </p:txBody>
        </p:sp>
        <p:sp>
          <p:nvSpPr>
            <p:cNvPr id="56" name="Rectangle 107"/>
            <p:cNvSpPr>
              <a:spLocks noChangeArrowheads="1"/>
            </p:cNvSpPr>
            <p:nvPr/>
          </p:nvSpPr>
          <p:spPr bwMode="auto">
            <a:xfrm>
              <a:off x="4325" y="1810"/>
              <a:ext cx="39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System</a:t>
              </a:r>
            </a:p>
          </p:txBody>
        </p:sp>
        <p:sp>
          <p:nvSpPr>
            <p:cNvPr id="57" name="Line 108"/>
            <p:cNvSpPr>
              <a:spLocks noChangeShapeType="1"/>
            </p:cNvSpPr>
            <p:nvPr/>
          </p:nvSpPr>
          <p:spPr bwMode="auto">
            <a:xfrm>
              <a:off x="3986" y="2394"/>
              <a:ext cx="1025" cy="1"/>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 name="Rectangle 110"/>
            <p:cNvSpPr>
              <a:spLocks noChangeArrowheads="1"/>
            </p:cNvSpPr>
            <p:nvPr/>
          </p:nvSpPr>
          <p:spPr bwMode="auto">
            <a:xfrm>
              <a:off x="4227" y="2114"/>
              <a:ext cx="50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Process 1</a:t>
              </a:r>
            </a:p>
          </p:txBody>
        </p:sp>
        <p:sp>
          <p:nvSpPr>
            <p:cNvPr id="59" name="Rectangle 112"/>
            <p:cNvSpPr>
              <a:spLocks noChangeArrowheads="1"/>
            </p:cNvSpPr>
            <p:nvPr/>
          </p:nvSpPr>
          <p:spPr bwMode="auto">
            <a:xfrm>
              <a:off x="5118" y="2069"/>
              <a:ext cx="22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320 </a:t>
              </a:r>
            </a:p>
          </p:txBody>
        </p:sp>
        <p:sp>
          <p:nvSpPr>
            <p:cNvPr id="60" name="Rectangle 113"/>
            <p:cNvSpPr>
              <a:spLocks noChangeArrowheads="1"/>
            </p:cNvSpPr>
            <p:nvPr/>
          </p:nvSpPr>
          <p:spPr bwMode="auto">
            <a:xfrm>
              <a:off x="5348" y="2069"/>
              <a:ext cx="10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K</a:t>
              </a:r>
            </a:p>
          </p:txBody>
        </p:sp>
        <p:sp>
          <p:nvSpPr>
            <p:cNvPr id="61" name="Line 114"/>
            <p:cNvSpPr>
              <a:spLocks noChangeShapeType="1"/>
            </p:cNvSpPr>
            <p:nvPr/>
          </p:nvSpPr>
          <p:spPr bwMode="auto">
            <a:xfrm>
              <a:off x="3986" y="2752"/>
              <a:ext cx="1025" cy="1"/>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 name="Line 115"/>
            <p:cNvSpPr>
              <a:spLocks noChangeShapeType="1"/>
            </p:cNvSpPr>
            <p:nvPr/>
          </p:nvSpPr>
          <p:spPr bwMode="auto">
            <a:xfrm>
              <a:off x="3986" y="3245"/>
              <a:ext cx="1025" cy="1"/>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 name="Rectangle 117"/>
            <p:cNvSpPr>
              <a:spLocks noChangeArrowheads="1"/>
            </p:cNvSpPr>
            <p:nvPr/>
          </p:nvSpPr>
          <p:spPr bwMode="auto">
            <a:xfrm>
              <a:off x="4227" y="2966"/>
              <a:ext cx="50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Process 3</a:t>
              </a:r>
            </a:p>
          </p:txBody>
        </p:sp>
        <p:sp>
          <p:nvSpPr>
            <p:cNvPr id="64" name="Rectangle 119"/>
            <p:cNvSpPr>
              <a:spLocks noChangeArrowheads="1"/>
            </p:cNvSpPr>
            <p:nvPr/>
          </p:nvSpPr>
          <p:spPr bwMode="auto">
            <a:xfrm>
              <a:off x="5118" y="2966"/>
              <a:ext cx="22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288 </a:t>
              </a:r>
            </a:p>
          </p:txBody>
        </p:sp>
        <p:sp>
          <p:nvSpPr>
            <p:cNvPr id="65" name="Rectangle 120"/>
            <p:cNvSpPr>
              <a:spLocks noChangeArrowheads="1"/>
            </p:cNvSpPr>
            <p:nvPr/>
          </p:nvSpPr>
          <p:spPr bwMode="auto">
            <a:xfrm>
              <a:off x="5348" y="2966"/>
              <a:ext cx="10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K</a:t>
              </a:r>
            </a:p>
          </p:txBody>
        </p:sp>
        <p:sp>
          <p:nvSpPr>
            <p:cNvPr id="66" name="Rectangle 122"/>
            <p:cNvSpPr>
              <a:spLocks noChangeArrowheads="1"/>
            </p:cNvSpPr>
            <p:nvPr/>
          </p:nvSpPr>
          <p:spPr bwMode="auto">
            <a:xfrm>
              <a:off x="5167" y="3369"/>
              <a:ext cx="16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64 </a:t>
              </a:r>
            </a:p>
          </p:txBody>
        </p:sp>
        <p:sp>
          <p:nvSpPr>
            <p:cNvPr id="67" name="Rectangle 123"/>
            <p:cNvSpPr>
              <a:spLocks noChangeArrowheads="1"/>
            </p:cNvSpPr>
            <p:nvPr/>
          </p:nvSpPr>
          <p:spPr bwMode="auto">
            <a:xfrm>
              <a:off x="5331" y="3369"/>
              <a:ext cx="10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K</a:t>
              </a:r>
            </a:p>
          </p:txBody>
        </p:sp>
        <p:sp>
          <p:nvSpPr>
            <p:cNvPr id="68" name="Line 124"/>
            <p:cNvSpPr>
              <a:spLocks noChangeShapeType="1"/>
            </p:cNvSpPr>
            <p:nvPr/>
          </p:nvSpPr>
          <p:spPr bwMode="auto">
            <a:xfrm>
              <a:off x="3986" y="2618"/>
              <a:ext cx="1025" cy="1"/>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 name="Rectangle 126"/>
            <p:cNvSpPr>
              <a:spLocks noChangeArrowheads="1"/>
            </p:cNvSpPr>
            <p:nvPr/>
          </p:nvSpPr>
          <p:spPr bwMode="auto">
            <a:xfrm>
              <a:off x="4219" y="2438"/>
              <a:ext cx="50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Process 4</a:t>
              </a:r>
            </a:p>
          </p:txBody>
        </p:sp>
        <p:sp>
          <p:nvSpPr>
            <p:cNvPr id="70" name="Rectangle 128"/>
            <p:cNvSpPr>
              <a:spLocks noChangeArrowheads="1"/>
            </p:cNvSpPr>
            <p:nvPr/>
          </p:nvSpPr>
          <p:spPr bwMode="auto">
            <a:xfrm>
              <a:off x="5118" y="2427"/>
              <a:ext cx="22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128 </a:t>
              </a:r>
            </a:p>
          </p:txBody>
        </p:sp>
        <p:sp>
          <p:nvSpPr>
            <p:cNvPr id="71" name="Rectangle 129"/>
            <p:cNvSpPr>
              <a:spLocks noChangeArrowheads="1"/>
            </p:cNvSpPr>
            <p:nvPr/>
          </p:nvSpPr>
          <p:spPr bwMode="auto">
            <a:xfrm>
              <a:off x="5348" y="2427"/>
              <a:ext cx="10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K</a:t>
              </a:r>
            </a:p>
          </p:txBody>
        </p:sp>
        <p:sp>
          <p:nvSpPr>
            <p:cNvPr id="72" name="Rectangle 131"/>
            <p:cNvSpPr>
              <a:spLocks noChangeArrowheads="1"/>
            </p:cNvSpPr>
            <p:nvPr/>
          </p:nvSpPr>
          <p:spPr bwMode="auto">
            <a:xfrm>
              <a:off x="5167" y="2607"/>
              <a:ext cx="16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96 </a:t>
              </a:r>
            </a:p>
          </p:txBody>
        </p:sp>
        <p:sp>
          <p:nvSpPr>
            <p:cNvPr id="73" name="Rectangle 132"/>
            <p:cNvSpPr>
              <a:spLocks noChangeArrowheads="1"/>
            </p:cNvSpPr>
            <p:nvPr/>
          </p:nvSpPr>
          <p:spPr bwMode="auto">
            <a:xfrm>
              <a:off x="5331" y="2607"/>
              <a:ext cx="10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K</a:t>
              </a:r>
            </a:p>
          </p:txBody>
        </p:sp>
      </p:grpSp>
    </p:spTree>
    <p:extLst>
      <p:ext uri="{BB962C8B-B14F-4D97-AF65-F5344CB8AC3E}">
        <p14:creationId xmlns:p14="http://schemas.microsoft.com/office/powerpoint/2010/main" val="4159104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wipe(up)">
                                      <p:cBhvr>
                                        <p:cTn id="12" dur="5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49"/>
                                        </p:tgtEl>
                                        <p:attrNameLst>
                                          <p:attrName>style.visibility</p:attrName>
                                        </p:attrNameLst>
                                      </p:cBhvr>
                                      <p:to>
                                        <p:strVal val="visible"/>
                                      </p:to>
                                    </p:set>
                                    <p:animEffect transition="in" filter="wipe(up)">
                                      <p:cBhvr>
                                        <p:cTn id="17"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动态分区分配算法</a:t>
            </a:r>
          </a:p>
        </p:txBody>
      </p:sp>
      <p:sp>
        <p:nvSpPr>
          <p:cNvPr id="4" name="Date Placeholder 3"/>
          <p:cNvSpPr>
            <a:spLocks noGrp="1"/>
          </p:cNvSpPr>
          <p:nvPr>
            <p:ph type="dt" sz="half" idx="10"/>
          </p:nvPr>
        </p:nvSpPr>
        <p:spPr/>
        <p:txBody>
          <a:bodyPr/>
          <a:lstStyle/>
          <a:p>
            <a:fld id="{523CBD04-BEC1-4600-A0D1-F63D42012A32}"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40</a:t>
            </a:fld>
            <a:endParaRPr lang="zh-CN" altLang="en-US" dirty="0"/>
          </a:p>
        </p:txBody>
      </p:sp>
      <p:grpSp>
        <p:nvGrpSpPr>
          <p:cNvPr id="7" name="Group 142"/>
          <p:cNvGrpSpPr>
            <a:grpSpLocks/>
          </p:cNvGrpSpPr>
          <p:nvPr/>
        </p:nvGrpSpPr>
        <p:grpSpPr bwMode="auto">
          <a:xfrm>
            <a:off x="1600200" y="1916832"/>
            <a:ext cx="2438400" cy="3149600"/>
            <a:chOff x="1008" y="1536"/>
            <a:chExt cx="1536" cy="1984"/>
          </a:xfrm>
        </p:grpSpPr>
        <p:sp>
          <p:nvSpPr>
            <p:cNvPr id="8" name="Rectangle 71"/>
            <p:cNvSpPr>
              <a:spLocks noChangeArrowheads="1"/>
            </p:cNvSpPr>
            <p:nvPr/>
          </p:nvSpPr>
          <p:spPr bwMode="auto">
            <a:xfrm>
              <a:off x="1008" y="1536"/>
              <a:ext cx="1116" cy="361"/>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 name="Rectangle 75"/>
            <p:cNvSpPr>
              <a:spLocks noChangeArrowheads="1"/>
            </p:cNvSpPr>
            <p:nvPr/>
          </p:nvSpPr>
          <p:spPr bwMode="auto">
            <a:xfrm>
              <a:off x="1008" y="2665"/>
              <a:ext cx="1111" cy="498"/>
            </a:xfrm>
            <a:prstGeom prst="rect">
              <a:avLst/>
            </a:prstGeom>
            <a:solidFill>
              <a:srgbClr val="FFCCFF"/>
            </a:solidFill>
            <a:ln w="9525">
              <a:solidFill>
                <a:srgbClr val="3333FF"/>
              </a:solidFill>
              <a:miter lim="800000"/>
              <a:headEnd/>
              <a:tailEnd/>
            </a:ln>
          </p:spPr>
          <p:txBody>
            <a:bodyPr/>
            <a:lstStyle/>
            <a:p>
              <a:endParaRPr lang="zh-CN" altLang="en-US"/>
            </a:p>
          </p:txBody>
        </p:sp>
        <p:sp>
          <p:nvSpPr>
            <p:cNvPr id="10" name="Rectangle 76"/>
            <p:cNvSpPr>
              <a:spLocks noChangeArrowheads="1"/>
            </p:cNvSpPr>
            <p:nvPr/>
          </p:nvSpPr>
          <p:spPr bwMode="auto">
            <a:xfrm>
              <a:off x="1008" y="2304"/>
              <a:ext cx="1111" cy="224"/>
            </a:xfrm>
            <a:prstGeom prst="rect">
              <a:avLst/>
            </a:prstGeom>
            <a:solidFill>
              <a:srgbClr val="FFCCFF"/>
            </a:solidFill>
            <a:ln w="9525">
              <a:solidFill>
                <a:schemeClr val="tx1"/>
              </a:solidFill>
              <a:miter lim="800000"/>
              <a:headEnd/>
              <a:tailEnd/>
            </a:ln>
          </p:spPr>
          <p:txBody>
            <a:bodyPr/>
            <a:lstStyle/>
            <a:p>
              <a:endParaRPr lang="zh-CN" altLang="en-US"/>
            </a:p>
          </p:txBody>
        </p:sp>
        <p:sp>
          <p:nvSpPr>
            <p:cNvPr id="11" name="Rectangle 77"/>
            <p:cNvSpPr>
              <a:spLocks noChangeArrowheads="1"/>
            </p:cNvSpPr>
            <p:nvPr/>
          </p:nvSpPr>
          <p:spPr bwMode="auto">
            <a:xfrm>
              <a:off x="1012" y="1540"/>
              <a:ext cx="1107" cy="1980"/>
            </a:xfrm>
            <a:prstGeom prst="rect">
              <a:avLst/>
            </a:prstGeom>
            <a:noFill/>
            <a:ln w="158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2" name="Line 78"/>
            <p:cNvSpPr>
              <a:spLocks noChangeShapeType="1"/>
            </p:cNvSpPr>
            <p:nvPr/>
          </p:nvSpPr>
          <p:spPr bwMode="auto">
            <a:xfrm>
              <a:off x="1013" y="1897"/>
              <a:ext cx="1106" cy="1"/>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 name="Rectangle 80"/>
            <p:cNvSpPr>
              <a:spLocks noChangeArrowheads="1"/>
            </p:cNvSpPr>
            <p:nvPr/>
          </p:nvSpPr>
          <p:spPr bwMode="auto">
            <a:xfrm>
              <a:off x="1273" y="1571"/>
              <a:ext cx="56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Operating</a:t>
              </a:r>
            </a:p>
          </p:txBody>
        </p:sp>
        <p:sp>
          <p:nvSpPr>
            <p:cNvPr id="14" name="Rectangle 81"/>
            <p:cNvSpPr>
              <a:spLocks noChangeArrowheads="1"/>
            </p:cNvSpPr>
            <p:nvPr/>
          </p:nvSpPr>
          <p:spPr bwMode="auto">
            <a:xfrm>
              <a:off x="1273" y="1716"/>
              <a:ext cx="9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   </a:t>
              </a:r>
            </a:p>
          </p:txBody>
        </p:sp>
        <p:sp>
          <p:nvSpPr>
            <p:cNvPr id="15" name="Rectangle 82"/>
            <p:cNvSpPr>
              <a:spLocks noChangeArrowheads="1"/>
            </p:cNvSpPr>
            <p:nvPr/>
          </p:nvSpPr>
          <p:spPr bwMode="auto">
            <a:xfrm>
              <a:off x="1380" y="1716"/>
              <a:ext cx="39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System</a:t>
              </a:r>
            </a:p>
          </p:txBody>
        </p:sp>
        <p:sp>
          <p:nvSpPr>
            <p:cNvPr id="16" name="Line 83"/>
            <p:cNvSpPr>
              <a:spLocks noChangeShapeType="1"/>
            </p:cNvSpPr>
            <p:nvPr/>
          </p:nvSpPr>
          <p:spPr bwMode="auto">
            <a:xfrm>
              <a:off x="1013" y="2304"/>
              <a:ext cx="1106" cy="1"/>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Rectangle 85"/>
            <p:cNvSpPr>
              <a:spLocks noChangeArrowheads="1"/>
            </p:cNvSpPr>
            <p:nvPr/>
          </p:nvSpPr>
          <p:spPr bwMode="auto">
            <a:xfrm>
              <a:off x="2196" y="1978"/>
              <a:ext cx="22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320 </a:t>
              </a:r>
            </a:p>
          </p:txBody>
        </p:sp>
        <p:sp>
          <p:nvSpPr>
            <p:cNvPr id="18" name="Rectangle 86"/>
            <p:cNvSpPr>
              <a:spLocks noChangeArrowheads="1"/>
            </p:cNvSpPr>
            <p:nvPr/>
          </p:nvSpPr>
          <p:spPr bwMode="auto">
            <a:xfrm>
              <a:off x="2444" y="1978"/>
              <a:ext cx="10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K</a:t>
              </a:r>
            </a:p>
          </p:txBody>
        </p:sp>
        <p:sp>
          <p:nvSpPr>
            <p:cNvPr id="19" name="Line 87"/>
            <p:cNvSpPr>
              <a:spLocks noChangeShapeType="1"/>
            </p:cNvSpPr>
            <p:nvPr/>
          </p:nvSpPr>
          <p:spPr bwMode="auto">
            <a:xfrm>
              <a:off x="1013" y="2665"/>
              <a:ext cx="1106" cy="1"/>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Line 88"/>
            <p:cNvSpPr>
              <a:spLocks noChangeShapeType="1"/>
            </p:cNvSpPr>
            <p:nvPr/>
          </p:nvSpPr>
          <p:spPr bwMode="auto">
            <a:xfrm>
              <a:off x="1013" y="3163"/>
              <a:ext cx="1106"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Rectangle 90"/>
            <p:cNvSpPr>
              <a:spLocks noChangeArrowheads="1"/>
            </p:cNvSpPr>
            <p:nvPr/>
          </p:nvSpPr>
          <p:spPr bwMode="auto">
            <a:xfrm>
              <a:off x="1273" y="2839"/>
              <a:ext cx="50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Process 3</a:t>
              </a:r>
            </a:p>
          </p:txBody>
        </p:sp>
        <p:sp>
          <p:nvSpPr>
            <p:cNvPr id="22" name="Rectangle 92"/>
            <p:cNvSpPr>
              <a:spLocks noChangeArrowheads="1"/>
            </p:cNvSpPr>
            <p:nvPr/>
          </p:nvSpPr>
          <p:spPr bwMode="auto">
            <a:xfrm>
              <a:off x="2196" y="2882"/>
              <a:ext cx="22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288 </a:t>
              </a:r>
            </a:p>
          </p:txBody>
        </p:sp>
        <p:sp>
          <p:nvSpPr>
            <p:cNvPr id="23" name="Rectangle 93"/>
            <p:cNvSpPr>
              <a:spLocks noChangeArrowheads="1"/>
            </p:cNvSpPr>
            <p:nvPr/>
          </p:nvSpPr>
          <p:spPr bwMode="auto">
            <a:xfrm>
              <a:off x="2444" y="2882"/>
              <a:ext cx="10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K</a:t>
              </a:r>
            </a:p>
          </p:txBody>
        </p:sp>
        <p:sp>
          <p:nvSpPr>
            <p:cNvPr id="24" name="Rectangle 95"/>
            <p:cNvSpPr>
              <a:spLocks noChangeArrowheads="1"/>
            </p:cNvSpPr>
            <p:nvPr/>
          </p:nvSpPr>
          <p:spPr bwMode="auto">
            <a:xfrm>
              <a:off x="2249" y="3290"/>
              <a:ext cx="16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64 </a:t>
              </a:r>
            </a:p>
          </p:txBody>
        </p:sp>
        <p:sp>
          <p:nvSpPr>
            <p:cNvPr id="25" name="Rectangle 96"/>
            <p:cNvSpPr>
              <a:spLocks noChangeArrowheads="1"/>
            </p:cNvSpPr>
            <p:nvPr/>
          </p:nvSpPr>
          <p:spPr bwMode="auto">
            <a:xfrm>
              <a:off x="2426" y="3290"/>
              <a:ext cx="10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K</a:t>
              </a:r>
            </a:p>
          </p:txBody>
        </p:sp>
        <p:sp>
          <p:nvSpPr>
            <p:cNvPr id="26" name="Line 97"/>
            <p:cNvSpPr>
              <a:spLocks noChangeShapeType="1"/>
            </p:cNvSpPr>
            <p:nvPr/>
          </p:nvSpPr>
          <p:spPr bwMode="auto">
            <a:xfrm>
              <a:off x="1013" y="2529"/>
              <a:ext cx="1106" cy="1"/>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 name="Rectangle 98"/>
            <p:cNvSpPr>
              <a:spLocks noChangeArrowheads="1"/>
            </p:cNvSpPr>
            <p:nvPr/>
          </p:nvSpPr>
          <p:spPr bwMode="auto">
            <a:xfrm>
              <a:off x="1326" y="2348"/>
              <a:ext cx="50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Process 4</a:t>
              </a:r>
            </a:p>
          </p:txBody>
        </p:sp>
        <p:sp>
          <p:nvSpPr>
            <p:cNvPr id="28" name="Rectangle 100"/>
            <p:cNvSpPr>
              <a:spLocks noChangeArrowheads="1"/>
            </p:cNvSpPr>
            <p:nvPr/>
          </p:nvSpPr>
          <p:spPr bwMode="auto">
            <a:xfrm>
              <a:off x="2196" y="2340"/>
              <a:ext cx="22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128 </a:t>
              </a:r>
            </a:p>
          </p:txBody>
        </p:sp>
        <p:sp>
          <p:nvSpPr>
            <p:cNvPr id="29" name="Rectangle 101"/>
            <p:cNvSpPr>
              <a:spLocks noChangeArrowheads="1"/>
            </p:cNvSpPr>
            <p:nvPr/>
          </p:nvSpPr>
          <p:spPr bwMode="auto">
            <a:xfrm>
              <a:off x="2444" y="2340"/>
              <a:ext cx="10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K</a:t>
              </a:r>
            </a:p>
          </p:txBody>
        </p:sp>
        <p:sp>
          <p:nvSpPr>
            <p:cNvPr id="30" name="Rectangle 103"/>
            <p:cNvSpPr>
              <a:spLocks noChangeArrowheads="1"/>
            </p:cNvSpPr>
            <p:nvPr/>
          </p:nvSpPr>
          <p:spPr bwMode="auto">
            <a:xfrm>
              <a:off x="2249" y="2521"/>
              <a:ext cx="16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96 </a:t>
              </a:r>
            </a:p>
          </p:txBody>
        </p:sp>
        <p:sp>
          <p:nvSpPr>
            <p:cNvPr id="31" name="Rectangle 104"/>
            <p:cNvSpPr>
              <a:spLocks noChangeArrowheads="1"/>
            </p:cNvSpPr>
            <p:nvPr/>
          </p:nvSpPr>
          <p:spPr bwMode="auto">
            <a:xfrm>
              <a:off x="2426" y="2521"/>
              <a:ext cx="10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K</a:t>
              </a:r>
            </a:p>
          </p:txBody>
        </p:sp>
      </p:grpSp>
      <p:grpSp>
        <p:nvGrpSpPr>
          <p:cNvPr id="32" name="Group 143"/>
          <p:cNvGrpSpPr>
            <a:grpSpLocks/>
          </p:cNvGrpSpPr>
          <p:nvPr/>
        </p:nvGrpSpPr>
        <p:grpSpPr bwMode="auto">
          <a:xfrm>
            <a:off x="4973638" y="1916832"/>
            <a:ext cx="2563812" cy="3149600"/>
            <a:chOff x="3133" y="1536"/>
            <a:chExt cx="1615" cy="1984"/>
          </a:xfrm>
        </p:grpSpPr>
        <p:sp>
          <p:nvSpPr>
            <p:cNvPr id="33" name="Rectangle 72"/>
            <p:cNvSpPr>
              <a:spLocks noChangeArrowheads="1"/>
            </p:cNvSpPr>
            <p:nvPr/>
          </p:nvSpPr>
          <p:spPr bwMode="auto">
            <a:xfrm>
              <a:off x="3133" y="2665"/>
              <a:ext cx="1115" cy="498"/>
            </a:xfrm>
            <a:prstGeom prst="rect">
              <a:avLst/>
            </a:prstGeom>
            <a:solidFill>
              <a:srgbClr val="FFCCFF"/>
            </a:solidFill>
            <a:ln w="9525">
              <a:solidFill>
                <a:schemeClr val="tx1"/>
              </a:solidFill>
              <a:miter lim="800000"/>
              <a:headEnd/>
              <a:tailEnd/>
            </a:ln>
          </p:spPr>
          <p:txBody>
            <a:bodyPr/>
            <a:lstStyle/>
            <a:p>
              <a:endParaRPr lang="zh-CN" altLang="en-US"/>
            </a:p>
          </p:txBody>
        </p:sp>
        <p:sp>
          <p:nvSpPr>
            <p:cNvPr id="34" name="Rectangle 73"/>
            <p:cNvSpPr>
              <a:spLocks noChangeArrowheads="1"/>
            </p:cNvSpPr>
            <p:nvPr/>
          </p:nvSpPr>
          <p:spPr bwMode="auto">
            <a:xfrm>
              <a:off x="3133" y="2304"/>
              <a:ext cx="1117" cy="225"/>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5" name="Rectangle 74"/>
            <p:cNvSpPr>
              <a:spLocks noChangeArrowheads="1"/>
            </p:cNvSpPr>
            <p:nvPr/>
          </p:nvSpPr>
          <p:spPr bwMode="auto">
            <a:xfrm>
              <a:off x="3133" y="1536"/>
              <a:ext cx="1117" cy="632"/>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6" name="Rectangle 105"/>
            <p:cNvSpPr>
              <a:spLocks noChangeArrowheads="1"/>
            </p:cNvSpPr>
            <p:nvPr/>
          </p:nvSpPr>
          <p:spPr bwMode="auto">
            <a:xfrm>
              <a:off x="3138" y="1540"/>
              <a:ext cx="1108" cy="1980"/>
            </a:xfrm>
            <a:prstGeom prst="rect">
              <a:avLst/>
            </a:prstGeom>
            <a:noFill/>
            <a:ln w="158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7" name="Line 106"/>
            <p:cNvSpPr>
              <a:spLocks noChangeShapeType="1"/>
            </p:cNvSpPr>
            <p:nvPr/>
          </p:nvSpPr>
          <p:spPr bwMode="auto">
            <a:xfrm>
              <a:off x="3139" y="1897"/>
              <a:ext cx="1107" cy="1"/>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 name="Rectangle 108"/>
            <p:cNvSpPr>
              <a:spLocks noChangeArrowheads="1"/>
            </p:cNvSpPr>
            <p:nvPr/>
          </p:nvSpPr>
          <p:spPr bwMode="auto">
            <a:xfrm>
              <a:off x="3399" y="1571"/>
              <a:ext cx="56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Operating</a:t>
              </a:r>
            </a:p>
          </p:txBody>
        </p:sp>
        <p:sp>
          <p:nvSpPr>
            <p:cNvPr id="39" name="Rectangle 109"/>
            <p:cNvSpPr>
              <a:spLocks noChangeArrowheads="1"/>
            </p:cNvSpPr>
            <p:nvPr/>
          </p:nvSpPr>
          <p:spPr bwMode="auto">
            <a:xfrm>
              <a:off x="3399" y="1716"/>
              <a:ext cx="9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   </a:t>
              </a:r>
            </a:p>
          </p:txBody>
        </p:sp>
        <p:sp>
          <p:nvSpPr>
            <p:cNvPr id="40" name="Rectangle 110"/>
            <p:cNvSpPr>
              <a:spLocks noChangeArrowheads="1"/>
            </p:cNvSpPr>
            <p:nvPr/>
          </p:nvSpPr>
          <p:spPr bwMode="auto">
            <a:xfrm>
              <a:off x="3506" y="1716"/>
              <a:ext cx="39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System</a:t>
              </a:r>
            </a:p>
          </p:txBody>
        </p:sp>
        <p:sp>
          <p:nvSpPr>
            <p:cNvPr id="41" name="Line 111"/>
            <p:cNvSpPr>
              <a:spLocks noChangeShapeType="1"/>
            </p:cNvSpPr>
            <p:nvPr/>
          </p:nvSpPr>
          <p:spPr bwMode="auto">
            <a:xfrm>
              <a:off x="3139" y="2304"/>
              <a:ext cx="1107" cy="1"/>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 name="Line 112"/>
            <p:cNvSpPr>
              <a:spLocks noChangeShapeType="1"/>
            </p:cNvSpPr>
            <p:nvPr/>
          </p:nvSpPr>
          <p:spPr bwMode="auto">
            <a:xfrm>
              <a:off x="3139" y="2665"/>
              <a:ext cx="1107" cy="1"/>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 name="Line 113"/>
            <p:cNvSpPr>
              <a:spLocks noChangeShapeType="1"/>
            </p:cNvSpPr>
            <p:nvPr/>
          </p:nvSpPr>
          <p:spPr bwMode="auto">
            <a:xfrm>
              <a:off x="3139" y="3163"/>
              <a:ext cx="110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 name="Rectangle 115"/>
            <p:cNvSpPr>
              <a:spLocks noChangeArrowheads="1"/>
            </p:cNvSpPr>
            <p:nvPr/>
          </p:nvSpPr>
          <p:spPr bwMode="auto">
            <a:xfrm>
              <a:off x="3399" y="2839"/>
              <a:ext cx="50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Process 3</a:t>
              </a:r>
            </a:p>
          </p:txBody>
        </p:sp>
        <p:sp>
          <p:nvSpPr>
            <p:cNvPr id="45" name="Rectangle 117"/>
            <p:cNvSpPr>
              <a:spLocks noChangeArrowheads="1"/>
            </p:cNvSpPr>
            <p:nvPr/>
          </p:nvSpPr>
          <p:spPr bwMode="auto">
            <a:xfrm>
              <a:off x="4334" y="2860"/>
              <a:ext cx="22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288 </a:t>
              </a:r>
            </a:p>
          </p:txBody>
        </p:sp>
        <p:sp>
          <p:nvSpPr>
            <p:cNvPr id="46" name="Rectangle 118"/>
            <p:cNvSpPr>
              <a:spLocks noChangeArrowheads="1"/>
            </p:cNvSpPr>
            <p:nvPr/>
          </p:nvSpPr>
          <p:spPr bwMode="auto">
            <a:xfrm>
              <a:off x="4583" y="2860"/>
              <a:ext cx="10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K</a:t>
              </a:r>
            </a:p>
          </p:txBody>
        </p:sp>
        <p:sp>
          <p:nvSpPr>
            <p:cNvPr id="47" name="Rectangle 120"/>
            <p:cNvSpPr>
              <a:spLocks noChangeArrowheads="1"/>
            </p:cNvSpPr>
            <p:nvPr/>
          </p:nvSpPr>
          <p:spPr bwMode="auto">
            <a:xfrm>
              <a:off x="4388" y="3268"/>
              <a:ext cx="16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64 </a:t>
              </a:r>
            </a:p>
          </p:txBody>
        </p:sp>
        <p:sp>
          <p:nvSpPr>
            <p:cNvPr id="48" name="Rectangle 121"/>
            <p:cNvSpPr>
              <a:spLocks noChangeArrowheads="1"/>
            </p:cNvSpPr>
            <p:nvPr/>
          </p:nvSpPr>
          <p:spPr bwMode="auto">
            <a:xfrm>
              <a:off x="4566" y="3268"/>
              <a:ext cx="10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K</a:t>
              </a:r>
            </a:p>
          </p:txBody>
        </p:sp>
        <p:sp>
          <p:nvSpPr>
            <p:cNvPr id="49" name="Line 122"/>
            <p:cNvSpPr>
              <a:spLocks noChangeShapeType="1"/>
            </p:cNvSpPr>
            <p:nvPr/>
          </p:nvSpPr>
          <p:spPr bwMode="auto">
            <a:xfrm>
              <a:off x="3139" y="2529"/>
              <a:ext cx="1107" cy="1"/>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 name="Rectangle 123"/>
            <p:cNvSpPr>
              <a:spLocks noChangeArrowheads="1"/>
            </p:cNvSpPr>
            <p:nvPr/>
          </p:nvSpPr>
          <p:spPr bwMode="auto">
            <a:xfrm>
              <a:off x="3389" y="2349"/>
              <a:ext cx="667"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1" name="Rectangle 124"/>
            <p:cNvSpPr>
              <a:spLocks noChangeArrowheads="1"/>
            </p:cNvSpPr>
            <p:nvPr/>
          </p:nvSpPr>
          <p:spPr bwMode="auto">
            <a:xfrm>
              <a:off x="3418" y="2339"/>
              <a:ext cx="50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Process 4</a:t>
              </a:r>
            </a:p>
          </p:txBody>
        </p:sp>
        <p:sp>
          <p:nvSpPr>
            <p:cNvPr id="52" name="Rectangle 125"/>
            <p:cNvSpPr>
              <a:spLocks noChangeArrowheads="1"/>
            </p:cNvSpPr>
            <p:nvPr/>
          </p:nvSpPr>
          <p:spPr bwMode="auto">
            <a:xfrm>
              <a:off x="4272" y="2282"/>
              <a:ext cx="476"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3" name="Rectangle 126"/>
            <p:cNvSpPr>
              <a:spLocks noChangeArrowheads="1"/>
            </p:cNvSpPr>
            <p:nvPr/>
          </p:nvSpPr>
          <p:spPr bwMode="auto">
            <a:xfrm>
              <a:off x="4334" y="2318"/>
              <a:ext cx="22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128 </a:t>
              </a:r>
            </a:p>
          </p:txBody>
        </p:sp>
        <p:sp>
          <p:nvSpPr>
            <p:cNvPr id="54" name="Rectangle 127"/>
            <p:cNvSpPr>
              <a:spLocks noChangeArrowheads="1"/>
            </p:cNvSpPr>
            <p:nvPr/>
          </p:nvSpPr>
          <p:spPr bwMode="auto">
            <a:xfrm>
              <a:off x="4583" y="2318"/>
              <a:ext cx="10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K</a:t>
              </a:r>
            </a:p>
          </p:txBody>
        </p:sp>
        <p:sp>
          <p:nvSpPr>
            <p:cNvPr id="55" name="Rectangle 129"/>
            <p:cNvSpPr>
              <a:spLocks noChangeArrowheads="1"/>
            </p:cNvSpPr>
            <p:nvPr/>
          </p:nvSpPr>
          <p:spPr bwMode="auto">
            <a:xfrm>
              <a:off x="4388" y="2499"/>
              <a:ext cx="16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96 </a:t>
              </a:r>
            </a:p>
          </p:txBody>
        </p:sp>
        <p:sp>
          <p:nvSpPr>
            <p:cNvPr id="56" name="Rectangle 130"/>
            <p:cNvSpPr>
              <a:spLocks noChangeArrowheads="1"/>
            </p:cNvSpPr>
            <p:nvPr/>
          </p:nvSpPr>
          <p:spPr bwMode="auto">
            <a:xfrm>
              <a:off x="4566" y="2499"/>
              <a:ext cx="10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K</a:t>
              </a:r>
            </a:p>
          </p:txBody>
        </p:sp>
        <p:sp>
          <p:nvSpPr>
            <p:cNvPr id="57" name="Line 131"/>
            <p:cNvSpPr>
              <a:spLocks noChangeShapeType="1"/>
            </p:cNvSpPr>
            <p:nvPr/>
          </p:nvSpPr>
          <p:spPr bwMode="auto">
            <a:xfrm>
              <a:off x="3139" y="2168"/>
              <a:ext cx="1107" cy="1"/>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 name="Rectangle 132"/>
            <p:cNvSpPr>
              <a:spLocks noChangeArrowheads="1"/>
            </p:cNvSpPr>
            <p:nvPr/>
          </p:nvSpPr>
          <p:spPr bwMode="auto">
            <a:xfrm>
              <a:off x="3336" y="1942"/>
              <a:ext cx="667"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9" name="Rectangle 133"/>
            <p:cNvSpPr>
              <a:spLocks noChangeArrowheads="1"/>
            </p:cNvSpPr>
            <p:nvPr/>
          </p:nvSpPr>
          <p:spPr bwMode="auto">
            <a:xfrm>
              <a:off x="3425" y="1942"/>
              <a:ext cx="50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Process 2</a:t>
              </a:r>
            </a:p>
          </p:txBody>
        </p:sp>
        <p:sp>
          <p:nvSpPr>
            <p:cNvPr id="60" name="Rectangle 134"/>
            <p:cNvSpPr>
              <a:spLocks noChangeArrowheads="1"/>
            </p:cNvSpPr>
            <p:nvPr/>
          </p:nvSpPr>
          <p:spPr bwMode="auto">
            <a:xfrm>
              <a:off x="4272" y="1920"/>
              <a:ext cx="445"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1" name="Rectangle 135"/>
            <p:cNvSpPr>
              <a:spLocks noChangeArrowheads="1"/>
            </p:cNvSpPr>
            <p:nvPr/>
          </p:nvSpPr>
          <p:spPr bwMode="auto">
            <a:xfrm>
              <a:off x="4334" y="1956"/>
              <a:ext cx="22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224 </a:t>
              </a:r>
            </a:p>
          </p:txBody>
        </p:sp>
        <p:sp>
          <p:nvSpPr>
            <p:cNvPr id="62" name="Rectangle 136"/>
            <p:cNvSpPr>
              <a:spLocks noChangeArrowheads="1"/>
            </p:cNvSpPr>
            <p:nvPr/>
          </p:nvSpPr>
          <p:spPr bwMode="auto">
            <a:xfrm>
              <a:off x="4583" y="1956"/>
              <a:ext cx="7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k</a:t>
              </a:r>
            </a:p>
          </p:txBody>
        </p:sp>
        <p:sp>
          <p:nvSpPr>
            <p:cNvPr id="63" name="Rectangle 137"/>
            <p:cNvSpPr>
              <a:spLocks noChangeArrowheads="1"/>
            </p:cNvSpPr>
            <p:nvPr/>
          </p:nvSpPr>
          <p:spPr bwMode="auto">
            <a:xfrm>
              <a:off x="4325" y="2101"/>
              <a:ext cx="406"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4" name="Rectangle 138"/>
            <p:cNvSpPr>
              <a:spLocks noChangeArrowheads="1"/>
            </p:cNvSpPr>
            <p:nvPr/>
          </p:nvSpPr>
          <p:spPr bwMode="auto">
            <a:xfrm>
              <a:off x="4388" y="2137"/>
              <a:ext cx="16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96 </a:t>
              </a:r>
            </a:p>
          </p:txBody>
        </p:sp>
        <p:sp>
          <p:nvSpPr>
            <p:cNvPr id="65" name="Rectangle 139"/>
            <p:cNvSpPr>
              <a:spLocks noChangeArrowheads="1"/>
            </p:cNvSpPr>
            <p:nvPr/>
          </p:nvSpPr>
          <p:spPr bwMode="auto">
            <a:xfrm>
              <a:off x="4566" y="2137"/>
              <a:ext cx="10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t>K</a:t>
              </a:r>
            </a:p>
          </p:txBody>
        </p:sp>
      </p:grpSp>
    </p:spTree>
    <p:extLst>
      <p:ext uri="{BB962C8B-B14F-4D97-AF65-F5344CB8AC3E}">
        <p14:creationId xmlns:p14="http://schemas.microsoft.com/office/powerpoint/2010/main" val="3146283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wipe(up)">
                                      <p:cBhvr>
                                        <p:cTn id="12"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动态分区分配算法</a:t>
            </a:r>
          </a:p>
        </p:txBody>
      </p:sp>
      <p:sp>
        <p:nvSpPr>
          <p:cNvPr id="3" name="Content Placeholder 2"/>
          <p:cNvSpPr>
            <a:spLocks noGrp="1"/>
          </p:cNvSpPr>
          <p:nvPr>
            <p:ph idx="1"/>
          </p:nvPr>
        </p:nvSpPr>
        <p:spPr/>
        <p:txBody>
          <a:bodyPr/>
          <a:lstStyle/>
          <a:p>
            <a:r>
              <a:rPr lang="zh-CN" altLang="en-US" dirty="0"/>
              <a:t>不同分配算法分配</a:t>
            </a:r>
            <a:r>
              <a:rPr lang="en-US" altLang="zh-CN" dirty="0"/>
              <a:t>16KB</a:t>
            </a:r>
            <a:r>
              <a:rPr lang="zh-CN" altLang="en-US" dirty="0"/>
              <a:t>空间的过程</a:t>
            </a:r>
          </a:p>
        </p:txBody>
      </p:sp>
      <p:sp>
        <p:nvSpPr>
          <p:cNvPr id="4" name="Date Placeholder 3"/>
          <p:cNvSpPr>
            <a:spLocks noGrp="1"/>
          </p:cNvSpPr>
          <p:nvPr>
            <p:ph type="dt" sz="half" idx="10"/>
          </p:nvPr>
        </p:nvSpPr>
        <p:spPr/>
        <p:txBody>
          <a:bodyPr/>
          <a:lstStyle/>
          <a:p>
            <a:fld id="{7BE73F73-845F-4FA1-8634-F2308740FAD2}"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41</a:t>
            </a:fld>
            <a:endParaRPr lang="zh-CN" altLang="en-US" dirty="0"/>
          </a:p>
        </p:txBody>
      </p:sp>
      <p:grpSp>
        <p:nvGrpSpPr>
          <p:cNvPr id="7" name="Group 221"/>
          <p:cNvGrpSpPr>
            <a:grpSpLocks/>
          </p:cNvGrpSpPr>
          <p:nvPr/>
        </p:nvGrpSpPr>
        <p:grpSpPr bwMode="auto">
          <a:xfrm>
            <a:off x="1547664" y="1568276"/>
            <a:ext cx="4800600" cy="5245100"/>
            <a:chOff x="2448" y="872"/>
            <a:chExt cx="3024" cy="3304"/>
          </a:xfrm>
        </p:grpSpPr>
        <p:sp>
          <p:nvSpPr>
            <p:cNvPr id="8" name="Rectangle 94"/>
            <p:cNvSpPr>
              <a:spLocks noChangeArrowheads="1"/>
            </p:cNvSpPr>
            <p:nvPr/>
          </p:nvSpPr>
          <p:spPr bwMode="auto">
            <a:xfrm>
              <a:off x="5086" y="1038"/>
              <a:ext cx="385" cy="166"/>
            </a:xfrm>
            <a:prstGeom prst="rect">
              <a:avLst/>
            </a:prstGeom>
            <a:solidFill>
              <a:srgbClr val="FFCCFF"/>
            </a:solidFill>
            <a:ln w="19050">
              <a:solidFill>
                <a:schemeClr val="tx1"/>
              </a:solidFill>
              <a:miter lim="800000"/>
              <a:headEnd/>
              <a:tailEnd/>
            </a:ln>
          </p:spPr>
          <p:txBody>
            <a:bodyPr/>
            <a:lstStyle/>
            <a:p>
              <a:endParaRPr lang="zh-CN" altLang="en-US"/>
            </a:p>
          </p:txBody>
        </p:sp>
        <p:sp>
          <p:nvSpPr>
            <p:cNvPr id="9" name="Rectangle 95"/>
            <p:cNvSpPr>
              <a:spLocks noChangeArrowheads="1"/>
            </p:cNvSpPr>
            <p:nvPr/>
          </p:nvSpPr>
          <p:spPr bwMode="auto">
            <a:xfrm>
              <a:off x="5086" y="1314"/>
              <a:ext cx="385" cy="110"/>
            </a:xfrm>
            <a:prstGeom prst="rect">
              <a:avLst/>
            </a:prstGeom>
            <a:solidFill>
              <a:srgbClr val="FFCCFF"/>
            </a:solidFill>
            <a:ln w="19050">
              <a:solidFill>
                <a:schemeClr val="tx1"/>
              </a:solidFill>
              <a:miter lim="800000"/>
              <a:headEnd/>
              <a:tailEnd/>
            </a:ln>
          </p:spPr>
          <p:txBody>
            <a:bodyPr/>
            <a:lstStyle/>
            <a:p>
              <a:endParaRPr lang="zh-CN" altLang="en-US"/>
            </a:p>
          </p:txBody>
        </p:sp>
        <p:sp>
          <p:nvSpPr>
            <p:cNvPr id="10" name="Rectangle 96"/>
            <p:cNvSpPr>
              <a:spLocks noChangeArrowheads="1"/>
            </p:cNvSpPr>
            <p:nvPr/>
          </p:nvSpPr>
          <p:spPr bwMode="auto">
            <a:xfrm>
              <a:off x="5086" y="1701"/>
              <a:ext cx="385" cy="166"/>
            </a:xfrm>
            <a:prstGeom prst="rect">
              <a:avLst/>
            </a:prstGeom>
            <a:solidFill>
              <a:srgbClr val="FFCCFF"/>
            </a:solidFill>
            <a:ln w="19050">
              <a:solidFill>
                <a:schemeClr val="tx1"/>
              </a:solidFill>
              <a:miter lim="800000"/>
              <a:headEnd/>
              <a:tailEnd/>
            </a:ln>
          </p:spPr>
          <p:txBody>
            <a:bodyPr/>
            <a:lstStyle/>
            <a:p>
              <a:endParaRPr lang="zh-CN" altLang="en-US"/>
            </a:p>
          </p:txBody>
        </p:sp>
        <p:sp>
          <p:nvSpPr>
            <p:cNvPr id="11" name="Rectangle 97"/>
            <p:cNvSpPr>
              <a:spLocks noChangeArrowheads="1"/>
            </p:cNvSpPr>
            <p:nvPr/>
          </p:nvSpPr>
          <p:spPr bwMode="auto">
            <a:xfrm>
              <a:off x="5086" y="2032"/>
              <a:ext cx="385" cy="387"/>
            </a:xfrm>
            <a:prstGeom prst="rect">
              <a:avLst/>
            </a:prstGeom>
            <a:solidFill>
              <a:srgbClr val="FFCCFF"/>
            </a:solidFill>
            <a:ln w="19050">
              <a:solidFill>
                <a:schemeClr val="tx1"/>
              </a:solidFill>
              <a:miter lim="800000"/>
              <a:headEnd/>
              <a:tailEnd/>
            </a:ln>
          </p:spPr>
          <p:txBody>
            <a:bodyPr/>
            <a:lstStyle/>
            <a:p>
              <a:endParaRPr lang="zh-CN" altLang="en-US"/>
            </a:p>
          </p:txBody>
        </p:sp>
        <p:sp>
          <p:nvSpPr>
            <p:cNvPr id="12" name="Rectangle 98"/>
            <p:cNvSpPr>
              <a:spLocks noChangeArrowheads="1"/>
            </p:cNvSpPr>
            <p:nvPr/>
          </p:nvSpPr>
          <p:spPr bwMode="auto">
            <a:xfrm>
              <a:off x="5086" y="2530"/>
              <a:ext cx="385" cy="109"/>
            </a:xfrm>
            <a:prstGeom prst="rect">
              <a:avLst/>
            </a:prstGeom>
            <a:solidFill>
              <a:srgbClr val="FFCCFF"/>
            </a:solidFill>
            <a:ln w="19050">
              <a:solidFill>
                <a:schemeClr val="tx1"/>
              </a:solidFill>
              <a:miter lim="800000"/>
              <a:headEnd/>
              <a:tailEnd/>
            </a:ln>
          </p:spPr>
          <p:txBody>
            <a:bodyPr/>
            <a:lstStyle/>
            <a:p>
              <a:endParaRPr lang="zh-CN" altLang="en-US"/>
            </a:p>
          </p:txBody>
        </p:sp>
        <p:sp>
          <p:nvSpPr>
            <p:cNvPr id="13" name="Rectangle 99"/>
            <p:cNvSpPr>
              <a:spLocks noChangeArrowheads="1"/>
            </p:cNvSpPr>
            <p:nvPr/>
          </p:nvSpPr>
          <p:spPr bwMode="auto">
            <a:xfrm>
              <a:off x="5086" y="2695"/>
              <a:ext cx="385" cy="497"/>
            </a:xfrm>
            <a:prstGeom prst="rect">
              <a:avLst/>
            </a:prstGeom>
            <a:solidFill>
              <a:srgbClr val="FFCCFF"/>
            </a:solidFill>
            <a:ln w="19050">
              <a:solidFill>
                <a:schemeClr val="tx1"/>
              </a:solidFill>
              <a:miter lim="800000"/>
              <a:headEnd/>
              <a:tailEnd/>
            </a:ln>
          </p:spPr>
          <p:txBody>
            <a:bodyPr/>
            <a:lstStyle/>
            <a:p>
              <a:endParaRPr lang="zh-CN" altLang="en-US"/>
            </a:p>
          </p:txBody>
        </p:sp>
        <p:sp>
          <p:nvSpPr>
            <p:cNvPr id="14" name="Rectangle 100"/>
            <p:cNvSpPr>
              <a:spLocks noChangeArrowheads="1"/>
            </p:cNvSpPr>
            <p:nvPr/>
          </p:nvSpPr>
          <p:spPr bwMode="auto">
            <a:xfrm>
              <a:off x="5086" y="3358"/>
              <a:ext cx="385" cy="222"/>
            </a:xfrm>
            <a:prstGeom prst="rect">
              <a:avLst/>
            </a:prstGeom>
            <a:solidFill>
              <a:srgbClr val="FFCCFF"/>
            </a:solidFill>
            <a:ln w="19050">
              <a:solidFill>
                <a:schemeClr val="tx1"/>
              </a:solidFill>
              <a:miter lim="800000"/>
              <a:headEnd/>
              <a:tailEnd/>
            </a:ln>
          </p:spPr>
          <p:txBody>
            <a:bodyPr/>
            <a:lstStyle/>
            <a:p>
              <a:endParaRPr lang="zh-CN" altLang="en-US"/>
            </a:p>
          </p:txBody>
        </p:sp>
        <p:sp>
          <p:nvSpPr>
            <p:cNvPr id="15" name="Line 104"/>
            <p:cNvSpPr>
              <a:spLocks noChangeShapeType="1"/>
            </p:cNvSpPr>
            <p:nvPr/>
          </p:nvSpPr>
          <p:spPr bwMode="auto">
            <a:xfrm flipV="1">
              <a:off x="5086" y="929"/>
              <a:ext cx="0" cy="10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Line 105"/>
            <p:cNvSpPr>
              <a:spLocks noChangeShapeType="1"/>
            </p:cNvSpPr>
            <p:nvPr/>
          </p:nvSpPr>
          <p:spPr bwMode="auto">
            <a:xfrm>
              <a:off x="5086" y="927"/>
              <a:ext cx="385"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Line 106"/>
            <p:cNvSpPr>
              <a:spLocks noChangeShapeType="1"/>
            </p:cNvSpPr>
            <p:nvPr/>
          </p:nvSpPr>
          <p:spPr bwMode="auto">
            <a:xfrm flipV="1">
              <a:off x="5471" y="929"/>
              <a:ext cx="1" cy="10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Line 107"/>
            <p:cNvSpPr>
              <a:spLocks noChangeShapeType="1"/>
            </p:cNvSpPr>
            <p:nvPr/>
          </p:nvSpPr>
          <p:spPr bwMode="auto">
            <a:xfrm>
              <a:off x="5086" y="1205"/>
              <a:ext cx="0" cy="10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Line 108"/>
            <p:cNvSpPr>
              <a:spLocks noChangeShapeType="1"/>
            </p:cNvSpPr>
            <p:nvPr/>
          </p:nvSpPr>
          <p:spPr bwMode="auto">
            <a:xfrm>
              <a:off x="5471" y="1205"/>
              <a:ext cx="1" cy="10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Line 109"/>
            <p:cNvSpPr>
              <a:spLocks noChangeShapeType="1"/>
            </p:cNvSpPr>
            <p:nvPr/>
          </p:nvSpPr>
          <p:spPr bwMode="auto">
            <a:xfrm>
              <a:off x="5086" y="1647"/>
              <a:ext cx="0" cy="5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Line 110"/>
            <p:cNvSpPr>
              <a:spLocks noChangeShapeType="1"/>
            </p:cNvSpPr>
            <p:nvPr/>
          </p:nvSpPr>
          <p:spPr bwMode="auto">
            <a:xfrm>
              <a:off x="5471" y="1647"/>
              <a:ext cx="1" cy="5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Line 111"/>
            <p:cNvSpPr>
              <a:spLocks noChangeShapeType="1"/>
            </p:cNvSpPr>
            <p:nvPr/>
          </p:nvSpPr>
          <p:spPr bwMode="auto">
            <a:xfrm>
              <a:off x="5086" y="2420"/>
              <a:ext cx="0" cy="11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 name="Line 112"/>
            <p:cNvSpPr>
              <a:spLocks noChangeShapeType="1"/>
            </p:cNvSpPr>
            <p:nvPr/>
          </p:nvSpPr>
          <p:spPr bwMode="auto">
            <a:xfrm>
              <a:off x="5471" y="2420"/>
              <a:ext cx="1" cy="11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 name="Line 113"/>
            <p:cNvSpPr>
              <a:spLocks noChangeShapeType="1"/>
            </p:cNvSpPr>
            <p:nvPr/>
          </p:nvSpPr>
          <p:spPr bwMode="auto">
            <a:xfrm>
              <a:off x="5086" y="2641"/>
              <a:ext cx="0" cy="5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 name="Line 114"/>
            <p:cNvSpPr>
              <a:spLocks noChangeShapeType="1"/>
            </p:cNvSpPr>
            <p:nvPr/>
          </p:nvSpPr>
          <p:spPr bwMode="auto">
            <a:xfrm>
              <a:off x="5471" y="2641"/>
              <a:ext cx="1" cy="5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Line 115"/>
            <p:cNvSpPr>
              <a:spLocks noChangeShapeType="1"/>
            </p:cNvSpPr>
            <p:nvPr/>
          </p:nvSpPr>
          <p:spPr bwMode="auto">
            <a:xfrm>
              <a:off x="5086" y="3193"/>
              <a:ext cx="0" cy="16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 name="Line 116"/>
            <p:cNvSpPr>
              <a:spLocks noChangeShapeType="1"/>
            </p:cNvSpPr>
            <p:nvPr/>
          </p:nvSpPr>
          <p:spPr bwMode="auto">
            <a:xfrm>
              <a:off x="5471" y="3193"/>
              <a:ext cx="1" cy="16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 name="Line 117"/>
            <p:cNvSpPr>
              <a:spLocks noChangeShapeType="1"/>
            </p:cNvSpPr>
            <p:nvPr/>
          </p:nvSpPr>
          <p:spPr bwMode="auto">
            <a:xfrm>
              <a:off x="5086" y="3802"/>
              <a:ext cx="0" cy="22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 name="Line 118"/>
            <p:cNvSpPr>
              <a:spLocks noChangeShapeType="1"/>
            </p:cNvSpPr>
            <p:nvPr/>
          </p:nvSpPr>
          <p:spPr bwMode="auto">
            <a:xfrm>
              <a:off x="5471" y="3802"/>
              <a:ext cx="1" cy="22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 name="Line 119"/>
            <p:cNvSpPr>
              <a:spLocks noChangeShapeType="1"/>
            </p:cNvSpPr>
            <p:nvPr/>
          </p:nvSpPr>
          <p:spPr bwMode="auto">
            <a:xfrm>
              <a:off x="5086" y="4022"/>
              <a:ext cx="385"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 name="Rectangle 133"/>
            <p:cNvSpPr>
              <a:spLocks noChangeArrowheads="1"/>
            </p:cNvSpPr>
            <p:nvPr/>
          </p:nvSpPr>
          <p:spPr bwMode="auto">
            <a:xfrm>
              <a:off x="5152" y="4061"/>
              <a:ext cx="219"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200" b="1"/>
                <a:t>After</a:t>
              </a:r>
            </a:p>
          </p:txBody>
        </p:sp>
        <p:sp>
          <p:nvSpPr>
            <p:cNvPr id="32" name="Rectangle 138"/>
            <p:cNvSpPr>
              <a:spLocks noChangeArrowheads="1"/>
            </p:cNvSpPr>
            <p:nvPr/>
          </p:nvSpPr>
          <p:spPr bwMode="auto">
            <a:xfrm>
              <a:off x="4931" y="910"/>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200" b="1"/>
                <a:t>8</a:t>
              </a:r>
            </a:p>
          </p:txBody>
        </p:sp>
        <p:sp>
          <p:nvSpPr>
            <p:cNvPr id="33" name="Rectangle 139"/>
            <p:cNvSpPr>
              <a:spLocks noChangeArrowheads="1"/>
            </p:cNvSpPr>
            <p:nvPr/>
          </p:nvSpPr>
          <p:spPr bwMode="auto">
            <a:xfrm>
              <a:off x="4986" y="910"/>
              <a:ext cx="75"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200" b="1"/>
                <a:t>K</a:t>
              </a:r>
            </a:p>
          </p:txBody>
        </p:sp>
        <p:sp>
          <p:nvSpPr>
            <p:cNvPr id="34" name="Rectangle 143"/>
            <p:cNvSpPr>
              <a:spLocks noChangeArrowheads="1"/>
            </p:cNvSpPr>
            <p:nvPr/>
          </p:nvSpPr>
          <p:spPr bwMode="auto">
            <a:xfrm>
              <a:off x="4810" y="1171"/>
              <a:ext cx="330"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5" name="Rectangle 144"/>
            <p:cNvSpPr>
              <a:spLocks noChangeArrowheads="1"/>
            </p:cNvSpPr>
            <p:nvPr/>
          </p:nvSpPr>
          <p:spPr bwMode="auto">
            <a:xfrm>
              <a:off x="4877" y="1209"/>
              <a:ext cx="9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200" b="1"/>
                <a:t>12</a:t>
              </a:r>
            </a:p>
          </p:txBody>
        </p:sp>
        <p:sp>
          <p:nvSpPr>
            <p:cNvPr id="36" name="Rectangle 145"/>
            <p:cNvSpPr>
              <a:spLocks noChangeArrowheads="1"/>
            </p:cNvSpPr>
            <p:nvPr/>
          </p:nvSpPr>
          <p:spPr bwMode="auto">
            <a:xfrm>
              <a:off x="4989" y="1209"/>
              <a:ext cx="75"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200" b="1"/>
                <a:t>K</a:t>
              </a:r>
            </a:p>
          </p:txBody>
        </p:sp>
        <p:sp>
          <p:nvSpPr>
            <p:cNvPr id="37" name="Rectangle 152"/>
            <p:cNvSpPr>
              <a:spLocks noChangeArrowheads="1"/>
            </p:cNvSpPr>
            <p:nvPr/>
          </p:nvSpPr>
          <p:spPr bwMode="auto">
            <a:xfrm>
              <a:off x="4901" y="2623"/>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200" b="1"/>
                <a:t>6</a:t>
              </a:r>
            </a:p>
          </p:txBody>
        </p:sp>
        <p:sp>
          <p:nvSpPr>
            <p:cNvPr id="38" name="Rectangle 153"/>
            <p:cNvSpPr>
              <a:spLocks noChangeArrowheads="1"/>
            </p:cNvSpPr>
            <p:nvPr/>
          </p:nvSpPr>
          <p:spPr bwMode="auto">
            <a:xfrm>
              <a:off x="4947" y="2623"/>
              <a:ext cx="75"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200" b="1"/>
                <a:t>K</a:t>
              </a:r>
            </a:p>
          </p:txBody>
        </p:sp>
        <p:sp>
          <p:nvSpPr>
            <p:cNvPr id="39" name="Rectangle 156"/>
            <p:cNvSpPr>
              <a:spLocks noChangeArrowheads="1"/>
            </p:cNvSpPr>
            <p:nvPr/>
          </p:nvSpPr>
          <p:spPr bwMode="auto">
            <a:xfrm>
              <a:off x="4931" y="2402"/>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200" b="1"/>
                <a:t>8</a:t>
              </a:r>
            </a:p>
          </p:txBody>
        </p:sp>
        <p:sp>
          <p:nvSpPr>
            <p:cNvPr id="40" name="Rectangle 157"/>
            <p:cNvSpPr>
              <a:spLocks noChangeArrowheads="1"/>
            </p:cNvSpPr>
            <p:nvPr/>
          </p:nvSpPr>
          <p:spPr bwMode="auto">
            <a:xfrm>
              <a:off x="4986" y="2402"/>
              <a:ext cx="75"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200" b="1"/>
                <a:t>K</a:t>
              </a:r>
            </a:p>
          </p:txBody>
        </p:sp>
        <p:sp>
          <p:nvSpPr>
            <p:cNvPr id="41" name="Rectangle 160"/>
            <p:cNvSpPr>
              <a:spLocks noChangeArrowheads="1"/>
            </p:cNvSpPr>
            <p:nvPr/>
          </p:nvSpPr>
          <p:spPr bwMode="auto">
            <a:xfrm>
              <a:off x="4821" y="3198"/>
              <a:ext cx="9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200" b="1"/>
                <a:t>14</a:t>
              </a:r>
            </a:p>
          </p:txBody>
        </p:sp>
        <p:sp>
          <p:nvSpPr>
            <p:cNvPr id="42" name="Rectangle 161"/>
            <p:cNvSpPr>
              <a:spLocks noChangeArrowheads="1"/>
            </p:cNvSpPr>
            <p:nvPr/>
          </p:nvSpPr>
          <p:spPr bwMode="auto">
            <a:xfrm>
              <a:off x="4931" y="3198"/>
              <a:ext cx="75"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200" b="1"/>
                <a:t>K</a:t>
              </a:r>
            </a:p>
          </p:txBody>
        </p:sp>
        <p:sp>
          <p:nvSpPr>
            <p:cNvPr id="43" name="Rectangle 168"/>
            <p:cNvSpPr>
              <a:spLocks noChangeArrowheads="1"/>
            </p:cNvSpPr>
            <p:nvPr/>
          </p:nvSpPr>
          <p:spPr bwMode="auto">
            <a:xfrm>
              <a:off x="4755" y="3800"/>
              <a:ext cx="331"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nvGrpSpPr>
            <p:cNvPr id="44" name="Group 185"/>
            <p:cNvGrpSpPr>
              <a:grpSpLocks/>
            </p:cNvGrpSpPr>
            <p:nvPr/>
          </p:nvGrpSpPr>
          <p:grpSpPr bwMode="auto">
            <a:xfrm>
              <a:off x="2448" y="872"/>
              <a:ext cx="2183" cy="3303"/>
              <a:chOff x="2448" y="872"/>
              <a:chExt cx="2183" cy="3303"/>
            </a:xfrm>
          </p:grpSpPr>
          <p:sp>
            <p:nvSpPr>
              <p:cNvPr id="47" name="Rectangle 64"/>
              <p:cNvSpPr>
                <a:spLocks noChangeArrowheads="1"/>
              </p:cNvSpPr>
              <p:nvPr/>
            </p:nvSpPr>
            <p:spPr bwMode="auto">
              <a:xfrm>
                <a:off x="3320" y="1038"/>
                <a:ext cx="385" cy="166"/>
              </a:xfrm>
              <a:prstGeom prst="rect">
                <a:avLst/>
              </a:prstGeom>
              <a:solidFill>
                <a:srgbClr val="FFCCFF"/>
              </a:solidFill>
              <a:ln w="19050">
                <a:solidFill>
                  <a:schemeClr val="tx1"/>
                </a:solidFill>
                <a:miter lim="800000"/>
                <a:headEnd/>
                <a:tailEnd/>
              </a:ln>
            </p:spPr>
            <p:txBody>
              <a:bodyPr/>
              <a:lstStyle/>
              <a:p>
                <a:endParaRPr lang="zh-CN" altLang="en-US"/>
              </a:p>
            </p:txBody>
          </p:sp>
          <p:sp>
            <p:nvSpPr>
              <p:cNvPr id="48" name="Rectangle 65"/>
              <p:cNvSpPr>
                <a:spLocks noChangeArrowheads="1"/>
              </p:cNvSpPr>
              <p:nvPr/>
            </p:nvSpPr>
            <p:spPr bwMode="auto">
              <a:xfrm>
                <a:off x="3320" y="1314"/>
                <a:ext cx="385" cy="110"/>
              </a:xfrm>
              <a:prstGeom prst="rect">
                <a:avLst/>
              </a:prstGeom>
              <a:solidFill>
                <a:srgbClr val="FFCCFF"/>
              </a:solidFill>
              <a:ln w="19050">
                <a:solidFill>
                  <a:schemeClr val="tx1"/>
                </a:solidFill>
                <a:miter lim="800000"/>
                <a:headEnd/>
                <a:tailEnd/>
              </a:ln>
            </p:spPr>
            <p:txBody>
              <a:bodyPr/>
              <a:lstStyle/>
              <a:p>
                <a:endParaRPr lang="zh-CN" altLang="en-US"/>
              </a:p>
            </p:txBody>
          </p:sp>
          <p:sp>
            <p:nvSpPr>
              <p:cNvPr id="49" name="Rectangle 66"/>
              <p:cNvSpPr>
                <a:spLocks noChangeArrowheads="1"/>
              </p:cNvSpPr>
              <p:nvPr/>
            </p:nvSpPr>
            <p:spPr bwMode="auto">
              <a:xfrm>
                <a:off x="3320" y="1701"/>
                <a:ext cx="385" cy="166"/>
              </a:xfrm>
              <a:prstGeom prst="rect">
                <a:avLst/>
              </a:prstGeom>
              <a:solidFill>
                <a:srgbClr val="FFCCFF"/>
              </a:solidFill>
              <a:ln w="19050">
                <a:solidFill>
                  <a:schemeClr val="tx1"/>
                </a:solidFill>
                <a:miter lim="800000"/>
                <a:headEnd/>
                <a:tailEnd/>
              </a:ln>
            </p:spPr>
            <p:txBody>
              <a:bodyPr/>
              <a:lstStyle/>
              <a:p>
                <a:endParaRPr lang="zh-CN" altLang="en-US"/>
              </a:p>
            </p:txBody>
          </p:sp>
          <p:sp>
            <p:nvSpPr>
              <p:cNvPr id="50" name="Rectangle 67"/>
              <p:cNvSpPr>
                <a:spLocks noChangeArrowheads="1"/>
              </p:cNvSpPr>
              <p:nvPr/>
            </p:nvSpPr>
            <p:spPr bwMode="auto">
              <a:xfrm>
                <a:off x="3320" y="2087"/>
                <a:ext cx="385" cy="332"/>
              </a:xfrm>
              <a:prstGeom prst="rect">
                <a:avLst/>
              </a:prstGeom>
              <a:solidFill>
                <a:srgbClr val="FFCCFF"/>
              </a:solidFill>
              <a:ln w="19050">
                <a:solidFill>
                  <a:schemeClr val="tx1"/>
                </a:solidFill>
                <a:miter lim="800000"/>
                <a:headEnd/>
                <a:tailEnd/>
              </a:ln>
            </p:spPr>
            <p:txBody>
              <a:bodyPr/>
              <a:lstStyle/>
              <a:p>
                <a:endParaRPr lang="zh-CN" altLang="en-US"/>
              </a:p>
            </p:txBody>
          </p:sp>
          <p:sp>
            <p:nvSpPr>
              <p:cNvPr id="51" name="Line 68"/>
              <p:cNvSpPr>
                <a:spLocks noChangeShapeType="1"/>
              </p:cNvSpPr>
              <p:nvPr/>
            </p:nvSpPr>
            <p:spPr bwMode="auto">
              <a:xfrm>
                <a:off x="3320" y="2253"/>
                <a:ext cx="385"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 name="Rectangle 69"/>
              <p:cNvSpPr>
                <a:spLocks noChangeArrowheads="1"/>
              </p:cNvSpPr>
              <p:nvPr/>
            </p:nvSpPr>
            <p:spPr bwMode="auto">
              <a:xfrm>
                <a:off x="3320" y="2530"/>
                <a:ext cx="385" cy="109"/>
              </a:xfrm>
              <a:prstGeom prst="rect">
                <a:avLst/>
              </a:prstGeom>
              <a:solidFill>
                <a:srgbClr val="FFCCFF"/>
              </a:solidFill>
              <a:ln w="19050">
                <a:solidFill>
                  <a:schemeClr val="tx1"/>
                </a:solidFill>
                <a:miter lim="800000"/>
                <a:headEnd/>
                <a:tailEnd/>
              </a:ln>
            </p:spPr>
            <p:txBody>
              <a:bodyPr/>
              <a:lstStyle/>
              <a:p>
                <a:endParaRPr lang="zh-CN" altLang="en-US"/>
              </a:p>
            </p:txBody>
          </p:sp>
          <p:sp>
            <p:nvSpPr>
              <p:cNvPr id="53" name="Rectangle 70"/>
              <p:cNvSpPr>
                <a:spLocks noChangeArrowheads="1"/>
              </p:cNvSpPr>
              <p:nvPr/>
            </p:nvSpPr>
            <p:spPr bwMode="auto">
              <a:xfrm>
                <a:off x="3320" y="2695"/>
                <a:ext cx="385" cy="497"/>
              </a:xfrm>
              <a:prstGeom prst="rect">
                <a:avLst/>
              </a:prstGeom>
              <a:solidFill>
                <a:srgbClr val="FFCCFF"/>
              </a:solidFill>
              <a:ln w="19050">
                <a:solidFill>
                  <a:schemeClr val="tx1"/>
                </a:solidFill>
                <a:miter lim="800000"/>
                <a:headEnd/>
                <a:tailEnd/>
              </a:ln>
            </p:spPr>
            <p:txBody>
              <a:bodyPr/>
              <a:lstStyle/>
              <a:p>
                <a:endParaRPr lang="zh-CN" altLang="en-US"/>
              </a:p>
            </p:txBody>
          </p:sp>
          <p:sp>
            <p:nvSpPr>
              <p:cNvPr id="54" name="Rectangle 71"/>
              <p:cNvSpPr>
                <a:spLocks noChangeArrowheads="1"/>
              </p:cNvSpPr>
              <p:nvPr/>
            </p:nvSpPr>
            <p:spPr bwMode="auto">
              <a:xfrm>
                <a:off x="3320" y="3358"/>
                <a:ext cx="385" cy="222"/>
              </a:xfrm>
              <a:prstGeom prst="rect">
                <a:avLst/>
              </a:prstGeom>
              <a:solidFill>
                <a:srgbClr val="FFCCFF"/>
              </a:solidFill>
              <a:ln w="19050">
                <a:solidFill>
                  <a:schemeClr val="tx1"/>
                </a:solidFill>
                <a:miter lim="800000"/>
                <a:headEnd/>
                <a:tailEnd/>
              </a:ln>
            </p:spPr>
            <p:txBody>
              <a:bodyPr/>
              <a:lstStyle/>
              <a:p>
                <a:endParaRPr lang="zh-CN" altLang="en-US"/>
              </a:p>
            </p:txBody>
          </p:sp>
          <p:sp>
            <p:nvSpPr>
              <p:cNvPr id="55" name="Line 72"/>
              <p:cNvSpPr>
                <a:spLocks noChangeShapeType="1"/>
              </p:cNvSpPr>
              <p:nvPr/>
            </p:nvSpPr>
            <p:spPr bwMode="auto">
              <a:xfrm flipV="1">
                <a:off x="3320" y="929"/>
                <a:ext cx="0" cy="10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 name="Line 73"/>
              <p:cNvSpPr>
                <a:spLocks noChangeShapeType="1"/>
              </p:cNvSpPr>
              <p:nvPr/>
            </p:nvSpPr>
            <p:spPr bwMode="auto">
              <a:xfrm>
                <a:off x="3320" y="927"/>
                <a:ext cx="385"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 name="Line 74"/>
              <p:cNvSpPr>
                <a:spLocks noChangeShapeType="1"/>
              </p:cNvSpPr>
              <p:nvPr/>
            </p:nvSpPr>
            <p:spPr bwMode="auto">
              <a:xfrm>
                <a:off x="3705" y="929"/>
                <a:ext cx="1" cy="10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 name="Line 75"/>
              <p:cNvSpPr>
                <a:spLocks noChangeShapeType="1"/>
              </p:cNvSpPr>
              <p:nvPr/>
            </p:nvSpPr>
            <p:spPr bwMode="auto">
              <a:xfrm>
                <a:off x="3320" y="1205"/>
                <a:ext cx="0" cy="10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 name="Line 76"/>
              <p:cNvSpPr>
                <a:spLocks noChangeShapeType="1"/>
              </p:cNvSpPr>
              <p:nvPr/>
            </p:nvSpPr>
            <p:spPr bwMode="auto">
              <a:xfrm>
                <a:off x="3705" y="1205"/>
                <a:ext cx="1" cy="10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 name="Line 77"/>
              <p:cNvSpPr>
                <a:spLocks noChangeShapeType="1"/>
              </p:cNvSpPr>
              <p:nvPr/>
            </p:nvSpPr>
            <p:spPr bwMode="auto">
              <a:xfrm>
                <a:off x="3320" y="1426"/>
                <a:ext cx="0" cy="2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 name="Line 78"/>
              <p:cNvSpPr>
                <a:spLocks noChangeShapeType="1"/>
              </p:cNvSpPr>
              <p:nvPr/>
            </p:nvSpPr>
            <p:spPr bwMode="auto">
              <a:xfrm>
                <a:off x="3705" y="1426"/>
                <a:ext cx="1" cy="2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 name="Line 79"/>
              <p:cNvSpPr>
                <a:spLocks noChangeShapeType="1"/>
              </p:cNvSpPr>
              <p:nvPr/>
            </p:nvSpPr>
            <p:spPr bwMode="auto">
              <a:xfrm>
                <a:off x="3320" y="1867"/>
                <a:ext cx="0" cy="22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 name="Line 80"/>
              <p:cNvSpPr>
                <a:spLocks noChangeShapeType="1"/>
              </p:cNvSpPr>
              <p:nvPr/>
            </p:nvSpPr>
            <p:spPr bwMode="auto">
              <a:xfrm>
                <a:off x="3705" y="1867"/>
                <a:ext cx="1" cy="22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 name="Line 81"/>
              <p:cNvSpPr>
                <a:spLocks noChangeShapeType="1"/>
              </p:cNvSpPr>
              <p:nvPr/>
            </p:nvSpPr>
            <p:spPr bwMode="auto">
              <a:xfrm>
                <a:off x="3320" y="2420"/>
                <a:ext cx="0" cy="11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 name="Line 82"/>
              <p:cNvSpPr>
                <a:spLocks noChangeShapeType="1"/>
              </p:cNvSpPr>
              <p:nvPr/>
            </p:nvSpPr>
            <p:spPr bwMode="auto">
              <a:xfrm>
                <a:off x="3705" y="2420"/>
                <a:ext cx="1" cy="11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 name="Line 83"/>
              <p:cNvSpPr>
                <a:spLocks noChangeShapeType="1"/>
              </p:cNvSpPr>
              <p:nvPr/>
            </p:nvSpPr>
            <p:spPr bwMode="auto">
              <a:xfrm>
                <a:off x="3320" y="2641"/>
                <a:ext cx="0" cy="5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 name="Line 84"/>
              <p:cNvSpPr>
                <a:spLocks noChangeShapeType="1"/>
              </p:cNvSpPr>
              <p:nvPr/>
            </p:nvSpPr>
            <p:spPr bwMode="auto">
              <a:xfrm>
                <a:off x="3705" y="2641"/>
                <a:ext cx="1" cy="5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 name="Line 85"/>
              <p:cNvSpPr>
                <a:spLocks noChangeShapeType="1"/>
              </p:cNvSpPr>
              <p:nvPr/>
            </p:nvSpPr>
            <p:spPr bwMode="auto">
              <a:xfrm>
                <a:off x="3320" y="3193"/>
                <a:ext cx="0" cy="16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 name="Line 86"/>
              <p:cNvSpPr>
                <a:spLocks noChangeShapeType="1"/>
              </p:cNvSpPr>
              <p:nvPr/>
            </p:nvSpPr>
            <p:spPr bwMode="auto">
              <a:xfrm>
                <a:off x="3705" y="3193"/>
                <a:ext cx="1" cy="16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 name="Line 87"/>
              <p:cNvSpPr>
                <a:spLocks noChangeShapeType="1"/>
              </p:cNvSpPr>
              <p:nvPr/>
            </p:nvSpPr>
            <p:spPr bwMode="auto">
              <a:xfrm>
                <a:off x="3320" y="3581"/>
                <a:ext cx="0" cy="44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 name="Line 88"/>
              <p:cNvSpPr>
                <a:spLocks noChangeShapeType="1"/>
              </p:cNvSpPr>
              <p:nvPr/>
            </p:nvSpPr>
            <p:spPr bwMode="auto">
              <a:xfrm>
                <a:off x="3320" y="4022"/>
                <a:ext cx="385"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 name="Line 89"/>
              <p:cNvSpPr>
                <a:spLocks noChangeShapeType="1"/>
              </p:cNvSpPr>
              <p:nvPr/>
            </p:nvSpPr>
            <p:spPr bwMode="auto">
              <a:xfrm flipV="1">
                <a:off x="3705" y="3581"/>
                <a:ext cx="1" cy="44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 name="Line 90"/>
              <p:cNvSpPr>
                <a:spLocks noChangeShapeType="1"/>
              </p:cNvSpPr>
              <p:nvPr/>
            </p:nvSpPr>
            <p:spPr bwMode="auto">
              <a:xfrm>
                <a:off x="2767" y="2199"/>
                <a:ext cx="1" cy="16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 name="Line 91"/>
              <p:cNvSpPr>
                <a:spLocks noChangeShapeType="1"/>
              </p:cNvSpPr>
              <p:nvPr/>
            </p:nvSpPr>
            <p:spPr bwMode="auto">
              <a:xfrm>
                <a:off x="2768" y="2363"/>
                <a:ext cx="500"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 name="Freeform 92"/>
              <p:cNvSpPr>
                <a:spLocks/>
              </p:cNvSpPr>
              <p:nvPr/>
            </p:nvSpPr>
            <p:spPr bwMode="auto">
              <a:xfrm>
                <a:off x="3242" y="2325"/>
                <a:ext cx="78" cy="77"/>
              </a:xfrm>
              <a:custGeom>
                <a:avLst/>
                <a:gdLst>
                  <a:gd name="T0" fmla="*/ 0 w 97"/>
                  <a:gd name="T1" fmla="*/ 97 h 97"/>
                  <a:gd name="T2" fmla="*/ 97 w 97"/>
                  <a:gd name="T3" fmla="*/ 48 h 97"/>
                  <a:gd name="T4" fmla="*/ 0 w 97"/>
                  <a:gd name="T5" fmla="*/ 0 h 97"/>
                  <a:gd name="T6" fmla="*/ 30 w 97"/>
                  <a:gd name="T7" fmla="*/ 48 h 97"/>
                  <a:gd name="T8" fmla="*/ 0 w 97"/>
                  <a:gd name="T9" fmla="*/ 97 h 97"/>
                </a:gdLst>
                <a:ahLst/>
                <a:cxnLst>
                  <a:cxn ang="0">
                    <a:pos x="T0" y="T1"/>
                  </a:cxn>
                  <a:cxn ang="0">
                    <a:pos x="T2" y="T3"/>
                  </a:cxn>
                  <a:cxn ang="0">
                    <a:pos x="T4" y="T5"/>
                  </a:cxn>
                  <a:cxn ang="0">
                    <a:pos x="T6" y="T7"/>
                  </a:cxn>
                  <a:cxn ang="0">
                    <a:pos x="T8" y="T9"/>
                  </a:cxn>
                </a:cxnLst>
                <a:rect l="0" t="0" r="r" b="b"/>
                <a:pathLst>
                  <a:path w="97" h="97">
                    <a:moveTo>
                      <a:pt x="0" y="97"/>
                    </a:moveTo>
                    <a:lnTo>
                      <a:pt x="97" y="48"/>
                    </a:lnTo>
                    <a:lnTo>
                      <a:pt x="0" y="0"/>
                    </a:lnTo>
                    <a:lnTo>
                      <a:pt x="30" y="48"/>
                    </a:lnTo>
                    <a:lnTo>
                      <a:pt x="0" y="97"/>
                    </a:lnTo>
                    <a:close/>
                  </a:path>
                </a:pathLst>
              </a:custGeom>
              <a:solidFill>
                <a:schemeClr val="tx1"/>
              </a:solidFill>
              <a:ln w="9525">
                <a:solidFill>
                  <a:schemeClr val="tx1"/>
                </a:solidFill>
                <a:round/>
                <a:headEnd/>
                <a:tailEnd/>
              </a:ln>
            </p:spPr>
            <p:txBody>
              <a:bodyPr/>
              <a:lstStyle/>
              <a:p>
                <a:endParaRPr lang="zh-CN" altLang="en-US"/>
              </a:p>
            </p:txBody>
          </p:sp>
          <p:sp>
            <p:nvSpPr>
              <p:cNvPr id="76" name="Rectangle 93"/>
              <p:cNvSpPr>
                <a:spLocks noChangeArrowheads="1"/>
              </p:cNvSpPr>
              <p:nvPr/>
            </p:nvSpPr>
            <p:spPr bwMode="auto">
              <a:xfrm>
                <a:off x="3871" y="2971"/>
                <a:ext cx="110" cy="111"/>
              </a:xfrm>
              <a:prstGeom prst="rect">
                <a:avLst/>
              </a:prstGeom>
              <a:solidFill>
                <a:srgbClr val="FFCCFF"/>
              </a:solidFill>
              <a:ln w="19050">
                <a:solidFill>
                  <a:schemeClr val="tx1"/>
                </a:solidFill>
                <a:miter lim="800000"/>
                <a:headEnd/>
                <a:tailEnd/>
              </a:ln>
            </p:spPr>
            <p:txBody>
              <a:bodyPr/>
              <a:lstStyle/>
              <a:p>
                <a:endParaRPr lang="zh-CN" altLang="en-US"/>
              </a:p>
            </p:txBody>
          </p:sp>
          <p:sp>
            <p:nvSpPr>
              <p:cNvPr id="77" name="Rectangle 129"/>
              <p:cNvSpPr>
                <a:spLocks noChangeArrowheads="1"/>
              </p:cNvSpPr>
              <p:nvPr/>
            </p:nvSpPr>
            <p:spPr bwMode="auto">
              <a:xfrm>
                <a:off x="2448" y="1739"/>
                <a:ext cx="181"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200" b="1"/>
                  <a:t>Last</a:t>
                </a:r>
              </a:p>
            </p:txBody>
          </p:sp>
          <p:sp>
            <p:nvSpPr>
              <p:cNvPr id="78" name="Rectangle 130"/>
              <p:cNvSpPr>
                <a:spLocks noChangeArrowheads="1"/>
              </p:cNvSpPr>
              <p:nvPr/>
            </p:nvSpPr>
            <p:spPr bwMode="auto">
              <a:xfrm>
                <a:off x="2448" y="1871"/>
                <a:ext cx="369"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200" b="1"/>
                  <a:t>allocated</a:t>
                </a:r>
              </a:p>
            </p:txBody>
          </p:sp>
          <p:sp>
            <p:nvSpPr>
              <p:cNvPr id="79" name="Rectangle 131"/>
              <p:cNvSpPr>
                <a:spLocks noChangeArrowheads="1"/>
              </p:cNvSpPr>
              <p:nvPr/>
            </p:nvSpPr>
            <p:spPr bwMode="auto">
              <a:xfrm>
                <a:off x="2448" y="2004"/>
                <a:ext cx="48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200" b="1"/>
                  <a:t>block (14K)</a:t>
                </a:r>
              </a:p>
            </p:txBody>
          </p:sp>
          <p:sp>
            <p:nvSpPr>
              <p:cNvPr id="80" name="Rectangle 132"/>
              <p:cNvSpPr>
                <a:spLocks noChangeArrowheads="1"/>
              </p:cNvSpPr>
              <p:nvPr/>
            </p:nvSpPr>
            <p:spPr bwMode="auto">
              <a:xfrm>
                <a:off x="3386" y="4060"/>
                <a:ext cx="27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200" b="1"/>
                  <a:t>Before</a:t>
                </a:r>
              </a:p>
            </p:txBody>
          </p:sp>
          <p:sp>
            <p:nvSpPr>
              <p:cNvPr id="81" name="Rectangle 134"/>
              <p:cNvSpPr>
                <a:spLocks noChangeArrowheads="1"/>
              </p:cNvSpPr>
              <p:nvPr/>
            </p:nvSpPr>
            <p:spPr bwMode="auto">
              <a:xfrm>
                <a:off x="3871" y="3192"/>
                <a:ext cx="110" cy="1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 name="Rectangle 135"/>
              <p:cNvSpPr>
                <a:spLocks noChangeArrowheads="1"/>
              </p:cNvSpPr>
              <p:nvPr/>
            </p:nvSpPr>
            <p:spPr bwMode="auto">
              <a:xfrm>
                <a:off x="3100" y="872"/>
                <a:ext cx="274"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3" name="Rectangle 136"/>
              <p:cNvSpPr>
                <a:spLocks noChangeArrowheads="1"/>
              </p:cNvSpPr>
              <p:nvPr/>
            </p:nvSpPr>
            <p:spPr bwMode="auto">
              <a:xfrm>
                <a:off x="3166" y="910"/>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200" b="1"/>
                  <a:t>8</a:t>
                </a:r>
              </a:p>
            </p:txBody>
          </p:sp>
          <p:sp>
            <p:nvSpPr>
              <p:cNvPr id="84" name="Rectangle 137"/>
              <p:cNvSpPr>
                <a:spLocks noChangeArrowheads="1"/>
              </p:cNvSpPr>
              <p:nvPr/>
            </p:nvSpPr>
            <p:spPr bwMode="auto">
              <a:xfrm>
                <a:off x="3222" y="910"/>
                <a:ext cx="75"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200" b="1"/>
                  <a:t>K</a:t>
                </a:r>
              </a:p>
            </p:txBody>
          </p:sp>
          <p:sp>
            <p:nvSpPr>
              <p:cNvPr id="85" name="Rectangle 140"/>
              <p:cNvSpPr>
                <a:spLocks noChangeArrowheads="1"/>
              </p:cNvSpPr>
              <p:nvPr/>
            </p:nvSpPr>
            <p:spPr bwMode="auto">
              <a:xfrm>
                <a:off x="3045" y="1171"/>
                <a:ext cx="329"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6" name="Rectangle 141"/>
              <p:cNvSpPr>
                <a:spLocks noChangeArrowheads="1"/>
              </p:cNvSpPr>
              <p:nvPr/>
            </p:nvSpPr>
            <p:spPr bwMode="auto">
              <a:xfrm>
                <a:off x="3111" y="1209"/>
                <a:ext cx="9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200" b="1"/>
                  <a:t>12</a:t>
                </a:r>
              </a:p>
            </p:txBody>
          </p:sp>
          <p:sp>
            <p:nvSpPr>
              <p:cNvPr id="87" name="Rectangle 142"/>
              <p:cNvSpPr>
                <a:spLocks noChangeArrowheads="1"/>
              </p:cNvSpPr>
              <p:nvPr/>
            </p:nvSpPr>
            <p:spPr bwMode="auto">
              <a:xfrm>
                <a:off x="3222" y="1209"/>
                <a:ext cx="75"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200" b="1"/>
                  <a:t>K</a:t>
                </a:r>
              </a:p>
            </p:txBody>
          </p:sp>
          <p:sp>
            <p:nvSpPr>
              <p:cNvPr id="88" name="Rectangle 146"/>
              <p:cNvSpPr>
                <a:spLocks noChangeArrowheads="1"/>
              </p:cNvSpPr>
              <p:nvPr/>
            </p:nvSpPr>
            <p:spPr bwMode="auto">
              <a:xfrm>
                <a:off x="3111" y="1484"/>
                <a:ext cx="9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200" b="1"/>
                  <a:t>22</a:t>
                </a:r>
              </a:p>
            </p:txBody>
          </p:sp>
          <p:sp>
            <p:nvSpPr>
              <p:cNvPr id="89" name="Rectangle 147"/>
              <p:cNvSpPr>
                <a:spLocks noChangeArrowheads="1"/>
              </p:cNvSpPr>
              <p:nvPr/>
            </p:nvSpPr>
            <p:spPr bwMode="auto">
              <a:xfrm>
                <a:off x="3222" y="1484"/>
                <a:ext cx="75"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200" b="1"/>
                  <a:t>K</a:t>
                </a:r>
              </a:p>
            </p:txBody>
          </p:sp>
          <p:sp>
            <p:nvSpPr>
              <p:cNvPr id="90" name="Rectangle 148"/>
              <p:cNvSpPr>
                <a:spLocks noChangeArrowheads="1"/>
              </p:cNvSpPr>
              <p:nvPr/>
            </p:nvSpPr>
            <p:spPr bwMode="auto">
              <a:xfrm>
                <a:off x="3111" y="1905"/>
                <a:ext cx="9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200" b="1"/>
                  <a:t>18</a:t>
                </a:r>
              </a:p>
            </p:txBody>
          </p:sp>
          <p:sp>
            <p:nvSpPr>
              <p:cNvPr id="91" name="Rectangle 149"/>
              <p:cNvSpPr>
                <a:spLocks noChangeArrowheads="1"/>
              </p:cNvSpPr>
              <p:nvPr/>
            </p:nvSpPr>
            <p:spPr bwMode="auto">
              <a:xfrm>
                <a:off x="3222" y="1905"/>
                <a:ext cx="75"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200" b="1"/>
                  <a:t>K</a:t>
                </a:r>
              </a:p>
            </p:txBody>
          </p:sp>
          <p:sp>
            <p:nvSpPr>
              <p:cNvPr id="92" name="Rectangle 150"/>
              <p:cNvSpPr>
                <a:spLocks noChangeArrowheads="1"/>
              </p:cNvSpPr>
              <p:nvPr/>
            </p:nvSpPr>
            <p:spPr bwMode="auto">
              <a:xfrm>
                <a:off x="3191" y="2623"/>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200" b="1"/>
                  <a:t>6</a:t>
                </a:r>
              </a:p>
            </p:txBody>
          </p:sp>
          <p:sp>
            <p:nvSpPr>
              <p:cNvPr id="93" name="Rectangle 151"/>
              <p:cNvSpPr>
                <a:spLocks noChangeArrowheads="1"/>
              </p:cNvSpPr>
              <p:nvPr/>
            </p:nvSpPr>
            <p:spPr bwMode="auto">
              <a:xfrm>
                <a:off x="3236" y="2623"/>
                <a:ext cx="75"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200" b="1"/>
                  <a:t>K</a:t>
                </a:r>
              </a:p>
            </p:txBody>
          </p:sp>
          <p:sp>
            <p:nvSpPr>
              <p:cNvPr id="94" name="Rectangle 154"/>
              <p:cNvSpPr>
                <a:spLocks noChangeArrowheads="1"/>
              </p:cNvSpPr>
              <p:nvPr/>
            </p:nvSpPr>
            <p:spPr bwMode="auto">
              <a:xfrm>
                <a:off x="3165" y="2425"/>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200" b="1"/>
                  <a:t>8</a:t>
                </a:r>
              </a:p>
            </p:txBody>
          </p:sp>
          <p:sp>
            <p:nvSpPr>
              <p:cNvPr id="95" name="Rectangle 155"/>
              <p:cNvSpPr>
                <a:spLocks noChangeArrowheads="1"/>
              </p:cNvSpPr>
              <p:nvPr/>
            </p:nvSpPr>
            <p:spPr bwMode="auto">
              <a:xfrm>
                <a:off x="3222" y="2425"/>
                <a:ext cx="75"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200" b="1"/>
                  <a:t>K</a:t>
                </a:r>
              </a:p>
            </p:txBody>
          </p:sp>
          <p:sp>
            <p:nvSpPr>
              <p:cNvPr id="96" name="Rectangle 158"/>
              <p:cNvSpPr>
                <a:spLocks noChangeArrowheads="1"/>
              </p:cNvSpPr>
              <p:nvPr/>
            </p:nvSpPr>
            <p:spPr bwMode="auto">
              <a:xfrm>
                <a:off x="3111" y="3198"/>
                <a:ext cx="9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200" b="1"/>
                  <a:t>14</a:t>
                </a:r>
              </a:p>
            </p:txBody>
          </p:sp>
          <p:sp>
            <p:nvSpPr>
              <p:cNvPr id="97" name="Rectangle 159"/>
              <p:cNvSpPr>
                <a:spLocks noChangeArrowheads="1"/>
              </p:cNvSpPr>
              <p:nvPr/>
            </p:nvSpPr>
            <p:spPr bwMode="auto">
              <a:xfrm>
                <a:off x="3222" y="3198"/>
                <a:ext cx="75"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200" b="1"/>
                  <a:t>K</a:t>
                </a:r>
              </a:p>
            </p:txBody>
          </p:sp>
          <p:sp>
            <p:nvSpPr>
              <p:cNvPr id="98" name="Rectangle 166"/>
              <p:cNvSpPr>
                <a:spLocks noChangeArrowheads="1"/>
              </p:cNvSpPr>
              <p:nvPr/>
            </p:nvSpPr>
            <p:spPr bwMode="auto">
              <a:xfrm>
                <a:off x="3111" y="3750"/>
                <a:ext cx="9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200" b="1"/>
                  <a:t>36</a:t>
                </a:r>
              </a:p>
            </p:txBody>
          </p:sp>
          <p:sp>
            <p:nvSpPr>
              <p:cNvPr id="99" name="Rectangle 167"/>
              <p:cNvSpPr>
                <a:spLocks noChangeArrowheads="1"/>
              </p:cNvSpPr>
              <p:nvPr/>
            </p:nvSpPr>
            <p:spPr bwMode="auto">
              <a:xfrm>
                <a:off x="3222" y="3750"/>
                <a:ext cx="75"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200" b="1"/>
                  <a:t>K</a:t>
                </a:r>
              </a:p>
            </p:txBody>
          </p:sp>
          <p:sp>
            <p:nvSpPr>
              <p:cNvPr id="100" name="Rectangle 172"/>
              <p:cNvSpPr>
                <a:spLocks noChangeArrowheads="1"/>
              </p:cNvSpPr>
              <p:nvPr/>
            </p:nvSpPr>
            <p:spPr bwMode="auto">
              <a:xfrm>
                <a:off x="3941" y="3138"/>
                <a:ext cx="635"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1" name="Rectangle 173"/>
              <p:cNvSpPr>
                <a:spLocks noChangeArrowheads="1"/>
              </p:cNvSpPr>
              <p:nvPr/>
            </p:nvSpPr>
            <p:spPr bwMode="auto">
              <a:xfrm>
                <a:off x="4006" y="3176"/>
                <a:ext cx="43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200" b="1"/>
                  <a:t>Free block</a:t>
                </a:r>
              </a:p>
            </p:txBody>
          </p:sp>
          <p:sp>
            <p:nvSpPr>
              <p:cNvPr id="102" name="Rectangle 174"/>
              <p:cNvSpPr>
                <a:spLocks noChangeArrowheads="1"/>
              </p:cNvSpPr>
              <p:nvPr/>
            </p:nvSpPr>
            <p:spPr bwMode="auto">
              <a:xfrm>
                <a:off x="3993" y="2955"/>
                <a:ext cx="63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200" b="1"/>
                  <a:t>Allocated block</a:t>
                </a:r>
              </a:p>
            </p:txBody>
          </p:sp>
        </p:grpSp>
        <p:sp>
          <p:nvSpPr>
            <p:cNvPr id="45" name="Line 190"/>
            <p:cNvSpPr>
              <a:spLocks noChangeShapeType="1"/>
            </p:cNvSpPr>
            <p:nvPr/>
          </p:nvSpPr>
          <p:spPr bwMode="auto">
            <a:xfrm>
              <a:off x="5082" y="1056"/>
              <a:ext cx="0" cy="292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 name="Line 191"/>
            <p:cNvSpPr>
              <a:spLocks noChangeShapeType="1"/>
            </p:cNvSpPr>
            <p:nvPr/>
          </p:nvSpPr>
          <p:spPr bwMode="auto">
            <a:xfrm>
              <a:off x="5472" y="1200"/>
              <a:ext cx="0" cy="27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03" name="Group 193"/>
          <p:cNvGrpSpPr>
            <a:grpSpLocks/>
          </p:cNvGrpSpPr>
          <p:nvPr/>
        </p:nvGrpSpPr>
        <p:grpSpPr bwMode="auto">
          <a:xfrm>
            <a:off x="4438502" y="5611639"/>
            <a:ext cx="1908175" cy="849312"/>
            <a:chOff x="4269" y="3419"/>
            <a:chExt cx="1202" cy="535"/>
          </a:xfrm>
        </p:grpSpPr>
        <p:grpSp>
          <p:nvGrpSpPr>
            <p:cNvPr id="104" name="Group 194"/>
            <p:cNvGrpSpPr>
              <a:grpSpLocks/>
            </p:cNvGrpSpPr>
            <p:nvPr/>
          </p:nvGrpSpPr>
          <p:grpSpPr bwMode="auto">
            <a:xfrm>
              <a:off x="4269" y="3419"/>
              <a:ext cx="1202" cy="535"/>
              <a:chOff x="4269" y="3419"/>
              <a:chExt cx="1202" cy="535"/>
            </a:xfrm>
          </p:grpSpPr>
          <p:sp>
            <p:nvSpPr>
              <p:cNvPr id="106" name="Rectangle 195"/>
              <p:cNvSpPr>
                <a:spLocks noChangeArrowheads="1"/>
              </p:cNvSpPr>
              <p:nvPr/>
            </p:nvSpPr>
            <p:spPr bwMode="auto">
              <a:xfrm>
                <a:off x="5086" y="3580"/>
                <a:ext cx="385" cy="220"/>
              </a:xfrm>
              <a:prstGeom prst="rect">
                <a:avLst/>
              </a:prstGeom>
              <a:solidFill>
                <a:srgbClr val="66CCFF"/>
              </a:solidFill>
              <a:ln w="19050">
                <a:solidFill>
                  <a:schemeClr val="tx1"/>
                </a:solidFill>
                <a:miter lim="800000"/>
                <a:headEnd/>
                <a:tailEnd/>
              </a:ln>
            </p:spPr>
            <p:txBody>
              <a:bodyPr/>
              <a:lstStyle/>
              <a:p>
                <a:endParaRPr lang="zh-CN" altLang="en-US"/>
              </a:p>
            </p:txBody>
          </p:sp>
          <p:sp>
            <p:nvSpPr>
              <p:cNvPr id="107" name="Line 196"/>
              <p:cNvSpPr>
                <a:spLocks noChangeShapeType="1"/>
              </p:cNvSpPr>
              <p:nvPr/>
            </p:nvSpPr>
            <p:spPr bwMode="auto">
              <a:xfrm>
                <a:off x="4478" y="3581"/>
                <a:ext cx="1" cy="10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 name="Line 197"/>
              <p:cNvSpPr>
                <a:spLocks noChangeShapeType="1"/>
              </p:cNvSpPr>
              <p:nvPr/>
            </p:nvSpPr>
            <p:spPr bwMode="auto">
              <a:xfrm>
                <a:off x="4479" y="3690"/>
                <a:ext cx="513"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9" name="Rectangle 198"/>
              <p:cNvSpPr>
                <a:spLocks noChangeArrowheads="1"/>
              </p:cNvSpPr>
              <p:nvPr/>
            </p:nvSpPr>
            <p:spPr bwMode="auto">
              <a:xfrm>
                <a:off x="4822" y="3838"/>
                <a:ext cx="96"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200" b="1"/>
                  <a:t>20</a:t>
                </a:r>
              </a:p>
            </p:txBody>
          </p:sp>
          <p:sp>
            <p:nvSpPr>
              <p:cNvPr id="110" name="Rectangle 199"/>
              <p:cNvSpPr>
                <a:spLocks noChangeArrowheads="1"/>
              </p:cNvSpPr>
              <p:nvPr/>
            </p:nvSpPr>
            <p:spPr bwMode="auto">
              <a:xfrm>
                <a:off x="4932" y="3838"/>
                <a:ext cx="75"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200" b="1"/>
                  <a:t>K</a:t>
                </a:r>
              </a:p>
            </p:txBody>
          </p:sp>
          <p:sp>
            <p:nvSpPr>
              <p:cNvPr id="111" name="Rectangle 200"/>
              <p:cNvSpPr>
                <a:spLocks noChangeArrowheads="1"/>
              </p:cNvSpPr>
              <p:nvPr/>
            </p:nvSpPr>
            <p:spPr bwMode="auto">
              <a:xfrm>
                <a:off x="4269" y="3419"/>
                <a:ext cx="33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200" b="1"/>
                  <a:t>Next Fit</a:t>
                </a:r>
              </a:p>
            </p:txBody>
          </p:sp>
        </p:grpSp>
        <p:sp>
          <p:nvSpPr>
            <p:cNvPr id="105" name="Freeform 201"/>
            <p:cNvSpPr>
              <a:spLocks/>
            </p:cNvSpPr>
            <p:nvPr/>
          </p:nvSpPr>
          <p:spPr bwMode="auto">
            <a:xfrm>
              <a:off x="4953" y="3652"/>
              <a:ext cx="77" cy="77"/>
            </a:xfrm>
            <a:custGeom>
              <a:avLst/>
              <a:gdLst>
                <a:gd name="T0" fmla="*/ 0 w 97"/>
                <a:gd name="T1" fmla="*/ 97 h 97"/>
                <a:gd name="T2" fmla="*/ 97 w 97"/>
                <a:gd name="T3" fmla="*/ 48 h 97"/>
                <a:gd name="T4" fmla="*/ 0 w 97"/>
                <a:gd name="T5" fmla="*/ 0 h 97"/>
                <a:gd name="T6" fmla="*/ 31 w 97"/>
                <a:gd name="T7" fmla="*/ 48 h 97"/>
                <a:gd name="T8" fmla="*/ 0 w 97"/>
                <a:gd name="T9" fmla="*/ 97 h 97"/>
              </a:gdLst>
              <a:ahLst/>
              <a:cxnLst>
                <a:cxn ang="0">
                  <a:pos x="T0" y="T1"/>
                </a:cxn>
                <a:cxn ang="0">
                  <a:pos x="T2" y="T3"/>
                </a:cxn>
                <a:cxn ang="0">
                  <a:pos x="T4" y="T5"/>
                </a:cxn>
                <a:cxn ang="0">
                  <a:pos x="T6" y="T7"/>
                </a:cxn>
                <a:cxn ang="0">
                  <a:pos x="T8" y="T9"/>
                </a:cxn>
              </a:cxnLst>
              <a:rect l="0" t="0" r="r" b="b"/>
              <a:pathLst>
                <a:path w="97" h="97">
                  <a:moveTo>
                    <a:pt x="0" y="97"/>
                  </a:moveTo>
                  <a:lnTo>
                    <a:pt x="97" y="48"/>
                  </a:lnTo>
                  <a:lnTo>
                    <a:pt x="0" y="0"/>
                  </a:lnTo>
                  <a:lnTo>
                    <a:pt x="31" y="48"/>
                  </a:lnTo>
                  <a:lnTo>
                    <a:pt x="0" y="97"/>
                  </a:lnTo>
                  <a:close/>
                </a:path>
              </a:pathLst>
            </a:custGeom>
            <a:solidFill>
              <a:schemeClr val="tx1"/>
            </a:solidFill>
            <a:ln w="9525">
              <a:solidFill>
                <a:schemeClr val="tx1"/>
              </a:solidFill>
              <a:round/>
              <a:headEnd/>
              <a:tailEnd/>
            </a:ln>
          </p:spPr>
          <p:txBody>
            <a:bodyPr/>
            <a:lstStyle/>
            <a:p>
              <a:endParaRPr lang="zh-CN" altLang="en-US"/>
            </a:p>
          </p:txBody>
        </p:sp>
      </p:grpSp>
      <p:grpSp>
        <p:nvGrpSpPr>
          <p:cNvPr id="112" name="Group 202"/>
          <p:cNvGrpSpPr>
            <a:grpSpLocks/>
          </p:cNvGrpSpPr>
          <p:nvPr/>
        </p:nvGrpSpPr>
        <p:grpSpPr bwMode="auto">
          <a:xfrm>
            <a:off x="4525814" y="2857326"/>
            <a:ext cx="1820863" cy="708025"/>
            <a:chOff x="4324" y="1684"/>
            <a:chExt cx="1147" cy="446"/>
          </a:xfrm>
        </p:grpSpPr>
        <p:sp>
          <p:nvSpPr>
            <p:cNvPr id="113" name="Rectangle 203"/>
            <p:cNvSpPr>
              <a:spLocks noChangeArrowheads="1"/>
            </p:cNvSpPr>
            <p:nvPr/>
          </p:nvSpPr>
          <p:spPr bwMode="auto">
            <a:xfrm>
              <a:off x="4986" y="2015"/>
              <a:ext cx="75"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200" b="1"/>
                <a:t>K</a:t>
              </a:r>
            </a:p>
          </p:txBody>
        </p:sp>
        <p:grpSp>
          <p:nvGrpSpPr>
            <p:cNvPr id="114" name="Group 204"/>
            <p:cNvGrpSpPr>
              <a:grpSpLocks/>
            </p:cNvGrpSpPr>
            <p:nvPr/>
          </p:nvGrpSpPr>
          <p:grpSpPr bwMode="auto">
            <a:xfrm>
              <a:off x="4324" y="1684"/>
              <a:ext cx="1147" cy="446"/>
              <a:chOff x="4324" y="1684"/>
              <a:chExt cx="1147" cy="446"/>
            </a:xfrm>
          </p:grpSpPr>
          <p:sp>
            <p:nvSpPr>
              <p:cNvPr id="115" name="Rectangle 205"/>
              <p:cNvSpPr>
                <a:spLocks noChangeArrowheads="1"/>
              </p:cNvSpPr>
              <p:nvPr/>
            </p:nvSpPr>
            <p:spPr bwMode="auto">
              <a:xfrm>
                <a:off x="5086" y="1867"/>
                <a:ext cx="385" cy="165"/>
              </a:xfrm>
              <a:prstGeom prst="rect">
                <a:avLst/>
              </a:prstGeom>
              <a:solidFill>
                <a:srgbClr val="66CCFF"/>
              </a:solidFill>
              <a:ln w="19050">
                <a:solidFill>
                  <a:schemeClr val="tx1"/>
                </a:solidFill>
                <a:miter lim="800000"/>
                <a:headEnd/>
                <a:tailEnd/>
              </a:ln>
            </p:spPr>
            <p:txBody>
              <a:bodyPr/>
              <a:lstStyle/>
              <a:p>
                <a:endParaRPr lang="zh-CN" altLang="en-US"/>
              </a:p>
            </p:txBody>
          </p:sp>
          <p:sp>
            <p:nvSpPr>
              <p:cNvPr id="116" name="Line 206"/>
              <p:cNvSpPr>
                <a:spLocks noChangeShapeType="1"/>
              </p:cNvSpPr>
              <p:nvPr/>
            </p:nvSpPr>
            <p:spPr bwMode="auto">
              <a:xfrm>
                <a:off x="4478" y="1812"/>
                <a:ext cx="1" cy="16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7" name="Line 207"/>
              <p:cNvSpPr>
                <a:spLocks noChangeShapeType="1"/>
              </p:cNvSpPr>
              <p:nvPr/>
            </p:nvSpPr>
            <p:spPr bwMode="auto">
              <a:xfrm>
                <a:off x="4479" y="1977"/>
                <a:ext cx="500"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8" name="Freeform 208"/>
              <p:cNvSpPr>
                <a:spLocks/>
              </p:cNvSpPr>
              <p:nvPr/>
            </p:nvSpPr>
            <p:spPr bwMode="auto">
              <a:xfrm>
                <a:off x="4953" y="1939"/>
                <a:ext cx="77" cy="77"/>
              </a:xfrm>
              <a:custGeom>
                <a:avLst/>
                <a:gdLst>
                  <a:gd name="T0" fmla="*/ 0 w 97"/>
                  <a:gd name="T1" fmla="*/ 97 h 97"/>
                  <a:gd name="T2" fmla="*/ 97 w 97"/>
                  <a:gd name="T3" fmla="*/ 48 h 97"/>
                  <a:gd name="T4" fmla="*/ 0 w 97"/>
                  <a:gd name="T5" fmla="*/ 0 h 97"/>
                  <a:gd name="T6" fmla="*/ 31 w 97"/>
                  <a:gd name="T7" fmla="*/ 48 h 97"/>
                  <a:gd name="T8" fmla="*/ 0 w 97"/>
                  <a:gd name="T9" fmla="*/ 97 h 97"/>
                </a:gdLst>
                <a:ahLst/>
                <a:cxnLst>
                  <a:cxn ang="0">
                    <a:pos x="T0" y="T1"/>
                  </a:cxn>
                  <a:cxn ang="0">
                    <a:pos x="T2" y="T3"/>
                  </a:cxn>
                  <a:cxn ang="0">
                    <a:pos x="T4" y="T5"/>
                  </a:cxn>
                  <a:cxn ang="0">
                    <a:pos x="T6" y="T7"/>
                  </a:cxn>
                  <a:cxn ang="0">
                    <a:pos x="T8" y="T9"/>
                  </a:cxn>
                </a:cxnLst>
                <a:rect l="0" t="0" r="r" b="b"/>
                <a:pathLst>
                  <a:path w="97" h="97">
                    <a:moveTo>
                      <a:pt x="0" y="97"/>
                    </a:moveTo>
                    <a:lnTo>
                      <a:pt x="97" y="48"/>
                    </a:lnTo>
                    <a:lnTo>
                      <a:pt x="0" y="0"/>
                    </a:lnTo>
                    <a:lnTo>
                      <a:pt x="31" y="48"/>
                    </a:lnTo>
                    <a:lnTo>
                      <a:pt x="0" y="97"/>
                    </a:lnTo>
                    <a:close/>
                  </a:path>
                </a:pathLst>
              </a:custGeom>
              <a:solidFill>
                <a:schemeClr val="tx1"/>
              </a:solidFill>
              <a:ln w="9525">
                <a:solidFill>
                  <a:schemeClr val="tx1"/>
                </a:solidFill>
                <a:round/>
                <a:headEnd/>
                <a:tailEnd/>
              </a:ln>
            </p:spPr>
            <p:txBody>
              <a:bodyPr/>
              <a:lstStyle/>
              <a:p>
                <a:endParaRPr lang="zh-CN" altLang="en-US"/>
              </a:p>
            </p:txBody>
          </p:sp>
          <p:sp>
            <p:nvSpPr>
              <p:cNvPr id="119" name="Rectangle 209"/>
              <p:cNvSpPr>
                <a:spLocks noChangeArrowheads="1"/>
              </p:cNvSpPr>
              <p:nvPr/>
            </p:nvSpPr>
            <p:spPr bwMode="auto">
              <a:xfrm>
                <a:off x="4931" y="2015"/>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200" b="1"/>
                  <a:t>2</a:t>
                </a:r>
              </a:p>
            </p:txBody>
          </p:sp>
          <p:sp>
            <p:nvSpPr>
              <p:cNvPr id="120" name="Rectangle 210"/>
              <p:cNvSpPr>
                <a:spLocks noChangeArrowheads="1"/>
              </p:cNvSpPr>
              <p:nvPr/>
            </p:nvSpPr>
            <p:spPr bwMode="auto">
              <a:xfrm>
                <a:off x="4324" y="1684"/>
                <a:ext cx="31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200" b="1"/>
                  <a:t>Best Fit</a:t>
                </a:r>
              </a:p>
            </p:txBody>
          </p:sp>
        </p:grpSp>
      </p:grpSp>
      <p:grpSp>
        <p:nvGrpSpPr>
          <p:cNvPr id="121" name="Group 211"/>
          <p:cNvGrpSpPr>
            <a:grpSpLocks/>
          </p:cNvGrpSpPr>
          <p:nvPr/>
        </p:nvGrpSpPr>
        <p:grpSpPr bwMode="auto">
          <a:xfrm>
            <a:off x="4419452" y="2095326"/>
            <a:ext cx="1927225" cy="857250"/>
            <a:chOff x="4257" y="1204"/>
            <a:chExt cx="1214" cy="540"/>
          </a:xfrm>
        </p:grpSpPr>
        <p:sp>
          <p:nvSpPr>
            <p:cNvPr id="122" name="Rectangle 212"/>
            <p:cNvSpPr>
              <a:spLocks noChangeArrowheads="1"/>
            </p:cNvSpPr>
            <p:nvPr/>
          </p:nvSpPr>
          <p:spPr bwMode="auto">
            <a:xfrm>
              <a:off x="4901" y="1629"/>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200" b="1"/>
                <a:t>6</a:t>
              </a:r>
            </a:p>
          </p:txBody>
        </p:sp>
        <p:grpSp>
          <p:nvGrpSpPr>
            <p:cNvPr id="123" name="Group 213"/>
            <p:cNvGrpSpPr>
              <a:grpSpLocks/>
            </p:cNvGrpSpPr>
            <p:nvPr/>
          </p:nvGrpSpPr>
          <p:grpSpPr bwMode="auto">
            <a:xfrm>
              <a:off x="4257" y="1204"/>
              <a:ext cx="1214" cy="540"/>
              <a:chOff x="4257" y="1204"/>
              <a:chExt cx="1214" cy="540"/>
            </a:xfrm>
          </p:grpSpPr>
          <p:sp>
            <p:nvSpPr>
              <p:cNvPr id="125" name="Rectangle 214"/>
              <p:cNvSpPr>
                <a:spLocks noChangeArrowheads="1"/>
              </p:cNvSpPr>
              <p:nvPr/>
            </p:nvSpPr>
            <p:spPr bwMode="auto">
              <a:xfrm>
                <a:off x="5086" y="1424"/>
                <a:ext cx="385" cy="221"/>
              </a:xfrm>
              <a:prstGeom prst="rect">
                <a:avLst/>
              </a:prstGeom>
              <a:solidFill>
                <a:srgbClr val="66CCFF"/>
              </a:solidFill>
              <a:ln w="19050">
                <a:solidFill>
                  <a:schemeClr val="tx1"/>
                </a:solidFill>
                <a:miter lim="800000"/>
                <a:headEnd/>
                <a:tailEnd/>
              </a:ln>
            </p:spPr>
            <p:txBody>
              <a:bodyPr/>
              <a:lstStyle/>
              <a:p>
                <a:endParaRPr lang="zh-CN" altLang="en-US"/>
              </a:p>
            </p:txBody>
          </p:sp>
          <p:sp>
            <p:nvSpPr>
              <p:cNvPr id="126" name="Line 215"/>
              <p:cNvSpPr>
                <a:spLocks noChangeShapeType="1"/>
              </p:cNvSpPr>
              <p:nvPr/>
            </p:nvSpPr>
            <p:spPr bwMode="auto">
              <a:xfrm>
                <a:off x="4478" y="1370"/>
                <a:ext cx="1" cy="16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7" name="Line 216"/>
              <p:cNvSpPr>
                <a:spLocks noChangeShapeType="1"/>
              </p:cNvSpPr>
              <p:nvPr/>
            </p:nvSpPr>
            <p:spPr bwMode="auto">
              <a:xfrm>
                <a:off x="4479" y="1534"/>
                <a:ext cx="500"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8" name="Freeform 217"/>
              <p:cNvSpPr>
                <a:spLocks/>
              </p:cNvSpPr>
              <p:nvPr/>
            </p:nvSpPr>
            <p:spPr bwMode="auto">
              <a:xfrm>
                <a:off x="4953" y="1497"/>
                <a:ext cx="77" cy="76"/>
              </a:xfrm>
              <a:custGeom>
                <a:avLst/>
                <a:gdLst>
                  <a:gd name="T0" fmla="*/ 0 w 97"/>
                  <a:gd name="T1" fmla="*/ 96 h 96"/>
                  <a:gd name="T2" fmla="*/ 97 w 97"/>
                  <a:gd name="T3" fmla="*/ 47 h 96"/>
                  <a:gd name="T4" fmla="*/ 0 w 97"/>
                  <a:gd name="T5" fmla="*/ 0 h 96"/>
                  <a:gd name="T6" fmla="*/ 31 w 97"/>
                  <a:gd name="T7" fmla="*/ 47 h 96"/>
                  <a:gd name="T8" fmla="*/ 0 w 97"/>
                  <a:gd name="T9" fmla="*/ 96 h 96"/>
                </a:gdLst>
                <a:ahLst/>
                <a:cxnLst>
                  <a:cxn ang="0">
                    <a:pos x="T0" y="T1"/>
                  </a:cxn>
                  <a:cxn ang="0">
                    <a:pos x="T2" y="T3"/>
                  </a:cxn>
                  <a:cxn ang="0">
                    <a:pos x="T4" y="T5"/>
                  </a:cxn>
                  <a:cxn ang="0">
                    <a:pos x="T6" y="T7"/>
                  </a:cxn>
                  <a:cxn ang="0">
                    <a:pos x="T8" y="T9"/>
                  </a:cxn>
                </a:cxnLst>
                <a:rect l="0" t="0" r="r" b="b"/>
                <a:pathLst>
                  <a:path w="97" h="96">
                    <a:moveTo>
                      <a:pt x="0" y="96"/>
                    </a:moveTo>
                    <a:lnTo>
                      <a:pt x="97" y="47"/>
                    </a:lnTo>
                    <a:lnTo>
                      <a:pt x="0" y="0"/>
                    </a:lnTo>
                    <a:lnTo>
                      <a:pt x="31" y="47"/>
                    </a:lnTo>
                    <a:lnTo>
                      <a:pt x="0" y="96"/>
                    </a:lnTo>
                    <a:close/>
                  </a:path>
                </a:pathLst>
              </a:custGeom>
              <a:solidFill>
                <a:schemeClr val="tx1"/>
              </a:solidFill>
              <a:ln w="9525">
                <a:solidFill>
                  <a:schemeClr val="tx1"/>
                </a:solidFill>
                <a:round/>
                <a:headEnd/>
                <a:tailEnd/>
              </a:ln>
            </p:spPr>
            <p:txBody>
              <a:bodyPr/>
              <a:lstStyle/>
              <a:p>
                <a:endParaRPr lang="zh-CN" altLang="en-US"/>
              </a:p>
            </p:txBody>
          </p:sp>
          <p:sp>
            <p:nvSpPr>
              <p:cNvPr id="129" name="Rectangle 218"/>
              <p:cNvSpPr>
                <a:spLocks noChangeArrowheads="1"/>
              </p:cNvSpPr>
              <p:nvPr/>
            </p:nvSpPr>
            <p:spPr bwMode="auto">
              <a:xfrm>
                <a:off x="4947" y="1629"/>
                <a:ext cx="75"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200" b="1"/>
                  <a:t>K</a:t>
                </a:r>
              </a:p>
            </p:txBody>
          </p:sp>
          <p:sp>
            <p:nvSpPr>
              <p:cNvPr id="130" name="Rectangle 219"/>
              <p:cNvSpPr>
                <a:spLocks noChangeArrowheads="1"/>
              </p:cNvSpPr>
              <p:nvPr/>
            </p:nvSpPr>
            <p:spPr bwMode="auto">
              <a:xfrm>
                <a:off x="4257" y="1204"/>
                <a:ext cx="524"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sp>
          <p:nvSpPr>
            <p:cNvPr id="124" name="Rectangle 220"/>
            <p:cNvSpPr>
              <a:spLocks noChangeArrowheads="1"/>
            </p:cNvSpPr>
            <p:nvPr/>
          </p:nvSpPr>
          <p:spPr bwMode="auto">
            <a:xfrm>
              <a:off x="4324" y="1241"/>
              <a:ext cx="340"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200" b="1"/>
                <a:t>First Fit</a:t>
              </a:r>
            </a:p>
          </p:txBody>
        </p:sp>
      </p:grpSp>
    </p:spTree>
    <p:extLst>
      <p:ext uri="{BB962C8B-B14F-4D97-AF65-F5344CB8AC3E}">
        <p14:creationId xmlns:p14="http://schemas.microsoft.com/office/powerpoint/2010/main" val="3352114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121"/>
                                        </p:tgtEl>
                                        <p:attrNameLst>
                                          <p:attrName>style.visibility</p:attrName>
                                        </p:attrNameLst>
                                      </p:cBhvr>
                                      <p:to>
                                        <p:strVal val="visible"/>
                                      </p:to>
                                    </p:set>
                                    <p:animEffect transition="in" filter="strips(downRight)">
                                      <p:cBhvr>
                                        <p:cTn id="7" dur="500"/>
                                        <p:tgtEl>
                                          <p:spTgt spid="121"/>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112"/>
                                        </p:tgtEl>
                                        <p:attrNameLst>
                                          <p:attrName>style.visibility</p:attrName>
                                        </p:attrNameLst>
                                      </p:cBhvr>
                                      <p:to>
                                        <p:strVal val="visible"/>
                                      </p:to>
                                    </p:set>
                                    <p:animEffect transition="in" filter="strips(downRight)">
                                      <p:cBhvr>
                                        <p:cTn id="12" dur="500"/>
                                        <p:tgtEl>
                                          <p:spTgt spid="112"/>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103"/>
                                        </p:tgtEl>
                                        <p:attrNameLst>
                                          <p:attrName>style.visibility</p:attrName>
                                        </p:attrNameLst>
                                      </p:cBhvr>
                                      <p:to>
                                        <p:strVal val="visible"/>
                                      </p:to>
                                    </p:set>
                                    <p:animEffect transition="in" filter="strips(downRight)">
                                      <p:cBhvr>
                                        <p:cTn id="17" dur="50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动态分区分配算法</a:t>
            </a:r>
          </a:p>
        </p:txBody>
      </p:sp>
      <p:sp>
        <p:nvSpPr>
          <p:cNvPr id="3" name="Content Placeholder 2"/>
          <p:cNvSpPr>
            <a:spLocks noGrp="1"/>
          </p:cNvSpPr>
          <p:nvPr>
            <p:ph idx="1"/>
          </p:nvPr>
        </p:nvSpPr>
        <p:spPr/>
        <p:txBody>
          <a:bodyPr/>
          <a:lstStyle/>
          <a:p>
            <a:r>
              <a:rPr lang="zh-CN" altLang="en-US" dirty="0"/>
              <a:t>动态分区时的回收与拼接</a:t>
            </a:r>
          </a:p>
        </p:txBody>
      </p:sp>
      <p:sp>
        <p:nvSpPr>
          <p:cNvPr id="4" name="Date Placeholder 3"/>
          <p:cNvSpPr>
            <a:spLocks noGrp="1"/>
          </p:cNvSpPr>
          <p:nvPr>
            <p:ph type="dt" sz="half" idx="10"/>
          </p:nvPr>
        </p:nvSpPr>
        <p:spPr/>
        <p:txBody>
          <a:bodyPr/>
          <a:lstStyle/>
          <a:p>
            <a:fld id="{41A093CC-43BD-45FD-A1E2-CC2BE9625B6E}"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42</a:t>
            </a:fld>
            <a:endParaRPr lang="zh-CN" altLang="en-US" dirty="0"/>
          </a:p>
        </p:txBody>
      </p:sp>
      <p:sp>
        <p:nvSpPr>
          <p:cNvPr id="7" name="Rectangle 24"/>
          <p:cNvSpPr>
            <a:spLocks noChangeArrowheads="1"/>
          </p:cNvSpPr>
          <p:nvPr/>
        </p:nvSpPr>
        <p:spPr bwMode="auto">
          <a:xfrm>
            <a:off x="1397744" y="2977232"/>
            <a:ext cx="1143000" cy="39528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800" b="1">
                <a:latin typeface="楷体" panose="02010609060101010101" pitchFamily="49" charset="-122"/>
                <a:ea typeface="楷体" panose="02010609060101010101" pitchFamily="49" charset="-122"/>
              </a:rPr>
              <a:t>上空闲区</a:t>
            </a:r>
          </a:p>
        </p:txBody>
      </p:sp>
      <p:sp>
        <p:nvSpPr>
          <p:cNvPr id="8" name="Rectangle 25"/>
          <p:cNvSpPr>
            <a:spLocks noChangeArrowheads="1"/>
          </p:cNvSpPr>
          <p:nvPr/>
        </p:nvSpPr>
        <p:spPr bwMode="auto">
          <a:xfrm>
            <a:off x="1399332" y="3739232"/>
            <a:ext cx="1143000" cy="39528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800" b="1">
                <a:latin typeface="楷体" panose="02010609060101010101" pitchFamily="49" charset="-122"/>
                <a:ea typeface="楷体" panose="02010609060101010101" pitchFamily="49" charset="-122"/>
              </a:rPr>
              <a:t>下空闲区</a:t>
            </a:r>
          </a:p>
        </p:txBody>
      </p:sp>
      <p:sp>
        <p:nvSpPr>
          <p:cNvPr id="9" name="Rectangle 26" descr="深色上对角线"/>
          <p:cNvSpPr>
            <a:spLocks noChangeArrowheads="1"/>
          </p:cNvSpPr>
          <p:nvPr/>
        </p:nvSpPr>
        <p:spPr bwMode="auto">
          <a:xfrm>
            <a:off x="1397744" y="2581945"/>
            <a:ext cx="1143000" cy="395287"/>
          </a:xfrm>
          <a:prstGeom prst="rect">
            <a:avLst/>
          </a:prstGeom>
          <a:pattFill prst="dkUpDiag">
            <a:fgClr>
              <a:schemeClr val="tx1"/>
            </a:fgClr>
            <a:bgClr>
              <a:schemeClr val="bg1"/>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10" name="Rectangle 27" descr="深色上对角线"/>
          <p:cNvSpPr>
            <a:spLocks noChangeArrowheads="1"/>
          </p:cNvSpPr>
          <p:nvPr/>
        </p:nvSpPr>
        <p:spPr bwMode="auto">
          <a:xfrm>
            <a:off x="1397744" y="4144045"/>
            <a:ext cx="1143000" cy="395287"/>
          </a:xfrm>
          <a:prstGeom prst="rect">
            <a:avLst/>
          </a:prstGeom>
          <a:pattFill prst="dkUpDiag">
            <a:fgClr>
              <a:schemeClr val="tx1"/>
            </a:fgClr>
            <a:bgClr>
              <a:schemeClr val="bg1"/>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11" name="Line 28"/>
          <p:cNvSpPr>
            <a:spLocks noChangeShapeType="1"/>
          </p:cNvSpPr>
          <p:nvPr/>
        </p:nvSpPr>
        <p:spPr bwMode="auto">
          <a:xfrm>
            <a:off x="1397744" y="2367632"/>
            <a:ext cx="0" cy="2362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楷体" panose="02010609060101010101" pitchFamily="49" charset="-122"/>
              <a:ea typeface="楷体" panose="02010609060101010101" pitchFamily="49" charset="-122"/>
            </a:endParaRPr>
          </a:p>
        </p:txBody>
      </p:sp>
      <p:sp>
        <p:nvSpPr>
          <p:cNvPr id="12" name="Line 29"/>
          <p:cNvSpPr>
            <a:spLocks noChangeShapeType="1"/>
          </p:cNvSpPr>
          <p:nvPr/>
        </p:nvSpPr>
        <p:spPr bwMode="auto">
          <a:xfrm>
            <a:off x="2540744" y="2386682"/>
            <a:ext cx="0" cy="2362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楷体" panose="02010609060101010101" pitchFamily="49" charset="-122"/>
              <a:ea typeface="楷体" panose="02010609060101010101" pitchFamily="49" charset="-122"/>
            </a:endParaRPr>
          </a:p>
        </p:txBody>
      </p:sp>
      <p:sp>
        <p:nvSpPr>
          <p:cNvPr id="13" name="Rectangle 30"/>
          <p:cNvSpPr>
            <a:spLocks noChangeArrowheads="1"/>
          </p:cNvSpPr>
          <p:nvPr/>
        </p:nvSpPr>
        <p:spPr bwMode="auto">
          <a:xfrm>
            <a:off x="3074144" y="2977232"/>
            <a:ext cx="1143000" cy="39528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800" b="1">
                <a:latin typeface="楷体" panose="02010609060101010101" pitchFamily="49" charset="-122"/>
                <a:ea typeface="楷体" panose="02010609060101010101" pitchFamily="49" charset="-122"/>
              </a:rPr>
              <a:t>上空闲区</a:t>
            </a:r>
          </a:p>
        </p:txBody>
      </p:sp>
      <p:sp>
        <p:nvSpPr>
          <p:cNvPr id="14" name="Rectangle 31" descr="深色上对角线"/>
          <p:cNvSpPr>
            <a:spLocks noChangeArrowheads="1"/>
          </p:cNvSpPr>
          <p:nvPr/>
        </p:nvSpPr>
        <p:spPr bwMode="auto">
          <a:xfrm>
            <a:off x="3074144" y="3758282"/>
            <a:ext cx="1143000" cy="395288"/>
          </a:xfrm>
          <a:prstGeom prst="rect">
            <a:avLst/>
          </a:prstGeom>
          <a:pattFill prst="dkUpDiag">
            <a:fgClr>
              <a:schemeClr val="tx1"/>
            </a:fgClr>
            <a:bgClr>
              <a:schemeClr val="bg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15" name="Line 32"/>
          <p:cNvSpPr>
            <a:spLocks noChangeShapeType="1"/>
          </p:cNvSpPr>
          <p:nvPr/>
        </p:nvSpPr>
        <p:spPr bwMode="auto">
          <a:xfrm>
            <a:off x="3074144" y="2396207"/>
            <a:ext cx="0" cy="2362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楷体" panose="02010609060101010101" pitchFamily="49" charset="-122"/>
              <a:ea typeface="楷体" panose="02010609060101010101" pitchFamily="49" charset="-122"/>
            </a:endParaRPr>
          </a:p>
        </p:txBody>
      </p:sp>
      <p:sp>
        <p:nvSpPr>
          <p:cNvPr id="16" name="Line 33"/>
          <p:cNvSpPr>
            <a:spLocks noChangeShapeType="1"/>
          </p:cNvSpPr>
          <p:nvPr/>
        </p:nvSpPr>
        <p:spPr bwMode="auto">
          <a:xfrm>
            <a:off x="4217144" y="2415257"/>
            <a:ext cx="0" cy="2362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楷体" panose="02010609060101010101" pitchFamily="49" charset="-122"/>
              <a:ea typeface="楷体" panose="02010609060101010101" pitchFamily="49" charset="-122"/>
            </a:endParaRPr>
          </a:p>
        </p:txBody>
      </p:sp>
      <p:sp>
        <p:nvSpPr>
          <p:cNvPr id="17" name="Rectangle 34"/>
          <p:cNvSpPr>
            <a:spLocks noChangeArrowheads="1"/>
          </p:cNvSpPr>
          <p:nvPr/>
        </p:nvSpPr>
        <p:spPr bwMode="auto">
          <a:xfrm>
            <a:off x="4747369" y="3739232"/>
            <a:ext cx="1143000" cy="39528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800" b="1">
                <a:latin typeface="楷体" panose="02010609060101010101" pitchFamily="49" charset="-122"/>
                <a:ea typeface="楷体" panose="02010609060101010101" pitchFamily="49" charset="-122"/>
              </a:rPr>
              <a:t>下空闲区</a:t>
            </a:r>
          </a:p>
        </p:txBody>
      </p:sp>
      <p:sp>
        <p:nvSpPr>
          <p:cNvPr id="18" name="Rectangle 35" descr="深色上对角线"/>
          <p:cNvSpPr>
            <a:spLocks noChangeArrowheads="1"/>
          </p:cNvSpPr>
          <p:nvPr/>
        </p:nvSpPr>
        <p:spPr bwMode="auto">
          <a:xfrm>
            <a:off x="4747369" y="2962945"/>
            <a:ext cx="1143000" cy="395287"/>
          </a:xfrm>
          <a:prstGeom prst="rect">
            <a:avLst/>
          </a:prstGeom>
          <a:pattFill prst="dkUpDiag">
            <a:fgClr>
              <a:schemeClr val="tx1"/>
            </a:fgClr>
            <a:bgClr>
              <a:schemeClr val="bg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19" name="Line 36"/>
          <p:cNvSpPr>
            <a:spLocks noChangeShapeType="1"/>
          </p:cNvSpPr>
          <p:nvPr/>
        </p:nvSpPr>
        <p:spPr bwMode="auto">
          <a:xfrm>
            <a:off x="4745782" y="2367632"/>
            <a:ext cx="0" cy="2362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楷体" panose="02010609060101010101" pitchFamily="49" charset="-122"/>
              <a:ea typeface="楷体" panose="02010609060101010101" pitchFamily="49" charset="-122"/>
            </a:endParaRPr>
          </a:p>
        </p:txBody>
      </p:sp>
      <p:sp>
        <p:nvSpPr>
          <p:cNvPr id="20" name="Line 37"/>
          <p:cNvSpPr>
            <a:spLocks noChangeShapeType="1"/>
          </p:cNvSpPr>
          <p:nvPr/>
        </p:nvSpPr>
        <p:spPr bwMode="auto">
          <a:xfrm>
            <a:off x="5888782" y="2386682"/>
            <a:ext cx="0" cy="2362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楷体" panose="02010609060101010101" pitchFamily="49" charset="-122"/>
              <a:ea typeface="楷体" panose="02010609060101010101" pitchFamily="49" charset="-122"/>
            </a:endParaRPr>
          </a:p>
        </p:txBody>
      </p:sp>
      <p:sp>
        <p:nvSpPr>
          <p:cNvPr id="21" name="Rectangle 38" descr="深色上对角线"/>
          <p:cNvSpPr>
            <a:spLocks noChangeArrowheads="1"/>
          </p:cNvSpPr>
          <p:nvPr/>
        </p:nvSpPr>
        <p:spPr bwMode="auto">
          <a:xfrm>
            <a:off x="6407894" y="2977232"/>
            <a:ext cx="1143000" cy="395288"/>
          </a:xfrm>
          <a:prstGeom prst="rect">
            <a:avLst/>
          </a:prstGeom>
          <a:pattFill prst="dkUpDiag">
            <a:fgClr>
              <a:schemeClr val="tx1"/>
            </a:fgClr>
            <a:bgClr>
              <a:schemeClr val="bg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22" name="Rectangle 39" descr="深色上对角线"/>
          <p:cNvSpPr>
            <a:spLocks noChangeArrowheads="1"/>
          </p:cNvSpPr>
          <p:nvPr/>
        </p:nvSpPr>
        <p:spPr bwMode="auto">
          <a:xfrm>
            <a:off x="6407894" y="3739232"/>
            <a:ext cx="1143000" cy="395288"/>
          </a:xfrm>
          <a:prstGeom prst="rect">
            <a:avLst/>
          </a:prstGeom>
          <a:pattFill prst="dkUpDiag">
            <a:fgClr>
              <a:schemeClr val="tx1"/>
            </a:fgClr>
            <a:bgClr>
              <a:schemeClr val="bg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23" name="Line 40"/>
          <p:cNvSpPr>
            <a:spLocks noChangeShapeType="1"/>
          </p:cNvSpPr>
          <p:nvPr/>
        </p:nvSpPr>
        <p:spPr bwMode="auto">
          <a:xfrm>
            <a:off x="6407894" y="2362870"/>
            <a:ext cx="0" cy="2362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楷体" panose="02010609060101010101" pitchFamily="49" charset="-122"/>
              <a:ea typeface="楷体" panose="02010609060101010101" pitchFamily="49" charset="-122"/>
            </a:endParaRPr>
          </a:p>
        </p:txBody>
      </p:sp>
      <p:sp>
        <p:nvSpPr>
          <p:cNvPr id="24" name="Line 41"/>
          <p:cNvSpPr>
            <a:spLocks noChangeShapeType="1"/>
          </p:cNvSpPr>
          <p:nvPr/>
        </p:nvSpPr>
        <p:spPr bwMode="auto">
          <a:xfrm>
            <a:off x="7550894" y="2381920"/>
            <a:ext cx="0" cy="2362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楷体" panose="02010609060101010101" pitchFamily="49" charset="-122"/>
              <a:ea typeface="楷体" panose="02010609060101010101" pitchFamily="49" charset="-122"/>
            </a:endParaRPr>
          </a:p>
        </p:txBody>
      </p:sp>
      <p:sp>
        <p:nvSpPr>
          <p:cNvPr id="25" name="Text Box 43"/>
          <p:cNvSpPr txBox="1">
            <a:spLocks noChangeArrowheads="1"/>
          </p:cNvSpPr>
          <p:nvPr/>
        </p:nvSpPr>
        <p:spPr bwMode="auto">
          <a:xfrm>
            <a:off x="1259632" y="4810795"/>
            <a:ext cx="15240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b="1">
                <a:solidFill>
                  <a:srgbClr val="FF3300"/>
                </a:solidFill>
                <a:latin typeface="楷体" panose="02010609060101010101" pitchFamily="49" charset="-122"/>
                <a:ea typeface="楷体" panose="02010609060101010101" pitchFamily="49" charset="-122"/>
              </a:rPr>
              <a:t>上下相邻区都是空闲区</a:t>
            </a:r>
          </a:p>
        </p:txBody>
      </p:sp>
      <p:sp>
        <p:nvSpPr>
          <p:cNvPr id="26" name="Text Box 44"/>
          <p:cNvSpPr txBox="1">
            <a:spLocks noChangeArrowheads="1"/>
          </p:cNvSpPr>
          <p:nvPr/>
        </p:nvSpPr>
        <p:spPr bwMode="auto">
          <a:xfrm>
            <a:off x="3059857" y="4786982"/>
            <a:ext cx="121443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b="1">
                <a:solidFill>
                  <a:srgbClr val="FF3300"/>
                </a:solidFill>
                <a:latin typeface="楷体" panose="02010609060101010101" pitchFamily="49" charset="-122"/>
                <a:ea typeface="楷体" panose="02010609060101010101" pitchFamily="49" charset="-122"/>
              </a:rPr>
              <a:t>上相邻区是空闲区</a:t>
            </a:r>
          </a:p>
        </p:txBody>
      </p:sp>
      <p:sp>
        <p:nvSpPr>
          <p:cNvPr id="27" name="Text Box 45"/>
          <p:cNvSpPr txBox="1">
            <a:spLocks noChangeArrowheads="1"/>
          </p:cNvSpPr>
          <p:nvPr/>
        </p:nvSpPr>
        <p:spPr bwMode="auto">
          <a:xfrm>
            <a:off x="4764832" y="4786982"/>
            <a:ext cx="12954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b="1">
                <a:solidFill>
                  <a:srgbClr val="FF3300"/>
                </a:solidFill>
                <a:latin typeface="楷体" panose="02010609060101010101" pitchFamily="49" charset="-122"/>
                <a:ea typeface="楷体" panose="02010609060101010101" pitchFamily="49" charset="-122"/>
              </a:rPr>
              <a:t>下相邻区是空闲区</a:t>
            </a:r>
          </a:p>
        </p:txBody>
      </p:sp>
      <p:sp>
        <p:nvSpPr>
          <p:cNvPr id="28" name="Text Box 46"/>
          <p:cNvSpPr txBox="1">
            <a:spLocks noChangeArrowheads="1"/>
          </p:cNvSpPr>
          <p:nvPr/>
        </p:nvSpPr>
        <p:spPr bwMode="auto">
          <a:xfrm>
            <a:off x="6185644" y="4815557"/>
            <a:ext cx="17938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2000" b="1">
                <a:solidFill>
                  <a:srgbClr val="FF3300"/>
                </a:solidFill>
                <a:latin typeface="楷体" panose="02010609060101010101" pitchFamily="49" charset="-122"/>
                <a:ea typeface="楷体" panose="02010609060101010101" pitchFamily="49" charset="-122"/>
              </a:rPr>
              <a:t>上下相邻区都不是空闲区</a:t>
            </a:r>
          </a:p>
        </p:txBody>
      </p:sp>
    </p:spTree>
    <p:extLst>
      <p:ext uri="{BB962C8B-B14F-4D97-AF65-F5344CB8AC3E}">
        <p14:creationId xmlns:p14="http://schemas.microsoft.com/office/powerpoint/2010/main" val="26303241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动态分区的问题</a:t>
            </a:r>
          </a:p>
        </p:txBody>
      </p:sp>
      <p:sp>
        <p:nvSpPr>
          <p:cNvPr id="3" name="Content Placeholder 2"/>
          <p:cNvSpPr>
            <a:spLocks noGrp="1"/>
          </p:cNvSpPr>
          <p:nvPr>
            <p:ph idx="1"/>
          </p:nvPr>
        </p:nvSpPr>
        <p:spPr/>
        <p:txBody>
          <a:bodyPr/>
          <a:lstStyle/>
          <a:p>
            <a:r>
              <a:rPr lang="zh-CN" altLang="en-US" dirty="0"/>
              <a:t>碎片问题</a:t>
            </a:r>
            <a:endParaRPr lang="en-US" altLang="zh-CN" dirty="0"/>
          </a:p>
          <a:p>
            <a:pPr lvl="1"/>
            <a:endParaRPr lang="en-US" altLang="zh-CN" dirty="0"/>
          </a:p>
          <a:p>
            <a:pPr lvl="1"/>
            <a:r>
              <a:rPr lang="zh-CN" altLang="en-US" dirty="0"/>
              <a:t>经过一段时间的分配回收后，内存中存在很多很小的空闲块。它们</a:t>
            </a:r>
            <a:r>
              <a:rPr lang="zh-CN" altLang="en-US" dirty="0">
                <a:solidFill>
                  <a:srgbClr val="0000FF"/>
                </a:solidFill>
              </a:rPr>
              <a:t>每一个</a:t>
            </a:r>
            <a:r>
              <a:rPr lang="zh-CN" altLang="en-US" dirty="0"/>
              <a:t>都很小，</a:t>
            </a:r>
            <a:r>
              <a:rPr lang="zh-CN" altLang="en-US" dirty="0">
                <a:solidFill>
                  <a:srgbClr val="0000FF"/>
                </a:solidFill>
              </a:rPr>
              <a:t>不足以满足分配要求</a:t>
            </a:r>
            <a:r>
              <a:rPr lang="zh-CN" altLang="en-US" dirty="0"/>
              <a:t>；但其</a:t>
            </a:r>
            <a:r>
              <a:rPr lang="zh-CN" altLang="en-US" dirty="0">
                <a:solidFill>
                  <a:srgbClr val="0000FF"/>
                </a:solidFill>
              </a:rPr>
              <a:t>总和满足分配要求</a:t>
            </a:r>
            <a:r>
              <a:rPr lang="zh-CN" altLang="en-US" dirty="0"/>
              <a:t>。这些空闲块被称为</a:t>
            </a:r>
            <a:r>
              <a:rPr lang="zh-CN" altLang="en-US" b="1" dirty="0">
                <a:solidFill>
                  <a:srgbClr val="0000FF"/>
                </a:solidFill>
              </a:rPr>
              <a:t>碎片</a:t>
            </a:r>
          </a:p>
          <a:p>
            <a:pPr lvl="1"/>
            <a:endParaRPr lang="en-US" altLang="zh-CN" dirty="0"/>
          </a:p>
          <a:p>
            <a:pPr lvl="1"/>
            <a:r>
              <a:rPr lang="zh-CN" altLang="en-US" dirty="0"/>
              <a:t>紧凑技术：通过在内存移动程序，将所有小的空闲区域合并为大的空闲区域</a:t>
            </a:r>
          </a:p>
        </p:txBody>
      </p:sp>
      <p:sp>
        <p:nvSpPr>
          <p:cNvPr id="4" name="Date Placeholder 3"/>
          <p:cNvSpPr>
            <a:spLocks noGrp="1"/>
          </p:cNvSpPr>
          <p:nvPr>
            <p:ph type="dt" sz="half" idx="10"/>
          </p:nvPr>
        </p:nvSpPr>
        <p:spPr/>
        <p:txBody>
          <a:bodyPr/>
          <a:lstStyle/>
          <a:p>
            <a:fld id="{35B16544-F695-4703-89D5-BC6B8E5432A6}"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43</a:t>
            </a:fld>
            <a:endParaRPr lang="zh-CN" altLang="en-US" dirty="0"/>
          </a:p>
        </p:txBody>
      </p:sp>
    </p:spTree>
    <p:extLst>
      <p:ext uri="{BB962C8B-B14F-4D97-AF65-F5344CB8AC3E}">
        <p14:creationId xmlns:p14="http://schemas.microsoft.com/office/powerpoint/2010/main" val="383779850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动态分区的问题</a:t>
            </a:r>
          </a:p>
        </p:txBody>
      </p:sp>
      <p:sp>
        <p:nvSpPr>
          <p:cNvPr id="3" name="Content Placeholder 2"/>
          <p:cNvSpPr>
            <a:spLocks noGrp="1"/>
          </p:cNvSpPr>
          <p:nvPr>
            <p:ph idx="1"/>
          </p:nvPr>
        </p:nvSpPr>
        <p:spPr/>
        <p:txBody>
          <a:bodyPr/>
          <a:lstStyle/>
          <a:p>
            <a:r>
              <a:rPr lang="zh-CN" altLang="en-US" dirty="0"/>
              <a:t>紧凑技术</a:t>
            </a:r>
          </a:p>
        </p:txBody>
      </p:sp>
      <p:sp>
        <p:nvSpPr>
          <p:cNvPr id="4" name="Date Placeholder 3"/>
          <p:cNvSpPr>
            <a:spLocks noGrp="1"/>
          </p:cNvSpPr>
          <p:nvPr>
            <p:ph type="dt" sz="half" idx="10"/>
          </p:nvPr>
        </p:nvSpPr>
        <p:spPr/>
        <p:txBody>
          <a:bodyPr/>
          <a:lstStyle/>
          <a:p>
            <a:fld id="{1B703113-3052-4B88-B55E-C4BD7800AA11}"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44</a:t>
            </a:fld>
            <a:endParaRPr lang="zh-CN" altLang="en-US" dirty="0"/>
          </a:p>
        </p:txBody>
      </p:sp>
      <p:grpSp>
        <p:nvGrpSpPr>
          <p:cNvPr id="7" name="Group 45"/>
          <p:cNvGrpSpPr>
            <a:grpSpLocks/>
          </p:cNvGrpSpPr>
          <p:nvPr/>
        </p:nvGrpSpPr>
        <p:grpSpPr bwMode="auto">
          <a:xfrm>
            <a:off x="2553940" y="2132856"/>
            <a:ext cx="1300163" cy="3859212"/>
            <a:chOff x="1064" y="1797"/>
            <a:chExt cx="819" cy="2431"/>
          </a:xfrm>
        </p:grpSpPr>
        <p:sp>
          <p:nvSpPr>
            <p:cNvPr id="8" name="Rectangle 26"/>
            <p:cNvSpPr>
              <a:spLocks noChangeArrowheads="1"/>
            </p:cNvSpPr>
            <p:nvPr/>
          </p:nvSpPr>
          <p:spPr bwMode="auto">
            <a:xfrm>
              <a:off x="1064" y="1797"/>
              <a:ext cx="817" cy="22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t>OS</a:t>
              </a:r>
            </a:p>
          </p:txBody>
        </p:sp>
        <p:sp>
          <p:nvSpPr>
            <p:cNvPr id="9" name="Rectangle 27"/>
            <p:cNvSpPr>
              <a:spLocks noChangeArrowheads="1"/>
            </p:cNvSpPr>
            <p:nvPr/>
          </p:nvSpPr>
          <p:spPr bwMode="auto">
            <a:xfrm>
              <a:off x="1065" y="2024"/>
              <a:ext cx="817" cy="27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t>process1</a:t>
              </a:r>
            </a:p>
          </p:txBody>
        </p:sp>
        <p:sp>
          <p:nvSpPr>
            <p:cNvPr id="10" name="Rectangle 28" descr="10%"/>
            <p:cNvSpPr>
              <a:spLocks noChangeArrowheads="1"/>
            </p:cNvSpPr>
            <p:nvPr/>
          </p:nvSpPr>
          <p:spPr bwMode="auto">
            <a:xfrm>
              <a:off x="1064" y="2297"/>
              <a:ext cx="817" cy="181"/>
            </a:xfrm>
            <a:prstGeom prst="rect">
              <a:avLst/>
            </a:prstGeom>
            <a:pattFill prst="pct10">
              <a:fgClr>
                <a:schemeClr val="tx1"/>
              </a:fgClr>
              <a:bgClr>
                <a:schemeClr val="bg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t>10KB</a:t>
              </a:r>
            </a:p>
          </p:txBody>
        </p:sp>
        <p:sp>
          <p:nvSpPr>
            <p:cNvPr id="11" name="Rectangle 29"/>
            <p:cNvSpPr>
              <a:spLocks noChangeArrowheads="1"/>
            </p:cNvSpPr>
            <p:nvPr/>
          </p:nvSpPr>
          <p:spPr bwMode="auto">
            <a:xfrm>
              <a:off x="1064" y="2469"/>
              <a:ext cx="817" cy="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t>process3</a:t>
              </a:r>
            </a:p>
          </p:txBody>
        </p:sp>
        <p:sp>
          <p:nvSpPr>
            <p:cNvPr id="12" name="Rectangle 30" descr="10%"/>
            <p:cNvSpPr>
              <a:spLocks noChangeArrowheads="1"/>
            </p:cNvSpPr>
            <p:nvPr/>
          </p:nvSpPr>
          <p:spPr bwMode="auto">
            <a:xfrm>
              <a:off x="1064" y="2887"/>
              <a:ext cx="817" cy="362"/>
            </a:xfrm>
            <a:prstGeom prst="rect">
              <a:avLst/>
            </a:prstGeom>
            <a:pattFill prst="pct10">
              <a:fgClr>
                <a:schemeClr val="tx1"/>
              </a:fgClr>
              <a:bgClr>
                <a:schemeClr val="bg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t>30KB</a:t>
              </a:r>
            </a:p>
          </p:txBody>
        </p:sp>
        <p:sp>
          <p:nvSpPr>
            <p:cNvPr id="13" name="Rectangle 31"/>
            <p:cNvSpPr>
              <a:spLocks noChangeArrowheads="1"/>
            </p:cNvSpPr>
            <p:nvPr/>
          </p:nvSpPr>
          <p:spPr bwMode="auto">
            <a:xfrm>
              <a:off x="1065" y="3249"/>
              <a:ext cx="817" cy="22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t>process6</a:t>
              </a:r>
            </a:p>
          </p:txBody>
        </p:sp>
        <p:sp>
          <p:nvSpPr>
            <p:cNvPr id="14" name="Rectangle 32" descr="10%"/>
            <p:cNvSpPr>
              <a:spLocks noChangeArrowheads="1"/>
            </p:cNvSpPr>
            <p:nvPr/>
          </p:nvSpPr>
          <p:spPr bwMode="auto">
            <a:xfrm>
              <a:off x="1064" y="3476"/>
              <a:ext cx="817" cy="204"/>
            </a:xfrm>
            <a:prstGeom prst="rect">
              <a:avLst/>
            </a:prstGeom>
            <a:pattFill prst="pct10">
              <a:fgClr>
                <a:schemeClr val="tx1"/>
              </a:fgClr>
              <a:bgClr>
                <a:schemeClr val="bg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t>14KB</a:t>
              </a:r>
            </a:p>
          </p:txBody>
        </p:sp>
        <p:sp>
          <p:nvSpPr>
            <p:cNvPr id="15" name="Rectangle 33"/>
            <p:cNvSpPr>
              <a:spLocks noChangeArrowheads="1"/>
            </p:cNvSpPr>
            <p:nvPr/>
          </p:nvSpPr>
          <p:spPr bwMode="auto">
            <a:xfrm>
              <a:off x="1066" y="3684"/>
              <a:ext cx="817" cy="22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t>process9</a:t>
              </a:r>
            </a:p>
          </p:txBody>
        </p:sp>
        <p:sp>
          <p:nvSpPr>
            <p:cNvPr id="16" name="Rectangle 34" descr="10%"/>
            <p:cNvSpPr>
              <a:spLocks noChangeArrowheads="1"/>
            </p:cNvSpPr>
            <p:nvPr/>
          </p:nvSpPr>
          <p:spPr bwMode="auto">
            <a:xfrm>
              <a:off x="1066" y="3911"/>
              <a:ext cx="817" cy="317"/>
            </a:xfrm>
            <a:prstGeom prst="rect">
              <a:avLst/>
            </a:prstGeom>
            <a:pattFill prst="pct10">
              <a:fgClr>
                <a:schemeClr val="tx1"/>
              </a:fgClr>
              <a:bgClr>
                <a:schemeClr val="bg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t>26KB</a:t>
              </a:r>
            </a:p>
          </p:txBody>
        </p:sp>
      </p:grpSp>
      <p:sp>
        <p:nvSpPr>
          <p:cNvPr id="17" name="AutoShape 35"/>
          <p:cNvSpPr>
            <a:spLocks noChangeArrowheads="1"/>
          </p:cNvSpPr>
          <p:nvPr/>
        </p:nvSpPr>
        <p:spPr bwMode="auto">
          <a:xfrm>
            <a:off x="4212878" y="3572718"/>
            <a:ext cx="1008062" cy="576263"/>
          </a:xfrm>
          <a:prstGeom prst="rightArrow">
            <a:avLst>
              <a:gd name="adj1" fmla="val 50000"/>
              <a:gd name="adj2" fmla="val 4373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Rectangle 46"/>
          <p:cNvSpPr>
            <a:spLocks noChangeArrowheads="1"/>
          </p:cNvSpPr>
          <p:nvPr/>
        </p:nvSpPr>
        <p:spPr bwMode="auto">
          <a:xfrm>
            <a:off x="2557115" y="2132856"/>
            <a:ext cx="1296988" cy="3603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t>OS</a:t>
            </a:r>
          </a:p>
        </p:txBody>
      </p:sp>
      <p:sp>
        <p:nvSpPr>
          <p:cNvPr id="19" name="Rectangle 47"/>
          <p:cNvSpPr>
            <a:spLocks noChangeArrowheads="1"/>
          </p:cNvSpPr>
          <p:nvPr/>
        </p:nvSpPr>
        <p:spPr bwMode="auto">
          <a:xfrm>
            <a:off x="2557115" y="2493218"/>
            <a:ext cx="1296988" cy="4333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t>process1</a:t>
            </a:r>
          </a:p>
        </p:txBody>
      </p:sp>
      <p:sp>
        <p:nvSpPr>
          <p:cNvPr id="20" name="Rectangle 48"/>
          <p:cNvSpPr>
            <a:spLocks noChangeArrowheads="1"/>
          </p:cNvSpPr>
          <p:nvPr/>
        </p:nvSpPr>
        <p:spPr bwMode="auto">
          <a:xfrm>
            <a:off x="2557115" y="3199656"/>
            <a:ext cx="1296988" cy="66198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t>process3</a:t>
            </a:r>
          </a:p>
        </p:txBody>
      </p:sp>
      <p:sp>
        <p:nvSpPr>
          <p:cNvPr id="21" name="Rectangle 49"/>
          <p:cNvSpPr>
            <a:spLocks noChangeArrowheads="1"/>
          </p:cNvSpPr>
          <p:nvPr/>
        </p:nvSpPr>
        <p:spPr bwMode="auto">
          <a:xfrm>
            <a:off x="2557115" y="4437906"/>
            <a:ext cx="1296988" cy="3603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t>process6</a:t>
            </a:r>
          </a:p>
        </p:txBody>
      </p:sp>
      <p:sp>
        <p:nvSpPr>
          <p:cNvPr id="22" name="Rectangle 50"/>
          <p:cNvSpPr>
            <a:spLocks noChangeArrowheads="1"/>
          </p:cNvSpPr>
          <p:nvPr/>
        </p:nvSpPr>
        <p:spPr bwMode="auto">
          <a:xfrm>
            <a:off x="2557115" y="4796681"/>
            <a:ext cx="1296988" cy="3603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t>process9</a:t>
            </a:r>
          </a:p>
        </p:txBody>
      </p:sp>
      <p:sp>
        <p:nvSpPr>
          <p:cNvPr id="23" name="Rectangle 51" descr="10%"/>
          <p:cNvSpPr>
            <a:spLocks noChangeArrowheads="1"/>
          </p:cNvSpPr>
          <p:nvPr/>
        </p:nvSpPr>
        <p:spPr bwMode="auto">
          <a:xfrm>
            <a:off x="2557115" y="2925018"/>
            <a:ext cx="1296988" cy="287338"/>
          </a:xfrm>
          <a:prstGeom prst="rect">
            <a:avLst/>
          </a:prstGeom>
          <a:pattFill prst="pct10">
            <a:fgClr>
              <a:schemeClr val="tx1"/>
            </a:fgClr>
            <a:bgClr>
              <a:schemeClr val="bg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t>10KB</a:t>
            </a:r>
          </a:p>
        </p:txBody>
      </p:sp>
      <p:sp>
        <p:nvSpPr>
          <p:cNvPr id="24" name="Rectangle 52" descr="10%"/>
          <p:cNvSpPr>
            <a:spLocks noChangeArrowheads="1"/>
          </p:cNvSpPr>
          <p:nvPr/>
        </p:nvSpPr>
        <p:spPr bwMode="auto">
          <a:xfrm>
            <a:off x="2557115" y="3861643"/>
            <a:ext cx="1296988" cy="574675"/>
          </a:xfrm>
          <a:prstGeom prst="rect">
            <a:avLst/>
          </a:prstGeom>
          <a:pattFill prst="pct10">
            <a:fgClr>
              <a:schemeClr val="tx1"/>
            </a:fgClr>
            <a:bgClr>
              <a:schemeClr val="bg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t>30KB</a:t>
            </a:r>
          </a:p>
        </p:txBody>
      </p:sp>
      <p:sp>
        <p:nvSpPr>
          <p:cNvPr id="25" name="Rectangle 53" descr="10%"/>
          <p:cNvSpPr>
            <a:spLocks noChangeArrowheads="1"/>
          </p:cNvSpPr>
          <p:nvPr/>
        </p:nvSpPr>
        <p:spPr bwMode="auto">
          <a:xfrm>
            <a:off x="2557115" y="4796681"/>
            <a:ext cx="1296988" cy="323850"/>
          </a:xfrm>
          <a:prstGeom prst="rect">
            <a:avLst/>
          </a:prstGeom>
          <a:pattFill prst="pct10">
            <a:fgClr>
              <a:schemeClr val="tx1"/>
            </a:fgClr>
            <a:bgClr>
              <a:schemeClr val="bg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t>14KB</a:t>
            </a:r>
          </a:p>
        </p:txBody>
      </p:sp>
      <p:sp>
        <p:nvSpPr>
          <p:cNvPr id="26" name="Rectangle 54" descr="10%"/>
          <p:cNvSpPr>
            <a:spLocks noChangeArrowheads="1"/>
          </p:cNvSpPr>
          <p:nvPr/>
        </p:nvSpPr>
        <p:spPr bwMode="auto">
          <a:xfrm>
            <a:off x="2557115" y="5488831"/>
            <a:ext cx="1296988" cy="503237"/>
          </a:xfrm>
          <a:prstGeom prst="rect">
            <a:avLst/>
          </a:prstGeom>
          <a:pattFill prst="pct10">
            <a:fgClr>
              <a:schemeClr val="tx1"/>
            </a:fgClr>
            <a:bgClr>
              <a:schemeClr val="bg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t>26KB</a:t>
            </a:r>
          </a:p>
        </p:txBody>
      </p:sp>
      <p:sp>
        <p:nvSpPr>
          <p:cNvPr id="27" name="Rectangle 55" descr="10%"/>
          <p:cNvSpPr>
            <a:spLocks noChangeArrowheads="1"/>
          </p:cNvSpPr>
          <p:nvPr/>
        </p:nvSpPr>
        <p:spPr bwMode="auto">
          <a:xfrm>
            <a:off x="5436840" y="4287093"/>
            <a:ext cx="1295400" cy="1690688"/>
          </a:xfrm>
          <a:prstGeom prst="rect">
            <a:avLst/>
          </a:prstGeom>
          <a:pattFill prst="pct10">
            <a:fgClr>
              <a:schemeClr val="tx1"/>
            </a:fgClr>
            <a:bgClr>
              <a:schemeClr val="bg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t>80KB</a:t>
            </a:r>
          </a:p>
        </p:txBody>
      </p:sp>
    </p:spTree>
    <p:extLst>
      <p:ext uri="{BB962C8B-B14F-4D97-AF65-F5344CB8AC3E}">
        <p14:creationId xmlns:p14="http://schemas.microsoft.com/office/powerpoint/2010/main" val="4209073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childTnLst>
                                </p:cTn>
                              </p:par>
                            </p:childTnLst>
                          </p:cTn>
                        </p:par>
                        <p:par>
                          <p:cTn id="12" fill="hold">
                            <p:stCondLst>
                              <p:cond delay="0"/>
                            </p:stCondLst>
                            <p:childTnLst>
                              <p:par>
                                <p:cTn id="13" presetID="0" presetClass="path" presetSubtype="0" accel="50000" decel="50000" fill="hold" grpId="1" nodeType="afterEffect">
                                  <p:stCondLst>
                                    <p:cond delay="0"/>
                                  </p:stCondLst>
                                  <p:childTnLst>
                                    <p:animMotion origin="layout" path="M 0 0 L 0.3151 0 " pathEditMode="relative" ptsTypes="AA">
                                      <p:cBhvr>
                                        <p:cTn id="14" dur="1000" fill="hold"/>
                                        <p:tgtEl>
                                          <p:spTgt spid="18"/>
                                        </p:tgtEl>
                                        <p:attrNameLst>
                                          <p:attrName>ppt_x</p:attrName>
                                          <p:attrName>ppt_y</p:attrName>
                                        </p:attrNameLst>
                                      </p:cBhvr>
                                    </p:animMotion>
                                  </p:childTnLst>
                                </p:cTn>
                              </p:par>
                            </p:childTnLst>
                          </p:cTn>
                        </p:par>
                        <p:par>
                          <p:cTn id="15" fill="hold">
                            <p:stCondLst>
                              <p:cond delay="1000"/>
                            </p:stCondLst>
                            <p:childTnLst>
                              <p:par>
                                <p:cTn id="16" presetID="1" presetClass="entr" presetSubtype="0" fill="hold" grpId="0" nodeType="afterEffect">
                                  <p:stCondLst>
                                    <p:cond delay="0"/>
                                  </p:stCondLst>
                                  <p:childTnLst>
                                    <p:set>
                                      <p:cBhvr>
                                        <p:cTn id="17" dur="1" fill="hold">
                                          <p:stCondLst>
                                            <p:cond delay="0"/>
                                          </p:stCondLst>
                                        </p:cTn>
                                        <p:tgtEl>
                                          <p:spTgt spid="19"/>
                                        </p:tgtEl>
                                        <p:attrNameLst>
                                          <p:attrName>style.visibility</p:attrName>
                                        </p:attrNameLst>
                                      </p:cBhvr>
                                      <p:to>
                                        <p:strVal val="visible"/>
                                      </p:to>
                                    </p:set>
                                  </p:childTnLst>
                                </p:cTn>
                              </p:par>
                            </p:childTnLst>
                          </p:cTn>
                        </p:par>
                        <p:par>
                          <p:cTn id="18" fill="hold">
                            <p:stCondLst>
                              <p:cond delay="1000"/>
                            </p:stCondLst>
                            <p:childTnLst>
                              <p:par>
                                <p:cTn id="19" presetID="0" presetClass="path" presetSubtype="0" accel="50000" decel="50000" fill="hold" grpId="1" nodeType="afterEffect">
                                  <p:stCondLst>
                                    <p:cond delay="0"/>
                                  </p:stCondLst>
                                  <p:childTnLst>
                                    <p:animMotion origin="layout" path="M 0 0 L 0.31493 0 " pathEditMode="relative" ptsTypes="AA">
                                      <p:cBhvr>
                                        <p:cTn id="20" dur="1000" fill="hold"/>
                                        <p:tgtEl>
                                          <p:spTgt spid="19"/>
                                        </p:tgtEl>
                                        <p:attrNameLst>
                                          <p:attrName>ppt_x</p:attrName>
                                          <p:attrName>ppt_y</p:attrName>
                                        </p:attrNameLst>
                                      </p:cBhvr>
                                    </p:animMotion>
                                  </p:childTnLst>
                                </p:cTn>
                              </p:par>
                            </p:childTnLst>
                          </p:cTn>
                        </p:par>
                        <p:par>
                          <p:cTn id="21" fill="hold">
                            <p:stCondLst>
                              <p:cond delay="2000"/>
                            </p:stCondLst>
                            <p:childTnLst>
                              <p:par>
                                <p:cTn id="22" presetID="1" presetClass="entr" presetSubtype="0" fill="hold" grpId="0" nodeType="afterEffect">
                                  <p:stCondLst>
                                    <p:cond delay="0"/>
                                  </p:stCondLst>
                                  <p:childTnLst>
                                    <p:set>
                                      <p:cBhvr>
                                        <p:cTn id="23" dur="1" fill="hold">
                                          <p:stCondLst>
                                            <p:cond delay="0"/>
                                          </p:stCondLst>
                                        </p:cTn>
                                        <p:tgtEl>
                                          <p:spTgt spid="20"/>
                                        </p:tgtEl>
                                        <p:attrNameLst>
                                          <p:attrName>style.visibility</p:attrName>
                                        </p:attrNameLst>
                                      </p:cBhvr>
                                      <p:to>
                                        <p:strVal val="visible"/>
                                      </p:to>
                                    </p:set>
                                  </p:childTnLst>
                                </p:cTn>
                              </p:par>
                            </p:childTnLst>
                          </p:cTn>
                        </p:par>
                        <p:par>
                          <p:cTn id="24" fill="hold">
                            <p:stCondLst>
                              <p:cond delay="2000"/>
                            </p:stCondLst>
                            <p:childTnLst>
                              <p:par>
                                <p:cTn id="25" presetID="0" presetClass="path" presetSubtype="0" accel="50000" decel="50000" fill="hold" grpId="1" nodeType="afterEffect">
                                  <p:stCondLst>
                                    <p:cond delay="0"/>
                                  </p:stCondLst>
                                  <p:childTnLst>
                                    <p:animMotion origin="layout" path="M -2.77778E-6 4.62428E-7 L 0.31493 -0.03931 " pathEditMode="relative" rAng="0" ptsTypes="AA">
                                      <p:cBhvr>
                                        <p:cTn id="26" dur="1000" fill="hold"/>
                                        <p:tgtEl>
                                          <p:spTgt spid="20"/>
                                        </p:tgtEl>
                                        <p:attrNameLst>
                                          <p:attrName>ppt_x</p:attrName>
                                          <p:attrName>ppt_y</p:attrName>
                                        </p:attrNameLst>
                                      </p:cBhvr>
                                      <p:rCtr x="15747" y="-1965"/>
                                    </p:animMotion>
                                  </p:childTnLst>
                                </p:cTn>
                              </p:par>
                            </p:childTnLst>
                          </p:cTn>
                        </p:par>
                        <p:par>
                          <p:cTn id="27" fill="hold">
                            <p:stCondLst>
                              <p:cond delay="3000"/>
                            </p:stCondLst>
                            <p:childTnLst>
                              <p:par>
                                <p:cTn id="28" presetID="1" presetClass="entr" presetSubtype="0" fill="hold" grpId="0" nodeType="afterEffect">
                                  <p:stCondLst>
                                    <p:cond delay="0"/>
                                  </p:stCondLst>
                                  <p:childTnLst>
                                    <p:set>
                                      <p:cBhvr>
                                        <p:cTn id="29" dur="1" fill="hold">
                                          <p:stCondLst>
                                            <p:cond delay="0"/>
                                          </p:stCondLst>
                                        </p:cTn>
                                        <p:tgtEl>
                                          <p:spTgt spid="21"/>
                                        </p:tgtEl>
                                        <p:attrNameLst>
                                          <p:attrName>style.visibility</p:attrName>
                                        </p:attrNameLst>
                                      </p:cBhvr>
                                      <p:to>
                                        <p:strVal val="visible"/>
                                      </p:to>
                                    </p:set>
                                  </p:childTnLst>
                                </p:cTn>
                              </p:par>
                            </p:childTnLst>
                          </p:cTn>
                        </p:par>
                        <p:par>
                          <p:cTn id="30" fill="hold">
                            <p:stCondLst>
                              <p:cond delay="3000"/>
                            </p:stCondLst>
                            <p:childTnLst>
                              <p:par>
                                <p:cTn id="31" presetID="0" presetClass="path" presetSubtype="0" accel="50000" decel="50000" fill="hold" grpId="1" nodeType="afterEffect">
                                  <p:stCondLst>
                                    <p:cond delay="0"/>
                                  </p:stCondLst>
                                  <p:childTnLst>
                                    <p:animMotion origin="layout" path="M 0 0 L 0.31493 -0.12601 " pathEditMode="relative" ptsTypes="AA">
                                      <p:cBhvr>
                                        <p:cTn id="32" dur="1000" fill="hold"/>
                                        <p:tgtEl>
                                          <p:spTgt spid="21"/>
                                        </p:tgtEl>
                                        <p:attrNameLst>
                                          <p:attrName>ppt_x</p:attrName>
                                          <p:attrName>ppt_y</p:attrName>
                                        </p:attrNameLst>
                                      </p:cBhvr>
                                    </p:animMotion>
                                  </p:childTnLst>
                                </p:cTn>
                              </p:par>
                            </p:childTnLst>
                          </p:cTn>
                        </p:par>
                        <p:par>
                          <p:cTn id="33" fill="hold">
                            <p:stCondLst>
                              <p:cond delay="4000"/>
                            </p:stCondLst>
                            <p:childTnLst>
                              <p:par>
                                <p:cTn id="34" presetID="1" presetClass="entr" presetSubtype="0" fill="hold" grpId="0" nodeType="afterEffect">
                                  <p:stCondLst>
                                    <p:cond delay="0"/>
                                  </p:stCondLst>
                                  <p:childTnLst>
                                    <p:set>
                                      <p:cBhvr>
                                        <p:cTn id="35" dur="1" fill="hold">
                                          <p:stCondLst>
                                            <p:cond delay="0"/>
                                          </p:stCondLst>
                                        </p:cTn>
                                        <p:tgtEl>
                                          <p:spTgt spid="22"/>
                                        </p:tgtEl>
                                        <p:attrNameLst>
                                          <p:attrName>style.visibility</p:attrName>
                                        </p:attrNameLst>
                                      </p:cBhvr>
                                      <p:to>
                                        <p:strVal val="visible"/>
                                      </p:to>
                                    </p:set>
                                  </p:childTnLst>
                                </p:cTn>
                              </p:par>
                            </p:childTnLst>
                          </p:cTn>
                        </p:par>
                        <p:par>
                          <p:cTn id="36" fill="hold">
                            <p:stCondLst>
                              <p:cond delay="4000"/>
                            </p:stCondLst>
                            <p:childTnLst>
                              <p:par>
                                <p:cTn id="37" presetID="0" presetClass="path" presetSubtype="0" accel="50000" decel="50000" fill="hold" grpId="1" nodeType="afterEffect">
                                  <p:stCondLst>
                                    <p:cond delay="0"/>
                                  </p:stCondLst>
                                  <p:childTnLst>
                                    <p:animMotion origin="layout" path="M 0 0 L 0.31493 -0.12578 " pathEditMode="relative" ptsTypes="AA">
                                      <p:cBhvr>
                                        <p:cTn id="38" dur="1000" fill="hold"/>
                                        <p:tgtEl>
                                          <p:spTgt spid="22"/>
                                        </p:tgtEl>
                                        <p:attrNameLst>
                                          <p:attrName>ppt_x</p:attrName>
                                          <p:attrName>ppt_y</p:attrName>
                                        </p:attrNameLst>
                                      </p:cBhvr>
                                    </p:animMotion>
                                  </p:childTnLst>
                                </p:cTn>
                              </p:par>
                            </p:childTnLst>
                          </p:cTn>
                        </p:par>
                        <p:par>
                          <p:cTn id="39" fill="hold">
                            <p:stCondLst>
                              <p:cond delay="5000"/>
                            </p:stCondLst>
                            <p:childTnLst>
                              <p:par>
                                <p:cTn id="40" presetID="1" presetClass="entr" presetSubtype="0" fill="hold" grpId="0" nodeType="afterEffect">
                                  <p:stCondLst>
                                    <p:cond delay="0"/>
                                  </p:stCondLst>
                                  <p:childTnLst>
                                    <p:set>
                                      <p:cBhvr>
                                        <p:cTn id="41" dur="1" fill="hold">
                                          <p:stCondLst>
                                            <p:cond delay="0"/>
                                          </p:stCondLst>
                                        </p:cTn>
                                        <p:tgtEl>
                                          <p:spTgt spid="23"/>
                                        </p:tgtEl>
                                        <p:attrNameLst>
                                          <p:attrName>style.visibility</p:attrName>
                                        </p:attrNameLst>
                                      </p:cBhvr>
                                      <p:to>
                                        <p:strVal val="visible"/>
                                      </p:to>
                                    </p:set>
                                  </p:childTnLst>
                                </p:cTn>
                              </p:par>
                            </p:childTnLst>
                          </p:cTn>
                        </p:par>
                        <p:par>
                          <p:cTn id="42" fill="hold">
                            <p:stCondLst>
                              <p:cond delay="5000"/>
                            </p:stCondLst>
                            <p:childTnLst>
                              <p:par>
                                <p:cTn id="43" presetID="0" presetClass="path" presetSubtype="0" accel="50000" decel="50000" fill="hold" grpId="1" nodeType="afterEffect">
                                  <p:stCondLst>
                                    <p:cond delay="0"/>
                                  </p:stCondLst>
                                  <p:childTnLst>
                                    <p:animMotion origin="layout" path="M 0 0 L 0.31493 0.1993 " pathEditMode="relative" ptsTypes="AA">
                                      <p:cBhvr>
                                        <p:cTn id="44" dur="1000" fill="hold"/>
                                        <p:tgtEl>
                                          <p:spTgt spid="23"/>
                                        </p:tgtEl>
                                        <p:attrNameLst>
                                          <p:attrName>ppt_x</p:attrName>
                                          <p:attrName>ppt_y</p:attrName>
                                        </p:attrNameLst>
                                      </p:cBhvr>
                                    </p:animMotion>
                                  </p:childTnLst>
                                </p:cTn>
                              </p:par>
                            </p:childTnLst>
                          </p:cTn>
                        </p:par>
                        <p:par>
                          <p:cTn id="45" fill="hold">
                            <p:stCondLst>
                              <p:cond delay="6000"/>
                            </p:stCondLst>
                            <p:childTnLst>
                              <p:par>
                                <p:cTn id="46" presetID="1" presetClass="entr" presetSubtype="0" fill="hold" grpId="0" nodeType="afterEffect">
                                  <p:stCondLst>
                                    <p:cond delay="0"/>
                                  </p:stCondLst>
                                  <p:childTnLst>
                                    <p:set>
                                      <p:cBhvr>
                                        <p:cTn id="47" dur="1" fill="hold">
                                          <p:stCondLst>
                                            <p:cond delay="0"/>
                                          </p:stCondLst>
                                        </p:cTn>
                                        <p:tgtEl>
                                          <p:spTgt spid="24"/>
                                        </p:tgtEl>
                                        <p:attrNameLst>
                                          <p:attrName>style.visibility</p:attrName>
                                        </p:attrNameLst>
                                      </p:cBhvr>
                                      <p:to>
                                        <p:strVal val="visible"/>
                                      </p:to>
                                    </p:set>
                                  </p:childTnLst>
                                </p:cTn>
                              </p:par>
                            </p:childTnLst>
                          </p:cTn>
                        </p:par>
                        <p:par>
                          <p:cTn id="48" fill="hold">
                            <p:stCondLst>
                              <p:cond delay="6000"/>
                            </p:stCondLst>
                            <p:childTnLst>
                              <p:par>
                                <p:cTn id="49" presetID="0" presetClass="path" presetSubtype="0" accel="50000" decel="50000" fill="hold" grpId="1" nodeType="afterEffect">
                                  <p:stCondLst>
                                    <p:cond delay="0"/>
                                  </p:stCondLst>
                                  <p:childTnLst>
                                    <p:animMotion origin="layout" path="M -2.77778E-6 -2.94798E-6 L 0.31615 0.10729 " pathEditMode="relative" rAng="0" ptsTypes="AA">
                                      <p:cBhvr>
                                        <p:cTn id="50" dur="1000" fill="hold"/>
                                        <p:tgtEl>
                                          <p:spTgt spid="24"/>
                                        </p:tgtEl>
                                        <p:attrNameLst>
                                          <p:attrName>ppt_x</p:attrName>
                                          <p:attrName>ppt_y</p:attrName>
                                        </p:attrNameLst>
                                      </p:cBhvr>
                                      <p:rCtr x="15799" y="5364"/>
                                    </p:animMotion>
                                  </p:childTnLst>
                                </p:cTn>
                              </p:par>
                            </p:childTnLst>
                          </p:cTn>
                        </p:par>
                        <p:par>
                          <p:cTn id="51" fill="hold">
                            <p:stCondLst>
                              <p:cond delay="7000"/>
                            </p:stCondLst>
                            <p:childTnLst>
                              <p:par>
                                <p:cTn id="52" presetID="1" presetClass="entr" presetSubtype="0" fill="hold" grpId="0" nodeType="afterEffect">
                                  <p:stCondLst>
                                    <p:cond delay="0"/>
                                  </p:stCondLst>
                                  <p:childTnLst>
                                    <p:set>
                                      <p:cBhvr>
                                        <p:cTn id="53" dur="1" fill="hold">
                                          <p:stCondLst>
                                            <p:cond delay="0"/>
                                          </p:stCondLst>
                                        </p:cTn>
                                        <p:tgtEl>
                                          <p:spTgt spid="25"/>
                                        </p:tgtEl>
                                        <p:attrNameLst>
                                          <p:attrName>style.visibility</p:attrName>
                                        </p:attrNameLst>
                                      </p:cBhvr>
                                      <p:to>
                                        <p:strVal val="visible"/>
                                      </p:to>
                                    </p:set>
                                  </p:childTnLst>
                                </p:cTn>
                              </p:par>
                            </p:childTnLst>
                          </p:cTn>
                        </p:par>
                        <p:par>
                          <p:cTn id="54" fill="hold">
                            <p:stCondLst>
                              <p:cond delay="7000"/>
                            </p:stCondLst>
                            <p:childTnLst>
                              <p:par>
                                <p:cTn id="55" presetID="0" presetClass="path" presetSubtype="0" accel="50000" decel="50000" fill="hold" grpId="1" nodeType="afterEffect">
                                  <p:stCondLst>
                                    <p:cond delay="0"/>
                                  </p:stCondLst>
                                  <p:childTnLst>
                                    <p:animMotion origin="layout" path="M 0 0 L 0.31493 0.05248 " pathEditMode="relative" ptsTypes="AA">
                                      <p:cBhvr>
                                        <p:cTn id="56" dur="1000" fill="hold"/>
                                        <p:tgtEl>
                                          <p:spTgt spid="25"/>
                                        </p:tgtEl>
                                        <p:attrNameLst>
                                          <p:attrName>ppt_x</p:attrName>
                                          <p:attrName>ppt_y</p:attrName>
                                        </p:attrNameLst>
                                      </p:cBhvr>
                                    </p:animMotion>
                                  </p:childTnLst>
                                </p:cTn>
                              </p:par>
                            </p:childTnLst>
                          </p:cTn>
                        </p:par>
                        <p:par>
                          <p:cTn id="57" fill="hold">
                            <p:stCondLst>
                              <p:cond delay="8000"/>
                            </p:stCondLst>
                            <p:childTnLst>
                              <p:par>
                                <p:cTn id="58" presetID="1" presetClass="entr" presetSubtype="0" fill="hold" grpId="0" nodeType="afterEffect">
                                  <p:stCondLst>
                                    <p:cond delay="0"/>
                                  </p:stCondLst>
                                  <p:childTnLst>
                                    <p:set>
                                      <p:cBhvr>
                                        <p:cTn id="59" dur="1" fill="hold">
                                          <p:stCondLst>
                                            <p:cond delay="0"/>
                                          </p:stCondLst>
                                        </p:cTn>
                                        <p:tgtEl>
                                          <p:spTgt spid="26"/>
                                        </p:tgtEl>
                                        <p:attrNameLst>
                                          <p:attrName>style.visibility</p:attrName>
                                        </p:attrNameLst>
                                      </p:cBhvr>
                                      <p:to>
                                        <p:strVal val="visible"/>
                                      </p:to>
                                    </p:set>
                                  </p:childTnLst>
                                </p:cTn>
                              </p:par>
                            </p:childTnLst>
                          </p:cTn>
                        </p:par>
                        <p:par>
                          <p:cTn id="60" fill="hold">
                            <p:stCondLst>
                              <p:cond delay="8000"/>
                            </p:stCondLst>
                            <p:childTnLst>
                              <p:par>
                                <p:cTn id="61" presetID="0" presetClass="path" presetSubtype="0" accel="50000" decel="50000" fill="hold" grpId="1" nodeType="afterEffect">
                                  <p:stCondLst>
                                    <p:cond delay="0"/>
                                  </p:stCondLst>
                                  <p:childTnLst>
                                    <p:animMotion origin="layout" path="M 0 0 L 0.31493 0 " pathEditMode="relative" ptsTypes="AA">
                                      <p:cBhvr>
                                        <p:cTn id="62" dur="1000" fill="hold"/>
                                        <p:tgtEl>
                                          <p:spTgt spid="26"/>
                                        </p:tgtEl>
                                        <p:attrNameLst>
                                          <p:attrName>ppt_x</p:attrName>
                                          <p:attrName>ppt_y</p:attrName>
                                        </p:attrNameLst>
                                      </p:cBhvr>
                                    </p:animMotion>
                                  </p:childTnLst>
                                </p:cTn>
                              </p:par>
                            </p:childTnLst>
                          </p:cTn>
                        </p:par>
                      </p:childTnLst>
                    </p:cTn>
                  </p:par>
                  <p:par>
                    <p:cTn id="63" fill="hold">
                      <p:stCondLst>
                        <p:cond delay="indefinite"/>
                      </p:stCondLst>
                      <p:childTnLst>
                        <p:par>
                          <p:cTn id="64" fill="hold">
                            <p:stCondLst>
                              <p:cond delay="0"/>
                            </p:stCondLst>
                            <p:childTnLst>
                              <p:par>
                                <p:cTn id="65" presetID="4" presetClass="entr" presetSubtype="32" fill="hold" grpId="0" nodeType="clickEffect">
                                  <p:stCondLst>
                                    <p:cond delay="0"/>
                                  </p:stCondLst>
                                  <p:childTnLst>
                                    <p:set>
                                      <p:cBhvr>
                                        <p:cTn id="66" dur="1" fill="hold">
                                          <p:stCondLst>
                                            <p:cond delay="0"/>
                                          </p:stCondLst>
                                        </p:cTn>
                                        <p:tgtEl>
                                          <p:spTgt spid="27"/>
                                        </p:tgtEl>
                                        <p:attrNameLst>
                                          <p:attrName>style.visibility</p:attrName>
                                        </p:attrNameLst>
                                      </p:cBhvr>
                                      <p:to>
                                        <p:strVal val="visible"/>
                                      </p:to>
                                    </p:set>
                                    <p:animEffect transition="in" filter="box(out)">
                                      <p:cBhvr>
                                        <p:cTn id="6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8" grpId="1" animBg="1"/>
      <p:bldP spid="19" grpId="0" animBg="1"/>
      <p:bldP spid="19" grpId="1" animBg="1"/>
      <p:bldP spid="20" grpId="0" animBg="1"/>
      <p:bldP spid="20" grpId="1" animBg="1"/>
      <p:bldP spid="21" grpId="0" animBg="1"/>
      <p:bldP spid="21" grpId="1" animBg="1"/>
      <p:bldP spid="22" grpId="0" animBg="1"/>
      <p:bldP spid="22" grpId="1" animBg="1"/>
      <p:bldP spid="23" grpId="0" animBg="1"/>
      <p:bldP spid="23" grpId="1" animBg="1"/>
      <p:bldP spid="24" grpId="0" animBg="1"/>
      <p:bldP spid="24" grpId="1" animBg="1"/>
      <p:bldP spid="25" grpId="0" animBg="1"/>
      <p:bldP spid="25" grpId="1" animBg="1"/>
      <p:bldP spid="26" grpId="0" animBg="1"/>
      <p:bldP spid="26" grpId="1" animBg="1"/>
      <p:bldP spid="27"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分区管理的基本原理</a:t>
            </a:r>
          </a:p>
        </p:txBody>
      </p:sp>
      <p:sp>
        <p:nvSpPr>
          <p:cNvPr id="3" name="Content Placeholder 2"/>
          <p:cNvSpPr>
            <a:spLocks noGrp="1"/>
          </p:cNvSpPr>
          <p:nvPr>
            <p:ph idx="1"/>
          </p:nvPr>
        </p:nvSpPr>
        <p:spPr/>
        <p:txBody>
          <a:bodyPr/>
          <a:lstStyle/>
          <a:p>
            <a:r>
              <a:rPr lang="zh-CN" altLang="en-US" dirty="0"/>
              <a:t>解决碎片的主要思路</a:t>
            </a:r>
            <a:r>
              <a:rPr lang="en-US" altLang="zh-CN" dirty="0"/>
              <a:t>——</a:t>
            </a:r>
            <a:r>
              <a:rPr lang="zh-CN" altLang="en-US" dirty="0"/>
              <a:t>内存紧缩</a:t>
            </a:r>
            <a:endParaRPr lang="en-US" altLang="zh-CN" dirty="0"/>
          </a:p>
          <a:p>
            <a:pPr lvl="1"/>
            <a:r>
              <a:rPr lang="zh-CN" altLang="en-US" dirty="0"/>
              <a:t>将各个占用分区向内存一端移动。使各个空闲分区聚集在另一端，然后将各个空闲分区合并成为一个空闲分区</a:t>
            </a:r>
            <a:endParaRPr lang="en-US" altLang="zh-CN" dirty="0"/>
          </a:p>
          <a:p>
            <a:pPr lvl="2"/>
            <a:endParaRPr lang="en-US" altLang="zh-CN" dirty="0"/>
          </a:p>
          <a:p>
            <a:pPr lvl="2"/>
            <a:r>
              <a:rPr lang="zh-CN" altLang="en-US" dirty="0"/>
              <a:t>对占用分区进行内存数据搬移占用</a:t>
            </a:r>
            <a:r>
              <a:rPr lang="en-US" altLang="zh-CN" dirty="0"/>
              <a:t>CPU</a:t>
            </a:r>
            <a:r>
              <a:rPr lang="zh-CN" altLang="en-US" dirty="0"/>
              <a:t>时间</a:t>
            </a:r>
            <a:endParaRPr lang="zh-CN" altLang="en-US" sz="2800" dirty="0"/>
          </a:p>
          <a:p>
            <a:pPr lvl="2"/>
            <a:endParaRPr lang="en-US" altLang="zh-CN" dirty="0"/>
          </a:p>
          <a:p>
            <a:pPr lvl="2"/>
            <a:r>
              <a:rPr lang="zh-CN" altLang="en-US" dirty="0"/>
              <a:t>需要支持动态重定位的硬件支持</a:t>
            </a:r>
            <a:endParaRPr lang="en-US" altLang="zh-CN" dirty="0"/>
          </a:p>
          <a:p>
            <a:pPr lvl="2"/>
            <a:endParaRPr lang="en-US" altLang="zh-CN" dirty="0"/>
          </a:p>
          <a:p>
            <a:pPr lvl="2"/>
            <a:r>
              <a:rPr lang="zh-CN" altLang="en-US" dirty="0"/>
              <a:t>紧缩时机：每个分区释放后，如果没有邻接空闲区但内存中有其他空闲区时，则马上进行拼接；或内存分配找不到满足条件的空闲分区时，而所有空闲区总容量却能满足需求量时，再进行拼接</a:t>
            </a:r>
          </a:p>
          <a:p>
            <a:pPr lvl="2"/>
            <a:endParaRPr lang="zh-CN" altLang="en-US" sz="2800" b="1" dirty="0"/>
          </a:p>
          <a:p>
            <a:pPr lvl="2"/>
            <a:endParaRPr lang="zh-CN" altLang="en-US" dirty="0"/>
          </a:p>
          <a:p>
            <a:pPr lvl="1"/>
            <a:endParaRPr lang="en-US" altLang="zh-CN" dirty="0"/>
          </a:p>
          <a:p>
            <a:endParaRPr lang="zh-CN" altLang="en-US" dirty="0"/>
          </a:p>
        </p:txBody>
      </p:sp>
      <p:sp>
        <p:nvSpPr>
          <p:cNvPr id="4" name="Date Placeholder 3"/>
          <p:cNvSpPr>
            <a:spLocks noGrp="1"/>
          </p:cNvSpPr>
          <p:nvPr>
            <p:ph type="dt" sz="half" idx="10"/>
          </p:nvPr>
        </p:nvSpPr>
        <p:spPr/>
        <p:txBody>
          <a:bodyPr/>
          <a:lstStyle/>
          <a:p>
            <a:fld id="{32A85EA4-FC5C-429E-B0AA-0C228099F1AB}"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45</a:t>
            </a:fld>
            <a:endParaRPr lang="zh-CN" altLang="en-US" dirty="0"/>
          </a:p>
        </p:txBody>
      </p:sp>
    </p:spTree>
    <p:extLst>
      <p:ext uri="{BB962C8B-B14F-4D97-AF65-F5344CB8AC3E}">
        <p14:creationId xmlns:p14="http://schemas.microsoft.com/office/powerpoint/2010/main" val="134148088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分区管理的优缺点</a:t>
            </a:r>
          </a:p>
        </p:txBody>
      </p:sp>
      <p:sp>
        <p:nvSpPr>
          <p:cNvPr id="3" name="Content Placeholder 2"/>
          <p:cNvSpPr>
            <a:spLocks noGrp="1"/>
          </p:cNvSpPr>
          <p:nvPr>
            <p:ph idx="1"/>
          </p:nvPr>
        </p:nvSpPr>
        <p:spPr/>
        <p:txBody>
          <a:bodyPr>
            <a:normAutofit/>
          </a:bodyPr>
          <a:lstStyle/>
          <a:p>
            <a:r>
              <a:rPr lang="zh-CN" altLang="en-US" dirty="0"/>
              <a:t>优点</a:t>
            </a:r>
            <a:endParaRPr lang="en-US" altLang="zh-CN" dirty="0"/>
          </a:p>
          <a:p>
            <a:pPr lvl="1"/>
            <a:r>
              <a:rPr lang="zh-CN" altLang="en-US" dirty="0"/>
              <a:t>简单</a:t>
            </a:r>
            <a:endParaRPr lang="en-US" altLang="zh-CN" dirty="0"/>
          </a:p>
          <a:p>
            <a:endParaRPr lang="en-US" altLang="zh-CN" dirty="0"/>
          </a:p>
          <a:p>
            <a:r>
              <a:rPr lang="zh-CN" altLang="en-US" dirty="0"/>
              <a:t>缺点</a:t>
            </a:r>
            <a:endParaRPr lang="en-US" altLang="zh-CN" dirty="0"/>
          </a:p>
          <a:p>
            <a:pPr lvl="1"/>
            <a:r>
              <a:rPr lang="zh-CN" altLang="en-US" dirty="0"/>
              <a:t>碎片问题</a:t>
            </a:r>
            <a:endParaRPr lang="en-US" altLang="zh-CN" dirty="0"/>
          </a:p>
          <a:p>
            <a:pPr lvl="1"/>
            <a:r>
              <a:rPr lang="zh-CN" altLang="en-US" dirty="0"/>
              <a:t>内存利用率不高</a:t>
            </a:r>
            <a:endParaRPr lang="en-US" altLang="zh-CN" dirty="0"/>
          </a:p>
          <a:p>
            <a:pPr lvl="1"/>
            <a:r>
              <a:rPr lang="zh-CN" altLang="en-US" dirty="0"/>
              <a:t>受分区大小或实际内存容量限制</a:t>
            </a:r>
            <a:endParaRPr lang="en-US" altLang="zh-CN" dirty="0"/>
          </a:p>
          <a:p>
            <a:pPr lvl="1"/>
            <a:r>
              <a:rPr lang="zh-CN" altLang="en-US" dirty="0"/>
              <a:t>不利于程序段和数据段的共享</a:t>
            </a:r>
          </a:p>
        </p:txBody>
      </p:sp>
      <p:sp>
        <p:nvSpPr>
          <p:cNvPr id="4" name="Date Placeholder 3"/>
          <p:cNvSpPr>
            <a:spLocks noGrp="1"/>
          </p:cNvSpPr>
          <p:nvPr>
            <p:ph type="dt" sz="half" idx="10"/>
          </p:nvPr>
        </p:nvSpPr>
        <p:spPr/>
        <p:txBody>
          <a:bodyPr/>
          <a:lstStyle/>
          <a:p>
            <a:fld id="{0C0B509E-2152-4811-A620-1CC731AD9E01}"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46</a:t>
            </a:fld>
            <a:endParaRPr lang="zh-CN" altLang="en-US" dirty="0"/>
          </a:p>
        </p:txBody>
      </p:sp>
    </p:spTree>
    <p:extLst>
      <p:ext uri="{BB962C8B-B14F-4D97-AF65-F5344CB8AC3E}">
        <p14:creationId xmlns:p14="http://schemas.microsoft.com/office/powerpoint/2010/main" val="470305276"/>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Linux</a:t>
            </a:r>
            <a:r>
              <a:rPr lang="zh-CN" altLang="en-US" dirty="0"/>
              <a:t>中的</a:t>
            </a:r>
            <a:r>
              <a:rPr lang="en-US" altLang="zh-CN" dirty="0"/>
              <a:t>Buddy System</a:t>
            </a:r>
            <a:endParaRPr lang="zh-CN" altLang="en-US" dirty="0"/>
          </a:p>
        </p:txBody>
      </p:sp>
      <p:sp>
        <p:nvSpPr>
          <p:cNvPr id="3" name="Content Placeholder 2"/>
          <p:cNvSpPr>
            <a:spLocks noGrp="1"/>
          </p:cNvSpPr>
          <p:nvPr>
            <p:ph idx="1"/>
          </p:nvPr>
        </p:nvSpPr>
        <p:spPr/>
        <p:txBody>
          <a:bodyPr/>
          <a:lstStyle/>
          <a:p>
            <a:r>
              <a:rPr lang="zh-CN" altLang="en-US" dirty="0"/>
              <a:t>回顾固定分区和动态分区的问题</a:t>
            </a:r>
            <a:endParaRPr lang="en-US" altLang="zh-CN" dirty="0"/>
          </a:p>
          <a:p>
            <a:pPr lvl="1"/>
            <a:r>
              <a:rPr lang="zh-CN" altLang="en-US" dirty="0"/>
              <a:t>固定分区：内碎片问题，分区数量限制并发度</a:t>
            </a:r>
            <a:endParaRPr lang="en-US" altLang="zh-CN" dirty="0"/>
          </a:p>
          <a:p>
            <a:pPr lvl="1"/>
            <a:r>
              <a:rPr lang="zh-CN" altLang="en-US" dirty="0"/>
              <a:t>动态分区：管理复杂，外碎片问题</a:t>
            </a:r>
          </a:p>
        </p:txBody>
      </p:sp>
      <p:sp>
        <p:nvSpPr>
          <p:cNvPr id="4" name="Date Placeholder 3"/>
          <p:cNvSpPr>
            <a:spLocks noGrp="1"/>
          </p:cNvSpPr>
          <p:nvPr>
            <p:ph type="dt" sz="half" idx="10"/>
          </p:nvPr>
        </p:nvSpPr>
        <p:spPr/>
        <p:txBody>
          <a:bodyPr/>
          <a:lstStyle/>
          <a:p>
            <a:fld id="{160102F5-3A30-4A64-8F1F-E1DB4534F996}"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47</a:t>
            </a:fld>
            <a:endParaRPr lang="zh-CN" altLang="en-US" dirty="0"/>
          </a:p>
        </p:txBody>
      </p:sp>
      <p:pic>
        <p:nvPicPr>
          <p:cNvPr id="7" name="Picture 6"/>
          <p:cNvPicPr>
            <a:picLocks noChangeAspect="1"/>
          </p:cNvPicPr>
          <p:nvPr/>
        </p:nvPicPr>
        <p:blipFill>
          <a:blip r:embed="rId2"/>
          <a:stretch>
            <a:fillRect/>
          </a:stretch>
        </p:blipFill>
        <p:spPr>
          <a:xfrm>
            <a:off x="1547664" y="2852936"/>
            <a:ext cx="5904706" cy="3452222"/>
          </a:xfrm>
          <a:prstGeom prst="rect">
            <a:avLst/>
          </a:prstGeom>
        </p:spPr>
      </p:pic>
    </p:spTree>
    <p:extLst>
      <p:ext uri="{BB962C8B-B14F-4D97-AF65-F5344CB8AC3E}">
        <p14:creationId xmlns:p14="http://schemas.microsoft.com/office/powerpoint/2010/main" val="211888525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Linux</a:t>
            </a:r>
            <a:r>
              <a:rPr lang="zh-CN" altLang="en-US" dirty="0"/>
              <a:t>中的</a:t>
            </a:r>
            <a:r>
              <a:rPr lang="en-US" altLang="zh-CN" dirty="0"/>
              <a:t>Buddy System</a:t>
            </a:r>
            <a:endParaRPr lang="zh-CN" altLang="en-US" dirty="0"/>
          </a:p>
        </p:txBody>
      </p:sp>
      <p:sp>
        <p:nvSpPr>
          <p:cNvPr id="4" name="Date Placeholder 3"/>
          <p:cNvSpPr>
            <a:spLocks noGrp="1"/>
          </p:cNvSpPr>
          <p:nvPr>
            <p:ph type="dt" sz="half" idx="10"/>
          </p:nvPr>
        </p:nvSpPr>
        <p:spPr/>
        <p:txBody>
          <a:bodyPr/>
          <a:lstStyle/>
          <a:p>
            <a:fld id="{B9C57BE4-4D00-4D0B-9BA7-62246282BC08}"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48</a:t>
            </a:fld>
            <a:endParaRPr lang="zh-CN" altLang="en-US" dirty="0"/>
          </a:p>
        </p:txBody>
      </p:sp>
      <p:pic>
        <p:nvPicPr>
          <p:cNvPr id="7" name="Picture 6"/>
          <p:cNvPicPr>
            <a:picLocks noChangeAspect="1"/>
          </p:cNvPicPr>
          <p:nvPr/>
        </p:nvPicPr>
        <p:blipFill>
          <a:blip r:embed="rId2"/>
          <a:stretch>
            <a:fillRect/>
          </a:stretch>
        </p:blipFill>
        <p:spPr>
          <a:xfrm>
            <a:off x="1619672" y="1700808"/>
            <a:ext cx="5818262" cy="4460109"/>
          </a:xfrm>
          <a:prstGeom prst="rect">
            <a:avLst/>
          </a:prstGeom>
        </p:spPr>
      </p:pic>
    </p:spTree>
    <p:extLst>
      <p:ext uri="{BB962C8B-B14F-4D97-AF65-F5344CB8AC3E}">
        <p14:creationId xmlns:p14="http://schemas.microsoft.com/office/powerpoint/2010/main" val="19002768"/>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主要内容</a:t>
            </a:r>
          </a:p>
        </p:txBody>
      </p:sp>
      <p:sp>
        <p:nvSpPr>
          <p:cNvPr id="3" name="Content Placeholder 2"/>
          <p:cNvSpPr>
            <a:spLocks noGrp="1"/>
          </p:cNvSpPr>
          <p:nvPr>
            <p:ph idx="1"/>
          </p:nvPr>
        </p:nvSpPr>
        <p:spPr/>
        <p:txBody>
          <a:bodyPr/>
          <a:lstStyle/>
          <a:p>
            <a:r>
              <a:rPr lang="zh-CN" altLang="en-US" dirty="0">
                <a:solidFill>
                  <a:schemeClr val="bg1">
                    <a:lumMod val="85000"/>
                  </a:schemeClr>
                </a:solidFill>
              </a:rPr>
              <a:t>存储管理的功能与目标</a:t>
            </a:r>
            <a:endParaRPr lang="en-US" altLang="zh-CN" dirty="0">
              <a:solidFill>
                <a:schemeClr val="bg1">
                  <a:lumMod val="85000"/>
                </a:schemeClr>
              </a:solidFill>
            </a:endParaRPr>
          </a:p>
          <a:p>
            <a:r>
              <a:rPr lang="zh-CN" altLang="en-US" dirty="0">
                <a:solidFill>
                  <a:schemeClr val="bg1">
                    <a:lumMod val="85000"/>
                  </a:schemeClr>
                </a:solidFill>
              </a:rPr>
              <a:t>分区存储管理</a:t>
            </a:r>
            <a:endParaRPr lang="en-US" altLang="zh-CN" dirty="0">
              <a:solidFill>
                <a:schemeClr val="bg1">
                  <a:lumMod val="85000"/>
                </a:schemeClr>
              </a:solidFill>
            </a:endParaRPr>
          </a:p>
          <a:p>
            <a:r>
              <a:rPr lang="zh-CN" altLang="en-US" dirty="0">
                <a:solidFill>
                  <a:srgbClr val="FFC000"/>
                </a:solidFill>
              </a:rPr>
              <a:t>覆盖与交换技术</a:t>
            </a:r>
            <a:endParaRPr lang="en-US" altLang="zh-CN" dirty="0">
              <a:solidFill>
                <a:srgbClr val="FFC000"/>
              </a:solidFill>
            </a:endParaRPr>
          </a:p>
          <a:p>
            <a:r>
              <a:rPr lang="zh-CN" altLang="en-US" dirty="0">
                <a:solidFill>
                  <a:schemeClr val="bg1">
                    <a:lumMod val="85000"/>
                  </a:schemeClr>
                </a:solidFill>
              </a:rPr>
              <a:t>页式与段式存储管理机制</a:t>
            </a:r>
            <a:endParaRPr lang="en-US" altLang="zh-CN" dirty="0">
              <a:solidFill>
                <a:schemeClr val="bg1">
                  <a:lumMod val="85000"/>
                </a:schemeClr>
              </a:solidFill>
            </a:endParaRPr>
          </a:p>
          <a:p>
            <a:r>
              <a:rPr lang="zh-CN" altLang="en-US" dirty="0">
                <a:solidFill>
                  <a:schemeClr val="bg1">
                    <a:lumMod val="85000"/>
                  </a:schemeClr>
                </a:solidFill>
              </a:rPr>
              <a:t>虚拟存储器（重中之重）</a:t>
            </a:r>
          </a:p>
        </p:txBody>
      </p:sp>
      <p:sp>
        <p:nvSpPr>
          <p:cNvPr id="4" name="Date Placeholder 3"/>
          <p:cNvSpPr>
            <a:spLocks noGrp="1"/>
          </p:cNvSpPr>
          <p:nvPr>
            <p:ph type="dt" sz="half" idx="10"/>
          </p:nvPr>
        </p:nvSpPr>
        <p:spPr/>
        <p:txBody>
          <a:bodyPr/>
          <a:lstStyle/>
          <a:p>
            <a:fld id="{726A85D8-5372-4969-93B0-B162F10669F7}"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49</a:t>
            </a:fld>
            <a:endParaRPr lang="zh-CN" altLang="en-US" dirty="0"/>
          </a:p>
        </p:txBody>
      </p:sp>
    </p:spTree>
    <p:extLst>
      <p:ext uri="{BB962C8B-B14F-4D97-AF65-F5344CB8AC3E}">
        <p14:creationId xmlns:p14="http://schemas.microsoft.com/office/powerpoint/2010/main" val="349004323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覆盖技术（</a:t>
            </a:r>
            <a:r>
              <a:rPr lang="en-US" altLang="zh-CN" dirty="0"/>
              <a:t>Overlay</a:t>
            </a:r>
            <a:r>
              <a:rPr lang="zh-CN" altLang="en-US" dirty="0"/>
              <a:t>）</a:t>
            </a:r>
          </a:p>
        </p:txBody>
      </p:sp>
      <p:sp>
        <p:nvSpPr>
          <p:cNvPr id="3" name="Content Placeholder 2"/>
          <p:cNvSpPr>
            <a:spLocks noGrp="1"/>
          </p:cNvSpPr>
          <p:nvPr>
            <p:ph idx="1"/>
          </p:nvPr>
        </p:nvSpPr>
        <p:spPr/>
        <p:txBody>
          <a:bodyPr/>
          <a:lstStyle/>
          <a:p>
            <a:r>
              <a:rPr lang="zh-CN" altLang="en-US" dirty="0"/>
              <a:t>当前的问题</a:t>
            </a:r>
            <a:endParaRPr lang="en-US" altLang="zh-CN" dirty="0"/>
          </a:p>
          <a:p>
            <a:pPr lvl="1"/>
            <a:r>
              <a:rPr lang="zh-CN" altLang="en-US" dirty="0"/>
              <a:t>一个程序都已经太大，无法装入内存</a:t>
            </a:r>
            <a:endParaRPr lang="en-US" altLang="zh-CN" dirty="0"/>
          </a:p>
          <a:p>
            <a:endParaRPr lang="en-US" altLang="zh-CN" dirty="0"/>
          </a:p>
          <a:p>
            <a:r>
              <a:rPr lang="zh-CN" altLang="en-US" dirty="0"/>
              <a:t>覆盖技术的原理</a:t>
            </a:r>
            <a:endParaRPr lang="en-US" altLang="zh-CN" dirty="0"/>
          </a:p>
          <a:p>
            <a:pPr lvl="1"/>
            <a:r>
              <a:rPr lang="zh-CN" altLang="en-US" dirty="0"/>
              <a:t>把程序划分为若干个功能上相对独立的程序段</a:t>
            </a:r>
            <a:endParaRPr lang="en-US" altLang="zh-CN" dirty="0"/>
          </a:p>
          <a:p>
            <a:pPr lvl="1"/>
            <a:r>
              <a:rPr lang="zh-CN" altLang="en-US" dirty="0"/>
              <a:t>不会同时执行的程序段共享同一块内存区域</a:t>
            </a:r>
            <a:endParaRPr lang="en-US" altLang="zh-CN" dirty="0"/>
          </a:p>
          <a:p>
            <a:pPr lvl="1"/>
            <a:r>
              <a:rPr lang="zh-CN" altLang="en-US" dirty="0"/>
              <a:t>程序段先保存在磁盘上，当有关程序段的前一部分执行结束，把后续程序段调入内存，覆盖前面的程序段</a:t>
            </a:r>
          </a:p>
        </p:txBody>
      </p:sp>
      <p:sp>
        <p:nvSpPr>
          <p:cNvPr id="4" name="Date Placeholder 3"/>
          <p:cNvSpPr>
            <a:spLocks noGrp="1"/>
          </p:cNvSpPr>
          <p:nvPr>
            <p:ph type="dt" sz="half" idx="10"/>
          </p:nvPr>
        </p:nvSpPr>
        <p:spPr/>
        <p:txBody>
          <a:bodyPr/>
          <a:lstStyle/>
          <a:p>
            <a:fld id="{296AFEB4-FFB1-497A-AA9E-A0DE1551161C}"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50</a:t>
            </a:fld>
            <a:endParaRPr lang="zh-CN" altLang="en-US" dirty="0"/>
          </a:p>
        </p:txBody>
      </p:sp>
    </p:spTree>
    <p:extLst>
      <p:ext uri="{BB962C8B-B14F-4D97-AF65-F5344CB8AC3E}">
        <p14:creationId xmlns:p14="http://schemas.microsoft.com/office/powerpoint/2010/main" val="3917420861"/>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覆盖技术（</a:t>
            </a:r>
            <a:r>
              <a:rPr lang="en-US" altLang="zh-CN" dirty="0"/>
              <a:t>Overlay</a:t>
            </a:r>
            <a:r>
              <a:rPr lang="zh-CN" altLang="en-US" dirty="0"/>
              <a:t>）</a:t>
            </a:r>
          </a:p>
        </p:txBody>
      </p:sp>
      <p:sp>
        <p:nvSpPr>
          <p:cNvPr id="3" name="Content Placeholder 2"/>
          <p:cNvSpPr>
            <a:spLocks noGrp="1"/>
          </p:cNvSpPr>
          <p:nvPr>
            <p:ph idx="1"/>
          </p:nvPr>
        </p:nvSpPr>
        <p:spPr/>
        <p:txBody>
          <a:bodyPr/>
          <a:lstStyle/>
          <a:p>
            <a:r>
              <a:rPr lang="zh-CN" altLang="en-US" dirty="0"/>
              <a:t>举例</a:t>
            </a:r>
          </a:p>
        </p:txBody>
      </p:sp>
      <p:sp>
        <p:nvSpPr>
          <p:cNvPr id="4" name="Date Placeholder 3"/>
          <p:cNvSpPr>
            <a:spLocks noGrp="1"/>
          </p:cNvSpPr>
          <p:nvPr>
            <p:ph type="dt" sz="half" idx="10"/>
          </p:nvPr>
        </p:nvSpPr>
        <p:spPr/>
        <p:txBody>
          <a:bodyPr/>
          <a:lstStyle/>
          <a:p>
            <a:fld id="{0BE50B6A-F459-4B63-9A15-049E1DD7B94B}"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51</a:t>
            </a:fld>
            <a:endParaRPr lang="zh-CN" altLang="en-US" dirty="0"/>
          </a:p>
        </p:txBody>
      </p:sp>
      <p:grpSp>
        <p:nvGrpSpPr>
          <p:cNvPr id="7" name="Group 98"/>
          <p:cNvGrpSpPr>
            <a:grpSpLocks/>
          </p:cNvGrpSpPr>
          <p:nvPr/>
        </p:nvGrpSpPr>
        <p:grpSpPr bwMode="auto">
          <a:xfrm>
            <a:off x="4340225" y="2222203"/>
            <a:ext cx="785813" cy="1770062"/>
            <a:chOff x="2734" y="1923"/>
            <a:chExt cx="495" cy="1115"/>
          </a:xfrm>
        </p:grpSpPr>
        <p:sp>
          <p:nvSpPr>
            <p:cNvPr id="8" name="Freeform 81"/>
            <p:cNvSpPr>
              <a:spLocks/>
            </p:cNvSpPr>
            <p:nvPr/>
          </p:nvSpPr>
          <p:spPr bwMode="auto">
            <a:xfrm>
              <a:off x="2734" y="1955"/>
              <a:ext cx="371" cy="46"/>
            </a:xfrm>
            <a:custGeom>
              <a:avLst/>
              <a:gdLst>
                <a:gd name="T0" fmla="*/ 0 w 397"/>
                <a:gd name="T1" fmla="*/ 0 h 56"/>
                <a:gd name="T2" fmla="*/ 0 w 397"/>
                <a:gd name="T3" fmla="*/ 54 h 56"/>
                <a:gd name="T4" fmla="*/ 397 w 397"/>
                <a:gd name="T5" fmla="*/ 56 h 56"/>
                <a:gd name="T6" fmla="*/ 397 w 397"/>
                <a:gd name="T7" fmla="*/ 2 h 56"/>
                <a:gd name="T8" fmla="*/ 0 w 397"/>
                <a:gd name="T9" fmla="*/ 0 h 56"/>
              </a:gdLst>
              <a:ahLst/>
              <a:cxnLst>
                <a:cxn ang="0">
                  <a:pos x="T0" y="T1"/>
                </a:cxn>
                <a:cxn ang="0">
                  <a:pos x="T2" y="T3"/>
                </a:cxn>
                <a:cxn ang="0">
                  <a:pos x="T4" y="T5"/>
                </a:cxn>
                <a:cxn ang="0">
                  <a:pos x="T6" y="T7"/>
                </a:cxn>
                <a:cxn ang="0">
                  <a:pos x="T8" y="T9"/>
                </a:cxn>
              </a:cxnLst>
              <a:rect l="0" t="0" r="r" b="b"/>
              <a:pathLst>
                <a:path w="397" h="56">
                  <a:moveTo>
                    <a:pt x="0" y="0"/>
                  </a:moveTo>
                  <a:lnTo>
                    <a:pt x="0" y="54"/>
                  </a:lnTo>
                  <a:lnTo>
                    <a:pt x="397" y="56"/>
                  </a:lnTo>
                  <a:lnTo>
                    <a:pt x="397" y="2"/>
                  </a:lnTo>
                  <a:lnTo>
                    <a:pt x="0" y="0"/>
                  </a:lnTo>
                  <a:close/>
                </a:path>
              </a:pathLst>
            </a:custGeom>
            <a:solidFill>
              <a:schemeClr val="tx1"/>
            </a:solidFill>
            <a:ln w="9525">
              <a:solidFill>
                <a:schemeClr val="tx1"/>
              </a:solidFill>
              <a:round/>
              <a:headEnd/>
              <a:tailEnd/>
            </a:ln>
          </p:spPr>
          <p:txBody>
            <a:bodyPr/>
            <a:lstStyle/>
            <a:p>
              <a:endParaRPr lang="zh-CN" altLang="en-US"/>
            </a:p>
          </p:txBody>
        </p:sp>
        <p:sp>
          <p:nvSpPr>
            <p:cNvPr id="9" name="Freeform 82"/>
            <p:cNvSpPr>
              <a:spLocks/>
            </p:cNvSpPr>
            <p:nvPr/>
          </p:nvSpPr>
          <p:spPr bwMode="auto">
            <a:xfrm>
              <a:off x="3102" y="1923"/>
              <a:ext cx="127" cy="112"/>
            </a:xfrm>
            <a:custGeom>
              <a:avLst/>
              <a:gdLst>
                <a:gd name="T0" fmla="*/ 0 w 135"/>
                <a:gd name="T1" fmla="*/ 136 h 136"/>
                <a:gd name="T2" fmla="*/ 135 w 135"/>
                <a:gd name="T3" fmla="*/ 67 h 136"/>
                <a:gd name="T4" fmla="*/ 0 w 135"/>
                <a:gd name="T5" fmla="*/ 0 h 136"/>
                <a:gd name="T6" fmla="*/ 0 w 135"/>
                <a:gd name="T7" fmla="*/ 136 h 136"/>
              </a:gdLst>
              <a:ahLst/>
              <a:cxnLst>
                <a:cxn ang="0">
                  <a:pos x="T0" y="T1"/>
                </a:cxn>
                <a:cxn ang="0">
                  <a:pos x="T2" y="T3"/>
                </a:cxn>
                <a:cxn ang="0">
                  <a:pos x="T4" y="T5"/>
                </a:cxn>
                <a:cxn ang="0">
                  <a:pos x="T6" y="T7"/>
                </a:cxn>
              </a:cxnLst>
              <a:rect l="0" t="0" r="r" b="b"/>
              <a:pathLst>
                <a:path w="135" h="136">
                  <a:moveTo>
                    <a:pt x="0" y="136"/>
                  </a:moveTo>
                  <a:lnTo>
                    <a:pt x="135" y="67"/>
                  </a:lnTo>
                  <a:lnTo>
                    <a:pt x="0" y="0"/>
                  </a:lnTo>
                  <a:lnTo>
                    <a:pt x="0" y="136"/>
                  </a:lnTo>
                  <a:close/>
                </a:path>
              </a:pathLst>
            </a:custGeom>
            <a:solidFill>
              <a:schemeClr val="tx1"/>
            </a:solidFill>
            <a:ln w="9525">
              <a:solidFill>
                <a:schemeClr val="tx1"/>
              </a:solidFill>
              <a:round/>
              <a:headEnd/>
              <a:tailEnd/>
            </a:ln>
          </p:spPr>
          <p:txBody>
            <a:bodyPr/>
            <a:lstStyle/>
            <a:p>
              <a:endParaRPr lang="zh-CN" altLang="en-US"/>
            </a:p>
          </p:txBody>
        </p:sp>
        <p:sp>
          <p:nvSpPr>
            <p:cNvPr id="10" name="Freeform 83"/>
            <p:cNvSpPr>
              <a:spLocks/>
            </p:cNvSpPr>
            <p:nvPr/>
          </p:nvSpPr>
          <p:spPr bwMode="auto">
            <a:xfrm>
              <a:off x="2734" y="2457"/>
              <a:ext cx="371" cy="46"/>
            </a:xfrm>
            <a:custGeom>
              <a:avLst/>
              <a:gdLst>
                <a:gd name="T0" fmla="*/ 0 w 397"/>
                <a:gd name="T1" fmla="*/ 0 h 55"/>
                <a:gd name="T2" fmla="*/ 0 w 397"/>
                <a:gd name="T3" fmla="*/ 53 h 55"/>
                <a:gd name="T4" fmla="*/ 397 w 397"/>
                <a:gd name="T5" fmla="*/ 55 h 55"/>
                <a:gd name="T6" fmla="*/ 397 w 397"/>
                <a:gd name="T7" fmla="*/ 1 h 55"/>
                <a:gd name="T8" fmla="*/ 0 w 397"/>
                <a:gd name="T9" fmla="*/ 0 h 55"/>
              </a:gdLst>
              <a:ahLst/>
              <a:cxnLst>
                <a:cxn ang="0">
                  <a:pos x="T0" y="T1"/>
                </a:cxn>
                <a:cxn ang="0">
                  <a:pos x="T2" y="T3"/>
                </a:cxn>
                <a:cxn ang="0">
                  <a:pos x="T4" y="T5"/>
                </a:cxn>
                <a:cxn ang="0">
                  <a:pos x="T6" y="T7"/>
                </a:cxn>
                <a:cxn ang="0">
                  <a:pos x="T8" y="T9"/>
                </a:cxn>
              </a:cxnLst>
              <a:rect l="0" t="0" r="r" b="b"/>
              <a:pathLst>
                <a:path w="397" h="55">
                  <a:moveTo>
                    <a:pt x="0" y="0"/>
                  </a:moveTo>
                  <a:lnTo>
                    <a:pt x="0" y="53"/>
                  </a:lnTo>
                  <a:lnTo>
                    <a:pt x="397" y="55"/>
                  </a:lnTo>
                  <a:lnTo>
                    <a:pt x="397" y="1"/>
                  </a:lnTo>
                  <a:lnTo>
                    <a:pt x="0" y="0"/>
                  </a:lnTo>
                  <a:close/>
                </a:path>
              </a:pathLst>
            </a:custGeom>
            <a:solidFill>
              <a:schemeClr val="tx1"/>
            </a:solidFill>
            <a:ln w="9525">
              <a:solidFill>
                <a:schemeClr val="tx1"/>
              </a:solidFill>
              <a:round/>
              <a:headEnd/>
              <a:tailEnd/>
            </a:ln>
          </p:spPr>
          <p:txBody>
            <a:bodyPr/>
            <a:lstStyle/>
            <a:p>
              <a:endParaRPr lang="zh-CN" altLang="en-US"/>
            </a:p>
          </p:txBody>
        </p:sp>
        <p:sp>
          <p:nvSpPr>
            <p:cNvPr id="11" name="Freeform 84"/>
            <p:cNvSpPr>
              <a:spLocks/>
            </p:cNvSpPr>
            <p:nvPr/>
          </p:nvSpPr>
          <p:spPr bwMode="auto">
            <a:xfrm>
              <a:off x="3102" y="2425"/>
              <a:ext cx="127" cy="111"/>
            </a:xfrm>
            <a:custGeom>
              <a:avLst/>
              <a:gdLst>
                <a:gd name="T0" fmla="*/ 0 w 135"/>
                <a:gd name="T1" fmla="*/ 135 h 135"/>
                <a:gd name="T2" fmla="*/ 135 w 135"/>
                <a:gd name="T3" fmla="*/ 66 h 135"/>
                <a:gd name="T4" fmla="*/ 0 w 135"/>
                <a:gd name="T5" fmla="*/ 0 h 135"/>
                <a:gd name="T6" fmla="*/ 0 w 135"/>
                <a:gd name="T7" fmla="*/ 135 h 135"/>
              </a:gdLst>
              <a:ahLst/>
              <a:cxnLst>
                <a:cxn ang="0">
                  <a:pos x="T0" y="T1"/>
                </a:cxn>
                <a:cxn ang="0">
                  <a:pos x="T2" y="T3"/>
                </a:cxn>
                <a:cxn ang="0">
                  <a:pos x="T4" y="T5"/>
                </a:cxn>
                <a:cxn ang="0">
                  <a:pos x="T6" y="T7"/>
                </a:cxn>
              </a:cxnLst>
              <a:rect l="0" t="0" r="r" b="b"/>
              <a:pathLst>
                <a:path w="135" h="135">
                  <a:moveTo>
                    <a:pt x="0" y="135"/>
                  </a:moveTo>
                  <a:lnTo>
                    <a:pt x="135" y="66"/>
                  </a:lnTo>
                  <a:lnTo>
                    <a:pt x="0" y="0"/>
                  </a:lnTo>
                  <a:lnTo>
                    <a:pt x="0" y="135"/>
                  </a:lnTo>
                  <a:close/>
                </a:path>
              </a:pathLst>
            </a:custGeom>
            <a:solidFill>
              <a:schemeClr val="tx1"/>
            </a:solidFill>
            <a:ln w="9525">
              <a:solidFill>
                <a:schemeClr val="tx1"/>
              </a:solidFill>
              <a:round/>
              <a:headEnd/>
              <a:tailEnd/>
            </a:ln>
          </p:spPr>
          <p:txBody>
            <a:bodyPr/>
            <a:lstStyle/>
            <a:p>
              <a:endParaRPr lang="zh-CN" altLang="en-US"/>
            </a:p>
          </p:txBody>
        </p:sp>
        <p:sp>
          <p:nvSpPr>
            <p:cNvPr id="12" name="Freeform 85"/>
            <p:cNvSpPr>
              <a:spLocks/>
            </p:cNvSpPr>
            <p:nvPr/>
          </p:nvSpPr>
          <p:spPr bwMode="auto">
            <a:xfrm>
              <a:off x="2734" y="2957"/>
              <a:ext cx="371" cy="46"/>
            </a:xfrm>
            <a:custGeom>
              <a:avLst/>
              <a:gdLst>
                <a:gd name="T0" fmla="*/ 0 w 397"/>
                <a:gd name="T1" fmla="*/ 0 h 55"/>
                <a:gd name="T2" fmla="*/ 0 w 397"/>
                <a:gd name="T3" fmla="*/ 54 h 55"/>
                <a:gd name="T4" fmla="*/ 397 w 397"/>
                <a:gd name="T5" fmla="*/ 55 h 55"/>
                <a:gd name="T6" fmla="*/ 397 w 397"/>
                <a:gd name="T7" fmla="*/ 2 h 55"/>
                <a:gd name="T8" fmla="*/ 0 w 397"/>
                <a:gd name="T9" fmla="*/ 0 h 55"/>
              </a:gdLst>
              <a:ahLst/>
              <a:cxnLst>
                <a:cxn ang="0">
                  <a:pos x="T0" y="T1"/>
                </a:cxn>
                <a:cxn ang="0">
                  <a:pos x="T2" y="T3"/>
                </a:cxn>
                <a:cxn ang="0">
                  <a:pos x="T4" y="T5"/>
                </a:cxn>
                <a:cxn ang="0">
                  <a:pos x="T6" y="T7"/>
                </a:cxn>
                <a:cxn ang="0">
                  <a:pos x="T8" y="T9"/>
                </a:cxn>
              </a:cxnLst>
              <a:rect l="0" t="0" r="r" b="b"/>
              <a:pathLst>
                <a:path w="397" h="55">
                  <a:moveTo>
                    <a:pt x="0" y="0"/>
                  </a:moveTo>
                  <a:lnTo>
                    <a:pt x="0" y="54"/>
                  </a:lnTo>
                  <a:lnTo>
                    <a:pt x="397" y="55"/>
                  </a:lnTo>
                  <a:lnTo>
                    <a:pt x="397" y="2"/>
                  </a:lnTo>
                  <a:lnTo>
                    <a:pt x="0" y="0"/>
                  </a:lnTo>
                  <a:close/>
                </a:path>
              </a:pathLst>
            </a:custGeom>
            <a:solidFill>
              <a:schemeClr val="tx1"/>
            </a:solidFill>
            <a:ln w="9525">
              <a:solidFill>
                <a:schemeClr val="tx1"/>
              </a:solidFill>
              <a:round/>
              <a:headEnd/>
              <a:tailEnd/>
            </a:ln>
          </p:spPr>
          <p:txBody>
            <a:bodyPr/>
            <a:lstStyle/>
            <a:p>
              <a:endParaRPr lang="zh-CN" altLang="en-US"/>
            </a:p>
          </p:txBody>
        </p:sp>
        <p:sp>
          <p:nvSpPr>
            <p:cNvPr id="13" name="Freeform 86"/>
            <p:cNvSpPr>
              <a:spLocks/>
            </p:cNvSpPr>
            <p:nvPr/>
          </p:nvSpPr>
          <p:spPr bwMode="auto">
            <a:xfrm>
              <a:off x="3102" y="2927"/>
              <a:ext cx="127" cy="111"/>
            </a:xfrm>
            <a:custGeom>
              <a:avLst/>
              <a:gdLst>
                <a:gd name="T0" fmla="*/ 0 w 135"/>
                <a:gd name="T1" fmla="*/ 135 h 135"/>
                <a:gd name="T2" fmla="*/ 135 w 135"/>
                <a:gd name="T3" fmla="*/ 67 h 135"/>
                <a:gd name="T4" fmla="*/ 0 w 135"/>
                <a:gd name="T5" fmla="*/ 0 h 135"/>
                <a:gd name="T6" fmla="*/ 0 w 135"/>
                <a:gd name="T7" fmla="*/ 135 h 135"/>
              </a:gdLst>
              <a:ahLst/>
              <a:cxnLst>
                <a:cxn ang="0">
                  <a:pos x="T0" y="T1"/>
                </a:cxn>
                <a:cxn ang="0">
                  <a:pos x="T2" y="T3"/>
                </a:cxn>
                <a:cxn ang="0">
                  <a:pos x="T4" y="T5"/>
                </a:cxn>
                <a:cxn ang="0">
                  <a:pos x="T6" y="T7"/>
                </a:cxn>
              </a:cxnLst>
              <a:rect l="0" t="0" r="r" b="b"/>
              <a:pathLst>
                <a:path w="135" h="135">
                  <a:moveTo>
                    <a:pt x="0" y="135"/>
                  </a:moveTo>
                  <a:lnTo>
                    <a:pt x="135" y="67"/>
                  </a:lnTo>
                  <a:lnTo>
                    <a:pt x="0" y="0"/>
                  </a:lnTo>
                  <a:lnTo>
                    <a:pt x="0" y="135"/>
                  </a:lnTo>
                  <a:close/>
                </a:path>
              </a:pathLst>
            </a:custGeom>
            <a:solidFill>
              <a:schemeClr val="tx1"/>
            </a:solidFill>
            <a:ln w="9525">
              <a:solidFill>
                <a:schemeClr val="tx1"/>
              </a:solidFill>
              <a:round/>
              <a:headEnd/>
              <a:tailEnd/>
            </a:ln>
          </p:spPr>
          <p:txBody>
            <a:bodyPr/>
            <a:lstStyle/>
            <a:p>
              <a:endParaRPr lang="zh-CN" altLang="en-US"/>
            </a:p>
          </p:txBody>
        </p:sp>
      </p:grpSp>
      <p:grpSp>
        <p:nvGrpSpPr>
          <p:cNvPr id="14" name="Group 99"/>
          <p:cNvGrpSpPr>
            <a:grpSpLocks/>
          </p:cNvGrpSpPr>
          <p:nvPr/>
        </p:nvGrpSpPr>
        <p:grpSpPr bwMode="auto">
          <a:xfrm>
            <a:off x="5487988" y="2042815"/>
            <a:ext cx="3121025" cy="2166938"/>
            <a:chOff x="3457" y="1810"/>
            <a:chExt cx="1966" cy="1365"/>
          </a:xfrm>
        </p:grpSpPr>
        <p:sp>
          <p:nvSpPr>
            <p:cNvPr id="15" name="Rectangle 72"/>
            <p:cNvSpPr>
              <a:spLocks noChangeArrowheads="1"/>
            </p:cNvSpPr>
            <p:nvPr/>
          </p:nvSpPr>
          <p:spPr bwMode="auto">
            <a:xfrm>
              <a:off x="3457" y="1810"/>
              <a:ext cx="1218" cy="335"/>
            </a:xfrm>
            <a:prstGeom prst="rect">
              <a:avLst/>
            </a:prstGeom>
            <a:noFill/>
            <a:ln w="20638">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6" name="Rectangle 73"/>
            <p:cNvSpPr>
              <a:spLocks noChangeArrowheads="1"/>
            </p:cNvSpPr>
            <p:nvPr/>
          </p:nvSpPr>
          <p:spPr bwMode="auto">
            <a:xfrm>
              <a:off x="3832" y="1814"/>
              <a:ext cx="44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500" b="1"/>
                <a:t>Resident</a:t>
              </a:r>
            </a:p>
          </p:txBody>
        </p:sp>
        <p:sp>
          <p:nvSpPr>
            <p:cNvPr id="17" name="Rectangle 74"/>
            <p:cNvSpPr>
              <a:spLocks noChangeArrowheads="1"/>
            </p:cNvSpPr>
            <p:nvPr/>
          </p:nvSpPr>
          <p:spPr bwMode="auto">
            <a:xfrm>
              <a:off x="3951" y="1988"/>
              <a:ext cx="21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500" b="1"/>
                <a:t>20K</a:t>
              </a:r>
            </a:p>
          </p:txBody>
        </p:sp>
        <p:sp>
          <p:nvSpPr>
            <p:cNvPr id="18" name="Rectangle 75"/>
            <p:cNvSpPr>
              <a:spLocks noChangeArrowheads="1"/>
            </p:cNvSpPr>
            <p:nvPr/>
          </p:nvSpPr>
          <p:spPr bwMode="auto">
            <a:xfrm>
              <a:off x="3457" y="2145"/>
              <a:ext cx="1218" cy="602"/>
            </a:xfrm>
            <a:prstGeom prst="rect">
              <a:avLst/>
            </a:prstGeom>
            <a:noFill/>
            <a:ln w="20638">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 name="Rectangle 76"/>
            <p:cNvSpPr>
              <a:spLocks noChangeArrowheads="1"/>
            </p:cNvSpPr>
            <p:nvPr/>
          </p:nvSpPr>
          <p:spPr bwMode="auto">
            <a:xfrm>
              <a:off x="3802" y="2271"/>
              <a:ext cx="502"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500" b="1"/>
                <a:t>Overlay 0</a:t>
              </a:r>
            </a:p>
          </p:txBody>
        </p:sp>
        <p:sp>
          <p:nvSpPr>
            <p:cNvPr id="20" name="Rectangle 77"/>
            <p:cNvSpPr>
              <a:spLocks noChangeArrowheads="1"/>
            </p:cNvSpPr>
            <p:nvPr/>
          </p:nvSpPr>
          <p:spPr bwMode="auto">
            <a:xfrm>
              <a:off x="3951" y="2443"/>
              <a:ext cx="21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500" b="1"/>
                <a:t>50K</a:t>
              </a:r>
            </a:p>
          </p:txBody>
        </p:sp>
        <p:sp>
          <p:nvSpPr>
            <p:cNvPr id="21" name="Rectangle 78"/>
            <p:cNvSpPr>
              <a:spLocks noChangeArrowheads="1"/>
            </p:cNvSpPr>
            <p:nvPr/>
          </p:nvSpPr>
          <p:spPr bwMode="auto">
            <a:xfrm>
              <a:off x="3457" y="2747"/>
              <a:ext cx="1218" cy="428"/>
            </a:xfrm>
            <a:prstGeom prst="rect">
              <a:avLst/>
            </a:prstGeom>
            <a:noFill/>
            <a:ln w="20638">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 name="Rectangle 79"/>
            <p:cNvSpPr>
              <a:spLocks noChangeArrowheads="1"/>
            </p:cNvSpPr>
            <p:nvPr/>
          </p:nvSpPr>
          <p:spPr bwMode="auto">
            <a:xfrm>
              <a:off x="3802" y="2793"/>
              <a:ext cx="502"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500" b="1"/>
                <a:t>Overlay 1</a:t>
              </a:r>
            </a:p>
          </p:txBody>
        </p:sp>
        <p:sp>
          <p:nvSpPr>
            <p:cNvPr id="23" name="Rectangle 80"/>
            <p:cNvSpPr>
              <a:spLocks noChangeArrowheads="1"/>
            </p:cNvSpPr>
            <p:nvPr/>
          </p:nvSpPr>
          <p:spPr bwMode="auto">
            <a:xfrm>
              <a:off x="3951" y="2966"/>
              <a:ext cx="21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500" b="1"/>
                <a:t>40K</a:t>
              </a:r>
            </a:p>
          </p:txBody>
        </p:sp>
        <p:sp>
          <p:nvSpPr>
            <p:cNvPr id="24" name="Rectangle 91"/>
            <p:cNvSpPr>
              <a:spLocks noChangeArrowheads="1"/>
            </p:cNvSpPr>
            <p:nvPr/>
          </p:nvSpPr>
          <p:spPr bwMode="auto">
            <a:xfrm>
              <a:off x="4807" y="1852"/>
              <a:ext cx="616"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500" b="1"/>
                <a:t>Total: 110K</a:t>
              </a:r>
            </a:p>
          </p:txBody>
        </p:sp>
      </p:grpSp>
      <p:grpSp>
        <p:nvGrpSpPr>
          <p:cNvPr id="25" name="Group 97"/>
          <p:cNvGrpSpPr>
            <a:grpSpLocks/>
          </p:cNvGrpSpPr>
          <p:nvPr/>
        </p:nvGrpSpPr>
        <p:grpSpPr bwMode="auto">
          <a:xfrm>
            <a:off x="838200" y="1988840"/>
            <a:ext cx="3082925" cy="2286000"/>
            <a:chOff x="528" y="1776"/>
            <a:chExt cx="1942" cy="1440"/>
          </a:xfrm>
        </p:grpSpPr>
        <p:sp>
          <p:nvSpPr>
            <p:cNvPr id="26" name="Rectangle 49"/>
            <p:cNvSpPr>
              <a:spLocks noChangeArrowheads="1"/>
            </p:cNvSpPr>
            <p:nvPr/>
          </p:nvSpPr>
          <p:spPr bwMode="auto">
            <a:xfrm>
              <a:off x="908" y="1776"/>
              <a:ext cx="534" cy="369"/>
            </a:xfrm>
            <a:prstGeom prst="rect">
              <a:avLst/>
            </a:prstGeom>
            <a:noFill/>
            <a:ln w="20638">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 name="Rectangle 50"/>
            <p:cNvSpPr>
              <a:spLocks noChangeArrowheads="1"/>
            </p:cNvSpPr>
            <p:nvPr/>
          </p:nvSpPr>
          <p:spPr bwMode="auto">
            <a:xfrm>
              <a:off x="1120" y="1807"/>
              <a:ext cx="8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500" b="1"/>
                <a:t>A</a:t>
              </a:r>
            </a:p>
          </p:txBody>
        </p:sp>
        <p:sp>
          <p:nvSpPr>
            <p:cNvPr id="28" name="Rectangle 51"/>
            <p:cNvSpPr>
              <a:spLocks noChangeArrowheads="1"/>
            </p:cNvSpPr>
            <p:nvPr/>
          </p:nvSpPr>
          <p:spPr bwMode="auto">
            <a:xfrm>
              <a:off x="1044" y="1980"/>
              <a:ext cx="21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500" b="1"/>
                <a:t>20K</a:t>
              </a:r>
            </a:p>
          </p:txBody>
        </p:sp>
        <p:sp>
          <p:nvSpPr>
            <p:cNvPr id="29" name="Rectangle 52"/>
            <p:cNvSpPr>
              <a:spLocks noChangeArrowheads="1"/>
            </p:cNvSpPr>
            <p:nvPr/>
          </p:nvSpPr>
          <p:spPr bwMode="auto">
            <a:xfrm>
              <a:off x="528" y="2313"/>
              <a:ext cx="534" cy="368"/>
            </a:xfrm>
            <a:prstGeom prst="rect">
              <a:avLst/>
            </a:prstGeom>
            <a:noFill/>
            <a:ln w="20638">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 name="Rectangle 53"/>
            <p:cNvSpPr>
              <a:spLocks noChangeArrowheads="1"/>
            </p:cNvSpPr>
            <p:nvPr/>
          </p:nvSpPr>
          <p:spPr bwMode="auto">
            <a:xfrm>
              <a:off x="744" y="2342"/>
              <a:ext cx="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500" b="1"/>
                <a:t>B</a:t>
              </a:r>
            </a:p>
          </p:txBody>
        </p:sp>
        <p:sp>
          <p:nvSpPr>
            <p:cNvPr id="31" name="Rectangle 54"/>
            <p:cNvSpPr>
              <a:spLocks noChangeArrowheads="1"/>
            </p:cNvSpPr>
            <p:nvPr/>
          </p:nvSpPr>
          <p:spPr bwMode="auto">
            <a:xfrm>
              <a:off x="680" y="2526"/>
              <a:ext cx="21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500" b="1"/>
                <a:t>50K</a:t>
              </a:r>
            </a:p>
          </p:txBody>
        </p:sp>
        <p:sp>
          <p:nvSpPr>
            <p:cNvPr id="32" name="Rectangle 55"/>
            <p:cNvSpPr>
              <a:spLocks noChangeArrowheads="1"/>
            </p:cNvSpPr>
            <p:nvPr/>
          </p:nvSpPr>
          <p:spPr bwMode="auto">
            <a:xfrm>
              <a:off x="1289" y="2319"/>
              <a:ext cx="534" cy="368"/>
            </a:xfrm>
            <a:prstGeom prst="rect">
              <a:avLst/>
            </a:prstGeom>
            <a:noFill/>
            <a:ln w="20638">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3" name="Rectangle 56"/>
            <p:cNvSpPr>
              <a:spLocks noChangeArrowheads="1"/>
            </p:cNvSpPr>
            <p:nvPr/>
          </p:nvSpPr>
          <p:spPr bwMode="auto">
            <a:xfrm>
              <a:off x="1505" y="2349"/>
              <a:ext cx="8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500" b="1"/>
                <a:t>C</a:t>
              </a:r>
            </a:p>
          </p:txBody>
        </p:sp>
        <p:sp>
          <p:nvSpPr>
            <p:cNvPr id="34" name="Rectangle 57"/>
            <p:cNvSpPr>
              <a:spLocks noChangeArrowheads="1"/>
            </p:cNvSpPr>
            <p:nvPr/>
          </p:nvSpPr>
          <p:spPr bwMode="auto">
            <a:xfrm>
              <a:off x="1424" y="2523"/>
              <a:ext cx="21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500" b="1"/>
                <a:t>30K</a:t>
              </a:r>
            </a:p>
          </p:txBody>
        </p:sp>
        <p:sp>
          <p:nvSpPr>
            <p:cNvPr id="35" name="Rectangle 58"/>
            <p:cNvSpPr>
              <a:spLocks noChangeArrowheads="1"/>
            </p:cNvSpPr>
            <p:nvPr/>
          </p:nvSpPr>
          <p:spPr bwMode="auto">
            <a:xfrm>
              <a:off x="528" y="2848"/>
              <a:ext cx="534" cy="368"/>
            </a:xfrm>
            <a:prstGeom prst="rect">
              <a:avLst/>
            </a:prstGeom>
            <a:noFill/>
            <a:ln w="20638">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 name="Rectangle 59"/>
            <p:cNvSpPr>
              <a:spLocks noChangeArrowheads="1"/>
            </p:cNvSpPr>
            <p:nvPr/>
          </p:nvSpPr>
          <p:spPr bwMode="auto">
            <a:xfrm>
              <a:off x="753" y="2877"/>
              <a:ext cx="7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500" b="1"/>
                <a:t>F</a:t>
              </a:r>
            </a:p>
          </p:txBody>
        </p:sp>
        <p:sp>
          <p:nvSpPr>
            <p:cNvPr id="37" name="Rectangle 60"/>
            <p:cNvSpPr>
              <a:spLocks noChangeArrowheads="1"/>
            </p:cNvSpPr>
            <p:nvPr/>
          </p:nvSpPr>
          <p:spPr bwMode="auto">
            <a:xfrm>
              <a:off x="664" y="3051"/>
              <a:ext cx="21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500" b="1"/>
                <a:t>30K</a:t>
              </a:r>
            </a:p>
          </p:txBody>
        </p:sp>
        <p:sp>
          <p:nvSpPr>
            <p:cNvPr id="38" name="Rectangle 61"/>
            <p:cNvSpPr>
              <a:spLocks noChangeArrowheads="1"/>
            </p:cNvSpPr>
            <p:nvPr/>
          </p:nvSpPr>
          <p:spPr bwMode="auto">
            <a:xfrm>
              <a:off x="1289" y="2848"/>
              <a:ext cx="534" cy="368"/>
            </a:xfrm>
            <a:prstGeom prst="rect">
              <a:avLst/>
            </a:prstGeom>
            <a:noFill/>
            <a:ln w="20638">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9" name="Rectangle 62"/>
            <p:cNvSpPr>
              <a:spLocks noChangeArrowheads="1"/>
            </p:cNvSpPr>
            <p:nvPr/>
          </p:nvSpPr>
          <p:spPr bwMode="auto">
            <a:xfrm>
              <a:off x="1500" y="2877"/>
              <a:ext cx="8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500" b="1"/>
                <a:t>D</a:t>
              </a:r>
            </a:p>
          </p:txBody>
        </p:sp>
        <p:sp>
          <p:nvSpPr>
            <p:cNvPr id="40" name="Rectangle 63"/>
            <p:cNvSpPr>
              <a:spLocks noChangeArrowheads="1"/>
            </p:cNvSpPr>
            <p:nvPr/>
          </p:nvSpPr>
          <p:spPr bwMode="auto">
            <a:xfrm>
              <a:off x="1424" y="3051"/>
              <a:ext cx="21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500" b="1"/>
                <a:t>20K</a:t>
              </a:r>
            </a:p>
          </p:txBody>
        </p:sp>
        <p:sp>
          <p:nvSpPr>
            <p:cNvPr id="41" name="Rectangle 64"/>
            <p:cNvSpPr>
              <a:spLocks noChangeArrowheads="1"/>
            </p:cNvSpPr>
            <p:nvPr/>
          </p:nvSpPr>
          <p:spPr bwMode="auto">
            <a:xfrm>
              <a:off x="1935" y="2848"/>
              <a:ext cx="535" cy="368"/>
            </a:xfrm>
            <a:prstGeom prst="rect">
              <a:avLst/>
            </a:prstGeom>
            <a:noFill/>
            <a:ln w="20638">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2" name="Rectangle 65"/>
            <p:cNvSpPr>
              <a:spLocks noChangeArrowheads="1"/>
            </p:cNvSpPr>
            <p:nvPr/>
          </p:nvSpPr>
          <p:spPr bwMode="auto">
            <a:xfrm>
              <a:off x="2155" y="2877"/>
              <a:ext cx="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500" b="1"/>
                <a:t>E</a:t>
              </a:r>
            </a:p>
          </p:txBody>
        </p:sp>
        <p:sp>
          <p:nvSpPr>
            <p:cNvPr id="43" name="Rectangle 66"/>
            <p:cNvSpPr>
              <a:spLocks noChangeArrowheads="1"/>
            </p:cNvSpPr>
            <p:nvPr/>
          </p:nvSpPr>
          <p:spPr bwMode="auto">
            <a:xfrm>
              <a:off x="2070" y="3051"/>
              <a:ext cx="21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500" b="1"/>
                <a:t>40K</a:t>
              </a:r>
            </a:p>
          </p:txBody>
        </p:sp>
        <p:sp>
          <p:nvSpPr>
            <p:cNvPr id="44" name="Rectangle 68"/>
            <p:cNvSpPr>
              <a:spLocks noChangeArrowheads="1"/>
            </p:cNvSpPr>
            <p:nvPr/>
          </p:nvSpPr>
          <p:spPr bwMode="auto">
            <a:xfrm>
              <a:off x="1554" y="2780"/>
              <a:ext cx="647" cy="68"/>
            </a:xfrm>
            <a:prstGeom prst="rect">
              <a:avLst/>
            </a:prstGeom>
            <a:noFill/>
            <a:ln w="20638">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5" name="Line 69"/>
            <p:cNvSpPr>
              <a:spLocks noChangeShapeType="1"/>
            </p:cNvSpPr>
            <p:nvPr/>
          </p:nvSpPr>
          <p:spPr bwMode="auto">
            <a:xfrm>
              <a:off x="1175" y="2144"/>
              <a:ext cx="1" cy="102"/>
            </a:xfrm>
            <a:prstGeom prst="line">
              <a:avLst/>
            </a:prstGeom>
            <a:noFill/>
            <a:ln w="20638">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 name="Line 70"/>
            <p:cNvSpPr>
              <a:spLocks noChangeShapeType="1"/>
            </p:cNvSpPr>
            <p:nvPr/>
          </p:nvSpPr>
          <p:spPr bwMode="auto">
            <a:xfrm>
              <a:off x="794" y="2679"/>
              <a:ext cx="1" cy="169"/>
            </a:xfrm>
            <a:prstGeom prst="line">
              <a:avLst/>
            </a:prstGeom>
            <a:noFill/>
            <a:ln w="20638">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 name="Line 71"/>
            <p:cNvSpPr>
              <a:spLocks noChangeShapeType="1"/>
            </p:cNvSpPr>
            <p:nvPr/>
          </p:nvSpPr>
          <p:spPr bwMode="auto">
            <a:xfrm>
              <a:off x="1554" y="2679"/>
              <a:ext cx="1" cy="169"/>
            </a:xfrm>
            <a:prstGeom prst="line">
              <a:avLst/>
            </a:prstGeom>
            <a:noFill/>
            <a:ln w="20638">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 name="Rectangle 88"/>
            <p:cNvSpPr>
              <a:spLocks noChangeArrowheads="1"/>
            </p:cNvSpPr>
            <p:nvPr/>
          </p:nvSpPr>
          <p:spPr bwMode="auto">
            <a:xfrm>
              <a:off x="1800" y="1876"/>
              <a:ext cx="616"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500" b="1"/>
                <a:t>Total: 190K</a:t>
              </a:r>
            </a:p>
          </p:txBody>
        </p:sp>
        <p:sp>
          <p:nvSpPr>
            <p:cNvPr id="49" name="Line 93"/>
            <p:cNvSpPr>
              <a:spLocks noChangeShapeType="1"/>
            </p:cNvSpPr>
            <p:nvPr/>
          </p:nvSpPr>
          <p:spPr bwMode="auto">
            <a:xfrm>
              <a:off x="813" y="2238"/>
              <a:ext cx="71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 name="Line 94"/>
            <p:cNvSpPr>
              <a:spLocks noChangeShapeType="1"/>
            </p:cNvSpPr>
            <p:nvPr/>
          </p:nvSpPr>
          <p:spPr bwMode="auto">
            <a:xfrm>
              <a:off x="813" y="2231"/>
              <a:ext cx="0" cy="7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 name="Line 95"/>
            <p:cNvSpPr>
              <a:spLocks noChangeShapeType="1"/>
            </p:cNvSpPr>
            <p:nvPr/>
          </p:nvSpPr>
          <p:spPr bwMode="auto">
            <a:xfrm>
              <a:off x="1531" y="2238"/>
              <a:ext cx="0" cy="7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2" name="Line 101"/>
          <p:cNvSpPr>
            <a:spLocks noChangeShapeType="1"/>
          </p:cNvSpPr>
          <p:nvPr/>
        </p:nvSpPr>
        <p:spPr bwMode="auto">
          <a:xfrm>
            <a:off x="2901950" y="3689053"/>
            <a:ext cx="161925" cy="0"/>
          </a:xfrm>
          <a:prstGeom prst="line">
            <a:avLst/>
          </a:prstGeom>
          <a:noFill/>
          <a:ln w="285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 name="Text Box 100"/>
          <p:cNvSpPr txBox="1">
            <a:spLocks noChangeArrowheads="1"/>
          </p:cNvSpPr>
          <p:nvPr/>
        </p:nvSpPr>
        <p:spPr bwMode="auto">
          <a:xfrm>
            <a:off x="1365397" y="4759984"/>
            <a:ext cx="6086923"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58825" indent="-301625">
              <a:defRPr kumimoji="1" sz="2400">
                <a:solidFill>
                  <a:schemeClr val="tx1"/>
                </a:solidFill>
                <a:latin typeface="Times New Roman" panose="02020603050405020304" pitchFamily="18" charset="0"/>
                <a:ea typeface="宋体" panose="02010600030101010101" pitchFamily="2" charset="-122"/>
              </a:defRPr>
            </a:lvl2pPr>
            <a:lvl3pPr marL="949325">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05000"/>
              </a:lnSpc>
              <a:spcBef>
                <a:spcPct val="10000"/>
              </a:spcBef>
            </a:pPr>
            <a:r>
              <a:rPr lang="zh-CN" altLang="en-US" sz="2000" b="1" dirty="0">
                <a:ea typeface="楷体" panose="02010609060101010101" pitchFamily="49" charset="-122"/>
                <a:cs typeface="Times New Roman" panose="02020603050405020304" pitchFamily="18" charset="0"/>
              </a:rPr>
              <a:t>注：另一种覆盖方法：</a:t>
            </a:r>
            <a:r>
              <a:rPr lang="en-US" altLang="zh-CN" sz="2000" b="1" dirty="0">
                <a:ea typeface="楷体" panose="02010609060101010101" pitchFamily="49" charset="-122"/>
                <a:cs typeface="Times New Roman" panose="02020603050405020304" pitchFamily="18" charset="0"/>
              </a:rPr>
              <a:t>(100K)</a:t>
            </a:r>
          </a:p>
          <a:p>
            <a:pPr marL="457200" lvl="1" indent="0">
              <a:lnSpc>
                <a:spcPct val="105000"/>
              </a:lnSpc>
              <a:spcBef>
                <a:spcPct val="10000"/>
              </a:spcBef>
            </a:pPr>
            <a:r>
              <a:rPr lang="en-US" altLang="zh-CN" sz="2000" b="1" dirty="0">
                <a:ea typeface="楷体" panose="02010609060101010101" pitchFamily="49" charset="-122"/>
                <a:cs typeface="Times New Roman" panose="02020603050405020304" pitchFamily="18" charset="0"/>
              </a:rPr>
              <a:t>A(20K)</a:t>
            </a:r>
            <a:r>
              <a:rPr lang="zh-CN" altLang="en-US" sz="2000" b="1" dirty="0">
                <a:ea typeface="楷体" panose="02010609060101010101" pitchFamily="49" charset="-122"/>
                <a:cs typeface="Times New Roman" panose="02020603050405020304" pitchFamily="18" charset="0"/>
              </a:rPr>
              <a:t>占一个分区：</a:t>
            </a:r>
            <a:r>
              <a:rPr lang="en-US" altLang="zh-CN" sz="2000" b="1" dirty="0">
                <a:ea typeface="楷体" panose="02010609060101010101" pitchFamily="49" charset="-122"/>
                <a:cs typeface="Times New Roman" panose="02020603050405020304" pitchFamily="18" charset="0"/>
              </a:rPr>
              <a:t>20K</a:t>
            </a:r>
            <a:r>
              <a:rPr lang="zh-CN" altLang="en-US" sz="2000" b="1" dirty="0">
                <a:ea typeface="楷体" panose="02010609060101010101" pitchFamily="49" charset="-122"/>
                <a:cs typeface="Times New Roman" panose="02020603050405020304" pitchFamily="18" charset="0"/>
              </a:rPr>
              <a:t>；</a:t>
            </a:r>
          </a:p>
          <a:p>
            <a:pPr marL="457200" lvl="1" indent="0">
              <a:lnSpc>
                <a:spcPct val="105000"/>
              </a:lnSpc>
              <a:spcBef>
                <a:spcPct val="10000"/>
              </a:spcBef>
            </a:pPr>
            <a:r>
              <a:rPr lang="en-US" altLang="zh-CN" sz="2000" b="1" dirty="0">
                <a:ea typeface="楷体" panose="02010609060101010101" pitchFamily="49" charset="-122"/>
                <a:cs typeface="Times New Roman" panose="02020603050405020304" pitchFamily="18" charset="0"/>
              </a:rPr>
              <a:t>B(50K)</a:t>
            </a:r>
            <a:r>
              <a:rPr lang="zh-CN" altLang="en-US" sz="2000" b="1" dirty="0">
                <a:ea typeface="楷体" panose="02010609060101010101" pitchFamily="49" charset="-122"/>
                <a:cs typeface="Times New Roman" panose="02020603050405020304" pitchFamily="18" charset="0"/>
              </a:rPr>
              <a:t>、</a:t>
            </a:r>
            <a:r>
              <a:rPr lang="en-US" altLang="zh-CN" sz="2000" b="1" dirty="0">
                <a:ea typeface="楷体" panose="02010609060101010101" pitchFamily="49" charset="-122"/>
                <a:cs typeface="Times New Roman" panose="02020603050405020304" pitchFamily="18" charset="0"/>
              </a:rPr>
              <a:t>D(20K)</a:t>
            </a:r>
            <a:r>
              <a:rPr lang="zh-CN" altLang="en-US" sz="2000" b="1" dirty="0">
                <a:ea typeface="楷体" panose="02010609060101010101" pitchFamily="49" charset="-122"/>
                <a:cs typeface="Times New Roman" panose="02020603050405020304" pitchFamily="18" charset="0"/>
              </a:rPr>
              <a:t>和</a:t>
            </a:r>
            <a:r>
              <a:rPr lang="en-US" altLang="zh-CN" sz="2000" b="1" dirty="0">
                <a:ea typeface="楷体" panose="02010609060101010101" pitchFamily="49" charset="-122"/>
                <a:cs typeface="Times New Roman" panose="02020603050405020304" pitchFamily="18" charset="0"/>
              </a:rPr>
              <a:t>E(40K)</a:t>
            </a:r>
            <a:r>
              <a:rPr lang="zh-CN" altLang="en-US" sz="2000" b="1" dirty="0">
                <a:ea typeface="楷体" panose="02010609060101010101" pitchFamily="49" charset="-122"/>
                <a:cs typeface="Times New Roman" panose="02020603050405020304" pitchFamily="18" charset="0"/>
              </a:rPr>
              <a:t>共用一个分区：</a:t>
            </a:r>
            <a:r>
              <a:rPr lang="en-US" altLang="zh-CN" sz="2000" b="1" dirty="0">
                <a:ea typeface="楷体" panose="02010609060101010101" pitchFamily="49" charset="-122"/>
                <a:cs typeface="Times New Roman" panose="02020603050405020304" pitchFamily="18" charset="0"/>
              </a:rPr>
              <a:t>50K</a:t>
            </a:r>
            <a:r>
              <a:rPr lang="zh-CN" altLang="en-US" sz="2000" b="1" dirty="0">
                <a:ea typeface="楷体" panose="02010609060101010101" pitchFamily="49" charset="-122"/>
                <a:cs typeface="Times New Roman" panose="02020603050405020304" pitchFamily="18" charset="0"/>
              </a:rPr>
              <a:t>；</a:t>
            </a:r>
          </a:p>
          <a:p>
            <a:pPr marL="457200" lvl="1" indent="0">
              <a:lnSpc>
                <a:spcPct val="105000"/>
              </a:lnSpc>
              <a:spcBef>
                <a:spcPct val="10000"/>
              </a:spcBef>
            </a:pPr>
            <a:r>
              <a:rPr lang="en-US" altLang="zh-CN" sz="2000" b="1" dirty="0">
                <a:ea typeface="楷体" panose="02010609060101010101" pitchFamily="49" charset="-122"/>
                <a:cs typeface="Times New Roman" panose="02020603050405020304" pitchFamily="18" charset="0"/>
              </a:rPr>
              <a:t>F(30K)</a:t>
            </a:r>
            <a:r>
              <a:rPr lang="zh-CN" altLang="en-US" sz="2000" b="1" dirty="0">
                <a:ea typeface="楷体" panose="02010609060101010101" pitchFamily="49" charset="-122"/>
                <a:cs typeface="Times New Roman" panose="02020603050405020304" pitchFamily="18" charset="0"/>
              </a:rPr>
              <a:t>和</a:t>
            </a:r>
            <a:r>
              <a:rPr lang="en-US" altLang="zh-CN" sz="2000" b="1" dirty="0">
                <a:ea typeface="楷体" panose="02010609060101010101" pitchFamily="49" charset="-122"/>
                <a:cs typeface="Times New Roman" panose="02020603050405020304" pitchFamily="18" charset="0"/>
              </a:rPr>
              <a:t>C(30K)</a:t>
            </a:r>
            <a:r>
              <a:rPr lang="zh-CN" altLang="en-US" sz="2000" b="1" dirty="0">
                <a:ea typeface="楷体" panose="02010609060101010101" pitchFamily="49" charset="-122"/>
                <a:cs typeface="Times New Roman" panose="02020603050405020304" pitchFamily="18" charset="0"/>
              </a:rPr>
              <a:t>共用一个分区：</a:t>
            </a:r>
            <a:r>
              <a:rPr lang="en-US" altLang="zh-CN" sz="2000" b="1" dirty="0">
                <a:ea typeface="楷体" panose="02010609060101010101" pitchFamily="49" charset="-122"/>
                <a:cs typeface="Times New Roman" panose="02020603050405020304" pitchFamily="18" charset="0"/>
              </a:rPr>
              <a:t>30K</a:t>
            </a:r>
            <a:r>
              <a:rPr lang="zh-CN" altLang="en-US" sz="2000" b="1" dirty="0">
                <a:ea typeface="楷体" panose="02010609060101010101" pitchFamily="49" charset="-122"/>
                <a:cs typeface="Times New Roman" panose="02020603050405020304" pitchFamily="18" charset="0"/>
              </a:rPr>
              <a:t>；</a:t>
            </a:r>
          </a:p>
        </p:txBody>
      </p:sp>
    </p:spTree>
    <p:extLst>
      <p:ext uri="{BB962C8B-B14F-4D97-AF65-F5344CB8AC3E}">
        <p14:creationId xmlns:p14="http://schemas.microsoft.com/office/powerpoint/2010/main" val="2649460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ppt_x</p:attrName>
                                        </p:attrNameLst>
                                      </p:cBhvr>
                                      <p:tavLst>
                                        <p:tav tm="0">
                                          <p:val>
                                            <p:strVal val="#ppt_x-#ppt_w/2"/>
                                          </p:val>
                                        </p:tav>
                                        <p:tav tm="100000">
                                          <p:val>
                                            <p:strVal val="#ppt_x"/>
                                          </p:val>
                                        </p:tav>
                                      </p:tavLst>
                                    </p:anim>
                                    <p:anim calcmode="lin" valueType="num">
                                      <p:cBhvr>
                                        <p:cTn id="8" dur="500" fill="hold"/>
                                        <p:tgtEl>
                                          <p:spTgt spid="7"/>
                                        </p:tgtEl>
                                        <p:attrNameLst>
                                          <p:attrName>ppt_y</p:attrName>
                                        </p:attrNameLst>
                                      </p:cBhvr>
                                      <p:tavLst>
                                        <p:tav tm="0">
                                          <p:val>
                                            <p:strVal val="#ppt_y"/>
                                          </p:val>
                                        </p:tav>
                                        <p:tav tm="100000">
                                          <p:val>
                                            <p:strVal val="#ppt_y"/>
                                          </p:val>
                                        </p:tav>
                                      </p:tavLst>
                                    </p:anim>
                                    <p:anim calcmode="lin" valueType="num">
                                      <p:cBhvr>
                                        <p:cTn id="9" dur="500" fill="hold"/>
                                        <p:tgtEl>
                                          <p:spTgt spid="7"/>
                                        </p:tgtEl>
                                        <p:attrNameLst>
                                          <p:attrName>ppt_w</p:attrName>
                                        </p:attrNameLst>
                                      </p:cBhvr>
                                      <p:tavLst>
                                        <p:tav tm="0">
                                          <p:val>
                                            <p:fltVal val="0"/>
                                          </p:val>
                                        </p:tav>
                                        <p:tav tm="100000">
                                          <p:val>
                                            <p:strVal val="#ppt_w"/>
                                          </p:val>
                                        </p:tav>
                                      </p:tavLst>
                                    </p:anim>
                                    <p:anim calcmode="lin" valueType="num">
                                      <p:cBhvr>
                                        <p:cTn id="10" dur="500" fill="hold"/>
                                        <p:tgtEl>
                                          <p:spTgt spid="7"/>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4" presetClass="entr" presetSubtype="16"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box(in)">
                                      <p:cBhvr>
                                        <p:cTn id="15" dur="5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4" presetClass="entr" presetSubtype="32" fill="hold" grpId="0" nodeType="clickEffect">
                                  <p:stCondLst>
                                    <p:cond delay="0"/>
                                  </p:stCondLst>
                                  <p:childTnLst>
                                    <p:set>
                                      <p:cBhvr>
                                        <p:cTn id="19" dur="1" fill="hold">
                                          <p:stCondLst>
                                            <p:cond delay="0"/>
                                          </p:stCondLst>
                                        </p:cTn>
                                        <p:tgtEl>
                                          <p:spTgt spid="53"/>
                                        </p:tgtEl>
                                        <p:attrNameLst>
                                          <p:attrName>style.visibility</p:attrName>
                                        </p:attrNameLst>
                                      </p:cBhvr>
                                      <p:to>
                                        <p:strVal val="visible"/>
                                      </p:to>
                                    </p:set>
                                    <p:animEffect transition="in" filter="box(out)">
                                      <p:cBhvr>
                                        <p:cTn id="20"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覆盖技术（</a:t>
            </a:r>
            <a:r>
              <a:rPr lang="en-US" altLang="zh-CN" dirty="0"/>
              <a:t>Overlay</a:t>
            </a:r>
            <a:r>
              <a:rPr lang="zh-CN" altLang="en-US" dirty="0"/>
              <a:t>）</a:t>
            </a:r>
          </a:p>
        </p:txBody>
      </p:sp>
      <p:sp>
        <p:nvSpPr>
          <p:cNvPr id="3" name="Content Placeholder 2"/>
          <p:cNvSpPr>
            <a:spLocks noGrp="1"/>
          </p:cNvSpPr>
          <p:nvPr>
            <p:ph idx="1"/>
          </p:nvPr>
        </p:nvSpPr>
        <p:spPr/>
        <p:txBody>
          <a:bodyPr>
            <a:normAutofit lnSpcReduction="10000"/>
          </a:bodyPr>
          <a:lstStyle/>
          <a:p>
            <a:r>
              <a:rPr lang="zh-CN" altLang="en-US" dirty="0"/>
              <a:t>对覆盖技术的评价</a:t>
            </a:r>
            <a:endParaRPr lang="en-US" altLang="zh-CN" dirty="0"/>
          </a:p>
          <a:p>
            <a:endParaRPr lang="en-US" altLang="zh-CN" dirty="0">
              <a:solidFill>
                <a:srgbClr val="FF0000"/>
              </a:solidFill>
            </a:endParaRPr>
          </a:p>
          <a:p>
            <a:r>
              <a:rPr lang="zh-CN" altLang="en-US" dirty="0">
                <a:solidFill>
                  <a:srgbClr val="FF0000"/>
                </a:solidFill>
              </a:rPr>
              <a:t>缺点</a:t>
            </a:r>
            <a:endParaRPr lang="en-US" altLang="zh-CN" dirty="0">
              <a:solidFill>
                <a:srgbClr val="FF0000"/>
              </a:solidFill>
            </a:endParaRPr>
          </a:p>
          <a:p>
            <a:pPr lvl="1"/>
            <a:r>
              <a:rPr lang="zh-CN" altLang="en-US" dirty="0"/>
              <a:t>对用户不透明，增加了用户负担。编程时必须划分程序模块和确定程序模块之间的覆盖关系，增加编程复杂度</a:t>
            </a:r>
          </a:p>
          <a:p>
            <a:pPr lvl="1"/>
            <a:r>
              <a:rPr lang="zh-CN" altLang="en-US" dirty="0"/>
              <a:t>从外存装入覆盖文件，以时间延长来换取空间节省</a:t>
            </a:r>
          </a:p>
          <a:p>
            <a:pPr lvl="1"/>
            <a:endParaRPr lang="en-US" altLang="zh-CN" dirty="0"/>
          </a:p>
          <a:p>
            <a:r>
              <a:rPr lang="zh-CN" altLang="en-US" dirty="0">
                <a:solidFill>
                  <a:srgbClr val="00B050"/>
                </a:solidFill>
              </a:rPr>
              <a:t>优点</a:t>
            </a:r>
            <a:endParaRPr lang="en-US" altLang="zh-CN" dirty="0">
              <a:solidFill>
                <a:srgbClr val="00B050"/>
              </a:solidFill>
            </a:endParaRPr>
          </a:p>
          <a:p>
            <a:pPr lvl="1"/>
            <a:r>
              <a:rPr lang="zh-CN" altLang="en-US" dirty="0"/>
              <a:t>覆盖不需要任何来自操作系统的特殊支持，所以覆盖通常限于用在微机和其他内存容量有限的或缺乏对更先进技术的硬件支持的系统中</a:t>
            </a:r>
            <a:endParaRPr lang="en-US" altLang="zh-CN" dirty="0"/>
          </a:p>
          <a:p>
            <a:endParaRPr lang="zh-CN" altLang="en-US" dirty="0"/>
          </a:p>
        </p:txBody>
      </p:sp>
      <p:sp>
        <p:nvSpPr>
          <p:cNvPr id="4" name="Date Placeholder 3"/>
          <p:cNvSpPr>
            <a:spLocks noGrp="1"/>
          </p:cNvSpPr>
          <p:nvPr>
            <p:ph type="dt" sz="half" idx="10"/>
          </p:nvPr>
        </p:nvSpPr>
        <p:spPr/>
        <p:txBody>
          <a:bodyPr/>
          <a:lstStyle/>
          <a:p>
            <a:fld id="{F22ACE47-9DE9-44ED-B2D2-A8A05527F8CF}"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52</a:t>
            </a:fld>
            <a:endParaRPr lang="zh-CN" altLang="en-US" dirty="0"/>
          </a:p>
        </p:txBody>
      </p:sp>
    </p:spTree>
    <p:extLst>
      <p:ext uri="{BB962C8B-B14F-4D97-AF65-F5344CB8AC3E}">
        <p14:creationId xmlns:p14="http://schemas.microsoft.com/office/powerpoint/2010/main" val="1315969289"/>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交换技术（</a:t>
            </a:r>
            <a:r>
              <a:rPr lang="en-US" altLang="zh-CN" dirty="0"/>
              <a:t>Swapping</a:t>
            </a:r>
            <a:r>
              <a:rPr lang="zh-CN" altLang="en-US" dirty="0"/>
              <a:t>）</a:t>
            </a:r>
          </a:p>
        </p:txBody>
      </p:sp>
      <p:sp>
        <p:nvSpPr>
          <p:cNvPr id="3" name="Content Placeholder 2"/>
          <p:cNvSpPr>
            <a:spLocks noGrp="1"/>
          </p:cNvSpPr>
          <p:nvPr>
            <p:ph idx="1"/>
          </p:nvPr>
        </p:nvSpPr>
        <p:spPr/>
        <p:txBody>
          <a:bodyPr/>
          <a:lstStyle/>
          <a:p>
            <a:r>
              <a:rPr lang="zh-CN" altLang="en-US" dirty="0"/>
              <a:t>面临的问题</a:t>
            </a:r>
            <a:endParaRPr lang="en-US" altLang="zh-CN" dirty="0"/>
          </a:p>
          <a:p>
            <a:pPr lvl="1"/>
            <a:r>
              <a:rPr lang="zh-CN" altLang="en-US" dirty="0"/>
              <a:t>如何增加系统的并发度？</a:t>
            </a:r>
            <a:endParaRPr lang="en-US" altLang="zh-CN" dirty="0"/>
          </a:p>
          <a:p>
            <a:endParaRPr lang="en-US" altLang="zh-CN" dirty="0"/>
          </a:p>
          <a:p>
            <a:r>
              <a:rPr lang="zh-CN" altLang="en-US" dirty="0"/>
              <a:t>交换技术的原理</a:t>
            </a:r>
            <a:endParaRPr lang="en-US" altLang="zh-CN" dirty="0"/>
          </a:p>
          <a:p>
            <a:pPr lvl="1"/>
            <a:r>
              <a:rPr lang="zh-CN" altLang="en-US" dirty="0"/>
              <a:t>暂停执行内存中的进程，将整个进程的地址空间保存到外存的交换区中（换出</a:t>
            </a:r>
            <a:r>
              <a:rPr lang="en-US" altLang="zh-CN" dirty="0"/>
              <a:t>swap out</a:t>
            </a:r>
            <a:r>
              <a:rPr lang="zh-CN" altLang="en-US" dirty="0"/>
              <a:t>），而将外存中由阻塞变为就绪的进程的地址空间读入到内存中，并将该进程送到就绪队列（换入</a:t>
            </a:r>
            <a:r>
              <a:rPr lang="en-US" altLang="zh-CN" dirty="0"/>
              <a:t>swap in</a:t>
            </a:r>
            <a:r>
              <a:rPr lang="zh-CN" altLang="en-US" dirty="0"/>
              <a:t>）</a:t>
            </a:r>
          </a:p>
          <a:p>
            <a:pPr lvl="1"/>
            <a:r>
              <a:rPr lang="zh-CN" altLang="en-US" dirty="0" smtClean="0"/>
              <a:t>常用</a:t>
            </a:r>
            <a:r>
              <a:rPr lang="zh-CN" altLang="en-US" dirty="0"/>
              <a:t>于多道程序系统或小型分时系统中，与分区存储管理配合使用</a:t>
            </a:r>
            <a:endParaRPr lang="en-US" altLang="zh-CN" dirty="0"/>
          </a:p>
        </p:txBody>
      </p:sp>
      <p:sp>
        <p:nvSpPr>
          <p:cNvPr id="4" name="Date Placeholder 3"/>
          <p:cNvSpPr>
            <a:spLocks noGrp="1"/>
          </p:cNvSpPr>
          <p:nvPr>
            <p:ph type="dt" sz="half" idx="10"/>
          </p:nvPr>
        </p:nvSpPr>
        <p:spPr/>
        <p:txBody>
          <a:bodyPr/>
          <a:lstStyle/>
          <a:p>
            <a:fld id="{8AA11214-4376-48E2-9C9B-6E5DFF817A4B}"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53</a:t>
            </a:fld>
            <a:endParaRPr lang="zh-CN" altLang="en-US" dirty="0"/>
          </a:p>
        </p:txBody>
      </p:sp>
      <p:sp>
        <p:nvSpPr>
          <p:cNvPr id="7" name="Rectangle 4"/>
          <p:cNvSpPr>
            <a:spLocks noChangeArrowheads="1"/>
          </p:cNvSpPr>
          <p:nvPr/>
        </p:nvSpPr>
        <p:spPr bwMode="auto">
          <a:xfrm>
            <a:off x="5151311" y="1628249"/>
            <a:ext cx="792162" cy="15827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t>OS</a:t>
            </a:r>
          </a:p>
          <a:p>
            <a:pPr algn="ctr"/>
            <a:endParaRPr lang="en-US" altLang="zh-CN" sz="2000" b="1"/>
          </a:p>
          <a:p>
            <a:pPr algn="ctr">
              <a:lnSpc>
                <a:spcPct val="80000"/>
              </a:lnSpc>
            </a:pPr>
            <a:r>
              <a:rPr lang="en-US" altLang="zh-CN" sz="2000" b="1"/>
              <a:t>User</a:t>
            </a:r>
          </a:p>
          <a:p>
            <a:pPr algn="ctr">
              <a:lnSpc>
                <a:spcPct val="80000"/>
              </a:lnSpc>
            </a:pPr>
            <a:r>
              <a:rPr lang="en-US" altLang="zh-CN" sz="2000" b="1"/>
              <a:t>space</a:t>
            </a:r>
            <a:endParaRPr lang="en-US" altLang="zh-CN" b="1"/>
          </a:p>
          <a:p>
            <a:pPr algn="ctr"/>
            <a:endParaRPr lang="en-US" altLang="zh-CN" b="1"/>
          </a:p>
        </p:txBody>
      </p:sp>
      <p:sp>
        <p:nvSpPr>
          <p:cNvPr id="8" name="Line 5"/>
          <p:cNvSpPr>
            <a:spLocks noChangeShapeType="1"/>
          </p:cNvSpPr>
          <p:nvPr/>
        </p:nvSpPr>
        <p:spPr bwMode="auto">
          <a:xfrm>
            <a:off x="5151311" y="2060049"/>
            <a:ext cx="7921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 name="AutoShape 6" descr="粉色面巾纸"/>
          <p:cNvSpPr>
            <a:spLocks noChangeArrowheads="1"/>
          </p:cNvSpPr>
          <p:nvPr/>
        </p:nvSpPr>
        <p:spPr bwMode="auto">
          <a:xfrm>
            <a:off x="6878511" y="1267886"/>
            <a:ext cx="1873250" cy="2087563"/>
          </a:xfrm>
          <a:prstGeom prst="flowChartMagneticDisk">
            <a:avLst/>
          </a:prstGeom>
          <a:blipFill dpi="0" rotWithShape="1">
            <a:blip r:embed="rId3"/>
            <a:srcRect/>
            <a:tile tx="0" ty="0" sx="100000" sy="100000" flip="none" algn="tl"/>
          </a:bli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Rectangle 7"/>
          <p:cNvSpPr>
            <a:spLocks noChangeArrowheads="1"/>
          </p:cNvSpPr>
          <p:nvPr/>
        </p:nvSpPr>
        <p:spPr bwMode="auto">
          <a:xfrm>
            <a:off x="5149723" y="2060049"/>
            <a:ext cx="792163" cy="1150937"/>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800" b="1" dirty="0"/>
              <a:t>Process</a:t>
            </a:r>
          </a:p>
          <a:p>
            <a:pPr algn="ctr"/>
            <a:r>
              <a:rPr lang="en-US" altLang="zh-CN" sz="1800" b="1" dirty="0"/>
              <a:t>1</a:t>
            </a:r>
          </a:p>
        </p:txBody>
      </p:sp>
      <p:sp>
        <p:nvSpPr>
          <p:cNvPr id="11" name="Rectangle 8"/>
          <p:cNvSpPr>
            <a:spLocks noChangeArrowheads="1"/>
          </p:cNvSpPr>
          <p:nvPr/>
        </p:nvSpPr>
        <p:spPr bwMode="auto">
          <a:xfrm>
            <a:off x="7886573" y="1987024"/>
            <a:ext cx="792163" cy="115093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800" b="1"/>
              <a:t>Process</a:t>
            </a:r>
          </a:p>
          <a:p>
            <a:pPr algn="ctr"/>
            <a:r>
              <a:rPr lang="en-US" altLang="zh-CN" sz="1800" b="1"/>
              <a:t>2</a:t>
            </a:r>
          </a:p>
        </p:txBody>
      </p:sp>
      <p:sp>
        <p:nvSpPr>
          <p:cNvPr id="12" name="Text Box 9"/>
          <p:cNvSpPr txBox="1">
            <a:spLocks noChangeArrowheads="1"/>
          </p:cNvSpPr>
          <p:nvPr/>
        </p:nvSpPr>
        <p:spPr bwMode="auto">
          <a:xfrm>
            <a:off x="5135436" y="1196449"/>
            <a:ext cx="86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a:solidFill>
                  <a:srgbClr val="FF3300"/>
                </a:solidFill>
              </a:rPr>
              <a:t>内存</a:t>
            </a:r>
          </a:p>
        </p:txBody>
      </p:sp>
      <p:sp>
        <p:nvSpPr>
          <p:cNvPr id="13" name="Text Box 10"/>
          <p:cNvSpPr txBox="1">
            <a:spLocks noChangeArrowheads="1"/>
          </p:cNvSpPr>
          <p:nvPr/>
        </p:nvSpPr>
        <p:spPr bwMode="auto">
          <a:xfrm>
            <a:off x="7411911" y="1383774"/>
            <a:ext cx="86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a:solidFill>
                  <a:srgbClr val="FF3300"/>
                </a:solidFill>
              </a:rPr>
              <a:t>外存</a:t>
            </a:r>
          </a:p>
        </p:txBody>
      </p:sp>
    </p:spTree>
    <p:extLst>
      <p:ext uri="{BB962C8B-B14F-4D97-AF65-F5344CB8AC3E}">
        <p14:creationId xmlns:p14="http://schemas.microsoft.com/office/powerpoint/2010/main" val="1172166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grpId="0" nodeType="afterEffect">
                                  <p:stCondLst>
                                    <p:cond delay="0"/>
                                  </p:stCondLst>
                                  <p:childTnLst>
                                    <p:animMotion origin="layout" path="M 2.77778E-7 -2.54335E-6 L 0.20885 -0.01017 " pathEditMode="relative" rAng="0" ptsTypes="AA">
                                      <p:cBhvr>
                                        <p:cTn id="6" dur="1000" fill="hold"/>
                                        <p:tgtEl>
                                          <p:spTgt spid="10"/>
                                        </p:tgtEl>
                                        <p:attrNameLst>
                                          <p:attrName>ppt_x</p:attrName>
                                          <p:attrName>ppt_y</p:attrName>
                                        </p:attrNameLst>
                                      </p:cBhvr>
                                      <p:rCtr x="10434" y="-509"/>
                                    </p:animMotion>
                                  </p:childTnLst>
                                </p:cTn>
                              </p:par>
                            </p:childTnLst>
                          </p:cTn>
                        </p:par>
                        <p:par>
                          <p:cTn id="7" fill="hold">
                            <p:stCondLst>
                              <p:cond delay="1000"/>
                            </p:stCondLst>
                            <p:childTnLst>
                              <p:par>
                                <p:cTn id="8" presetID="0" presetClass="path" presetSubtype="0" accel="50000" decel="50000" fill="hold" grpId="0" nodeType="afterEffect">
                                  <p:stCondLst>
                                    <p:cond delay="0"/>
                                  </p:stCondLst>
                                  <p:childTnLst>
                                    <p:animMotion origin="layout" path="M -0.00416 0.01018 L -0.2993 0.01064 " pathEditMode="relative" rAng="0" ptsTypes="AA">
                                      <p:cBhvr>
                                        <p:cTn id="9" dur="1000" fill="hold"/>
                                        <p:tgtEl>
                                          <p:spTgt spid="11"/>
                                        </p:tgtEl>
                                        <p:attrNameLst>
                                          <p:attrName>ppt_x</p:attrName>
                                          <p:attrName>ppt_y</p:attrName>
                                        </p:attrNameLst>
                                      </p:cBhvr>
                                      <p:rCtr x="-14757" y="2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交换技术（</a:t>
            </a:r>
            <a:r>
              <a:rPr lang="en-US" altLang="zh-CN" dirty="0"/>
              <a:t>Swapping</a:t>
            </a:r>
            <a:r>
              <a:rPr lang="zh-CN" altLang="en-US" dirty="0"/>
              <a:t>）</a:t>
            </a:r>
          </a:p>
        </p:txBody>
      </p:sp>
      <p:sp>
        <p:nvSpPr>
          <p:cNvPr id="3" name="Content Placeholder 2"/>
          <p:cNvSpPr>
            <a:spLocks noGrp="1"/>
          </p:cNvSpPr>
          <p:nvPr>
            <p:ph idx="1"/>
          </p:nvPr>
        </p:nvSpPr>
        <p:spPr/>
        <p:txBody>
          <a:bodyPr>
            <a:normAutofit/>
          </a:bodyPr>
          <a:lstStyle/>
          <a:p>
            <a:r>
              <a:rPr lang="zh-CN" altLang="en-US" dirty="0"/>
              <a:t>对交换技术的评价</a:t>
            </a:r>
            <a:endParaRPr lang="en-US" altLang="zh-CN" dirty="0"/>
          </a:p>
          <a:p>
            <a:r>
              <a:rPr lang="zh-CN" altLang="en-US" dirty="0">
                <a:solidFill>
                  <a:srgbClr val="00B050"/>
                </a:solidFill>
              </a:rPr>
              <a:t>优点</a:t>
            </a:r>
            <a:endParaRPr lang="en-US" altLang="zh-CN" dirty="0">
              <a:solidFill>
                <a:srgbClr val="00B050"/>
              </a:solidFill>
            </a:endParaRPr>
          </a:p>
          <a:p>
            <a:pPr lvl="1"/>
            <a:r>
              <a:rPr lang="zh-CN" altLang="en-US" dirty="0"/>
              <a:t>增加并发运行的程序数目</a:t>
            </a:r>
          </a:p>
          <a:p>
            <a:pPr lvl="1"/>
            <a:r>
              <a:rPr lang="zh-CN" altLang="en-US" dirty="0"/>
              <a:t>编写程序时不影响程序结构</a:t>
            </a:r>
          </a:p>
          <a:p>
            <a:endParaRPr lang="en-US" altLang="zh-CN" dirty="0">
              <a:solidFill>
                <a:srgbClr val="00B050"/>
              </a:solidFill>
            </a:endParaRPr>
          </a:p>
          <a:p>
            <a:r>
              <a:rPr lang="zh-CN" altLang="en-US" dirty="0">
                <a:solidFill>
                  <a:srgbClr val="FF0000"/>
                </a:solidFill>
              </a:rPr>
              <a:t>缺点</a:t>
            </a:r>
            <a:endParaRPr lang="en-US" altLang="zh-CN" dirty="0">
              <a:solidFill>
                <a:srgbClr val="FF0000"/>
              </a:solidFill>
            </a:endParaRPr>
          </a:p>
          <a:p>
            <a:pPr lvl="1"/>
            <a:r>
              <a:rPr lang="zh-CN" altLang="en-US" dirty="0"/>
              <a:t>换入和换出增加处理机开销</a:t>
            </a:r>
            <a:endParaRPr lang="en-US" altLang="zh-CN" dirty="0"/>
          </a:p>
          <a:p>
            <a:pPr lvl="1"/>
            <a:r>
              <a:rPr lang="zh-CN" altLang="en-US" dirty="0"/>
              <a:t>程序整个地址空间都进行传送，没有考虑执行过程中地址访问的统计特性</a:t>
            </a:r>
          </a:p>
        </p:txBody>
      </p:sp>
      <p:sp>
        <p:nvSpPr>
          <p:cNvPr id="4" name="Date Placeholder 3"/>
          <p:cNvSpPr>
            <a:spLocks noGrp="1"/>
          </p:cNvSpPr>
          <p:nvPr>
            <p:ph type="dt" sz="half" idx="10"/>
          </p:nvPr>
        </p:nvSpPr>
        <p:spPr/>
        <p:txBody>
          <a:bodyPr/>
          <a:lstStyle/>
          <a:p>
            <a:fld id="{1642E71E-8856-4470-93D7-0B171E375DA3}"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54</a:t>
            </a:fld>
            <a:endParaRPr lang="zh-CN" altLang="en-US" dirty="0"/>
          </a:p>
        </p:txBody>
      </p:sp>
    </p:spTree>
    <p:extLst>
      <p:ext uri="{BB962C8B-B14F-4D97-AF65-F5344CB8AC3E}">
        <p14:creationId xmlns:p14="http://schemas.microsoft.com/office/powerpoint/2010/main" val="136973497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主要内容</a:t>
            </a:r>
          </a:p>
        </p:txBody>
      </p:sp>
      <p:sp>
        <p:nvSpPr>
          <p:cNvPr id="3" name="Content Placeholder 2"/>
          <p:cNvSpPr>
            <a:spLocks noGrp="1"/>
          </p:cNvSpPr>
          <p:nvPr>
            <p:ph idx="1"/>
          </p:nvPr>
        </p:nvSpPr>
        <p:spPr/>
        <p:txBody>
          <a:bodyPr/>
          <a:lstStyle/>
          <a:p>
            <a:r>
              <a:rPr lang="zh-CN" altLang="en-US" dirty="0">
                <a:solidFill>
                  <a:schemeClr val="bg1">
                    <a:lumMod val="85000"/>
                  </a:schemeClr>
                </a:solidFill>
              </a:rPr>
              <a:t>存储管理的功能与目标</a:t>
            </a:r>
            <a:endParaRPr lang="en-US" altLang="zh-CN" dirty="0">
              <a:solidFill>
                <a:schemeClr val="bg1">
                  <a:lumMod val="85000"/>
                </a:schemeClr>
              </a:solidFill>
            </a:endParaRPr>
          </a:p>
          <a:p>
            <a:r>
              <a:rPr lang="zh-CN" altLang="en-US" dirty="0">
                <a:solidFill>
                  <a:schemeClr val="bg1">
                    <a:lumMod val="85000"/>
                  </a:schemeClr>
                </a:solidFill>
              </a:rPr>
              <a:t>分区存储管理</a:t>
            </a:r>
            <a:endParaRPr lang="en-US" altLang="zh-CN" dirty="0">
              <a:solidFill>
                <a:schemeClr val="bg1">
                  <a:lumMod val="85000"/>
                </a:schemeClr>
              </a:solidFill>
            </a:endParaRPr>
          </a:p>
          <a:p>
            <a:r>
              <a:rPr lang="zh-CN" altLang="en-US" dirty="0">
                <a:solidFill>
                  <a:schemeClr val="bg1">
                    <a:lumMod val="85000"/>
                  </a:schemeClr>
                </a:solidFill>
              </a:rPr>
              <a:t>覆盖与交换技术</a:t>
            </a:r>
            <a:endParaRPr lang="en-US" altLang="zh-CN" dirty="0">
              <a:solidFill>
                <a:schemeClr val="bg1">
                  <a:lumMod val="85000"/>
                </a:schemeClr>
              </a:solidFill>
            </a:endParaRPr>
          </a:p>
          <a:p>
            <a:r>
              <a:rPr lang="zh-CN" altLang="en-US" dirty="0">
                <a:solidFill>
                  <a:srgbClr val="FF3300"/>
                </a:solidFill>
              </a:rPr>
              <a:t>页式与段式存储管理机制</a:t>
            </a:r>
            <a:endParaRPr lang="en-US" altLang="zh-CN" dirty="0">
              <a:solidFill>
                <a:srgbClr val="FF3300"/>
              </a:solidFill>
            </a:endParaRPr>
          </a:p>
          <a:p>
            <a:pPr lvl="1"/>
            <a:r>
              <a:rPr lang="zh-CN" altLang="en-US" dirty="0">
                <a:solidFill>
                  <a:srgbClr val="FF3300"/>
                </a:solidFill>
              </a:rPr>
              <a:t>简单页式管理</a:t>
            </a:r>
            <a:endParaRPr lang="en-US" altLang="zh-CN" dirty="0">
              <a:solidFill>
                <a:srgbClr val="FF3300"/>
              </a:solidFill>
            </a:endParaRPr>
          </a:p>
          <a:p>
            <a:pPr lvl="1"/>
            <a:r>
              <a:rPr lang="zh-CN" altLang="en-US" dirty="0">
                <a:solidFill>
                  <a:schemeClr val="bg1">
                    <a:lumMod val="85000"/>
                  </a:schemeClr>
                </a:solidFill>
              </a:rPr>
              <a:t>简单段式管理</a:t>
            </a:r>
            <a:endParaRPr lang="en-US" altLang="zh-CN" dirty="0">
              <a:solidFill>
                <a:schemeClr val="bg1">
                  <a:lumMod val="85000"/>
                </a:schemeClr>
              </a:solidFill>
            </a:endParaRPr>
          </a:p>
          <a:p>
            <a:r>
              <a:rPr lang="zh-CN" altLang="en-US" dirty="0">
                <a:solidFill>
                  <a:schemeClr val="bg1">
                    <a:lumMod val="85000"/>
                  </a:schemeClr>
                </a:solidFill>
              </a:rPr>
              <a:t>虚拟存储器（重中之重）</a:t>
            </a:r>
          </a:p>
        </p:txBody>
      </p:sp>
      <p:sp>
        <p:nvSpPr>
          <p:cNvPr id="4" name="Date Placeholder 3"/>
          <p:cNvSpPr>
            <a:spLocks noGrp="1"/>
          </p:cNvSpPr>
          <p:nvPr>
            <p:ph type="dt" sz="half" idx="10"/>
          </p:nvPr>
        </p:nvSpPr>
        <p:spPr/>
        <p:txBody>
          <a:bodyPr/>
          <a:lstStyle/>
          <a:p>
            <a:fld id="{298CF8BF-F54F-41DB-A382-9AF8060A56BE}"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55</a:t>
            </a:fld>
            <a:endParaRPr lang="zh-CN" altLang="en-US" dirty="0"/>
          </a:p>
        </p:txBody>
      </p:sp>
    </p:spTree>
    <p:extLst>
      <p:ext uri="{BB962C8B-B14F-4D97-AF65-F5344CB8AC3E}">
        <p14:creationId xmlns:p14="http://schemas.microsoft.com/office/powerpoint/2010/main" val="111699751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简单页式管理</a:t>
            </a:r>
          </a:p>
        </p:txBody>
      </p:sp>
      <p:sp>
        <p:nvSpPr>
          <p:cNvPr id="3" name="Content Placeholder 2"/>
          <p:cNvSpPr>
            <a:spLocks noGrp="1"/>
          </p:cNvSpPr>
          <p:nvPr>
            <p:ph idx="1"/>
          </p:nvPr>
        </p:nvSpPr>
        <p:spPr>
          <a:xfrm>
            <a:off x="395536" y="1268760"/>
            <a:ext cx="8229600" cy="5256584"/>
          </a:xfrm>
        </p:spPr>
        <p:txBody>
          <a:bodyPr/>
          <a:lstStyle/>
          <a:p>
            <a:r>
              <a:rPr lang="zh-CN" altLang="en-US" dirty="0"/>
              <a:t>无论是固定分区还是静态分区，无论是覆盖技术还是交换技术，都无法有效的解决内碎片和外碎片的问题</a:t>
            </a:r>
            <a:endParaRPr lang="en-US" altLang="zh-CN" dirty="0"/>
          </a:p>
          <a:p>
            <a:r>
              <a:rPr lang="zh-CN" altLang="en-US" dirty="0">
                <a:solidFill>
                  <a:srgbClr val="FF0000"/>
                </a:solidFill>
              </a:rPr>
              <a:t>是否存在一种办法，可以综合解决内碎片与外碎片问题？</a:t>
            </a:r>
          </a:p>
        </p:txBody>
      </p:sp>
      <p:sp>
        <p:nvSpPr>
          <p:cNvPr id="4" name="Date Placeholder 3"/>
          <p:cNvSpPr>
            <a:spLocks noGrp="1"/>
          </p:cNvSpPr>
          <p:nvPr>
            <p:ph type="dt" sz="half" idx="10"/>
          </p:nvPr>
        </p:nvSpPr>
        <p:spPr/>
        <p:txBody>
          <a:bodyPr/>
          <a:lstStyle/>
          <a:p>
            <a:fld id="{DEE215F9-EBEA-45C8-9F20-C2F965A6DCA0}"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56</a:t>
            </a:fld>
            <a:endParaRPr lang="zh-CN" altLang="en-US" dirty="0"/>
          </a:p>
        </p:txBody>
      </p:sp>
      <p:grpSp>
        <p:nvGrpSpPr>
          <p:cNvPr id="13" name="Group 12"/>
          <p:cNvGrpSpPr/>
          <p:nvPr/>
        </p:nvGrpSpPr>
        <p:grpSpPr>
          <a:xfrm>
            <a:off x="971600" y="3212976"/>
            <a:ext cx="2664296" cy="3024336"/>
            <a:chOff x="971600" y="3212976"/>
            <a:chExt cx="2664296" cy="3024336"/>
          </a:xfrm>
        </p:grpSpPr>
        <p:sp>
          <p:nvSpPr>
            <p:cNvPr id="7" name="Flowchart: Magnetic Disk 6"/>
            <p:cNvSpPr/>
            <p:nvPr/>
          </p:nvSpPr>
          <p:spPr>
            <a:xfrm>
              <a:off x="971600" y="3212976"/>
              <a:ext cx="2664296" cy="3024336"/>
            </a:xfrm>
            <a:prstGeom prst="flowChartMagneticDisk">
              <a:avLst/>
            </a:prstGeom>
            <a:solidFill>
              <a:srgbClr val="FF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Cube 8"/>
            <p:cNvSpPr/>
            <p:nvPr/>
          </p:nvSpPr>
          <p:spPr>
            <a:xfrm rot="3003374">
              <a:off x="1196288" y="4988704"/>
              <a:ext cx="1008112" cy="1008112"/>
            </a:xfrm>
            <a:prstGeom prst="cub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Flowchart: Direct Access Storage 9"/>
            <p:cNvSpPr/>
            <p:nvPr/>
          </p:nvSpPr>
          <p:spPr>
            <a:xfrm>
              <a:off x="2339079" y="4095833"/>
              <a:ext cx="1080120" cy="936104"/>
            </a:xfrm>
            <a:prstGeom prst="flowChartMagneticDrum">
              <a:avLst/>
            </a:prstGeom>
            <a:solidFill>
              <a:srgbClr val="00C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Donut 10"/>
            <p:cNvSpPr/>
            <p:nvPr/>
          </p:nvSpPr>
          <p:spPr>
            <a:xfrm>
              <a:off x="990275" y="4095833"/>
              <a:ext cx="845421" cy="859647"/>
            </a:xfrm>
            <a:prstGeom prst="donu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 name="Smiley Face 11"/>
            <p:cNvSpPr/>
            <p:nvPr/>
          </p:nvSpPr>
          <p:spPr>
            <a:xfrm>
              <a:off x="2429088" y="5031937"/>
              <a:ext cx="1060098" cy="1032435"/>
            </a:xfrm>
            <a:prstGeom prst="smileyFace">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0" name="Group 79"/>
          <p:cNvGrpSpPr/>
          <p:nvPr/>
        </p:nvGrpSpPr>
        <p:grpSpPr>
          <a:xfrm>
            <a:off x="5220072" y="3212976"/>
            <a:ext cx="2664296" cy="3024336"/>
            <a:chOff x="5148064" y="3178492"/>
            <a:chExt cx="2664296" cy="3024336"/>
          </a:xfrm>
        </p:grpSpPr>
        <p:sp>
          <p:nvSpPr>
            <p:cNvPr id="8" name="Flowchart: Magnetic Disk 7"/>
            <p:cNvSpPr/>
            <p:nvPr/>
          </p:nvSpPr>
          <p:spPr>
            <a:xfrm>
              <a:off x="5148064" y="3178492"/>
              <a:ext cx="2664296" cy="3024336"/>
            </a:xfrm>
            <a:prstGeom prst="flowChartMagneticDisk">
              <a:avLst/>
            </a:prstGeom>
            <a:solidFill>
              <a:srgbClr val="FF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Flowchart: Magnetic Disk 13"/>
            <p:cNvSpPr/>
            <p:nvPr/>
          </p:nvSpPr>
          <p:spPr>
            <a:xfrm>
              <a:off x="5220072" y="5548154"/>
              <a:ext cx="360040" cy="302344"/>
            </a:xfrm>
            <a:prstGeom prst="flowChartMagneticDisk">
              <a:avLst/>
            </a:prstGeom>
            <a:solidFill>
              <a:srgbClr val="00C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ube 14"/>
            <p:cNvSpPr/>
            <p:nvPr/>
          </p:nvSpPr>
          <p:spPr>
            <a:xfrm rot="3003374">
              <a:off x="5555231" y="5815568"/>
              <a:ext cx="261050" cy="213875"/>
            </a:xfrm>
            <a:prstGeom prst="cub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Donut 15"/>
            <p:cNvSpPr/>
            <p:nvPr/>
          </p:nvSpPr>
          <p:spPr>
            <a:xfrm>
              <a:off x="5851544" y="5865351"/>
              <a:ext cx="287857" cy="228111"/>
            </a:xfrm>
            <a:prstGeom prst="donu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7" name="Flowchart: Summing Junction 16"/>
            <p:cNvSpPr/>
            <p:nvPr/>
          </p:nvSpPr>
          <p:spPr>
            <a:xfrm>
              <a:off x="6142102" y="5930684"/>
              <a:ext cx="216024" cy="216024"/>
            </a:xfrm>
            <a:prstGeom prst="flowChartSummingJunction">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Hexagon 17"/>
            <p:cNvSpPr/>
            <p:nvPr/>
          </p:nvSpPr>
          <p:spPr>
            <a:xfrm>
              <a:off x="6378443" y="5898198"/>
              <a:ext cx="325383" cy="230336"/>
            </a:xfrm>
            <a:prstGeom prst="hexagon">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Flowchart: Magnetic Disk 18"/>
            <p:cNvSpPr/>
            <p:nvPr/>
          </p:nvSpPr>
          <p:spPr>
            <a:xfrm>
              <a:off x="6941787" y="5783658"/>
              <a:ext cx="360040" cy="302344"/>
            </a:xfrm>
            <a:prstGeom prst="flowChartMagneticDisk">
              <a:avLst/>
            </a:prstGeom>
            <a:solidFill>
              <a:srgbClr val="00C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Cube 19"/>
            <p:cNvSpPr/>
            <p:nvPr/>
          </p:nvSpPr>
          <p:spPr>
            <a:xfrm rot="3003374">
              <a:off x="6445342" y="5657388"/>
              <a:ext cx="261050" cy="213875"/>
            </a:xfrm>
            <a:prstGeom prst="cub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Donut 20"/>
            <p:cNvSpPr/>
            <p:nvPr/>
          </p:nvSpPr>
          <p:spPr>
            <a:xfrm>
              <a:off x="6070269" y="5668366"/>
              <a:ext cx="287857" cy="228111"/>
            </a:xfrm>
            <a:prstGeom prst="donu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2" name="Flowchart: Summing Junction 21"/>
            <p:cNvSpPr/>
            <p:nvPr/>
          </p:nvSpPr>
          <p:spPr>
            <a:xfrm>
              <a:off x="6726844" y="5918113"/>
              <a:ext cx="216024" cy="216024"/>
            </a:xfrm>
            <a:prstGeom prst="flowChartSummingJunction">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Hexagon 22"/>
            <p:cNvSpPr/>
            <p:nvPr/>
          </p:nvSpPr>
          <p:spPr>
            <a:xfrm>
              <a:off x="5667670" y="5566601"/>
              <a:ext cx="325383" cy="230336"/>
            </a:xfrm>
            <a:prstGeom prst="hexagon">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Flowchart: Magnetic Disk 23"/>
            <p:cNvSpPr/>
            <p:nvPr/>
          </p:nvSpPr>
          <p:spPr>
            <a:xfrm>
              <a:off x="6829277" y="5250144"/>
              <a:ext cx="360040" cy="302344"/>
            </a:xfrm>
            <a:prstGeom prst="flowChartMagneticDisk">
              <a:avLst/>
            </a:prstGeom>
            <a:solidFill>
              <a:srgbClr val="00C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Cube 24"/>
            <p:cNvSpPr/>
            <p:nvPr/>
          </p:nvSpPr>
          <p:spPr>
            <a:xfrm rot="3003374">
              <a:off x="7520349" y="5382110"/>
              <a:ext cx="261050" cy="213875"/>
            </a:xfrm>
            <a:prstGeom prst="cub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Donut 25"/>
            <p:cNvSpPr/>
            <p:nvPr/>
          </p:nvSpPr>
          <p:spPr>
            <a:xfrm>
              <a:off x="7291021" y="5484327"/>
              <a:ext cx="287857" cy="228111"/>
            </a:xfrm>
            <a:prstGeom prst="donu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7" name="Flowchart: Summing Junction 26"/>
            <p:cNvSpPr/>
            <p:nvPr/>
          </p:nvSpPr>
          <p:spPr>
            <a:xfrm>
              <a:off x="7066393" y="5549762"/>
              <a:ext cx="216024" cy="216024"/>
            </a:xfrm>
            <a:prstGeom prst="flowChartSummingJunction">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Hexagon 27"/>
            <p:cNvSpPr/>
            <p:nvPr/>
          </p:nvSpPr>
          <p:spPr>
            <a:xfrm>
              <a:off x="6703826" y="5564559"/>
              <a:ext cx="325383" cy="230336"/>
            </a:xfrm>
            <a:prstGeom prst="hexagon">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Flowchart: Magnetic Disk 28"/>
            <p:cNvSpPr/>
            <p:nvPr/>
          </p:nvSpPr>
          <p:spPr>
            <a:xfrm>
              <a:off x="6028730" y="5403318"/>
              <a:ext cx="360040" cy="302344"/>
            </a:xfrm>
            <a:prstGeom prst="flowChartMagneticDisk">
              <a:avLst/>
            </a:prstGeom>
            <a:solidFill>
              <a:srgbClr val="00C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Cube 29"/>
            <p:cNvSpPr/>
            <p:nvPr/>
          </p:nvSpPr>
          <p:spPr>
            <a:xfrm rot="3003374">
              <a:off x="7295003" y="5751321"/>
              <a:ext cx="261050" cy="213875"/>
            </a:xfrm>
            <a:prstGeom prst="cub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Donut 30"/>
            <p:cNvSpPr/>
            <p:nvPr/>
          </p:nvSpPr>
          <p:spPr>
            <a:xfrm>
              <a:off x="6409936" y="5424064"/>
              <a:ext cx="287857" cy="228111"/>
            </a:xfrm>
            <a:prstGeom prst="donu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2" name="Flowchart: Summing Junction 31"/>
            <p:cNvSpPr/>
            <p:nvPr/>
          </p:nvSpPr>
          <p:spPr>
            <a:xfrm>
              <a:off x="7535626" y="5630515"/>
              <a:ext cx="216024" cy="216024"/>
            </a:xfrm>
            <a:prstGeom prst="flowChartSummingJunction">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Hexagon 32"/>
            <p:cNvSpPr/>
            <p:nvPr/>
          </p:nvSpPr>
          <p:spPr>
            <a:xfrm>
              <a:off x="6499592" y="5210655"/>
              <a:ext cx="325383" cy="230336"/>
            </a:xfrm>
            <a:prstGeom prst="hexagon">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Flowchart: Magnetic Disk 33"/>
            <p:cNvSpPr/>
            <p:nvPr/>
          </p:nvSpPr>
          <p:spPr>
            <a:xfrm>
              <a:off x="5214530" y="5293253"/>
              <a:ext cx="360040" cy="302344"/>
            </a:xfrm>
            <a:prstGeom prst="flowChartMagneticDisk">
              <a:avLst/>
            </a:prstGeom>
            <a:solidFill>
              <a:srgbClr val="00C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Cube 34"/>
            <p:cNvSpPr/>
            <p:nvPr/>
          </p:nvSpPr>
          <p:spPr>
            <a:xfrm rot="3003374">
              <a:off x="5195750" y="5037633"/>
              <a:ext cx="261050" cy="213875"/>
            </a:xfrm>
            <a:prstGeom prst="cub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Donut 35"/>
            <p:cNvSpPr/>
            <p:nvPr/>
          </p:nvSpPr>
          <p:spPr>
            <a:xfrm>
              <a:off x="5884801" y="5011611"/>
              <a:ext cx="287857" cy="228111"/>
            </a:xfrm>
            <a:prstGeom prst="donu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7" name="Flowchart: Summing Junction 36"/>
            <p:cNvSpPr/>
            <p:nvPr/>
          </p:nvSpPr>
          <p:spPr>
            <a:xfrm>
              <a:off x="6070094" y="5198091"/>
              <a:ext cx="216024" cy="216024"/>
            </a:xfrm>
            <a:prstGeom prst="flowChartSummingJunction">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Hexagon 37"/>
            <p:cNvSpPr/>
            <p:nvPr/>
          </p:nvSpPr>
          <p:spPr>
            <a:xfrm>
              <a:off x="6203313" y="4923234"/>
              <a:ext cx="325383" cy="230336"/>
            </a:xfrm>
            <a:prstGeom prst="hexagon">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Flowchart: Magnetic Disk 38"/>
            <p:cNvSpPr/>
            <p:nvPr/>
          </p:nvSpPr>
          <p:spPr>
            <a:xfrm>
              <a:off x="5652384" y="5270076"/>
              <a:ext cx="360040" cy="302344"/>
            </a:xfrm>
            <a:prstGeom prst="flowChartMagneticDisk">
              <a:avLst/>
            </a:prstGeom>
            <a:solidFill>
              <a:srgbClr val="00C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Cube 39"/>
            <p:cNvSpPr/>
            <p:nvPr/>
          </p:nvSpPr>
          <p:spPr>
            <a:xfrm rot="3003374">
              <a:off x="6508989" y="4842376"/>
              <a:ext cx="261050" cy="213875"/>
            </a:xfrm>
            <a:prstGeom prst="cub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Donut 40"/>
            <p:cNvSpPr/>
            <p:nvPr/>
          </p:nvSpPr>
          <p:spPr>
            <a:xfrm>
              <a:off x="7214535" y="5255855"/>
              <a:ext cx="287857" cy="228111"/>
            </a:xfrm>
            <a:prstGeom prst="donu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2" name="Flowchart: Summing Junction 41"/>
            <p:cNvSpPr/>
            <p:nvPr/>
          </p:nvSpPr>
          <p:spPr>
            <a:xfrm>
              <a:off x="6290420" y="5178870"/>
              <a:ext cx="216024" cy="216024"/>
            </a:xfrm>
            <a:prstGeom prst="flowChartSummingJunction">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Hexagon 42"/>
            <p:cNvSpPr/>
            <p:nvPr/>
          </p:nvSpPr>
          <p:spPr>
            <a:xfrm>
              <a:off x="5519968" y="5003878"/>
              <a:ext cx="325383" cy="230336"/>
            </a:xfrm>
            <a:prstGeom prst="hexagon">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Flowchart: Magnetic Disk 43"/>
            <p:cNvSpPr/>
            <p:nvPr/>
          </p:nvSpPr>
          <p:spPr>
            <a:xfrm>
              <a:off x="7128036" y="4661048"/>
              <a:ext cx="360040" cy="302344"/>
            </a:xfrm>
            <a:prstGeom prst="flowChartMagneticDisk">
              <a:avLst/>
            </a:prstGeom>
            <a:solidFill>
              <a:srgbClr val="00C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Cube 44"/>
            <p:cNvSpPr/>
            <p:nvPr/>
          </p:nvSpPr>
          <p:spPr>
            <a:xfrm rot="3003374">
              <a:off x="7497674" y="4884836"/>
              <a:ext cx="261050" cy="213875"/>
            </a:xfrm>
            <a:prstGeom prst="cub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Donut 45"/>
            <p:cNvSpPr/>
            <p:nvPr/>
          </p:nvSpPr>
          <p:spPr>
            <a:xfrm>
              <a:off x="6978124" y="4991773"/>
              <a:ext cx="287857" cy="228111"/>
            </a:xfrm>
            <a:prstGeom prst="donu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7" name="Flowchart: Summing Junction 46"/>
            <p:cNvSpPr/>
            <p:nvPr/>
          </p:nvSpPr>
          <p:spPr>
            <a:xfrm>
              <a:off x="6719773" y="5012470"/>
              <a:ext cx="216024" cy="216024"/>
            </a:xfrm>
            <a:prstGeom prst="flowChartSummingJunction">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Hexagon 47"/>
            <p:cNvSpPr/>
            <p:nvPr/>
          </p:nvSpPr>
          <p:spPr>
            <a:xfrm>
              <a:off x="6752967" y="4733999"/>
              <a:ext cx="325383" cy="230336"/>
            </a:xfrm>
            <a:prstGeom prst="hexagon">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Flowchart: Magnetic Disk 48"/>
            <p:cNvSpPr/>
            <p:nvPr/>
          </p:nvSpPr>
          <p:spPr>
            <a:xfrm>
              <a:off x="5849948" y="4670095"/>
              <a:ext cx="360040" cy="302344"/>
            </a:xfrm>
            <a:prstGeom prst="flowChartMagneticDisk">
              <a:avLst/>
            </a:prstGeom>
            <a:solidFill>
              <a:srgbClr val="00C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Cube 49"/>
            <p:cNvSpPr/>
            <p:nvPr/>
          </p:nvSpPr>
          <p:spPr>
            <a:xfrm rot="3003374">
              <a:off x="7222425" y="4997367"/>
              <a:ext cx="261050" cy="213875"/>
            </a:xfrm>
            <a:prstGeom prst="cub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Donut 50"/>
            <p:cNvSpPr/>
            <p:nvPr/>
          </p:nvSpPr>
          <p:spPr>
            <a:xfrm>
              <a:off x="7478078" y="4610587"/>
              <a:ext cx="287857" cy="228111"/>
            </a:xfrm>
            <a:prstGeom prst="donu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2" name="Flowchart: Summing Junction 51"/>
            <p:cNvSpPr/>
            <p:nvPr/>
          </p:nvSpPr>
          <p:spPr>
            <a:xfrm>
              <a:off x="7508278" y="5101884"/>
              <a:ext cx="216024" cy="216024"/>
            </a:xfrm>
            <a:prstGeom prst="flowChartSummingJunction">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Hexagon 52"/>
            <p:cNvSpPr/>
            <p:nvPr/>
          </p:nvSpPr>
          <p:spPr>
            <a:xfrm>
              <a:off x="5158357" y="4772066"/>
              <a:ext cx="325383" cy="230336"/>
            </a:xfrm>
            <a:prstGeom prst="hexagon">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Flowchart: Magnetic Disk 53"/>
            <p:cNvSpPr/>
            <p:nvPr/>
          </p:nvSpPr>
          <p:spPr>
            <a:xfrm>
              <a:off x="6695265" y="4202954"/>
              <a:ext cx="360040" cy="302344"/>
            </a:xfrm>
            <a:prstGeom prst="flowChartMagneticDisk">
              <a:avLst/>
            </a:prstGeom>
            <a:solidFill>
              <a:srgbClr val="00C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Cube 54"/>
            <p:cNvSpPr/>
            <p:nvPr/>
          </p:nvSpPr>
          <p:spPr>
            <a:xfrm rot="3003374">
              <a:off x="7424565" y="4398692"/>
              <a:ext cx="261050" cy="213875"/>
            </a:xfrm>
            <a:prstGeom prst="cub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Donut 55"/>
            <p:cNvSpPr/>
            <p:nvPr/>
          </p:nvSpPr>
          <p:spPr>
            <a:xfrm>
              <a:off x="7133745" y="4423265"/>
              <a:ext cx="287857" cy="228111"/>
            </a:xfrm>
            <a:prstGeom prst="donu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7" name="Flowchart: Magnetic Disk 56"/>
            <p:cNvSpPr/>
            <p:nvPr/>
          </p:nvSpPr>
          <p:spPr>
            <a:xfrm>
              <a:off x="5872418" y="4113067"/>
              <a:ext cx="360040" cy="302344"/>
            </a:xfrm>
            <a:prstGeom prst="flowChartMagneticDisk">
              <a:avLst/>
            </a:prstGeom>
            <a:solidFill>
              <a:srgbClr val="00C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Donut 57"/>
            <p:cNvSpPr/>
            <p:nvPr/>
          </p:nvSpPr>
          <p:spPr>
            <a:xfrm>
              <a:off x="6100913" y="4387035"/>
              <a:ext cx="287857" cy="228111"/>
            </a:xfrm>
            <a:prstGeom prst="donu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9" name="Hexagon 58"/>
            <p:cNvSpPr/>
            <p:nvPr/>
          </p:nvSpPr>
          <p:spPr>
            <a:xfrm>
              <a:off x="6795010" y="4504327"/>
              <a:ext cx="325383" cy="230336"/>
            </a:xfrm>
            <a:prstGeom prst="hexagon">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Flowchart: Magnetic Disk 59"/>
            <p:cNvSpPr/>
            <p:nvPr/>
          </p:nvSpPr>
          <p:spPr>
            <a:xfrm>
              <a:off x="5260888" y="4479895"/>
              <a:ext cx="360040" cy="302344"/>
            </a:xfrm>
            <a:prstGeom prst="flowChartMagneticDisk">
              <a:avLst/>
            </a:prstGeom>
            <a:solidFill>
              <a:srgbClr val="00C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Cube 60"/>
            <p:cNvSpPr/>
            <p:nvPr/>
          </p:nvSpPr>
          <p:spPr>
            <a:xfrm rot="3003374">
              <a:off x="5242108" y="4224275"/>
              <a:ext cx="261050" cy="213875"/>
            </a:xfrm>
            <a:prstGeom prst="cub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Donut 61"/>
            <p:cNvSpPr/>
            <p:nvPr/>
          </p:nvSpPr>
          <p:spPr>
            <a:xfrm>
              <a:off x="5562091" y="4757723"/>
              <a:ext cx="287857" cy="228111"/>
            </a:xfrm>
            <a:prstGeom prst="donu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3" name="Flowchart: Summing Junction 62"/>
            <p:cNvSpPr/>
            <p:nvPr/>
          </p:nvSpPr>
          <p:spPr>
            <a:xfrm>
              <a:off x="6426379" y="4370783"/>
              <a:ext cx="216024" cy="216024"/>
            </a:xfrm>
            <a:prstGeom prst="flowChartSummingJunction">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Flowchart: Magnetic Disk 64"/>
            <p:cNvSpPr/>
            <p:nvPr/>
          </p:nvSpPr>
          <p:spPr>
            <a:xfrm>
              <a:off x="5698742" y="4456718"/>
              <a:ext cx="360040" cy="302344"/>
            </a:xfrm>
            <a:prstGeom prst="flowChartMagneticDisk">
              <a:avLst/>
            </a:prstGeom>
            <a:solidFill>
              <a:srgbClr val="00C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Donut 66"/>
            <p:cNvSpPr/>
            <p:nvPr/>
          </p:nvSpPr>
          <p:spPr>
            <a:xfrm>
              <a:off x="7209021" y="4194793"/>
              <a:ext cx="287857" cy="228111"/>
            </a:xfrm>
            <a:prstGeom prst="donu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8" name="Flowchart: Summing Junction 67"/>
            <p:cNvSpPr/>
            <p:nvPr/>
          </p:nvSpPr>
          <p:spPr>
            <a:xfrm>
              <a:off x="6603304" y="4569539"/>
              <a:ext cx="216024" cy="216024"/>
            </a:xfrm>
            <a:prstGeom prst="flowChartSummingJunction">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Hexagon 68"/>
            <p:cNvSpPr/>
            <p:nvPr/>
          </p:nvSpPr>
          <p:spPr>
            <a:xfrm>
              <a:off x="5553024" y="4251673"/>
              <a:ext cx="325383" cy="230336"/>
            </a:xfrm>
            <a:prstGeom prst="hexagon">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Flowchart: Summing Junction 72"/>
            <p:cNvSpPr/>
            <p:nvPr/>
          </p:nvSpPr>
          <p:spPr>
            <a:xfrm>
              <a:off x="7066393" y="4093927"/>
              <a:ext cx="216024" cy="216024"/>
            </a:xfrm>
            <a:prstGeom prst="flowChartSummingJunction">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Flowchart: Magnetic Disk 74"/>
            <p:cNvSpPr/>
            <p:nvPr/>
          </p:nvSpPr>
          <p:spPr>
            <a:xfrm>
              <a:off x="6250114" y="4561146"/>
              <a:ext cx="360040" cy="302344"/>
            </a:xfrm>
            <a:prstGeom prst="flowChartMagneticDisk">
              <a:avLst/>
            </a:prstGeom>
            <a:solidFill>
              <a:srgbClr val="00C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Cube 75"/>
            <p:cNvSpPr/>
            <p:nvPr/>
          </p:nvSpPr>
          <p:spPr>
            <a:xfrm rot="3003374">
              <a:off x="7434465" y="4032854"/>
              <a:ext cx="261050" cy="213875"/>
            </a:xfrm>
            <a:prstGeom prst="cub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Donut 76"/>
            <p:cNvSpPr/>
            <p:nvPr/>
          </p:nvSpPr>
          <p:spPr>
            <a:xfrm>
              <a:off x="6352109" y="4161482"/>
              <a:ext cx="287857" cy="228111"/>
            </a:xfrm>
            <a:prstGeom prst="donu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8" name="Flowchart: Summing Junction 77"/>
            <p:cNvSpPr/>
            <p:nvPr/>
          </p:nvSpPr>
          <p:spPr>
            <a:xfrm>
              <a:off x="7582499" y="4223200"/>
              <a:ext cx="216024" cy="216024"/>
            </a:xfrm>
            <a:prstGeom prst="flowChartSummingJunction">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Hexagon 78"/>
            <p:cNvSpPr/>
            <p:nvPr/>
          </p:nvSpPr>
          <p:spPr>
            <a:xfrm>
              <a:off x="5364391" y="4019109"/>
              <a:ext cx="325383" cy="230336"/>
            </a:xfrm>
            <a:prstGeom prst="hexagon">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3448359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0"/>
                                        </p:tgtEl>
                                        <p:attrNameLst>
                                          <p:attrName>style.visibility</p:attrName>
                                        </p:attrNameLst>
                                      </p:cBhvr>
                                      <p:to>
                                        <p:strVal val="visible"/>
                                      </p:to>
                                    </p:set>
                                    <p:animEffect transition="in" filter="fade">
                                      <p:cBhvr>
                                        <p:cTn id="12" dur="5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EAE08824-AF3C-4103-A078-ED8DAB7F9734}" type="slidenum">
              <a:rPr lang="en-US" altLang="zh-CN"/>
              <a:pPr/>
              <a:t>57</a:t>
            </a:fld>
            <a:r>
              <a:rPr lang="en-US" altLang="zh-CN"/>
              <a:t>/</a:t>
            </a:r>
            <a:r>
              <a:rPr lang="en-US" altLang="zh-CN">
                <a:solidFill>
                  <a:srgbClr val="FF3300"/>
                </a:solidFill>
              </a:rPr>
              <a:t>185</a:t>
            </a:r>
          </a:p>
        </p:txBody>
      </p:sp>
      <p:sp>
        <p:nvSpPr>
          <p:cNvPr id="134146" name="Rectangle 2"/>
          <p:cNvSpPr>
            <a:spLocks noGrp="1" noChangeArrowheads="1"/>
          </p:cNvSpPr>
          <p:nvPr>
            <p:ph type="title"/>
          </p:nvPr>
        </p:nvSpPr>
        <p:spPr/>
        <p:txBody>
          <a:bodyPr/>
          <a:lstStyle/>
          <a:p>
            <a:r>
              <a:rPr lang="zh-CN" altLang="en-US" dirty="0"/>
              <a:t>简单页式管理</a:t>
            </a:r>
            <a:endParaRPr lang="zh-CN" altLang="en-US" dirty="0">
              <a:ea typeface="黑体" panose="02010609060101010101" pitchFamily="49" charset="-122"/>
            </a:endParaRPr>
          </a:p>
        </p:txBody>
      </p:sp>
      <p:sp>
        <p:nvSpPr>
          <p:cNvPr id="134147" name="Rectangle 3"/>
          <p:cNvSpPr>
            <a:spLocks noGrp="1" noChangeArrowheads="1"/>
          </p:cNvSpPr>
          <p:nvPr>
            <p:ph type="body" idx="1"/>
          </p:nvPr>
        </p:nvSpPr>
        <p:spPr>
          <a:xfrm>
            <a:off x="381000" y="1219200"/>
            <a:ext cx="8382000" cy="5029200"/>
          </a:xfrm>
        </p:spPr>
        <p:txBody>
          <a:bodyPr>
            <a:normAutofit/>
          </a:bodyPr>
          <a:lstStyle/>
          <a:p>
            <a:pPr marL="336550"/>
            <a:r>
              <a:rPr lang="zh-CN" altLang="en-US" sz="2800" dirty="0"/>
              <a:t>简单</a:t>
            </a:r>
            <a:r>
              <a:rPr lang="zh-CN" altLang="en-US" sz="2800" dirty="0"/>
              <a:t>页式管理的基本原理</a:t>
            </a:r>
          </a:p>
          <a:p>
            <a:pPr marL="803275" lvl="1"/>
            <a:r>
              <a:rPr lang="zh-CN" altLang="en-US" sz="2600" dirty="0"/>
              <a:t>将程序的逻辑地址空间和物理内存划分为固定大小的页或页面</a:t>
            </a:r>
            <a:r>
              <a:rPr lang="en-US" altLang="zh-CN" sz="2600" dirty="0"/>
              <a:t>(page or page frame)</a:t>
            </a:r>
          </a:p>
          <a:p>
            <a:pPr marL="803275" lvl="1"/>
            <a:r>
              <a:rPr lang="zh-CN" altLang="en-US" sz="2600" dirty="0"/>
              <a:t>程序加载时，分配其所需的所有页，这些页不必连续</a:t>
            </a:r>
          </a:p>
          <a:p>
            <a:pPr marL="803275" lvl="1"/>
            <a:r>
              <a:rPr lang="zh-CN" altLang="en-US" sz="2600" dirty="0"/>
              <a:t>需要</a:t>
            </a:r>
            <a:r>
              <a:rPr lang="en-US" altLang="zh-CN" sz="2600" dirty="0"/>
              <a:t>CPU</a:t>
            </a:r>
            <a:r>
              <a:rPr lang="zh-CN" altLang="en-US" sz="2600" dirty="0"/>
              <a:t>的硬件支持实现</a:t>
            </a:r>
            <a:r>
              <a:rPr lang="zh-CN" altLang="en-US" sz="2600" dirty="0"/>
              <a:t>地址映射</a:t>
            </a:r>
            <a:endParaRPr lang="en-US" altLang="zh-CN" sz="2600" dirty="0"/>
          </a:p>
          <a:p>
            <a:pPr marL="298450" lvl="1" indent="0">
              <a:lnSpc>
                <a:spcPct val="110000"/>
              </a:lnSpc>
              <a:buNone/>
            </a:pPr>
            <a:endParaRPr lang="zh-CN" altLang="en-US" sz="2600" dirty="0"/>
          </a:p>
        </p:txBody>
      </p:sp>
    </p:spTree>
    <p:extLst>
      <p:ext uri="{BB962C8B-B14F-4D97-AF65-F5344CB8AC3E}">
        <p14:creationId xmlns:p14="http://schemas.microsoft.com/office/powerpoint/2010/main" val="2879439664"/>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5"/>
          <p:cNvSpPr>
            <a:spLocks noGrp="1"/>
          </p:cNvSpPr>
          <p:nvPr>
            <p:ph type="sldNum" sz="quarter" idx="12"/>
          </p:nvPr>
        </p:nvSpPr>
        <p:spPr/>
        <p:txBody>
          <a:bodyPr/>
          <a:lstStyle/>
          <a:p>
            <a:fld id="{7312CB46-FBF4-4F22-A3FE-D61B44AA066B}" type="slidenum">
              <a:rPr lang="en-US" altLang="zh-CN"/>
              <a:pPr/>
              <a:t>58</a:t>
            </a:fld>
            <a:r>
              <a:rPr lang="en-US" altLang="zh-CN"/>
              <a:t>/</a:t>
            </a:r>
            <a:r>
              <a:rPr lang="en-US" altLang="zh-CN">
                <a:solidFill>
                  <a:srgbClr val="FF3300"/>
                </a:solidFill>
              </a:rPr>
              <a:t>185</a:t>
            </a:r>
          </a:p>
        </p:txBody>
      </p:sp>
      <p:sp>
        <p:nvSpPr>
          <p:cNvPr id="135170" name="Rectangle 2"/>
          <p:cNvSpPr>
            <a:spLocks noGrp="1" noChangeArrowheads="1"/>
          </p:cNvSpPr>
          <p:nvPr>
            <p:ph type="title"/>
          </p:nvPr>
        </p:nvSpPr>
        <p:spPr/>
        <p:txBody>
          <a:bodyPr/>
          <a:lstStyle/>
          <a:p>
            <a:r>
              <a:rPr lang="zh-CN" altLang="en-US" dirty="0"/>
              <a:t>简单页式管理</a:t>
            </a:r>
            <a:endParaRPr lang="zh-CN" altLang="en-US" dirty="0">
              <a:ea typeface="黑体" panose="02010609060101010101" pitchFamily="49" charset="-122"/>
            </a:endParaRPr>
          </a:p>
        </p:txBody>
      </p:sp>
      <p:sp>
        <p:nvSpPr>
          <p:cNvPr id="135171" name="Rectangle 3"/>
          <p:cNvSpPr>
            <a:spLocks noGrp="1" noChangeArrowheads="1"/>
          </p:cNvSpPr>
          <p:nvPr>
            <p:ph type="body" idx="1"/>
          </p:nvPr>
        </p:nvSpPr>
        <p:spPr>
          <a:xfrm>
            <a:off x="395288" y="1196974"/>
            <a:ext cx="8229600" cy="5048377"/>
          </a:xfrm>
        </p:spPr>
        <p:txBody>
          <a:bodyPr>
            <a:normAutofit/>
          </a:bodyPr>
          <a:lstStyle/>
          <a:p>
            <a:pPr marL="336550" lvl="1">
              <a:lnSpc>
                <a:spcPct val="105000"/>
              </a:lnSpc>
              <a:spcBef>
                <a:spcPts val="1000"/>
              </a:spcBef>
            </a:pPr>
            <a:r>
              <a:rPr lang="zh-CN" altLang="en-US" sz="2200" dirty="0"/>
              <a:t>用户</a:t>
            </a:r>
            <a:r>
              <a:rPr lang="zh-CN" altLang="en-US" sz="2200" dirty="0"/>
              <a:t>程序划分</a:t>
            </a:r>
          </a:p>
          <a:p>
            <a:pPr marL="803275" lvl="1">
              <a:lnSpc>
                <a:spcPct val="105000"/>
              </a:lnSpc>
            </a:pPr>
            <a:r>
              <a:rPr lang="zh-CN" altLang="en-US" dirty="0"/>
              <a:t>把用户程序按逻辑页划分成大小相等的部分，称为页。从</a:t>
            </a:r>
            <a:r>
              <a:rPr lang="en-US" altLang="zh-CN" dirty="0"/>
              <a:t>0</a:t>
            </a:r>
            <a:r>
              <a:rPr lang="zh-CN" altLang="en-US" dirty="0"/>
              <a:t>开始编制页号，页内地址是相对于</a:t>
            </a:r>
            <a:r>
              <a:rPr lang="en-US" altLang="zh-CN" dirty="0"/>
              <a:t>0</a:t>
            </a:r>
            <a:r>
              <a:rPr lang="zh-CN" altLang="en-US" dirty="0"/>
              <a:t>编址</a:t>
            </a:r>
            <a:endParaRPr lang="en-US" altLang="zh-CN" dirty="0"/>
          </a:p>
          <a:p>
            <a:pPr marL="803275" lvl="1">
              <a:lnSpc>
                <a:spcPct val="105000"/>
              </a:lnSpc>
            </a:pPr>
            <a:endParaRPr lang="en-US" altLang="zh-CN" dirty="0"/>
          </a:p>
          <a:p>
            <a:pPr marL="803275" lvl="1">
              <a:lnSpc>
                <a:spcPct val="105000"/>
              </a:lnSpc>
            </a:pPr>
            <a:endParaRPr lang="en-US" altLang="zh-CN" dirty="0"/>
          </a:p>
          <a:p>
            <a:pPr marL="803275" lvl="1">
              <a:lnSpc>
                <a:spcPct val="105000"/>
              </a:lnSpc>
            </a:pPr>
            <a:r>
              <a:rPr lang="zh-CN" altLang="en-US" dirty="0"/>
              <a:t>用户程序的划分是由系统自动完成的，对用户是透明的。一般，一页的大小为</a:t>
            </a:r>
            <a:r>
              <a:rPr lang="en-US" altLang="zh-CN" dirty="0"/>
              <a:t>2</a:t>
            </a:r>
            <a:r>
              <a:rPr lang="zh-CN" altLang="en-US" dirty="0"/>
              <a:t>的整数次幂，地址的高位部分为页号，低位部分为页内</a:t>
            </a:r>
            <a:r>
              <a:rPr lang="zh-CN" altLang="en-US" dirty="0"/>
              <a:t>地址</a:t>
            </a:r>
            <a:endParaRPr lang="en-US" altLang="zh-CN" dirty="0"/>
          </a:p>
          <a:p>
            <a:pPr marL="336550" lvl="1">
              <a:lnSpc>
                <a:spcPct val="105000"/>
              </a:lnSpc>
              <a:spcBef>
                <a:spcPts val="1000"/>
              </a:spcBef>
            </a:pPr>
            <a:r>
              <a:rPr lang="zh-CN" altLang="en-US" sz="2200" dirty="0"/>
              <a:t>内存空间</a:t>
            </a:r>
          </a:p>
          <a:p>
            <a:pPr marL="803275" lvl="1">
              <a:lnSpc>
                <a:spcPct val="105000"/>
              </a:lnSpc>
            </a:pPr>
            <a:r>
              <a:rPr lang="zh-CN" altLang="en-US" dirty="0"/>
              <a:t>按页的大小划分为大小相等的区域，称为内存块（又叫物理页面）</a:t>
            </a:r>
          </a:p>
          <a:p>
            <a:pPr marL="336550" lvl="1">
              <a:lnSpc>
                <a:spcPct val="105000"/>
              </a:lnSpc>
              <a:spcBef>
                <a:spcPts val="1000"/>
              </a:spcBef>
            </a:pPr>
            <a:r>
              <a:rPr lang="zh-CN" altLang="en-US" sz="2200" dirty="0"/>
              <a:t>内存分配</a:t>
            </a:r>
          </a:p>
          <a:p>
            <a:pPr marL="803275" lvl="1">
              <a:lnSpc>
                <a:spcPct val="105000"/>
              </a:lnSpc>
            </a:pPr>
            <a:r>
              <a:rPr lang="zh-CN" altLang="en-US" dirty="0"/>
              <a:t>以页为单位进行分配，并按进程的页数多少来分配。逻辑上相邻的页，物理上不一定相邻</a:t>
            </a:r>
          </a:p>
          <a:p>
            <a:pPr marL="1146175" lvl="2" indent="-390525">
              <a:lnSpc>
                <a:spcPct val="110000"/>
              </a:lnSpc>
              <a:buBlip>
                <a:blip r:embed="rId3"/>
              </a:buBlip>
            </a:pPr>
            <a:endParaRPr lang="zh-CN" altLang="en-US" b="1" dirty="0"/>
          </a:p>
        </p:txBody>
      </p:sp>
      <p:grpSp>
        <p:nvGrpSpPr>
          <p:cNvPr id="135177" name="Group 9"/>
          <p:cNvGrpSpPr>
            <a:grpSpLocks/>
          </p:cNvGrpSpPr>
          <p:nvPr/>
        </p:nvGrpSpPr>
        <p:grpSpPr bwMode="auto">
          <a:xfrm>
            <a:off x="2410950" y="2407920"/>
            <a:ext cx="4371975" cy="533400"/>
            <a:chOff x="1230" y="2592"/>
            <a:chExt cx="2754" cy="336"/>
          </a:xfrm>
        </p:grpSpPr>
        <p:sp>
          <p:nvSpPr>
            <p:cNvPr id="135172" name="Rectangle 4"/>
            <p:cNvSpPr>
              <a:spLocks noChangeArrowheads="1"/>
            </p:cNvSpPr>
            <p:nvPr/>
          </p:nvSpPr>
          <p:spPr bwMode="auto">
            <a:xfrm>
              <a:off x="1230" y="2622"/>
              <a:ext cx="978" cy="2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marL="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914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371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1828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b="1">
                  <a:solidFill>
                    <a:schemeClr val="accent2"/>
                  </a:solidFill>
                </a:rPr>
                <a:t>逻辑地址</a:t>
              </a:r>
            </a:p>
          </p:txBody>
        </p:sp>
        <p:grpSp>
          <p:nvGrpSpPr>
            <p:cNvPr id="135173" name="Group 5"/>
            <p:cNvGrpSpPr>
              <a:grpSpLocks/>
            </p:cNvGrpSpPr>
            <p:nvPr/>
          </p:nvGrpSpPr>
          <p:grpSpPr bwMode="auto">
            <a:xfrm>
              <a:off x="2208" y="2592"/>
              <a:ext cx="1776" cy="336"/>
              <a:chOff x="1536" y="960"/>
              <a:chExt cx="2160" cy="432"/>
            </a:xfrm>
          </p:grpSpPr>
          <p:sp>
            <p:nvSpPr>
              <p:cNvPr id="135174" name="Rectangle 6"/>
              <p:cNvSpPr>
                <a:spLocks noChangeArrowheads="1"/>
              </p:cNvSpPr>
              <p:nvPr/>
            </p:nvSpPr>
            <p:spPr bwMode="auto">
              <a:xfrm>
                <a:off x="1536" y="960"/>
                <a:ext cx="2160" cy="432"/>
              </a:xfrm>
              <a:prstGeom prst="rect">
                <a:avLst/>
              </a:prstGeom>
              <a:solidFill>
                <a:srgbClr val="FFCCFF"/>
              </a:solidFill>
              <a:ln w="38100">
                <a:solidFill>
                  <a:srgbClr val="0033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dirty="0">
                    <a:solidFill>
                      <a:srgbClr val="0033CC"/>
                    </a:solidFill>
                  </a:rPr>
                  <a:t>页号             页内地址</a:t>
                </a:r>
              </a:p>
            </p:txBody>
          </p:sp>
          <p:sp>
            <p:nvSpPr>
              <p:cNvPr id="135175" name="Line 7"/>
              <p:cNvSpPr>
                <a:spLocks noChangeShapeType="1"/>
              </p:cNvSpPr>
              <p:nvPr/>
            </p:nvSpPr>
            <p:spPr bwMode="auto">
              <a:xfrm>
                <a:off x="2448" y="960"/>
                <a:ext cx="0" cy="432"/>
              </a:xfrm>
              <a:prstGeom prst="line">
                <a:avLst/>
              </a:prstGeom>
              <a:noFill/>
              <a:ln w="38100">
                <a:solidFill>
                  <a:srgbClr val="00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Tree>
    <p:extLst>
      <p:ext uri="{BB962C8B-B14F-4D97-AF65-F5344CB8AC3E}">
        <p14:creationId xmlns:p14="http://schemas.microsoft.com/office/powerpoint/2010/main" val="155078074"/>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简单页式管理中的地址转换</a:t>
            </a:r>
          </a:p>
        </p:txBody>
      </p:sp>
      <p:sp>
        <p:nvSpPr>
          <p:cNvPr id="3" name="Content Placeholder 2"/>
          <p:cNvSpPr>
            <a:spLocks noGrp="1"/>
          </p:cNvSpPr>
          <p:nvPr>
            <p:ph idx="1"/>
          </p:nvPr>
        </p:nvSpPr>
        <p:spPr/>
        <p:txBody>
          <a:bodyPr/>
          <a:lstStyle/>
          <a:p>
            <a:r>
              <a:rPr lang="zh-CN" altLang="en-US" dirty="0"/>
              <a:t>给定一个进程虚拟地址空间的地址，如何找到该地址在物理内存中的实际位置？</a:t>
            </a:r>
            <a:endParaRPr lang="en-US" altLang="zh-CN" dirty="0"/>
          </a:p>
          <a:p>
            <a:r>
              <a:rPr lang="en-US" altLang="zh-CN"/>
              <a:t>LOAD 0035H </a:t>
            </a:r>
            <a:r>
              <a:rPr lang="en-US" altLang="zh-CN">
                <a:sym typeface="Wingdings" panose="05000000000000000000" pitchFamily="2" charset="2"/>
              </a:rPr>
              <a:t> </a:t>
            </a:r>
            <a:r>
              <a:rPr lang="zh-CN" altLang="en-US" dirty="0">
                <a:sym typeface="Wingdings" panose="05000000000000000000" pitchFamily="2" charset="2"/>
              </a:rPr>
              <a:t>？？</a:t>
            </a:r>
            <a:endParaRPr lang="en-US" altLang="zh-CN" dirty="0">
              <a:sym typeface="Wingdings" panose="05000000000000000000" pitchFamily="2" charset="2"/>
            </a:endParaRPr>
          </a:p>
          <a:p>
            <a:endParaRPr lang="en-US" altLang="zh-CN" dirty="0">
              <a:sym typeface="Wingdings" panose="05000000000000000000" pitchFamily="2" charset="2"/>
            </a:endParaRPr>
          </a:p>
          <a:p>
            <a:r>
              <a:rPr lang="zh-CN" altLang="en-US" dirty="0">
                <a:sym typeface="Wingdings" panose="05000000000000000000" pitchFamily="2" charset="2"/>
              </a:rPr>
              <a:t>地址结构</a:t>
            </a:r>
            <a:endParaRPr lang="zh-CN" altLang="en-US" dirty="0"/>
          </a:p>
        </p:txBody>
      </p:sp>
      <p:sp>
        <p:nvSpPr>
          <p:cNvPr id="4" name="Date Placeholder 3"/>
          <p:cNvSpPr>
            <a:spLocks noGrp="1"/>
          </p:cNvSpPr>
          <p:nvPr>
            <p:ph type="dt" sz="half" idx="10"/>
          </p:nvPr>
        </p:nvSpPr>
        <p:spPr/>
        <p:txBody>
          <a:bodyPr/>
          <a:lstStyle/>
          <a:p>
            <a:fld id="{2C1C85E8-0C1F-4A01-A2FC-F265D0556BF1}"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59</a:t>
            </a:fld>
            <a:endParaRPr lang="zh-CN" altLang="en-US" dirty="0"/>
          </a:p>
        </p:txBody>
      </p:sp>
      <p:grpSp>
        <p:nvGrpSpPr>
          <p:cNvPr id="7" name="Group 27"/>
          <p:cNvGrpSpPr>
            <a:grpSpLocks/>
          </p:cNvGrpSpPr>
          <p:nvPr/>
        </p:nvGrpSpPr>
        <p:grpSpPr bwMode="auto">
          <a:xfrm>
            <a:off x="1911821" y="3783161"/>
            <a:ext cx="5324475" cy="2651125"/>
            <a:chOff x="1152" y="2362"/>
            <a:chExt cx="3354" cy="1670"/>
          </a:xfrm>
        </p:grpSpPr>
        <p:sp>
          <p:nvSpPr>
            <p:cNvPr id="8" name="Text Box 20"/>
            <p:cNvSpPr txBox="1">
              <a:spLocks noChangeArrowheads="1"/>
            </p:cNvSpPr>
            <p:nvPr/>
          </p:nvSpPr>
          <p:spPr bwMode="auto">
            <a:xfrm>
              <a:off x="1409" y="3759"/>
              <a:ext cx="125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8000" rIns="18000">
              <a:spAutoFit/>
            </a:bodyPr>
            <a:lstStyle/>
            <a:p>
              <a:r>
                <a:rPr lang="zh-CN" altLang="en-US" sz="2000" b="1" dirty="0"/>
                <a:t>编号</a:t>
              </a:r>
              <a:r>
                <a:rPr lang="en-US" altLang="zh-CN" sz="2000" b="1" dirty="0" smtClean="0"/>
                <a:t>0~2^20,1M</a:t>
              </a:r>
              <a:endParaRPr lang="en-US" altLang="zh-CN" sz="2000" b="1" dirty="0"/>
            </a:p>
          </p:txBody>
        </p:sp>
        <p:grpSp>
          <p:nvGrpSpPr>
            <p:cNvPr id="9" name="Group 26"/>
            <p:cNvGrpSpPr>
              <a:grpSpLocks/>
            </p:cNvGrpSpPr>
            <p:nvPr/>
          </p:nvGrpSpPr>
          <p:grpSpPr bwMode="auto">
            <a:xfrm>
              <a:off x="1152" y="2362"/>
              <a:ext cx="3354" cy="1670"/>
              <a:chOff x="1152" y="2062"/>
              <a:chExt cx="3354" cy="1670"/>
            </a:xfrm>
          </p:grpSpPr>
          <p:grpSp>
            <p:nvGrpSpPr>
              <p:cNvPr id="10" name="Group 11"/>
              <p:cNvGrpSpPr>
                <a:grpSpLocks/>
              </p:cNvGrpSpPr>
              <p:nvPr/>
            </p:nvGrpSpPr>
            <p:grpSpPr bwMode="auto">
              <a:xfrm>
                <a:off x="1244" y="2686"/>
                <a:ext cx="3157" cy="399"/>
                <a:chOff x="1200" y="1536"/>
                <a:chExt cx="3312" cy="432"/>
              </a:xfrm>
            </p:grpSpPr>
            <p:sp>
              <p:nvSpPr>
                <p:cNvPr id="22" name="Rectangle 12"/>
                <p:cNvSpPr>
                  <a:spLocks noChangeArrowheads="1"/>
                </p:cNvSpPr>
                <p:nvPr/>
              </p:nvSpPr>
              <p:spPr bwMode="auto">
                <a:xfrm>
                  <a:off x="1200" y="1536"/>
                  <a:ext cx="3312" cy="432"/>
                </a:xfrm>
                <a:prstGeom prst="rect">
                  <a:avLst/>
                </a:prstGeom>
                <a:solidFill>
                  <a:srgbClr val="FFCCFF"/>
                </a:solidFill>
                <a:ln w="38100">
                  <a:solidFill>
                    <a:srgbClr val="0033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Line 13"/>
                <p:cNvSpPr>
                  <a:spLocks noChangeShapeType="1"/>
                </p:cNvSpPr>
                <p:nvPr/>
              </p:nvSpPr>
              <p:spPr bwMode="auto">
                <a:xfrm>
                  <a:off x="2832" y="1536"/>
                  <a:ext cx="0" cy="432"/>
                </a:xfrm>
                <a:prstGeom prst="line">
                  <a:avLst/>
                </a:prstGeom>
                <a:noFill/>
                <a:ln w="38100">
                  <a:solidFill>
                    <a:srgbClr val="00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1" name="Text Box 14"/>
              <p:cNvSpPr txBox="1">
                <a:spLocks noChangeArrowheads="1"/>
              </p:cNvSpPr>
              <p:nvPr/>
            </p:nvSpPr>
            <p:spPr bwMode="auto">
              <a:xfrm>
                <a:off x="4310" y="2340"/>
                <a:ext cx="196" cy="250"/>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1"/>
                  <a:t>0</a:t>
                </a:r>
              </a:p>
            </p:txBody>
          </p:sp>
          <p:sp>
            <p:nvSpPr>
              <p:cNvPr id="12" name="Text Box 15"/>
              <p:cNvSpPr txBox="1">
                <a:spLocks noChangeArrowheads="1"/>
              </p:cNvSpPr>
              <p:nvPr/>
            </p:nvSpPr>
            <p:spPr bwMode="auto">
              <a:xfrm>
                <a:off x="2799" y="2360"/>
                <a:ext cx="276" cy="250"/>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1"/>
                  <a:t>11</a:t>
                </a:r>
              </a:p>
            </p:txBody>
          </p:sp>
          <p:sp>
            <p:nvSpPr>
              <p:cNvPr id="13" name="Text Box 16"/>
              <p:cNvSpPr txBox="1">
                <a:spLocks noChangeArrowheads="1"/>
              </p:cNvSpPr>
              <p:nvPr/>
            </p:nvSpPr>
            <p:spPr bwMode="auto">
              <a:xfrm>
                <a:off x="2525" y="2360"/>
                <a:ext cx="276" cy="250"/>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1"/>
                  <a:t>12</a:t>
                </a:r>
              </a:p>
            </p:txBody>
          </p:sp>
          <p:sp>
            <p:nvSpPr>
              <p:cNvPr id="14" name="Text Box 17"/>
              <p:cNvSpPr txBox="1">
                <a:spLocks noChangeArrowheads="1"/>
              </p:cNvSpPr>
              <p:nvPr/>
            </p:nvSpPr>
            <p:spPr bwMode="auto">
              <a:xfrm>
                <a:off x="1152" y="2360"/>
                <a:ext cx="280" cy="252"/>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1" dirty="0" smtClean="0"/>
                  <a:t>31</a:t>
                </a:r>
                <a:endParaRPr lang="en-US" altLang="zh-CN" sz="2000" b="1" dirty="0"/>
              </a:p>
            </p:txBody>
          </p:sp>
          <p:sp>
            <p:nvSpPr>
              <p:cNvPr id="15" name="Text Box 18"/>
              <p:cNvSpPr txBox="1">
                <a:spLocks noChangeArrowheads="1"/>
              </p:cNvSpPr>
              <p:nvPr/>
            </p:nvSpPr>
            <p:spPr bwMode="auto">
              <a:xfrm>
                <a:off x="1704" y="2074"/>
                <a:ext cx="5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b="1"/>
                  <a:t>页号</a:t>
                </a:r>
                <a:r>
                  <a:rPr lang="en-US" altLang="zh-CN" sz="2000" b="1"/>
                  <a:t>P</a:t>
                </a:r>
              </a:p>
            </p:txBody>
          </p:sp>
          <p:sp>
            <p:nvSpPr>
              <p:cNvPr id="16" name="Text Box 19"/>
              <p:cNvSpPr txBox="1">
                <a:spLocks noChangeArrowheads="1"/>
              </p:cNvSpPr>
              <p:nvPr/>
            </p:nvSpPr>
            <p:spPr bwMode="auto">
              <a:xfrm>
                <a:off x="2982" y="2062"/>
                <a:ext cx="108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b="1"/>
                  <a:t>页内位移量</a:t>
                </a:r>
                <a:r>
                  <a:rPr lang="en-US" altLang="zh-CN" sz="2000" b="1"/>
                  <a:t>W</a:t>
                </a:r>
              </a:p>
            </p:txBody>
          </p:sp>
          <p:sp>
            <p:nvSpPr>
              <p:cNvPr id="17" name="Text Box 21"/>
              <p:cNvSpPr txBox="1">
                <a:spLocks noChangeArrowheads="1"/>
              </p:cNvSpPr>
              <p:nvPr/>
            </p:nvSpPr>
            <p:spPr bwMode="auto">
              <a:xfrm>
                <a:off x="2891" y="3480"/>
                <a:ext cx="139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b="1" dirty="0" smtClean="0"/>
                  <a:t>相对地址</a:t>
                </a:r>
                <a:r>
                  <a:rPr lang="en-US" altLang="zh-CN" sz="2000" b="1" dirty="0" smtClean="0"/>
                  <a:t>2^12,4KB</a:t>
                </a:r>
                <a:endParaRPr lang="en-US" altLang="zh-CN" sz="2000" b="1" dirty="0"/>
              </a:p>
            </p:txBody>
          </p:sp>
          <p:sp>
            <p:nvSpPr>
              <p:cNvPr id="18" name="Arc 22"/>
              <p:cNvSpPr>
                <a:spLocks/>
              </p:cNvSpPr>
              <p:nvPr/>
            </p:nvSpPr>
            <p:spPr bwMode="auto">
              <a:xfrm flipH="1" flipV="1">
                <a:off x="1289" y="3174"/>
                <a:ext cx="641" cy="22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9525">
                <a:solidFill>
                  <a:srgbClr val="0033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Arc 23"/>
              <p:cNvSpPr>
                <a:spLocks/>
              </p:cNvSpPr>
              <p:nvPr/>
            </p:nvSpPr>
            <p:spPr bwMode="auto">
              <a:xfrm flipV="1">
                <a:off x="2159" y="3174"/>
                <a:ext cx="595" cy="22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9525">
                <a:solidFill>
                  <a:srgbClr val="0033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Arc 24"/>
              <p:cNvSpPr>
                <a:spLocks/>
              </p:cNvSpPr>
              <p:nvPr/>
            </p:nvSpPr>
            <p:spPr bwMode="auto">
              <a:xfrm flipV="1">
                <a:off x="3760" y="3174"/>
                <a:ext cx="595" cy="22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9525">
                <a:solidFill>
                  <a:srgbClr val="0033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Arc 25"/>
              <p:cNvSpPr>
                <a:spLocks/>
              </p:cNvSpPr>
              <p:nvPr/>
            </p:nvSpPr>
            <p:spPr bwMode="auto">
              <a:xfrm flipH="1" flipV="1">
                <a:off x="2891" y="3174"/>
                <a:ext cx="641" cy="22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9525">
                <a:solidFill>
                  <a:srgbClr val="0033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Tree>
    <p:extLst>
      <p:ext uri="{BB962C8B-B14F-4D97-AF65-F5344CB8AC3E}">
        <p14:creationId xmlns:p14="http://schemas.microsoft.com/office/powerpoint/2010/main" val="2229114258"/>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简单页式管理</a:t>
            </a:r>
          </a:p>
        </p:txBody>
      </p:sp>
      <p:sp>
        <p:nvSpPr>
          <p:cNvPr id="3" name="Content Placeholder 2"/>
          <p:cNvSpPr>
            <a:spLocks noGrp="1"/>
          </p:cNvSpPr>
          <p:nvPr>
            <p:ph idx="1"/>
          </p:nvPr>
        </p:nvSpPr>
        <p:spPr/>
        <p:txBody>
          <a:bodyPr/>
          <a:lstStyle/>
          <a:p>
            <a:r>
              <a:rPr lang="zh-CN" altLang="en-US" dirty="0"/>
              <a:t>简单页式管理的</a:t>
            </a:r>
            <a:r>
              <a:rPr lang="zh-CN" altLang="en-US" dirty="0" smtClean="0"/>
              <a:t>数据结构</a:t>
            </a:r>
            <a:endParaRPr lang="en-US" altLang="zh-CN" dirty="0" smtClean="0"/>
          </a:p>
          <a:p>
            <a:pPr lvl="1"/>
            <a:r>
              <a:rPr lang="zh-CN" altLang="en-US" dirty="0" smtClean="0"/>
              <a:t>整个</a:t>
            </a:r>
            <a:r>
              <a:rPr lang="zh-CN" altLang="en-US" dirty="0"/>
              <a:t>系统维护一个物理页面表</a:t>
            </a:r>
            <a:endParaRPr lang="en-US" altLang="zh-CN" dirty="0"/>
          </a:p>
          <a:p>
            <a:pPr lvl="2"/>
            <a:r>
              <a:rPr lang="zh-CN" altLang="en-US" dirty="0"/>
              <a:t>描述页面占用和空闲信息</a:t>
            </a:r>
            <a:endParaRPr lang="en-US" altLang="zh-CN" dirty="0"/>
          </a:p>
          <a:p>
            <a:pPr lvl="2"/>
            <a:r>
              <a:rPr lang="zh-CN" altLang="en-US" dirty="0"/>
              <a:t>可用位示图或链表来</a:t>
            </a:r>
            <a:r>
              <a:rPr lang="zh-CN" altLang="en-US" dirty="0" smtClean="0"/>
              <a:t>实现</a:t>
            </a:r>
            <a:endParaRPr lang="en-US" altLang="zh-CN" dirty="0"/>
          </a:p>
          <a:p>
            <a:pPr lvl="1"/>
            <a:r>
              <a:rPr lang="zh-CN" altLang="en-US" dirty="0"/>
              <a:t>整个系统维护一个请求表</a:t>
            </a:r>
            <a:endParaRPr lang="en-US" altLang="zh-CN" dirty="0"/>
          </a:p>
          <a:p>
            <a:pPr lvl="2"/>
            <a:r>
              <a:rPr lang="zh-CN" altLang="en-US" dirty="0" smtClean="0"/>
              <a:t>描述</a:t>
            </a:r>
            <a:r>
              <a:rPr lang="zh-CN" altLang="en-US" dirty="0"/>
              <a:t>系统内各个</a:t>
            </a:r>
            <a:r>
              <a:rPr lang="zh-CN" altLang="en-US" dirty="0">
                <a:solidFill>
                  <a:schemeClr val="accent2"/>
                </a:solidFill>
              </a:rPr>
              <a:t>进程页表的位置和大小</a:t>
            </a:r>
            <a:r>
              <a:rPr lang="zh-CN" altLang="en-US" dirty="0"/>
              <a:t>，用于地址转换，另外，还包括各进程所要求的页面数。也可以结合到各进程的</a:t>
            </a:r>
            <a:r>
              <a:rPr lang="en-US" altLang="zh-CN" dirty="0"/>
              <a:t>PCB</a:t>
            </a:r>
            <a:r>
              <a:rPr lang="zh-CN" altLang="en-US" dirty="0"/>
              <a:t>里</a:t>
            </a:r>
            <a:endParaRPr lang="zh-CN" altLang="en-US" dirty="0">
              <a:solidFill>
                <a:schemeClr val="accent2"/>
              </a:solidFill>
            </a:endParaRPr>
          </a:p>
          <a:p>
            <a:pPr lvl="1"/>
            <a:endParaRPr lang="zh-CN" altLang="en-US" dirty="0"/>
          </a:p>
        </p:txBody>
      </p:sp>
      <p:sp>
        <p:nvSpPr>
          <p:cNvPr id="4" name="Date Placeholder 3"/>
          <p:cNvSpPr>
            <a:spLocks noGrp="1"/>
          </p:cNvSpPr>
          <p:nvPr>
            <p:ph type="dt" sz="half" idx="10"/>
          </p:nvPr>
        </p:nvSpPr>
        <p:spPr/>
        <p:txBody>
          <a:bodyPr/>
          <a:lstStyle/>
          <a:p>
            <a:fld id="{5CB39D33-576A-45FD-98EB-5937259CB537}"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60</a:t>
            </a:fld>
            <a:endParaRPr lang="zh-CN" altLang="en-US" dirty="0"/>
          </a:p>
        </p:txBody>
      </p:sp>
      <p:graphicFrame>
        <p:nvGraphicFramePr>
          <p:cNvPr id="7" name="Group 69"/>
          <p:cNvGraphicFramePr>
            <a:graphicFrameLocks noGrp="1"/>
          </p:cNvGraphicFramePr>
          <p:nvPr>
            <p:extLst>
              <p:ext uri="{D42A27DB-BD31-4B8C-83A1-F6EECF244321}">
                <p14:modId xmlns:p14="http://schemas.microsoft.com/office/powerpoint/2010/main" val="2610372665"/>
              </p:ext>
            </p:extLst>
          </p:nvPr>
        </p:nvGraphicFramePr>
        <p:xfrm>
          <a:off x="2305050" y="4404240"/>
          <a:ext cx="5181600" cy="1830960"/>
        </p:xfrm>
        <a:graphic>
          <a:graphicData uri="http://schemas.openxmlformats.org/drawingml/2006/table">
            <a:tbl>
              <a:tblPr/>
              <a:tblGrid>
                <a:gridCol w="920750">
                  <a:extLst>
                    <a:ext uri="{9D8B030D-6E8A-4147-A177-3AD203B41FA5}">
                      <a16:colId xmlns:a16="http://schemas.microsoft.com/office/drawing/2014/main" xmlns="" val="20000"/>
                    </a:ext>
                  </a:extLst>
                </a:gridCol>
                <a:gridCol w="1365250">
                  <a:extLst>
                    <a:ext uri="{9D8B030D-6E8A-4147-A177-3AD203B41FA5}">
                      <a16:colId xmlns:a16="http://schemas.microsoft.com/office/drawing/2014/main" xmlns="" val="20001"/>
                    </a:ext>
                  </a:extLst>
                </a:gridCol>
                <a:gridCol w="1103313">
                  <a:extLst>
                    <a:ext uri="{9D8B030D-6E8A-4147-A177-3AD203B41FA5}">
                      <a16:colId xmlns:a16="http://schemas.microsoft.com/office/drawing/2014/main" xmlns="" val="20002"/>
                    </a:ext>
                  </a:extLst>
                </a:gridCol>
                <a:gridCol w="1114425">
                  <a:extLst>
                    <a:ext uri="{9D8B030D-6E8A-4147-A177-3AD203B41FA5}">
                      <a16:colId xmlns:a16="http://schemas.microsoft.com/office/drawing/2014/main" xmlns="" val="20003"/>
                    </a:ext>
                  </a:extLst>
                </a:gridCol>
                <a:gridCol w="677862">
                  <a:extLst>
                    <a:ext uri="{9D8B030D-6E8A-4147-A177-3AD203B41FA5}">
                      <a16:colId xmlns:a16="http://schemas.microsoft.com/office/drawing/2014/main" xmlns="" val="20004"/>
                    </a:ext>
                  </a:extLst>
                </a:gridCol>
              </a:tblGrid>
              <a:tr h="274638">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进程号</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请求页面数</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页表始址</a:t>
                      </a:r>
                    </a:p>
                  </a:txBody>
                  <a:tcPr marL="72000" marR="72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页表长度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状态</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274638">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27305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274638">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274638">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bl>
          </a:graphicData>
        </a:graphic>
      </p:graphicFrame>
      <p:graphicFrame>
        <p:nvGraphicFramePr>
          <p:cNvPr id="8" name="Group 67"/>
          <p:cNvGraphicFramePr>
            <a:graphicFrameLocks noGrp="1"/>
          </p:cNvGraphicFramePr>
          <p:nvPr>
            <p:extLst>
              <p:ext uri="{D42A27DB-BD31-4B8C-83A1-F6EECF244321}">
                <p14:modId xmlns:p14="http://schemas.microsoft.com/office/powerpoint/2010/main" val="4256948959"/>
              </p:ext>
            </p:extLst>
          </p:nvPr>
        </p:nvGraphicFramePr>
        <p:xfrm>
          <a:off x="6406688" y="1582211"/>
          <a:ext cx="2133600" cy="1463040"/>
        </p:xfrm>
        <a:graphic>
          <a:graphicData uri="http://schemas.openxmlformats.org/drawingml/2006/table">
            <a:tbl>
              <a:tblPr/>
              <a:tblGrid>
                <a:gridCol w="877888"/>
                <a:gridCol w="1255712"/>
              </a:tblGrid>
              <a:tr h="29210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页号</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页面号</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0480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0480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0480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9" name="Text Box 21"/>
          <p:cNvSpPr txBox="1">
            <a:spLocks noChangeArrowheads="1"/>
          </p:cNvSpPr>
          <p:nvPr/>
        </p:nvSpPr>
        <p:spPr bwMode="auto">
          <a:xfrm>
            <a:off x="6482888" y="1196449"/>
            <a:ext cx="7524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b="1" dirty="0">
                <a:solidFill>
                  <a:srgbClr val="FF3300"/>
                </a:solidFill>
              </a:rPr>
              <a:t>页表</a:t>
            </a:r>
          </a:p>
        </p:txBody>
      </p:sp>
      <p:sp>
        <p:nvSpPr>
          <p:cNvPr id="10" name="Text Box 66"/>
          <p:cNvSpPr txBox="1">
            <a:spLocks noChangeArrowheads="1"/>
          </p:cNvSpPr>
          <p:nvPr/>
        </p:nvSpPr>
        <p:spPr bwMode="auto">
          <a:xfrm>
            <a:off x="1079945" y="5121282"/>
            <a:ext cx="990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b="1">
                <a:solidFill>
                  <a:srgbClr val="FF3300"/>
                </a:solidFill>
              </a:rPr>
              <a:t>请求表</a:t>
            </a:r>
          </a:p>
        </p:txBody>
      </p:sp>
    </p:spTree>
    <p:extLst>
      <p:ext uri="{BB962C8B-B14F-4D97-AF65-F5344CB8AC3E}">
        <p14:creationId xmlns:p14="http://schemas.microsoft.com/office/powerpoint/2010/main" val="2783431336"/>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444DDC5C-0315-4E8D-ACA7-2D808EC172AF}" type="slidenum">
              <a:rPr lang="en-US" altLang="zh-CN"/>
              <a:pPr/>
              <a:t>61</a:t>
            </a:fld>
            <a:r>
              <a:rPr lang="en-US" altLang="zh-CN"/>
              <a:t>/</a:t>
            </a:r>
            <a:r>
              <a:rPr lang="en-US" altLang="zh-CN">
                <a:solidFill>
                  <a:srgbClr val="FF3300"/>
                </a:solidFill>
              </a:rPr>
              <a:t>185</a:t>
            </a:r>
          </a:p>
        </p:txBody>
      </p:sp>
      <p:sp>
        <p:nvSpPr>
          <p:cNvPr id="146434" name="Rectangle 2"/>
          <p:cNvSpPr>
            <a:spLocks noGrp="1" noChangeArrowheads="1"/>
          </p:cNvSpPr>
          <p:nvPr>
            <p:ph type="title"/>
          </p:nvPr>
        </p:nvSpPr>
        <p:spPr/>
        <p:txBody>
          <a:bodyPr/>
          <a:lstStyle/>
          <a:p>
            <a:r>
              <a:rPr lang="zh-CN" altLang="en-US">
                <a:ea typeface="黑体" panose="02010609060101010101" pitchFamily="49" charset="-122"/>
              </a:rPr>
              <a:t>第五章  存储管理</a:t>
            </a:r>
          </a:p>
        </p:txBody>
      </p:sp>
      <p:sp>
        <p:nvSpPr>
          <p:cNvPr id="146435" name="Rectangle 3"/>
          <p:cNvSpPr>
            <a:spLocks noGrp="1" noChangeArrowheads="1"/>
          </p:cNvSpPr>
          <p:nvPr>
            <p:ph type="body" idx="1"/>
          </p:nvPr>
        </p:nvSpPr>
        <p:spPr>
          <a:xfrm>
            <a:off x="304800" y="1219200"/>
            <a:ext cx="8458200" cy="5257800"/>
          </a:xfrm>
        </p:spPr>
        <p:txBody>
          <a:bodyPr/>
          <a:lstStyle/>
          <a:p>
            <a:pPr marL="228600" lvl="1">
              <a:spcBef>
                <a:spcPts val="1000"/>
              </a:spcBef>
            </a:pPr>
            <a:r>
              <a:rPr lang="zh-CN" altLang="en-US" sz="2400" dirty="0"/>
              <a:t>简单</a:t>
            </a:r>
            <a:r>
              <a:rPr lang="zh-CN" altLang="en-US" sz="2400" dirty="0"/>
              <a:t>页式管理的地址变换</a:t>
            </a:r>
          </a:p>
          <a:p>
            <a:pPr marL="685800" lvl="3">
              <a:spcBef>
                <a:spcPts val="1000"/>
              </a:spcBef>
            </a:pPr>
            <a:r>
              <a:rPr lang="zh-CN" altLang="en-US" sz="2400" dirty="0"/>
              <a:t>问题：怎样由页号和页内相对地址变换到内存物理地址？</a:t>
            </a:r>
          </a:p>
          <a:p>
            <a:pPr marL="1143000" lvl="4">
              <a:spcBef>
                <a:spcPts val="1000"/>
              </a:spcBef>
            </a:pPr>
            <a:r>
              <a:rPr lang="zh-CN" altLang="en-US" sz="2400" dirty="0"/>
              <a:t>指令所给出地址</a:t>
            </a:r>
            <a:r>
              <a:rPr lang="zh-CN" altLang="en-US" sz="2400" dirty="0">
                <a:sym typeface="Wingdings" panose="05000000000000000000" pitchFamily="2" charset="2"/>
              </a:rPr>
              <a:t> </a:t>
            </a:r>
            <a:r>
              <a:rPr lang="zh-CN" altLang="en-US" sz="2400" dirty="0"/>
              <a:t>分为两部分：逻辑页号，页内偏移地址</a:t>
            </a:r>
            <a:r>
              <a:rPr lang="zh-CN" altLang="en-US" sz="2400" dirty="0">
                <a:sym typeface="Wingdings" panose="05000000000000000000" pitchFamily="2" charset="2"/>
              </a:rPr>
              <a:t> </a:t>
            </a:r>
            <a:r>
              <a:rPr lang="zh-CN" altLang="en-US" sz="2400" dirty="0"/>
              <a:t>查进程页表，得物理页号</a:t>
            </a:r>
            <a:r>
              <a:rPr lang="zh-CN" altLang="en-US" sz="2400" dirty="0">
                <a:sym typeface="Wingdings" panose="05000000000000000000" pitchFamily="2" charset="2"/>
              </a:rPr>
              <a:t></a:t>
            </a:r>
            <a:r>
              <a:rPr lang="zh-CN" altLang="en-US" sz="2400" dirty="0"/>
              <a:t>物理</a:t>
            </a:r>
            <a:r>
              <a:rPr lang="zh-CN" altLang="en-US" sz="2400" dirty="0" smtClean="0"/>
              <a:t>地址</a:t>
            </a:r>
            <a:endParaRPr lang="en-US" altLang="zh-CN" sz="2400" dirty="0" smtClean="0"/>
          </a:p>
          <a:p>
            <a:r>
              <a:rPr lang="zh-CN" altLang="en-US" dirty="0"/>
              <a:t>硬件支持</a:t>
            </a:r>
            <a:endParaRPr lang="en-US" altLang="zh-CN" dirty="0"/>
          </a:p>
          <a:p>
            <a:pPr lvl="1"/>
            <a:r>
              <a:rPr lang="zh-CN" altLang="en-US" dirty="0"/>
              <a:t>页表起始地址寄存器</a:t>
            </a:r>
            <a:endParaRPr lang="en-US" altLang="zh-CN" dirty="0"/>
          </a:p>
          <a:p>
            <a:pPr lvl="1"/>
            <a:r>
              <a:rPr lang="zh-CN" altLang="en-US" dirty="0"/>
              <a:t>页表长度寄存器（越界控制）</a:t>
            </a:r>
            <a:endParaRPr lang="en-US" altLang="zh-CN" dirty="0"/>
          </a:p>
          <a:p>
            <a:pPr lvl="1"/>
            <a:r>
              <a:rPr lang="zh-CN" altLang="en-US" dirty="0"/>
              <a:t>映射机制的硬件实现</a:t>
            </a:r>
            <a:endParaRPr lang="en-US" altLang="zh-CN" dirty="0"/>
          </a:p>
          <a:p>
            <a:pPr marL="1143000" lvl="4">
              <a:spcBef>
                <a:spcPts val="1000"/>
              </a:spcBef>
            </a:pPr>
            <a:endParaRPr lang="zh-CN" altLang="en-US" sz="2400" dirty="0"/>
          </a:p>
        </p:txBody>
      </p:sp>
    </p:spTree>
    <p:extLst>
      <p:ext uri="{BB962C8B-B14F-4D97-AF65-F5344CB8AC3E}">
        <p14:creationId xmlns:p14="http://schemas.microsoft.com/office/powerpoint/2010/main" val="3834591819"/>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灯片编号占位符 5"/>
          <p:cNvSpPr>
            <a:spLocks noGrp="1"/>
          </p:cNvSpPr>
          <p:nvPr>
            <p:ph type="sldNum" sz="quarter" idx="12"/>
          </p:nvPr>
        </p:nvSpPr>
        <p:spPr>
          <a:xfrm>
            <a:off x="6457950" y="5761991"/>
            <a:ext cx="2057400" cy="365125"/>
          </a:xfrm>
        </p:spPr>
        <p:txBody>
          <a:bodyPr/>
          <a:lstStyle/>
          <a:p>
            <a:fld id="{AEB08DA8-2613-43C6-855D-940F733998FD}" type="slidenum">
              <a:rPr lang="en-US" altLang="zh-CN"/>
              <a:pPr/>
              <a:t>62</a:t>
            </a:fld>
            <a:r>
              <a:rPr lang="en-US" altLang="zh-CN"/>
              <a:t>/</a:t>
            </a:r>
            <a:r>
              <a:rPr lang="en-US" altLang="zh-CN">
                <a:solidFill>
                  <a:srgbClr val="FF3300"/>
                </a:solidFill>
              </a:rPr>
              <a:t>185</a:t>
            </a:r>
          </a:p>
        </p:txBody>
      </p:sp>
      <p:sp>
        <p:nvSpPr>
          <p:cNvPr id="200862" name="Rectangle 158"/>
          <p:cNvSpPr>
            <a:spLocks noChangeArrowheads="1"/>
          </p:cNvSpPr>
          <p:nvPr/>
        </p:nvSpPr>
        <p:spPr bwMode="auto">
          <a:xfrm>
            <a:off x="236538" y="2329815"/>
            <a:ext cx="8713787" cy="3787775"/>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0706" name="Rectangle 2"/>
          <p:cNvSpPr>
            <a:spLocks noGrp="1" noChangeArrowheads="1"/>
          </p:cNvSpPr>
          <p:nvPr>
            <p:ph type="title"/>
          </p:nvPr>
        </p:nvSpPr>
        <p:spPr/>
        <p:txBody>
          <a:bodyPr/>
          <a:lstStyle/>
          <a:p>
            <a:r>
              <a:rPr lang="zh-CN" altLang="en-US" dirty="0"/>
              <a:t>简单页式管理</a:t>
            </a:r>
            <a:endParaRPr lang="zh-CN" altLang="en-US" dirty="0">
              <a:ea typeface="黑体" panose="02010609060101010101" pitchFamily="49" charset="-122"/>
            </a:endParaRPr>
          </a:p>
        </p:txBody>
      </p:sp>
      <p:sp>
        <p:nvSpPr>
          <p:cNvPr id="200707" name="Rectangle 3"/>
          <p:cNvSpPr>
            <a:spLocks noGrp="1" noChangeArrowheads="1"/>
          </p:cNvSpPr>
          <p:nvPr>
            <p:ph type="body" idx="1"/>
          </p:nvPr>
        </p:nvSpPr>
        <p:spPr>
          <a:xfrm>
            <a:off x="304800" y="1219200"/>
            <a:ext cx="8458200" cy="1600200"/>
          </a:xfrm>
        </p:spPr>
        <p:txBody>
          <a:bodyPr>
            <a:normAutofit/>
          </a:bodyPr>
          <a:lstStyle/>
          <a:p>
            <a:pPr marL="247650" lvl="1" indent="0">
              <a:lnSpc>
                <a:spcPct val="105000"/>
              </a:lnSpc>
              <a:buNone/>
            </a:pPr>
            <a:r>
              <a:rPr lang="zh-CN" altLang="en-US" sz="2600" b="1" dirty="0" smtClean="0">
                <a:solidFill>
                  <a:schemeClr val="accent2"/>
                </a:solidFill>
              </a:rPr>
              <a:t>简单</a:t>
            </a:r>
            <a:r>
              <a:rPr lang="zh-CN" altLang="en-US" sz="2600" b="1" dirty="0">
                <a:solidFill>
                  <a:schemeClr val="accent2"/>
                </a:solidFill>
              </a:rPr>
              <a:t>页式管理的地址变换</a:t>
            </a:r>
            <a:endParaRPr lang="zh-CN" altLang="en-US" sz="2600" b="1" dirty="0"/>
          </a:p>
        </p:txBody>
      </p:sp>
      <p:grpSp>
        <p:nvGrpSpPr>
          <p:cNvPr id="200823" name="Group 119"/>
          <p:cNvGrpSpPr>
            <a:grpSpLocks/>
          </p:cNvGrpSpPr>
          <p:nvPr/>
        </p:nvGrpSpPr>
        <p:grpSpPr bwMode="auto">
          <a:xfrm>
            <a:off x="523875" y="2806065"/>
            <a:ext cx="1441450" cy="431800"/>
            <a:chOff x="657" y="2115"/>
            <a:chExt cx="908" cy="272"/>
          </a:xfrm>
        </p:grpSpPr>
        <p:sp>
          <p:nvSpPr>
            <p:cNvPr id="200822" name="Rectangle 118"/>
            <p:cNvSpPr>
              <a:spLocks noChangeArrowheads="1"/>
            </p:cNvSpPr>
            <p:nvPr/>
          </p:nvSpPr>
          <p:spPr bwMode="auto">
            <a:xfrm>
              <a:off x="657" y="2115"/>
              <a:ext cx="454" cy="272"/>
            </a:xfrm>
            <a:prstGeom prst="rect">
              <a:avLst/>
            </a:prstGeom>
            <a:solidFill>
              <a:srgbClr val="FF33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0821" name="Rectangle 117"/>
            <p:cNvSpPr>
              <a:spLocks noChangeArrowheads="1"/>
            </p:cNvSpPr>
            <p:nvPr/>
          </p:nvSpPr>
          <p:spPr bwMode="auto">
            <a:xfrm>
              <a:off x="657" y="2115"/>
              <a:ext cx="908" cy="27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a:t>Page#  Offset</a:t>
              </a:r>
            </a:p>
          </p:txBody>
        </p:sp>
      </p:grpSp>
      <p:sp>
        <p:nvSpPr>
          <p:cNvPr id="200825" name="Rectangle 121"/>
          <p:cNvSpPr>
            <a:spLocks noChangeArrowheads="1"/>
          </p:cNvSpPr>
          <p:nvPr/>
        </p:nvSpPr>
        <p:spPr bwMode="auto">
          <a:xfrm>
            <a:off x="5205413" y="2806065"/>
            <a:ext cx="927100" cy="431800"/>
          </a:xfrm>
          <a:prstGeom prst="rect">
            <a:avLst/>
          </a:prstGeom>
          <a:solidFill>
            <a:srgbClr val="FF33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0824" name="Rectangle 120"/>
          <p:cNvSpPr>
            <a:spLocks noChangeArrowheads="1"/>
          </p:cNvSpPr>
          <p:nvPr/>
        </p:nvSpPr>
        <p:spPr bwMode="auto">
          <a:xfrm>
            <a:off x="5205413" y="2806065"/>
            <a:ext cx="1655762" cy="4270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1800" b="1"/>
          </a:p>
        </p:txBody>
      </p:sp>
      <p:sp>
        <p:nvSpPr>
          <p:cNvPr id="200829" name="AutoShape 125"/>
          <p:cNvSpPr>
            <a:spLocks noChangeArrowheads="1"/>
          </p:cNvSpPr>
          <p:nvPr/>
        </p:nvSpPr>
        <p:spPr bwMode="auto">
          <a:xfrm>
            <a:off x="2901950" y="4793615"/>
            <a:ext cx="360363" cy="360363"/>
          </a:xfrm>
          <a:prstGeom prst="flowChartOr">
            <a:avLst/>
          </a:prstGeom>
          <a:noFill/>
          <a:ln w="9525">
            <a:solidFill>
              <a:schemeClr val="tx1"/>
            </a:solidFill>
            <a:round/>
            <a:headEnd/>
            <a:tailEnd/>
          </a:ln>
          <a:effectLst/>
          <a:extLst>
            <a:ext uri="{909E8E84-426E-40DD-AFC4-6F175D3DCCD1}">
              <a14:hiddenFill xmlns:a14="http://schemas.microsoft.com/office/drawing/2010/main">
                <a:solidFill>
                  <a:srgbClr val="FF33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0827" name="Rectangle 123"/>
          <p:cNvSpPr>
            <a:spLocks noChangeArrowheads="1"/>
          </p:cNvSpPr>
          <p:nvPr/>
        </p:nvSpPr>
        <p:spPr bwMode="auto">
          <a:xfrm>
            <a:off x="4156075" y="4433253"/>
            <a:ext cx="1079500" cy="10795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0828" name="Rectangle 124"/>
          <p:cNvSpPr>
            <a:spLocks noChangeArrowheads="1"/>
          </p:cNvSpPr>
          <p:nvPr/>
        </p:nvSpPr>
        <p:spPr bwMode="auto">
          <a:xfrm>
            <a:off x="4156075" y="4793615"/>
            <a:ext cx="1079500" cy="360363"/>
          </a:xfrm>
          <a:prstGeom prst="rect">
            <a:avLst/>
          </a:prstGeom>
          <a:solidFill>
            <a:srgbClr val="FF33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800" b="1"/>
              <a:t>Frame#</a:t>
            </a:r>
          </a:p>
        </p:txBody>
      </p:sp>
      <p:sp>
        <p:nvSpPr>
          <p:cNvPr id="200831" name="Text Box 127"/>
          <p:cNvSpPr txBox="1">
            <a:spLocks noChangeArrowheads="1"/>
          </p:cNvSpPr>
          <p:nvPr/>
        </p:nvSpPr>
        <p:spPr bwMode="auto">
          <a:xfrm>
            <a:off x="4068763" y="4087178"/>
            <a:ext cx="13684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b="1"/>
              <a:t>Page Table</a:t>
            </a:r>
          </a:p>
        </p:txBody>
      </p:sp>
      <p:sp>
        <p:nvSpPr>
          <p:cNvPr id="200832" name="AutoShape 128"/>
          <p:cNvSpPr>
            <a:spLocks noChangeArrowheads="1"/>
          </p:cNvSpPr>
          <p:nvPr/>
        </p:nvSpPr>
        <p:spPr bwMode="auto">
          <a:xfrm>
            <a:off x="7724775" y="2948940"/>
            <a:ext cx="792163" cy="1944688"/>
          </a:xfrm>
          <a:prstGeom prst="flowChartPunchedTape">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0833" name="Rectangle 129"/>
          <p:cNvSpPr>
            <a:spLocks noChangeArrowheads="1"/>
          </p:cNvSpPr>
          <p:nvPr/>
        </p:nvSpPr>
        <p:spPr bwMode="auto">
          <a:xfrm>
            <a:off x="7724775" y="3741103"/>
            <a:ext cx="792163" cy="246062"/>
          </a:xfrm>
          <a:prstGeom prst="rect">
            <a:avLst/>
          </a:prstGeom>
          <a:solidFill>
            <a:srgbClr val="FF33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0834" name="Text Box 130"/>
          <p:cNvSpPr txBox="1">
            <a:spLocks noChangeArrowheads="1"/>
          </p:cNvSpPr>
          <p:nvPr/>
        </p:nvSpPr>
        <p:spPr bwMode="auto">
          <a:xfrm>
            <a:off x="366713" y="2445703"/>
            <a:ext cx="18002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b="1"/>
              <a:t>Virtual Address</a:t>
            </a:r>
          </a:p>
        </p:txBody>
      </p:sp>
      <p:grpSp>
        <p:nvGrpSpPr>
          <p:cNvPr id="200842" name="Group 138"/>
          <p:cNvGrpSpPr>
            <a:grpSpLocks/>
          </p:cNvGrpSpPr>
          <p:nvPr/>
        </p:nvGrpSpPr>
        <p:grpSpPr bwMode="auto">
          <a:xfrm>
            <a:off x="2397125" y="3669665"/>
            <a:ext cx="1368425" cy="706438"/>
            <a:chOff x="2925" y="3167"/>
            <a:chExt cx="862" cy="445"/>
          </a:xfrm>
        </p:grpSpPr>
        <p:sp>
          <p:nvSpPr>
            <p:cNvPr id="200835" name="Text Box 131"/>
            <p:cNvSpPr txBox="1">
              <a:spLocks noChangeArrowheads="1"/>
            </p:cNvSpPr>
            <p:nvPr/>
          </p:nvSpPr>
          <p:spPr bwMode="auto">
            <a:xfrm>
              <a:off x="3061" y="3167"/>
              <a:ext cx="68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b="1"/>
                <a:t>Register</a:t>
              </a:r>
            </a:p>
          </p:txBody>
        </p:sp>
        <p:sp>
          <p:nvSpPr>
            <p:cNvPr id="200836" name="Rectangle 132"/>
            <p:cNvSpPr>
              <a:spLocks noChangeArrowheads="1"/>
            </p:cNvSpPr>
            <p:nvPr/>
          </p:nvSpPr>
          <p:spPr bwMode="auto">
            <a:xfrm>
              <a:off x="2925" y="3385"/>
              <a:ext cx="862" cy="22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800" b="1"/>
                <a:t>Page Table</a:t>
              </a:r>
            </a:p>
          </p:txBody>
        </p:sp>
      </p:grpSp>
      <p:sp>
        <p:nvSpPr>
          <p:cNvPr id="200837" name="Line 133"/>
          <p:cNvSpPr>
            <a:spLocks noChangeShapeType="1"/>
          </p:cNvSpPr>
          <p:nvPr/>
        </p:nvSpPr>
        <p:spPr bwMode="auto">
          <a:xfrm>
            <a:off x="1604963" y="3237865"/>
            <a:ext cx="0" cy="2159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0838" name="Line 134"/>
          <p:cNvSpPr>
            <a:spLocks noChangeShapeType="1"/>
          </p:cNvSpPr>
          <p:nvPr/>
        </p:nvSpPr>
        <p:spPr bwMode="auto">
          <a:xfrm>
            <a:off x="1604963" y="3453765"/>
            <a:ext cx="32385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0839" name="Line 135"/>
          <p:cNvSpPr>
            <a:spLocks noChangeShapeType="1"/>
          </p:cNvSpPr>
          <p:nvPr/>
        </p:nvSpPr>
        <p:spPr bwMode="auto">
          <a:xfrm flipV="1">
            <a:off x="4845050" y="2445703"/>
            <a:ext cx="0" cy="10080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0840" name="Line 136"/>
          <p:cNvSpPr>
            <a:spLocks noChangeShapeType="1"/>
          </p:cNvSpPr>
          <p:nvPr/>
        </p:nvSpPr>
        <p:spPr bwMode="auto">
          <a:xfrm>
            <a:off x="4845050" y="2445703"/>
            <a:ext cx="16557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0841" name="Line 137"/>
          <p:cNvSpPr>
            <a:spLocks noChangeShapeType="1"/>
          </p:cNvSpPr>
          <p:nvPr/>
        </p:nvSpPr>
        <p:spPr bwMode="auto">
          <a:xfrm>
            <a:off x="6500813" y="2445703"/>
            <a:ext cx="0" cy="36036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0844" name="Line 140"/>
          <p:cNvSpPr>
            <a:spLocks noChangeShapeType="1"/>
          </p:cNvSpPr>
          <p:nvPr/>
        </p:nvSpPr>
        <p:spPr bwMode="auto">
          <a:xfrm>
            <a:off x="914400" y="3237865"/>
            <a:ext cx="0" cy="172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0845" name="Line 141"/>
          <p:cNvSpPr>
            <a:spLocks noChangeShapeType="1"/>
          </p:cNvSpPr>
          <p:nvPr/>
        </p:nvSpPr>
        <p:spPr bwMode="auto">
          <a:xfrm>
            <a:off x="898525" y="4965065"/>
            <a:ext cx="201612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0846" name="Line 142"/>
          <p:cNvSpPr>
            <a:spLocks noChangeShapeType="1"/>
          </p:cNvSpPr>
          <p:nvPr/>
        </p:nvSpPr>
        <p:spPr bwMode="auto">
          <a:xfrm>
            <a:off x="3074988" y="4390390"/>
            <a:ext cx="0" cy="395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0848" name="Line 144"/>
          <p:cNvSpPr>
            <a:spLocks noChangeShapeType="1"/>
          </p:cNvSpPr>
          <p:nvPr/>
        </p:nvSpPr>
        <p:spPr bwMode="auto">
          <a:xfrm>
            <a:off x="3276600" y="4965065"/>
            <a:ext cx="86518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0849" name="Line 145"/>
          <p:cNvSpPr>
            <a:spLocks noChangeShapeType="1"/>
          </p:cNvSpPr>
          <p:nvPr/>
        </p:nvSpPr>
        <p:spPr bwMode="auto">
          <a:xfrm>
            <a:off x="5248275" y="4965065"/>
            <a:ext cx="431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0850" name="Line 146"/>
          <p:cNvSpPr>
            <a:spLocks noChangeShapeType="1"/>
          </p:cNvSpPr>
          <p:nvPr/>
        </p:nvSpPr>
        <p:spPr bwMode="auto">
          <a:xfrm flipV="1">
            <a:off x="5694363" y="3237865"/>
            <a:ext cx="0" cy="172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00853" name="Group 149"/>
          <p:cNvGrpSpPr>
            <a:grpSpLocks/>
          </p:cNvGrpSpPr>
          <p:nvPr/>
        </p:nvGrpSpPr>
        <p:grpSpPr bwMode="auto">
          <a:xfrm>
            <a:off x="3462338" y="4476115"/>
            <a:ext cx="719137" cy="503238"/>
            <a:chOff x="2145" y="3158"/>
            <a:chExt cx="453" cy="317"/>
          </a:xfrm>
        </p:grpSpPr>
        <p:sp>
          <p:nvSpPr>
            <p:cNvPr id="200851" name="Line 147"/>
            <p:cNvSpPr>
              <a:spLocks noChangeShapeType="1"/>
            </p:cNvSpPr>
            <p:nvPr/>
          </p:nvSpPr>
          <p:spPr bwMode="auto">
            <a:xfrm>
              <a:off x="2426" y="3158"/>
              <a:ext cx="0" cy="317"/>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0852" name="Text Box 148"/>
            <p:cNvSpPr txBox="1">
              <a:spLocks noChangeArrowheads="1"/>
            </p:cNvSpPr>
            <p:nvPr/>
          </p:nvSpPr>
          <p:spPr bwMode="auto">
            <a:xfrm>
              <a:off x="2145" y="3203"/>
              <a:ext cx="45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b="1"/>
                <a:t>Page#</a:t>
              </a:r>
            </a:p>
          </p:txBody>
        </p:sp>
      </p:grpSp>
      <p:sp>
        <p:nvSpPr>
          <p:cNvPr id="200854" name="Line 150"/>
          <p:cNvSpPr>
            <a:spLocks noChangeShapeType="1"/>
          </p:cNvSpPr>
          <p:nvPr/>
        </p:nvSpPr>
        <p:spPr bwMode="auto">
          <a:xfrm>
            <a:off x="6861175" y="3021965"/>
            <a:ext cx="3603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0855" name="Line 151"/>
          <p:cNvSpPr>
            <a:spLocks noChangeShapeType="1"/>
          </p:cNvSpPr>
          <p:nvPr/>
        </p:nvSpPr>
        <p:spPr bwMode="auto">
          <a:xfrm>
            <a:off x="7221538" y="3021965"/>
            <a:ext cx="0" cy="7921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0856" name="Line 152"/>
          <p:cNvSpPr>
            <a:spLocks noChangeShapeType="1"/>
          </p:cNvSpPr>
          <p:nvPr/>
        </p:nvSpPr>
        <p:spPr bwMode="auto">
          <a:xfrm>
            <a:off x="7221538" y="3814128"/>
            <a:ext cx="50323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0857" name="Line 153"/>
          <p:cNvSpPr>
            <a:spLocks noChangeShapeType="1"/>
          </p:cNvSpPr>
          <p:nvPr/>
        </p:nvSpPr>
        <p:spPr bwMode="auto">
          <a:xfrm>
            <a:off x="2181225" y="2401253"/>
            <a:ext cx="0" cy="3384550"/>
          </a:xfrm>
          <a:prstGeom prst="line">
            <a:avLst/>
          </a:prstGeom>
          <a:noFill/>
          <a:ln w="571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0858" name="Line 154"/>
          <p:cNvSpPr>
            <a:spLocks noChangeShapeType="1"/>
          </p:cNvSpPr>
          <p:nvPr/>
        </p:nvSpPr>
        <p:spPr bwMode="auto">
          <a:xfrm>
            <a:off x="7005638" y="2386965"/>
            <a:ext cx="0" cy="3384550"/>
          </a:xfrm>
          <a:prstGeom prst="line">
            <a:avLst/>
          </a:prstGeom>
          <a:noFill/>
          <a:ln w="571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0859" name="Text Box 155"/>
          <p:cNvSpPr txBox="1">
            <a:spLocks noChangeArrowheads="1"/>
          </p:cNvSpPr>
          <p:nvPr/>
        </p:nvSpPr>
        <p:spPr bwMode="auto">
          <a:xfrm>
            <a:off x="711200" y="5398453"/>
            <a:ext cx="12239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1"/>
              <a:t>Program</a:t>
            </a:r>
          </a:p>
        </p:txBody>
      </p:sp>
      <p:sp>
        <p:nvSpPr>
          <p:cNvPr id="200860" name="Text Box 156"/>
          <p:cNvSpPr txBox="1">
            <a:spLocks noChangeArrowheads="1"/>
          </p:cNvSpPr>
          <p:nvPr/>
        </p:nvSpPr>
        <p:spPr bwMode="auto">
          <a:xfrm>
            <a:off x="3694113" y="5685790"/>
            <a:ext cx="1511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b="1">
                <a:solidFill>
                  <a:srgbClr val="0033CC"/>
                </a:solidFill>
              </a:rPr>
              <a:t>页地址变换</a:t>
            </a:r>
          </a:p>
        </p:txBody>
      </p:sp>
      <p:sp>
        <p:nvSpPr>
          <p:cNvPr id="200861" name="Text Box 157"/>
          <p:cNvSpPr txBox="1">
            <a:spLocks noChangeArrowheads="1"/>
          </p:cNvSpPr>
          <p:nvPr/>
        </p:nvSpPr>
        <p:spPr bwMode="auto">
          <a:xfrm>
            <a:off x="7150100" y="5182553"/>
            <a:ext cx="18002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1"/>
              <a:t>Main Memory</a:t>
            </a:r>
          </a:p>
        </p:txBody>
      </p:sp>
      <p:sp>
        <p:nvSpPr>
          <p:cNvPr id="200864" name="Text Box 160"/>
          <p:cNvSpPr txBox="1">
            <a:spLocks noChangeArrowheads="1"/>
          </p:cNvSpPr>
          <p:nvPr/>
        </p:nvSpPr>
        <p:spPr bwMode="auto">
          <a:xfrm>
            <a:off x="5248275" y="2834640"/>
            <a:ext cx="9366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b="1"/>
              <a:t>Frame#</a:t>
            </a:r>
          </a:p>
        </p:txBody>
      </p:sp>
      <p:sp>
        <p:nvSpPr>
          <p:cNvPr id="200865" name="Text Box 161"/>
          <p:cNvSpPr txBox="1">
            <a:spLocks noChangeArrowheads="1"/>
          </p:cNvSpPr>
          <p:nvPr/>
        </p:nvSpPr>
        <p:spPr bwMode="auto">
          <a:xfrm>
            <a:off x="6127750" y="2848928"/>
            <a:ext cx="7921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b="1"/>
              <a:t>Offset</a:t>
            </a:r>
          </a:p>
        </p:txBody>
      </p:sp>
      <p:sp>
        <p:nvSpPr>
          <p:cNvPr id="200866" name="Oval 162"/>
          <p:cNvSpPr>
            <a:spLocks noChangeArrowheads="1"/>
          </p:cNvSpPr>
          <p:nvPr/>
        </p:nvSpPr>
        <p:spPr bwMode="auto">
          <a:xfrm>
            <a:off x="885825" y="3023553"/>
            <a:ext cx="71438" cy="73025"/>
          </a:xfrm>
          <a:prstGeom prst="ellipse">
            <a:avLst/>
          </a:prstGeom>
          <a:solidFill>
            <a:srgbClr val="FF3300"/>
          </a:solidFill>
          <a:ln w="9525">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0867" name="Oval 163"/>
          <p:cNvSpPr>
            <a:spLocks noChangeArrowheads="1"/>
          </p:cNvSpPr>
          <p:nvPr/>
        </p:nvSpPr>
        <p:spPr bwMode="auto">
          <a:xfrm>
            <a:off x="3027363" y="4177665"/>
            <a:ext cx="73025" cy="73025"/>
          </a:xfrm>
          <a:prstGeom prst="ellipse">
            <a:avLst/>
          </a:prstGeom>
          <a:solidFill>
            <a:srgbClr val="FF3300"/>
          </a:solidFill>
          <a:ln w="9525">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0868" name="Oval 164"/>
          <p:cNvSpPr>
            <a:spLocks noChangeArrowheads="1"/>
          </p:cNvSpPr>
          <p:nvPr/>
        </p:nvSpPr>
        <p:spPr bwMode="auto">
          <a:xfrm>
            <a:off x="3043238" y="4922203"/>
            <a:ext cx="73025" cy="73025"/>
          </a:xfrm>
          <a:prstGeom prst="ellipse">
            <a:avLst/>
          </a:prstGeom>
          <a:solidFill>
            <a:srgbClr val="FF3300"/>
          </a:solidFill>
          <a:ln w="9525">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0869" name="Oval 165"/>
          <p:cNvSpPr>
            <a:spLocks noChangeArrowheads="1"/>
          </p:cNvSpPr>
          <p:nvPr/>
        </p:nvSpPr>
        <p:spPr bwMode="auto">
          <a:xfrm>
            <a:off x="5219700" y="4922203"/>
            <a:ext cx="73025" cy="73025"/>
          </a:xfrm>
          <a:prstGeom prst="ellipse">
            <a:avLst/>
          </a:prstGeom>
          <a:solidFill>
            <a:srgbClr val="FF3300"/>
          </a:solidFill>
          <a:ln w="9525">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0871" name="Oval 167"/>
          <p:cNvSpPr>
            <a:spLocks noChangeArrowheads="1"/>
          </p:cNvSpPr>
          <p:nvPr/>
        </p:nvSpPr>
        <p:spPr bwMode="auto">
          <a:xfrm>
            <a:off x="1547813" y="2979103"/>
            <a:ext cx="71437" cy="71437"/>
          </a:xfrm>
          <a:prstGeom prst="ellipse">
            <a:avLst/>
          </a:prstGeom>
          <a:solidFill>
            <a:srgbClr val="FF3300"/>
          </a:solidFill>
          <a:ln w="9525">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0872" name="AutoShape 168"/>
          <p:cNvSpPr>
            <a:spLocks noChangeArrowheads="1"/>
          </p:cNvSpPr>
          <p:nvPr/>
        </p:nvSpPr>
        <p:spPr bwMode="auto">
          <a:xfrm>
            <a:off x="2900363" y="4795203"/>
            <a:ext cx="360362" cy="360362"/>
          </a:xfrm>
          <a:prstGeom prst="flowChartOr">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360977390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0866"/>
                                        </p:tgtEl>
                                        <p:attrNameLst>
                                          <p:attrName>style.visibility</p:attrName>
                                        </p:attrNameLst>
                                      </p:cBhvr>
                                      <p:to>
                                        <p:strVal val="visible"/>
                                      </p:to>
                                    </p:set>
                                  </p:childTnLst>
                                </p:cTn>
                              </p:par>
                            </p:childTnLst>
                          </p:cTn>
                        </p:par>
                        <p:par>
                          <p:cTn id="7" fill="hold" nodeType="afterGroup">
                            <p:stCondLst>
                              <p:cond delay="0"/>
                            </p:stCondLst>
                            <p:childTnLst>
                              <p:par>
                                <p:cTn id="8" presetID="0" presetClass="path" presetSubtype="0" accel="50000" decel="50000" fill="hold" grpId="1" nodeType="afterEffect">
                                  <p:stCondLst>
                                    <p:cond delay="0"/>
                                  </p:stCondLst>
                                  <p:childTnLst>
                                    <p:animMotion origin="layout" path="M 6.94444E-6 7.28324E-6 L 6.94444E-6 0.27261 " pathEditMode="relative" ptsTypes="AA">
                                      <p:cBhvr>
                                        <p:cTn id="9" dur="1000" fill="hold"/>
                                        <p:tgtEl>
                                          <p:spTgt spid="200866"/>
                                        </p:tgtEl>
                                        <p:attrNameLst>
                                          <p:attrName>ppt_x</p:attrName>
                                          <p:attrName>ppt_y</p:attrName>
                                        </p:attrNameLst>
                                      </p:cBhvr>
                                    </p:animMotion>
                                  </p:childTnLst>
                                </p:cTn>
                              </p:par>
                            </p:childTnLst>
                          </p:cTn>
                        </p:par>
                        <p:par>
                          <p:cTn id="10" fill="hold" nodeType="afterGroup">
                            <p:stCondLst>
                              <p:cond delay="2000"/>
                            </p:stCondLst>
                            <p:childTnLst>
                              <p:par>
                                <p:cTn id="11" presetID="0" presetClass="path" presetSubtype="0" accel="50000" decel="50000" fill="hold" grpId="2" nodeType="afterEffect">
                                  <p:stCondLst>
                                    <p:cond delay="0"/>
                                  </p:stCondLst>
                                  <p:childTnLst>
                                    <p:animMotion origin="layout" path="M 6.94444E-6 0.27261 L 0.22049 0.28324 " pathEditMode="relative" ptsTypes="AA">
                                      <p:cBhvr>
                                        <p:cTn id="12" dur="1000" fill="hold"/>
                                        <p:tgtEl>
                                          <p:spTgt spid="200866"/>
                                        </p:tgtEl>
                                        <p:attrNameLst>
                                          <p:attrName>ppt_x</p:attrName>
                                          <p:attrName>ppt_y</p:attrName>
                                        </p:attrNameLst>
                                      </p:cBhvr>
                                    </p:animMotion>
                                  </p:childTnLst>
                                </p:cTn>
                              </p:par>
                            </p:childTnLst>
                          </p:cTn>
                        </p:par>
                        <p:par>
                          <p:cTn id="13" fill="hold" nodeType="afterGroup">
                            <p:stCondLst>
                              <p:cond delay="3000"/>
                            </p:stCondLst>
                            <p:childTnLst>
                              <p:par>
                                <p:cTn id="14" presetID="1" presetClass="entr" presetSubtype="0" fill="hold" grpId="0" nodeType="afterEffect">
                                  <p:stCondLst>
                                    <p:cond delay="0"/>
                                  </p:stCondLst>
                                  <p:childTnLst>
                                    <p:set>
                                      <p:cBhvr>
                                        <p:cTn id="15" dur="1" fill="hold">
                                          <p:stCondLst>
                                            <p:cond delay="0"/>
                                          </p:stCondLst>
                                        </p:cTn>
                                        <p:tgtEl>
                                          <p:spTgt spid="200867"/>
                                        </p:tgtEl>
                                        <p:attrNameLst>
                                          <p:attrName>style.visibility</p:attrName>
                                        </p:attrNameLst>
                                      </p:cBhvr>
                                      <p:to>
                                        <p:strVal val="visible"/>
                                      </p:to>
                                    </p:set>
                                  </p:childTnLst>
                                </p:cTn>
                              </p:par>
                            </p:childTnLst>
                          </p:cTn>
                        </p:par>
                        <p:par>
                          <p:cTn id="16" fill="hold" nodeType="afterGroup">
                            <p:stCondLst>
                              <p:cond delay="3000"/>
                            </p:stCondLst>
                            <p:childTnLst>
                              <p:par>
                                <p:cTn id="17" presetID="0" presetClass="path" presetSubtype="0" accel="50000" decel="50000" fill="hold" grpId="1" nodeType="afterEffect">
                                  <p:stCondLst>
                                    <p:cond delay="0"/>
                                  </p:stCondLst>
                                  <p:childTnLst>
                                    <p:animMotion origin="layout" path="M 8.33333E-7 -1.50289E-6 L 8.33333E-7 0.10474 " pathEditMode="relative" ptsTypes="AA">
                                      <p:cBhvr>
                                        <p:cTn id="18" dur="1000" fill="hold"/>
                                        <p:tgtEl>
                                          <p:spTgt spid="200867"/>
                                        </p:tgtEl>
                                        <p:attrNameLst>
                                          <p:attrName>ppt_x</p:attrName>
                                          <p:attrName>ppt_y</p:attrName>
                                        </p:attrNameLst>
                                      </p:cBhvr>
                                    </p:animMotion>
                                  </p:childTnLst>
                                </p:cTn>
                              </p:par>
                            </p:childTnLst>
                          </p:cTn>
                        </p:par>
                        <p:par>
                          <p:cTn id="19" fill="hold" nodeType="afterGroup">
                            <p:stCondLst>
                              <p:cond delay="4000"/>
                            </p:stCondLst>
                            <p:childTnLst>
                              <p:par>
                                <p:cTn id="20" presetID="1" presetClass="entr" presetSubtype="0" fill="hold" grpId="0" nodeType="afterEffect">
                                  <p:stCondLst>
                                    <p:cond delay="0"/>
                                  </p:stCondLst>
                                  <p:childTnLst>
                                    <p:set>
                                      <p:cBhvr>
                                        <p:cTn id="21" dur="1" fill="hold">
                                          <p:stCondLst>
                                            <p:cond delay="0"/>
                                          </p:stCondLst>
                                        </p:cTn>
                                        <p:tgtEl>
                                          <p:spTgt spid="200868"/>
                                        </p:tgtEl>
                                        <p:attrNameLst>
                                          <p:attrName>style.visibility</p:attrName>
                                        </p:attrNameLst>
                                      </p:cBhvr>
                                      <p:to>
                                        <p:strVal val="visible"/>
                                      </p:to>
                                    </p:set>
                                  </p:childTnLst>
                                </p:cTn>
                              </p:par>
                            </p:childTnLst>
                          </p:cTn>
                        </p:par>
                        <p:par>
                          <p:cTn id="22" fill="hold" nodeType="afterGroup">
                            <p:stCondLst>
                              <p:cond delay="4000"/>
                            </p:stCondLst>
                            <p:childTnLst>
                              <p:par>
                                <p:cTn id="23" presetID="6" presetClass="entr" presetSubtype="32" fill="hold" grpId="0" nodeType="afterEffect">
                                  <p:stCondLst>
                                    <p:cond delay="0"/>
                                  </p:stCondLst>
                                  <p:childTnLst>
                                    <p:set>
                                      <p:cBhvr>
                                        <p:cTn id="24" dur="1" fill="hold">
                                          <p:stCondLst>
                                            <p:cond delay="0"/>
                                          </p:stCondLst>
                                        </p:cTn>
                                        <p:tgtEl>
                                          <p:spTgt spid="200872"/>
                                        </p:tgtEl>
                                        <p:attrNameLst>
                                          <p:attrName>style.visibility</p:attrName>
                                        </p:attrNameLst>
                                      </p:cBhvr>
                                      <p:to>
                                        <p:strVal val="visible"/>
                                      </p:to>
                                    </p:set>
                                    <p:animEffect transition="in" filter="circle(out)">
                                      <p:cBhvr>
                                        <p:cTn id="25" dur="1000"/>
                                        <p:tgtEl>
                                          <p:spTgt spid="200872"/>
                                        </p:tgtEl>
                                      </p:cBhvr>
                                    </p:animEffect>
                                  </p:childTnLst>
                                </p:cTn>
                              </p:par>
                            </p:childTnLst>
                          </p:cTn>
                        </p:par>
                        <p:par>
                          <p:cTn id="26" fill="hold" nodeType="afterGroup">
                            <p:stCondLst>
                              <p:cond delay="5000"/>
                            </p:stCondLst>
                            <p:childTnLst>
                              <p:par>
                                <p:cTn id="27" presetID="0" presetClass="path" presetSubtype="0" accel="50000" decel="50000" fill="hold" grpId="1" nodeType="afterEffect">
                                  <p:stCondLst>
                                    <p:cond delay="0"/>
                                  </p:stCondLst>
                                  <p:childTnLst>
                                    <p:animMotion origin="layout" path="M -3.05556E-6 -7.91908E-6 L 0.11823 -7.91908E-6 " pathEditMode="relative" ptsTypes="AA">
                                      <p:cBhvr>
                                        <p:cTn id="28" dur="1000" fill="hold"/>
                                        <p:tgtEl>
                                          <p:spTgt spid="200868"/>
                                        </p:tgtEl>
                                        <p:attrNameLst>
                                          <p:attrName>ppt_x</p:attrName>
                                          <p:attrName>ppt_y</p:attrName>
                                        </p:attrNameLst>
                                      </p:cBhvr>
                                    </p:animMotion>
                                  </p:childTnLst>
                                </p:cTn>
                              </p:par>
                            </p:childTnLst>
                          </p:cTn>
                        </p:par>
                        <p:par>
                          <p:cTn id="29" fill="hold" nodeType="afterGroup">
                            <p:stCondLst>
                              <p:cond delay="6000"/>
                            </p:stCondLst>
                            <p:childTnLst>
                              <p:par>
                                <p:cTn id="30" presetID="4" presetClass="entr" presetSubtype="32" fill="hold" grpId="0" nodeType="afterEffect">
                                  <p:stCondLst>
                                    <p:cond delay="0"/>
                                  </p:stCondLst>
                                  <p:childTnLst>
                                    <p:set>
                                      <p:cBhvr>
                                        <p:cTn id="31" dur="1" fill="hold">
                                          <p:stCondLst>
                                            <p:cond delay="0"/>
                                          </p:stCondLst>
                                        </p:cTn>
                                        <p:tgtEl>
                                          <p:spTgt spid="200828"/>
                                        </p:tgtEl>
                                        <p:attrNameLst>
                                          <p:attrName>style.visibility</p:attrName>
                                        </p:attrNameLst>
                                      </p:cBhvr>
                                      <p:to>
                                        <p:strVal val="visible"/>
                                      </p:to>
                                    </p:set>
                                    <p:animEffect transition="in" filter="box(out)">
                                      <p:cBhvr>
                                        <p:cTn id="32" dur="500"/>
                                        <p:tgtEl>
                                          <p:spTgt spid="20082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nodeType="clickEffect">
                                  <p:stCondLst>
                                    <p:cond delay="0"/>
                                  </p:stCondLst>
                                  <p:childTnLst>
                                    <p:set>
                                      <p:cBhvr>
                                        <p:cTn id="36" dur="1" fill="hold">
                                          <p:stCondLst>
                                            <p:cond delay="0"/>
                                          </p:stCondLst>
                                        </p:cTn>
                                        <p:tgtEl>
                                          <p:spTgt spid="200853"/>
                                        </p:tgtEl>
                                        <p:attrNameLst>
                                          <p:attrName>style.visibility</p:attrName>
                                        </p:attrNameLst>
                                      </p:cBhvr>
                                      <p:to>
                                        <p:strVal val="visible"/>
                                      </p:to>
                                    </p:set>
                                    <p:animEffect transition="in" filter="wipe(up)">
                                      <p:cBhvr>
                                        <p:cTn id="37" dur="500"/>
                                        <p:tgtEl>
                                          <p:spTgt spid="20085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200869"/>
                                        </p:tgtEl>
                                        <p:attrNameLst>
                                          <p:attrName>style.visibility</p:attrName>
                                        </p:attrNameLst>
                                      </p:cBhvr>
                                      <p:to>
                                        <p:strVal val="visible"/>
                                      </p:to>
                                    </p:set>
                                  </p:childTnLst>
                                </p:cTn>
                              </p:par>
                            </p:childTnLst>
                          </p:cTn>
                        </p:par>
                        <p:par>
                          <p:cTn id="42" fill="hold" nodeType="afterGroup">
                            <p:stCondLst>
                              <p:cond delay="0"/>
                            </p:stCondLst>
                            <p:childTnLst>
                              <p:par>
                                <p:cTn id="43" presetID="0" presetClass="path" presetSubtype="0" accel="50000" decel="50000" fill="hold" grpId="1" nodeType="afterEffect">
                                  <p:stCondLst>
                                    <p:cond delay="0"/>
                                  </p:stCondLst>
                                  <p:childTnLst>
                                    <p:animMotion origin="layout" path="M -6.94444E-6 -2.08092E-6 L 0.04722 -2.08092E-6 " pathEditMode="relative" ptsTypes="AA">
                                      <p:cBhvr>
                                        <p:cTn id="44" dur="1000" fill="hold"/>
                                        <p:tgtEl>
                                          <p:spTgt spid="200869"/>
                                        </p:tgtEl>
                                        <p:attrNameLst>
                                          <p:attrName>ppt_x</p:attrName>
                                          <p:attrName>ppt_y</p:attrName>
                                        </p:attrNameLst>
                                      </p:cBhvr>
                                    </p:animMotion>
                                  </p:childTnLst>
                                </p:cTn>
                              </p:par>
                            </p:childTnLst>
                          </p:cTn>
                        </p:par>
                        <p:par>
                          <p:cTn id="45" fill="hold" nodeType="afterGroup">
                            <p:stCondLst>
                              <p:cond delay="2000"/>
                            </p:stCondLst>
                            <p:childTnLst>
                              <p:par>
                                <p:cTn id="46" presetID="0" presetClass="path" presetSubtype="0" accel="50000" decel="50000" fill="hold" grpId="2" nodeType="afterEffect">
                                  <p:stCondLst>
                                    <p:cond delay="0"/>
                                  </p:stCondLst>
                                  <p:childTnLst>
                                    <p:animMotion origin="layout" path="M 0.04722 -7.91908E-6 L 0.04722 -0.29365 " pathEditMode="relative" ptsTypes="AA">
                                      <p:cBhvr>
                                        <p:cTn id="47" dur="1000" fill="hold"/>
                                        <p:tgtEl>
                                          <p:spTgt spid="200869"/>
                                        </p:tgtEl>
                                        <p:attrNameLst>
                                          <p:attrName>ppt_x</p:attrName>
                                          <p:attrName>ppt_y</p:attrName>
                                        </p:attrNameLst>
                                      </p:cBhvr>
                                    </p:animMotion>
                                  </p:childTnLst>
                                </p:cTn>
                              </p:par>
                            </p:childTnLst>
                          </p:cTn>
                        </p:par>
                        <p:par>
                          <p:cTn id="48" fill="hold" nodeType="afterGroup">
                            <p:stCondLst>
                              <p:cond delay="3000"/>
                            </p:stCondLst>
                            <p:childTnLst>
                              <p:par>
                                <p:cTn id="49" presetID="4" presetClass="entr" presetSubtype="32" fill="hold" grpId="0" nodeType="afterEffect">
                                  <p:stCondLst>
                                    <p:cond delay="0"/>
                                  </p:stCondLst>
                                  <p:childTnLst>
                                    <p:set>
                                      <p:cBhvr>
                                        <p:cTn id="50" dur="1" fill="hold">
                                          <p:stCondLst>
                                            <p:cond delay="0"/>
                                          </p:stCondLst>
                                        </p:cTn>
                                        <p:tgtEl>
                                          <p:spTgt spid="200864"/>
                                        </p:tgtEl>
                                        <p:attrNameLst>
                                          <p:attrName>style.visibility</p:attrName>
                                        </p:attrNameLst>
                                      </p:cBhvr>
                                      <p:to>
                                        <p:strVal val="visible"/>
                                      </p:to>
                                    </p:set>
                                    <p:animEffect transition="in" filter="box(out)">
                                      <p:cBhvr>
                                        <p:cTn id="51" dur="500"/>
                                        <p:tgtEl>
                                          <p:spTgt spid="200864"/>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200871"/>
                                        </p:tgtEl>
                                        <p:attrNameLst>
                                          <p:attrName>style.visibility</p:attrName>
                                        </p:attrNameLst>
                                      </p:cBhvr>
                                      <p:to>
                                        <p:strVal val="visible"/>
                                      </p:to>
                                    </p:set>
                                  </p:childTnLst>
                                </p:cTn>
                              </p:par>
                            </p:childTnLst>
                          </p:cTn>
                        </p:par>
                        <p:par>
                          <p:cTn id="56" fill="hold" nodeType="afterGroup">
                            <p:stCondLst>
                              <p:cond delay="0"/>
                            </p:stCondLst>
                            <p:childTnLst>
                              <p:par>
                                <p:cTn id="57" presetID="0" presetClass="path" presetSubtype="0" accel="50000" decel="50000" fill="hold" grpId="1" nodeType="afterEffect">
                                  <p:stCondLst>
                                    <p:cond delay="0"/>
                                  </p:stCondLst>
                                  <p:childTnLst>
                                    <p:animMotion origin="layout" path="M -3.05556E-6 2.08092E-6 L -3.05556E-6 0.06289 " pathEditMode="relative" ptsTypes="AA">
                                      <p:cBhvr>
                                        <p:cTn id="58" dur="1000" fill="hold"/>
                                        <p:tgtEl>
                                          <p:spTgt spid="200871"/>
                                        </p:tgtEl>
                                        <p:attrNameLst>
                                          <p:attrName>ppt_x</p:attrName>
                                          <p:attrName>ppt_y</p:attrName>
                                        </p:attrNameLst>
                                      </p:cBhvr>
                                    </p:animMotion>
                                  </p:childTnLst>
                                </p:cTn>
                              </p:par>
                            </p:childTnLst>
                          </p:cTn>
                        </p:par>
                        <p:par>
                          <p:cTn id="59" fill="hold" nodeType="afterGroup">
                            <p:stCondLst>
                              <p:cond delay="1000"/>
                            </p:stCondLst>
                            <p:childTnLst>
                              <p:par>
                                <p:cTn id="60" presetID="0" presetClass="path" presetSubtype="0" accel="50000" decel="50000" fill="hold" grpId="2" nodeType="afterEffect">
                                  <p:stCondLst>
                                    <p:cond delay="0"/>
                                  </p:stCondLst>
                                  <p:childTnLst>
                                    <p:animMotion origin="layout" path="M -5.55556E-7 0.06289 L 0.36215 0.06289 " pathEditMode="relative" ptsTypes="AA">
                                      <p:cBhvr>
                                        <p:cTn id="61" dur="1000" fill="hold"/>
                                        <p:tgtEl>
                                          <p:spTgt spid="200871"/>
                                        </p:tgtEl>
                                        <p:attrNameLst>
                                          <p:attrName>ppt_x</p:attrName>
                                          <p:attrName>ppt_y</p:attrName>
                                        </p:attrNameLst>
                                      </p:cBhvr>
                                    </p:animMotion>
                                  </p:childTnLst>
                                </p:cTn>
                              </p:par>
                            </p:childTnLst>
                          </p:cTn>
                        </p:par>
                        <p:par>
                          <p:cTn id="62" fill="hold" nodeType="afterGroup">
                            <p:stCondLst>
                              <p:cond delay="2000"/>
                            </p:stCondLst>
                            <p:childTnLst>
                              <p:par>
                                <p:cTn id="63" presetID="0" presetClass="path" presetSubtype="0" accel="50000" decel="50000" fill="hold" grpId="3" nodeType="afterEffect">
                                  <p:stCondLst>
                                    <p:cond delay="0"/>
                                  </p:stCondLst>
                                  <p:childTnLst>
                                    <p:animMotion origin="layout" path="M 0.36215 0.06289 L 0.36215 -0.08393 " pathEditMode="relative" ptsTypes="AA">
                                      <p:cBhvr>
                                        <p:cTn id="64" dur="1000" fill="hold"/>
                                        <p:tgtEl>
                                          <p:spTgt spid="200871"/>
                                        </p:tgtEl>
                                        <p:attrNameLst>
                                          <p:attrName>ppt_x</p:attrName>
                                          <p:attrName>ppt_y</p:attrName>
                                        </p:attrNameLst>
                                      </p:cBhvr>
                                    </p:animMotion>
                                  </p:childTnLst>
                                </p:cTn>
                              </p:par>
                            </p:childTnLst>
                          </p:cTn>
                        </p:par>
                        <p:par>
                          <p:cTn id="65" fill="hold" nodeType="afterGroup">
                            <p:stCondLst>
                              <p:cond delay="3000"/>
                            </p:stCondLst>
                            <p:childTnLst>
                              <p:par>
                                <p:cTn id="66" presetID="0" presetClass="path" presetSubtype="0" accel="50000" decel="50000" fill="hold" grpId="4" nodeType="afterEffect">
                                  <p:stCondLst>
                                    <p:cond delay="0"/>
                                  </p:stCondLst>
                                  <p:childTnLst>
                                    <p:animMotion origin="layout" path="M 0.36215 -0.08393 L 0.5434 -0.08393 " pathEditMode="relative" ptsTypes="AA">
                                      <p:cBhvr>
                                        <p:cTn id="67" dur="1000" fill="hold"/>
                                        <p:tgtEl>
                                          <p:spTgt spid="200871"/>
                                        </p:tgtEl>
                                        <p:attrNameLst>
                                          <p:attrName>ppt_x</p:attrName>
                                          <p:attrName>ppt_y</p:attrName>
                                        </p:attrNameLst>
                                      </p:cBhvr>
                                    </p:animMotion>
                                  </p:childTnLst>
                                </p:cTn>
                              </p:par>
                            </p:childTnLst>
                          </p:cTn>
                        </p:par>
                        <p:par>
                          <p:cTn id="68" fill="hold" nodeType="afterGroup">
                            <p:stCondLst>
                              <p:cond delay="4000"/>
                            </p:stCondLst>
                            <p:childTnLst>
                              <p:par>
                                <p:cTn id="69" presetID="0" presetClass="path" presetSubtype="0" accel="50000" decel="50000" fill="hold" grpId="5" nodeType="afterEffect">
                                  <p:stCondLst>
                                    <p:cond delay="0"/>
                                  </p:stCondLst>
                                  <p:childTnLst>
                                    <p:animMotion origin="layout" path="M 0.5434 -0.08393 L 0.5434 -3.2948E-6 " pathEditMode="relative" ptsTypes="AA">
                                      <p:cBhvr>
                                        <p:cTn id="70" dur="1000" fill="hold"/>
                                        <p:tgtEl>
                                          <p:spTgt spid="200871"/>
                                        </p:tgtEl>
                                        <p:attrNameLst>
                                          <p:attrName>ppt_x</p:attrName>
                                          <p:attrName>ppt_y</p:attrName>
                                        </p:attrNameLst>
                                      </p:cBhvr>
                                    </p:animMotion>
                                  </p:childTnLst>
                                </p:cTn>
                              </p:par>
                            </p:childTnLst>
                          </p:cTn>
                        </p:par>
                        <p:par>
                          <p:cTn id="71" fill="hold" nodeType="afterGroup">
                            <p:stCondLst>
                              <p:cond delay="5000"/>
                            </p:stCondLst>
                            <p:childTnLst>
                              <p:par>
                                <p:cTn id="72" presetID="4" presetClass="entr" presetSubtype="32" fill="hold" grpId="0" nodeType="afterEffect">
                                  <p:stCondLst>
                                    <p:cond delay="0"/>
                                  </p:stCondLst>
                                  <p:childTnLst>
                                    <p:set>
                                      <p:cBhvr>
                                        <p:cTn id="73" dur="1" fill="hold">
                                          <p:stCondLst>
                                            <p:cond delay="0"/>
                                          </p:stCondLst>
                                        </p:cTn>
                                        <p:tgtEl>
                                          <p:spTgt spid="200865"/>
                                        </p:tgtEl>
                                        <p:attrNameLst>
                                          <p:attrName>style.visibility</p:attrName>
                                        </p:attrNameLst>
                                      </p:cBhvr>
                                      <p:to>
                                        <p:strVal val="visible"/>
                                      </p:to>
                                    </p:set>
                                    <p:animEffect transition="in" filter="box(out)">
                                      <p:cBhvr>
                                        <p:cTn id="74" dur="500"/>
                                        <p:tgtEl>
                                          <p:spTgt spid="200865"/>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200854"/>
                                        </p:tgtEl>
                                        <p:attrNameLst>
                                          <p:attrName>style.visibility</p:attrName>
                                        </p:attrNameLst>
                                      </p:cBhvr>
                                      <p:to>
                                        <p:strVal val="visible"/>
                                      </p:to>
                                    </p:set>
                                    <p:animEffect transition="in" filter="wipe(left)">
                                      <p:cBhvr>
                                        <p:cTn id="79" dur="500"/>
                                        <p:tgtEl>
                                          <p:spTgt spid="200854"/>
                                        </p:tgtEl>
                                      </p:cBhvr>
                                    </p:animEffect>
                                  </p:childTnLst>
                                </p:cTn>
                              </p:par>
                            </p:childTnLst>
                          </p:cTn>
                        </p:par>
                        <p:par>
                          <p:cTn id="80" fill="hold" nodeType="afterGroup">
                            <p:stCondLst>
                              <p:cond delay="500"/>
                            </p:stCondLst>
                            <p:childTnLst>
                              <p:par>
                                <p:cTn id="81" presetID="22" presetClass="entr" presetSubtype="1" fill="hold" grpId="0" nodeType="afterEffect">
                                  <p:stCondLst>
                                    <p:cond delay="0"/>
                                  </p:stCondLst>
                                  <p:childTnLst>
                                    <p:set>
                                      <p:cBhvr>
                                        <p:cTn id="82" dur="1" fill="hold">
                                          <p:stCondLst>
                                            <p:cond delay="0"/>
                                          </p:stCondLst>
                                        </p:cTn>
                                        <p:tgtEl>
                                          <p:spTgt spid="200855"/>
                                        </p:tgtEl>
                                        <p:attrNameLst>
                                          <p:attrName>style.visibility</p:attrName>
                                        </p:attrNameLst>
                                      </p:cBhvr>
                                      <p:to>
                                        <p:strVal val="visible"/>
                                      </p:to>
                                    </p:set>
                                    <p:animEffect transition="in" filter="wipe(up)">
                                      <p:cBhvr>
                                        <p:cTn id="83" dur="500"/>
                                        <p:tgtEl>
                                          <p:spTgt spid="200855"/>
                                        </p:tgtEl>
                                      </p:cBhvr>
                                    </p:animEffect>
                                  </p:childTnLst>
                                </p:cTn>
                              </p:par>
                            </p:childTnLst>
                          </p:cTn>
                        </p:par>
                        <p:par>
                          <p:cTn id="84" fill="hold" nodeType="afterGroup">
                            <p:stCondLst>
                              <p:cond delay="1000"/>
                            </p:stCondLst>
                            <p:childTnLst>
                              <p:par>
                                <p:cTn id="85" presetID="22" presetClass="entr" presetSubtype="8" fill="hold" grpId="0" nodeType="afterEffect">
                                  <p:stCondLst>
                                    <p:cond delay="0"/>
                                  </p:stCondLst>
                                  <p:childTnLst>
                                    <p:set>
                                      <p:cBhvr>
                                        <p:cTn id="86" dur="1" fill="hold">
                                          <p:stCondLst>
                                            <p:cond delay="0"/>
                                          </p:stCondLst>
                                        </p:cTn>
                                        <p:tgtEl>
                                          <p:spTgt spid="200856"/>
                                        </p:tgtEl>
                                        <p:attrNameLst>
                                          <p:attrName>style.visibility</p:attrName>
                                        </p:attrNameLst>
                                      </p:cBhvr>
                                      <p:to>
                                        <p:strVal val="visible"/>
                                      </p:to>
                                    </p:set>
                                    <p:animEffect transition="in" filter="wipe(left)">
                                      <p:cBhvr>
                                        <p:cTn id="87" dur="500"/>
                                        <p:tgtEl>
                                          <p:spTgt spid="200856"/>
                                        </p:tgtEl>
                                      </p:cBhvr>
                                    </p:animEffect>
                                  </p:childTnLst>
                                </p:cTn>
                              </p:par>
                            </p:childTnLst>
                          </p:cTn>
                        </p:par>
                        <p:par>
                          <p:cTn id="88" fill="hold" nodeType="afterGroup">
                            <p:stCondLst>
                              <p:cond delay="1500"/>
                            </p:stCondLst>
                            <p:childTnLst>
                              <p:par>
                                <p:cTn id="89" presetID="4" presetClass="entr" presetSubtype="16" fill="hold" grpId="0" nodeType="afterEffect">
                                  <p:stCondLst>
                                    <p:cond delay="0"/>
                                  </p:stCondLst>
                                  <p:childTnLst>
                                    <p:set>
                                      <p:cBhvr>
                                        <p:cTn id="90" dur="1" fill="hold">
                                          <p:stCondLst>
                                            <p:cond delay="0"/>
                                          </p:stCondLst>
                                        </p:cTn>
                                        <p:tgtEl>
                                          <p:spTgt spid="200833"/>
                                        </p:tgtEl>
                                        <p:attrNameLst>
                                          <p:attrName>style.visibility</p:attrName>
                                        </p:attrNameLst>
                                      </p:cBhvr>
                                      <p:to>
                                        <p:strVal val="visible"/>
                                      </p:to>
                                    </p:set>
                                    <p:animEffect transition="in" filter="box(in)">
                                      <p:cBhvr>
                                        <p:cTn id="91" dur="500"/>
                                        <p:tgtEl>
                                          <p:spTgt spid="2008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828" grpId="0" animBg="1"/>
      <p:bldP spid="200833" grpId="0" animBg="1"/>
      <p:bldP spid="200854" grpId="0" animBg="1"/>
      <p:bldP spid="200855" grpId="0" animBg="1"/>
      <p:bldP spid="200856" grpId="0" animBg="1"/>
      <p:bldP spid="200864" grpId="0"/>
      <p:bldP spid="200865" grpId="0"/>
      <p:bldP spid="200866" grpId="0" animBg="1"/>
      <p:bldP spid="200866" grpId="1" animBg="1"/>
      <p:bldP spid="200866" grpId="2" animBg="1"/>
      <p:bldP spid="200867" grpId="0" animBg="1"/>
      <p:bldP spid="200867" grpId="1" animBg="1"/>
      <p:bldP spid="200868" grpId="0" animBg="1"/>
      <p:bldP spid="200868" grpId="1" animBg="1"/>
      <p:bldP spid="200869" grpId="0" animBg="1"/>
      <p:bldP spid="200869" grpId="1" animBg="1"/>
      <p:bldP spid="200869" grpId="2" animBg="1"/>
      <p:bldP spid="200871" grpId="0" animBg="1"/>
      <p:bldP spid="200871" grpId="1" animBg="1"/>
      <p:bldP spid="200871" grpId="2" animBg="1"/>
      <p:bldP spid="200871" grpId="3" animBg="1"/>
      <p:bldP spid="200871" grpId="4" animBg="1"/>
      <p:bldP spid="200871" grpId="5" animBg="1"/>
      <p:bldP spid="200872"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简单页式管理中的地址转换</a:t>
            </a:r>
          </a:p>
        </p:txBody>
      </p:sp>
      <p:sp>
        <p:nvSpPr>
          <p:cNvPr id="4" name="Date Placeholder 3"/>
          <p:cNvSpPr>
            <a:spLocks noGrp="1"/>
          </p:cNvSpPr>
          <p:nvPr>
            <p:ph type="dt" sz="half" idx="10"/>
          </p:nvPr>
        </p:nvSpPr>
        <p:spPr/>
        <p:txBody>
          <a:bodyPr/>
          <a:lstStyle/>
          <a:p>
            <a:fld id="{D31202A4-FB49-433E-A777-41EC6C0DCB28}"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63</a:t>
            </a:fld>
            <a:endParaRPr lang="zh-CN" altLang="en-US" dirty="0"/>
          </a:p>
        </p:txBody>
      </p:sp>
      <p:grpSp>
        <p:nvGrpSpPr>
          <p:cNvPr id="7" name="Group 192"/>
          <p:cNvGrpSpPr>
            <a:grpSpLocks/>
          </p:cNvGrpSpPr>
          <p:nvPr/>
        </p:nvGrpSpPr>
        <p:grpSpPr bwMode="auto">
          <a:xfrm>
            <a:off x="908000" y="2132856"/>
            <a:ext cx="7264400" cy="2895600"/>
            <a:chOff x="576" y="1872"/>
            <a:chExt cx="4576" cy="1824"/>
          </a:xfrm>
        </p:grpSpPr>
        <p:sp>
          <p:nvSpPr>
            <p:cNvPr id="8" name="Rectangle 117"/>
            <p:cNvSpPr>
              <a:spLocks noChangeArrowheads="1"/>
            </p:cNvSpPr>
            <p:nvPr/>
          </p:nvSpPr>
          <p:spPr bwMode="auto">
            <a:xfrm>
              <a:off x="3655" y="3232"/>
              <a:ext cx="5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zh-CN" altLang="en-US" sz="1800" b="1">
                  <a:ea typeface="楷体" panose="02010609060101010101" pitchFamily="49" charset="-122"/>
                </a:rPr>
                <a:t>物理地址</a:t>
              </a:r>
            </a:p>
          </p:txBody>
        </p:sp>
        <p:sp>
          <p:nvSpPr>
            <p:cNvPr id="9" name="Rectangle 118"/>
            <p:cNvSpPr>
              <a:spLocks noChangeArrowheads="1"/>
            </p:cNvSpPr>
            <p:nvPr/>
          </p:nvSpPr>
          <p:spPr bwMode="auto">
            <a:xfrm>
              <a:off x="3681" y="3447"/>
              <a:ext cx="653" cy="247"/>
            </a:xfrm>
            <a:prstGeom prst="rect">
              <a:avLst/>
            </a:prstGeom>
            <a:solidFill>
              <a:srgbClr val="FFCCFF"/>
            </a:solidFill>
            <a:ln w="7938">
              <a:solidFill>
                <a:schemeClr val="tx1"/>
              </a:solidFill>
              <a:miter lim="800000"/>
              <a:headEnd/>
              <a:tailEnd/>
            </a:ln>
          </p:spPr>
          <p:txBody>
            <a:bodyPr/>
            <a:lstStyle/>
            <a:p>
              <a:endParaRPr lang="zh-CN" altLang="en-US">
                <a:ea typeface="楷体" panose="02010609060101010101" pitchFamily="49" charset="-122"/>
              </a:endParaRPr>
            </a:p>
          </p:txBody>
        </p:sp>
        <p:sp>
          <p:nvSpPr>
            <p:cNvPr id="10" name="Rectangle 119"/>
            <p:cNvSpPr>
              <a:spLocks noChangeArrowheads="1"/>
            </p:cNvSpPr>
            <p:nvPr/>
          </p:nvSpPr>
          <p:spPr bwMode="auto">
            <a:xfrm>
              <a:off x="3953" y="3478"/>
              <a:ext cx="0" cy="174"/>
            </a:xfrm>
            <a:prstGeom prst="rect">
              <a:avLst/>
            </a:prstGeom>
            <a:solidFill>
              <a:srgbClr val="FFCCFF"/>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pPr>
                <a:spcBef>
                  <a:spcPct val="20000"/>
                </a:spcBef>
              </a:pPr>
              <a:endParaRPr lang="zh-CN" altLang="zh-CN" sz="1800" b="1">
                <a:ea typeface="楷体" panose="02010609060101010101" pitchFamily="49" charset="-122"/>
              </a:endParaRPr>
            </a:p>
          </p:txBody>
        </p:sp>
        <p:sp>
          <p:nvSpPr>
            <p:cNvPr id="11" name="Rectangle 120"/>
            <p:cNvSpPr>
              <a:spLocks noChangeArrowheads="1"/>
            </p:cNvSpPr>
            <p:nvPr/>
          </p:nvSpPr>
          <p:spPr bwMode="auto">
            <a:xfrm>
              <a:off x="4334" y="3447"/>
              <a:ext cx="818" cy="247"/>
            </a:xfrm>
            <a:prstGeom prst="rect">
              <a:avLst/>
            </a:prstGeom>
            <a:solidFill>
              <a:srgbClr val="FFCCFF"/>
            </a:solidFill>
            <a:ln w="7938">
              <a:solidFill>
                <a:schemeClr val="tx1"/>
              </a:solidFill>
              <a:miter lim="800000"/>
              <a:headEnd/>
              <a:tailEnd/>
            </a:ln>
          </p:spPr>
          <p:txBody>
            <a:bodyPr/>
            <a:lstStyle/>
            <a:p>
              <a:endParaRPr lang="zh-CN" altLang="en-US">
                <a:ea typeface="楷体" panose="02010609060101010101" pitchFamily="49" charset="-122"/>
              </a:endParaRPr>
            </a:p>
          </p:txBody>
        </p:sp>
        <p:sp>
          <p:nvSpPr>
            <p:cNvPr id="12" name="Freeform 121"/>
            <p:cNvSpPr>
              <a:spLocks/>
            </p:cNvSpPr>
            <p:nvPr/>
          </p:nvSpPr>
          <p:spPr bwMode="auto">
            <a:xfrm>
              <a:off x="3599" y="3540"/>
              <a:ext cx="82" cy="61"/>
            </a:xfrm>
            <a:custGeom>
              <a:avLst/>
              <a:gdLst>
                <a:gd name="T0" fmla="*/ 0 w 96"/>
                <a:gd name="T1" fmla="*/ 0 h 94"/>
                <a:gd name="T2" fmla="*/ 2 w 96"/>
                <a:gd name="T3" fmla="*/ 94 h 94"/>
                <a:gd name="T4" fmla="*/ 96 w 96"/>
                <a:gd name="T5" fmla="*/ 48 h 94"/>
                <a:gd name="T6" fmla="*/ 0 w 96"/>
                <a:gd name="T7" fmla="*/ 0 h 94"/>
              </a:gdLst>
              <a:ahLst/>
              <a:cxnLst>
                <a:cxn ang="0">
                  <a:pos x="T0" y="T1"/>
                </a:cxn>
                <a:cxn ang="0">
                  <a:pos x="T2" y="T3"/>
                </a:cxn>
                <a:cxn ang="0">
                  <a:pos x="T4" y="T5"/>
                </a:cxn>
                <a:cxn ang="0">
                  <a:pos x="T6" y="T7"/>
                </a:cxn>
              </a:cxnLst>
              <a:rect l="0" t="0" r="r" b="b"/>
              <a:pathLst>
                <a:path w="96" h="94">
                  <a:moveTo>
                    <a:pt x="0" y="0"/>
                  </a:moveTo>
                  <a:lnTo>
                    <a:pt x="2" y="94"/>
                  </a:lnTo>
                  <a:lnTo>
                    <a:pt x="96" y="48"/>
                  </a:lnTo>
                  <a:lnTo>
                    <a:pt x="0" y="0"/>
                  </a:lnTo>
                  <a:close/>
                </a:path>
              </a:pathLst>
            </a:custGeom>
            <a:solidFill>
              <a:schemeClr val="tx1"/>
            </a:solidFill>
            <a:ln w="9525">
              <a:solidFill>
                <a:schemeClr val="tx1"/>
              </a:solidFill>
              <a:round/>
              <a:headEnd/>
              <a:tailEnd/>
            </a:ln>
          </p:spPr>
          <p:txBody>
            <a:bodyPr/>
            <a:lstStyle/>
            <a:p>
              <a:endParaRPr lang="zh-CN" altLang="en-US">
                <a:ea typeface="楷体" panose="02010609060101010101" pitchFamily="49" charset="-122"/>
              </a:endParaRPr>
            </a:p>
          </p:txBody>
        </p:sp>
        <p:sp>
          <p:nvSpPr>
            <p:cNvPr id="13" name="Freeform 122"/>
            <p:cNvSpPr>
              <a:spLocks/>
            </p:cNvSpPr>
            <p:nvPr/>
          </p:nvSpPr>
          <p:spPr bwMode="auto">
            <a:xfrm>
              <a:off x="3599" y="3540"/>
              <a:ext cx="82" cy="61"/>
            </a:xfrm>
            <a:custGeom>
              <a:avLst/>
              <a:gdLst>
                <a:gd name="T0" fmla="*/ 0 w 96"/>
                <a:gd name="T1" fmla="*/ 0 h 94"/>
                <a:gd name="T2" fmla="*/ 2 w 96"/>
                <a:gd name="T3" fmla="*/ 94 h 94"/>
                <a:gd name="T4" fmla="*/ 96 w 96"/>
                <a:gd name="T5" fmla="*/ 48 h 94"/>
                <a:gd name="T6" fmla="*/ 0 w 96"/>
                <a:gd name="T7" fmla="*/ 0 h 94"/>
              </a:gdLst>
              <a:ahLst/>
              <a:cxnLst>
                <a:cxn ang="0">
                  <a:pos x="T0" y="T1"/>
                </a:cxn>
                <a:cxn ang="0">
                  <a:pos x="T2" y="T3"/>
                </a:cxn>
                <a:cxn ang="0">
                  <a:pos x="T4" y="T5"/>
                </a:cxn>
                <a:cxn ang="0">
                  <a:pos x="T6" y="T7"/>
                </a:cxn>
              </a:cxnLst>
              <a:rect l="0" t="0" r="r" b="b"/>
              <a:pathLst>
                <a:path w="96" h="94">
                  <a:moveTo>
                    <a:pt x="0" y="0"/>
                  </a:moveTo>
                  <a:lnTo>
                    <a:pt x="2" y="94"/>
                  </a:lnTo>
                  <a:lnTo>
                    <a:pt x="96" y="48"/>
                  </a:lnTo>
                  <a:lnTo>
                    <a:pt x="0" y="0"/>
                  </a:lnTo>
                </a:path>
              </a:pathLst>
            </a:custGeom>
            <a:solidFill>
              <a:schemeClr val="tx1"/>
            </a:solidFill>
            <a:ln w="7938">
              <a:solidFill>
                <a:schemeClr val="tx1"/>
              </a:solidFill>
              <a:prstDash val="solid"/>
              <a:round/>
              <a:headEnd/>
              <a:tailEnd/>
            </a:ln>
          </p:spPr>
          <p:txBody>
            <a:bodyPr/>
            <a:lstStyle/>
            <a:p>
              <a:endParaRPr lang="zh-CN" altLang="en-US">
                <a:ea typeface="楷体" panose="02010609060101010101" pitchFamily="49" charset="-122"/>
              </a:endParaRPr>
            </a:p>
          </p:txBody>
        </p:sp>
        <p:sp>
          <p:nvSpPr>
            <p:cNvPr id="14" name="Line 123"/>
            <p:cNvSpPr>
              <a:spLocks noChangeShapeType="1"/>
            </p:cNvSpPr>
            <p:nvPr/>
          </p:nvSpPr>
          <p:spPr bwMode="auto">
            <a:xfrm flipV="1">
              <a:off x="3028" y="3571"/>
              <a:ext cx="572" cy="2"/>
            </a:xfrm>
            <a:prstGeom prst="line">
              <a:avLst/>
            </a:prstGeom>
            <a:noFill/>
            <a:ln w="7938">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ea typeface="楷体" panose="02010609060101010101" pitchFamily="49" charset="-122"/>
              </a:endParaRPr>
            </a:p>
          </p:txBody>
        </p:sp>
        <p:sp>
          <p:nvSpPr>
            <p:cNvPr id="15" name="Rectangle 125"/>
            <p:cNvSpPr>
              <a:spLocks noChangeArrowheads="1"/>
            </p:cNvSpPr>
            <p:nvPr/>
          </p:nvSpPr>
          <p:spPr bwMode="auto">
            <a:xfrm>
              <a:off x="576" y="2089"/>
              <a:ext cx="1144" cy="247"/>
            </a:xfrm>
            <a:prstGeom prst="rect">
              <a:avLst/>
            </a:prstGeom>
            <a:solidFill>
              <a:srgbClr val="FFCCFF"/>
            </a:solidFill>
            <a:ln w="7938">
              <a:solidFill>
                <a:schemeClr val="tx1"/>
              </a:solidFill>
              <a:miter lim="800000"/>
              <a:headEnd/>
              <a:tailEnd/>
            </a:ln>
          </p:spPr>
          <p:txBody>
            <a:bodyPr/>
            <a:lstStyle/>
            <a:p>
              <a:endParaRPr lang="zh-CN" altLang="en-US">
                <a:ea typeface="楷体" panose="02010609060101010101" pitchFamily="49" charset="-122"/>
              </a:endParaRPr>
            </a:p>
          </p:txBody>
        </p:sp>
        <p:sp>
          <p:nvSpPr>
            <p:cNvPr id="16" name="Rectangle 126"/>
            <p:cNvSpPr>
              <a:spLocks noChangeArrowheads="1"/>
            </p:cNvSpPr>
            <p:nvPr/>
          </p:nvSpPr>
          <p:spPr bwMode="auto">
            <a:xfrm>
              <a:off x="912" y="2120"/>
              <a:ext cx="580" cy="173"/>
            </a:xfrm>
            <a:prstGeom prst="rect">
              <a:avLst/>
            </a:prstGeom>
            <a:solidFill>
              <a:srgbClr val="FFCCFF"/>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pPr>
                <a:spcBef>
                  <a:spcPct val="20000"/>
                </a:spcBef>
              </a:pPr>
              <a:r>
                <a:rPr lang="zh-CN" altLang="en-US" sz="1800" b="1">
                  <a:ea typeface="楷体" panose="02010609060101010101" pitchFamily="49" charset="-122"/>
                </a:rPr>
                <a:t>页表长度</a:t>
              </a:r>
            </a:p>
          </p:txBody>
        </p:sp>
        <p:sp>
          <p:nvSpPr>
            <p:cNvPr id="17" name="Rectangle 127"/>
            <p:cNvSpPr>
              <a:spLocks noChangeArrowheads="1"/>
            </p:cNvSpPr>
            <p:nvPr/>
          </p:nvSpPr>
          <p:spPr bwMode="auto">
            <a:xfrm>
              <a:off x="1720" y="2089"/>
              <a:ext cx="1144" cy="247"/>
            </a:xfrm>
            <a:prstGeom prst="rect">
              <a:avLst/>
            </a:prstGeom>
            <a:solidFill>
              <a:srgbClr val="FFCCFF"/>
            </a:solidFill>
            <a:ln w="7938">
              <a:solidFill>
                <a:schemeClr val="tx1"/>
              </a:solidFill>
              <a:miter lim="800000"/>
              <a:headEnd/>
              <a:tailEnd/>
            </a:ln>
          </p:spPr>
          <p:txBody>
            <a:bodyPr/>
            <a:lstStyle/>
            <a:p>
              <a:endParaRPr lang="zh-CN" altLang="en-US">
                <a:ea typeface="楷体" panose="02010609060101010101" pitchFamily="49" charset="-122"/>
              </a:endParaRPr>
            </a:p>
          </p:txBody>
        </p:sp>
        <p:sp>
          <p:nvSpPr>
            <p:cNvPr id="18" name="Rectangle 128"/>
            <p:cNvSpPr>
              <a:spLocks noChangeArrowheads="1"/>
            </p:cNvSpPr>
            <p:nvPr/>
          </p:nvSpPr>
          <p:spPr bwMode="auto">
            <a:xfrm>
              <a:off x="1968" y="2120"/>
              <a:ext cx="580" cy="173"/>
            </a:xfrm>
            <a:prstGeom prst="rect">
              <a:avLst/>
            </a:prstGeom>
            <a:solidFill>
              <a:srgbClr val="FFCCFF"/>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pPr>
                <a:spcBef>
                  <a:spcPct val="20000"/>
                </a:spcBef>
              </a:pPr>
              <a:r>
                <a:rPr lang="zh-CN" altLang="en-US" sz="1800" b="1">
                  <a:ea typeface="楷体" panose="02010609060101010101" pitchFamily="49" charset="-122"/>
                </a:rPr>
                <a:t>页表地址</a:t>
              </a:r>
            </a:p>
          </p:txBody>
        </p:sp>
        <p:sp>
          <p:nvSpPr>
            <p:cNvPr id="19" name="Rectangle 129"/>
            <p:cNvSpPr>
              <a:spLocks noChangeArrowheads="1"/>
            </p:cNvSpPr>
            <p:nvPr/>
          </p:nvSpPr>
          <p:spPr bwMode="auto">
            <a:xfrm>
              <a:off x="1176" y="1872"/>
              <a:ext cx="725"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zh-CN" altLang="en-US" sz="1800" b="1">
                  <a:ea typeface="楷体" panose="02010609060101010101" pitchFamily="49" charset="-122"/>
                </a:rPr>
                <a:t>控制寄存器</a:t>
              </a:r>
            </a:p>
          </p:txBody>
        </p:sp>
        <p:sp>
          <p:nvSpPr>
            <p:cNvPr id="20" name="Rectangle 131"/>
            <p:cNvSpPr>
              <a:spLocks noChangeArrowheads="1"/>
            </p:cNvSpPr>
            <p:nvPr/>
          </p:nvSpPr>
          <p:spPr bwMode="auto">
            <a:xfrm>
              <a:off x="1556" y="2706"/>
              <a:ext cx="654" cy="249"/>
            </a:xfrm>
            <a:prstGeom prst="rect">
              <a:avLst/>
            </a:prstGeom>
            <a:solidFill>
              <a:srgbClr val="FFCCFF"/>
            </a:solidFill>
            <a:ln w="7938">
              <a:solidFill>
                <a:schemeClr val="tx1"/>
              </a:solidFill>
              <a:miter lim="800000"/>
              <a:headEnd/>
              <a:tailEnd/>
            </a:ln>
          </p:spPr>
          <p:txBody>
            <a:bodyPr/>
            <a:lstStyle/>
            <a:p>
              <a:endParaRPr lang="zh-CN" altLang="en-US">
                <a:ea typeface="楷体" panose="02010609060101010101" pitchFamily="49" charset="-122"/>
              </a:endParaRPr>
            </a:p>
          </p:txBody>
        </p:sp>
        <p:sp>
          <p:nvSpPr>
            <p:cNvPr id="21" name="Rectangle 132"/>
            <p:cNvSpPr>
              <a:spLocks noChangeArrowheads="1"/>
            </p:cNvSpPr>
            <p:nvPr/>
          </p:nvSpPr>
          <p:spPr bwMode="auto">
            <a:xfrm>
              <a:off x="1698" y="2736"/>
              <a:ext cx="290" cy="173"/>
            </a:xfrm>
            <a:prstGeom prst="rect">
              <a:avLst/>
            </a:prstGeom>
            <a:solidFill>
              <a:srgbClr val="FFCCFF"/>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pPr>
                <a:spcBef>
                  <a:spcPct val="20000"/>
                </a:spcBef>
              </a:pPr>
              <a:r>
                <a:rPr lang="zh-CN" altLang="en-US" sz="1800" b="1">
                  <a:ea typeface="楷体" panose="02010609060101010101" pitchFamily="49" charset="-122"/>
                </a:rPr>
                <a:t>页号</a:t>
              </a:r>
            </a:p>
          </p:txBody>
        </p:sp>
        <p:sp>
          <p:nvSpPr>
            <p:cNvPr id="22" name="Rectangle 133"/>
            <p:cNvSpPr>
              <a:spLocks noChangeArrowheads="1"/>
            </p:cNvSpPr>
            <p:nvPr/>
          </p:nvSpPr>
          <p:spPr bwMode="auto">
            <a:xfrm>
              <a:off x="2210" y="2706"/>
              <a:ext cx="818" cy="249"/>
            </a:xfrm>
            <a:prstGeom prst="rect">
              <a:avLst/>
            </a:prstGeom>
            <a:solidFill>
              <a:srgbClr val="FFCCFF"/>
            </a:solidFill>
            <a:ln w="7938">
              <a:solidFill>
                <a:schemeClr val="tx1"/>
              </a:solidFill>
              <a:miter lim="800000"/>
              <a:headEnd/>
              <a:tailEnd/>
            </a:ln>
          </p:spPr>
          <p:txBody>
            <a:bodyPr/>
            <a:lstStyle/>
            <a:p>
              <a:endParaRPr lang="zh-CN" altLang="en-US">
                <a:ea typeface="楷体" panose="02010609060101010101" pitchFamily="49" charset="-122"/>
              </a:endParaRPr>
            </a:p>
          </p:txBody>
        </p:sp>
        <p:sp>
          <p:nvSpPr>
            <p:cNvPr id="23" name="Rectangle 134"/>
            <p:cNvSpPr>
              <a:spLocks noChangeArrowheads="1"/>
            </p:cNvSpPr>
            <p:nvPr/>
          </p:nvSpPr>
          <p:spPr bwMode="auto">
            <a:xfrm>
              <a:off x="2352" y="2736"/>
              <a:ext cx="435" cy="173"/>
            </a:xfrm>
            <a:prstGeom prst="rect">
              <a:avLst/>
            </a:prstGeom>
            <a:solidFill>
              <a:srgbClr val="FFCCFF"/>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pPr>
                <a:spcBef>
                  <a:spcPct val="20000"/>
                </a:spcBef>
              </a:pPr>
              <a:r>
                <a:rPr lang="zh-CN" altLang="en-US" sz="1800" b="1">
                  <a:ea typeface="楷体" panose="02010609060101010101" pitchFamily="49" charset="-122"/>
                </a:rPr>
                <a:t>页面号</a:t>
              </a:r>
            </a:p>
          </p:txBody>
        </p:sp>
        <p:sp>
          <p:nvSpPr>
            <p:cNvPr id="24" name="Rectangle 135"/>
            <p:cNvSpPr>
              <a:spLocks noChangeArrowheads="1"/>
            </p:cNvSpPr>
            <p:nvPr/>
          </p:nvSpPr>
          <p:spPr bwMode="auto">
            <a:xfrm>
              <a:off x="1556" y="2955"/>
              <a:ext cx="654" cy="247"/>
            </a:xfrm>
            <a:prstGeom prst="rect">
              <a:avLst/>
            </a:prstGeom>
            <a:solidFill>
              <a:srgbClr val="FFCCFF"/>
            </a:solidFill>
            <a:ln w="7938">
              <a:solidFill>
                <a:schemeClr val="tx1"/>
              </a:solidFill>
              <a:miter lim="800000"/>
              <a:headEnd/>
              <a:tailEnd/>
            </a:ln>
          </p:spPr>
          <p:txBody>
            <a:bodyPr/>
            <a:lstStyle/>
            <a:p>
              <a:endParaRPr lang="zh-CN" altLang="en-US">
                <a:ea typeface="楷体" panose="02010609060101010101" pitchFamily="49" charset="-122"/>
              </a:endParaRPr>
            </a:p>
          </p:txBody>
        </p:sp>
        <p:sp>
          <p:nvSpPr>
            <p:cNvPr id="25" name="Rectangle 136"/>
            <p:cNvSpPr>
              <a:spLocks noChangeArrowheads="1"/>
            </p:cNvSpPr>
            <p:nvPr/>
          </p:nvSpPr>
          <p:spPr bwMode="auto">
            <a:xfrm>
              <a:off x="1826" y="2985"/>
              <a:ext cx="74" cy="174"/>
            </a:xfrm>
            <a:prstGeom prst="rect">
              <a:avLst/>
            </a:prstGeom>
            <a:solidFill>
              <a:srgbClr val="FFCCFF"/>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pPr>
                <a:spcBef>
                  <a:spcPct val="20000"/>
                </a:spcBef>
              </a:pPr>
              <a:r>
                <a:rPr lang="en-US" altLang="zh-CN" sz="1800" b="1">
                  <a:ea typeface="楷体" panose="02010609060101010101" pitchFamily="49" charset="-122"/>
                </a:rPr>
                <a:t>0</a:t>
              </a:r>
            </a:p>
          </p:txBody>
        </p:sp>
        <p:sp>
          <p:nvSpPr>
            <p:cNvPr id="26" name="Rectangle 137"/>
            <p:cNvSpPr>
              <a:spLocks noChangeArrowheads="1"/>
            </p:cNvSpPr>
            <p:nvPr/>
          </p:nvSpPr>
          <p:spPr bwMode="auto">
            <a:xfrm>
              <a:off x="2210" y="2955"/>
              <a:ext cx="818" cy="247"/>
            </a:xfrm>
            <a:prstGeom prst="rect">
              <a:avLst/>
            </a:prstGeom>
            <a:solidFill>
              <a:srgbClr val="FFCCFF"/>
            </a:solidFill>
            <a:ln w="7938">
              <a:solidFill>
                <a:schemeClr val="tx1"/>
              </a:solidFill>
              <a:miter lim="800000"/>
              <a:headEnd/>
              <a:tailEnd/>
            </a:ln>
          </p:spPr>
          <p:txBody>
            <a:bodyPr/>
            <a:lstStyle/>
            <a:p>
              <a:endParaRPr lang="zh-CN" altLang="en-US">
                <a:ea typeface="楷体" panose="02010609060101010101" pitchFamily="49" charset="-122"/>
              </a:endParaRPr>
            </a:p>
          </p:txBody>
        </p:sp>
        <p:sp>
          <p:nvSpPr>
            <p:cNvPr id="27" name="Rectangle 138"/>
            <p:cNvSpPr>
              <a:spLocks noChangeArrowheads="1"/>
            </p:cNvSpPr>
            <p:nvPr/>
          </p:nvSpPr>
          <p:spPr bwMode="auto">
            <a:xfrm>
              <a:off x="2563" y="2985"/>
              <a:ext cx="74" cy="174"/>
            </a:xfrm>
            <a:prstGeom prst="rect">
              <a:avLst/>
            </a:prstGeom>
            <a:solidFill>
              <a:srgbClr val="FFCCFF"/>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pPr>
                <a:spcBef>
                  <a:spcPct val="20000"/>
                </a:spcBef>
              </a:pPr>
              <a:r>
                <a:rPr lang="en-US" altLang="zh-CN" sz="1800" b="1">
                  <a:ea typeface="楷体" panose="02010609060101010101" pitchFamily="49" charset="-122"/>
                </a:rPr>
                <a:t>2</a:t>
              </a:r>
            </a:p>
          </p:txBody>
        </p:sp>
        <p:sp>
          <p:nvSpPr>
            <p:cNvPr id="28" name="Rectangle 139"/>
            <p:cNvSpPr>
              <a:spLocks noChangeArrowheads="1"/>
            </p:cNvSpPr>
            <p:nvPr/>
          </p:nvSpPr>
          <p:spPr bwMode="auto">
            <a:xfrm>
              <a:off x="1556" y="3202"/>
              <a:ext cx="654" cy="247"/>
            </a:xfrm>
            <a:prstGeom prst="rect">
              <a:avLst/>
            </a:prstGeom>
            <a:solidFill>
              <a:srgbClr val="FFCCFF"/>
            </a:solidFill>
            <a:ln w="7938">
              <a:solidFill>
                <a:schemeClr val="tx1"/>
              </a:solidFill>
              <a:miter lim="800000"/>
              <a:headEnd/>
              <a:tailEnd/>
            </a:ln>
          </p:spPr>
          <p:txBody>
            <a:bodyPr/>
            <a:lstStyle/>
            <a:p>
              <a:endParaRPr lang="zh-CN" altLang="en-US">
                <a:ea typeface="楷体" panose="02010609060101010101" pitchFamily="49" charset="-122"/>
              </a:endParaRPr>
            </a:p>
          </p:txBody>
        </p:sp>
        <p:sp>
          <p:nvSpPr>
            <p:cNvPr id="29" name="Rectangle 140"/>
            <p:cNvSpPr>
              <a:spLocks noChangeArrowheads="1"/>
            </p:cNvSpPr>
            <p:nvPr/>
          </p:nvSpPr>
          <p:spPr bwMode="auto">
            <a:xfrm>
              <a:off x="1826" y="3232"/>
              <a:ext cx="73" cy="173"/>
            </a:xfrm>
            <a:prstGeom prst="rect">
              <a:avLst/>
            </a:prstGeom>
            <a:solidFill>
              <a:srgbClr val="FFCCFF"/>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pPr>
                <a:spcBef>
                  <a:spcPct val="20000"/>
                </a:spcBef>
              </a:pPr>
              <a:r>
                <a:rPr lang="en-US" altLang="zh-CN" sz="1800" b="1">
                  <a:ea typeface="楷体" panose="02010609060101010101" pitchFamily="49" charset="-122"/>
                </a:rPr>
                <a:t>1</a:t>
              </a:r>
            </a:p>
          </p:txBody>
        </p:sp>
        <p:sp>
          <p:nvSpPr>
            <p:cNvPr id="30" name="Rectangle 141"/>
            <p:cNvSpPr>
              <a:spLocks noChangeArrowheads="1"/>
            </p:cNvSpPr>
            <p:nvPr/>
          </p:nvSpPr>
          <p:spPr bwMode="auto">
            <a:xfrm>
              <a:off x="2210" y="3202"/>
              <a:ext cx="818" cy="247"/>
            </a:xfrm>
            <a:prstGeom prst="rect">
              <a:avLst/>
            </a:prstGeom>
            <a:solidFill>
              <a:srgbClr val="FFCCFF"/>
            </a:solidFill>
            <a:ln w="7938">
              <a:solidFill>
                <a:schemeClr val="tx1"/>
              </a:solidFill>
              <a:miter lim="800000"/>
              <a:headEnd/>
              <a:tailEnd/>
            </a:ln>
          </p:spPr>
          <p:txBody>
            <a:bodyPr/>
            <a:lstStyle/>
            <a:p>
              <a:endParaRPr lang="zh-CN" altLang="en-US">
                <a:ea typeface="楷体" panose="02010609060101010101" pitchFamily="49" charset="-122"/>
              </a:endParaRPr>
            </a:p>
          </p:txBody>
        </p:sp>
        <p:sp>
          <p:nvSpPr>
            <p:cNvPr id="31" name="Rectangle 142"/>
            <p:cNvSpPr>
              <a:spLocks noChangeArrowheads="1"/>
            </p:cNvSpPr>
            <p:nvPr/>
          </p:nvSpPr>
          <p:spPr bwMode="auto">
            <a:xfrm>
              <a:off x="2563" y="3232"/>
              <a:ext cx="74" cy="174"/>
            </a:xfrm>
            <a:prstGeom prst="rect">
              <a:avLst/>
            </a:prstGeom>
            <a:solidFill>
              <a:srgbClr val="FFCCFF"/>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pPr>
                <a:spcBef>
                  <a:spcPct val="20000"/>
                </a:spcBef>
              </a:pPr>
              <a:r>
                <a:rPr lang="en-US" altLang="zh-CN" sz="1800" b="1">
                  <a:ea typeface="楷体" panose="02010609060101010101" pitchFamily="49" charset="-122"/>
                </a:rPr>
                <a:t>3</a:t>
              </a:r>
            </a:p>
          </p:txBody>
        </p:sp>
        <p:sp>
          <p:nvSpPr>
            <p:cNvPr id="32" name="Rectangle 143"/>
            <p:cNvSpPr>
              <a:spLocks noChangeArrowheads="1"/>
            </p:cNvSpPr>
            <p:nvPr/>
          </p:nvSpPr>
          <p:spPr bwMode="auto">
            <a:xfrm>
              <a:off x="1556" y="3449"/>
              <a:ext cx="654" cy="247"/>
            </a:xfrm>
            <a:prstGeom prst="rect">
              <a:avLst/>
            </a:prstGeom>
            <a:solidFill>
              <a:srgbClr val="FFCCFF"/>
            </a:solidFill>
            <a:ln w="7938">
              <a:solidFill>
                <a:schemeClr val="tx1"/>
              </a:solidFill>
              <a:miter lim="800000"/>
              <a:headEnd/>
              <a:tailEnd/>
            </a:ln>
          </p:spPr>
          <p:txBody>
            <a:bodyPr/>
            <a:lstStyle/>
            <a:p>
              <a:endParaRPr lang="zh-CN" altLang="en-US">
                <a:ea typeface="楷体" panose="02010609060101010101" pitchFamily="49" charset="-122"/>
              </a:endParaRPr>
            </a:p>
          </p:txBody>
        </p:sp>
        <p:sp>
          <p:nvSpPr>
            <p:cNvPr id="33" name="Rectangle 144"/>
            <p:cNvSpPr>
              <a:spLocks noChangeArrowheads="1"/>
            </p:cNvSpPr>
            <p:nvPr/>
          </p:nvSpPr>
          <p:spPr bwMode="auto">
            <a:xfrm>
              <a:off x="1826" y="3480"/>
              <a:ext cx="73" cy="173"/>
            </a:xfrm>
            <a:prstGeom prst="rect">
              <a:avLst/>
            </a:prstGeom>
            <a:solidFill>
              <a:srgbClr val="FFCCFF"/>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pPr>
                <a:spcBef>
                  <a:spcPct val="20000"/>
                </a:spcBef>
              </a:pPr>
              <a:r>
                <a:rPr lang="en-US" altLang="zh-CN" sz="1800" b="1">
                  <a:ea typeface="楷体" panose="02010609060101010101" pitchFamily="49" charset="-122"/>
                </a:rPr>
                <a:t>2</a:t>
              </a:r>
            </a:p>
          </p:txBody>
        </p:sp>
        <p:sp>
          <p:nvSpPr>
            <p:cNvPr id="34" name="Rectangle 145"/>
            <p:cNvSpPr>
              <a:spLocks noChangeArrowheads="1"/>
            </p:cNvSpPr>
            <p:nvPr/>
          </p:nvSpPr>
          <p:spPr bwMode="auto">
            <a:xfrm>
              <a:off x="2210" y="3449"/>
              <a:ext cx="818" cy="247"/>
            </a:xfrm>
            <a:prstGeom prst="rect">
              <a:avLst/>
            </a:prstGeom>
            <a:solidFill>
              <a:srgbClr val="FFCCFF"/>
            </a:solidFill>
            <a:ln w="7938">
              <a:solidFill>
                <a:schemeClr val="tx1"/>
              </a:solidFill>
              <a:miter lim="800000"/>
              <a:headEnd/>
              <a:tailEnd/>
            </a:ln>
          </p:spPr>
          <p:txBody>
            <a:bodyPr/>
            <a:lstStyle/>
            <a:p>
              <a:endParaRPr lang="zh-CN" altLang="en-US">
                <a:ea typeface="楷体" panose="02010609060101010101" pitchFamily="49" charset="-122"/>
              </a:endParaRPr>
            </a:p>
          </p:txBody>
        </p:sp>
        <p:sp>
          <p:nvSpPr>
            <p:cNvPr id="35" name="Rectangle 146"/>
            <p:cNvSpPr>
              <a:spLocks noChangeArrowheads="1"/>
            </p:cNvSpPr>
            <p:nvPr/>
          </p:nvSpPr>
          <p:spPr bwMode="auto">
            <a:xfrm>
              <a:off x="2563" y="3480"/>
              <a:ext cx="74" cy="174"/>
            </a:xfrm>
            <a:prstGeom prst="rect">
              <a:avLst/>
            </a:prstGeom>
            <a:solidFill>
              <a:srgbClr val="FFCCFF"/>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pPr>
                <a:spcBef>
                  <a:spcPct val="20000"/>
                </a:spcBef>
              </a:pPr>
              <a:r>
                <a:rPr lang="en-US" altLang="zh-CN" sz="1800" b="1">
                  <a:ea typeface="楷体" panose="02010609060101010101" pitchFamily="49" charset="-122"/>
                </a:rPr>
                <a:t>8</a:t>
              </a:r>
            </a:p>
          </p:txBody>
        </p:sp>
        <p:sp>
          <p:nvSpPr>
            <p:cNvPr id="36" name="Rectangle 148"/>
            <p:cNvSpPr>
              <a:spLocks noChangeArrowheads="1"/>
            </p:cNvSpPr>
            <p:nvPr/>
          </p:nvSpPr>
          <p:spPr bwMode="auto">
            <a:xfrm>
              <a:off x="3980" y="1875"/>
              <a:ext cx="58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zh-CN" altLang="en-US" b="1" dirty="0">
                  <a:ea typeface="楷体" panose="02010609060101010101" pitchFamily="49" charset="-122"/>
                </a:rPr>
                <a:t>虚拟</a:t>
              </a:r>
              <a:r>
                <a:rPr lang="zh-CN" altLang="en-US" sz="1800" b="1" dirty="0">
                  <a:ea typeface="楷体" panose="02010609060101010101" pitchFamily="49" charset="-122"/>
                </a:rPr>
                <a:t>地址</a:t>
              </a:r>
            </a:p>
          </p:txBody>
        </p:sp>
        <p:sp>
          <p:nvSpPr>
            <p:cNvPr id="37" name="Rectangle 149"/>
            <p:cNvSpPr>
              <a:spLocks noChangeArrowheads="1"/>
            </p:cNvSpPr>
            <p:nvPr/>
          </p:nvSpPr>
          <p:spPr bwMode="auto">
            <a:xfrm>
              <a:off x="3681" y="2089"/>
              <a:ext cx="653" cy="247"/>
            </a:xfrm>
            <a:prstGeom prst="rect">
              <a:avLst/>
            </a:prstGeom>
            <a:solidFill>
              <a:srgbClr val="FFCCFF"/>
            </a:solidFill>
            <a:ln w="7938">
              <a:solidFill>
                <a:schemeClr val="tx1"/>
              </a:solidFill>
              <a:miter lim="800000"/>
              <a:headEnd/>
              <a:tailEnd/>
            </a:ln>
          </p:spPr>
          <p:txBody>
            <a:bodyPr/>
            <a:lstStyle/>
            <a:p>
              <a:endParaRPr lang="zh-CN" altLang="en-US">
                <a:ea typeface="楷体" panose="02010609060101010101" pitchFamily="49" charset="-122"/>
              </a:endParaRPr>
            </a:p>
          </p:txBody>
        </p:sp>
        <p:sp>
          <p:nvSpPr>
            <p:cNvPr id="38" name="Rectangle 150"/>
            <p:cNvSpPr>
              <a:spLocks noChangeArrowheads="1"/>
            </p:cNvSpPr>
            <p:nvPr/>
          </p:nvSpPr>
          <p:spPr bwMode="auto">
            <a:xfrm>
              <a:off x="3953" y="2120"/>
              <a:ext cx="74" cy="174"/>
            </a:xfrm>
            <a:prstGeom prst="rect">
              <a:avLst/>
            </a:prstGeom>
            <a:solidFill>
              <a:srgbClr val="FFCCFF"/>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pPr>
                <a:spcBef>
                  <a:spcPct val="20000"/>
                </a:spcBef>
              </a:pPr>
              <a:r>
                <a:rPr lang="en-US" altLang="zh-CN" sz="1800" b="1">
                  <a:ea typeface="楷体" panose="02010609060101010101" pitchFamily="49" charset="-122"/>
                </a:rPr>
                <a:t>2</a:t>
              </a:r>
            </a:p>
          </p:txBody>
        </p:sp>
        <p:sp>
          <p:nvSpPr>
            <p:cNvPr id="39" name="Rectangle 151"/>
            <p:cNvSpPr>
              <a:spLocks noChangeArrowheads="1"/>
            </p:cNvSpPr>
            <p:nvPr/>
          </p:nvSpPr>
          <p:spPr bwMode="auto">
            <a:xfrm>
              <a:off x="4334" y="2089"/>
              <a:ext cx="818" cy="247"/>
            </a:xfrm>
            <a:prstGeom prst="rect">
              <a:avLst/>
            </a:prstGeom>
            <a:solidFill>
              <a:srgbClr val="FFCCFF"/>
            </a:solidFill>
            <a:ln w="7938">
              <a:solidFill>
                <a:schemeClr val="tx1"/>
              </a:solidFill>
              <a:miter lim="800000"/>
              <a:headEnd/>
              <a:tailEnd/>
            </a:ln>
          </p:spPr>
          <p:txBody>
            <a:bodyPr/>
            <a:lstStyle/>
            <a:p>
              <a:endParaRPr lang="zh-CN" altLang="en-US">
                <a:ea typeface="楷体" panose="02010609060101010101" pitchFamily="49" charset="-122"/>
              </a:endParaRPr>
            </a:p>
          </p:txBody>
        </p:sp>
        <p:sp>
          <p:nvSpPr>
            <p:cNvPr id="40" name="Rectangle 152"/>
            <p:cNvSpPr>
              <a:spLocks noChangeArrowheads="1"/>
            </p:cNvSpPr>
            <p:nvPr/>
          </p:nvSpPr>
          <p:spPr bwMode="auto">
            <a:xfrm>
              <a:off x="4579" y="2120"/>
              <a:ext cx="224" cy="174"/>
            </a:xfrm>
            <a:prstGeom prst="rect">
              <a:avLst/>
            </a:prstGeom>
            <a:solidFill>
              <a:srgbClr val="FFCCFF"/>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pPr>
                <a:spcBef>
                  <a:spcPct val="20000"/>
                </a:spcBef>
              </a:pPr>
              <a:r>
                <a:rPr lang="en-US" altLang="zh-CN" sz="1800" b="1">
                  <a:ea typeface="楷体" panose="02010609060101010101" pitchFamily="49" charset="-122"/>
                </a:rPr>
                <a:t>1C4</a:t>
              </a:r>
            </a:p>
          </p:txBody>
        </p:sp>
        <p:sp>
          <p:nvSpPr>
            <p:cNvPr id="41" name="Freeform 154"/>
            <p:cNvSpPr>
              <a:spLocks/>
            </p:cNvSpPr>
            <p:nvPr/>
          </p:nvSpPr>
          <p:spPr bwMode="auto">
            <a:xfrm>
              <a:off x="4703" y="3385"/>
              <a:ext cx="81" cy="62"/>
            </a:xfrm>
            <a:custGeom>
              <a:avLst/>
              <a:gdLst>
                <a:gd name="T0" fmla="*/ 94 w 94"/>
                <a:gd name="T1" fmla="*/ 0 h 96"/>
                <a:gd name="T2" fmla="*/ 0 w 94"/>
                <a:gd name="T3" fmla="*/ 0 h 96"/>
                <a:gd name="T4" fmla="*/ 48 w 94"/>
                <a:gd name="T5" fmla="*/ 96 h 96"/>
                <a:gd name="T6" fmla="*/ 94 w 94"/>
                <a:gd name="T7" fmla="*/ 0 h 96"/>
              </a:gdLst>
              <a:ahLst/>
              <a:cxnLst>
                <a:cxn ang="0">
                  <a:pos x="T0" y="T1"/>
                </a:cxn>
                <a:cxn ang="0">
                  <a:pos x="T2" y="T3"/>
                </a:cxn>
                <a:cxn ang="0">
                  <a:pos x="T4" y="T5"/>
                </a:cxn>
                <a:cxn ang="0">
                  <a:pos x="T6" y="T7"/>
                </a:cxn>
              </a:cxnLst>
              <a:rect l="0" t="0" r="r" b="b"/>
              <a:pathLst>
                <a:path w="94" h="96">
                  <a:moveTo>
                    <a:pt x="94" y="0"/>
                  </a:moveTo>
                  <a:lnTo>
                    <a:pt x="0" y="0"/>
                  </a:lnTo>
                  <a:lnTo>
                    <a:pt x="48" y="96"/>
                  </a:lnTo>
                  <a:lnTo>
                    <a:pt x="94" y="0"/>
                  </a:lnTo>
                  <a:close/>
                </a:path>
              </a:pathLst>
            </a:custGeom>
            <a:solidFill>
              <a:srgbClr val="FFCCFF"/>
            </a:solidFill>
            <a:ln w="9525">
              <a:solidFill>
                <a:schemeClr val="tx1"/>
              </a:solidFill>
              <a:round/>
              <a:headEnd/>
              <a:tailEnd/>
            </a:ln>
          </p:spPr>
          <p:txBody>
            <a:bodyPr/>
            <a:lstStyle/>
            <a:p>
              <a:endParaRPr lang="zh-CN" altLang="en-US">
                <a:ea typeface="楷体" panose="02010609060101010101" pitchFamily="49" charset="-122"/>
              </a:endParaRPr>
            </a:p>
          </p:txBody>
        </p:sp>
        <p:grpSp>
          <p:nvGrpSpPr>
            <p:cNvPr id="42" name="Group 155"/>
            <p:cNvGrpSpPr>
              <a:grpSpLocks/>
            </p:cNvGrpSpPr>
            <p:nvPr/>
          </p:nvGrpSpPr>
          <p:grpSpPr bwMode="auto">
            <a:xfrm>
              <a:off x="4579" y="2336"/>
              <a:ext cx="205" cy="1318"/>
              <a:chOff x="4870" y="1457"/>
              <a:chExt cx="238" cy="2030"/>
            </a:xfrm>
          </p:grpSpPr>
          <p:sp>
            <p:nvSpPr>
              <p:cNvPr id="62" name="Rectangle 156"/>
              <p:cNvSpPr>
                <a:spLocks noChangeArrowheads="1"/>
              </p:cNvSpPr>
              <p:nvPr/>
            </p:nvSpPr>
            <p:spPr bwMode="auto">
              <a:xfrm>
                <a:off x="4870" y="3218"/>
                <a:ext cx="0" cy="269"/>
              </a:xfrm>
              <a:prstGeom prst="rect">
                <a:avLst/>
              </a:prstGeom>
              <a:solidFill>
                <a:srgbClr val="FFCCFF"/>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pPr>
                  <a:spcBef>
                    <a:spcPct val="20000"/>
                  </a:spcBef>
                </a:pPr>
                <a:endParaRPr lang="zh-CN" altLang="zh-CN" sz="1800" b="1">
                  <a:ea typeface="楷体" panose="02010609060101010101" pitchFamily="49" charset="-122"/>
                </a:endParaRPr>
              </a:p>
            </p:txBody>
          </p:sp>
          <p:sp>
            <p:nvSpPr>
              <p:cNvPr id="63" name="Freeform 157"/>
              <p:cNvSpPr>
                <a:spLocks/>
              </p:cNvSpPr>
              <p:nvPr/>
            </p:nvSpPr>
            <p:spPr bwMode="auto">
              <a:xfrm>
                <a:off x="5014" y="3073"/>
                <a:ext cx="94" cy="96"/>
              </a:xfrm>
              <a:custGeom>
                <a:avLst/>
                <a:gdLst>
                  <a:gd name="T0" fmla="*/ 94 w 94"/>
                  <a:gd name="T1" fmla="*/ 0 h 96"/>
                  <a:gd name="T2" fmla="*/ 0 w 94"/>
                  <a:gd name="T3" fmla="*/ 0 h 96"/>
                  <a:gd name="T4" fmla="*/ 48 w 94"/>
                  <a:gd name="T5" fmla="*/ 96 h 96"/>
                  <a:gd name="T6" fmla="*/ 94 w 94"/>
                  <a:gd name="T7" fmla="*/ 0 h 96"/>
                </a:gdLst>
                <a:ahLst/>
                <a:cxnLst>
                  <a:cxn ang="0">
                    <a:pos x="T0" y="T1"/>
                  </a:cxn>
                  <a:cxn ang="0">
                    <a:pos x="T2" y="T3"/>
                  </a:cxn>
                  <a:cxn ang="0">
                    <a:pos x="T4" y="T5"/>
                  </a:cxn>
                  <a:cxn ang="0">
                    <a:pos x="T6" y="T7"/>
                  </a:cxn>
                </a:cxnLst>
                <a:rect l="0" t="0" r="r" b="b"/>
                <a:pathLst>
                  <a:path w="94" h="96">
                    <a:moveTo>
                      <a:pt x="94" y="0"/>
                    </a:moveTo>
                    <a:lnTo>
                      <a:pt x="0" y="0"/>
                    </a:lnTo>
                    <a:lnTo>
                      <a:pt x="48" y="96"/>
                    </a:lnTo>
                    <a:lnTo>
                      <a:pt x="94" y="0"/>
                    </a:lnTo>
                  </a:path>
                </a:pathLst>
              </a:custGeom>
              <a:solidFill>
                <a:srgbClr val="FFCCFF"/>
              </a:solidFill>
              <a:ln w="7938">
                <a:solidFill>
                  <a:schemeClr val="tx1"/>
                </a:solidFill>
                <a:prstDash val="solid"/>
                <a:round/>
                <a:headEnd/>
                <a:tailEnd/>
              </a:ln>
            </p:spPr>
            <p:txBody>
              <a:bodyPr/>
              <a:lstStyle/>
              <a:p>
                <a:endParaRPr lang="zh-CN" altLang="en-US">
                  <a:ea typeface="楷体" panose="02010609060101010101" pitchFamily="49" charset="-122"/>
                </a:endParaRPr>
              </a:p>
            </p:txBody>
          </p:sp>
          <p:sp>
            <p:nvSpPr>
              <p:cNvPr id="64" name="Line 158"/>
              <p:cNvSpPr>
                <a:spLocks noChangeShapeType="1"/>
              </p:cNvSpPr>
              <p:nvPr/>
            </p:nvSpPr>
            <p:spPr bwMode="auto">
              <a:xfrm>
                <a:off x="5062" y="1457"/>
                <a:ext cx="1" cy="1615"/>
              </a:xfrm>
              <a:prstGeom prst="line">
                <a:avLst/>
              </a:prstGeom>
              <a:noFill/>
              <a:ln w="7938">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ea typeface="楷体" panose="02010609060101010101" pitchFamily="49" charset="-122"/>
                </a:endParaRPr>
              </a:p>
            </p:txBody>
          </p:sp>
        </p:grpSp>
        <p:grpSp>
          <p:nvGrpSpPr>
            <p:cNvPr id="43" name="Group 160"/>
            <p:cNvGrpSpPr>
              <a:grpSpLocks/>
            </p:cNvGrpSpPr>
            <p:nvPr/>
          </p:nvGrpSpPr>
          <p:grpSpPr bwMode="auto">
            <a:xfrm>
              <a:off x="758" y="2338"/>
              <a:ext cx="3269" cy="743"/>
              <a:chOff x="432" y="1460"/>
              <a:chExt cx="3797" cy="1144"/>
            </a:xfrm>
          </p:grpSpPr>
          <p:sp>
            <p:nvSpPr>
              <p:cNvPr id="60" name="Freeform 161"/>
              <p:cNvSpPr>
                <a:spLocks/>
              </p:cNvSpPr>
              <p:nvPr/>
            </p:nvSpPr>
            <p:spPr bwMode="auto">
              <a:xfrm>
                <a:off x="432" y="1460"/>
                <a:ext cx="3797" cy="1144"/>
              </a:xfrm>
              <a:custGeom>
                <a:avLst/>
                <a:gdLst>
                  <a:gd name="T0" fmla="*/ 3797 w 3797"/>
                  <a:gd name="T1" fmla="*/ 0 h 1144"/>
                  <a:gd name="T2" fmla="*/ 3797 w 3797"/>
                  <a:gd name="T3" fmla="*/ 477 h 1144"/>
                  <a:gd name="T4" fmla="*/ 633 w 3797"/>
                  <a:gd name="T5" fmla="*/ 477 h 1144"/>
                  <a:gd name="T6" fmla="*/ 627 w 3797"/>
                  <a:gd name="T7" fmla="*/ 452 h 1144"/>
                  <a:gd name="T8" fmla="*/ 615 w 3797"/>
                  <a:gd name="T9" fmla="*/ 431 h 1144"/>
                  <a:gd name="T10" fmla="*/ 592 w 3797"/>
                  <a:gd name="T11" fmla="*/ 419 h 1144"/>
                  <a:gd name="T12" fmla="*/ 569 w 3797"/>
                  <a:gd name="T13" fmla="*/ 414 h 1144"/>
                  <a:gd name="T14" fmla="*/ 544 w 3797"/>
                  <a:gd name="T15" fmla="*/ 419 h 1144"/>
                  <a:gd name="T16" fmla="*/ 524 w 3797"/>
                  <a:gd name="T17" fmla="*/ 431 h 1144"/>
                  <a:gd name="T18" fmla="*/ 511 w 3797"/>
                  <a:gd name="T19" fmla="*/ 452 h 1144"/>
                  <a:gd name="T20" fmla="*/ 506 w 3797"/>
                  <a:gd name="T21" fmla="*/ 477 h 1144"/>
                  <a:gd name="T22" fmla="*/ 0 w 3797"/>
                  <a:gd name="T23" fmla="*/ 477 h 1144"/>
                  <a:gd name="T24" fmla="*/ 0 w 3797"/>
                  <a:gd name="T25" fmla="*/ 1144 h 1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797" h="1144">
                    <a:moveTo>
                      <a:pt x="3797" y="0"/>
                    </a:moveTo>
                    <a:lnTo>
                      <a:pt x="3797" y="477"/>
                    </a:lnTo>
                    <a:lnTo>
                      <a:pt x="633" y="477"/>
                    </a:lnTo>
                    <a:lnTo>
                      <a:pt x="627" y="452"/>
                    </a:lnTo>
                    <a:lnTo>
                      <a:pt x="615" y="431"/>
                    </a:lnTo>
                    <a:lnTo>
                      <a:pt x="592" y="419"/>
                    </a:lnTo>
                    <a:lnTo>
                      <a:pt x="569" y="414"/>
                    </a:lnTo>
                    <a:lnTo>
                      <a:pt x="544" y="419"/>
                    </a:lnTo>
                    <a:lnTo>
                      <a:pt x="524" y="431"/>
                    </a:lnTo>
                    <a:lnTo>
                      <a:pt x="511" y="452"/>
                    </a:lnTo>
                    <a:lnTo>
                      <a:pt x="506" y="477"/>
                    </a:lnTo>
                    <a:lnTo>
                      <a:pt x="0" y="477"/>
                    </a:lnTo>
                    <a:lnTo>
                      <a:pt x="0" y="1144"/>
                    </a:lnTo>
                  </a:path>
                </a:pathLst>
              </a:custGeom>
              <a:noFill/>
              <a:ln w="7938">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楷体" panose="02010609060101010101" pitchFamily="49" charset="-122"/>
                </a:endParaRPr>
              </a:p>
            </p:txBody>
          </p:sp>
          <p:sp>
            <p:nvSpPr>
              <p:cNvPr id="61" name="Line 162"/>
              <p:cNvSpPr>
                <a:spLocks noChangeShapeType="1"/>
              </p:cNvSpPr>
              <p:nvPr/>
            </p:nvSpPr>
            <p:spPr bwMode="auto">
              <a:xfrm>
                <a:off x="432" y="2592"/>
                <a:ext cx="283" cy="1"/>
              </a:xfrm>
              <a:prstGeom prst="line">
                <a:avLst/>
              </a:prstGeom>
              <a:noFill/>
              <a:ln w="7938">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ea typeface="楷体" panose="02010609060101010101" pitchFamily="49" charset="-122"/>
                </a:endParaRPr>
              </a:p>
            </p:txBody>
          </p:sp>
        </p:grpSp>
        <p:grpSp>
          <p:nvGrpSpPr>
            <p:cNvPr id="44" name="Group 190"/>
            <p:cNvGrpSpPr>
              <a:grpSpLocks/>
            </p:cNvGrpSpPr>
            <p:nvPr/>
          </p:nvGrpSpPr>
          <p:grpSpPr bwMode="auto">
            <a:xfrm>
              <a:off x="983" y="2892"/>
              <a:ext cx="410" cy="310"/>
              <a:chOff x="983" y="2892"/>
              <a:chExt cx="410" cy="310"/>
            </a:xfrm>
          </p:grpSpPr>
          <p:sp>
            <p:nvSpPr>
              <p:cNvPr id="53" name="Freeform 164"/>
              <p:cNvSpPr>
                <a:spLocks/>
              </p:cNvSpPr>
              <p:nvPr/>
            </p:nvSpPr>
            <p:spPr bwMode="auto">
              <a:xfrm>
                <a:off x="983" y="3047"/>
                <a:ext cx="83" cy="61"/>
              </a:xfrm>
              <a:custGeom>
                <a:avLst/>
                <a:gdLst>
                  <a:gd name="T0" fmla="*/ 0 w 96"/>
                  <a:gd name="T1" fmla="*/ 0 h 94"/>
                  <a:gd name="T2" fmla="*/ 0 w 96"/>
                  <a:gd name="T3" fmla="*/ 94 h 94"/>
                  <a:gd name="T4" fmla="*/ 96 w 96"/>
                  <a:gd name="T5" fmla="*/ 48 h 94"/>
                  <a:gd name="T6" fmla="*/ 0 w 96"/>
                  <a:gd name="T7" fmla="*/ 0 h 94"/>
                </a:gdLst>
                <a:ahLst/>
                <a:cxnLst>
                  <a:cxn ang="0">
                    <a:pos x="T0" y="T1"/>
                  </a:cxn>
                  <a:cxn ang="0">
                    <a:pos x="T2" y="T3"/>
                  </a:cxn>
                  <a:cxn ang="0">
                    <a:pos x="T4" y="T5"/>
                  </a:cxn>
                  <a:cxn ang="0">
                    <a:pos x="T6" y="T7"/>
                  </a:cxn>
                </a:cxnLst>
                <a:rect l="0" t="0" r="r" b="b"/>
                <a:pathLst>
                  <a:path w="96" h="94">
                    <a:moveTo>
                      <a:pt x="0" y="0"/>
                    </a:moveTo>
                    <a:lnTo>
                      <a:pt x="0" y="94"/>
                    </a:lnTo>
                    <a:lnTo>
                      <a:pt x="96" y="48"/>
                    </a:lnTo>
                    <a:lnTo>
                      <a:pt x="0" y="0"/>
                    </a:lnTo>
                    <a:close/>
                  </a:path>
                </a:pathLst>
              </a:custGeom>
              <a:solidFill>
                <a:srgbClr val="FFCCFF"/>
              </a:solidFill>
              <a:ln w="9525">
                <a:solidFill>
                  <a:srgbClr val="FFCCFF"/>
                </a:solidFill>
                <a:round/>
                <a:headEnd/>
                <a:tailEnd/>
              </a:ln>
            </p:spPr>
            <p:txBody>
              <a:bodyPr/>
              <a:lstStyle/>
              <a:p>
                <a:endParaRPr lang="zh-CN" altLang="en-US">
                  <a:ea typeface="楷体" panose="02010609060101010101" pitchFamily="49" charset="-122"/>
                </a:endParaRPr>
              </a:p>
            </p:txBody>
          </p:sp>
          <p:sp>
            <p:nvSpPr>
              <p:cNvPr id="54" name="Freeform 165"/>
              <p:cNvSpPr>
                <a:spLocks/>
              </p:cNvSpPr>
              <p:nvPr/>
            </p:nvSpPr>
            <p:spPr bwMode="auto">
              <a:xfrm>
                <a:off x="983" y="3047"/>
                <a:ext cx="83" cy="61"/>
              </a:xfrm>
              <a:custGeom>
                <a:avLst/>
                <a:gdLst>
                  <a:gd name="T0" fmla="*/ 0 w 96"/>
                  <a:gd name="T1" fmla="*/ 0 h 94"/>
                  <a:gd name="T2" fmla="*/ 0 w 96"/>
                  <a:gd name="T3" fmla="*/ 94 h 94"/>
                  <a:gd name="T4" fmla="*/ 96 w 96"/>
                  <a:gd name="T5" fmla="*/ 48 h 94"/>
                  <a:gd name="T6" fmla="*/ 0 w 96"/>
                  <a:gd name="T7" fmla="*/ 0 h 94"/>
                </a:gdLst>
                <a:ahLst/>
                <a:cxnLst>
                  <a:cxn ang="0">
                    <a:pos x="T0" y="T1"/>
                  </a:cxn>
                  <a:cxn ang="0">
                    <a:pos x="T2" y="T3"/>
                  </a:cxn>
                  <a:cxn ang="0">
                    <a:pos x="T4" y="T5"/>
                  </a:cxn>
                  <a:cxn ang="0">
                    <a:pos x="T6" y="T7"/>
                  </a:cxn>
                </a:cxnLst>
                <a:rect l="0" t="0" r="r" b="b"/>
                <a:pathLst>
                  <a:path w="96" h="94">
                    <a:moveTo>
                      <a:pt x="0" y="0"/>
                    </a:moveTo>
                    <a:lnTo>
                      <a:pt x="0" y="94"/>
                    </a:lnTo>
                    <a:lnTo>
                      <a:pt x="96" y="48"/>
                    </a:lnTo>
                    <a:lnTo>
                      <a:pt x="0" y="0"/>
                    </a:lnTo>
                  </a:path>
                </a:pathLst>
              </a:custGeom>
              <a:solidFill>
                <a:srgbClr val="FFCCFF"/>
              </a:solidFill>
              <a:ln w="7938">
                <a:solidFill>
                  <a:schemeClr val="tx1"/>
                </a:solidFill>
                <a:prstDash val="solid"/>
                <a:round/>
                <a:headEnd/>
                <a:tailEnd/>
              </a:ln>
            </p:spPr>
            <p:txBody>
              <a:bodyPr/>
              <a:lstStyle/>
              <a:p>
                <a:endParaRPr lang="zh-CN" altLang="en-US">
                  <a:ea typeface="楷体" panose="02010609060101010101" pitchFamily="49" charset="-122"/>
                </a:endParaRPr>
              </a:p>
            </p:txBody>
          </p:sp>
          <p:sp>
            <p:nvSpPr>
              <p:cNvPr id="55" name="Freeform 166"/>
              <p:cNvSpPr>
                <a:spLocks/>
              </p:cNvSpPr>
              <p:nvPr/>
            </p:nvSpPr>
            <p:spPr bwMode="auto">
              <a:xfrm>
                <a:off x="1066" y="2955"/>
                <a:ext cx="327" cy="247"/>
              </a:xfrm>
              <a:custGeom>
                <a:avLst/>
                <a:gdLst>
                  <a:gd name="T0" fmla="*/ 0 w 380"/>
                  <a:gd name="T1" fmla="*/ 190 h 380"/>
                  <a:gd name="T2" fmla="*/ 5 w 380"/>
                  <a:gd name="T3" fmla="*/ 147 h 380"/>
                  <a:gd name="T4" fmla="*/ 18 w 380"/>
                  <a:gd name="T5" fmla="*/ 106 h 380"/>
                  <a:gd name="T6" fmla="*/ 41 w 380"/>
                  <a:gd name="T7" fmla="*/ 71 h 380"/>
                  <a:gd name="T8" fmla="*/ 71 w 380"/>
                  <a:gd name="T9" fmla="*/ 40 h 380"/>
                  <a:gd name="T10" fmla="*/ 107 w 380"/>
                  <a:gd name="T11" fmla="*/ 18 h 380"/>
                  <a:gd name="T12" fmla="*/ 147 w 380"/>
                  <a:gd name="T13" fmla="*/ 2 h 380"/>
                  <a:gd name="T14" fmla="*/ 190 w 380"/>
                  <a:gd name="T15" fmla="*/ 0 h 380"/>
                  <a:gd name="T16" fmla="*/ 233 w 380"/>
                  <a:gd name="T17" fmla="*/ 2 h 380"/>
                  <a:gd name="T18" fmla="*/ 271 w 380"/>
                  <a:gd name="T19" fmla="*/ 18 h 380"/>
                  <a:gd name="T20" fmla="*/ 309 w 380"/>
                  <a:gd name="T21" fmla="*/ 40 h 380"/>
                  <a:gd name="T22" fmla="*/ 340 w 380"/>
                  <a:gd name="T23" fmla="*/ 71 h 380"/>
                  <a:gd name="T24" fmla="*/ 360 w 380"/>
                  <a:gd name="T25" fmla="*/ 106 h 380"/>
                  <a:gd name="T26" fmla="*/ 375 w 380"/>
                  <a:gd name="T27" fmla="*/ 147 h 380"/>
                  <a:gd name="T28" fmla="*/ 380 w 380"/>
                  <a:gd name="T29" fmla="*/ 190 h 380"/>
                  <a:gd name="T30" fmla="*/ 375 w 380"/>
                  <a:gd name="T31" fmla="*/ 231 h 380"/>
                  <a:gd name="T32" fmla="*/ 360 w 380"/>
                  <a:gd name="T33" fmla="*/ 271 h 380"/>
                  <a:gd name="T34" fmla="*/ 340 w 380"/>
                  <a:gd name="T35" fmla="*/ 307 h 380"/>
                  <a:gd name="T36" fmla="*/ 309 w 380"/>
                  <a:gd name="T37" fmla="*/ 337 h 380"/>
                  <a:gd name="T38" fmla="*/ 271 w 380"/>
                  <a:gd name="T39" fmla="*/ 360 h 380"/>
                  <a:gd name="T40" fmla="*/ 233 w 380"/>
                  <a:gd name="T41" fmla="*/ 375 h 380"/>
                  <a:gd name="T42" fmla="*/ 190 w 380"/>
                  <a:gd name="T43" fmla="*/ 380 h 380"/>
                  <a:gd name="T44" fmla="*/ 147 w 380"/>
                  <a:gd name="T45" fmla="*/ 375 h 380"/>
                  <a:gd name="T46" fmla="*/ 107 w 380"/>
                  <a:gd name="T47" fmla="*/ 360 h 380"/>
                  <a:gd name="T48" fmla="*/ 71 w 380"/>
                  <a:gd name="T49" fmla="*/ 337 h 380"/>
                  <a:gd name="T50" fmla="*/ 41 w 380"/>
                  <a:gd name="T51" fmla="*/ 307 h 380"/>
                  <a:gd name="T52" fmla="*/ 18 w 380"/>
                  <a:gd name="T53" fmla="*/ 271 h 380"/>
                  <a:gd name="T54" fmla="*/ 5 w 380"/>
                  <a:gd name="T55" fmla="*/ 231 h 380"/>
                  <a:gd name="T56" fmla="*/ 0 w 380"/>
                  <a:gd name="T57" fmla="*/ 190 h 3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80" h="380">
                    <a:moveTo>
                      <a:pt x="0" y="190"/>
                    </a:moveTo>
                    <a:lnTo>
                      <a:pt x="5" y="147"/>
                    </a:lnTo>
                    <a:lnTo>
                      <a:pt x="18" y="106"/>
                    </a:lnTo>
                    <a:lnTo>
                      <a:pt x="41" y="71"/>
                    </a:lnTo>
                    <a:lnTo>
                      <a:pt x="71" y="40"/>
                    </a:lnTo>
                    <a:lnTo>
                      <a:pt x="107" y="18"/>
                    </a:lnTo>
                    <a:lnTo>
                      <a:pt x="147" y="2"/>
                    </a:lnTo>
                    <a:lnTo>
                      <a:pt x="190" y="0"/>
                    </a:lnTo>
                    <a:lnTo>
                      <a:pt x="233" y="2"/>
                    </a:lnTo>
                    <a:lnTo>
                      <a:pt x="271" y="18"/>
                    </a:lnTo>
                    <a:lnTo>
                      <a:pt x="309" y="40"/>
                    </a:lnTo>
                    <a:lnTo>
                      <a:pt x="340" y="71"/>
                    </a:lnTo>
                    <a:lnTo>
                      <a:pt x="360" y="106"/>
                    </a:lnTo>
                    <a:lnTo>
                      <a:pt x="375" y="147"/>
                    </a:lnTo>
                    <a:lnTo>
                      <a:pt x="380" y="190"/>
                    </a:lnTo>
                    <a:lnTo>
                      <a:pt x="375" y="231"/>
                    </a:lnTo>
                    <a:lnTo>
                      <a:pt x="360" y="271"/>
                    </a:lnTo>
                    <a:lnTo>
                      <a:pt x="340" y="307"/>
                    </a:lnTo>
                    <a:lnTo>
                      <a:pt x="309" y="337"/>
                    </a:lnTo>
                    <a:lnTo>
                      <a:pt x="271" y="360"/>
                    </a:lnTo>
                    <a:lnTo>
                      <a:pt x="233" y="375"/>
                    </a:lnTo>
                    <a:lnTo>
                      <a:pt x="190" y="380"/>
                    </a:lnTo>
                    <a:lnTo>
                      <a:pt x="147" y="375"/>
                    </a:lnTo>
                    <a:lnTo>
                      <a:pt x="107" y="360"/>
                    </a:lnTo>
                    <a:lnTo>
                      <a:pt x="71" y="337"/>
                    </a:lnTo>
                    <a:lnTo>
                      <a:pt x="41" y="307"/>
                    </a:lnTo>
                    <a:lnTo>
                      <a:pt x="18" y="271"/>
                    </a:lnTo>
                    <a:lnTo>
                      <a:pt x="5" y="231"/>
                    </a:lnTo>
                    <a:lnTo>
                      <a:pt x="0" y="190"/>
                    </a:lnTo>
                    <a:close/>
                  </a:path>
                </a:pathLst>
              </a:custGeom>
              <a:solidFill>
                <a:srgbClr val="FFCCFF"/>
              </a:solidFill>
              <a:ln w="7938">
                <a:solidFill>
                  <a:schemeClr val="tx1"/>
                </a:solidFill>
                <a:prstDash val="solid"/>
                <a:round/>
                <a:headEnd/>
                <a:tailEnd/>
              </a:ln>
            </p:spPr>
            <p:txBody>
              <a:bodyPr/>
              <a:lstStyle/>
              <a:p>
                <a:endParaRPr lang="zh-CN" altLang="en-US">
                  <a:ea typeface="楷体" panose="02010609060101010101" pitchFamily="49" charset="-122"/>
                </a:endParaRPr>
              </a:p>
            </p:txBody>
          </p:sp>
          <p:sp>
            <p:nvSpPr>
              <p:cNvPr id="56" name="Line 167"/>
              <p:cNvSpPr>
                <a:spLocks noChangeShapeType="1"/>
              </p:cNvSpPr>
              <p:nvPr/>
            </p:nvSpPr>
            <p:spPr bwMode="auto">
              <a:xfrm>
                <a:off x="1066" y="3079"/>
                <a:ext cx="327" cy="0"/>
              </a:xfrm>
              <a:prstGeom prst="line">
                <a:avLst/>
              </a:prstGeom>
              <a:noFill/>
              <a:ln w="23813">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ea typeface="楷体" panose="02010609060101010101" pitchFamily="49" charset="-122"/>
                </a:endParaRPr>
              </a:p>
            </p:txBody>
          </p:sp>
          <p:sp>
            <p:nvSpPr>
              <p:cNvPr id="57" name="Line 168"/>
              <p:cNvSpPr>
                <a:spLocks noChangeShapeType="1"/>
              </p:cNvSpPr>
              <p:nvPr/>
            </p:nvSpPr>
            <p:spPr bwMode="auto">
              <a:xfrm>
                <a:off x="1229" y="2955"/>
                <a:ext cx="1" cy="247"/>
              </a:xfrm>
              <a:prstGeom prst="line">
                <a:avLst/>
              </a:prstGeom>
              <a:noFill/>
              <a:ln w="23813">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ea typeface="楷体" panose="02010609060101010101" pitchFamily="49" charset="-122"/>
                </a:endParaRPr>
              </a:p>
            </p:txBody>
          </p:sp>
          <p:sp>
            <p:nvSpPr>
              <p:cNvPr id="58" name="Freeform 169"/>
              <p:cNvSpPr>
                <a:spLocks/>
              </p:cNvSpPr>
              <p:nvPr/>
            </p:nvSpPr>
            <p:spPr bwMode="auto">
              <a:xfrm>
                <a:off x="1188" y="2892"/>
                <a:ext cx="83" cy="63"/>
              </a:xfrm>
              <a:custGeom>
                <a:avLst/>
                <a:gdLst>
                  <a:gd name="T0" fmla="*/ 96 w 96"/>
                  <a:gd name="T1" fmla="*/ 0 h 97"/>
                  <a:gd name="T2" fmla="*/ 0 w 96"/>
                  <a:gd name="T3" fmla="*/ 0 h 97"/>
                  <a:gd name="T4" fmla="*/ 48 w 96"/>
                  <a:gd name="T5" fmla="*/ 97 h 97"/>
                  <a:gd name="T6" fmla="*/ 96 w 96"/>
                  <a:gd name="T7" fmla="*/ 0 h 97"/>
                </a:gdLst>
                <a:ahLst/>
                <a:cxnLst>
                  <a:cxn ang="0">
                    <a:pos x="T0" y="T1"/>
                  </a:cxn>
                  <a:cxn ang="0">
                    <a:pos x="T2" y="T3"/>
                  </a:cxn>
                  <a:cxn ang="0">
                    <a:pos x="T4" y="T5"/>
                  </a:cxn>
                  <a:cxn ang="0">
                    <a:pos x="T6" y="T7"/>
                  </a:cxn>
                </a:cxnLst>
                <a:rect l="0" t="0" r="r" b="b"/>
                <a:pathLst>
                  <a:path w="96" h="97">
                    <a:moveTo>
                      <a:pt x="96" y="0"/>
                    </a:moveTo>
                    <a:lnTo>
                      <a:pt x="0" y="0"/>
                    </a:lnTo>
                    <a:lnTo>
                      <a:pt x="48" y="97"/>
                    </a:lnTo>
                    <a:lnTo>
                      <a:pt x="96" y="0"/>
                    </a:lnTo>
                    <a:close/>
                  </a:path>
                </a:pathLst>
              </a:custGeom>
              <a:solidFill>
                <a:srgbClr val="FFCCFF"/>
              </a:solidFill>
              <a:ln w="9525">
                <a:solidFill>
                  <a:schemeClr val="tx1"/>
                </a:solidFill>
                <a:round/>
                <a:headEnd/>
                <a:tailEnd/>
              </a:ln>
            </p:spPr>
            <p:txBody>
              <a:bodyPr/>
              <a:lstStyle/>
              <a:p>
                <a:endParaRPr lang="zh-CN" altLang="en-US">
                  <a:ea typeface="楷体" panose="02010609060101010101" pitchFamily="49" charset="-122"/>
                </a:endParaRPr>
              </a:p>
            </p:txBody>
          </p:sp>
          <p:sp>
            <p:nvSpPr>
              <p:cNvPr id="59" name="Freeform 170"/>
              <p:cNvSpPr>
                <a:spLocks/>
              </p:cNvSpPr>
              <p:nvPr/>
            </p:nvSpPr>
            <p:spPr bwMode="auto">
              <a:xfrm>
                <a:off x="1188" y="2892"/>
                <a:ext cx="83" cy="63"/>
              </a:xfrm>
              <a:custGeom>
                <a:avLst/>
                <a:gdLst>
                  <a:gd name="T0" fmla="*/ 96 w 96"/>
                  <a:gd name="T1" fmla="*/ 0 h 97"/>
                  <a:gd name="T2" fmla="*/ 0 w 96"/>
                  <a:gd name="T3" fmla="*/ 0 h 97"/>
                  <a:gd name="T4" fmla="*/ 48 w 96"/>
                  <a:gd name="T5" fmla="*/ 97 h 97"/>
                  <a:gd name="T6" fmla="*/ 96 w 96"/>
                  <a:gd name="T7" fmla="*/ 0 h 97"/>
                </a:gdLst>
                <a:ahLst/>
                <a:cxnLst>
                  <a:cxn ang="0">
                    <a:pos x="T0" y="T1"/>
                  </a:cxn>
                  <a:cxn ang="0">
                    <a:pos x="T2" y="T3"/>
                  </a:cxn>
                  <a:cxn ang="0">
                    <a:pos x="T4" y="T5"/>
                  </a:cxn>
                  <a:cxn ang="0">
                    <a:pos x="T6" y="T7"/>
                  </a:cxn>
                </a:cxnLst>
                <a:rect l="0" t="0" r="r" b="b"/>
                <a:pathLst>
                  <a:path w="96" h="97">
                    <a:moveTo>
                      <a:pt x="96" y="0"/>
                    </a:moveTo>
                    <a:lnTo>
                      <a:pt x="0" y="0"/>
                    </a:lnTo>
                    <a:lnTo>
                      <a:pt x="48" y="97"/>
                    </a:lnTo>
                    <a:lnTo>
                      <a:pt x="96" y="0"/>
                    </a:lnTo>
                  </a:path>
                </a:pathLst>
              </a:custGeom>
              <a:solidFill>
                <a:srgbClr val="FFCCFF"/>
              </a:solidFill>
              <a:ln w="7938">
                <a:solidFill>
                  <a:schemeClr val="tx1"/>
                </a:solidFill>
                <a:prstDash val="solid"/>
                <a:round/>
                <a:headEnd/>
                <a:tailEnd/>
              </a:ln>
            </p:spPr>
            <p:txBody>
              <a:bodyPr/>
              <a:lstStyle/>
              <a:p>
                <a:endParaRPr lang="zh-CN" altLang="en-US">
                  <a:ea typeface="楷体" panose="02010609060101010101" pitchFamily="49" charset="-122"/>
                </a:endParaRPr>
              </a:p>
            </p:txBody>
          </p:sp>
        </p:grpSp>
        <p:grpSp>
          <p:nvGrpSpPr>
            <p:cNvPr id="45" name="Group 171"/>
            <p:cNvGrpSpPr>
              <a:grpSpLocks/>
            </p:cNvGrpSpPr>
            <p:nvPr/>
          </p:nvGrpSpPr>
          <p:grpSpPr bwMode="auto">
            <a:xfrm>
              <a:off x="1229" y="2343"/>
              <a:ext cx="1061" cy="549"/>
              <a:chOff x="979" y="1468"/>
              <a:chExt cx="1233" cy="846"/>
            </a:xfrm>
          </p:grpSpPr>
          <p:sp>
            <p:nvSpPr>
              <p:cNvPr id="51" name="Freeform 172"/>
              <p:cNvSpPr>
                <a:spLocks/>
              </p:cNvSpPr>
              <p:nvPr/>
            </p:nvSpPr>
            <p:spPr bwMode="auto">
              <a:xfrm>
                <a:off x="979" y="1468"/>
                <a:ext cx="1233" cy="571"/>
              </a:xfrm>
              <a:custGeom>
                <a:avLst/>
                <a:gdLst>
                  <a:gd name="T0" fmla="*/ 1233 w 1233"/>
                  <a:gd name="T1" fmla="*/ 0 h 571"/>
                  <a:gd name="T2" fmla="*/ 1233 w 1233"/>
                  <a:gd name="T3" fmla="*/ 191 h 571"/>
                  <a:gd name="T4" fmla="*/ 0 w 1233"/>
                  <a:gd name="T5" fmla="*/ 191 h 571"/>
                  <a:gd name="T6" fmla="*/ 0 w 1233"/>
                  <a:gd name="T7" fmla="*/ 571 h 571"/>
                </a:gdLst>
                <a:ahLst/>
                <a:cxnLst>
                  <a:cxn ang="0">
                    <a:pos x="T0" y="T1"/>
                  </a:cxn>
                  <a:cxn ang="0">
                    <a:pos x="T2" y="T3"/>
                  </a:cxn>
                  <a:cxn ang="0">
                    <a:pos x="T4" y="T5"/>
                  </a:cxn>
                  <a:cxn ang="0">
                    <a:pos x="T6" y="T7"/>
                  </a:cxn>
                </a:cxnLst>
                <a:rect l="0" t="0" r="r" b="b"/>
                <a:pathLst>
                  <a:path w="1233" h="571">
                    <a:moveTo>
                      <a:pt x="1233" y="0"/>
                    </a:moveTo>
                    <a:lnTo>
                      <a:pt x="1233" y="191"/>
                    </a:lnTo>
                    <a:lnTo>
                      <a:pt x="0" y="191"/>
                    </a:lnTo>
                    <a:lnTo>
                      <a:pt x="0" y="571"/>
                    </a:lnTo>
                  </a:path>
                </a:pathLst>
              </a:custGeom>
              <a:noFill/>
              <a:ln w="7938">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楷体" panose="02010609060101010101" pitchFamily="49" charset="-122"/>
                </a:endParaRPr>
              </a:p>
            </p:txBody>
          </p:sp>
          <p:sp>
            <p:nvSpPr>
              <p:cNvPr id="52" name="Line 173"/>
              <p:cNvSpPr>
                <a:spLocks noChangeShapeType="1"/>
              </p:cNvSpPr>
              <p:nvPr/>
            </p:nvSpPr>
            <p:spPr bwMode="auto">
              <a:xfrm>
                <a:off x="979" y="2028"/>
                <a:ext cx="1" cy="286"/>
              </a:xfrm>
              <a:prstGeom prst="line">
                <a:avLst/>
              </a:prstGeom>
              <a:noFill/>
              <a:ln w="7938">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ea typeface="楷体" panose="02010609060101010101" pitchFamily="49" charset="-122"/>
                </a:endParaRPr>
              </a:p>
            </p:txBody>
          </p:sp>
        </p:grpSp>
        <p:sp>
          <p:nvSpPr>
            <p:cNvPr id="46" name="Freeform 175"/>
            <p:cNvSpPr>
              <a:spLocks/>
            </p:cNvSpPr>
            <p:nvPr/>
          </p:nvSpPr>
          <p:spPr bwMode="auto">
            <a:xfrm>
              <a:off x="1473" y="3541"/>
              <a:ext cx="83" cy="61"/>
            </a:xfrm>
            <a:custGeom>
              <a:avLst/>
              <a:gdLst>
                <a:gd name="T0" fmla="*/ 0 w 96"/>
                <a:gd name="T1" fmla="*/ 0 h 94"/>
                <a:gd name="T2" fmla="*/ 0 w 96"/>
                <a:gd name="T3" fmla="*/ 94 h 94"/>
                <a:gd name="T4" fmla="*/ 96 w 96"/>
                <a:gd name="T5" fmla="*/ 49 h 94"/>
                <a:gd name="T6" fmla="*/ 0 w 96"/>
                <a:gd name="T7" fmla="*/ 0 h 94"/>
              </a:gdLst>
              <a:ahLst/>
              <a:cxnLst>
                <a:cxn ang="0">
                  <a:pos x="T0" y="T1"/>
                </a:cxn>
                <a:cxn ang="0">
                  <a:pos x="T2" y="T3"/>
                </a:cxn>
                <a:cxn ang="0">
                  <a:pos x="T4" y="T5"/>
                </a:cxn>
                <a:cxn ang="0">
                  <a:pos x="T6" y="T7"/>
                </a:cxn>
              </a:cxnLst>
              <a:rect l="0" t="0" r="r" b="b"/>
              <a:pathLst>
                <a:path w="96" h="94">
                  <a:moveTo>
                    <a:pt x="0" y="0"/>
                  </a:moveTo>
                  <a:lnTo>
                    <a:pt x="0" y="94"/>
                  </a:lnTo>
                  <a:lnTo>
                    <a:pt x="96" y="49"/>
                  </a:lnTo>
                  <a:lnTo>
                    <a:pt x="0" y="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47" name="Freeform 176"/>
            <p:cNvSpPr>
              <a:spLocks/>
            </p:cNvSpPr>
            <p:nvPr/>
          </p:nvSpPr>
          <p:spPr bwMode="auto">
            <a:xfrm>
              <a:off x="1473" y="3541"/>
              <a:ext cx="83" cy="61"/>
            </a:xfrm>
            <a:custGeom>
              <a:avLst/>
              <a:gdLst>
                <a:gd name="T0" fmla="*/ 0 w 96"/>
                <a:gd name="T1" fmla="*/ 0 h 94"/>
                <a:gd name="T2" fmla="*/ 0 w 96"/>
                <a:gd name="T3" fmla="*/ 94 h 94"/>
                <a:gd name="T4" fmla="*/ 96 w 96"/>
                <a:gd name="T5" fmla="*/ 49 h 94"/>
                <a:gd name="T6" fmla="*/ 0 w 96"/>
                <a:gd name="T7" fmla="*/ 0 h 94"/>
              </a:gdLst>
              <a:ahLst/>
              <a:cxnLst>
                <a:cxn ang="0">
                  <a:pos x="T0" y="T1"/>
                </a:cxn>
                <a:cxn ang="0">
                  <a:pos x="T2" y="T3"/>
                </a:cxn>
                <a:cxn ang="0">
                  <a:pos x="T4" y="T5"/>
                </a:cxn>
                <a:cxn ang="0">
                  <a:pos x="T6" y="T7"/>
                </a:cxn>
              </a:cxnLst>
              <a:rect l="0" t="0" r="r" b="b"/>
              <a:pathLst>
                <a:path w="96" h="94">
                  <a:moveTo>
                    <a:pt x="0" y="0"/>
                  </a:moveTo>
                  <a:lnTo>
                    <a:pt x="0" y="94"/>
                  </a:lnTo>
                  <a:lnTo>
                    <a:pt x="96" y="49"/>
                  </a:lnTo>
                  <a:lnTo>
                    <a:pt x="0" y="0"/>
                  </a:lnTo>
                </a:path>
              </a:pathLst>
            </a:custGeom>
            <a:solidFill>
              <a:schemeClr val="tx1"/>
            </a:solidFill>
            <a:ln w="7938">
              <a:solidFill>
                <a:schemeClr val="tx1"/>
              </a:solidFill>
              <a:prstDash val="solid"/>
              <a:round/>
              <a:headEnd/>
              <a:tailEnd/>
            </a:ln>
          </p:spPr>
          <p:txBody>
            <a:bodyPr/>
            <a:lstStyle/>
            <a:p>
              <a:endParaRPr lang="zh-CN" altLang="en-US">
                <a:ea typeface="楷体" panose="02010609060101010101" pitchFamily="49" charset="-122"/>
              </a:endParaRPr>
            </a:p>
          </p:txBody>
        </p:sp>
        <p:sp>
          <p:nvSpPr>
            <p:cNvPr id="48" name="Line 177"/>
            <p:cNvSpPr>
              <a:spLocks noChangeShapeType="1"/>
            </p:cNvSpPr>
            <p:nvPr/>
          </p:nvSpPr>
          <p:spPr bwMode="auto">
            <a:xfrm>
              <a:off x="1229" y="3573"/>
              <a:ext cx="244" cy="0"/>
            </a:xfrm>
            <a:prstGeom prst="line">
              <a:avLst/>
            </a:prstGeom>
            <a:noFill/>
            <a:ln w="7938">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ea typeface="楷体" panose="02010609060101010101" pitchFamily="49" charset="-122"/>
              </a:endParaRPr>
            </a:p>
          </p:txBody>
        </p:sp>
        <p:sp>
          <p:nvSpPr>
            <p:cNvPr id="49" name="Line 178"/>
            <p:cNvSpPr>
              <a:spLocks noChangeShapeType="1"/>
            </p:cNvSpPr>
            <p:nvPr/>
          </p:nvSpPr>
          <p:spPr bwMode="auto">
            <a:xfrm>
              <a:off x="1229" y="3202"/>
              <a:ext cx="1" cy="371"/>
            </a:xfrm>
            <a:prstGeom prst="line">
              <a:avLst/>
            </a:prstGeom>
            <a:noFill/>
            <a:ln w="7938">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ea typeface="楷体" panose="02010609060101010101" pitchFamily="49" charset="-122"/>
              </a:endParaRPr>
            </a:p>
          </p:txBody>
        </p:sp>
      </p:grpSp>
      <p:sp>
        <p:nvSpPr>
          <p:cNvPr id="65" name="Oval 196"/>
          <p:cNvSpPr>
            <a:spLocks noChangeArrowheads="1"/>
          </p:cNvSpPr>
          <p:nvPr/>
        </p:nvSpPr>
        <p:spPr bwMode="auto">
          <a:xfrm>
            <a:off x="3586113" y="2634506"/>
            <a:ext cx="71437" cy="73025"/>
          </a:xfrm>
          <a:prstGeom prst="ellipse">
            <a:avLst/>
          </a:prstGeom>
          <a:solidFill>
            <a:srgbClr val="FF3300"/>
          </a:solidFill>
          <a:ln w="9525">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66" name="Oval 197"/>
          <p:cNvSpPr>
            <a:spLocks noChangeArrowheads="1"/>
          </p:cNvSpPr>
          <p:nvPr/>
        </p:nvSpPr>
        <p:spPr bwMode="auto">
          <a:xfrm>
            <a:off x="6351538" y="2632919"/>
            <a:ext cx="71437" cy="73025"/>
          </a:xfrm>
          <a:prstGeom prst="ellipse">
            <a:avLst/>
          </a:prstGeom>
          <a:solidFill>
            <a:srgbClr val="FF3300"/>
          </a:solidFill>
          <a:ln w="9525">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grpSp>
        <p:nvGrpSpPr>
          <p:cNvPr id="67" name="Group 201"/>
          <p:cNvGrpSpPr>
            <a:grpSpLocks/>
          </p:cNvGrpSpPr>
          <p:nvPr/>
        </p:nvGrpSpPr>
        <p:grpSpPr bwMode="auto">
          <a:xfrm>
            <a:off x="1692225" y="3821956"/>
            <a:ext cx="503238" cy="433388"/>
            <a:chOff x="1066" y="3701"/>
            <a:chExt cx="317" cy="273"/>
          </a:xfrm>
        </p:grpSpPr>
        <p:sp>
          <p:nvSpPr>
            <p:cNvPr id="68" name="Oval 198"/>
            <p:cNvSpPr>
              <a:spLocks noChangeArrowheads="1"/>
            </p:cNvSpPr>
            <p:nvPr/>
          </p:nvSpPr>
          <p:spPr bwMode="auto">
            <a:xfrm>
              <a:off x="1066" y="3701"/>
              <a:ext cx="317" cy="273"/>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69" name="Line 199"/>
            <p:cNvSpPr>
              <a:spLocks noChangeShapeType="1"/>
            </p:cNvSpPr>
            <p:nvPr/>
          </p:nvSpPr>
          <p:spPr bwMode="auto">
            <a:xfrm>
              <a:off x="1066" y="3838"/>
              <a:ext cx="31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70" name="Line 200"/>
            <p:cNvSpPr>
              <a:spLocks noChangeShapeType="1"/>
            </p:cNvSpPr>
            <p:nvPr/>
          </p:nvSpPr>
          <p:spPr bwMode="auto">
            <a:xfrm>
              <a:off x="1229" y="3702"/>
              <a:ext cx="0"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
        <p:nvSpPr>
          <p:cNvPr id="71" name="Oval 202"/>
          <p:cNvSpPr>
            <a:spLocks noChangeArrowheads="1"/>
          </p:cNvSpPr>
          <p:nvPr/>
        </p:nvSpPr>
        <p:spPr bwMode="auto">
          <a:xfrm>
            <a:off x="1930350" y="3985469"/>
            <a:ext cx="71438" cy="73025"/>
          </a:xfrm>
          <a:prstGeom prst="ellipse">
            <a:avLst/>
          </a:prstGeom>
          <a:solidFill>
            <a:srgbClr val="FF3300"/>
          </a:solidFill>
          <a:ln w="9525">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72" name="Text Box 203"/>
          <p:cNvSpPr txBox="1">
            <a:spLocks noChangeArrowheads="1"/>
          </p:cNvSpPr>
          <p:nvPr/>
        </p:nvSpPr>
        <p:spPr bwMode="auto">
          <a:xfrm>
            <a:off x="6178500" y="4649044"/>
            <a:ext cx="4318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b="1">
                <a:solidFill>
                  <a:srgbClr val="FF3300"/>
                </a:solidFill>
                <a:ea typeface="楷体" panose="02010609060101010101" pitchFamily="49" charset="-122"/>
              </a:rPr>
              <a:t>8</a:t>
            </a:r>
          </a:p>
        </p:txBody>
      </p:sp>
      <p:sp>
        <p:nvSpPr>
          <p:cNvPr id="73" name="Oval 204"/>
          <p:cNvSpPr>
            <a:spLocks noChangeArrowheads="1"/>
          </p:cNvSpPr>
          <p:nvPr/>
        </p:nvSpPr>
        <p:spPr bwMode="auto">
          <a:xfrm>
            <a:off x="7489775" y="2663081"/>
            <a:ext cx="71438" cy="73025"/>
          </a:xfrm>
          <a:prstGeom prst="ellipse">
            <a:avLst/>
          </a:prstGeom>
          <a:solidFill>
            <a:srgbClr val="FF3300"/>
          </a:solidFill>
          <a:ln w="9525">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74" name="Text Box 205"/>
          <p:cNvSpPr txBox="1">
            <a:spLocks noChangeArrowheads="1"/>
          </p:cNvSpPr>
          <p:nvPr/>
        </p:nvSpPr>
        <p:spPr bwMode="auto">
          <a:xfrm>
            <a:off x="7172275" y="4649044"/>
            <a:ext cx="6477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b="1">
                <a:solidFill>
                  <a:srgbClr val="FF3300"/>
                </a:solidFill>
                <a:ea typeface="楷体" panose="02010609060101010101" pitchFamily="49" charset="-122"/>
              </a:rPr>
              <a:t>1C4</a:t>
            </a:r>
          </a:p>
        </p:txBody>
      </p:sp>
    </p:spTree>
    <p:extLst>
      <p:ext uri="{BB962C8B-B14F-4D97-AF65-F5344CB8AC3E}">
        <p14:creationId xmlns:p14="http://schemas.microsoft.com/office/powerpoint/2010/main" val="3323623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5"/>
                                        </p:tgtEl>
                                        <p:attrNameLst>
                                          <p:attrName>style.visibility</p:attrName>
                                        </p:attrNameLst>
                                      </p:cBhvr>
                                      <p:to>
                                        <p:strVal val="visible"/>
                                      </p:to>
                                    </p:set>
                                  </p:childTnLst>
                                </p:cTn>
                              </p:par>
                            </p:childTnLst>
                          </p:cTn>
                        </p:par>
                        <p:par>
                          <p:cTn id="7" fill="hold">
                            <p:stCondLst>
                              <p:cond delay="0"/>
                            </p:stCondLst>
                            <p:childTnLst>
                              <p:par>
                                <p:cTn id="8" presetID="0" presetClass="path" presetSubtype="0" accel="50000" decel="50000" fill="hold" grpId="1" nodeType="afterEffect">
                                  <p:stCondLst>
                                    <p:cond delay="0"/>
                                  </p:stCondLst>
                                  <p:childTnLst>
                                    <p:animMotion origin="layout" path="M 0.00087 0.00926 L 0.00087 0.06181 " pathEditMode="relative" rAng="0" ptsTypes="AA">
                                      <p:cBhvr>
                                        <p:cTn id="9" dur="1000" fill="hold"/>
                                        <p:tgtEl>
                                          <p:spTgt spid="65"/>
                                        </p:tgtEl>
                                        <p:attrNameLst>
                                          <p:attrName>ppt_x</p:attrName>
                                          <p:attrName>ppt_y</p:attrName>
                                        </p:attrNameLst>
                                      </p:cBhvr>
                                      <p:rCtr x="0" y="2616"/>
                                    </p:animMotion>
                                  </p:childTnLst>
                                </p:cTn>
                              </p:par>
                            </p:childTnLst>
                          </p:cTn>
                        </p:par>
                        <p:par>
                          <p:cTn id="10" fill="hold">
                            <p:stCondLst>
                              <p:cond delay="1000"/>
                            </p:stCondLst>
                            <p:childTnLst>
                              <p:par>
                                <p:cTn id="11" presetID="0" presetClass="path" presetSubtype="0" accel="50000" decel="50000" fill="hold" grpId="2" nodeType="afterEffect">
                                  <p:stCondLst>
                                    <p:cond delay="0"/>
                                  </p:stCondLst>
                                  <p:childTnLst>
                                    <p:animMotion origin="layout" path="M 0.00087 0.06181 L -0.18021 0.06181 " pathEditMode="relative" rAng="0" ptsTypes="AA">
                                      <p:cBhvr>
                                        <p:cTn id="12" dur="1000" fill="hold"/>
                                        <p:tgtEl>
                                          <p:spTgt spid="65"/>
                                        </p:tgtEl>
                                        <p:attrNameLst>
                                          <p:attrName>ppt_x</p:attrName>
                                          <p:attrName>ppt_y</p:attrName>
                                        </p:attrNameLst>
                                      </p:cBhvr>
                                      <p:rCtr x="-9063" y="0"/>
                                    </p:animMotion>
                                  </p:childTnLst>
                                </p:cTn>
                              </p:par>
                            </p:childTnLst>
                          </p:cTn>
                        </p:par>
                        <p:par>
                          <p:cTn id="13" fill="hold">
                            <p:stCondLst>
                              <p:cond delay="2000"/>
                            </p:stCondLst>
                            <p:childTnLst>
                              <p:par>
                                <p:cTn id="14" presetID="0" presetClass="path" presetSubtype="0" accel="50000" decel="50000" fill="hold" grpId="3" nodeType="afterEffect">
                                  <p:stCondLst>
                                    <p:cond delay="0"/>
                                  </p:stCondLst>
                                  <p:childTnLst>
                                    <p:animMotion origin="layout" path="M -0.18021 0.06181 L -0.18021 0.19792 " pathEditMode="relative" rAng="0" ptsTypes="AA">
                                      <p:cBhvr>
                                        <p:cTn id="15" dur="1000" fill="hold"/>
                                        <p:tgtEl>
                                          <p:spTgt spid="65"/>
                                        </p:tgtEl>
                                        <p:attrNameLst>
                                          <p:attrName>ppt_x</p:attrName>
                                          <p:attrName>ppt_y</p:attrName>
                                        </p:attrNameLst>
                                      </p:cBhvr>
                                      <p:rCtr x="0" y="6806"/>
                                    </p:animMotion>
                                  </p:childTnLst>
                                </p:cTn>
                              </p:par>
                            </p:childTnLst>
                          </p:cTn>
                        </p:par>
                        <p:par>
                          <p:cTn id="16" fill="hold">
                            <p:stCondLst>
                              <p:cond delay="3000"/>
                            </p:stCondLst>
                            <p:childTnLst>
                              <p:par>
                                <p:cTn id="17" presetID="1" presetClass="entr" presetSubtype="0" fill="hold" grpId="0" nodeType="afterEffect">
                                  <p:stCondLst>
                                    <p:cond delay="0"/>
                                  </p:stCondLst>
                                  <p:childTnLst>
                                    <p:set>
                                      <p:cBhvr>
                                        <p:cTn id="18" dur="1" fill="hold">
                                          <p:stCondLst>
                                            <p:cond delay="0"/>
                                          </p:stCondLst>
                                        </p:cTn>
                                        <p:tgtEl>
                                          <p:spTgt spid="66"/>
                                        </p:tgtEl>
                                        <p:attrNameLst>
                                          <p:attrName>style.visibility</p:attrName>
                                        </p:attrNameLst>
                                      </p:cBhvr>
                                      <p:to>
                                        <p:strVal val="visible"/>
                                      </p:to>
                                    </p:set>
                                  </p:childTnLst>
                                </p:cTn>
                              </p:par>
                            </p:childTnLst>
                          </p:cTn>
                        </p:par>
                        <p:par>
                          <p:cTn id="19" fill="hold">
                            <p:stCondLst>
                              <p:cond delay="3000"/>
                            </p:stCondLst>
                            <p:childTnLst>
                              <p:par>
                                <p:cTn id="20" presetID="0" presetClass="path" presetSubtype="0" accel="50000" decel="50000" fill="hold" grpId="1" nodeType="afterEffect">
                                  <p:stCondLst>
                                    <p:cond delay="0"/>
                                  </p:stCondLst>
                                  <p:childTnLst>
                                    <p:animMotion origin="layout" path="M -1.94444E-6 -1.85185E-6 L -1.94444E-6 0.10509 " pathEditMode="relative" rAng="0" ptsTypes="AA">
                                      <p:cBhvr>
                                        <p:cTn id="21" dur="1000" fill="hold"/>
                                        <p:tgtEl>
                                          <p:spTgt spid="66"/>
                                        </p:tgtEl>
                                        <p:attrNameLst>
                                          <p:attrName>ppt_x</p:attrName>
                                          <p:attrName>ppt_y</p:attrName>
                                        </p:attrNameLst>
                                      </p:cBhvr>
                                      <p:rCtr x="0" y="5255"/>
                                    </p:animMotion>
                                  </p:childTnLst>
                                </p:cTn>
                              </p:par>
                            </p:childTnLst>
                          </p:cTn>
                        </p:par>
                        <p:par>
                          <p:cTn id="22" fill="hold">
                            <p:stCondLst>
                              <p:cond delay="4000"/>
                            </p:stCondLst>
                            <p:childTnLst>
                              <p:par>
                                <p:cTn id="23" presetID="0" presetClass="path" presetSubtype="0" accel="50000" decel="50000" fill="hold" grpId="2" nodeType="afterEffect">
                                  <p:stCondLst>
                                    <p:cond delay="0"/>
                                  </p:stCondLst>
                                  <p:childTnLst>
                                    <p:animMotion origin="layout" path="M -1.94444E-6 0.10509 L -0.56701 0.10509 " pathEditMode="relative" rAng="0" ptsTypes="AA">
                                      <p:cBhvr>
                                        <p:cTn id="24" dur="1000" fill="hold"/>
                                        <p:tgtEl>
                                          <p:spTgt spid="66"/>
                                        </p:tgtEl>
                                        <p:attrNameLst>
                                          <p:attrName>ppt_x</p:attrName>
                                          <p:attrName>ppt_y</p:attrName>
                                        </p:attrNameLst>
                                      </p:cBhvr>
                                      <p:rCtr x="-28351" y="0"/>
                                    </p:animMotion>
                                  </p:childTnLst>
                                </p:cTn>
                              </p:par>
                            </p:childTnLst>
                          </p:cTn>
                        </p:par>
                        <p:par>
                          <p:cTn id="25" fill="hold">
                            <p:stCondLst>
                              <p:cond delay="5000"/>
                            </p:stCondLst>
                            <p:childTnLst>
                              <p:par>
                                <p:cTn id="26" presetID="0" presetClass="path" presetSubtype="0" accel="50000" decel="50000" fill="hold" grpId="3" nodeType="afterEffect">
                                  <p:stCondLst>
                                    <p:cond delay="0"/>
                                  </p:stCondLst>
                                  <p:childTnLst>
                                    <p:animMotion origin="layout" path="M -0.56701 0.10509 L -0.56701 0.19931 " pathEditMode="relative" rAng="0" ptsTypes="AA">
                                      <p:cBhvr>
                                        <p:cTn id="27" dur="1000" fill="hold"/>
                                        <p:tgtEl>
                                          <p:spTgt spid="66"/>
                                        </p:tgtEl>
                                        <p:attrNameLst>
                                          <p:attrName>ppt_x</p:attrName>
                                          <p:attrName>ppt_y</p:attrName>
                                        </p:attrNameLst>
                                      </p:cBhvr>
                                      <p:rCtr x="0" y="4699"/>
                                    </p:animMotion>
                                  </p:childTnLst>
                                </p:cTn>
                              </p:par>
                            </p:childTnLst>
                          </p:cTn>
                        </p:par>
                        <p:par>
                          <p:cTn id="28" fill="hold">
                            <p:stCondLst>
                              <p:cond delay="6000"/>
                            </p:stCondLst>
                            <p:childTnLst>
                              <p:par>
                                <p:cTn id="29" presetID="0" presetClass="path" presetSubtype="0" accel="50000" decel="50000" fill="hold" grpId="4" nodeType="afterEffect">
                                  <p:stCondLst>
                                    <p:cond delay="0"/>
                                  </p:stCondLst>
                                  <p:childTnLst>
                                    <p:animMotion origin="layout" path="M -0.56701 0.19931 L -0.48038 0.19931 " pathEditMode="relative" rAng="0" ptsTypes="AA">
                                      <p:cBhvr>
                                        <p:cTn id="30" dur="1000" fill="hold"/>
                                        <p:tgtEl>
                                          <p:spTgt spid="66"/>
                                        </p:tgtEl>
                                        <p:attrNameLst>
                                          <p:attrName>ppt_x</p:attrName>
                                          <p:attrName>ppt_y</p:attrName>
                                        </p:attrNameLst>
                                      </p:cBhvr>
                                      <p:rCtr x="4323" y="0"/>
                                    </p:animMotion>
                                  </p:childTnLst>
                                </p:cTn>
                              </p:par>
                            </p:childTnLst>
                          </p:cTn>
                        </p:par>
                        <p:par>
                          <p:cTn id="31" fill="hold">
                            <p:stCondLst>
                              <p:cond delay="7000"/>
                            </p:stCondLst>
                            <p:childTnLst>
                              <p:par>
                                <p:cTn id="32" presetID="1" presetClass="entr" presetSubtype="0" fill="hold" nodeType="afterEffect">
                                  <p:stCondLst>
                                    <p:cond delay="0"/>
                                  </p:stCondLst>
                                  <p:childTnLst>
                                    <p:set>
                                      <p:cBhvr>
                                        <p:cTn id="33" dur="1" fill="hold">
                                          <p:stCondLst>
                                            <p:cond delay="0"/>
                                          </p:stCondLst>
                                        </p:cTn>
                                        <p:tgtEl>
                                          <p:spTgt spid="67"/>
                                        </p:tgtEl>
                                        <p:attrNameLst>
                                          <p:attrName>style.visibility</p:attrName>
                                        </p:attrNameLst>
                                      </p:cBhvr>
                                      <p:to>
                                        <p:strVal val="visible"/>
                                      </p:to>
                                    </p:set>
                                  </p:childTnLst>
                                </p:cTn>
                              </p:par>
                            </p:childTnLst>
                          </p:cTn>
                        </p:par>
                        <p:par>
                          <p:cTn id="34" fill="hold">
                            <p:stCondLst>
                              <p:cond delay="7000"/>
                            </p:stCondLst>
                            <p:childTnLst>
                              <p:par>
                                <p:cTn id="35" presetID="1" presetClass="entr" presetSubtype="0" fill="hold" grpId="0" nodeType="afterEffect">
                                  <p:stCondLst>
                                    <p:cond delay="0"/>
                                  </p:stCondLst>
                                  <p:childTnLst>
                                    <p:set>
                                      <p:cBhvr>
                                        <p:cTn id="36" dur="1" fill="hold">
                                          <p:stCondLst>
                                            <p:cond delay="0"/>
                                          </p:stCondLst>
                                        </p:cTn>
                                        <p:tgtEl>
                                          <p:spTgt spid="71"/>
                                        </p:tgtEl>
                                        <p:attrNameLst>
                                          <p:attrName>style.visibility</p:attrName>
                                        </p:attrNameLst>
                                      </p:cBhvr>
                                      <p:to>
                                        <p:strVal val="visible"/>
                                      </p:to>
                                    </p:set>
                                  </p:childTnLst>
                                </p:cTn>
                              </p:par>
                            </p:childTnLst>
                          </p:cTn>
                        </p:par>
                        <p:par>
                          <p:cTn id="37" fill="hold">
                            <p:stCondLst>
                              <p:cond delay="7000"/>
                            </p:stCondLst>
                            <p:childTnLst>
                              <p:par>
                                <p:cTn id="38" presetID="0" presetClass="path" presetSubtype="0" accel="50000" decel="50000" fill="hold" grpId="1" nodeType="afterEffect">
                                  <p:stCondLst>
                                    <p:cond delay="0"/>
                                  </p:stCondLst>
                                  <p:childTnLst>
                                    <p:animMotion origin="layout" path="M 5E-6 -4.07407E-6 L 5E-6 0.11528 " pathEditMode="relative" rAng="0" ptsTypes="AA">
                                      <p:cBhvr>
                                        <p:cTn id="39" dur="1000" fill="hold"/>
                                        <p:tgtEl>
                                          <p:spTgt spid="71"/>
                                        </p:tgtEl>
                                        <p:attrNameLst>
                                          <p:attrName>ppt_x</p:attrName>
                                          <p:attrName>ppt_y</p:attrName>
                                        </p:attrNameLst>
                                      </p:cBhvr>
                                      <p:rCtr x="0" y="5764"/>
                                    </p:animMotion>
                                  </p:childTnLst>
                                </p:cTn>
                              </p:par>
                            </p:childTnLst>
                          </p:cTn>
                        </p:par>
                        <p:par>
                          <p:cTn id="40" fill="hold">
                            <p:stCondLst>
                              <p:cond delay="8000"/>
                            </p:stCondLst>
                            <p:childTnLst>
                              <p:par>
                                <p:cTn id="41" presetID="0" presetClass="path" presetSubtype="0" accel="50000" decel="50000" fill="hold" grpId="2" nodeType="afterEffect">
                                  <p:stCondLst>
                                    <p:cond delay="0"/>
                                  </p:stCondLst>
                                  <p:childTnLst>
                                    <p:animMotion origin="layout" path="M 5E-6 0.11528 L 0.11025 0.11528 " pathEditMode="relative" rAng="0" ptsTypes="AA">
                                      <p:cBhvr>
                                        <p:cTn id="42" dur="1000" fill="hold"/>
                                        <p:tgtEl>
                                          <p:spTgt spid="71"/>
                                        </p:tgtEl>
                                        <p:attrNameLst>
                                          <p:attrName>ppt_x</p:attrName>
                                          <p:attrName>ppt_y</p:attrName>
                                        </p:attrNameLst>
                                      </p:cBhvr>
                                      <p:rCtr x="5503" y="0"/>
                                    </p:animMotion>
                                  </p:childTnLst>
                                </p:cTn>
                              </p:par>
                            </p:childTnLst>
                          </p:cTn>
                        </p:par>
                        <p:par>
                          <p:cTn id="43" fill="hold">
                            <p:stCondLst>
                              <p:cond delay="9000"/>
                            </p:stCondLst>
                            <p:childTnLst>
                              <p:par>
                                <p:cTn id="44" presetID="0" presetClass="path" presetSubtype="0" accel="50000" decel="50000" fill="hold" grpId="3" nodeType="afterEffect">
                                  <p:stCondLst>
                                    <p:cond delay="0"/>
                                  </p:stCondLst>
                                  <p:childTnLst>
                                    <p:animMotion origin="layout" path="M 0.11025 0.11528 L 0.23629 0.11528 " pathEditMode="relative" rAng="0" ptsTypes="AA">
                                      <p:cBhvr>
                                        <p:cTn id="45" dur="1000" fill="hold"/>
                                        <p:tgtEl>
                                          <p:spTgt spid="71"/>
                                        </p:tgtEl>
                                        <p:attrNameLst>
                                          <p:attrName>ppt_x</p:attrName>
                                          <p:attrName>ppt_y</p:attrName>
                                        </p:attrNameLst>
                                      </p:cBhvr>
                                      <p:rCtr x="6302" y="0"/>
                                    </p:animMotion>
                                  </p:childTnLst>
                                </p:cTn>
                              </p:par>
                            </p:childTnLst>
                          </p:cTn>
                        </p:par>
                        <p:par>
                          <p:cTn id="46" fill="hold">
                            <p:stCondLst>
                              <p:cond delay="10000"/>
                            </p:stCondLst>
                            <p:childTnLst>
                              <p:par>
                                <p:cTn id="47" presetID="0" presetClass="path" presetSubtype="0" accel="50000" decel="50000" fill="hold" grpId="4" nodeType="afterEffect">
                                  <p:stCondLst>
                                    <p:cond delay="0"/>
                                  </p:stCondLst>
                                  <p:childTnLst>
                                    <p:animMotion origin="layout" path="M 0.23629 0.11528 L 0.48039 0.11528 " pathEditMode="relative" rAng="0" ptsTypes="AA">
                                      <p:cBhvr>
                                        <p:cTn id="48" dur="1000" fill="hold"/>
                                        <p:tgtEl>
                                          <p:spTgt spid="71"/>
                                        </p:tgtEl>
                                        <p:attrNameLst>
                                          <p:attrName>ppt_x</p:attrName>
                                          <p:attrName>ppt_y</p:attrName>
                                        </p:attrNameLst>
                                      </p:cBhvr>
                                      <p:rCtr x="12205" y="0"/>
                                    </p:animMotion>
                                  </p:childTnLst>
                                </p:cTn>
                              </p:par>
                            </p:childTnLst>
                          </p:cTn>
                        </p:par>
                        <p:par>
                          <p:cTn id="49" fill="hold">
                            <p:stCondLst>
                              <p:cond delay="11000"/>
                            </p:stCondLst>
                            <p:childTnLst>
                              <p:par>
                                <p:cTn id="50" presetID="1" presetClass="exit" presetSubtype="0" fill="hold" grpId="5" nodeType="afterEffect">
                                  <p:stCondLst>
                                    <p:cond delay="0"/>
                                  </p:stCondLst>
                                  <p:childTnLst>
                                    <p:set>
                                      <p:cBhvr>
                                        <p:cTn id="51" dur="1" fill="hold">
                                          <p:stCondLst>
                                            <p:cond delay="0"/>
                                          </p:stCondLst>
                                        </p:cTn>
                                        <p:tgtEl>
                                          <p:spTgt spid="71"/>
                                        </p:tgtEl>
                                        <p:attrNameLst>
                                          <p:attrName>style.visibility</p:attrName>
                                        </p:attrNameLst>
                                      </p:cBhvr>
                                      <p:to>
                                        <p:strVal val="hidden"/>
                                      </p:to>
                                    </p:set>
                                  </p:childTnLst>
                                </p:cTn>
                              </p:par>
                            </p:childTnLst>
                          </p:cTn>
                        </p:par>
                        <p:par>
                          <p:cTn id="52" fill="hold">
                            <p:stCondLst>
                              <p:cond delay="11000"/>
                            </p:stCondLst>
                            <p:childTnLst>
                              <p:par>
                                <p:cTn id="53" presetID="1" presetClass="entr" presetSubtype="0" fill="hold" grpId="0" nodeType="afterEffect">
                                  <p:stCondLst>
                                    <p:cond delay="0"/>
                                  </p:stCondLst>
                                  <p:childTnLst>
                                    <p:set>
                                      <p:cBhvr>
                                        <p:cTn id="54" dur="1" fill="hold">
                                          <p:stCondLst>
                                            <p:cond delay="0"/>
                                          </p:stCondLst>
                                        </p:cTn>
                                        <p:tgtEl>
                                          <p:spTgt spid="72"/>
                                        </p:tgtEl>
                                        <p:attrNameLst>
                                          <p:attrName>style.visibility</p:attrName>
                                        </p:attrNameLst>
                                      </p:cBhvr>
                                      <p:to>
                                        <p:strVal val="visible"/>
                                      </p:to>
                                    </p:set>
                                  </p:childTnLst>
                                </p:cTn>
                              </p:par>
                            </p:childTnLst>
                          </p:cTn>
                        </p:par>
                        <p:par>
                          <p:cTn id="55" fill="hold">
                            <p:stCondLst>
                              <p:cond delay="11000"/>
                            </p:stCondLst>
                            <p:childTnLst>
                              <p:par>
                                <p:cTn id="56" presetID="1" presetClass="entr" presetSubtype="0" fill="hold" grpId="0" nodeType="afterEffect">
                                  <p:stCondLst>
                                    <p:cond delay="0"/>
                                  </p:stCondLst>
                                  <p:childTnLst>
                                    <p:set>
                                      <p:cBhvr>
                                        <p:cTn id="57" dur="1" fill="hold">
                                          <p:stCondLst>
                                            <p:cond delay="0"/>
                                          </p:stCondLst>
                                        </p:cTn>
                                        <p:tgtEl>
                                          <p:spTgt spid="73"/>
                                        </p:tgtEl>
                                        <p:attrNameLst>
                                          <p:attrName>style.visibility</p:attrName>
                                        </p:attrNameLst>
                                      </p:cBhvr>
                                      <p:to>
                                        <p:strVal val="visible"/>
                                      </p:to>
                                    </p:set>
                                  </p:childTnLst>
                                </p:cTn>
                              </p:par>
                            </p:childTnLst>
                          </p:cTn>
                        </p:par>
                        <p:par>
                          <p:cTn id="58" fill="hold">
                            <p:stCondLst>
                              <p:cond delay="11000"/>
                            </p:stCondLst>
                            <p:childTnLst>
                              <p:par>
                                <p:cTn id="59" presetID="0" presetClass="path" presetSubtype="0" accel="50000" decel="50000" fill="hold" grpId="1" nodeType="afterEffect">
                                  <p:stCondLst>
                                    <p:cond delay="0"/>
                                  </p:stCondLst>
                                  <p:childTnLst>
                                    <p:animMotion origin="layout" path="M -1.11111E-6 5.55112E-17 L -1.11111E-6 0.30394 " pathEditMode="relative" rAng="0" ptsTypes="AA">
                                      <p:cBhvr>
                                        <p:cTn id="60" dur="1000" fill="hold"/>
                                        <p:tgtEl>
                                          <p:spTgt spid="73"/>
                                        </p:tgtEl>
                                        <p:attrNameLst>
                                          <p:attrName>ppt_x</p:attrName>
                                          <p:attrName>ppt_y</p:attrName>
                                        </p:attrNameLst>
                                      </p:cBhvr>
                                      <p:rCtr x="0" y="15185"/>
                                    </p:animMotion>
                                  </p:childTnLst>
                                </p:cTn>
                              </p:par>
                            </p:childTnLst>
                          </p:cTn>
                        </p:par>
                        <p:par>
                          <p:cTn id="61" fill="hold">
                            <p:stCondLst>
                              <p:cond delay="12000"/>
                            </p:stCondLst>
                            <p:childTnLst>
                              <p:par>
                                <p:cTn id="62" presetID="1" presetClass="exit" presetSubtype="0" fill="hold" grpId="2" nodeType="afterEffect">
                                  <p:stCondLst>
                                    <p:cond delay="0"/>
                                  </p:stCondLst>
                                  <p:childTnLst>
                                    <p:set>
                                      <p:cBhvr>
                                        <p:cTn id="63" dur="1" fill="hold">
                                          <p:stCondLst>
                                            <p:cond delay="0"/>
                                          </p:stCondLst>
                                        </p:cTn>
                                        <p:tgtEl>
                                          <p:spTgt spid="73"/>
                                        </p:tgtEl>
                                        <p:attrNameLst>
                                          <p:attrName>style.visibility</p:attrName>
                                        </p:attrNameLst>
                                      </p:cBhvr>
                                      <p:to>
                                        <p:strVal val="hidden"/>
                                      </p:to>
                                    </p:set>
                                  </p:childTnLst>
                                </p:cTn>
                              </p:par>
                            </p:childTnLst>
                          </p:cTn>
                        </p:par>
                        <p:par>
                          <p:cTn id="64" fill="hold">
                            <p:stCondLst>
                              <p:cond delay="12000"/>
                            </p:stCondLst>
                            <p:childTnLst>
                              <p:par>
                                <p:cTn id="65" presetID="1" presetClass="entr" presetSubtype="0" fill="hold" grpId="0" nodeType="afterEffect">
                                  <p:stCondLst>
                                    <p:cond delay="0"/>
                                  </p:stCondLst>
                                  <p:childTnLst>
                                    <p:set>
                                      <p:cBhvr>
                                        <p:cTn id="66" dur="1" fill="hold">
                                          <p:stCondLst>
                                            <p:cond delay="0"/>
                                          </p:stCondLst>
                                        </p:cTn>
                                        <p:tgtEl>
                                          <p:spTgt spid="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nimBg="1"/>
      <p:bldP spid="65" grpId="1" animBg="1"/>
      <p:bldP spid="65" grpId="2" animBg="1"/>
      <p:bldP spid="65" grpId="3" animBg="1"/>
      <p:bldP spid="66" grpId="0" animBg="1"/>
      <p:bldP spid="66" grpId="1" animBg="1"/>
      <p:bldP spid="66" grpId="2" animBg="1"/>
      <p:bldP spid="66" grpId="3" animBg="1"/>
      <p:bldP spid="66" grpId="4" animBg="1"/>
      <p:bldP spid="71" grpId="0" animBg="1"/>
      <p:bldP spid="71" grpId="1" animBg="1"/>
      <p:bldP spid="71" grpId="2" animBg="1"/>
      <p:bldP spid="71" grpId="3" animBg="1"/>
      <p:bldP spid="71" grpId="4" animBg="1"/>
      <p:bldP spid="71" grpId="5" animBg="1"/>
      <p:bldP spid="72" grpId="0"/>
      <p:bldP spid="73" grpId="0" animBg="1"/>
      <p:bldP spid="73" grpId="1" animBg="1"/>
      <p:bldP spid="73" grpId="2" animBg="1"/>
      <p:bldP spid="74"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灯片编号占位符 5"/>
          <p:cNvSpPr>
            <a:spLocks noGrp="1"/>
          </p:cNvSpPr>
          <p:nvPr>
            <p:ph type="sldNum" sz="quarter" idx="12"/>
          </p:nvPr>
        </p:nvSpPr>
        <p:spPr/>
        <p:txBody>
          <a:bodyPr/>
          <a:lstStyle/>
          <a:p>
            <a:fld id="{107A8FF7-C439-47B0-BA2F-3033FEC6A2CB}" type="slidenum">
              <a:rPr lang="en-US" altLang="zh-CN"/>
              <a:pPr/>
              <a:t>64</a:t>
            </a:fld>
            <a:r>
              <a:rPr lang="en-US" altLang="zh-CN"/>
              <a:t>/</a:t>
            </a:r>
            <a:r>
              <a:rPr lang="en-US" altLang="zh-CN">
                <a:solidFill>
                  <a:srgbClr val="FF3300"/>
                </a:solidFill>
              </a:rPr>
              <a:t>185</a:t>
            </a:r>
          </a:p>
        </p:txBody>
      </p:sp>
      <p:sp>
        <p:nvSpPr>
          <p:cNvPr id="150530" name="Rectangle 2"/>
          <p:cNvSpPr>
            <a:spLocks noGrp="1" noChangeArrowheads="1"/>
          </p:cNvSpPr>
          <p:nvPr>
            <p:ph type="title"/>
          </p:nvPr>
        </p:nvSpPr>
        <p:spPr/>
        <p:txBody>
          <a:bodyPr/>
          <a:lstStyle/>
          <a:p>
            <a:r>
              <a:rPr lang="zh-CN" altLang="en-US">
                <a:ea typeface="黑体" panose="02010609060101010101" pitchFamily="49" charset="-122"/>
              </a:rPr>
              <a:t>第五章  存储管理</a:t>
            </a:r>
          </a:p>
        </p:txBody>
      </p:sp>
      <p:grpSp>
        <p:nvGrpSpPr>
          <p:cNvPr id="150610" name="Group 82"/>
          <p:cNvGrpSpPr>
            <a:grpSpLocks/>
          </p:cNvGrpSpPr>
          <p:nvPr/>
        </p:nvGrpSpPr>
        <p:grpSpPr bwMode="auto">
          <a:xfrm>
            <a:off x="5620004" y="6105526"/>
            <a:ext cx="1196975" cy="250825"/>
            <a:chOff x="3792" y="3456"/>
            <a:chExt cx="1056" cy="240"/>
          </a:xfrm>
        </p:grpSpPr>
        <p:sp>
          <p:nvSpPr>
            <p:cNvPr id="150611" name="Rectangle 83"/>
            <p:cNvSpPr>
              <a:spLocks noChangeArrowheads="1"/>
            </p:cNvSpPr>
            <p:nvPr/>
          </p:nvSpPr>
          <p:spPr bwMode="auto">
            <a:xfrm>
              <a:off x="3792" y="3456"/>
              <a:ext cx="1056" cy="240"/>
            </a:xfrm>
            <a:prstGeom prst="rect">
              <a:avLst/>
            </a:prstGeom>
            <a:solidFill>
              <a:srgbClr val="FFCCFF"/>
            </a:solidFill>
            <a:ln w="38100">
              <a:solidFill>
                <a:srgbClr val="0033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1600" b="1"/>
            </a:p>
          </p:txBody>
        </p:sp>
        <p:sp>
          <p:nvSpPr>
            <p:cNvPr id="150612" name="Line 84"/>
            <p:cNvSpPr>
              <a:spLocks noChangeShapeType="1"/>
            </p:cNvSpPr>
            <p:nvPr/>
          </p:nvSpPr>
          <p:spPr bwMode="auto">
            <a:xfrm>
              <a:off x="4320" y="3456"/>
              <a:ext cx="0" cy="240"/>
            </a:xfrm>
            <a:prstGeom prst="line">
              <a:avLst/>
            </a:prstGeom>
            <a:noFill/>
            <a:ln w="38100">
              <a:solidFill>
                <a:srgbClr val="00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50613" name="Text Box 85"/>
          <p:cNvSpPr txBox="1">
            <a:spLocks noChangeArrowheads="1"/>
          </p:cNvSpPr>
          <p:nvPr/>
        </p:nvSpPr>
        <p:spPr bwMode="auto">
          <a:xfrm>
            <a:off x="5781929" y="6435726"/>
            <a:ext cx="1003300" cy="33655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38100">
                <a:solidFill>
                  <a:srgbClr val="0033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a:t>物理地址</a:t>
            </a:r>
          </a:p>
        </p:txBody>
      </p:sp>
      <p:sp>
        <p:nvSpPr>
          <p:cNvPr id="150615" name="Text Box 87"/>
          <p:cNvSpPr txBox="1">
            <a:spLocks noChangeArrowheads="1"/>
          </p:cNvSpPr>
          <p:nvPr/>
        </p:nvSpPr>
        <p:spPr bwMode="auto">
          <a:xfrm>
            <a:off x="6470904" y="6057901"/>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0033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a:t>d</a:t>
            </a:r>
          </a:p>
        </p:txBody>
      </p:sp>
      <p:sp>
        <p:nvSpPr>
          <p:cNvPr id="150616" name="Line 88"/>
          <p:cNvSpPr>
            <a:spLocks noChangeShapeType="1"/>
          </p:cNvSpPr>
          <p:nvPr/>
        </p:nvSpPr>
        <p:spPr bwMode="auto">
          <a:xfrm>
            <a:off x="6601079" y="3289301"/>
            <a:ext cx="0" cy="2816225"/>
          </a:xfrm>
          <a:prstGeom prst="line">
            <a:avLst/>
          </a:prstGeom>
          <a:noFill/>
          <a:ln w="38100">
            <a:solidFill>
              <a:srgbClr val="00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0618" name="Rectangle 90"/>
          <p:cNvSpPr>
            <a:spLocks noChangeArrowheads="1"/>
          </p:cNvSpPr>
          <p:nvPr/>
        </p:nvSpPr>
        <p:spPr bwMode="auto">
          <a:xfrm>
            <a:off x="2238629" y="4495801"/>
            <a:ext cx="981075" cy="1509712"/>
          </a:xfrm>
          <a:prstGeom prst="rect">
            <a:avLst/>
          </a:prstGeom>
          <a:solidFill>
            <a:srgbClr val="FFCCFF"/>
          </a:solidFill>
          <a:ln w="38100">
            <a:solidFill>
              <a:srgbClr val="0033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zh-CN" sz="1600" b="1"/>
          </a:p>
          <a:p>
            <a:pPr algn="ctr"/>
            <a:r>
              <a:rPr lang="en-US" altLang="zh-CN" sz="1600" b="1"/>
              <a:t>p</a:t>
            </a:r>
          </a:p>
        </p:txBody>
      </p:sp>
      <p:sp>
        <p:nvSpPr>
          <p:cNvPr id="150619" name="Text Box 91"/>
          <p:cNvSpPr txBox="1">
            <a:spLocks noChangeArrowheads="1"/>
          </p:cNvSpPr>
          <p:nvPr/>
        </p:nvSpPr>
        <p:spPr bwMode="auto">
          <a:xfrm>
            <a:off x="2559304" y="4171951"/>
            <a:ext cx="3762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a:t>Bi</a:t>
            </a:r>
          </a:p>
        </p:txBody>
      </p:sp>
      <p:sp>
        <p:nvSpPr>
          <p:cNvPr id="150620" name="Line 92"/>
          <p:cNvSpPr>
            <a:spLocks noChangeShapeType="1"/>
          </p:cNvSpPr>
          <p:nvPr/>
        </p:nvSpPr>
        <p:spPr bwMode="auto">
          <a:xfrm>
            <a:off x="2237042" y="5248276"/>
            <a:ext cx="981075" cy="1587"/>
          </a:xfrm>
          <a:prstGeom prst="line">
            <a:avLst/>
          </a:prstGeom>
          <a:noFill/>
          <a:ln w="38100">
            <a:solidFill>
              <a:srgbClr val="00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0621" name="Line 93"/>
          <p:cNvSpPr>
            <a:spLocks noChangeShapeType="1"/>
          </p:cNvSpPr>
          <p:nvPr/>
        </p:nvSpPr>
        <p:spPr bwMode="auto">
          <a:xfrm>
            <a:off x="2237042" y="5549901"/>
            <a:ext cx="981075" cy="1587"/>
          </a:xfrm>
          <a:prstGeom prst="line">
            <a:avLst/>
          </a:prstGeom>
          <a:noFill/>
          <a:ln w="38100">
            <a:solidFill>
              <a:srgbClr val="00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0623" name="Text Box 95"/>
          <p:cNvSpPr txBox="1">
            <a:spLocks noChangeArrowheads="1"/>
          </p:cNvSpPr>
          <p:nvPr/>
        </p:nvSpPr>
        <p:spPr bwMode="auto">
          <a:xfrm>
            <a:off x="3383217" y="4727576"/>
            <a:ext cx="10033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a:t>地址越界</a:t>
            </a:r>
          </a:p>
        </p:txBody>
      </p:sp>
      <p:sp>
        <p:nvSpPr>
          <p:cNvPr id="150624" name="Text Box 96"/>
          <p:cNvSpPr txBox="1">
            <a:spLocks noChangeArrowheads="1"/>
          </p:cNvSpPr>
          <p:nvPr/>
        </p:nvSpPr>
        <p:spPr bwMode="auto">
          <a:xfrm>
            <a:off x="3853117" y="4060826"/>
            <a:ext cx="6413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a:t>P&gt;=1</a:t>
            </a:r>
          </a:p>
        </p:txBody>
      </p:sp>
      <p:sp>
        <p:nvSpPr>
          <p:cNvPr id="150625" name="Line 97"/>
          <p:cNvSpPr>
            <a:spLocks noChangeShapeType="1"/>
          </p:cNvSpPr>
          <p:nvPr/>
        </p:nvSpPr>
        <p:spPr bwMode="auto">
          <a:xfrm>
            <a:off x="3819779" y="4043363"/>
            <a:ext cx="1588" cy="603250"/>
          </a:xfrm>
          <a:prstGeom prst="line">
            <a:avLst/>
          </a:prstGeom>
          <a:noFill/>
          <a:ln w="38100">
            <a:solidFill>
              <a:srgbClr val="00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0627" name="Rectangle 99"/>
          <p:cNvSpPr>
            <a:spLocks noChangeArrowheads="1"/>
          </p:cNvSpPr>
          <p:nvPr/>
        </p:nvSpPr>
        <p:spPr bwMode="auto">
          <a:xfrm>
            <a:off x="4856417" y="4495801"/>
            <a:ext cx="817562" cy="1157287"/>
          </a:xfrm>
          <a:prstGeom prst="rect">
            <a:avLst/>
          </a:prstGeom>
          <a:solidFill>
            <a:srgbClr val="FFCCFF"/>
          </a:solidFill>
          <a:ln w="38100">
            <a:solidFill>
              <a:srgbClr val="0033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zh-CN" sz="1600" b="1"/>
          </a:p>
          <a:p>
            <a:pPr algn="ctr"/>
            <a:endParaRPr lang="en-US" altLang="zh-CN" sz="1600" b="1"/>
          </a:p>
        </p:txBody>
      </p:sp>
      <p:sp>
        <p:nvSpPr>
          <p:cNvPr id="150628" name="Text Box 100"/>
          <p:cNvSpPr txBox="1">
            <a:spLocks noChangeArrowheads="1"/>
          </p:cNvSpPr>
          <p:nvPr/>
        </p:nvSpPr>
        <p:spPr bwMode="auto">
          <a:xfrm>
            <a:off x="4913567" y="4872038"/>
            <a:ext cx="2698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1600" b="1"/>
              <a:t>p</a:t>
            </a:r>
          </a:p>
        </p:txBody>
      </p:sp>
      <p:sp>
        <p:nvSpPr>
          <p:cNvPr id="150629" name="Text Box 101"/>
          <p:cNvSpPr txBox="1">
            <a:spLocks noChangeArrowheads="1"/>
          </p:cNvSpPr>
          <p:nvPr/>
        </p:nvSpPr>
        <p:spPr bwMode="auto">
          <a:xfrm>
            <a:off x="5348542" y="4899026"/>
            <a:ext cx="3794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1600" b="1"/>
              <a:t>p’</a:t>
            </a:r>
          </a:p>
        </p:txBody>
      </p:sp>
      <p:sp>
        <p:nvSpPr>
          <p:cNvPr id="150630" name="Line 102"/>
          <p:cNvSpPr>
            <a:spLocks noChangeShapeType="1"/>
          </p:cNvSpPr>
          <p:nvPr/>
        </p:nvSpPr>
        <p:spPr bwMode="auto">
          <a:xfrm>
            <a:off x="4856417" y="4646613"/>
            <a:ext cx="817562" cy="1588"/>
          </a:xfrm>
          <a:prstGeom prst="line">
            <a:avLst/>
          </a:prstGeom>
          <a:noFill/>
          <a:ln w="38100">
            <a:solidFill>
              <a:srgbClr val="00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0631" name="Line 103"/>
          <p:cNvSpPr>
            <a:spLocks noChangeShapeType="1"/>
          </p:cNvSpPr>
          <p:nvPr/>
        </p:nvSpPr>
        <p:spPr bwMode="auto">
          <a:xfrm>
            <a:off x="4856417" y="4948238"/>
            <a:ext cx="817562" cy="1588"/>
          </a:xfrm>
          <a:prstGeom prst="line">
            <a:avLst/>
          </a:prstGeom>
          <a:noFill/>
          <a:ln w="38100">
            <a:solidFill>
              <a:srgbClr val="00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0632" name="Line 104"/>
          <p:cNvSpPr>
            <a:spLocks noChangeShapeType="1"/>
          </p:cNvSpPr>
          <p:nvPr/>
        </p:nvSpPr>
        <p:spPr bwMode="auto">
          <a:xfrm>
            <a:off x="4856417" y="5200651"/>
            <a:ext cx="817562" cy="0"/>
          </a:xfrm>
          <a:prstGeom prst="line">
            <a:avLst/>
          </a:prstGeom>
          <a:noFill/>
          <a:ln w="38100">
            <a:solidFill>
              <a:srgbClr val="00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0633" name="Text Box 105"/>
          <p:cNvSpPr txBox="1">
            <a:spLocks noChangeArrowheads="1"/>
          </p:cNvSpPr>
          <p:nvPr/>
        </p:nvSpPr>
        <p:spPr bwMode="auto">
          <a:xfrm>
            <a:off x="5019929" y="5268913"/>
            <a:ext cx="2349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a:t>.</a:t>
            </a:r>
          </a:p>
        </p:txBody>
      </p:sp>
      <p:sp>
        <p:nvSpPr>
          <p:cNvPr id="150634" name="Text Box 106"/>
          <p:cNvSpPr txBox="1">
            <a:spLocks noChangeArrowheads="1"/>
          </p:cNvSpPr>
          <p:nvPr/>
        </p:nvSpPr>
        <p:spPr bwMode="auto">
          <a:xfrm>
            <a:off x="5153279" y="5268913"/>
            <a:ext cx="2349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a:t>.</a:t>
            </a:r>
          </a:p>
        </p:txBody>
      </p:sp>
      <p:sp>
        <p:nvSpPr>
          <p:cNvPr id="150635" name="Text Box 107"/>
          <p:cNvSpPr txBox="1">
            <a:spLocks noChangeArrowheads="1"/>
          </p:cNvSpPr>
          <p:nvPr/>
        </p:nvSpPr>
        <p:spPr bwMode="auto">
          <a:xfrm>
            <a:off x="5292979" y="5268913"/>
            <a:ext cx="2349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a:t>.</a:t>
            </a:r>
          </a:p>
        </p:txBody>
      </p:sp>
      <p:sp>
        <p:nvSpPr>
          <p:cNvPr id="150636" name="Text Box 108"/>
          <p:cNvSpPr txBox="1">
            <a:spLocks noChangeArrowheads="1"/>
          </p:cNvSpPr>
          <p:nvPr/>
        </p:nvSpPr>
        <p:spPr bwMode="auto">
          <a:xfrm>
            <a:off x="4965954" y="4183063"/>
            <a:ext cx="5937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a:t>快表</a:t>
            </a:r>
          </a:p>
        </p:txBody>
      </p:sp>
      <p:sp>
        <p:nvSpPr>
          <p:cNvPr id="150637" name="Line 109"/>
          <p:cNvSpPr>
            <a:spLocks noChangeShapeType="1"/>
          </p:cNvSpPr>
          <p:nvPr/>
        </p:nvSpPr>
        <p:spPr bwMode="auto">
          <a:xfrm>
            <a:off x="5129467" y="4948238"/>
            <a:ext cx="0" cy="252413"/>
          </a:xfrm>
          <a:prstGeom prst="line">
            <a:avLst/>
          </a:prstGeom>
          <a:noFill/>
          <a:ln w="38100">
            <a:solidFill>
              <a:srgbClr val="00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0638" name="Line 110"/>
          <p:cNvSpPr>
            <a:spLocks noChangeShapeType="1"/>
          </p:cNvSpPr>
          <p:nvPr/>
        </p:nvSpPr>
        <p:spPr bwMode="auto">
          <a:xfrm>
            <a:off x="5346954" y="4948238"/>
            <a:ext cx="1588" cy="252413"/>
          </a:xfrm>
          <a:prstGeom prst="line">
            <a:avLst/>
          </a:prstGeom>
          <a:noFill/>
          <a:ln w="38100">
            <a:solidFill>
              <a:srgbClr val="00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50639" name="Group 111"/>
          <p:cNvGrpSpPr>
            <a:grpSpLocks/>
          </p:cNvGrpSpPr>
          <p:nvPr/>
        </p:nvGrpSpPr>
        <p:grpSpPr bwMode="auto">
          <a:xfrm>
            <a:off x="4527804" y="3892551"/>
            <a:ext cx="328613" cy="1660525"/>
            <a:chOff x="3024" y="1392"/>
            <a:chExt cx="288" cy="1585"/>
          </a:xfrm>
        </p:grpSpPr>
        <p:sp>
          <p:nvSpPr>
            <p:cNvPr id="150640" name="Line 112"/>
            <p:cNvSpPr>
              <a:spLocks noChangeShapeType="1"/>
            </p:cNvSpPr>
            <p:nvPr/>
          </p:nvSpPr>
          <p:spPr bwMode="auto">
            <a:xfrm>
              <a:off x="3024" y="1392"/>
              <a:ext cx="1" cy="1584"/>
            </a:xfrm>
            <a:prstGeom prst="line">
              <a:avLst/>
            </a:prstGeom>
            <a:noFill/>
            <a:ln w="38100">
              <a:solidFill>
                <a:srgbClr val="00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0641" name="Line 113"/>
            <p:cNvSpPr>
              <a:spLocks noChangeShapeType="1"/>
            </p:cNvSpPr>
            <p:nvPr/>
          </p:nvSpPr>
          <p:spPr bwMode="auto">
            <a:xfrm>
              <a:off x="3024" y="2016"/>
              <a:ext cx="288" cy="1"/>
            </a:xfrm>
            <a:prstGeom prst="line">
              <a:avLst/>
            </a:prstGeom>
            <a:noFill/>
            <a:ln w="38100">
              <a:solidFill>
                <a:srgbClr val="00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0642" name="Line 114"/>
            <p:cNvSpPr>
              <a:spLocks noChangeShapeType="1"/>
            </p:cNvSpPr>
            <p:nvPr/>
          </p:nvSpPr>
          <p:spPr bwMode="auto">
            <a:xfrm>
              <a:off x="3024" y="2256"/>
              <a:ext cx="288" cy="1"/>
            </a:xfrm>
            <a:prstGeom prst="line">
              <a:avLst/>
            </a:prstGeom>
            <a:noFill/>
            <a:ln w="38100">
              <a:solidFill>
                <a:srgbClr val="00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0643" name="Line 115"/>
            <p:cNvSpPr>
              <a:spLocks noChangeShapeType="1"/>
            </p:cNvSpPr>
            <p:nvPr/>
          </p:nvSpPr>
          <p:spPr bwMode="auto">
            <a:xfrm>
              <a:off x="3024" y="2496"/>
              <a:ext cx="288" cy="1"/>
            </a:xfrm>
            <a:prstGeom prst="line">
              <a:avLst/>
            </a:prstGeom>
            <a:noFill/>
            <a:ln w="38100">
              <a:solidFill>
                <a:srgbClr val="00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0644" name="Line 116"/>
            <p:cNvSpPr>
              <a:spLocks noChangeShapeType="1"/>
            </p:cNvSpPr>
            <p:nvPr/>
          </p:nvSpPr>
          <p:spPr bwMode="auto">
            <a:xfrm>
              <a:off x="3024" y="2736"/>
              <a:ext cx="288" cy="1"/>
            </a:xfrm>
            <a:prstGeom prst="line">
              <a:avLst/>
            </a:prstGeom>
            <a:noFill/>
            <a:ln w="38100">
              <a:solidFill>
                <a:srgbClr val="00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0645" name="Line 117"/>
            <p:cNvSpPr>
              <a:spLocks noChangeShapeType="1"/>
            </p:cNvSpPr>
            <p:nvPr/>
          </p:nvSpPr>
          <p:spPr bwMode="auto">
            <a:xfrm>
              <a:off x="3024" y="2976"/>
              <a:ext cx="288" cy="1"/>
            </a:xfrm>
            <a:prstGeom prst="line">
              <a:avLst/>
            </a:prstGeom>
            <a:noFill/>
            <a:ln w="38100">
              <a:solidFill>
                <a:srgbClr val="00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50647" name="Line 119"/>
          <p:cNvSpPr>
            <a:spLocks noChangeShapeType="1"/>
          </p:cNvSpPr>
          <p:nvPr/>
        </p:nvSpPr>
        <p:spPr bwMode="auto">
          <a:xfrm flipH="1">
            <a:off x="2238629" y="3892551"/>
            <a:ext cx="1362075" cy="1587"/>
          </a:xfrm>
          <a:prstGeom prst="line">
            <a:avLst/>
          </a:prstGeom>
          <a:noFill/>
          <a:ln w="38100">
            <a:solidFill>
              <a:srgbClr val="00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50683" name="Group 155"/>
          <p:cNvGrpSpPr>
            <a:grpSpLocks/>
          </p:cNvGrpSpPr>
          <p:nvPr/>
        </p:nvGrpSpPr>
        <p:grpSpPr bwMode="auto">
          <a:xfrm>
            <a:off x="1803654" y="3289301"/>
            <a:ext cx="434975" cy="2211387"/>
            <a:chOff x="1188" y="1959"/>
            <a:chExt cx="274" cy="1393"/>
          </a:xfrm>
        </p:grpSpPr>
        <p:sp>
          <p:nvSpPr>
            <p:cNvPr id="150648" name="Oval 120"/>
            <p:cNvSpPr>
              <a:spLocks noChangeArrowheads="1"/>
            </p:cNvSpPr>
            <p:nvPr/>
          </p:nvSpPr>
          <p:spPr bwMode="auto">
            <a:xfrm>
              <a:off x="1188" y="2212"/>
              <a:ext cx="274" cy="222"/>
            </a:xfrm>
            <a:prstGeom prst="ellipse">
              <a:avLst/>
            </a:prstGeom>
            <a:solidFill>
              <a:srgbClr val="FFCCFF"/>
            </a:solidFill>
            <a:ln w="38100">
              <a:solidFill>
                <a:srgbClr val="0033C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a:t>+</a:t>
              </a:r>
            </a:p>
          </p:txBody>
        </p:sp>
        <p:sp>
          <p:nvSpPr>
            <p:cNvPr id="150649" name="Line 121"/>
            <p:cNvSpPr>
              <a:spLocks noChangeShapeType="1"/>
            </p:cNvSpPr>
            <p:nvPr/>
          </p:nvSpPr>
          <p:spPr bwMode="auto">
            <a:xfrm>
              <a:off x="1325" y="1959"/>
              <a:ext cx="0" cy="253"/>
            </a:xfrm>
            <a:prstGeom prst="line">
              <a:avLst/>
            </a:prstGeom>
            <a:noFill/>
            <a:ln w="38100">
              <a:solidFill>
                <a:srgbClr val="00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0650" name="Line 122"/>
            <p:cNvSpPr>
              <a:spLocks noChangeShapeType="1"/>
            </p:cNvSpPr>
            <p:nvPr/>
          </p:nvSpPr>
          <p:spPr bwMode="auto">
            <a:xfrm>
              <a:off x="1325" y="2434"/>
              <a:ext cx="0" cy="918"/>
            </a:xfrm>
            <a:prstGeom prst="line">
              <a:avLst/>
            </a:prstGeom>
            <a:noFill/>
            <a:ln w="38100">
              <a:solidFill>
                <a:srgbClr val="00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50651" name="Line 123"/>
          <p:cNvSpPr>
            <a:spLocks noChangeShapeType="1"/>
          </p:cNvSpPr>
          <p:nvPr/>
        </p:nvSpPr>
        <p:spPr bwMode="auto">
          <a:xfrm>
            <a:off x="2021142" y="5500688"/>
            <a:ext cx="217487" cy="0"/>
          </a:xfrm>
          <a:prstGeom prst="line">
            <a:avLst/>
          </a:prstGeom>
          <a:noFill/>
          <a:ln w="38100">
            <a:solidFill>
              <a:srgbClr val="00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50652" name="Group 124"/>
          <p:cNvGrpSpPr>
            <a:grpSpLocks/>
          </p:cNvGrpSpPr>
          <p:nvPr/>
        </p:nvGrpSpPr>
        <p:grpSpPr bwMode="auto">
          <a:xfrm>
            <a:off x="3600704" y="3289301"/>
            <a:ext cx="1855788" cy="754062"/>
            <a:chOff x="2208" y="816"/>
            <a:chExt cx="1632" cy="720"/>
          </a:xfrm>
        </p:grpSpPr>
        <p:sp>
          <p:nvSpPr>
            <p:cNvPr id="150653" name="Oval 125"/>
            <p:cNvSpPr>
              <a:spLocks noChangeArrowheads="1"/>
            </p:cNvSpPr>
            <p:nvPr/>
          </p:nvSpPr>
          <p:spPr bwMode="auto">
            <a:xfrm>
              <a:off x="2208" y="1200"/>
              <a:ext cx="384" cy="336"/>
            </a:xfrm>
            <a:prstGeom prst="ellipse">
              <a:avLst/>
            </a:prstGeom>
            <a:solidFill>
              <a:srgbClr val="FFCCFF"/>
            </a:solidFill>
            <a:ln w="38100">
              <a:solidFill>
                <a:srgbClr val="0033C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b="1"/>
                <a:t>比较</a:t>
              </a:r>
            </a:p>
          </p:txBody>
        </p:sp>
        <p:sp>
          <p:nvSpPr>
            <p:cNvPr id="150654" name="Line 126"/>
            <p:cNvSpPr>
              <a:spLocks noChangeShapeType="1"/>
            </p:cNvSpPr>
            <p:nvPr/>
          </p:nvSpPr>
          <p:spPr bwMode="auto">
            <a:xfrm>
              <a:off x="2400" y="816"/>
              <a:ext cx="1" cy="384"/>
            </a:xfrm>
            <a:prstGeom prst="line">
              <a:avLst/>
            </a:prstGeom>
            <a:noFill/>
            <a:ln w="38100">
              <a:solidFill>
                <a:srgbClr val="00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0655" name="Line 127"/>
            <p:cNvSpPr>
              <a:spLocks noChangeShapeType="1"/>
            </p:cNvSpPr>
            <p:nvPr/>
          </p:nvSpPr>
          <p:spPr bwMode="auto">
            <a:xfrm>
              <a:off x="3840" y="816"/>
              <a:ext cx="0" cy="576"/>
            </a:xfrm>
            <a:prstGeom prst="line">
              <a:avLst/>
            </a:prstGeom>
            <a:noFill/>
            <a:ln w="38100">
              <a:solidFill>
                <a:srgbClr val="00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0656" name="Line 128"/>
            <p:cNvSpPr>
              <a:spLocks noChangeShapeType="1"/>
            </p:cNvSpPr>
            <p:nvPr/>
          </p:nvSpPr>
          <p:spPr bwMode="auto">
            <a:xfrm flipH="1">
              <a:off x="2592" y="1392"/>
              <a:ext cx="1248" cy="0"/>
            </a:xfrm>
            <a:prstGeom prst="line">
              <a:avLst/>
            </a:prstGeom>
            <a:noFill/>
            <a:ln w="38100">
              <a:solidFill>
                <a:srgbClr val="00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50661" name="Text Box 133"/>
          <p:cNvSpPr txBox="1">
            <a:spLocks noChangeArrowheads="1"/>
          </p:cNvSpPr>
          <p:nvPr/>
        </p:nvSpPr>
        <p:spPr bwMode="auto">
          <a:xfrm>
            <a:off x="5743829" y="6072188"/>
            <a:ext cx="3762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a:t>P’</a:t>
            </a:r>
          </a:p>
        </p:txBody>
      </p:sp>
      <p:sp>
        <p:nvSpPr>
          <p:cNvPr id="150663" name="Line 135"/>
          <p:cNvSpPr>
            <a:spLocks noChangeShapeType="1"/>
          </p:cNvSpPr>
          <p:nvPr/>
        </p:nvSpPr>
        <p:spPr bwMode="auto">
          <a:xfrm>
            <a:off x="2675192" y="5653088"/>
            <a:ext cx="0" cy="201613"/>
          </a:xfrm>
          <a:prstGeom prst="line">
            <a:avLst/>
          </a:prstGeom>
          <a:noFill/>
          <a:ln w="38100">
            <a:solidFill>
              <a:srgbClr val="00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0664" name="Line 136"/>
          <p:cNvSpPr>
            <a:spLocks noChangeShapeType="1"/>
          </p:cNvSpPr>
          <p:nvPr/>
        </p:nvSpPr>
        <p:spPr bwMode="auto">
          <a:xfrm>
            <a:off x="2673604" y="5854701"/>
            <a:ext cx="2547938" cy="0"/>
          </a:xfrm>
          <a:prstGeom prst="line">
            <a:avLst/>
          </a:prstGeom>
          <a:noFill/>
          <a:ln w="38100">
            <a:solidFill>
              <a:srgbClr val="00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0666" name="Line 138"/>
          <p:cNvSpPr>
            <a:spLocks noChangeShapeType="1"/>
          </p:cNvSpPr>
          <p:nvPr/>
        </p:nvSpPr>
        <p:spPr bwMode="auto">
          <a:xfrm flipV="1">
            <a:off x="5235829" y="5653088"/>
            <a:ext cx="0" cy="201613"/>
          </a:xfrm>
          <a:prstGeom prst="line">
            <a:avLst/>
          </a:prstGeom>
          <a:noFill/>
          <a:ln w="38100">
            <a:solidFill>
              <a:srgbClr val="00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0667" name="Line 139"/>
          <p:cNvSpPr>
            <a:spLocks noChangeShapeType="1"/>
          </p:cNvSpPr>
          <p:nvPr/>
        </p:nvSpPr>
        <p:spPr bwMode="auto">
          <a:xfrm>
            <a:off x="5672392" y="5078413"/>
            <a:ext cx="381000" cy="1588"/>
          </a:xfrm>
          <a:prstGeom prst="line">
            <a:avLst/>
          </a:prstGeom>
          <a:noFill/>
          <a:ln w="38100">
            <a:solidFill>
              <a:srgbClr val="00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0668" name="Line 140"/>
          <p:cNvSpPr>
            <a:spLocks noChangeShapeType="1"/>
          </p:cNvSpPr>
          <p:nvPr/>
        </p:nvSpPr>
        <p:spPr bwMode="auto">
          <a:xfrm>
            <a:off x="6053392" y="5049838"/>
            <a:ext cx="1587" cy="1055688"/>
          </a:xfrm>
          <a:prstGeom prst="line">
            <a:avLst/>
          </a:prstGeom>
          <a:noFill/>
          <a:ln w="38100">
            <a:solidFill>
              <a:srgbClr val="00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50675" name="Group 147"/>
          <p:cNvGrpSpPr>
            <a:grpSpLocks/>
          </p:cNvGrpSpPr>
          <p:nvPr/>
        </p:nvGrpSpPr>
        <p:grpSpPr bwMode="auto">
          <a:xfrm>
            <a:off x="4964367" y="2987676"/>
            <a:ext cx="2344737" cy="301625"/>
            <a:chOff x="3264" y="528"/>
            <a:chExt cx="2064" cy="288"/>
          </a:xfrm>
        </p:grpSpPr>
        <p:sp>
          <p:nvSpPr>
            <p:cNvPr id="150676" name="Rectangle 148"/>
            <p:cNvSpPr>
              <a:spLocks noChangeArrowheads="1"/>
            </p:cNvSpPr>
            <p:nvPr/>
          </p:nvSpPr>
          <p:spPr bwMode="auto">
            <a:xfrm>
              <a:off x="3264" y="528"/>
              <a:ext cx="2064" cy="288"/>
            </a:xfrm>
            <a:prstGeom prst="rect">
              <a:avLst/>
            </a:prstGeom>
            <a:solidFill>
              <a:srgbClr val="FFCCFF"/>
            </a:solidFill>
            <a:ln w="38100">
              <a:solidFill>
                <a:srgbClr val="0033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b="1"/>
                <a:t>页号</a:t>
              </a:r>
              <a:r>
                <a:rPr lang="en-US" altLang="zh-CN" sz="1600" b="1"/>
                <a:t>p  </a:t>
              </a:r>
              <a:r>
                <a:rPr lang="zh-CN" altLang="en-US" sz="1600" b="1"/>
                <a:t>页内地址</a:t>
              </a:r>
              <a:r>
                <a:rPr lang="en-US" altLang="zh-CN" sz="1600" b="1"/>
                <a:t>d</a:t>
              </a:r>
            </a:p>
          </p:txBody>
        </p:sp>
        <p:sp>
          <p:nvSpPr>
            <p:cNvPr id="150677" name="Line 149"/>
            <p:cNvSpPr>
              <a:spLocks noChangeShapeType="1"/>
            </p:cNvSpPr>
            <p:nvPr/>
          </p:nvSpPr>
          <p:spPr bwMode="auto">
            <a:xfrm>
              <a:off x="4128" y="528"/>
              <a:ext cx="0" cy="288"/>
            </a:xfrm>
            <a:prstGeom prst="line">
              <a:avLst/>
            </a:prstGeom>
            <a:noFill/>
            <a:ln w="38100">
              <a:solidFill>
                <a:srgbClr val="00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50678" name="Text Box 150"/>
          <p:cNvSpPr txBox="1">
            <a:spLocks noChangeArrowheads="1"/>
          </p:cNvSpPr>
          <p:nvPr/>
        </p:nvSpPr>
        <p:spPr bwMode="auto">
          <a:xfrm>
            <a:off x="5672392" y="2671763"/>
            <a:ext cx="10033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a:t>逻辑地址</a:t>
            </a:r>
          </a:p>
        </p:txBody>
      </p:sp>
      <p:sp>
        <p:nvSpPr>
          <p:cNvPr id="150679" name="Rectangle 151"/>
          <p:cNvSpPr>
            <a:spLocks noChangeArrowheads="1"/>
          </p:cNvSpPr>
          <p:nvPr/>
        </p:nvSpPr>
        <p:spPr bwMode="auto">
          <a:xfrm>
            <a:off x="1927479" y="6427788"/>
            <a:ext cx="2181225" cy="403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defRPr kumimoji="1" sz="4400" b="1">
                <a:solidFill>
                  <a:srgbClr val="FF3300"/>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1pPr>
            <a:lvl2pPr algn="ctr">
              <a:defRPr kumimoji="1" sz="4400" b="1">
                <a:solidFill>
                  <a:srgbClr val="FF3300"/>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2pPr>
            <a:lvl3pPr algn="ctr">
              <a:defRPr kumimoji="1" sz="4400" b="1">
                <a:solidFill>
                  <a:srgbClr val="FF3300"/>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3pPr>
            <a:lvl4pPr algn="ctr">
              <a:defRPr kumimoji="1" sz="4400" b="1">
                <a:solidFill>
                  <a:srgbClr val="FF3300"/>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4pPr>
            <a:lvl5pPr algn="ctr">
              <a:defRPr kumimoji="1" sz="4400" b="1">
                <a:solidFill>
                  <a:srgbClr val="FF3300"/>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5pPr>
            <a:lvl6pPr marL="457200" algn="ctr" fontAlgn="base">
              <a:spcBef>
                <a:spcPct val="0"/>
              </a:spcBef>
              <a:spcAft>
                <a:spcPct val="0"/>
              </a:spcAft>
              <a:defRPr kumimoji="1" sz="4400" b="1">
                <a:solidFill>
                  <a:srgbClr val="FF3300"/>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6pPr>
            <a:lvl7pPr marL="914400" algn="ctr" fontAlgn="base">
              <a:spcBef>
                <a:spcPct val="0"/>
              </a:spcBef>
              <a:spcAft>
                <a:spcPct val="0"/>
              </a:spcAft>
              <a:defRPr kumimoji="1" sz="4400" b="1">
                <a:solidFill>
                  <a:srgbClr val="FF3300"/>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7pPr>
            <a:lvl8pPr marL="1371600" algn="ctr" fontAlgn="base">
              <a:spcBef>
                <a:spcPct val="0"/>
              </a:spcBef>
              <a:spcAft>
                <a:spcPct val="0"/>
              </a:spcAft>
              <a:defRPr kumimoji="1" sz="4400" b="1">
                <a:solidFill>
                  <a:srgbClr val="FF3300"/>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8pPr>
            <a:lvl9pPr marL="1828800" algn="ctr" fontAlgn="base">
              <a:spcBef>
                <a:spcPct val="0"/>
              </a:spcBef>
              <a:spcAft>
                <a:spcPct val="0"/>
              </a:spcAft>
              <a:defRPr kumimoji="1" sz="4400" b="1">
                <a:solidFill>
                  <a:srgbClr val="FF3300"/>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9pPr>
          </a:lstStyle>
          <a:p>
            <a:pPr algn="l"/>
            <a:r>
              <a:rPr lang="zh-CN" altLang="en-US" sz="1600" b="0">
                <a:solidFill>
                  <a:schemeClr val="tx1"/>
                </a:solidFill>
                <a:ea typeface="宋体" panose="02010600030101010101" pitchFamily="2" charset="-122"/>
              </a:rPr>
              <a:t>地址映射机制</a:t>
            </a:r>
          </a:p>
        </p:txBody>
      </p:sp>
      <p:sp>
        <p:nvSpPr>
          <p:cNvPr id="3" name="文本框 2"/>
          <p:cNvSpPr txBox="1"/>
          <p:nvPr/>
        </p:nvSpPr>
        <p:spPr>
          <a:xfrm>
            <a:off x="412718" y="1134562"/>
            <a:ext cx="8558784" cy="1697901"/>
          </a:xfrm>
          <a:prstGeom prst="rect">
            <a:avLst/>
          </a:prstGeom>
          <a:noFill/>
        </p:spPr>
        <p:txBody>
          <a:bodyPr wrap="square" rtlCol="0">
            <a:spAutoFit/>
          </a:bodyPr>
          <a:lstStyle/>
          <a:p>
            <a:pPr indent="-685800">
              <a:spcBef>
                <a:spcPts val="1000"/>
              </a:spcBef>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取一个数据至少要访问内存</a:t>
            </a:r>
            <a:r>
              <a:rPr lang="en-US" altLang="zh-CN" sz="2000" dirty="0">
                <a:latin typeface="微软雅黑" panose="020B0503020204020204" pitchFamily="34" charset="-122"/>
                <a:ea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rPr>
              <a:t>次以上：</a:t>
            </a:r>
            <a:r>
              <a:rPr lang="zh-CN" altLang="en-US" sz="2000" dirty="0">
                <a:solidFill>
                  <a:srgbClr val="C00000"/>
                </a:solidFill>
                <a:latin typeface="微软雅黑" panose="020B0503020204020204" pitchFamily="34" charset="-122"/>
                <a:ea typeface="微软雅黑" panose="020B0503020204020204" pitchFamily="34" charset="-122"/>
              </a:rPr>
              <a:t>页表和指令</a:t>
            </a:r>
          </a:p>
          <a:p>
            <a:pPr indent="-685800">
              <a:spcBef>
                <a:spcPts val="1000"/>
              </a:spcBef>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为缩短查找时间，可以将页表从内存装入到关联存储器，构成一张</a:t>
            </a:r>
            <a:r>
              <a:rPr lang="zh-CN" altLang="en-US" sz="2000" b="1" dirty="0">
                <a:solidFill>
                  <a:srgbClr val="C00000"/>
                </a:solidFill>
                <a:latin typeface="微软雅黑" panose="020B0503020204020204" pitchFamily="34" charset="-122"/>
                <a:ea typeface="微软雅黑" panose="020B0503020204020204" pitchFamily="34" charset="-122"/>
              </a:rPr>
              <a:t>快表（高速联想存储器）</a:t>
            </a:r>
            <a:r>
              <a:rPr lang="en-US" altLang="zh-CN" sz="2000" b="1" dirty="0">
                <a:solidFill>
                  <a:srgbClr val="C00000"/>
                </a:solidFill>
                <a:latin typeface="微软雅黑" panose="020B0503020204020204" pitchFamily="34" charset="-122"/>
                <a:ea typeface="微软雅黑" panose="020B0503020204020204" pitchFamily="34" charset="-122"/>
              </a:rPr>
              <a:t>(TLB, Translation Lookaside Buffer)</a:t>
            </a:r>
            <a:r>
              <a:rPr lang="zh-CN" altLang="en-US" sz="2000" dirty="0">
                <a:latin typeface="微软雅黑" panose="020B0503020204020204" pitchFamily="34" charset="-122"/>
                <a:ea typeface="微软雅黑" panose="020B0503020204020204" pitchFamily="34" charset="-122"/>
              </a:rPr>
              <a:t>，高速联想存储器中存放那些当前执行进程中最常用的页号与所对应的页面号</a:t>
            </a:r>
          </a:p>
          <a:p>
            <a:pPr marL="285750" indent="-285750">
              <a:buFont typeface="Wingdings" panose="05000000000000000000" pitchFamily="2" charset="2"/>
              <a:buChar char="l"/>
            </a:pPr>
            <a:endParaRPr lang="zh-CN" altLang="en-US" sz="16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286311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12" fill="hold" nodeType="clickEffect">
                                  <p:stCondLst>
                                    <p:cond delay="0"/>
                                  </p:stCondLst>
                                  <p:childTnLst>
                                    <p:set>
                                      <p:cBhvr>
                                        <p:cTn id="6" dur="1" fill="hold">
                                          <p:stCondLst>
                                            <p:cond delay="0"/>
                                          </p:stCondLst>
                                        </p:cTn>
                                        <p:tgtEl>
                                          <p:spTgt spid="150652"/>
                                        </p:tgtEl>
                                        <p:attrNameLst>
                                          <p:attrName>style.visibility</p:attrName>
                                        </p:attrNameLst>
                                      </p:cBhvr>
                                      <p:to>
                                        <p:strVal val="visible"/>
                                      </p:to>
                                    </p:set>
                                    <p:animEffect transition="in" filter="strips(downLeft)">
                                      <p:cBhvr>
                                        <p:cTn id="7" dur="500"/>
                                        <p:tgtEl>
                                          <p:spTgt spid="150652"/>
                                        </p:tgtEl>
                                      </p:cBhvr>
                                    </p:animEffect>
                                  </p:childTnLst>
                                </p:cTn>
                              </p:par>
                            </p:childTnLst>
                          </p:cTn>
                        </p:par>
                        <p:par>
                          <p:cTn id="8" fill="hold" nodeType="afterGroup">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50625"/>
                                        </p:tgtEl>
                                        <p:attrNameLst>
                                          <p:attrName>style.visibility</p:attrName>
                                        </p:attrNameLst>
                                      </p:cBhvr>
                                      <p:to>
                                        <p:strVal val="visible"/>
                                      </p:to>
                                    </p:set>
                                    <p:animEffect transition="in" filter="wipe(up)">
                                      <p:cBhvr>
                                        <p:cTn id="11" dur="500"/>
                                        <p:tgtEl>
                                          <p:spTgt spid="15062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2" fill="hold" grpId="0" nodeType="clickEffect">
                                  <p:stCondLst>
                                    <p:cond delay="0"/>
                                  </p:stCondLst>
                                  <p:childTnLst>
                                    <p:set>
                                      <p:cBhvr>
                                        <p:cTn id="15" dur="1" fill="hold">
                                          <p:stCondLst>
                                            <p:cond delay="0"/>
                                          </p:stCondLst>
                                        </p:cTn>
                                        <p:tgtEl>
                                          <p:spTgt spid="150647"/>
                                        </p:tgtEl>
                                        <p:attrNameLst>
                                          <p:attrName>style.visibility</p:attrName>
                                        </p:attrNameLst>
                                      </p:cBhvr>
                                      <p:to>
                                        <p:strVal val="visible"/>
                                      </p:to>
                                    </p:set>
                                    <p:animEffect transition="in" filter="wipe(right)">
                                      <p:cBhvr>
                                        <p:cTn id="16" dur="500"/>
                                        <p:tgtEl>
                                          <p:spTgt spid="150647"/>
                                        </p:tgtEl>
                                      </p:cBhvr>
                                    </p:animEffect>
                                  </p:childTnLst>
                                </p:cTn>
                              </p:par>
                            </p:childTnLst>
                          </p:cTn>
                        </p:par>
                        <p:par>
                          <p:cTn id="17" fill="hold" nodeType="afterGroup">
                            <p:stCondLst>
                              <p:cond delay="500"/>
                            </p:stCondLst>
                            <p:childTnLst>
                              <p:par>
                                <p:cTn id="18" presetID="22" presetClass="entr" presetSubtype="1" fill="hold" nodeType="afterEffect">
                                  <p:stCondLst>
                                    <p:cond delay="0"/>
                                  </p:stCondLst>
                                  <p:childTnLst>
                                    <p:set>
                                      <p:cBhvr>
                                        <p:cTn id="19" dur="1" fill="hold">
                                          <p:stCondLst>
                                            <p:cond delay="0"/>
                                          </p:stCondLst>
                                        </p:cTn>
                                        <p:tgtEl>
                                          <p:spTgt spid="150683"/>
                                        </p:tgtEl>
                                        <p:attrNameLst>
                                          <p:attrName>style.visibility</p:attrName>
                                        </p:attrNameLst>
                                      </p:cBhvr>
                                      <p:to>
                                        <p:strVal val="visible"/>
                                      </p:to>
                                    </p:set>
                                    <p:animEffect transition="in" filter="wipe(up)">
                                      <p:cBhvr>
                                        <p:cTn id="20" dur="500"/>
                                        <p:tgtEl>
                                          <p:spTgt spid="150683"/>
                                        </p:tgtEl>
                                      </p:cBhvr>
                                    </p:animEffect>
                                  </p:childTnLst>
                                </p:cTn>
                              </p:par>
                            </p:childTnLst>
                          </p:cTn>
                        </p:par>
                        <p:par>
                          <p:cTn id="21" fill="hold" nodeType="afterGroup">
                            <p:stCondLst>
                              <p:cond delay="1000"/>
                            </p:stCondLst>
                            <p:childTnLst>
                              <p:par>
                                <p:cTn id="22" presetID="22" presetClass="entr" presetSubtype="8" fill="hold" grpId="0" nodeType="afterEffect">
                                  <p:stCondLst>
                                    <p:cond delay="0"/>
                                  </p:stCondLst>
                                  <p:childTnLst>
                                    <p:set>
                                      <p:cBhvr>
                                        <p:cTn id="23" dur="1" fill="hold">
                                          <p:stCondLst>
                                            <p:cond delay="0"/>
                                          </p:stCondLst>
                                        </p:cTn>
                                        <p:tgtEl>
                                          <p:spTgt spid="150651"/>
                                        </p:tgtEl>
                                        <p:attrNameLst>
                                          <p:attrName>style.visibility</p:attrName>
                                        </p:attrNameLst>
                                      </p:cBhvr>
                                      <p:to>
                                        <p:strVal val="visible"/>
                                      </p:to>
                                    </p:set>
                                    <p:animEffect transition="in" filter="wipe(left)">
                                      <p:cBhvr>
                                        <p:cTn id="24" dur="500"/>
                                        <p:tgtEl>
                                          <p:spTgt spid="150651"/>
                                        </p:tgtEl>
                                      </p:cBhvr>
                                    </p:animEffect>
                                  </p:childTnLst>
                                </p:cTn>
                              </p:par>
                            </p:childTnLst>
                          </p:cTn>
                        </p:par>
                        <p:par>
                          <p:cTn id="25" fill="hold" nodeType="afterGroup">
                            <p:stCondLst>
                              <p:cond delay="1500"/>
                            </p:stCondLst>
                            <p:childTnLst>
                              <p:par>
                                <p:cTn id="26" presetID="22" presetClass="entr" presetSubtype="1" fill="hold" grpId="0" nodeType="afterEffect">
                                  <p:stCondLst>
                                    <p:cond delay="0"/>
                                  </p:stCondLst>
                                  <p:childTnLst>
                                    <p:set>
                                      <p:cBhvr>
                                        <p:cTn id="27" dur="1" fill="hold">
                                          <p:stCondLst>
                                            <p:cond delay="0"/>
                                          </p:stCondLst>
                                        </p:cTn>
                                        <p:tgtEl>
                                          <p:spTgt spid="150663"/>
                                        </p:tgtEl>
                                        <p:attrNameLst>
                                          <p:attrName>style.visibility</p:attrName>
                                        </p:attrNameLst>
                                      </p:cBhvr>
                                      <p:to>
                                        <p:strVal val="visible"/>
                                      </p:to>
                                    </p:set>
                                    <p:animEffect transition="in" filter="wipe(up)">
                                      <p:cBhvr>
                                        <p:cTn id="28" dur="500"/>
                                        <p:tgtEl>
                                          <p:spTgt spid="150663"/>
                                        </p:tgtEl>
                                      </p:cBhvr>
                                    </p:animEffect>
                                  </p:childTnLst>
                                </p:cTn>
                              </p:par>
                            </p:childTnLst>
                          </p:cTn>
                        </p:par>
                        <p:par>
                          <p:cTn id="29" fill="hold" nodeType="afterGroup">
                            <p:stCondLst>
                              <p:cond delay="2000"/>
                            </p:stCondLst>
                            <p:childTnLst>
                              <p:par>
                                <p:cTn id="30" presetID="22" presetClass="entr" presetSubtype="8" fill="hold" grpId="0" nodeType="afterEffect">
                                  <p:stCondLst>
                                    <p:cond delay="0"/>
                                  </p:stCondLst>
                                  <p:childTnLst>
                                    <p:set>
                                      <p:cBhvr>
                                        <p:cTn id="31" dur="1" fill="hold">
                                          <p:stCondLst>
                                            <p:cond delay="0"/>
                                          </p:stCondLst>
                                        </p:cTn>
                                        <p:tgtEl>
                                          <p:spTgt spid="150664"/>
                                        </p:tgtEl>
                                        <p:attrNameLst>
                                          <p:attrName>style.visibility</p:attrName>
                                        </p:attrNameLst>
                                      </p:cBhvr>
                                      <p:to>
                                        <p:strVal val="visible"/>
                                      </p:to>
                                    </p:set>
                                    <p:animEffect transition="in" filter="wipe(left)">
                                      <p:cBhvr>
                                        <p:cTn id="32" dur="500"/>
                                        <p:tgtEl>
                                          <p:spTgt spid="150664"/>
                                        </p:tgtEl>
                                      </p:cBhvr>
                                    </p:animEffect>
                                  </p:childTnLst>
                                </p:cTn>
                              </p:par>
                            </p:childTnLst>
                          </p:cTn>
                        </p:par>
                        <p:par>
                          <p:cTn id="33" fill="hold" nodeType="afterGroup">
                            <p:stCondLst>
                              <p:cond delay="2500"/>
                            </p:stCondLst>
                            <p:childTnLst>
                              <p:par>
                                <p:cTn id="34" presetID="22" presetClass="entr" presetSubtype="4" fill="hold" grpId="0" nodeType="afterEffect">
                                  <p:stCondLst>
                                    <p:cond delay="0"/>
                                  </p:stCondLst>
                                  <p:childTnLst>
                                    <p:set>
                                      <p:cBhvr>
                                        <p:cTn id="35" dur="1" fill="hold">
                                          <p:stCondLst>
                                            <p:cond delay="0"/>
                                          </p:stCondLst>
                                        </p:cTn>
                                        <p:tgtEl>
                                          <p:spTgt spid="150666"/>
                                        </p:tgtEl>
                                        <p:attrNameLst>
                                          <p:attrName>style.visibility</p:attrName>
                                        </p:attrNameLst>
                                      </p:cBhvr>
                                      <p:to>
                                        <p:strVal val="visible"/>
                                      </p:to>
                                    </p:set>
                                    <p:animEffect transition="in" filter="wipe(down)">
                                      <p:cBhvr>
                                        <p:cTn id="36" dur="500"/>
                                        <p:tgtEl>
                                          <p:spTgt spid="150666"/>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18" presetClass="entr" presetSubtype="6" fill="hold" nodeType="clickEffect">
                                  <p:stCondLst>
                                    <p:cond delay="0"/>
                                  </p:stCondLst>
                                  <p:childTnLst>
                                    <p:set>
                                      <p:cBhvr>
                                        <p:cTn id="40" dur="1" fill="hold">
                                          <p:stCondLst>
                                            <p:cond delay="0"/>
                                          </p:stCondLst>
                                        </p:cTn>
                                        <p:tgtEl>
                                          <p:spTgt spid="150639"/>
                                        </p:tgtEl>
                                        <p:attrNameLst>
                                          <p:attrName>style.visibility</p:attrName>
                                        </p:attrNameLst>
                                      </p:cBhvr>
                                      <p:to>
                                        <p:strVal val="visible"/>
                                      </p:to>
                                    </p:set>
                                    <p:animEffect transition="in" filter="strips(downRight)">
                                      <p:cBhvr>
                                        <p:cTn id="41" dur="500"/>
                                        <p:tgtEl>
                                          <p:spTgt spid="150639"/>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50667"/>
                                        </p:tgtEl>
                                        <p:attrNameLst>
                                          <p:attrName>style.visibility</p:attrName>
                                        </p:attrNameLst>
                                      </p:cBhvr>
                                      <p:to>
                                        <p:strVal val="visible"/>
                                      </p:to>
                                    </p:set>
                                    <p:animEffect transition="in" filter="wipe(left)">
                                      <p:cBhvr>
                                        <p:cTn id="46" dur="500"/>
                                        <p:tgtEl>
                                          <p:spTgt spid="150667"/>
                                        </p:tgtEl>
                                      </p:cBhvr>
                                    </p:animEffect>
                                  </p:childTnLst>
                                </p:cTn>
                              </p:par>
                            </p:childTnLst>
                          </p:cTn>
                        </p:par>
                        <p:par>
                          <p:cTn id="47" fill="hold" nodeType="afterGroup">
                            <p:stCondLst>
                              <p:cond delay="500"/>
                            </p:stCondLst>
                            <p:childTnLst>
                              <p:par>
                                <p:cTn id="48" presetID="22" presetClass="entr" presetSubtype="1" fill="hold" grpId="0" nodeType="afterEffect">
                                  <p:stCondLst>
                                    <p:cond delay="0"/>
                                  </p:stCondLst>
                                  <p:childTnLst>
                                    <p:set>
                                      <p:cBhvr>
                                        <p:cTn id="49" dur="1" fill="hold">
                                          <p:stCondLst>
                                            <p:cond delay="0"/>
                                          </p:stCondLst>
                                        </p:cTn>
                                        <p:tgtEl>
                                          <p:spTgt spid="150668"/>
                                        </p:tgtEl>
                                        <p:attrNameLst>
                                          <p:attrName>style.visibility</p:attrName>
                                        </p:attrNameLst>
                                      </p:cBhvr>
                                      <p:to>
                                        <p:strVal val="visible"/>
                                      </p:to>
                                    </p:set>
                                    <p:animEffect transition="in" filter="wipe(up)">
                                      <p:cBhvr>
                                        <p:cTn id="50" dur="500"/>
                                        <p:tgtEl>
                                          <p:spTgt spid="150668"/>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1" fill="hold" grpId="0" nodeType="clickEffect">
                                  <p:stCondLst>
                                    <p:cond delay="0"/>
                                  </p:stCondLst>
                                  <p:childTnLst>
                                    <p:set>
                                      <p:cBhvr>
                                        <p:cTn id="54" dur="1" fill="hold">
                                          <p:stCondLst>
                                            <p:cond delay="0"/>
                                          </p:stCondLst>
                                        </p:cTn>
                                        <p:tgtEl>
                                          <p:spTgt spid="150616"/>
                                        </p:tgtEl>
                                        <p:attrNameLst>
                                          <p:attrName>style.visibility</p:attrName>
                                        </p:attrNameLst>
                                      </p:cBhvr>
                                      <p:to>
                                        <p:strVal val="visible"/>
                                      </p:to>
                                    </p:set>
                                    <p:animEffect transition="in" filter="wipe(up)">
                                      <p:cBhvr>
                                        <p:cTn id="55" dur="500"/>
                                        <p:tgtEl>
                                          <p:spTgt spid="1506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616" grpId="0" animBg="1"/>
      <p:bldP spid="150625" grpId="0" animBg="1"/>
      <p:bldP spid="150647" grpId="0" animBg="1"/>
      <p:bldP spid="150651" grpId="0" animBg="1"/>
      <p:bldP spid="150663" grpId="0" animBg="1"/>
      <p:bldP spid="150664" grpId="0" animBg="1"/>
      <p:bldP spid="150666" grpId="0" animBg="1"/>
      <p:bldP spid="150667" grpId="0" animBg="1"/>
      <p:bldP spid="150668"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多级页表</a:t>
            </a:r>
          </a:p>
        </p:txBody>
      </p:sp>
      <p:sp>
        <p:nvSpPr>
          <p:cNvPr id="3" name="Content Placeholder 2"/>
          <p:cNvSpPr>
            <a:spLocks noGrp="1"/>
          </p:cNvSpPr>
          <p:nvPr>
            <p:ph idx="1"/>
          </p:nvPr>
        </p:nvSpPr>
        <p:spPr/>
        <p:txBody>
          <a:bodyPr/>
          <a:lstStyle/>
          <a:p>
            <a:r>
              <a:rPr lang="zh-CN" altLang="en-US" dirty="0">
                <a:solidFill>
                  <a:srgbClr val="FF0000"/>
                </a:solidFill>
              </a:rPr>
              <a:t>如果在使用时，进程页表需要载入内存，怎么办？</a:t>
            </a:r>
            <a:endParaRPr lang="en-US" altLang="zh-CN" dirty="0">
              <a:solidFill>
                <a:srgbClr val="FF0000"/>
              </a:solidFill>
            </a:endParaRPr>
          </a:p>
          <a:p>
            <a:pPr lvl="1"/>
            <a:r>
              <a:rPr lang="zh-CN" altLang="en-US" dirty="0"/>
              <a:t>页表本身也需要占用物理内存页面</a:t>
            </a:r>
            <a:endParaRPr lang="en-US" altLang="zh-CN" dirty="0"/>
          </a:p>
          <a:p>
            <a:pPr lvl="1"/>
            <a:r>
              <a:rPr lang="zh-CN" altLang="en-US" dirty="0"/>
              <a:t>页表太大怎么办？</a:t>
            </a:r>
            <a:endParaRPr lang="en-US" altLang="zh-CN" dirty="0"/>
          </a:p>
          <a:p>
            <a:r>
              <a:rPr lang="zh-CN" altLang="en-US" dirty="0"/>
              <a:t>多级页表</a:t>
            </a:r>
            <a:endParaRPr lang="en-US" altLang="zh-CN" dirty="0"/>
          </a:p>
          <a:p>
            <a:pPr lvl="1"/>
            <a:r>
              <a:rPr lang="zh-CN" altLang="en-US" dirty="0"/>
              <a:t>页表的页表</a:t>
            </a:r>
          </a:p>
        </p:txBody>
      </p:sp>
      <p:sp>
        <p:nvSpPr>
          <p:cNvPr id="4" name="Date Placeholder 3"/>
          <p:cNvSpPr>
            <a:spLocks noGrp="1"/>
          </p:cNvSpPr>
          <p:nvPr>
            <p:ph type="dt" sz="half" idx="10"/>
          </p:nvPr>
        </p:nvSpPr>
        <p:spPr/>
        <p:txBody>
          <a:bodyPr/>
          <a:lstStyle/>
          <a:p>
            <a:fld id="{B5079FB0-5AB0-47F4-BD92-B0C0853B9F7B}"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65</a:t>
            </a:fld>
            <a:endParaRPr lang="zh-CN" altLang="en-US" dirty="0"/>
          </a:p>
        </p:txBody>
      </p:sp>
    </p:spTree>
    <p:extLst>
      <p:ext uri="{BB962C8B-B14F-4D97-AF65-F5344CB8AC3E}">
        <p14:creationId xmlns:p14="http://schemas.microsoft.com/office/powerpoint/2010/main" val="3697997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多级页表</a:t>
            </a:r>
          </a:p>
        </p:txBody>
      </p:sp>
      <p:sp>
        <p:nvSpPr>
          <p:cNvPr id="4" name="Date Placeholder 3"/>
          <p:cNvSpPr>
            <a:spLocks noGrp="1"/>
          </p:cNvSpPr>
          <p:nvPr>
            <p:ph type="dt" sz="half" idx="10"/>
          </p:nvPr>
        </p:nvSpPr>
        <p:spPr/>
        <p:txBody>
          <a:bodyPr/>
          <a:lstStyle/>
          <a:p>
            <a:fld id="{0147F957-50F4-4BF1-ACCF-8F27C6C697EE}"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66</a:t>
            </a:fld>
            <a:endParaRPr lang="zh-CN" altLang="en-US" dirty="0"/>
          </a:p>
        </p:txBody>
      </p:sp>
      <p:grpSp>
        <p:nvGrpSpPr>
          <p:cNvPr id="8" name="Group 3"/>
          <p:cNvGrpSpPr>
            <a:grpSpLocks/>
          </p:cNvGrpSpPr>
          <p:nvPr/>
        </p:nvGrpSpPr>
        <p:grpSpPr bwMode="auto">
          <a:xfrm>
            <a:off x="827584" y="1258092"/>
            <a:ext cx="7345362" cy="5483277"/>
            <a:chOff x="464" y="971"/>
            <a:chExt cx="4775" cy="3321"/>
          </a:xfrm>
        </p:grpSpPr>
        <p:grpSp>
          <p:nvGrpSpPr>
            <p:cNvPr id="9" name="Group 4"/>
            <p:cNvGrpSpPr>
              <a:grpSpLocks/>
            </p:cNvGrpSpPr>
            <p:nvPr/>
          </p:nvGrpSpPr>
          <p:grpSpPr bwMode="auto">
            <a:xfrm>
              <a:off x="464" y="971"/>
              <a:ext cx="4775" cy="3321"/>
              <a:chOff x="464" y="971"/>
              <a:chExt cx="4775" cy="3321"/>
            </a:xfrm>
          </p:grpSpPr>
          <p:pic>
            <p:nvPicPr>
              <p:cNvPr id="13" name="Picture 5" descr="4-12"/>
              <p:cNvPicPr>
                <a:picLocks noChangeAspect="1" noChangeArrowheads="1"/>
              </p:cNvPicPr>
              <p:nvPr/>
            </p:nvPicPr>
            <p:blipFill>
              <a:blip r:embed="rId2">
                <a:extLst>
                  <a:ext uri="{28A0092B-C50C-407E-A947-70E740481C1C}">
                    <a14:useLocalDpi xmlns:a14="http://schemas.microsoft.com/office/drawing/2010/main" val="0"/>
                  </a:ext>
                </a:extLst>
              </a:blip>
              <a:srcRect t="3770" b="2827"/>
              <a:stretch>
                <a:fillRect/>
              </a:stretch>
            </p:blipFill>
            <p:spPr bwMode="auto">
              <a:xfrm>
                <a:off x="464" y="1118"/>
                <a:ext cx="4775" cy="3174"/>
              </a:xfrm>
              <a:prstGeom prst="rect">
                <a:avLst/>
              </a:prstGeom>
              <a:noFill/>
              <a:extLst>
                <a:ext uri="{909E8E84-426E-40DD-AFC4-6F175D3DCCD1}">
                  <a14:hiddenFill xmlns:a14="http://schemas.microsoft.com/office/drawing/2010/main">
                    <a:solidFill>
                      <a:srgbClr val="FFFFFF"/>
                    </a:solidFill>
                  </a14:hiddenFill>
                </a:ext>
              </a:extLst>
            </p:spPr>
          </p:pic>
          <p:sp>
            <p:nvSpPr>
              <p:cNvPr id="14" name="Text Box 6"/>
              <p:cNvSpPr txBox="1">
                <a:spLocks noChangeArrowheads="1"/>
              </p:cNvSpPr>
              <p:nvPr/>
            </p:nvSpPr>
            <p:spPr bwMode="auto">
              <a:xfrm>
                <a:off x="3288" y="971"/>
                <a:ext cx="1541" cy="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zh-CN" sz="1100" dirty="0">
                    <a:latin typeface="Arial" panose="020B0604020202020204" pitchFamily="34" charset="0"/>
                    <a:ea typeface="PMingLiU" panose="02020500000000000000" pitchFamily="18" charset="-120"/>
                  </a:rPr>
                  <a:t>Second-level page tables</a:t>
                </a:r>
              </a:p>
            </p:txBody>
          </p:sp>
        </p:grpSp>
        <p:sp>
          <p:nvSpPr>
            <p:cNvPr id="10" name="Text Box 7"/>
            <p:cNvSpPr txBox="1">
              <a:spLocks noChangeArrowheads="1"/>
            </p:cNvSpPr>
            <p:nvPr/>
          </p:nvSpPr>
          <p:spPr bwMode="auto">
            <a:xfrm>
              <a:off x="1189" y="2972"/>
              <a:ext cx="331" cy="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lang="zh-CN" altLang="en-US" sz="800" b="1"/>
                <a:t>页目录位移</a:t>
              </a:r>
            </a:p>
          </p:txBody>
        </p:sp>
        <p:sp>
          <p:nvSpPr>
            <p:cNvPr id="11" name="Text Box 8"/>
            <p:cNvSpPr txBox="1">
              <a:spLocks noChangeArrowheads="1"/>
            </p:cNvSpPr>
            <p:nvPr/>
          </p:nvSpPr>
          <p:spPr bwMode="auto">
            <a:xfrm>
              <a:off x="2260" y="2578"/>
              <a:ext cx="462" cy="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lang="zh-CN" altLang="en-US" sz="800" b="1"/>
                <a:t>页表页起始地址</a:t>
              </a:r>
            </a:p>
          </p:txBody>
        </p:sp>
        <p:sp>
          <p:nvSpPr>
            <p:cNvPr id="12" name="Text Box 9"/>
            <p:cNvSpPr txBox="1">
              <a:spLocks noChangeArrowheads="1"/>
            </p:cNvSpPr>
            <p:nvPr/>
          </p:nvSpPr>
          <p:spPr bwMode="auto">
            <a:xfrm>
              <a:off x="3893" y="3640"/>
              <a:ext cx="331" cy="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lang="zh-CN" altLang="en-US" sz="800" b="1"/>
                <a:t>物理页面号</a:t>
              </a:r>
            </a:p>
          </p:txBody>
        </p:sp>
      </p:grpSp>
      <p:sp>
        <p:nvSpPr>
          <p:cNvPr id="15" name="Text Box 10"/>
          <p:cNvSpPr txBox="1">
            <a:spLocks noChangeArrowheads="1"/>
          </p:cNvSpPr>
          <p:nvPr/>
        </p:nvSpPr>
        <p:spPr bwMode="auto">
          <a:xfrm>
            <a:off x="4067671" y="5588843"/>
            <a:ext cx="15843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800" b="1">
                <a:solidFill>
                  <a:srgbClr val="FF3300"/>
                </a:solidFill>
              </a:rPr>
              <a:t>第</a:t>
            </a:r>
            <a:r>
              <a:rPr lang="en-US" altLang="zh-CN" sz="1800" b="1">
                <a:solidFill>
                  <a:srgbClr val="FF3300"/>
                </a:solidFill>
              </a:rPr>
              <a:t>0</a:t>
            </a:r>
            <a:r>
              <a:rPr lang="zh-CN" altLang="en-US" sz="1800" b="1">
                <a:solidFill>
                  <a:srgbClr val="FF3300"/>
                </a:solidFill>
              </a:rPr>
              <a:t>个页表页</a:t>
            </a:r>
          </a:p>
        </p:txBody>
      </p:sp>
      <p:sp>
        <p:nvSpPr>
          <p:cNvPr id="16" name="Text Box 11"/>
          <p:cNvSpPr txBox="1">
            <a:spLocks noChangeArrowheads="1"/>
          </p:cNvSpPr>
          <p:nvPr/>
        </p:nvSpPr>
        <p:spPr bwMode="auto">
          <a:xfrm>
            <a:off x="3778746" y="2342406"/>
            <a:ext cx="18002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800" b="1" dirty="0">
                <a:solidFill>
                  <a:srgbClr val="FF3300"/>
                </a:solidFill>
              </a:rPr>
              <a:t>第</a:t>
            </a:r>
            <a:r>
              <a:rPr lang="en-US" altLang="zh-CN" sz="1800" b="1" dirty="0">
                <a:solidFill>
                  <a:srgbClr val="FF3300"/>
                </a:solidFill>
              </a:rPr>
              <a:t>1023</a:t>
            </a:r>
            <a:r>
              <a:rPr lang="zh-CN" altLang="en-US" sz="1800" b="1" dirty="0">
                <a:solidFill>
                  <a:srgbClr val="FF3300"/>
                </a:solidFill>
              </a:rPr>
              <a:t>个页表页</a:t>
            </a:r>
          </a:p>
        </p:txBody>
      </p:sp>
    </p:spTree>
    <p:extLst>
      <p:ext uri="{BB962C8B-B14F-4D97-AF65-F5344CB8AC3E}">
        <p14:creationId xmlns:p14="http://schemas.microsoft.com/office/powerpoint/2010/main" val="3988554128"/>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多级页表</a:t>
            </a:r>
          </a:p>
        </p:txBody>
      </p:sp>
      <p:sp>
        <p:nvSpPr>
          <p:cNvPr id="3" name="Content Placeholder 2"/>
          <p:cNvSpPr>
            <a:spLocks noGrp="1"/>
          </p:cNvSpPr>
          <p:nvPr>
            <p:ph idx="1"/>
          </p:nvPr>
        </p:nvSpPr>
        <p:spPr/>
        <p:txBody>
          <a:bodyPr/>
          <a:lstStyle/>
          <a:p>
            <a:r>
              <a:rPr lang="zh-CN" altLang="en-US" dirty="0"/>
              <a:t>二级页表地址映射</a:t>
            </a:r>
            <a:endParaRPr lang="en-US" altLang="zh-CN" dirty="0"/>
          </a:p>
          <a:p>
            <a:pPr lvl="1"/>
            <a:r>
              <a:rPr lang="zh-CN" altLang="en-US" dirty="0"/>
              <a:t>对逻辑地址的解析方法不同</a:t>
            </a:r>
            <a:endParaRPr lang="en-US" altLang="zh-CN" dirty="0"/>
          </a:p>
          <a:p>
            <a:pPr lvl="1"/>
            <a:r>
              <a:rPr lang="zh-CN" altLang="en-US" dirty="0"/>
              <a:t>映射过程不同</a:t>
            </a:r>
            <a:endParaRPr lang="en-US" altLang="zh-CN" dirty="0"/>
          </a:p>
          <a:p>
            <a:pPr lvl="1"/>
            <a:r>
              <a:rPr lang="zh-CN" altLang="en-US" dirty="0"/>
              <a:t>为访问一个数据，需要几次内存访问？</a:t>
            </a:r>
            <a:endParaRPr lang="en-US" altLang="zh-CN" dirty="0"/>
          </a:p>
          <a:p>
            <a:pPr lvl="1"/>
            <a:r>
              <a:rPr lang="zh-CN" altLang="en-US" dirty="0"/>
              <a:t>一级页表也需要放入内存，怎么找到？</a:t>
            </a:r>
          </a:p>
        </p:txBody>
      </p:sp>
      <p:sp>
        <p:nvSpPr>
          <p:cNvPr id="4" name="Date Placeholder 3"/>
          <p:cNvSpPr>
            <a:spLocks noGrp="1"/>
          </p:cNvSpPr>
          <p:nvPr>
            <p:ph type="dt" sz="half" idx="10"/>
          </p:nvPr>
        </p:nvSpPr>
        <p:spPr/>
        <p:txBody>
          <a:bodyPr/>
          <a:lstStyle/>
          <a:p>
            <a:fld id="{8DE656DD-95F5-4CAC-97DF-5151401C06D1}"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67</a:t>
            </a:fld>
            <a:endParaRPr lang="zh-CN" altLang="en-US" dirty="0"/>
          </a:p>
        </p:txBody>
      </p:sp>
      <p:grpSp>
        <p:nvGrpSpPr>
          <p:cNvPr id="7" name="Group 49"/>
          <p:cNvGrpSpPr>
            <a:grpSpLocks/>
          </p:cNvGrpSpPr>
          <p:nvPr/>
        </p:nvGrpSpPr>
        <p:grpSpPr bwMode="auto">
          <a:xfrm>
            <a:off x="709613" y="3901975"/>
            <a:ext cx="6192837" cy="433388"/>
            <a:chOff x="657" y="2205"/>
            <a:chExt cx="3901" cy="273"/>
          </a:xfrm>
        </p:grpSpPr>
        <p:sp>
          <p:nvSpPr>
            <p:cNvPr id="8" name="Rectangle 30"/>
            <p:cNvSpPr>
              <a:spLocks noChangeArrowheads="1"/>
            </p:cNvSpPr>
            <p:nvPr/>
          </p:nvSpPr>
          <p:spPr bwMode="auto">
            <a:xfrm>
              <a:off x="1474" y="2205"/>
              <a:ext cx="3084" cy="273"/>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800" b="1"/>
                <a:t>    </a:t>
              </a:r>
              <a:r>
                <a:rPr lang="zh-CN" altLang="en-US" sz="1800" b="1"/>
                <a:t>页目录位移          页表页位移          页内位移</a:t>
              </a:r>
            </a:p>
          </p:txBody>
        </p:sp>
        <p:sp>
          <p:nvSpPr>
            <p:cNvPr id="9" name="Text Box 31"/>
            <p:cNvSpPr txBox="1">
              <a:spLocks noChangeArrowheads="1"/>
            </p:cNvSpPr>
            <p:nvPr/>
          </p:nvSpPr>
          <p:spPr bwMode="auto">
            <a:xfrm>
              <a:off x="657" y="2205"/>
              <a:ext cx="81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800" b="1"/>
                <a:t>逻辑地址</a:t>
              </a:r>
            </a:p>
          </p:txBody>
        </p:sp>
        <p:sp>
          <p:nvSpPr>
            <p:cNvPr id="10" name="Line 32"/>
            <p:cNvSpPr>
              <a:spLocks noChangeShapeType="1"/>
            </p:cNvSpPr>
            <p:nvPr/>
          </p:nvSpPr>
          <p:spPr bwMode="auto">
            <a:xfrm>
              <a:off x="2562" y="2205"/>
              <a:ext cx="0" cy="27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 name="Line 33"/>
            <p:cNvSpPr>
              <a:spLocks noChangeShapeType="1"/>
            </p:cNvSpPr>
            <p:nvPr/>
          </p:nvSpPr>
          <p:spPr bwMode="auto">
            <a:xfrm>
              <a:off x="3696" y="2205"/>
              <a:ext cx="0" cy="27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2" name="Rectangle 35"/>
          <p:cNvSpPr>
            <a:spLocks noChangeArrowheads="1"/>
          </p:cNvSpPr>
          <p:nvPr/>
        </p:nvSpPr>
        <p:spPr bwMode="auto">
          <a:xfrm>
            <a:off x="323850" y="4798913"/>
            <a:ext cx="1225550" cy="647700"/>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800" b="1"/>
              <a:t>页目录表</a:t>
            </a:r>
          </a:p>
          <a:p>
            <a:pPr algn="ctr"/>
            <a:r>
              <a:rPr lang="zh-CN" altLang="en-US" sz="1800" b="1"/>
              <a:t>控制寄存器</a:t>
            </a:r>
          </a:p>
        </p:txBody>
      </p:sp>
      <p:grpSp>
        <p:nvGrpSpPr>
          <p:cNvPr id="13" name="Group 67"/>
          <p:cNvGrpSpPr>
            <a:grpSpLocks/>
          </p:cNvGrpSpPr>
          <p:nvPr/>
        </p:nvGrpSpPr>
        <p:grpSpPr bwMode="auto">
          <a:xfrm>
            <a:off x="1517650" y="4335363"/>
            <a:ext cx="889000" cy="574675"/>
            <a:chOff x="1181" y="2478"/>
            <a:chExt cx="560" cy="362"/>
          </a:xfrm>
        </p:grpSpPr>
        <p:sp>
          <p:nvSpPr>
            <p:cNvPr id="14" name="Line 38"/>
            <p:cNvSpPr>
              <a:spLocks noChangeShapeType="1"/>
            </p:cNvSpPr>
            <p:nvPr/>
          </p:nvSpPr>
          <p:spPr bwMode="auto">
            <a:xfrm>
              <a:off x="1701" y="2478"/>
              <a:ext cx="0" cy="362"/>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 name="Text Box 39"/>
            <p:cNvSpPr txBox="1">
              <a:spLocks noChangeArrowheads="1"/>
            </p:cNvSpPr>
            <p:nvPr/>
          </p:nvSpPr>
          <p:spPr bwMode="auto">
            <a:xfrm>
              <a:off x="1181" y="2508"/>
              <a:ext cx="56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800" b="1"/>
                <a:t>偏移量</a:t>
              </a:r>
            </a:p>
          </p:txBody>
        </p:sp>
      </p:grpSp>
      <p:grpSp>
        <p:nvGrpSpPr>
          <p:cNvPr id="16" name="Group 82"/>
          <p:cNvGrpSpPr>
            <a:grpSpLocks/>
          </p:cNvGrpSpPr>
          <p:nvPr/>
        </p:nvGrpSpPr>
        <p:grpSpPr bwMode="auto">
          <a:xfrm>
            <a:off x="4068763" y="4327425"/>
            <a:ext cx="936625" cy="574675"/>
            <a:chOff x="2563" y="2473"/>
            <a:chExt cx="590" cy="362"/>
          </a:xfrm>
        </p:grpSpPr>
        <p:sp>
          <p:nvSpPr>
            <p:cNvPr id="17" name="Line 51"/>
            <p:cNvSpPr>
              <a:spLocks noChangeShapeType="1"/>
            </p:cNvSpPr>
            <p:nvPr/>
          </p:nvSpPr>
          <p:spPr bwMode="auto">
            <a:xfrm>
              <a:off x="3064" y="2473"/>
              <a:ext cx="0" cy="362"/>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 name="Text Box 52"/>
            <p:cNvSpPr txBox="1">
              <a:spLocks noChangeArrowheads="1"/>
            </p:cNvSpPr>
            <p:nvPr/>
          </p:nvSpPr>
          <p:spPr bwMode="auto">
            <a:xfrm>
              <a:off x="2563" y="2513"/>
              <a:ext cx="59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800" b="1"/>
                <a:t>偏移量</a:t>
              </a:r>
            </a:p>
          </p:txBody>
        </p:sp>
      </p:grpSp>
      <p:grpSp>
        <p:nvGrpSpPr>
          <p:cNvPr id="19" name="Group 68"/>
          <p:cNvGrpSpPr>
            <a:grpSpLocks/>
          </p:cNvGrpSpPr>
          <p:nvPr/>
        </p:nvGrpSpPr>
        <p:grpSpPr bwMode="auto">
          <a:xfrm>
            <a:off x="3989388" y="5086250"/>
            <a:ext cx="792162" cy="587375"/>
            <a:chOff x="2794" y="2951"/>
            <a:chExt cx="499" cy="370"/>
          </a:xfrm>
        </p:grpSpPr>
        <p:sp>
          <p:nvSpPr>
            <p:cNvPr id="20" name="Line 55"/>
            <p:cNvSpPr>
              <a:spLocks noChangeShapeType="1"/>
            </p:cNvSpPr>
            <p:nvPr/>
          </p:nvSpPr>
          <p:spPr bwMode="auto">
            <a:xfrm>
              <a:off x="2850" y="2966"/>
              <a:ext cx="363"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 name="Text Box 56"/>
            <p:cNvSpPr txBox="1">
              <a:spLocks noChangeArrowheads="1"/>
            </p:cNvSpPr>
            <p:nvPr/>
          </p:nvSpPr>
          <p:spPr bwMode="auto">
            <a:xfrm>
              <a:off x="2794" y="2951"/>
              <a:ext cx="499" cy="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90000"/>
                </a:lnSpc>
              </a:pPr>
              <a:r>
                <a:rPr lang="zh-CN" altLang="en-US" sz="1800" b="1"/>
                <a:t>始</a:t>
              </a:r>
            </a:p>
            <a:p>
              <a:pPr algn="ctr">
                <a:lnSpc>
                  <a:spcPct val="90000"/>
                </a:lnSpc>
              </a:pPr>
              <a:r>
                <a:rPr lang="zh-CN" altLang="en-US" sz="1800" b="1"/>
                <a:t>地址</a:t>
              </a:r>
            </a:p>
          </p:txBody>
        </p:sp>
      </p:grpSp>
      <p:grpSp>
        <p:nvGrpSpPr>
          <p:cNvPr id="22" name="Group 92"/>
          <p:cNvGrpSpPr>
            <a:grpSpLocks/>
          </p:cNvGrpSpPr>
          <p:nvPr/>
        </p:nvGrpSpPr>
        <p:grpSpPr bwMode="auto">
          <a:xfrm>
            <a:off x="4646613" y="4886225"/>
            <a:ext cx="800100" cy="433388"/>
            <a:chOff x="2927" y="2790"/>
            <a:chExt cx="504" cy="273"/>
          </a:xfrm>
        </p:grpSpPr>
        <p:sp>
          <p:nvSpPr>
            <p:cNvPr id="23" name="AutoShape 57"/>
            <p:cNvSpPr>
              <a:spLocks noChangeArrowheads="1"/>
            </p:cNvSpPr>
            <p:nvPr/>
          </p:nvSpPr>
          <p:spPr bwMode="auto">
            <a:xfrm>
              <a:off x="2927" y="2790"/>
              <a:ext cx="272" cy="273"/>
            </a:xfrm>
            <a:prstGeom prst="flowChartOr">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Line 63"/>
            <p:cNvSpPr>
              <a:spLocks noChangeShapeType="1"/>
            </p:cNvSpPr>
            <p:nvPr/>
          </p:nvSpPr>
          <p:spPr bwMode="auto">
            <a:xfrm>
              <a:off x="3204" y="2926"/>
              <a:ext cx="227"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5" name="Group 71"/>
          <p:cNvGrpSpPr>
            <a:grpSpLocks/>
          </p:cNvGrpSpPr>
          <p:nvPr/>
        </p:nvGrpSpPr>
        <p:grpSpPr bwMode="auto">
          <a:xfrm>
            <a:off x="1470025" y="5094188"/>
            <a:ext cx="792163" cy="587375"/>
            <a:chOff x="2794" y="2951"/>
            <a:chExt cx="499" cy="370"/>
          </a:xfrm>
        </p:grpSpPr>
        <p:sp>
          <p:nvSpPr>
            <p:cNvPr id="26" name="Line 72"/>
            <p:cNvSpPr>
              <a:spLocks noChangeShapeType="1"/>
            </p:cNvSpPr>
            <p:nvPr/>
          </p:nvSpPr>
          <p:spPr bwMode="auto">
            <a:xfrm>
              <a:off x="2850" y="2966"/>
              <a:ext cx="363"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 name="Text Box 73"/>
            <p:cNvSpPr txBox="1">
              <a:spLocks noChangeArrowheads="1"/>
            </p:cNvSpPr>
            <p:nvPr/>
          </p:nvSpPr>
          <p:spPr bwMode="auto">
            <a:xfrm>
              <a:off x="2794" y="2951"/>
              <a:ext cx="499" cy="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90000"/>
                </a:lnSpc>
              </a:pPr>
              <a:r>
                <a:rPr lang="zh-CN" altLang="en-US" sz="1800" b="1"/>
                <a:t>始</a:t>
              </a:r>
            </a:p>
            <a:p>
              <a:pPr algn="ctr">
                <a:lnSpc>
                  <a:spcPct val="90000"/>
                </a:lnSpc>
              </a:pPr>
              <a:r>
                <a:rPr lang="zh-CN" altLang="en-US" sz="1800" b="1"/>
                <a:t>地址</a:t>
              </a:r>
            </a:p>
          </p:txBody>
        </p:sp>
      </p:grpSp>
      <p:grpSp>
        <p:nvGrpSpPr>
          <p:cNvPr id="28" name="Group 74"/>
          <p:cNvGrpSpPr>
            <a:grpSpLocks/>
          </p:cNvGrpSpPr>
          <p:nvPr/>
        </p:nvGrpSpPr>
        <p:grpSpPr bwMode="auto">
          <a:xfrm>
            <a:off x="6340475" y="5078313"/>
            <a:ext cx="792163" cy="587375"/>
            <a:chOff x="2794" y="2951"/>
            <a:chExt cx="499" cy="370"/>
          </a:xfrm>
        </p:grpSpPr>
        <p:sp>
          <p:nvSpPr>
            <p:cNvPr id="29" name="Line 75"/>
            <p:cNvSpPr>
              <a:spLocks noChangeShapeType="1"/>
            </p:cNvSpPr>
            <p:nvPr/>
          </p:nvSpPr>
          <p:spPr bwMode="auto">
            <a:xfrm>
              <a:off x="2850" y="2966"/>
              <a:ext cx="363"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 name="Text Box 76"/>
            <p:cNvSpPr txBox="1">
              <a:spLocks noChangeArrowheads="1"/>
            </p:cNvSpPr>
            <p:nvPr/>
          </p:nvSpPr>
          <p:spPr bwMode="auto">
            <a:xfrm>
              <a:off x="2794" y="2951"/>
              <a:ext cx="499" cy="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90000"/>
                </a:lnSpc>
              </a:pPr>
              <a:r>
                <a:rPr lang="zh-CN" altLang="en-US" sz="1800" b="1"/>
                <a:t>页面</a:t>
              </a:r>
            </a:p>
            <a:p>
              <a:pPr algn="ctr">
                <a:lnSpc>
                  <a:spcPct val="90000"/>
                </a:lnSpc>
              </a:pPr>
              <a:r>
                <a:rPr lang="zh-CN" altLang="en-US" sz="1800" b="1"/>
                <a:t>号</a:t>
              </a:r>
            </a:p>
          </p:txBody>
        </p:sp>
      </p:grpSp>
      <p:grpSp>
        <p:nvGrpSpPr>
          <p:cNvPr id="31" name="Group 81"/>
          <p:cNvGrpSpPr>
            <a:grpSpLocks/>
          </p:cNvGrpSpPr>
          <p:nvPr/>
        </p:nvGrpSpPr>
        <p:grpSpPr bwMode="auto">
          <a:xfrm>
            <a:off x="6659563" y="4270275"/>
            <a:ext cx="1657350" cy="639763"/>
            <a:chOff x="4195" y="2437"/>
            <a:chExt cx="1044" cy="403"/>
          </a:xfrm>
        </p:grpSpPr>
        <p:sp>
          <p:nvSpPr>
            <p:cNvPr id="32" name="Line 77"/>
            <p:cNvSpPr>
              <a:spLocks noChangeShapeType="1"/>
            </p:cNvSpPr>
            <p:nvPr/>
          </p:nvSpPr>
          <p:spPr bwMode="auto">
            <a:xfrm>
              <a:off x="4195" y="2478"/>
              <a:ext cx="0" cy="181"/>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 name="Line 78"/>
            <p:cNvSpPr>
              <a:spLocks noChangeShapeType="1"/>
            </p:cNvSpPr>
            <p:nvPr/>
          </p:nvSpPr>
          <p:spPr bwMode="auto">
            <a:xfrm>
              <a:off x="4195" y="2659"/>
              <a:ext cx="10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 name="Line 79"/>
            <p:cNvSpPr>
              <a:spLocks noChangeShapeType="1"/>
            </p:cNvSpPr>
            <p:nvPr/>
          </p:nvSpPr>
          <p:spPr bwMode="auto">
            <a:xfrm>
              <a:off x="5239" y="2659"/>
              <a:ext cx="0" cy="181"/>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 name="Text Box 80"/>
            <p:cNvSpPr txBox="1">
              <a:spLocks noChangeArrowheads="1"/>
            </p:cNvSpPr>
            <p:nvPr/>
          </p:nvSpPr>
          <p:spPr bwMode="auto">
            <a:xfrm>
              <a:off x="4367" y="2437"/>
              <a:ext cx="72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800" b="1"/>
                <a:t>页内地址</a:t>
              </a:r>
            </a:p>
          </p:txBody>
        </p:sp>
      </p:grpSp>
      <p:grpSp>
        <p:nvGrpSpPr>
          <p:cNvPr id="36" name="Group 86"/>
          <p:cNvGrpSpPr>
            <a:grpSpLocks/>
          </p:cNvGrpSpPr>
          <p:nvPr/>
        </p:nvGrpSpPr>
        <p:grpSpPr bwMode="auto">
          <a:xfrm>
            <a:off x="6997700" y="4894163"/>
            <a:ext cx="1822450" cy="776287"/>
            <a:chOff x="4408" y="2795"/>
            <a:chExt cx="1148" cy="489"/>
          </a:xfrm>
        </p:grpSpPr>
        <p:grpSp>
          <p:nvGrpSpPr>
            <p:cNvPr id="37" name="Group 69"/>
            <p:cNvGrpSpPr>
              <a:grpSpLocks/>
            </p:cNvGrpSpPr>
            <p:nvPr/>
          </p:nvGrpSpPr>
          <p:grpSpPr bwMode="auto">
            <a:xfrm>
              <a:off x="4408" y="2795"/>
              <a:ext cx="1148" cy="273"/>
              <a:chOff x="4558" y="2840"/>
              <a:chExt cx="1148" cy="273"/>
            </a:xfrm>
          </p:grpSpPr>
          <p:sp>
            <p:nvSpPr>
              <p:cNvPr id="39" name="Rectangle 64"/>
              <p:cNvSpPr>
                <a:spLocks noChangeArrowheads="1"/>
              </p:cNvSpPr>
              <p:nvPr/>
            </p:nvSpPr>
            <p:spPr bwMode="auto">
              <a:xfrm>
                <a:off x="4558" y="2840"/>
                <a:ext cx="1148" cy="273"/>
              </a:xfrm>
              <a:prstGeom prst="rect">
                <a:avLst/>
              </a:prstGeom>
              <a:solidFill>
                <a:srgbClr val="66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800" b="1"/>
                  <a:t>页面号  页内地址</a:t>
                </a:r>
              </a:p>
            </p:txBody>
          </p:sp>
          <p:sp>
            <p:nvSpPr>
              <p:cNvPr id="40" name="Line 65"/>
              <p:cNvSpPr>
                <a:spLocks noChangeShapeType="1"/>
              </p:cNvSpPr>
              <p:nvPr/>
            </p:nvSpPr>
            <p:spPr bwMode="auto">
              <a:xfrm>
                <a:off x="5057" y="2840"/>
                <a:ext cx="0" cy="27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8" name="Text Box 85"/>
            <p:cNvSpPr txBox="1">
              <a:spLocks noChangeArrowheads="1"/>
            </p:cNvSpPr>
            <p:nvPr/>
          </p:nvSpPr>
          <p:spPr bwMode="auto">
            <a:xfrm>
              <a:off x="4619" y="3053"/>
              <a:ext cx="77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800" b="1"/>
                <a:t>物理地址</a:t>
              </a:r>
            </a:p>
          </p:txBody>
        </p:sp>
      </p:grpSp>
      <p:grpSp>
        <p:nvGrpSpPr>
          <p:cNvPr id="41" name="Group 90"/>
          <p:cNvGrpSpPr>
            <a:grpSpLocks/>
          </p:cNvGrpSpPr>
          <p:nvPr/>
        </p:nvGrpSpPr>
        <p:grpSpPr bwMode="auto">
          <a:xfrm>
            <a:off x="2127250" y="4910038"/>
            <a:ext cx="792163" cy="433387"/>
            <a:chOff x="1340" y="2805"/>
            <a:chExt cx="499" cy="273"/>
          </a:xfrm>
        </p:grpSpPr>
        <p:sp>
          <p:nvSpPr>
            <p:cNvPr id="42" name="AutoShape 42"/>
            <p:cNvSpPr>
              <a:spLocks noChangeArrowheads="1"/>
            </p:cNvSpPr>
            <p:nvPr/>
          </p:nvSpPr>
          <p:spPr bwMode="auto">
            <a:xfrm>
              <a:off x="1340" y="2805"/>
              <a:ext cx="272" cy="273"/>
            </a:xfrm>
            <a:prstGeom prst="flowChartOr">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 name="Line 43"/>
            <p:cNvSpPr>
              <a:spLocks noChangeShapeType="1"/>
            </p:cNvSpPr>
            <p:nvPr/>
          </p:nvSpPr>
          <p:spPr bwMode="auto">
            <a:xfrm>
              <a:off x="1612" y="2936"/>
              <a:ext cx="227"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4" name="Group 93"/>
          <p:cNvGrpSpPr>
            <a:grpSpLocks/>
          </p:cNvGrpSpPr>
          <p:nvPr/>
        </p:nvGrpSpPr>
        <p:grpSpPr bwMode="auto">
          <a:xfrm>
            <a:off x="2389188" y="4575075"/>
            <a:ext cx="2519362" cy="1446213"/>
            <a:chOff x="1505" y="2594"/>
            <a:chExt cx="1587" cy="911"/>
          </a:xfrm>
        </p:grpSpPr>
        <p:grpSp>
          <p:nvGrpSpPr>
            <p:cNvPr id="45" name="Group 48"/>
            <p:cNvGrpSpPr>
              <a:grpSpLocks/>
            </p:cNvGrpSpPr>
            <p:nvPr/>
          </p:nvGrpSpPr>
          <p:grpSpPr bwMode="auto">
            <a:xfrm>
              <a:off x="1838" y="2594"/>
              <a:ext cx="730" cy="680"/>
              <a:chOff x="2316" y="2629"/>
              <a:chExt cx="798" cy="680"/>
            </a:xfrm>
          </p:grpSpPr>
          <p:sp>
            <p:nvSpPr>
              <p:cNvPr id="47" name="Rectangle 45"/>
              <p:cNvSpPr>
                <a:spLocks noChangeArrowheads="1"/>
              </p:cNvSpPr>
              <p:nvPr/>
            </p:nvSpPr>
            <p:spPr bwMode="auto">
              <a:xfrm>
                <a:off x="2321" y="2629"/>
                <a:ext cx="793" cy="680"/>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800" b="1"/>
                  <a:t>页表始地址</a:t>
                </a:r>
              </a:p>
            </p:txBody>
          </p:sp>
          <p:sp>
            <p:nvSpPr>
              <p:cNvPr id="48" name="Line 46"/>
              <p:cNvSpPr>
                <a:spLocks noChangeShapeType="1"/>
              </p:cNvSpPr>
              <p:nvPr/>
            </p:nvSpPr>
            <p:spPr bwMode="auto">
              <a:xfrm>
                <a:off x="2316" y="2860"/>
                <a:ext cx="79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 name="Line 47"/>
              <p:cNvSpPr>
                <a:spLocks noChangeShapeType="1"/>
              </p:cNvSpPr>
              <p:nvPr/>
            </p:nvSpPr>
            <p:spPr bwMode="auto">
              <a:xfrm>
                <a:off x="2316" y="3098"/>
                <a:ext cx="79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6" name="Text Box 87"/>
            <p:cNvSpPr txBox="1">
              <a:spLocks noChangeArrowheads="1"/>
            </p:cNvSpPr>
            <p:nvPr/>
          </p:nvSpPr>
          <p:spPr bwMode="auto">
            <a:xfrm>
              <a:off x="1505" y="3274"/>
              <a:ext cx="158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800" b="1"/>
                <a:t>一级页表（页目录表）</a:t>
              </a:r>
            </a:p>
          </p:txBody>
        </p:sp>
      </p:grpSp>
      <p:grpSp>
        <p:nvGrpSpPr>
          <p:cNvPr id="50" name="Group 91"/>
          <p:cNvGrpSpPr>
            <a:grpSpLocks/>
          </p:cNvGrpSpPr>
          <p:nvPr/>
        </p:nvGrpSpPr>
        <p:grpSpPr bwMode="auto">
          <a:xfrm>
            <a:off x="4956175" y="4559200"/>
            <a:ext cx="2376488" cy="1454150"/>
            <a:chOff x="3122" y="2584"/>
            <a:chExt cx="1497" cy="916"/>
          </a:xfrm>
        </p:grpSpPr>
        <p:grpSp>
          <p:nvGrpSpPr>
            <p:cNvPr id="51" name="Group 58"/>
            <p:cNvGrpSpPr>
              <a:grpSpLocks/>
            </p:cNvGrpSpPr>
            <p:nvPr/>
          </p:nvGrpSpPr>
          <p:grpSpPr bwMode="auto">
            <a:xfrm>
              <a:off x="3430" y="2584"/>
              <a:ext cx="625" cy="680"/>
              <a:chOff x="2316" y="2629"/>
              <a:chExt cx="798" cy="680"/>
            </a:xfrm>
          </p:grpSpPr>
          <p:sp>
            <p:nvSpPr>
              <p:cNvPr id="53" name="Rectangle 59"/>
              <p:cNvSpPr>
                <a:spLocks noChangeArrowheads="1"/>
              </p:cNvSpPr>
              <p:nvPr/>
            </p:nvSpPr>
            <p:spPr bwMode="auto">
              <a:xfrm>
                <a:off x="2321" y="2629"/>
                <a:ext cx="793" cy="680"/>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800" b="1"/>
                  <a:t>页面地址</a:t>
                </a:r>
              </a:p>
            </p:txBody>
          </p:sp>
          <p:sp>
            <p:nvSpPr>
              <p:cNvPr id="54" name="Line 60"/>
              <p:cNvSpPr>
                <a:spLocks noChangeShapeType="1"/>
              </p:cNvSpPr>
              <p:nvPr/>
            </p:nvSpPr>
            <p:spPr bwMode="auto">
              <a:xfrm>
                <a:off x="2316" y="2860"/>
                <a:ext cx="79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 name="Line 61"/>
              <p:cNvSpPr>
                <a:spLocks noChangeShapeType="1"/>
              </p:cNvSpPr>
              <p:nvPr/>
            </p:nvSpPr>
            <p:spPr bwMode="auto">
              <a:xfrm>
                <a:off x="2316" y="3098"/>
                <a:ext cx="79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2" name="Text Box 89"/>
            <p:cNvSpPr txBox="1">
              <a:spLocks noChangeArrowheads="1"/>
            </p:cNvSpPr>
            <p:nvPr/>
          </p:nvSpPr>
          <p:spPr bwMode="auto">
            <a:xfrm>
              <a:off x="3122" y="3269"/>
              <a:ext cx="149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800" b="1"/>
                <a:t>二级页表（页表页）</a:t>
              </a:r>
            </a:p>
          </p:txBody>
        </p:sp>
      </p:grpSp>
      <p:sp>
        <p:nvSpPr>
          <p:cNvPr id="56" name="矩形 55"/>
          <p:cNvSpPr/>
          <p:nvPr/>
        </p:nvSpPr>
        <p:spPr>
          <a:xfrm>
            <a:off x="90678" y="6073080"/>
            <a:ext cx="9381744" cy="383182"/>
          </a:xfrm>
          <a:prstGeom prst="rect">
            <a:avLst/>
          </a:prstGeom>
        </p:spPr>
        <p:txBody>
          <a:bodyPr wrap="square">
            <a:spAutoFit/>
          </a:bodyPr>
          <a:lstStyle/>
          <a:p>
            <a:pPr>
              <a:lnSpc>
                <a:spcPct val="105000"/>
              </a:lnSpc>
              <a:spcBef>
                <a:spcPct val="10000"/>
              </a:spcBef>
            </a:pPr>
            <a:r>
              <a:rPr lang="zh-CN" altLang="en-US" b="1" dirty="0">
                <a:solidFill>
                  <a:schemeClr val="accent2"/>
                </a:solidFill>
                <a:latin typeface="微软雅黑" panose="020B0503020204020204" pitchFamily="34" charset="-122"/>
                <a:ea typeface="微软雅黑" panose="020B0503020204020204" pitchFamily="34" charset="-122"/>
              </a:rPr>
              <a:t>基于二级页表需访问</a:t>
            </a:r>
            <a:r>
              <a:rPr lang="en-US" altLang="zh-CN" b="1" dirty="0">
                <a:solidFill>
                  <a:schemeClr val="accent2"/>
                </a:solidFill>
                <a:latin typeface="微软雅黑" panose="020B0503020204020204" pitchFamily="34" charset="-122"/>
                <a:ea typeface="微软雅黑" panose="020B0503020204020204" pitchFamily="34" charset="-122"/>
              </a:rPr>
              <a:t>3</a:t>
            </a:r>
            <a:r>
              <a:rPr lang="zh-CN" altLang="en-US" b="1" dirty="0">
                <a:solidFill>
                  <a:schemeClr val="accent2"/>
                </a:solidFill>
                <a:latin typeface="微软雅黑" panose="020B0503020204020204" pitchFamily="34" charset="-122"/>
                <a:ea typeface="微软雅黑" panose="020B0503020204020204" pitchFamily="34" charset="-122"/>
              </a:rPr>
              <a:t>次主存，一次访问页目录、一次访问页表页、一次访问指令或数据</a:t>
            </a: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27393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wipe(left)">
                                      <p:cBhvr>
                                        <p:cTn id="15" dur="500"/>
                                        <p:tgtEl>
                                          <p:spTgt spid="25"/>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wipe(up)">
                                      <p:cBhvr>
                                        <p:cTn id="20" dur="50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41"/>
                                        </p:tgtEl>
                                        <p:attrNameLst>
                                          <p:attrName>style.visibility</p:attrName>
                                        </p:attrNameLst>
                                      </p:cBhvr>
                                      <p:to>
                                        <p:strVal val="visible"/>
                                      </p:to>
                                    </p:set>
                                    <p:animEffect transition="in" filter="wipe(left)">
                                      <p:cBhvr>
                                        <p:cTn id="25" dur="500"/>
                                        <p:tgtEl>
                                          <p:spTgt spid="41"/>
                                        </p:tgtEl>
                                      </p:cBhvr>
                                    </p:animEffect>
                                  </p:childTnLst>
                                </p:cTn>
                              </p:par>
                            </p:childTnLst>
                          </p:cTn>
                        </p:par>
                        <p:par>
                          <p:cTn id="26" fill="hold">
                            <p:stCondLst>
                              <p:cond delay="500"/>
                            </p:stCondLst>
                            <p:childTnLst>
                              <p:par>
                                <p:cTn id="27" presetID="4" presetClass="entr" presetSubtype="32" fill="hold" nodeType="afterEffect">
                                  <p:stCondLst>
                                    <p:cond delay="0"/>
                                  </p:stCondLst>
                                  <p:childTnLst>
                                    <p:set>
                                      <p:cBhvr>
                                        <p:cTn id="28" dur="1" fill="hold">
                                          <p:stCondLst>
                                            <p:cond delay="0"/>
                                          </p:stCondLst>
                                        </p:cTn>
                                        <p:tgtEl>
                                          <p:spTgt spid="44"/>
                                        </p:tgtEl>
                                        <p:attrNameLst>
                                          <p:attrName>style.visibility</p:attrName>
                                        </p:attrNameLst>
                                      </p:cBhvr>
                                      <p:to>
                                        <p:strVal val="visible"/>
                                      </p:to>
                                    </p:set>
                                    <p:animEffect transition="in" filter="box(out)">
                                      <p:cBhvr>
                                        <p:cTn id="29" dur="500"/>
                                        <p:tgtEl>
                                          <p:spTgt spid="44"/>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wipe(left)">
                                      <p:cBhvr>
                                        <p:cTn id="34" dur="500"/>
                                        <p:tgtEl>
                                          <p:spTgt spid="19"/>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nodeType="click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wipe(up)">
                                      <p:cBhvr>
                                        <p:cTn id="39" dur="500"/>
                                        <p:tgtEl>
                                          <p:spTgt spid="16"/>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wipe(left)">
                                      <p:cBhvr>
                                        <p:cTn id="44" dur="500"/>
                                        <p:tgtEl>
                                          <p:spTgt spid="22"/>
                                        </p:tgtEl>
                                      </p:cBhvr>
                                    </p:animEffect>
                                  </p:childTnLst>
                                </p:cTn>
                              </p:par>
                            </p:childTnLst>
                          </p:cTn>
                        </p:par>
                        <p:par>
                          <p:cTn id="45" fill="hold">
                            <p:stCondLst>
                              <p:cond delay="500"/>
                            </p:stCondLst>
                            <p:childTnLst>
                              <p:par>
                                <p:cTn id="46" presetID="4" presetClass="entr" presetSubtype="32" fill="hold" nodeType="afterEffect">
                                  <p:stCondLst>
                                    <p:cond delay="0"/>
                                  </p:stCondLst>
                                  <p:childTnLst>
                                    <p:set>
                                      <p:cBhvr>
                                        <p:cTn id="47" dur="1" fill="hold">
                                          <p:stCondLst>
                                            <p:cond delay="0"/>
                                          </p:stCondLst>
                                        </p:cTn>
                                        <p:tgtEl>
                                          <p:spTgt spid="50"/>
                                        </p:tgtEl>
                                        <p:attrNameLst>
                                          <p:attrName>style.visibility</p:attrName>
                                        </p:attrNameLst>
                                      </p:cBhvr>
                                      <p:to>
                                        <p:strVal val="visible"/>
                                      </p:to>
                                    </p:set>
                                    <p:animEffect transition="in" filter="box(out)">
                                      <p:cBhvr>
                                        <p:cTn id="48" dur="500"/>
                                        <p:tgtEl>
                                          <p:spTgt spid="50"/>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28"/>
                                        </p:tgtEl>
                                        <p:attrNameLst>
                                          <p:attrName>style.visibility</p:attrName>
                                        </p:attrNameLst>
                                      </p:cBhvr>
                                      <p:to>
                                        <p:strVal val="visible"/>
                                      </p:to>
                                    </p:set>
                                    <p:animEffect transition="in" filter="wipe(left)">
                                      <p:cBhvr>
                                        <p:cTn id="53" dur="500"/>
                                        <p:tgtEl>
                                          <p:spTgt spid="28"/>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1" fill="hold" nodeType="clickEffect">
                                  <p:stCondLst>
                                    <p:cond delay="0"/>
                                  </p:stCondLst>
                                  <p:childTnLst>
                                    <p:set>
                                      <p:cBhvr>
                                        <p:cTn id="57" dur="1" fill="hold">
                                          <p:stCondLst>
                                            <p:cond delay="0"/>
                                          </p:stCondLst>
                                        </p:cTn>
                                        <p:tgtEl>
                                          <p:spTgt spid="31"/>
                                        </p:tgtEl>
                                        <p:attrNameLst>
                                          <p:attrName>style.visibility</p:attrName>
                                        </p:attrNameLst>
                                      </p:cBhvr>
                                      <p:to>
                                        <p:strVal val="visible"/>
                                      </p:to>
                                    </p:set>
                                    <p:animEffect transition="in" filter="wipe(up)">
                                      <p:cBhvr>
                                        <p:cTn id="58" dur="500"/>
                                        <p:tgtEl>
                                          <p:spTgt spid="31"/>
                                        </p:tgtEl>
                                      </p:cBhvr>
                                    </p:animEffect>
                                  </p:childTnLst>
                                </p:cTn>
                              </p:par>
                            </p:childTnLst>
                          </p:cTn>
                        </p:par>
                      </p:childTnLst>
                    </p:cTn>
                  </p:par>
                  <p:par>
                    <p:cTn id="59" fill="hold">
                      <p:stCondLst>
                        <p:cond delay="indefinite"/>
                      </p:stCondLst>
                      <p:childTnLst>
                        <p:par>
                          <p:cTn id="60" fill="hold">
                            <p:stCondLst>
                              <p:cond delay="0"/>
                            </p:stCondLst>
                            <p:childTnLst>
                              <p:par>
                                <p:cTn id="61" presetID="4" presetClass="entr" presetSubtype="16" fill="hold" nodeType="clickEffect">
                                  <p:stCondLst>
                                    <p:cond delay="0"/>
                                  </p:stCondLst>
                                  <p:childTnLst>
                                    <p:set>
                                      <p:cBhvr>
                                        <p:cTn id="62" dur="1" fill="hold">
                                          <p:stCondLst>
                                            <p:cond delay="0"/>
                                          </p:stCondLst>
                                        </p:cTn>
                                        <p:tgtEl>
                                          <p:spTgt spid="36"/>
                                        </p:tgtEl>
                                        <p:attrNameLst>
                                          <p:attrName>style.visibility</p:attrName>
                                        </p:attrNameLst>
                                      </p:cBhvr>
                                      <p:to>
                                        <p:strVal val="visible"/>
                                      </p:to>
                                    </p:set>
                                    <p:animEffect transition="in" filter="box(in)">
                                      <p:cBhvr>
                                        <p:cTn id="63"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多级页表</a:t>
            </a:r>
          </a:p>
        </p:txBody>
      </p:sp>
      <p:sp>
        <p:nvSpPr>
          <p:cNvPr id="3" name="Content Placeholder 2"/>
          <p:cNvSpPr>
            <a:spLocks noGrp="1"/>
          </p:cNvSpPr>
          <p:nvPr>
            <p:ph idx="1"/>
          </p:nvPr>
        </p:nvSpPr>
        <p:spPr/>
        <p:txBody>
          <a:bodyPr/>
          <a:lstStyle/>
          <a:p>
            <a:r>
              <a:rPr lang="zh-CN" altLang="en-US" dirty="0"/>
              <a:t>如果不够，还可建立更多级别的页表</a:t>
            </a:r>
          </a:p>
        </p:txBody>
      </p:sp>
      <p:sp>
        <p:nvSpPr>
          <p:cNvPr id="4" name="Date Placeholder 3"/>
          <p:cNvSpPr>
            <a:spLocks noGrp="1"/>
          </p:cNvSpPr>
          <p:nvPr>
            <p:ph type="dt" sz="half" idx="10"/>
          </p:nvPr>
        </p:nvSpPr>
        <p:spPr/>
        <p:txBody>
          <a:bodyPr/>
          <a:lstStyle/>
          <a:p>
            <a:fld id="{4B9F2E4A-1DE4-47FB-B0BA-7451843BDB57}"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68</a:t>
            </a:fld>
            <a:endParaRPr lang="zh-CN" altLang="en-US" dirty="0"/>
          </a:p>
        </p:txBody>
      </p:sp>
      <p:graphicFrame>
        <p:nvGraphicFramePr>
          <p:cNvPr id="7" name="Object 3"/>
          <p:cNvGraphicFramePr>
            <a:graphicFrameLocks noChangeAspect="1"/>
          </p:cNvGraphicFramePr>
          <p:nvPr>
            <p:extLst/>
          </p:nvPr>
        </p:nvGraphicFramePr>
        <p:xfrm>
          <a:off x="828749" y="2492896"/>
          <a:ext cx="7559675" cy="3019425"/>
        </p:xfrm>
        <a:graphic>
          <a:graphicData uri="http://schemas.openxmlformats.org/presentationml/2006/ole">
            <mc:AlternateContent xmlns:mc="http://schemas.openxmlformats.org/markup-compatibility/2006">
              <mc:Choice xmlns:v="urn:schemas-microsoft-com:vml" Requires="v">
                <p:oleObj spid="_x0000_s1095" name="VISIO" r:id="rId3" imgW="5617080" imgH="2244960" progId="Visio.Drawing.11">
                  <p:embed/>
                </p:oleObj>
              </mc:Choice>
              <mc:Fallback>
                <p:oleObj name="VISIO" r:id="rId3" imgW="5617080" imgH="2244960" progId="Visio.Drawing.11">
                  <p:embed/>
                  <p:pic>
                    <p:nvPicPr>
                      <p:cNvPr id="0" name="Picture 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8749" y="2492896"/>
                        <a:ext cx="7559675" cy="301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173010174"/>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简单页式管理的优缺点</a:t>
            </a:r>
          </a:p>
        </p:txBody>
      </p:sp>
      <p:sp>
        <p:nvSpPr>
          <p:cNvPr id="3" name="Content Placeholder 2"/>
          <p:cNvSpPr>
            <a:spLocks noGrp="1"/>
          </p:cNvSpPr>
          <p:nvPr>
            <p:ph idx="1"/>
          </p:nvPr>
        </p:nvSpPr>
        <p:spPr/>
        <p:txBody>
          <a:bodyPr/>
          <a:lstStyle/>
          <a:p>
            <a:r>
              <a:rPr lang="zh-CN" altLang="en-US" dirty="0"/>
              <a:t>优点</a:t>
            </a:r>
            <a:endParaRPr lang="en-US" altLang="zh-CN" dirty="0"/>
          </a:p>
          <a:p>
            <a:pPr lvl="1"/>
            <a:r>
              <a:rPr lang="zh-CN" altLang="en-US" dirty="0"/>
              <a:t>改善了空间使用效率（每个进程的内碎片不超过页面大小，无外碎片）</a:t>
            </a:r>
            <a:endParaRPr lang="en-US" altLang="zh-CN" dirty="0"/>
          </a:p>
          <a:p>
            <a:pPr lvl="1"/>
            <a:r>
              <a:rPr lang="zh-CN" altLang="en-US" dirty="0"/>
              <a:t>程序可以不必连续存放</a:t>
            </a:r>
            <a:endParaRPr lang="en-US" altLang="zh-CN" dirty="0"/>
          </a:p>
          <a:p>
            <a:pPr lvl="1"/>
            <a:r>
              <a:rPr lang="zh-CN" altLang="en-US" dirty="0"/>
              <a:t>程序所需空间可以动态改变</a:t>
            </a:r>
            <a:endParaRPr lang="en-US" altLang="zh-CN" dirty="0"/>
          </a:p>
          <a:p>
            <a:endParaRPr lang="en-US" altLang="zh-CN" dirty="0"/>
          </a:p>
          <a:p>
            <a:r>
              <a:rPr lang="zh-CN" altLang="en-US" dirty="0"/>
              <a:t>缺点</a:t>
            </a:r>
            <a:endParaRPr lang="en-US" altLang="zh-CN" dirty="0"/>
          </a:p>
          <a:p>
            <a:pPr lvl="1"/>
            <a:r>
              <a:rPr lang="zh-CN" altLang="en-US" dirty="0"/>
              <a:t>程序需要一次性全部放入内存（仅对于</a:t>
            </a:r>
            <a:r>
              <a:rPr lang="zh-CN" altLang="en-US" dirty="0">
                <a:solidFill>
                  <a:srgbClr val="FF0000"/>
                </a:solidFill>
              </a:rPr>
              <a:t>简单</a:t>
            </a:r>
            <a:r>
              <a:rPr lang="zh-CN" altLang="en-US" dirty="0"/>
              <a:t>页式管理）</a:t>
            </a:r>
            <a:endParaRPr lang="en-US" altLang="zh-CN" dirty="0"/>
          </a:p>
          <a:p>
            <a:pPr lvl="1"/>
            <a:r>
              <a:rPr lang="zh-CN" altLang="en-US" dirty="0"/>
              <a:t>不易于共享（进程间不能共享页表）</a:t>
            </a:r>
            <a:endParaRPr lang="en-US" altLang="zh-CN" dirty="0"/>
          </a:p>
          <a:p>
            <a:pPr lvl="1"/>
            <a:r>
              <a:rPr lang="zh-CN" altLang="en-US" dirty="0"/>
              <a:t>不易于动态链接（两个模块的内容可能位于同一页面）</a:t>
            </a:r>
            <a:endParaRPr lang="en-US" altLang="zh-CN" dirty="0"/>
          </a:p>
          <a:p>
            <a:pPr lvl="1"/>
            <a:endParaRPr lang="zh-CN" altLang="en-US" dirty="0"/>
          </a:p>
        </p:txBody>
      </p:sp>
      <p:sp>
        <p:nvSpPr>
          <p:cNvPr id="4" name="Date Placeholder 3"/>
          <p:cNvSpPr>
            <a:spLocks noGrp="1"/>
          </p:cNvSpPr>
          <p:nvPr>
            <p:ph type="dt" sz="half" idx="10"/>
          </p:nvPr>
        </p:nvSpPr>
        <p:spPr/>
        <p:txBody>
          <a:bodyPr/>
          <a:lstStyle/>
          <a:p>
            <a:fld id="{351E92A6-A249-46BA-ABB7-805B632B21F7}"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69</a:t>
            </a:fld>
            <a:endParaRPr lang="zh-CN" altLang="en-US" dirty="0"/>
          </a:p>
        </p:txBody>
      </p:sp>
    </p:spTree>
    <p:extLst>
      <p:ext uri="{BB962C8B-B14F-4D97-AF65-F5344CB8AC3E}">
        <p14:creationId xmlns:p14="http://schemas.microsoft.com/office/powerpoint/2010/main" val="916003164"/>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主要内容</a:t>
            </a:r>
          </a:p>
        </p:txBody>
      </p:sp>
      <p:sp>
        <p:nvSpPr>
          <p:cNvPr id="3" name="Content Placeholder 2"/>
          <p:cNvSpPr>
            <a:spLocks noGrp="1"/>
          </p:cNvSpPr>
          <p:nvPr>
            <p:ph idx="1"/>
          </p:nvPr>
        </p:nvSpPr>
        <p:spPr/>
        <p:txBody>
          <a:bodyPr/>
          <a:lstStyle/>
          <a:p>
            <a:r>
              <a:rPr lang="zh-CN" altLang="en-US" dirty="0">
                <a:solidFill>
                  <a:schemeClr val="bg1">
                    <a:lumMod val="85000"/>
                  </a:schemeClr>
                </a:solidFill>
              </a:rPr>
              <a:t>存储管理的功能与目标</a:t>
            </a:r>
            <a:endParaRPr lang="en-US" altLang="zh-CN" dirty="0">
              <a:solidFill>
                <a:schemeClr val="bg1">
                  <a:lumMod val="85000"/>
                </a:schemeClr>
              </a:solidFill>
            </a:endParaRPr>
          </a:p>
          <a:p>
            <a:r>
              <a:rPr lang="zh-CN" altLang="en-US" dirty="0">
                <a:solidFill>
                  <a:schemeClr val="bg1">
                    <a:lumMod val="85000"/>
                  </a:schemeClr>
                </a:solidFill>
              </a:rPr>
              <a:t>分区存储管理</a:t>
            </a:r>
            <a:endParaRPr lang="en-US" altLang="zh-CN" dirty="0">
              <a:solidFill>
                <a:schemeClr val="bg1">
                  <a:lumMod val="85000"/>
                </a:schemeClr>
              </a:solidFill>
            </a:endParaRPr>
          </a:p>
          <a:p>
            <a:r>
              <a:rPr lang="zh-CN" altLang="en-US" dirty="0">
                <a:solidFill>
                  <a:schemeClr val="bg1">
                    <a:lumMod val="85000"/>
                  </a:schemeClr>
                </a:solidFill>
              </a:rPr>
              <a:t>覆盖与交换技术</a:t>
            </a:r>
            <a:endParaRPr lang="en-US" altLang="zh-CN" dirty="0">
              <a:solidFill>
                <a:schemeClr val="bg1">
                  <a:lumMod val="85000"/>
                </a:schemeClr>
              </a:solidFill>
            </a:endParaRPr>
          </a:p>
          <a:p>
            <a:r>
              <a:rPr lang="zh-CN" altLang="en-US" dirty="0">
                <a:solidFill>
                  <a:srgbClr val="0000FF"/>
                </a:solidFill>
              </a:rPr>
              <a:t>页式与段式存储管理机制</a:t>
            </a:r>
            <a:endParaRPr lang="en-US" altLang="zh-CN" dirty="0">
              <a:solidFill>
                <a:srgbClr val="0000FF"/>
              </a:solidFill>
            </a:endParaRPr>
          </a:p>
          <a:p>
            <a:pPr lvl="1"/>
            <a:r>
              <a:rPr lang="zh-CN" altLang="en-US" dirty="0">
                <a:solidFill>
                  <a:schemeClr val="bg1">
                    <a:lumMod val="85000"/>
                  </a:schemeClr>
                </a:solidFill>
              </a:rPr>
              <a:t>简单页式管理</a:t>
            </a:r>
            <a:endParaRPr lang="en-US" altLang="zh-CN" dirty="0">
              <a:solidFill>
                <a:schemeClr val="bg1">
                  <a:lumMod val="85000"/>
                </a:schemeClr>
              </a:solidFill>
            </a:endParaRPr>
          </a:p>
          <a:p>
            <a:pPr lvl="1"/>
            <a:r>
              <a:rPr lang="zh-CN" altLang="en-US" dirty="0">
                <a:solidFill>
                  <a:srgbClr val="0000FF"/>
                </a:solidFill>
              </a:rPr>
              <a:t>简单段式管理</a:t>
            </a:r>
            <a:endParaRPr lang="en-US" altLang="zh-CN" dirty="0">
              <a:solidFill>
                <a:srgbClr val="0000FF"/>
              </a:solidFill>
            </a:endParaRPr>
          </a:p>
          <a:p>
            <a:r>
              <a:rPr lang="zh-CN" altLang="en-US" dirty="0">
                <a:solidFill>
                  <a:schemeClr val="bg1">
                    <a:lumMod val="85000"/>
                  </a:schemeClr>
                </a:solidFill>
              </a:rPr>
              <a:t>虚拟存储器（重中之重）</a:t>
            </a:r>
          </a:p>
        </p:txBody>
      </p:sp>
      <p:sp>
        <p:nvSpPr>
          <p:cNvPr id="4" name="Date Placeholder 3"/>
          <p:cNvSpPr>
            <a:spLocks noGrp="1"/>
          </p:cNvSpPr>
          <p:nvPr>
            <p:ph type="dt" sz="half" idx="10"/>
          </p:nvPr>
        </p:nvSpPr>
        <p:spPr/>
        <p:txBody>
          <a:bodyPr/>
          <a:lstStyle/>
          <a:p>
            <a:fld id="{E8991ED8-8F01-4102-9EC8-2AE27D453F9E}"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70</a:t>
            </a:fld>
            <a:endParaRPr lang="zh-CN" altLang="en-US" dirty="0"/>
          </a:p>
        </p:txBody>
      </p:sp>
    </p:spTree>
    <p:extLst>
      <p:ext uri="{BB962C8B-B14F-4D97-AF65-F5344CB8AC3E}">
        <p14:creationId xmlns:p14="http://schemas.microsoft.com/office/powerpoint/2010/main" val="3166713655"/>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简单段式管理</a:t>
            </a:r>
          </a:p>
        </p:txBody>
      </p:sp>
      <p:sp>
        <p:nvSpPr>
          <p:cNvPr id="3" name="Content Placeholder 2"/>
          <p:cNvSpPr>
            <a:spLocks noGrp="1"/>
          </p:cNvSpPr>
          <p:nvPr>
            <p:ph idx="1"/>
          </p:nvPr>
        </p:nvSpPr>
        <p:spPr/>
        <p:txBody>
          <a:bodyPr/>
          <a:lstStyle/>
          <a:p>
            <a:r>
              <a:rPr lang="zh-CN" altLang="en-US" dirty="0"/>
              <a:t>引入目的</a:t>
            </a:r>
            <a:endParaRPr lang="en-US" altLang="zh-CN" dirty="0"/>
          </a:p>
          <a:p>
            <a:pPr lvl="1"/>
            <a:r>
              <a:rPr lang="zh-CN" altLang="en-US" dirty="0"/>
              <a:t>便于共享数据、程序；便于动态链接</a:t>
            </a:r>
            <a:endParaRPr lang="en-US" altLang="zh-CN" dirty="0"/>
          </a:p>
          <a:p>
            <a:r>
              <a:rPr lang="zh-CN" altLang="en-US" dirty="0"/>
              <a:t>原理</a:t>
            </a:r>
            <a:endParaRPr lang="en-US" altLang="zh-CN" dirty="0"/>
          </a:p>
          <a:p>
            <a:pPr lvl="1"/>
            <a:r>
              <a:rPr lang="zh-CN" altLang="en-US" dirty="0"/>
              <a:t>将程序的地址空间按</a:t>
            </a:r>
            <a:r>
              <a:rPr lang="zh-CN" altLang="en-US" dirty="0">
                <a:solidFill>
                  <a:srgbClr val="FF0000"/>
                </a:solidFill>
              </a:rPr>
              <a:t>内容或函数关系</a:t>
            </a:r>
            <a:r>
              <a:rPr lang="zh-CN" altLang="en-US" dirty="0"/>
              <a:t>划分为若干个段，每个段是一组</a:t>
            </a:r>
            <a:r>
              <a:rPr lang="zh-CN" altLang="en-US" dirty="0">
                <a:solidFill>
                  <a:srgbClr val="FF0000"/>
                </a:solidFill>
              </a:rPr>
              <a:t>逻辑上</a:t>
            </a:r>
            <a:r>
              <a:rPr lang="zh-CN" altLang="en-US" dirty="0"/>
              <a:t>完整的程序或数据</a:t>
            </a:r>
            <a:endParaRPr lang="en-US" altLang="zh-CN" dirty="0"/>
          </a:p>
          <a:p>
            <a:r>
              <a:rPr lang="zh-CN" altLang="en-US" dirty="0"/>
              <a:t>特点</a:t>
            </a:r>
            <a:endParaRPr lang="en-US" altLang="zh-CN" dirty="0"/>
          </a:p>
          <a:p>
            <a:pPr lvl="1"/>
            <a:r>
              <a:rPr lang="zh-CN" altLang="en-US" dirty="0"/>
              <a:t>段与段之间可以不连续</a:t>
            </a:r>
            <a:endParaRPr lang="en-US" altLang="zh-CN" dirty="0"/>
          </a:p>
          <a:p>
            <a:pPr lvl="1"/>
            <a:r>
              <a:rPr lang="zh-CN" altLang="en-US" dirty="0"/>
              <a:t>段长不固定</a:t>
            </a:r>
            <a:endParaRPr lang="en-US" altLang="zh-CN" dirty="0"/>
          </a:p>
          <a:p>
            <a:pPr lvl="1"/>
            <a:r>
              <a:rPr lang="zh-CN" altLang="en-US" dirty="0"/>
              <a:t>物理内存需要采用动态分区管理（问题也一并引入）</a:t>
            </a:r>
            <a:endParaRPr lang="en-US" altLang="zh-CN" dirty="0"/>
          </a:p>
          <a:p>
            <a:pPr lvl="1"/>
            <a:r>
              <a:rPr lang="zh-CN" altLang="en-US" dirty="0"/>
              <a:t>在简单段式管理中，所有段必须在程序执行时都载入</a:t>
            </a:r>
            <a:endParaRPr lang="en-US" altLang="zh-CN" dirty="0"/>
          </a:p>
        </p:txBody>
      </p:sp>
      <p:sp>
        <p:nvSpPr>
          <p:cNvPr id="4" name="Date Placeholder 3"/>
          <p:cNvSpPr>
            <a:spLocks noGrp="1"/>
          </p:cNvSpPr>
          <p:nvPr>
            <p:ph type="dt" sz="half" idx="10"/>
          </p:nvPr>
        </p:nvSpPr>
        <p:spPr/>
        <p:txBody>
          <a:bodyPr/>
          <a:lstStyle/>
          <a:p>
            <a:fld id="{F070FF2C-027C-43A7-BBDC-D04B0F90C419}"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71</a:t>
            </a:fld>
            <a:endParaRPr lang="zh-CN" altLang="en-US" dirty="0"/>
          </a:p>
        </p:txBody>
      </p:sp>
    </p:spTree>
    <p:extLst>
      <p:ext uri="{BB962C8B-B14F-4D97-AF65-F5344CB8AC3E}">
        <p14:creationId xmlns:p14="http://schemas.microsoft.com/office/powerpoint/2010/main" val="947144934"/>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简单段式管理</a:t>
            </a:r>
          </a:p>
        </p:txBody>
      </p:sp>
      <p:sp>
        <p:nvSpPr>
          <p:cNvPr id="4" name="Date Placeholder 3"/>
          <p:cNvSpPr>
            <a:spLocks noGrp="1"/>
          </p:cNvSpPr>
          <p:nvPr>
            <p:ph type="dt" sz="half" idx="10"/>
          </p:nvPr>
        </p:nvSpPr>
        <p:spPr/>
        <p:txBody>
          <a:bodyPr/>
          <a:lstStyle/>
          <a:p>
            <a:fld id="{7BBFDD19-690E-4B2C-A5D5-2DF85AA04E57}"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72</a:t>
            </a:fld>
            <a:endParaRPr lang="zh-CN" altLang="en-US" dirty="0"/>
          </a:p>
        </p:txBody>
      </p:sp>
      <p:grpSp>
        <p:nvGrpSpPr>
          <p:cNvPr id="7" name="Group 216"/>
          <p:cNvGrpSpPr>
            <a:grpSpLocks/>
          </p:cNvGrpSpPr>
          <p:nvPr/>
        </p:nvGrpSpPr>
        <p:grpSpPr bwMode="auto">
          <a:xfrm>
            <a:off x="971600" y="1844824"/>
            <a:ext cx="7204075" cy="4111625"/>
            <a:chOff x="720" y="1488"/>
            <a:chExt cx="4538" cy="2590"/>
          </a:xfrm>
        </p:grpSpPr>
        <p:sp>
          <p:nvSpPr>
            <p:cNvPr id="8" name="Rectangle 6"/>
            <p:cNvSpPr>
              <a:spLocks noChangeArrowheads="1"/>
            </p:cNvSpPr>
            <p:nvPr/>
          </p:nvSpPr>
          <p:spPr bwMode="auto">
            <a:xfrm>
              <a:off x="1443" y="3434"/>
              <a:ext cx="430" cy="274"/>
            </a:xfrm>
            <a:prstGeom prst="rect">
              <a:avLst/>
            </a:prstGeom>
            <a:solidFill>
              <a:srgbClr val="FFCCFF"/>
            </a:solidFill>
            <a:ln w="38100">
              <a:solidFill>
                <a:srgbClr val="0033CC"/>
              </a:solidFill>
              <a:miter lim="800000"/>
              <a:headEnd/>
              <a:tailEnd/>
            </a:ln>
          </p:spPr>
          <p:txBody>
            <a:bodyPr/>
            <a:lstStyle/>
            <a:p>
              <a:endParaRPr lang="zh-CN" altLang="en-US">
                <a:ea typeface="楷体" panose="02010609060101010101" pitchFamily="49" charset="-122"/>
              </a:endParaRPr>
            </a:p>
          </p:txBody>
        </p:sp>
        <p:sp>
          <p:nvSpPr>
            <p:cNvPr id="9" name="Rectangle 7"/>
            <p:cNvSpPr>
              <a:spLocks noChangeArrowheads="1"/>
            </p:cNvSpPr>
            <p:nvPr/>
          </p:nvSpPr>
          <p:spPr bwMode="auto">
            <a:xfrm>
              <a:off x="1604" y="3500"/>
              <a:ext cx="73"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ea typeface="楷体" panose="02010609060101010101" pitchFamily="49" charset="-122"/>
                </a:rPr>
                <a:t>B</a:t>
              </a:r>
            </a:p>
          </p:txBody>
        </p:sp>
        <p:sp>
          <p:nvSpPr>
            <p:cNvPr id="10" name="Rectangle 8"/>
            <p:cNvSpPr>
              <a:spLocks noChangeArrowheads="1"/>
            </p:cNvSpPr>
            <p:nvPr/>
          </p:nvSpPr>
          <p:spPr bwMode="auto">
            <a:xfrm>
              <a:off x="1241" y="3374"/>
              <a:ext cx="178"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楷体" panose="02010609060101010101" pitchFamily="49" charset="-122"/>
              </a:endParaRPr>
            </a:p>
          </p:txBody>
        </p:sp>
        <p:sp>
          <p:nvSpPr>
            <p:cNvPr id="11" name="Rectangle 9"/>
            <p:cNvSpPr>
              <a:spLocks noChangeArrowheads="1"/>
            </p:cNvSpPr>
            <p:nvPr/>
          </p:nvSpPr>
          <p:spPr bwMode="auto">
            <a:xfrm>
              <a:off x="1290" y="3400"/>
              <a:ext cx="66"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ea typeface="楷体" panose="02010609060101010101" pitchFamily="49" charset="-122"/>
                </a:rPr>
                <a:t>0</a:t>
              </a:r>
            </a:p>
          </p:txBody>
        </p:sp>
        <p:sp>
          <p:nvSpPr>
            <p:cNvPr id="12" name="Rectangle 10"/>
            <p:cNvSpPr>
              <a:spLocks noChangeArrowheads="1"/>
            </p:cNvSpPr>
            <p:nvPr/>
          </p:nvSpPr>
          <p:spPr bwMode="auto">
            <a:xfrm>
              <a:off x="1233" y="3586"/>
              <a:ext cx="18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楷体" panose="02010609060101010101" pitchFamily="49" charset="-122"/>
              </a:endParaRPr>
            </a:p>
          </p:txBody>
        </p:sp>
        <p:sp>
          <p:nvSpPr>
            <p:cNvPr id="13" name="Rectangle 11"/>
            <p:cNvSpPr>
              <a:spLocks noChangeArrowheads="1"/>
            </p:cNvSpPr>
            <p:nvPr/>
          </p:nvSpPr>
          <p:spPr bwMode="auto">
            <a:xfrm>
              <a:off x="1282" y="3611"/>
              <a:ext cx="62"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ea typeface="楷体" panose="02010609060101010101" pitchFamily="49" charset="-122"/>
                </a:rPr>
                <a:t>S</a:t>
              </a:r>
            </a:p>
          </p:txBody>
        </p:sp>
        <p:sp>
          <p:nvSpPr>
            <p:cNvPr id="14" name="Rectangle 12"/>
            <p:cNvSpPr>
              <a:spLocks noChangeArrowheads="1"/>
            </p:cNvSpPr>
            <p:nvPr/>
          </p:nvSpPr>
          <p:spPr bwMode="auto">
            <a:xfrm>
              <a:off x="1459" y="2979"/>
              <a:ext cx="430" cy="273"/>
            </a:xfrm>
            <a:prstGeom prst="rect">
              <a:avLst/>
            </a:prstGeom>
            <a:solidFill>
              <a:srgbClr val="FFCCFF"/>
            </a:solidFill>
            <a:ln w="38100">
              <a:solidFill>
                <a:srgbClr val="0033CC"/>
              </a:solidFill>
              <a:miter lim="800000"/>
              <a:headEnd/>
              <a:tailEnd/>
            </a:ln>
          </p:spPr>
          <p:txBody>
            <a:bodyPr/>
            <a:lstStyle/>
            <a:p>
              <a:endParaRPr lang="zh-CN" altLang="en-US">
                <a:ea typeface="楷体" panose="02010609060101010101" pitchFamily="49" charset="-122"/>
              </a:endParaRPr>
            </a:p>
          </p:txBody>
        </p:sp>
        <p:sp>
          <p:nvSpPr>
            <p:cNvPr id="15" name="Rectangle 13"/>
            <p:cNvSpPr>
              <a:spLocks noChangeArrowheads="1"/>
            </p:cNvSpPr>
            <p:nvPr/>
          </p:nvSpPr>
          <p:spPr bwMode="auto">
            <a:xfrm>
              <a:off x="1615" y="3044"/>
              <a:ext cx="79"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ea typeface="楷体" panose="02010609060101010101" pitchFamily="49" charset="-122"/>
                </a:rPr>
                <a:t>A</a:t>
              </a:r>
            </a:p>
          </p:txBody>
        </p:sp>
        <p:sp>
          <p:nvSpPr>
            <p:cNvPr id="16" name="Rectangle 14"/>
            <p:cNvSpPr>
              <a:spLocks noChangeArrowheads="1"/>
            </p:cNvSpPr>
            <p:nvPr/>
          </p:nvSpPr>
          <p:spPr bwMode="auto">
            <a:xfrm>
              <a:off x="1257" y="2919"/>
              <a:ext cx="17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楷体" panose="02010609060101010101" pitchFamily="49" charset="-122"/>
              </a:endParaRPr>
            </a:p>
          </p:txBody>
        </p:sp>
        <p:sp>
          <p:nvSpPr>
            <p:cNvPr id="17" name="Rectangle 15"/>
            <p:cNvSpPr>
              <a:spLocks noChangeArrowheads="1"/>
            </p:cNvSpPr>
            <p:nvPr/>
          </p:nvSpPr>
          <p:spPr bwMode="auto">
            <a:xfrm>
              <a:off x="1306" y="2944"/>
              <a:ext cx="66"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ea typeface="楷体" panose="02010609060101010101" pitchFamily="49" charset="-122"/>
                </a:rPr>
                <a:t>0</a:t>
              </a:r>
            </a:p>
          </p:txBody>
        </p:sp>
        <p:sp>
          <p:nvSpPr>
            <p:cNvPr id="18" name="Rectangle 16"/>
            <p:cNvSpPr>
              <a:spLocks noChangeArrowheads="1"/>
            </p:cNvSpPr>
            <p:nvPr/>
          </p:nvSpPr>
          <p:spPr bwMode="auto">
            <a:xfrm>
              <a:off x="1249" y="3131"/>
              <a:ext cx="214"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楷体" panose="02010609060101010101" pitchFamily="49" charset="-122"/>
              </a:endParaRPr>
            </a:p>
          </p:txBody>
        </p:sp>
        <p:sp>
          <p:nvSpPr>
            <p:cNvPr id="19" name="Rectangle 17"/>
            <p:cNvSpPr>
              <a:spLocks noChangeArrowheads="1"/>
            </p:cNvSpPr>
            <p:nvPr/>
          </p:nvSpPr>
          <p:spPr bwMode="auto">
            <a:xfrm>
              <a:off x="1298" y="3155"/>
              <a:ext cx="85"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ea typeface="楷体" panose="02010609060101010101" pitchFamily="49" charset="-122"/>
                </a:rPr>
                <a:t>N</a:t>
              </a:r>
            </a:p>
          </p:txBody>
        </p:sp>
        <p:sp>
          <p:nvSpPr>
            <p:cNvPr id="20" name="Rectangle 18"/>
            <p:cNvSpPr>
              <a:spLocks noChangeArrowheads="1"/>
            </p:cNvSpPr>
            <p:nvPr/>
          </p:nvSpPr>
          <p:spPr bwMode="auto">
            <a:xfrm>
              <a:off x="1459" y="2555"/>
              <a:ext cx="430" cy="273"/>
            </a:xfrm>
            <a:prstGeom prst="rect">
              <a:avLst/>
            </a:prstGeom>
            <a:solidFill>
              <a:srgbClr val="FFCCFF"/>
            </a:solidFill>
            <a:ln w="38100">
              <a:solidFill>
                <a:srgbClr val="0033CC"/>
              </a:solidFill>
              <a:miter lim="800000"/>
              <a:headEnd/>
              <a:tailEnd/>
            </a:ln>
          </p:spPr>
          <p:txBody>
            <a:bodyPr/>
            <a:lstStyle/>
            <a:p>
              <a:endParaRPr lang="zh-CN" altLang="en-US">
                <a:ea typeface="楷体" panose="02010609060101010101" pitchFamily="49" charset="-122"/>
              </a:endParaRPr>
            </a:p>
          </p:txBody>
        </p:sp>
        <p:sp>
          <p:nvSpPr>
            <p:cNvPr id="21" name="Rectangle 19"/>
            <p:cNvSpPr>
              <a:spLocks noChangeArrowheads="1"/>
            </p:cNvSpPr>
            <p:nvPr/>
          </p:nvSpPr>
          <p:spPr bwMode="auto">
            <a:xfrm>
              <a:off x="1615" y="2620"/>
              <a:ext cx="68"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ea typeface="楷体" panose="02010609060101010101" pitchFamily="49" charset="-122"/>
                </a:rPr>
                <a:t>Y</a:t>
              </a:r>
            </a:p>
          </p:txBody>
        </p:sp>
        <p:sp>
          <p:nvSpPr>
            <p:cNvPr id="22" name="Rectangle 20"/>
            <p:cNvSpPr>
              <a:spLocks noChangeArrowheads="1"/>
            </p:cNvSpPr>
            <p:nvPr/>
          </p:nvSpPr>
          <p:spPr bwMode="auto">
            <a:xfrm>
              <a:off x="1257" y="2493"/>
              <a:ext cx="178"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楷体" panose="02010609060101010101" pitchFamily="49" charset="-122"/>
              </a:endParaRPr>
            </a:p>
          </p:txBody>
        </p:sp>
        <p:sp>
          <p:nvSpPr>
            <p:cNvPr id="23" name="Rectangle 21"/>
            <p:cNvSpPr>
              <a:spLocks noChangeArrowheads="1"/>
            </p:cNvSpPr>
            <p:nvPr/>
          </p:nvSpPr>
          <p:spPr bwMode="auto">
            <a:xfrm>
              <a:off x="1306" y="2518"/>
              <a:ext cx="66"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ea typeface="楷体" panose="02010609060101010101" pitchFamily="49" charset="-122"/>
                </a:rPr>
                <a:t>0</a:t>
              </a:r>
            </a:p>
          </p:txBody>
        </p:sp>
        <p:sp>
          <p:nvSpPr>
            <p:cNvPr id="24" name="Rectangle 22"/>
            <p:cNvSpPr>
              <a:spLocks noChangeArrowheads="1"/>
            </p:cNvSpPr>
            <p:nvPr/>
          </p:nvSpPr>
          <p:spPr bwMode="auto">
            <a:xfrm>
              <a:off x="1249" y="2704"/>
              <a:ext cx="20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楷体" panose="02010609060101010101" pitchFamily="49" charset="-122"/>
              </a:endParaRPr>
            </a:p>
          </p:txBody>
        </p:sp>
        <p:sp>
          <p:nvSpPr>
            <p:cNvPr id="25" name="Rectangle 23"/>
            <p:cNvSpPr>
              <a:spLocks noChangeArrowheads="1"/>
            </p:cNvSpPr>
            <p:nvPr/>
          </p:nvSpPr>
          <p:spPr bwMode="auto">
            <a:xfrm>
              <a:off x="1298" y="2730"/>
              <a:ext cx="55"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ea typeface="楷体" panose="02010609060101010101" pitchFamily="49" charset="-122"/>
                </a:rPr>
                <a:t>L</a:t>
              </a:r>
            </a:p>
          </p:txBody>
        </p:sp>
        <p:sp>
          <p:nvSpPr>
            <p:cNvPr id="26" name="Rectangle 24"/>
            <p:cNvSpPr>
              <a:spLocks noChangeArrowheads="1"/>
            </p:cNvSpPr>
            <p:nvPr/>
          </p:nvSpPr>
          <p:spPr bwMode="auto">
            <a:xfrm>
              <a:off x="1459" y="2131"/>
              <a:ext cx="430" cy="273"/>
            </a:xfrm>
            <a:prstGeom prst="rect">
              <a:avLst/>
            </a:prstGeom>
            <a:solidFill>
              <a:srgbClr val="FFCCFF"/>
            </a:solidFill>
            <a:ln w="38100">
              <a:solidFill>
                <a:srgbClr val="0033CC"/>
              </a:solidFill>
              <a:miter lim="800000"/>
              <a:headEnd/>
              <a:tailEnd/>
            </a:ln>
          </p:spPr>
          <p:txBody>
            <a:bodyPr/>
            <a:lstStyle/>
            <a:p>
              <a:endParaRPr lang="zh-CN" altLang="en-US">
                <a:ea typeface="楷体" panose="02010609060101010101" pitchFamily="49" charset="-122"/>
              </a:endParaRPr>
            </a:p>
          </p:txBody>
        </p:sp>
        <p:sp>
          <p:nvSpPr>
            <p:cNvPr id="27" name="Rectangle 25"/>
            <p:cNvSpPr>
              <a:spLocks noChangeArrowheads="1"/>
            </p:cNvSpPr>
            <p:nvPr/>
          </p:nvSpPr>
          <p:spPr bwMode="auto">
            <a:xfrm>
              <a:off x="1615" y="2196"/>
              <a:ext cx="72"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ea typeface="楷体" panose="02010609060101010101" pitchFamily="49" charset="-122"/>
                </a:rPr>
                <a:t>X</a:t>
              </a:r>
            </a:p>
          </p:txBody>
        </p:sp>
        <p:sp>
          <p:nvSpPr>
            <p:cNvPr id="28" name="Rectangle 26"/>
            <p:cNvSpPr>
              <a:spLocks noChangeArrowheads="1"/>
            </p:cNvSpPr>
            <p:nvPr/>
          </p:nvSpPr>
          <p:spPr bwMode="auto">
            <a:xfrm>
              <a:off x="1257" y="2070"/>
              <a:ext cx="17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楷体" panose="02010609060101010101" pitchFamily="49" charset="-122"/>
              </a:endParaRPr>
            </a:p>
          </p:txBody>
        </p:sp>
        <p:sp>
          <p:nvSpPr>
            <p:cNvPr id="29" name="Rectangle 27"/>
            <p:cNvSpPr>
              <a:spLocks noChangeArrowheads="1"/>
            </p:cNvSpPr>
            <p:nvPr/>
          </p:nvSpPr>
          <p:spPr bwMode="auto">
            <a:xfrm>
              <a:off x="1306" y="2095"/>
              <a:ext cx="66"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ea typeface="楷体" panose="02010609060101010101" pitchFamily="49" charset="-122"/>
                </a:rPr>
                <a:t>0</a:t>
              </a:r>
            </a:p>
          </p:txBody>
        </p:sp>
        <p:sp>
          <p:nvSpPr>
            <p:cNvPr id="30" name="Rectangle 28"/>
            <p:cNvSpPr>
              <a:spLocks noChangeArrowheads="1"/>
            </p:cNvSpPr>
            <p:nvPr/>
          </p:nvSpPr>
          <p:spPr bwMode="auto">
            <a:xfrm>
              <a:off x="1249" y="2282"/>
              <a:ext cx="195"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楷体" panose="02010609060101010101" pitchFamily="49" charset="-122"/>
              </a:endParaRPr>
            </a:p>
          </p:txBody>
        </p:sp>
        <p:sp>
          <p:nvSpPr>
            <p:cNvPr id="31" name="Rectangle 29"/>
            <p:cNvSpPr>
              <a:spLocks noChangeArrowheads="1"/>
            </p:cNvSpPr>
            <p:nvPr/>
          </p:nvSpPr>
          <p:spPr bwMode="auto">
            <a:xfrm>
              <a:off x="1298" y="2307"/>
              <a:ext cx="69"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ea typeface="楷体" panose="02010609060101010101" pitchFamily="49" charset="-122"/>
                </a:rPr>
                <a:t>P</a:t>
              </a:r>
            </a:p>
          </p:txBody>
        </p:sp>
        <p:sp>
          <p:nvSpPr>
            <p:cNvPr id="32" name="Rectangle 30"/>
            <p:cNvSpPr>
              <a:spLocks noChangeArrowheads="1"/>
            </p:cNvSpPr>
            <p:nvPr/>
          </p:nvSpPr>
          <p:spPr bwMode="auto">
            <a:xfrm>
              <a:off x="1459" y="1706"/>
              <a:ext cx="430" cy="273"/>
            </a:xfrm>
            <a:prstGeom prst="rect">
              <a:avLst/>
            </a:prstGeom>
            <a:solidFill>
              <a:srgbClr val="FFCCFF"/>
            </a:solidFill>
            <a:ln w="38100">
              <a:solidFill>
                <a:srgbClr val="0033CC"/>
              </a:solidFill>
              <a:miter lim="800000"/>
              <a:headEnd/>
              <a:tailEnd/>
            </a:ln>
          </p:spPr>
          <p:txBody>
            <a:bodyPr/>
            <a:lstStyle/>
            <a:p>
              <a:endParaRPr lang="zh-CN" altLang="en-US">
                <a:ea typeface="楷体" panose="02010609060101010101" pitchFamily="49" charset="-122"/>
              </a:endParaRPr>
            </a:p>
          </p:txBody>
        </p:sp>
        <p:sp>
          <p:nvSpPr>
            <p:cNvPr id="33" name="Rectangle 31"/>
            <p:cNvSpPr>
              <a:spLocks noChangeArrowheads="1"/>
            </p:cNvSpPr>
            <p:nvPr/>
          </p:nvSpPr>
          <p:spPr bwMode="auto">
            <a:xfrm>
              <a:off x="1598" y="1772"/>
              <a:ext cx="113"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ea typeface="楷体" panose="02010609060101010101" pitchFamily="49" charset="-122"/>
                </a:rPr>
                <a:t>M</a:t>
              </a:r>
            </a:p>
          </p:txBody>
        </p:sp>
        <p:sp>
          <p:nvSpPr>
            <p:cNvPr id="34" name="Rectangle 32"/>
            <p:cNvSpPr>
              <a:spLocks noChangeArrowheads="1"/>
            </p:cNvSpPr>
            <p:nvPr/>
          </p:nvSpPr>
          <p:spPr bwMode="auto">
            <a:xfrm>
              <a:off x="1257" y="1646"/>
              <a:ext cx="178"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楷体" panose="02010609060101010101" pitchFamily="49" charset="-122"/>
              </a:endParaRPr>
            </a:p>
          </p:txBody>
        </p:sp>
        <p:sp>
          <p:nvSpPr>
            <p:cNvPr id="35" name="Rectangle 33"/>
            <p:cNvSpPr>
              <a:spLocks noChangeArrowheads="1"/>
            </p:cNvSpPr>
            <p:nvPr/>
          </p:nvSpPr>
          <p:spPr bwMode="auto">
            <a:xfrm>
              <a:off x="1306" y="1670"/>
              <a:ext cx="66"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ea typeface="楷体" panose="02010609060101010101" pitchFamily="49" charset="-122"/>
                </a:rPr>
                <a:t>0</a:t>
              </a:r>
            </a:p>
          </p:txBody>
        </p:sp>
        <p:sp>
          <p:nvSpPr>
            <p:cNvPr id="36" name="Rectangle 34"/>
            <p:cNvSpPr>
              <a:spLocks noChangeArrowheads="1"/>
            </p:cNvSpPr>
            <p:nvPr/>
          </p:nvSpPr>
          <p:spPr bwMode="auto">
            <a:xfrm>
              <a:off x="1249" y="1858"/>
              <a:ext cx="22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楷体" panose="02010609060101010101" pitchFamily="49" charset="-122"/>
              </a:endParaRPr>
            </a:p>
          </p:txBody>
        </p:sp>
        <p:sp>
          <p:nvSpPr>
            <p:cNvPr id="37" name="Rectangle 35"/>
            <p:cNvSpPr>
              <a:spLocks noChangeArrowheads="1"/>
            </p:cNvSpPr>
            <p:nvPr/>
          </p:nvSpPr>
          <p:spPr bwMode="auto">
            <a:xfrm>
              <a:off x="1298" y="1883"/>
              <a:ext cx="71"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ea typeface="楷体" panose="02010609060101010101" pitchFamily="49" charset="-122"/>
                </a:rPr>
                <a:t>K</a:t>
              </a:r>
            </a:p>
          </p:txBody>
        </p:sp>
        <p:sp>
          <p:nvSpPr>
            <p:cNvPr id="38" name="Rectangle 36"/>
            <p:cNvSpPr>
              <a:spLocks noChangeArrowheads="1"/>
            </p:cNvSpPr>
            <p:nvPr/>
          </p:nvSpPr>
          <p:spPr bwMode="auto">
            <a:xfrm>
              <a:off x="720" y="1488"/>
              <a:ext cx="639"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楷体" panose="02010609060101010101" pitchFamily="49" charset="-122"/>
              </a:endParaRPr>
            </a:p>
          </p:txBody>
        </p:sp>
        <p:sp>
          <p:nvSpPr>
            <p:cNvPr id="39" name="Rectangle 37"/>
            <p:cNvSpPr>
              <a:spLocks noChangeArrowheads="1"/>
            </p:cNvSpPr>
            <p:nvPr/>
          </p:nvSpPr>
          <p:spPr bwMode="auto">
            <a:xfrm>
              <a:off x="768" y="1526"/>
              <a:ext cx="51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zh-CN" altLang="en-US" sz="1600" b="1">
                  <a:ea typeface="楷体" panose="02010609060101010101" pitchFamily="49" charset="-122"/>
                </a:rPr>
                <a:t>逻辑段号</a:t>
              </a:r>
            </a:p>
          </p:txBody>
        </p:sp>
        <p:sp>
          <p:nvSpPr>
            <p:cNvPr id="40" name="Rectangle 38"/>
            <p:cNvSpPr>
              <a:spLocks noChangeArrowheads="1"/>
            </p:cNvSpPr>
            <p:nvPr/>
          </p:nvSpPr>
          <p:spPr bwMode="auto">
            <a:xfrm>
              <a:off x="952" y="1736"/>
              <a:ext cx="9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楷体" panose="02010609060101010101" pitchFamily="49" charset="-122"/>
              </a:endParaRPr>
            </a:p>
          </p:txBody>
        </p:sp>
        <p:sp>
          <p:nvSpPr>
            <p:cNvPr id="41" name="Rectangle 39"/>
            <p:cNvSpPr>
              <a:spLocks noChangeArrowheads="1"/>
            </p:cNvSpPr>
            <p:nvPr/>
          </p:nvSpPr>
          <p:spPr bwMode="auto">
            <a:xfrm>
              <a:off x="1001" y="1762"/>
              <a:ext cx="66"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ea typeface="楷体" panose="02010609060101010101" pitchFamily="49" charset="-122"/>
                </a:rPr>
                <a:t>0</a:t>
              </a:r>
            </a:p>
          </p:txBody>
        </p:sp>
        <p:sp>
          <p:nvSpPr>
            <p:cNvPr id="42" name="Rectangle 40"/>
            <p:cNvSpPr>
              <a:spLocks noChangeArrowheads="1"/>
            </p:cNvSpPr>
            <p:nvPr/>
          </p:nvSpPr>
          <p:spPr bwMode="auto">
            <a:xfrm>
              <a:off x="944" y="2161"/>
              <a:ext cx="9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楷体" panose="02010609060101010101" pitchFamily="49" charset="-122"/>
              </a:endParaRPr>
            </a:p>
          </p:txBody>
        </p:sp>
        <p:sp>
          <p:nvSpPr>
            <p:cNvPr id="43" name="Rectangle 41"/>
            <p:cNvSpPr>
              <a:spLocks noChangeArrowheads="1"/>
            </p:cNvSpPr>
            <p:nvPr/>
          </p:nvSpPr>
          <p:spPr bwMode="auto">
            <a:xfrm>
              <a:off x="992" y="2186"/>
              <a:ext cx="66"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ea typeface="楷体" panose="02010609060101010101" pitchFamily="49" charset="-122"/>
                </a:rPr>
                <a:t>1</a:t>
              </a:r>
            </a:p>
          </p:txBody>
        </p:sp>
        <p:sp>
          <p:nvSpPr>
            <p:cNvPr id="44" name="Rectangle 42"/>
            <p:cNvSpPr>
              <a:spLocks noChangeArrowheads="1"/>
            </p:cNvSpPr>
            <p:nvPr/>
          </p:nvSpPr>
          <p:spPr bwMode="auto">
            <a:xfrm>
              <a:off x="944" y="2585"/>
              <a:ext cx="9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楷体" panose="02010609060101010101" pitchFamily="49" charset="-122"/>
              </a:endParaRPr>
            </a:p>
          </p:txBody>
        </p:sp>
        <p:sp>
          <p:nvSpPr>
            <p:cNvPr id="45" name="Rectangle 43"/>
            <p:cNvSpPr>
              <a:spLocks noChangeArrowheads="1"/>
            </p:cNvSpPr>
            <p:nvPr/>
          </p:nvSpPr>
          <p:spPr bwMode="auto">
            <a:xfrm>
              <a:off x="992" y="2610"/>
              <a:ext cx="66"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ea typeface="楷体" panose="02010609060101010101" pitchFamily="49" charset="-122"/>
                </a:rPr>
                <a:t>2</a:t>
              </a:r>
            </a:p>
          </p:txBody>
        </p:sp>
        <p:sp>
          <p:nvSpPr>
            <p:cNvPr id="46" name="Rectangle 44"/>
            <p:cNvSpPr>
              <a:spLocks noChangeArrowheads="1"/>
            </p:cNvSpPr>
            <p:nvPr/>
          </p:nvSpPr>
          <p:spPr bwMode="auto">
            <a:xfrm>
              <a:off x="943" y="3011"/>
              <a:ext cx="98"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楷体" panose="02010609060101010101" pitchFamily="49" charset="-122"/>
              </a:endParaRPr>
            </a:p>
          </p:txBody>
        </p:sp>
        <p:sp>
          <p:nvSpPr>
            <p:cNvPr id="47" name="Rectangle 45"/>
            <p:cNvSpPr>
              <a:spLocks noChangeArrowheads="1"/>
            </p:cNvSpPr>
            <p:nvPr/>
          </p:nvSpPr>
          <p:spPr bwMode="auto">
            <a:xfrm>
              <a:off x="992" y="3036"/>
              <a:ext cx="66"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ea typeface="楷体" panose="02010609060101010101" pitchFamily="49" charset="-122"/>
                </a:rPr>
                <a:t>3</a:t>
              </a:r>
            </a:p>
          </p:txBody>
        </p:sp>
        <p:sp>
          <p:nvSpPr>
            <p:cNvPr id="48" name="Rectangle 46"/>
            <p:cNvSpPr>
              <a:spLocks noChangeArrowheads="1"/>
            </p:cNvSpPr>
            <p:nvPr/>
          </p:nvSpPr>
          <p:spPr bwMode="auto">
            <a:xfrm>
              <a:off x="944" y="3465"/>
              <a:ext cx="9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楷体" panose="02010609060101010101" pitchFamily="49" charset="-122"/>
              </a:endParaRPr>
            </a:p>
          </p:txBody>
        </p:sp>
        <p:sp>
          <p:nvSpPr>
            <p:cNvPr id="49" name="Rectangle 47"/>
            <p:cNvSpPr>
              <a:spLocks noChangeArrowheads="1"/>
            </p:cNvSpPr>
            <p:nvPr/>
          </p:nvSpPr>
          <p:spPr bwMode="auto">
            <a:xfrm>
              <a:off x="992" y="3490"/>
              <a:ext cx="66"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ea typeface="楷体" panose="02010609060101010101" pitchFamily="49" charset="-122"/>
                </a:rPr>
                <a:t>4</a:t>
              </a:r>
            </a:p>
          </p:txBody>
        </p:sp>
        <p:sp>
          <p:nvSpPr>
            <p:cNvPr id="50" name="Rectangle 48"/>
            <p:cNvSpPr>
              <a:spLocks noChangeArrowheads="1"/>
            </p:cNvSpPr>
            <p:nvPr/>
          </p:nvSpPr>
          <p:spPr bwMode="auto">
            <a:xfrm>
              <a:off x="881" y="3804"/>
              <a:ext cx="1320"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楷体" panose="02010609060101010101" pitchFamily="49" charset="-122"/>
              </a:endParaRPr>
            </a:p>
          </p:txBody>
        </p:sp>
        <p:sp>
          <p:nvSpPr>
            <p:cNvPr id="51" name="Rectangle 49"/>
            <p:cNvSpPr>
              <a:spLocks noChangeArrowheads="1"/>
            </p:cNvSpPr>
            <p:nvPr/>
          </p:nvSpPr>
          <p:spPr bwMode="auto">
            <a:xfrm>
              <a:off x="930" y="3836"/>
              <a:ext cx="25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zh-CN" altLang="en-US" sz="1600" b="1">
                  <a:ea typeface="楷体" panose="02010609060101010101" pitchFamily="49" charset="-122"/>
                </a:rPr>
                <a:t>作业</a:t>
              </a:r>
            </a:p>
          </p:txBody>
        </p:sp>
        <p:sp>
          <p:nvSpPr>
            <p:cNvPr id="52" name="Rectangle 50"/>
            <p:cNvSpPr>
              <a:spLocks noChangeArrowheads="1"/>
            </p:cNvSpPr>
            <p:nvPr/>
          </p:nvSpPr>
          <p:spPr bwMode="auto">
            <a:xfrm>
              <a:off x="1253" y="3829"/>
              <a:ext cx="66"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ea typeface="楷体" panose="02010609060101010101" pitchFamily="49" charset="-122"/>
                </a:rPr>
                <a:t>1</a:t>
              </a:r>
            </a:p>
          </p:txBody>
        </p:sp>
        <p:sp>
          <p:nvSpPr>
            <p:cNvPr id="53" name="Rectangle 51"/>
            <p:cNvSpPr>
              <a:spLocks noChangeArrowheads="1"/>
            </p:cNvSpPr>
            <p:nvPr/>
          </p:nvSpPr>
          <p:spPr bwMode="auto">
            <a:xfrm>
              <a:off x="1334" y="3836"/>
              <a:ext cx="64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zh-CN" altLang="en-US" sz="1600" b="1">
                  <a:ea typeface="楷体" panose="02010609060101010101" pitchFamily="49" charset="-122"/>
                </a:rPr>
                <a:t>的地址空间</a:t>
              </a:r>
            </a:p>
          </p:txBody>
        </p:sp>
        <p:sp>
          <p:nvSpPr>
            <p:cNvPr id="54" name="Rectangle 52"/>
            <p:cNvSpPr>
              <a:spLocks noChangeArrowheads="1"/>
            </p:cNvSpPr>
            <p:nvPr/>
          </p:nvSpPr>
          <p:spPr bwMode="auto">
            <a:xfrm>
              <a:off x="4272" y="1609"/>
              <a:ext cx="740" cy="2273"/>
            </a:xfrm>
            <a:prstGeom prst="rect">
              <a:avLst/>
            </a:prstGeom>
            <a:solidFill>
              <a:srgbClr val="FFCCFF"/>
            </a:solidFill>
            <a:ln w="38100">
              <a:solidFill>
                <a:srgbClr val="0033CC"/>
              </a:solidFill>
              <a:miter lim="800000"/>
              <a:headEnd/>
              <a:tailEnd/>
            </a:ln>
          </p:spPr>
          <p:txBody>
            <a:bodyPr/>
            <a:lstStyle/>
            <a:p>
              <a:endParaRPr lang="zh-CN" altLang="en-US">
                <a:ea typeface="楷体" panose="02010609060101010101" pitchFamily="49" charset="-122"/>
              </a:endParaRPr>
            </a:p>
          </p:txBody>
        </p:sp>
        <p:sp>
          <p:nvSpPr>
            <p:cNvPr id="55" name="Line 53"/>
            <p:cNvSpPr>
              <a:spLocks noChangeShapeType="1"/>
            </p:cNvSpPr>
            <p:nvPr/>
          </p:nvSpPr>
          <p:spPr bwMode="auto">
            <a:xfrm>
              <a:off x="4272" y="1790"/>
              <a:ext cx="740" cy="1"/>
            </a:xfrm>
            <a:prstGeom prst="line">
              <a:avLst/>
            </a:prstGeom>
            <a:noFill/>
            <a:ln w="9525">
              <a:solidFill>
                <a:srgbClr val="0033CC"/>
              </a:solidFill>
              <a:round/>
              <a:headEnd/>
              <a:tailEnd/>
            </a:ln>
            <a:extLst>
              <a:ext uri="{909E8E84-426E-40DD-AFC4-6F175D3DCCD1}">
                <a14:hiddenFill xmlns:a14="http://schemas.microsoft.com/office/drawing/2010/main">
                  <a:noFill/>
                </a14:hiddenFill>
              </a:ext>
            </a:extLst>
          </p:spPr>
          <p:txBody>
            <a:bodyPr/>
            <a:lstStyle/>
            <a:p>
              <a:endParaRPr lang="zh-CN" altLang="en-US">
                <a:ea typeface="楷体" panose="02010609060101010101" pitchFamily="49" charset="-122"/>
              </a:endParaRPr>
            </a:p>
          </p:txBody>
        </p:sp>
        <p:sp>
          <p:nvSpPr>
            <p:cNvPr id="56" name="Line 54"/>
            <p:cNvSpPr>
              <a:spLocks noChangeShapeType="1"/>
            </p:cNvSpPr>
            <p:nvPr/>
          </p:nvSpPr>
          <p:spPr bwMode="auto">
            <a:xfrm>
              <a:off x="4272" y="1942"/>
              <a:ext cx="740" cy="1"/>
            </a:xfrm>
            <a:prstGeom prst="line">
              <a:avLst/>
            </a:prstGeom>
            <a:noFill/>
            <a:ln w="9525">
              <a:solidFill>
                <a:srgbClr val="0033CC"/>
              </a:solidFill>
              <a:round/>
              <a:headEnd/>
              <a:tailEnd/>
            </a:ln>
            <a:extLst>
              <a:ext uri="{909E8E84-426E-40DD-AFC4-6F175D3DCCD1}">
                <a14:hiddenFill xmlns:a14="http://schemas.microsoft.com/office/drawing/2010/main">
                  <a:noFill/>
                </a14:hiddenFill>
              </a:ext>
            </a:extLst>
          </p:spPr>
          <p:txBody>
            <a:bodyPr/>
            <a:lstStyle/>
            <a:p>
              <a:endParaRPr lang="zh-CN" altLang="en-US">
                <a:ea typeface="楷体" panose="02010609060101010101" pitchFamily="49" charset="-122"/>
              </a:endParaRPr>
            </a:p>
          </p:txBody>
        </p:sp>
        <p:sp>
          <p:nvSpPr>
            <p:cNvPr id="57" name="Line 55"/>
            <p:cNvSpPr>
              <a:spLocks noChangeShapeType="1"/>
            </p:cNvSpPr>
            <p:nvPr/>
          </p:nvSpPr>
          <p:spPr bwMode="auto">
            <a:xfrm>
              <a:off x="4272" y="2125"/>
              <a:ext cx="740" cy="0"/>
            </a:xfrm>
            <a:prstGeom prst="line">
              <a:avLst/>
            </a:prstGeom>
            <a:noFill/>
            <a:ln w="9525">
              <a:solidFill>
                <a:srgbClr val="0033CC"/>
              </a:solidFill>
              <a:round/>
              <a:headEnd/>
              <a:tailEnd/>
            </a:ln>
            <a:extLst>
              <a:ext uri="{909E8E84-426E-40DD-AFC4-6F175D3DCCD1}">
                <a14:hiddenFill xmlns:a14="http://schemas.microsoft.com/office/drawing/2010/main">
                  <a:noFill/>
                </a14:hiddenFill>
              </a:ext>
            </a:extLst>
          </p:spPr>
          <p:txBody>
            <a:bodyPr/>
            <a:lstStyle/>
            <a:p>
              <a:endParaRPr lang="zh-CN" altLang="en-US">
                <a:ea typeface="楷体" panose="02010609060101010101" pitchFamily="49" charset="-122"/>
              </a:endParaRPr>
            </a:p>
          </p:txBody>
        </p:sp>
        <p:sp>
          <p:nvSpPr>
            <p:cNvPr id="58" name="Line 56"/>
            <p:cNvSpPr>
              <a:spLocks noChangeShapeType="1"/>
            </p:cNvSpPr>
            <p:nvPr/>
          </p:nvSpPr>
          <p:spPr bwMode="auto">
            <a:xfrm>
              <a:off x="4272" y="2337"/>
              <a:ext cx="740" cy="1"/>
            </a:xfrm>
            <a:prstGeom prst="line">
              <a:avLst/>
            </a:prstGeom>
            <a:noFill/>
            <a:ln w="9525">
              <a:solidFill>
                <a:srgbClr val="0033CC"/>
              </a:solidFill>
              <a:round/>
              <a:headEnd/>
              <a:tailEnd/>
            </a:ln>
            <a:extLst>
              <a:ext uri="{909E8E84-426E-40DD-AFC4-6F175D3DCCD1}">
                <a14:hiddenFill xmlns:a14="http://schemas.microsoft.com/office/drawing/2010/main">
                  <a:noFill/>
                </a14:hiddenFill>
              </a:ext>
            </a:extLst>
          </p:spPr>
          <p:txBody>
            <a:bodyPr/>
            <a:lstStyle/>
            <a:p>
              <a:endParaRPr lang="zh-CN" altLang="en-US">
                <a:ea typeface="楷体" panose="02010609060101010101" pitchFamily="49" charset="-122"/>
              </a:endParaRPr>
            </a:p>
          </p:txBody>
        </p:sp>
        <p:sp>
          <p:nvSpPr>
            <p:cNvPr id="59" name="Line 57"/>
            <p:cNvSpPr>
              <a:spLocks noChangeShapeType="1"/>
            </p:cNvSpPr>
            <p:nvPr/>
          </p:nvSpPr>
          <p:spPr bwMode="auto">
            <a:xfrm>
              <a:off x="4272" y="2609"/>
              <a:ext cx="740" cy="1"/>
            </a:xfrm>
            <a:prstGeom prst="line">
              <a:avLst/>
            </a:prstGeom>
            <a:noFill/>
            <a:ln w="9525">
              <a:solidFill>
                <a:srgbClr val="0033CC"/>
              </a:solidFill>
              <a:round/>
              <a:headEnd/>
              <a:tailEnd/>
            </a:ln>
            <a:extLst>
              <a:ext uri="{909E8E84-426E-40DD-AFC4-6F175D3DCCD1}">
                <a14:hiddenFill xmlns:a14="http://schemas.microsoft.com/office/drawing/2010/main">
                  <a:noFill/>
                </a14:hiddenFill>
              </a:ext>
            </a:extLst>
          </p:spPr>
          <p:txBody>
            <a:bodyPr/>
            <a:lstStyle/>
            <a:p>
              <a:endParaRPr lang="zh-CN" altLang="en-US">
                <a:ea typeface="楷体" panose="02010609060101010101" pitchFamily="49" charset="-122"/>
              </a:endParaRPr>
            </a:p>
          </p:txBody>
        </p:sp>
        <p:sp>
          <p:nvSpPr>
            <p:cNvPr id="60" name="Line 58"/>
            <p:cNvSpPr>
              <a:spLocks noChangeShapeType="1"/>
            </p:cNvSpPr>
            <p:nvPr/>
          </p:nvSpPr>
          <p:spPr bwMode="auto">
            <a:xfrm>
              <a:off x="4272" y="2943"/>
              <a:ext cx="740" cy="0"/>
            </a:xfrm>
            <a:prstGeom prst="line">
              <a:avLst/>
            </a:prstGeom>
            <a:noFill/>
            <a:ln w="9525">
              <a:solidFill>
                <a:srgbClr val="0033CC"/>
              </a:solidFill>
              <a:round/>
              <a:headEnd/>
              <a:tailEnd/>
            </a:ln>
            <a:extLst>
              <a:ext uri="{909E8E84-426E-40DD-AFC4-6F175D3DCCD1}">
                <a14:hiddenFill xmlns:a14="http://schemas.microsoft.com/office/drawing/2010/main">
                  <a:noFill/>
                </a14:hiddenFill>
              </a:ext>
            </a:extLst>
          </p:spPr>
          <p:txBody>
            <a:bodyPr/>
            <a:lstStyle/>
            <a:p>
              <a:endParaRPr lang="zh-CN" altLang="en-US">
                <a:ea typeface="楷体" panose="02010609060101010101" pitchFamily="49" charset="-122"/>
              </a:endParaRPr>
            </a:p>
          </p:txBody>
        </p:sp>
        <p:sp>
          <p:nvSpPr>
            <p:cNvPr id="61" name="Line 59"/>
            <p:cNvSpPr>
              <a:spLocks noChangeShapeType="1"/>
            </p:cNvSpPr>
            <p:nvPr/>
          </p:nvSpPr>
          <p:spPr bwMode="auto">
            <a:xfrm>
              <a:off x="4272" y="3065"/>
              <a:ext cx="740" cy="0"/>
            </a:xfrm>
            <a:prstGeom prst="line">
              <a:avLst/>
            </a:prstGeom>
            <a:noFill/>
            <a:ln w="9525">
              <a:solidFill>
                <a:srgbClr val="0033CC"/>
              </a:solidFill>
              <a:round/>
              <a:headEnd/>
              <a:tailEnd/>
            </a:ln>
            <a:extLst>
              <a:ext uri="{909E8E84-426E-40DD-AFC4-6F175D3DCCD1}">
                <a14:hiddenFill xmlns:a14="http://schemas.microsoft.com/office/drawing/2010/main">
                  <a:noFill/>
                </a14:hiddenFill>
              </a:ext>
            </a:extLst>
          </p:spPr>
          <p:txBody>
            <a:bodyPr/>
            <a:lstStyle/>
            <a:p>
              <a:endParaRPr lang="zh-CN" altLang="en-US">
                <a:ea typeface="楷体" panose="02010609060101010101" pitchFamily="49" charset="-122"/>
              </a:endParaRPr>
            </a:p>
          </p:txBody>
        </p:sp>
        <p:sp>
          <p:nvSpPr>
            <p:cNvPr id="62" name="Line 60"/>
            <p:cNvSpPr>
              <a:spLocks noChangeShapeType="1"/>
            </p:cNvSpPr>
            <p:nvPr/>
          </p:nvSpPr>
          <p:spPr bwMode="auto">
            <a:xfrm>
              <a:off x="4272" y="3312"/>
              <a:ext cx="740" cy="1"/>
            </a:xfrm>
            <a:prstGeom prst="line">
              <a:avLst/>
            </a:prstGeom>
            <a:noFill/>
            <a:ln w="9525">
              <a:solidFill>
                <a:srgbClr val="0033CC"/>
              </a:solidFill>
              <a:round/>
              <a:headEnd/>
              <a:tailEnd/>
            </a:ln>
            <a:extLst>
              <a:ext uri="{909E8E84-426E-40DD-AFC4-6F175D3DCCD1}">
                <a14:hiddenFill xmlns:a14="http://schemas.microsoft.com/office/drawing/2010/main">
                  <a:noFill/>
                </a14:hiddenFill>
              </a:ext>
            </a:extLst>
          </p:spPr>
          <p:txBody>
            <a:bodyPr/>
            <a:lstStyle/>
            <a:p>
              <a:endParaRPr lang="zh-CN" altLang="en-US">
                <a:ea typeface="楷体" panose="02010609060101010101" pitchFamily="49" charset="-122"/>
              </a:endParaRPr>
            </a:p>
          </p:txBody>
        </p:sp>
        <p:sp>
          <p:nvSpPr>
            <p:cNvPr id="63" name="Line 61"/>
            <p:cNvSpPr>
              <a:spLocks noChangeShapeType="1"/>
            </p:cNvSpPr>
            <p:nvPr/>
          </p:nvSpPr>
          <p:spPr bwMode="auto">
            <a:xfrm>
              <a:off x="4295" y="3489"/>
              <a:ext cx="740" cy="0"/>
            </a:xfrm>
            <a:prstGeom prst="line">
              <a:avLst/>
            </a:prstGeom>
            <a:noFill/>
            <a:ln w="9525">
              <a:solidFill>
                <a:srgbClr val="0033CC"/>
              </a:solidFill>
              <a:round/>
              <a:headEnd/>
              <a:tailEnd/>
            </a:ln>
            <a:extLst>
              <a:ext uri="{909E8E84-426E-40DD-AFC4-6F175D3DCCD1}">
                <a14:hiddenFill xmlns:a14="http://schemas.microsoft.com/office/drawing/2010/main">
                  <a:noFill/>
                </a14:hiddenFill>
              </a:ext>
            </a:extLst>
          </p:spPr>
          <p:txBody>
            <a:bodyPr/>
            <a:lstStyle/>
            <a:p>
              <a:endParaRPr lang="zh-CN" altLang="en-US">
                <a:ea typeface="楷体" panose="02010609060101010101" pitchFamily="49" charset="-122"/>
              </a:endParaRPr>
            </a:p>
          </p:txBody>
        </p:sp>
        <p:sp>
          <p:nvSpPr>
            <p:cNvPr id="64" name="Line 62"/>
            <p:cNvSpPr>
              <a:spLocks noChangeShapeType="1"/>
            </p:cNvSpPr>
            <p:nvPr/>
          </p:nvSpPr>
          <p:spPr bwMode="auto">
            <a:xfrm>
              <a:off x="4295" y="3672"/>
              <a:ext cx="740" cy="1"/>
            </a:xfrm>
            <a:prstGeom prst="line">
              <a:avLst/>
            </a:prstGeom>
            <a:noFill/>
            <a:ln w="9525">
              <a:solidFill>
                <a:srgbClr val="0033CC"/>
              </a:solidFill>
              <a:round/>
              <a:headEnd/>
              <a:tailEnd/>
            </a:ln>
            <a:extLst>
              <a:ext uri="{909E8E84-426E-40DD-AFC4-6F175D3DCCD1}">
                <a14:hiddenFill xmlns:a14="http://schemas.microsoft.com/office/drawing/2010/main">
                  <a:noFill/>
                </a14:hiddenFill>
              </a:ext>
            </a:extLst>
          </p:spPr>
          <p:txBody>
            <a:bodyPr/>
            <a:lstStyle/>
            <a:p>
              <a:endParaRPr lang="zh-CN" altLang="en-US">
                <a:ea typeface="楷体" panose="02010609060101010101" pitchFamily="49" charset="-122"/>
              </a:endParaRPr>
            </a:p>
          </p:txBody>
        </p:sp>
        <p:sp>
          <p:nvSpPr>
            <p:cNvPr id="65" name="Line 63"/>
            <p:cNvSpPr>
              <a:spLocks noChangeShapeType="1"/>
            </p:cNvSpPr>
            <p:nvPr/>
          </p:nvSpPr>
          <p:spPr bwMode="auto">
            <a:xfrm>
              <a:off x="4295" y="2761"/>
              <a:ext cx="740" cy="1"/>
            </a:xfrm>
            <a:prstGeom prst="line">
              <a:avLst/>
            </a:prstGeom>
            <a:noFill/>
            <a:ln w="9525">
              <a:solidFill>
                <a:srgbClr val="0033CC"/>
              </a:solidFill>
              <a:round/>
              <a:headEnd/>
              <a:tailEnd/>
            </a:ln>
            <a:extLst>
              <a:ext uri="{909E8E84-426E-40DD-AFC4-6F175D3DCCD1}">
                <a14:hiddenFill xmlns:a14="http://schemas.microsoft.com/office/drawing/2010/main">
                  <a:noFill/>
                </a14:hiddenFill>
              </a:ext>
            </a:extLst>
          </p:spPr>
          <p:txBody>
            <a:bodyPr/>
            <a:lstStyle/>
            <a:p>
              <a:endParaRPr lang="zh-CN" altLang="en-US">
                <a:ea typeface="楷体" panose="02010609060101010101" pitchFamily="49" charset="-122"/>
              </a:endParaRPr>
            </a:p>
          </p:txBody>
        </p:sp>
        <p:sp>
          <p:nvSpPr>
            <p:cNvPr id="66" name="Rectangle 64"/>
            <p:cNvSpPr>
              <a:spLocks noChangeArrowheads="1"/>
            </p:cNvSpPr>
            <p:nvPr/>
          </p:nvSpPr>
          <p:spPr bwMode="auto">
            <a:xfrm>
              <a:off x="3819" y="1752"/>
              <a:ext cx="339" cy="153"/>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33CC"/>
                  </a:solidFill>
                  <a:miter lim="800000"/>
                  <a:headEnd/>
                  <a:tailEnd/>
                </a14:hiddenLine>
              </a:ext>
            </a:extLst>
          </p:spPr>
          <p:txBody>
            <a:bodyPr/>
            <a:lstStyle/>
            <a:p>
              <a:endParaRPr lang="zh-CN" altLang="en-US">
                <a:ea typeface="楷体" panose="02010609060101010101" pitchFamily="49" charset="-122"/>
              </a:endParaRPr>
            </a:p>
          </p:txBody>
        </p:sp>
        <p:sp>
          <p:nvSpPr>
            <p:cNvPr id="67" name="Rectangle 65"/>
            <p:cNvSpPr>
              <a:spLocks noChangeArrowheads="1"/>
            </p:cNvSpPr>
            <p:nvPr/>
          </p:nvSpPr>
          <p:spPr bwMode="auto">
            <a:xfrm>
              <a:off x="3868" y="1758"/>
              <a:ext cx="263" cy="155"/>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33CC"/>
                  </a:solidFill>
                  <a:miter lim="800000"/>
                  <a:headEnd/>
                  <a:tailEnd/>
                </a14:hiddenLine>
              </a:ext>
            </a:extLst>
          </p:spPr>
          <p:txBody>
            <a:bodyPr wrap="none" lIns="0" tIns="0" rIns="0" bIns="0">
              <a:spAutoFit/>
            </a:bodyPr>
            <a:lstStyle/>
            <a:p>
              <a:pPr>
                <a:spcBef>
                  <a:spcPct val="20000"/>
                </a:spcBef>
              </a:pPr>
              <a:r>
                <a:rPr lang="en-US" altLang="zh-CN" sz="1600" b="1">
                  <a:ea typeface="楷体" panose="02010609060101010101" pitchFamily="49" charset="-122"/>
                </a:rPr>
                <a:t>1000</a:t>
              </a:r>
            </a:p>
          </p:txBody>
        </p:sp>
        <p:sp>
          <p:nvSpPr>
            <p:cNvPr id="68" name="Rectangle 66"/>
            <p:cNvSpPr>
              <a:spLocks noChangeArrowheads="1"/>
            </p:cNvSpPr>
            <p:nvPr/>
          </p:nvSpPr>
          <p:spPr bwMode="auto">
            <a:xfrm>
              <a:off x="3827" y="2228"/>
              <a:ext cx="340" cy="154"/>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33CC"/>
                  </a:solidFill>
                  <a:miter lim="800000"/>
                  <a:headEnd/>
                  <a:tailEnd/>
                </a14:hiddenLine>
              </a:ext>
            </a:extLst>
          </p:spPr>
          <p:txBody>
            <a:bodyPr/>
            <a:lstStyle/>
            <a:p>
              <a:endParaRPr lang="zh-CN" altLang="en-US">
                <a:ea typeface="楷体" panose="02010609060101010101" pitchFamily="49" charset="-122"/>
              </a:endParaRPr>
            </a:p>
          </p:txBody>
        </p:sp>
        <p:sp>
          <p:nvSpPr>
            <p:cNvPr id="69" name="Rectangle 67"/>
            <p:cNvSpPr>
              <a:spLocks noChangeArrowheads="1"/>
            </p:cNvSpPr>
            <p:nvPr/>
          </p:nvSpPr>
          <p:spPr bwMode="auto">
            <a:xfrm>
              <a:off x="3876" y="2234"/>
              <a:ext cx="263" cy="155"/>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33CC"/>
                  </a:solidFill>
                  <a:miter lim="800000"/>
                  <a:headEnd/>
                  <a:tailEnd/>
                </a14:hiddenLine>
              </a:ext>
            </a:extLst>
          </p:spPr>
          <p:txBody>
            <a:bodyPr wrap="none" lIns="0" tIns="0" rIns="0" bIns="0">
              <a:spAutoFit/>
            </a:bodyPr>
            <a:lstStyle/>
            <a:p>
              <a:pPr>
                <a:spcBef>
                  <a:spcPct val="20000"/>
                </a:spcBef>
              </a:pPr>
              <a:r>
                <a:rPr lang="en-US" altLang="zh-CN" sz="1600" b="1">
                  <a:ea typeface="楷体" panose="02010609060101010101" pitchFamily="49" charset="-122"/>
                </a:rPr>
                <a:t>3200</a:t>
              </a:r>
            </a:p>
          </p:txBody>
        </p:sp>
        <p:sp>
          <p:nvSpPr>
            <p:cNvPr id="70" name="Rectangle 68"/>
            <p:cNvSpPr>
              <a:spLocks noChangeArrowheads="1"/>
            </p:cNvSpPr>
            <p:nvPr/>
          </p:nvSpPr>
          <p:spPr bwMode="auto">
            <a:xfrm>
              <a:off x="3827" y="2628"/>
              <a:ext cx="340" cy="214"/>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33CC"/>
                  </a:solidFill>
                  <a:miter lim="800000"/>
                  <a:headEnd/>
                  <a:tailEnd/>
                </a14:hiddenLine>
              </a:ext>
            </a:extLst>
          </p:spPr>
          <p:txBody>
            <a:bodyPr/>
            <a:lstStyle/>
            <a:p>
              <a:endParaRPr lang="zh-CN" altLang="en-US">
                <a:ea typeface="楷体" panose="02010609060101010101" pitchFamily="49" charset="-122"/>
              </a:endParaRPr>
            </a:p>
          </p:txBody>
        </p:sp>
        <p:sp>
          <p:nvSpPr>
            <p:cNvPr id="71" name="Rectangle 69"/>
            <p:cNvSpPr>
              <a:spLocks noChangeArrowheads="1"/>
            </p:cNvSpPr>
            <p:nvPr/>
          </p:nvSpPr>
          <p:spPr bwMode="auto">
            <a:xfrm>
              <a:off x="3876" y="2658"/>
              <a:ext cx="263" cy="155"/>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33CC"/>
                  </a:solidFill>
                  <a:miter lim="800000"/>
                  <a:headEnd/>
                  <a:tailEnd/>
                </a14:hiddenLine>
              </a:ext>
            </a:extLst>
          </p:spPr>
          <p:txBody>
            <a:bodyPr wrap="none" lIns="0" tIns="0" rIns="0" bIns="0">
              <a:spAutoFit/>
            </a:bodyPr>
            <a:lstStyle/>
            <a:p>
              <a:pPr>
                <a:spcBef>
                  <a:spcPct val="20000"/>
                </a:spcBef>
              </a:pPr>
              <a:r>
                <a:rPr lang="en-US" altLang="zh-CN" sz="1600" b="1">
                  <a:ea typeface="楷体" panose="02010609060101010101" pitchFamily="49" charset="-122"/>
                </a:rPr>
                <a:t>5000</a:t>
              </a:r>
            </a:p>
          </p:txBody>
        </p:sp>
        <p:sp>
          <p:nvSpPr>
            <p:cNvPr id="72" name="Rectangle 70"/>
            <p:cNvSpPr>
              <a:spLocks noChangeArrowheads="1"/>
            </p:cNvSpPr>
            <p:nvPr/>
          </p:nvSpPr>
          <p:spPr bwMode="auto">
            <a:xfrm>
              <a:off x="3827" y="2987"/>
              <a:ext cx="340" cy="154"/>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33CC"/>
                  </a:solidFill>
                  <a:miter lim="800000"/>
                  <a:headEnd/>
                  <a:tailEnd/>
                </a14:hiddenLine>
              </a:ext>
            </a:extLst>
          </p:spPr>
          <p:txBody>
            <a:bodyPr/>
            <a:lstStyle/>
            <a:p>
              <a:endParaRPr lang="zh-CN" altLang="en-US">
                <a:ea typeface="楷体" panose="02010609060101010101" pitchFamily="49" charset="-122"/>
              </a:endParaRPr>
            </a:p>
          </p:txBody>
        </p:sp>
        <p:sp>
          <p:nvSpPr>
            <p:cNvPr id="73" name="Rectangle 71"/>
            <p:cNvSpPr>
              <a:spLocks noChangeArrowheads="1"/>
            </p:cNvSpPr>
            <p:nvPr/>
          </p:nvSpPr>
          <p:spPr bwMode="auto">
            <a:xfrm>
              <a:off x="3876" y="2993"/>
              <a:ext cx="263" cy="155"/>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33CC"/>
                  </a:solidFill>
                  <a:miter lim="800000"/>
                  <a:headEnd/>
                  <a:tailEnd/>
                </a14:hiddenLine>
              </a:ext>
            </a:extLst>
          </p:spPr>
          <p:txBody>
            <a:bodyPr wrap="none" lIns="0" tIns="0" rIns="0" bIns="0">
              <a:spAutoFit/>
            </a:bodyPr>
            <a:lstStyle/>
            <a:p>
              <a:pPr>
                <a:spcBef>
                  <a:spcPct val="20000"/>
                </a:spcBef>
              </a:pPr>
              <a:r>
                <a:rPr lang="en-US" altLang="zh-CN" sz="1600" b="1">
                  <a:ea typeface="楷体" panose="02010609060101010101" pitchFamily="49" charset="-122"/>
                </a:rPr>
                <a:t>6000</a:t>
              </a:r>
            </a:p>
          </p:txBody>
        </p:sp>
        <p:sp>
          <p:nvSpPr>
            <p:cNvPr id="74" name="Rectangle 72"/>
            <p:cNvSpPr>
              <a:spLocks noChangeArrowheads="1"/>
            </p:cNvSpPr>
            <p:nvPr/>
          </p:nvSpPr>
          <p:spPr bwMode="auto">
            <a:xfrm>
              <a:off x="3827" y="3360"/>
              <a:ext cx="340" cy="173"/>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33CC"/>
                  </a:solidFill>
                  <a:miter lim="800000"/>
                  <a:headEnd/>
                  <a:tailEnd/>
                </a14:hiddenLine>
              </a:ext>
            </a:extLst>
          </p:spPr>
          <p:txBody>
            <a:bodyPr/>
            <a:lstStyle/>
            <a:p>
              <a:endParaRPr lang="zh-CN" altLang="en-US">
                <a:ea typeface="楷体" panose="02010609060101010101" pitchFamily="49" charset="-122"/>
              </a:endParaRPr>
            </a:p>
          </p:txBody>
        </p:sp>
        <p:sp>
          <p:nvSpPr>
            <p:cNvPr id="75" name="Rectangle 73"/>
            <p:cNvSpPr>
              <a:spLocks noChangeArrowheads="1"/>
            </p:cNvSpPr>
            <p:nvPr/>
          </p:nvSpPr>
          <p:spPr bwMode="auto">
            <a:xfrm>
              <a:off x="3876" y="3377"/>
              <a:ext cx="263" cy="155"/>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33CC"/>
                  </a:solidFill>
                  <a:miter lim="800000"/>
                  <a:headEnd/>
                  <a:tailEnd/>
                </a14:hiddenLine>
              </a:ext>
            </a:extLst>
          </p:spPr>
          <p:txBody>
            <a:bodyPr wrap="none" lIns="0" tIns="0" rIns="0" bIns="0">
              <a:spAutoFit/>
            </a:bodyPr>
            <a:lstStyle/>
            <a:p>
              <a:pPr>
                <a:spcBef>
                  <a:spcPct val="20000"/>
                </a:spcBef>
              </a:pPr>
              <a:r>
                <a:rPr lang="en-US" altLang="zh-CN" sz="1600" b="1">
                  <a:ea typeface="楷体" panose="02010609060101010101" pitchFamily="49" charset="-122"/>
                </a:rPr>
                <a:t>8000</a:t>
              </a:r>
            </a:p>
          </p:txBody>
        </p:sp>
        <p:sp>
          <p:nvSpPr>
            <p:cNvPr id="76" name="Rectangle 74"/>
            <p:cNvSpPr>
              <a:spLocks noChangeArrowheads="1"/>
            </p:cNvSpPr>
            <p:nvPr/>
          </p:nvSpPr>
          <p:spPr bwMode="auto">
            <a:xfrm>
              <a:off x="5035" y="1935"/>
              <a:ext cx="19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楷体" panose="02010609060101010101" pitchFamily="49" charset="-122"/>
              </a:endParaRPr>
            </a:p>
          </p:txBody>
        </p:sp>
        <p:sp>
          <p:nvSpPr>
            <p:cNvPr id="77" name="Rectangle 75"/>
            <p:cNvSpPr>
              <a:spLocks noChangeArrowheads="1"/>
            </p:cNvSpPr>
            <p:nvPr/>
          </p:nvSpPr>
          <p:spPr bwMode="auto">
            <a:xfrm>
              <a:off x="5084" y="1960"/>
              <a:ext cx="69"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ea typeface="楷体" panose="02010609060101010101" pitchFamily="49" charset="-122"/>
                </a:rPr>
                <a:t>P</a:t>
              </a:r>
            </a:p>
          </p:txBody>
        </p:sp>
        <p:sp>
          <p:nvSpPr>
            <p:cNvPr id="78" name="Rectangle 76"/>
            <p:cNvSpPr>
              <a:spLocks noChangeArrowheads="1"/>
            </p:cNvSpPr>
            <p:nvPr/>
          </p:nvSpPr>
          <p:spPr bwMode="auto">
            <a:xfrm>
              <a:off x="5035" y="2403"/>
              <a:ext cx="22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楷体" panose="02010609060101010101" pitchFamily="49" charset="-122"/>
              </a:endParaRPr>
            </a:p>
          </p:txBody>
        </p:sp>
        <p:sp>
          <p:nvSpPr>
            <p:cNvPr id="79" name="Rectangle 77"/>
            <p:cNvSpPr>
              <a:spLocks noChangeArrowheads="1"/>
            </p:cNvSpPr>
            <p:nvPr/>
          </p:nvSpPr>
          <p:spPr bwMode="auto">
            <a:xfrm>
              <a:off x="5084" y="2428"/>
              <a:ext cx="71"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ea typeface="楷体" panose="02010609060101010101" pitchFamily="49" charset="-122"/>
                </a:rPr>
                <a:t>K</a:t>
              </a:r>
            </a:p>
          </p:txBody>
        </p:sp>
        <p:sp>
          <p:nvSpPr>
            <p:cNvPr id="80" name="Rectangle 78"/>
            <p:cNvSpPr>
              <a:spLocks noChangeArrowheads="1"/>
            </p:cNvSpPr>
            <p:nvPr/>
          </p:nvSpPr>
          <p:spPr bwMode="auto">
            <a:xfrm>
              <a:off x="5035" y="2767"/>
              <a:ext cx="1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楷体" panose="02010609060101010101" pitchFamily="49" charset="-122"/>
              </a:endParaRPr>
            </a:p>
          </p:txBody>
        </p:sp>
        <p:sp>
          <p:nvSpPr>
            <p:cNvPr id="81" name="Rectangle 79"/>
            <p:cNvSpPr>
              <a:spLocks noChangeArrowheads="1"/>
            </p:cNvSpPr>
            <p:nvPr/>
          </p:nvSpPr>
          <p:spPr bwMode="auto">
            <a:xfrm>
              <a:off x="5084" y="2792"/>
              <a:ext cx="62"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ea typeface="楷体" panose="02010609060101010101" pitchFamily="49" charset="-122"/>
                </a:rPr>
                <a:t>S</a:t>
              </a:r>
            </a:p>
          </p:txBody>
        </p:sp>
        <p:sp>
          <p:nvSpPr>
            <p:cNvPr id="82" name="Rectangle 80"/>
            <p:cNvSpPr>
              <a:spLocks noChangeArrowheads="1"/>
            </p:cNvSpPr>
            <p:nvPr/>
          </p:nvSpPr>
          <p:spPr bwMode="auto">
            <a:xfrm>
              <a:off x="5035" y="3101"/>
              <a:ext cx="205"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楷体" panose="02010609060101010101" pitchFamily="49" charset="-122"/>
              </a:endParaRPr>
            </a:p>
          </p:txBody>
        </p:sp>
        <p:sp>
          <p:nvSpPr>
            <p:cNvPr id="83" name="Rectangle 81"/>
            <p:cNvSpPr>
              <a:spLocks noChangeArrowheads="1"/>
            </p:cNvSpPr>
            <p:nvPr/>
          </p:nvSpPr>
          <p:spPr bwMode="auto">
            <a:xfrm>
              <a:off x="5084" y="3126"/>
              <a:ext cx="55"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ea typeface="楷体" panose="02010609060101010101" pitchFamily="49" charset="-122"/>
                </a:rPr>
                <a:t>L</a:t>
              </a:r>
            </a:p>
          </p:txBody>
        </p:sp>
        <p:sp>
          <p:nvSpPr>
            <p:cNvPr id="84" name="Rectangle 82"/>
            <p:cNvSpPr>
              <a:spLocks noChangeArrowheads="1"/>
            </p:cNvSpPr>
            <p:nvPr/>
          </p:nvSpPr>
          <p:spPr bwMode="auto">
            <a:xfrm>
              <a:off x="5035" y="3465"/>
              <a:ext cx="21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楷体" panose="02010609060101010101" pitchFamily="49" charset="-122"/>
              </a:endParaRPr>
            </a:p>
          </p:txBody>
        </p:sp>
        <p:sp>
          <p:nvSpPr>
            <p:cNvPr id="85" name="Rectangle 83"/>
            <p:cNvSpPr>
              <a:spLocks noChangeArrowheads="1"/>
            </p:cNvSpPr>
            <p:nvPr/>
          </p:nvSpPr>
          <p:spPr bwMode="auto">
            <a:xfrm>
              <a:off x="5084" y="3490"/>
              <a:ext cx="85"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ea typeface="楷体" panose="02010609060101010101" pitchFamily="49" charset="-122"/>
                </a:rPr>
                <a:t>N</a:t>
              </a:r>
            </a:p>
          </p:txBody>
        </p:sp>
        <p:sp>
          <p:nvSpPr>
            <p:cNvPr id="86" name="Rectangle 84"/>
            <p:cNvSpPr>
              <a:spLocks noChangeArrowheads="1"/>
            </p:cNvSpPr>
            <p:nvPr/>
          </p:nvSpPr>
          <p:spPr bwMode="auto">
            <a:xfrm>
              <a:off x="4482" y="3882"/>
              <a:ext cx="4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楷体" panose="02010609060101010101" pitchFamily="49" charset="-122"/>
              </a:endParaRPr>
            </a:p>
          </p:txBody>
        </p:sp>
        <p:sp>
          <p:nvSpPr>
            <p:cNvPr id="87" name="Rectangle 85"/>
            <p:cNvSpPr>
              <a:spLocks noChangeArrowheads="1"/>
            </p:cNvSpPr>
            <p:nvPr/>
          </p:nvSpPr>
          <p:spPr bwMode="auto">
            <a:xfrm>
              <a:off x="4531" y="3924"/>
              <a:ext cx="25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zh-CN" altLang="en-US" sz="1600" b="1">
                  <a:ea typeface="楷体" panose="02010609060101010101" pitchFamily="49" charset="-122"/>
                </a:rPr>
                <a:t>主存</a:t>
              </a:r>
            </a:p>
          </p:txBody>
        </p:sp>
        <p:sp>
          <p:nvSpPr>
            <p:cNvPr id="88" name="Rectangle 86"/>
            <p:cNvSpPr>
              <a:spLocks noChangeArrowheads="1"/>
            </p:cNvSpPr>
            <p:nvPr/>
          </p:nvSpPr>
          <p:spPr bwMode="auto">
            <a:xfrm>
              <a:off x="2485" y="1840"/>
              <a:ext cx="1130" cy="182"/>
            </a:xfrm>
            <a:prstGeom prst="rect">
              <a:avLst/>
            </a:prstGeom>
            <a:solidFill>
              <a:srgbClr val="FFCCFF"/>
            </a:solidFill>
            <a:ln w="9525">
              <a:solidFill>
                <a:srgbClr val="0033CC"/>
              </a:solidFill>
              <a:miter lim="800000"/>
              <a:headEnd/>
              <a:tailEnd/>
            </a:ln>
          </p:spPr>
          <p:txBody>
            <a:bodyPr/>
            <a:lstStyle/>
            <a:p>
              <a:endParaRPr lang="zh-CN" altLang="en-US">
                <a:ea typeface="楷体" panose="02010609060101010101" pitchFamily="49" charset="-122"/>
              </a:endParaRPr>
            </a:p>
          </p:txBody>
        </p:sp>
        <p:sp>
          <p:nvSpPr>
            <p:cNvPr id="89" name="Rectangle 87"/>
            <p:cNvSpPr>
              <a:spLocks noChangeArrowheads="1"/>
            </p:cNvSpPr>
            <p:nvPr/>
          </p:nvSpPr>
          <p:spPr bwMode="auto">
            <a:xfrm>
              <a:off x="2685" y="1861"/>
              <a:ext cx="10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ea typeface="楷体" panose="02010609060101010101" pitchFamily="49" charset="-122"/>
                </a:rPr>
                <a:t>K </a:t>
              </a:r>
            </a:p>
          </p:txBody>
        </p:sp>
        <p:sp>
          <p:nvSpPr>
            <p:cNvPr id="90" name="Rectangle 88"/>
            <p:cNvSpPr>
              <a:spLocks noChangeArrowheads="1"/>
            </p:cNvSpPr>
            <p:nvPr/>
          </p:nvSpPr>
          <p:spPr bwMode="auto">
            <a:xfrm>
              <a:off x="2850" y="1861"/>
              <a:ext cx="146"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ea typeface="楷体" panose="02010609060101010101" pitchFamily="49" charset="-122"/>
                </a:rPr>
                <a:t>     </a:t>
              </a:r>
            </a:p>
          </p:txBody>
        </p:sp>
        <p:sp>
          <p:nvSpPr>
            <p:cNvPr id="91" name="Rectangle 89"/>
            <p:cNvSpPr>
              <a:spLocks noChangeArrowheads="1"/>
            </p:cNvSpPr>
            <p:nvPr/>
          </p:nvSpPr>
          <p:spPr bwMode="auto">
            <a:xfrm>
              <a:off x="3052" y="1861"/>
              <a:ext cx="263"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ea typeface="楷体" panose="02010609060101010101" pitchFamily="49" charset="-122"/>
                </a:rPr>
                <a:t>3200</a:t>
              </a:r>
            </a:p>
          </p:txBody>
        </p:sp>
        <p:sp>
          <p:nvSpPr>
            <p:cNvPr id="92" name="Rectangle 90"/>
            <p:cNvSpPr>
              <a:spLocks noChangeArrowheads="1"/>
            </p:cNvSpPr>
            <p:nvPr/>
          </p:nvSpPr>
          <p:spPr bwMode="auto">
            <a:xfrm>
              <a:off x="2485" y="2022"/>
              <a:ext cx="1130" cy="182"/>
            </a:xfrm>
            <a:prstGeom prst="rect">
              <a:avLst/>
            </a:prstGeom>
            <a:solidFill>
              <a:srgbClr val="FFCCFF"/>
            </a:solidFill>
            <a:ln w="9525">
              <a:solidFill>
                <a:srgbClr val="0033CC"/>
              </a:solidFill>
              <a:miter lim="800000"/>
              <a:headEnd/>
              <a:tailEnd/>
            </a:ln>
          </p:spPr>
          <p:txBody>
            <a:bodyPr/>
            <a:lstStyle/>
            <a:p>
              <a:endParaRPr lang="zh-CN" altLang="en-US">
                <a:ea typeface="楷体" panose="02010609060101010101" pitchFamily="49" charset="-122"/>
              </a:endParaRPr>
            </a:p>
          </p:txBody>
        </p:sp>
        <p:sp>
          <p:nvSpPr>
            <p:cNvPr id="93" name="Rectangle 91"/>
            <p:cNvSpPr>
              <a:spLocks noChangeArrowheads="1"/>
            </p:cNvSpPr>
            <p:nvPr/>
          </p:nvSpPr>
          <p:spPr bwMode="auto">
            <a:xfrm>
              <a:off x="2698" y="2043"/>
              <a:ext cx="595"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ea typeface="楷体" panose="02010609060101010101" pitchFamily="49" charset="-122"/>
                </a:rPr>
                <a:t>P         1500</a:t>
              </a:r>
            </a:p>
          </p:txBody>
        </p:sp>
        <p:sp>
          <p:nvSpPr>
            <p:cNvPr id="94" name="Rectangle 92"/>
            <p:cNvSpPr>
              <a:spLocks noChangeArrowheads="1"/>
            </p:cNvSpPr>
            <p:nvPr/>
          </p:nvSpPr>
          <p:spPr bwMode="auto">
            <a:xfrm>
              <a:off x="2485" y="2204"/>
              <a:ext cx="1130" cy="182"/>
            </a:xfrm>
            <a:prstGeom prst="rect">
              <a:avLst/>
            </a:prstGeom>
            <a:solidFill>
              <a:srgbClr val="FFCCFF"/>
            </a:solidFill>
            <a:ln w="9525">
              <a:solidFill>
                <a:srgbClr val="0033CC"/>
              </a:solidFill>
              <a:miter lim="800000"/>
              <a:headEnd/>
              <a:tailEnd/>
            </a:ln>
          </p:spPr>
          <p:txBody>
            <a:bodyPr/>
            <a:lstStyle/>
            <a:p>
              <a:endParaRPr lang="zh-CN" altLang="en-US">
                <a:ea typeface="楷体" panose="02010609060101010101" pitchFamily="49" charset="-122"/>
              </a:endParaRPr>
            </a:p>
          </p:txBody>
        </p:sp>
        <p:sp>
          <p:nvSpPr>
            <p:cNvPr id="95" name="Rectangle 93"/>
            <p:cNvSpPr>
              <a:spLocks noChangeArrowheads="1"/>
            </p:cNvSpPr>
            <p:nvPr/>
          </p:nvSpPr>
          <p:spPr bwMode="auto">
            <a:xfrm>
              <a:off x="2693" y="2225"/>
              <a:ext cx="581"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ea typeface="楷体" panose="02010609060101010101" pitchFamily="49" charset="-122"/>
                </a:rPr>
                <a:t>L         6000</a:t>
              </a:r>
            </a:p>
          </p:txBody>
        </p:sp>
        <p:sp>
          <p:nvSpPr>
            <p:cNvPr id="96" name="Rectangle 94"/>
            <p:cNvSpPr>
              <a:spLocks noChangeArrowheads="1"/>
            </p:cNvSpPr>
            <p:nvPr/>
          </p:nvSpPr>
          <p:spPr bwMode="auto">
            <a:xfrm>
              <a:off x="2485" y="2386"/>
              <a:ext cx="1130" cy="182"/>
            </a:xfrm>
            <a:prstGeom prst="rect">
              <a:avLst/>
            </a:prstGeom>
            <a:solidFill>
              <a:srgbClr val="FFCCFF"/>
            </a:solidFill>
            <a:ln w="9525">
              <a:solidFill>
                <a:srgbClr val="0033CC"/>
              </a:solidFill>
              <a:miter lim="800000"/>
              <a:headEnd/>
              <a:tailEnd/>
            </a:ln>
          </p:spPr>
          <p:txBody>
            <a:bodyPr/>
            <a:lstStyle/>
            <a:p>
              <a:endParaRPr lang="zh-CN" altLang="en-US">
                <a:ea typeface="楷体" panose="02010609060101010101" pitchFamily="49" charset="-122"/>
              </a:endParaRPr>
            </a:p>
          </p:txBody>
        </p:sp>
        <p:sp>
          <p:nvSpPr>
            <p:cNvPr id="97" name="Rectangle 95"/>
            <p:cNvSpPr>
              <a:spLocks noChangeArrowheads="1"/>
            </p:cNvSpPr>
            <p:nvPr/>
          </p:nvSpPr>
          <p:spPr bwMode="auto">
            <a:xfrm>
              <a:off x="2689" y="2406"/>
              <a:ext cx="611"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ea typeface="楷体" panose="02010609060101010101" pitchFamily="49" charset="-122"/>
                </a:rPr>
                <a:t>N         8000</a:t>
              </a:r>
            </a:p>
          </p:txBody>
        </p:sp>
        <p:sp>
          <p:nvSpPr>
            <p:cNvPr id="98" name="Rectangle 96"/>
            <p:cNvSpPr>
              <a:spLocks noChangeArrowheads="1"/>
            </p:cNvSpPr>
            <p:nvPr/>
          </p:nvSpPr>
          <p:spPr bwMode="auto">
            <a:xfrm>
              <a:off x="2485" y="2568"/>
              <a:ext cx="1130" cy="182"/>
            </a:xfrm>
            <a:prstGeom prst="rect">
              <a:avLst/>
            </a:prstGeom>
            <a:solidFill>
              <a:srgbClr val="FFCCFF"/>
            </a:solidFill>
            <a:ln w="9525">
              <a:solidFill>
                <a:srgbClr val="0033CC"/>
              </a:solidFill>
              <a:miter lim="800000"/>
              <a:headEnd/>
              <a:tailEnd/>
            </a:ln>
          </p:spPr>
          <p:txBody>
            <a:bodyPr/>
            <a:lstStyle/>
            <a:p>
              <a:endParaRPr lang="zh-CN" altLang="en-US">
                <a:ea typeface="楷体" panose="02010609060101010101" pitchFamily="49" charset="-122"/>
              </a:endParaRPr>
            </a:p>
          </p:txBody>
        </p:sp>
        <p:sp>
          <p:nvSpPr>
            <p:cNvPr id="99" name="Rectangle 97"/>
            <p:cNvSpPr>
              <a:spLocks noChangeArrowheads="1"/>
            </p:cNvSpPr>
            <p:nvPr/>
          </p:nvSpPr>
          <p:spPr bwMode="auto">
            <a:xfrm>
              <a:off x="2702" y="2589"/>
              <a:ext cx="588"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ea typeface="楷体" panose="02010609060101010101" pitchFamily="49" charset="-122"/>
                </a:rPr>
                <a:t>S         5000</a:t>
              </a:r>
            </a:p>
          </p:txBody>
        </p:sp>
        <p:sp>
          <p:nvSpPr>
            <p:cNvPr id="100" name="Rectangle 98"/>
            <p:cNvSpPr>
              <a:spLocks noChangeArrowheads="1"/>
            </p:cNvSpPr>
            <p:nvPr/>
          </p:nvSpPr>
          <p:spPr bwMode="auto">
            <a:xfrm>
              <a:off x="2524" y="1584"/>
              <a:ext cx="1075"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楷体" panose="02010609060101010101" pitchFamily="49" charset="-122"/>
              </a:endParaRPr>
            </a:p>
          </p:txBody>
        </p:sp>
        <p:sp>
          <p:nvSpPr>
            <p:cNvPr id="101" name="Rectangle 99"/>
            <p:cNvSpPr>
              <a:spLocks noChangeArrowheads="1"/>
            </p:cNvSpPr>
            <p:nvPr/>
          </p:nvSpPr>
          <p:spPr bwMode="auto">
            <a:xfrm>
              <a:off x="2572" y="1616"/>
              <a:ext cx="25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zh-CN" altLang="en-US" sz="1600" b="1">
                  <a:ea typeface="楷体" panose="02010609060101010101" pitchFamily="49" charset="-122"/>
                </a:rPr>
                <a:t>长度</a:t>
              </a:r>
            </a:p>
          </p:txBody>
        </p:sp>
        <p:sp>
          <p:nvSpPr>
            <p:cNvPr id="102" name="Rectangle 100"/>
            <p:cNvSpPr>
              <a:spLocks noChangeArrowheads="1"/>
            </p:cNvSpPr>
            <p:nvPr/>
          </p:nvSpPr>
          <p:spPr bwMode="auto">
            <a:xfrm>
              <a:off x="2895" y="1609"/>
              <a:ext cx="117"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ea typeface="楷体" panose="02010609060101010101" pitchFamily="49" charset="-122"/>
                </a:rPr>
                <a:t>    </a:t>
              </a:r>
            </a:p>
          </p:txBody>
        </p:sp>
        <p:sp>
          <p:nvSpPr>
            <p:cNvPr id="103" name="Rectangle 101"/>
            <p:cNvSpPr>
              <a:spLocks noChangeArrowheads="1"/>
            </p:cNvSpPr>
            <p:nvPr/>
          </p:nvSpPr>
          <p:spPr bwMode="auto">
            <a:xfrm>
              <a:off x="3057" y="1616"/>
              <a:ext cx="387"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zh-CN" altLang="en-US" sz="1600" b="1">
                  <a:ea typeface="楷体" panose="02010609060101010101" pitchFamily="49" charset="-122"/>
                </a:rPr>
                <a:t>段地址</a:t>
              </a:r>
            </a:p>
          </p:txBody>
        </p:sp>
        <p:sp>
          <p:nvSpPr>
            <p:cNvPr id="104" name="Rectangle 102"/>
            <p:cNvSpPr>
              <a:spLocks noChangeArrowheads="1"/>
            </p:cNvSpPr>
            <p:nvPr/>
          </p:nvSpPr>
          <p:spPr bwMode="auto">
            <a:xfrm>
              <a:off x="2289" y="1840"/>
              <a:ext cx="97"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楷体" panose="02010609060101010101" pitchFamily="49" charset="-122"/>
              </a:endParaRPr>
            </a:p>
          </p:txBody>
        </p:sp>
        <p:sp>
          <p:nvSpPr>
            <p:cNvPr id="105" name="Rectangle 103"/>
            <p:cNvSpPr>
              <a:spLocks noChangeArrowheads="1"/>
            </p:cNvSpPr>
            <p:nvPr/>
          </p:nvSpPr>
          <p:spPr bwMode="auto">
            <a:xfrm>
              <a:off x="2337" y="1865"/>
              <a:ext cx="66"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ea typeface="楷体" panose="02010609060101010101" pitchFamily="49" charset="-122"/>
                </a:rPr>
                <a:t>0</a:t>
              </a:r>
            </a:p>
          </p:txBody>
        </p:sp>
        <p:sp>
          <p:nvSpPr>
            <p:cNvPr id="106" name="Rectangle 104"/>
            <p:cNvSpPr>
              <a:spLocks noChangeArrowheads="1"/>
            </p:cNvSpPr>
            <p:nvPr/>
          </p:nvSpPr>
          <p:spPr bwMode="auto">
            <a:xfrm>
              <a:off x="2279" y="2022"/>
              <a:ext cx="98" cy="192"/>
            </a:xfrm>
            <a:prstGeom prst="rect">
              <a:avLst/>
            </a:prstGeom>
            <a:noFill/>
            <a:ln>
              <a:noFill/>
            </a:ln>
            <a:extLst>
              <a:ext uri="{909E8E84-426E-40DD-AFC4-6F175D3DCCD1}">
                <a14:hiddenFill xmlns:a14="http://schemas.microsoft.com/office/drawing/2010/main">
                  <a:solidFill>
                    <a:srgbClr val="0033CC"/>
                  </a:solidFill>
                </a14:hiddenFill>
              </a:ext>
              <a:ext uri="{91240B29-F687-4F45-9708-019B960494DF}">
                <a14:hiddenLine xmlns:a14="http://schemas.microsoft.com/office/drawing/2010/main" w="9525">
                  <a:solidFill>
                    <a:srgbClr val="0033CC"/>
                  </a:solidFill>
                  <a:miter lim="800000"/>
                  <a:headEnd/>
                  <a:tailEnd/>
                </a14:hiddenLine>
              </a:ext>
            </a:extLst>
          </p:spPr>
          <p:txBody>
            <a:bodyPr/>
            <a:lstStyle/>
            <a:p>
              <a:endParaRPr lang="zh-CN" altLang="en-US">
                <a:ea typeface="楷体" panose="02010609060101010101" pitchFamily="49" charset="-122"/>
              </a:endParaRPr>
            </a:p>
          </p:txBody>
        </p:sp>
        <p:sp>
          <p:nvSpPr>
            <p:cNvPr id="107" name="Rectangle 105"/>
            <p:cNvSpPr>
              <a:spLocks noChangeArrowheads="1"/>
            </p:cNvSpPr>
            <p:nvPr/>
          </p:nvSpPr>
          <p:spPr bwMode="auto">
            <a:xfrm>
              <a:off x="2328" y="2047"/>
              <a:ext cx="66"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ea typeface="楷体" panose="02010609060101010101" pitchFamily="49" charset="-122"/>
                </a:rPr>
                <a:t>1</a:t>
              </a:r>
            </a:p>
          </p:txBody>
        </p:sp>
        <p:sp>
          <p:nvSpPr>
            <p:cNvPr id="108" name="Rectangle 106"/>
            <p:cNvSpPr>
              <a:spLocks noChangeArrowheads="1"/>
            </p:cNvSpPr>
            <p:nvPr/>
          </p:nvSpPr>
          <p:spPr bwMode="auto">
            <a:xfrm>
              <a:off x="2280" y="2204"/>
              <a:ext cx="98" cy="191"/>
            </a:xfrm>
            <a:prstGeom prst="rect">
              <a:avLst/>
            </a:prstGeom>
            <a:noFill/>
            <a:ln>
              <a:noFill/>
            </a:ln>
            <a:extLst>
              <a:ext uri="{909E8E84-426E-40DD-AFC4-6F175D3DCCD1}">
                <a14:hiddenFill xmlns:a14="http://schemas.microsoft.com/office/drawing/2010/main">
                  <a:solidFill>
                    <a:srgbClr val="0033CC"/>
                  </a:solidFill>
                </a14:hiddenFill>
              </a:ext>
              <a:ext uri="{91240B29-F687-4F45-9708-019B960494DF}">
                <a14:hiddenLine xmlns:a14="http://schemas.microsoft.com/office/drawing/2010/main" w="9525">
                  <a:solidFill>
                    <a:srgbClr val="0033CC"/>
                  </a:solidFill>
                  <a:miter lim="800000"/>
                  <a:headEnd/>
                  <a:tailEnd/>
                </a14:hiddenLine>
              </a:ext>
            </a:extLst>
          </p:spPr>
          <p:txBody>
            <a:bodyPr/>
            <a:lstStyle/>
            <a:p>
              <a:endParaRPr lang="zh-CN" altLang="en-US">
                <a:ea typeface="楷体" panose="02010609060101010101" pitchFamily="49" charset="-122"/>
              </a:endParaRPr>
            </a:p>
          </p:txBody>
        </p:sp>
        <p:sp>
          <p:nvSpPr>
            <p:cNvPr id="109" name="Rectangle 107"/>
            <p:cNvSpPr>
              <a:spLocks noChangeArrowheads="1"/>
            </p:cNvSpPr>
            <p:nvPr/>
          </p:nvSpPr>
          <p:spPr bwMode="auto">
            <a:xfrm>
              <a:off x="2329" y="2229"/>
              <a:ext cx="66"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ea typeface="楷体" panose="02010609060101010101" pitchFamily="49" charset="-122"/>
                </a:rPr>
                <a:t>2</a:t>
              </a:r>
            </a:p>
          </p:txBody>
        </p:sp>
        <p:sp>
          <p:nvSpPr>
            <p:cNvPr id="110" name="Rectangle 108"/>
            <p:cNvSpPr>
              <a:spLocks noChangeArrowheads="1"/>
            </p:cNvSpPr>
            <p:nvPr/>
          </p:nvSpPr>
          <p:spPr bwMode="auto">
            <a:xfrm>
              <a:off x="2280" y="2386"/>
              <a:ext cx="98" cy="191"/>
            </a:xfrm>
            <a:prstGeom prst="rect">
              <a:avLst/>
            </a:prstGeom>
            <a:noFill/>
            <a:ln>
              <a:noFill/>
            </a:ln>
            <a:extLst>
              <a:ext uri="{909E8E84-426E-40DD-AFC4-6F175D3DCCD1}">
                <a14:hiddenFill xmlns:a14="http://schemas.microsoft.com/office/drawing/2010/main">
                  <a:solidFill>
                    <a:srgbClr val="0033CC"/>
                  </a:solidFill>
                </a14:hiddenFill>
              </a:ext>
              <a:ext uri="{91240B29-F687-4F45-9708-019B960494DF}">
                <a14:hiddenLine xmlns:a14="http://schemas.microsoft.com/office/drawing/2010/main" w="9525">
                  <a:solidFill>
                    <a:srgbClr val="0033CC"/>
                  </a:solidFill>
                  <a:miter lim="800000"/>
                  <a:headEnd/>
                  <a:tailEnd/>
                </a14:hiddenLine>
              </a:ext>
            </a:extLst>
          </p:spPr>
          <p:txBody>
            <a:bodyPr/>
            <a:lstStyle/>
            <a:p>
              <a:endParaRPr lang="zh-CN" altLang="en-US">
                <a:ea typeface="楷体" panose="02010609060101010101" pitchFamily="49" charset="-122"/>
              </a:endParaRPr>
            </a:p>
          </p:txBody>
        </p:sp>
        <p:sp>
          <p:nvSpPr>
            <p:cNvPr id="111" name="Rectangle 109"/>
            <p:cNvSpPr>
              <a:spLocks noChangeArrowheads="1"/>
            </p:cNvSpPr>
            <p:nvPr/>
          </p:nvSpPr>
          <p:spPr bwMode="auto">
            <a:xfrm>
              <a:off x="2329" y="2411"/>
              <a:ext cx="66"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ea typeface="楷体" panose="02010609060101010101" pitchFamily="49" charset="-122"/>
                </a:rPr>
                <a:t>3</a:t>
              </a:r>
            </a:p>
          </p:txBody>
        </p:sp>
        <p:sp>
          <p:nvSpPr>
            <p:cNvPr id="112" name="Rectangle 110"/>
            <p:cNvSpPr>
              <a:spLocks noChangeArrowheads="1"/>
            </p:cNvSpPr>
            <p:nvPr/>
          </p:nvSpPr>
          <p:spPr bwMode="auto">
            <a:xfrm>
              <a:off x="2280" y="2567"/>
              <a:ext cx="98" cy="192"/>
            </a:xfrm>
            <a:prstGeom prst="rect">
              <a:avLst/>
            </a:prstGeom>
            <a:noFill/>
            <a:ln>
              <a:noFill/>
            </a:ln>
            <a:extLst>
              <a:ext uri="{909E8E84-426E-40DD-AFC4-6F175D3DCCD1}">
                <a14:hiddenFill xmlns:a14="http://schemas.microsoft.com/office/drawing/2010/main">
                  <a:solidFill>
                    <a:srgbClr val="0033CC"/>
                  </a:solidFill>
                </a14:hiddenFill>
              </a:ext>
              <a:ext uri="{91240B29-F687-4F45-9708-019B960494DF}">
                <a14:hiddenLine xmlns:a14="http://schemas.microsoft.com/office/drawing/2010/main" w="9525">
                  <a:solidFill>
                    <a:srgbClr val="0033CC"/>
                  </a:solidFill>
                  <a:miter lim="800000"/>
                  <a:headEnd/>
                  <a:tailEnd/>
                </a14:hiddenLine>
              </a:ext>
            </a:extLst>
          </p:spPr>
          <p:txBody>
            <a:bodyPr/>
            <a:lstStyle/>
            <a:p>
              <a:endParaRPr lang="zh-CN" altLang="en-US">
                <a:ea typeface="楷体" panose="02010609060101010101" pitchFamily="49" charset="-122"/>
              </a:endParaRPr>
            </a:p>
          </p:txBody>
        </p:sp>
        <p:sp>
          <p:nvSpPr>
            <p:cNvPr id="113" name="Rectangle 111"/>
            <p:cNvSpPr>
              <a:spLocks noChangeArrowheads="1"/>
            </p:cNvSpPr>
            <p:nvPr/>
          </p:nvSpPr>
          <p:spPr bwMode="auto">
            <a:xfrm>
              <a:off x="2329" y="2593"/>
              <a:ext cx="66"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en-US" altLang="zh-CN" sz="1600" b="1">
                  <a:ea typeface="楷体" panose="02010609060101010101" pitchFamily="49" charset="-122"/>
                </a:rPr>
                <a:t>4</a:t>
              </a:r>
            </a:p>
          </p:txBody>
        </p:sp>
        <p:sp>
          <p:nvSpPr>
            <p:cNvPr id="114" name="Freeform 112"/>
            <p:cNvSpPr>
              <a:spLocks/>
            </p:cNvSpPr>
            <p:nvPr/>
          </p:nvSpPr>
          <p:spPr bwMode="auto">
            <a:xfrm>
              <a:off x="3729" y="1929"/>
              <a:ext cx="515" cy="380"/>
            </a:xfrm>
            <a:custGeom>
              <a:avLst/>
              <a:gdLst>
                <a:gd name="T0" fmla="*/ 16 w 610"/>
                <a:gd name="T1" fmla="*/ 0 h 570"/>
                <a:gd name="T2" fmla="*/ 0 w 610"/>
                <a:gd name="T3" fmla="*/ 17 h 570"/>
                <a:gd name="T4" fmla="*/ 594 w 610"/>
                <a:gd name="T5" fmla="*/ 570 h 570"/>
                <a:gd name="T6" fmla="*/ 610 w 610"/>
                <a:gd name="T7" fmla="*/ 553 h 570"/>
                <a:gd name="T8" fmla="*/ 16 w 610"/>
                <a:gd name="T9" fmla="*/ 0 h 570"/>
              </a:gdLst>
              <a:ahLst/>
              <a:cxnLst>
                <a:cxn ang="0">
                  <a:pos x="T0" y="T1"/>
                </a:cxn>
                <a:cxn ang="0">
                  <a:pos x="T2" y="T3"/>
                </a:cxn>
                <a:cxn ang="0">
                  <a:pos x="T4" y="T5"/>
                </a:cxn>
                <a:cxn ang="0">
                  <a:pos x="T6" y="T7"/>
                </a:cxn>
                <a:cxn ang="0">
                  <a:pos x="T8" y="T9"/>
                </a:cxn>
              </a:cxnLst>
              <a:rect l="0" t="0" r="r" b="b"/>
              <a:pathLst>
                <a:path w="610" h="570">
                  <a:moveTo>
                    <a:pt x="16" y="0"/>
                  </a:moveTo>
                  <a:lnTo>
                    <a:pt x="0" y="17"/>
                  </a:lnTo>
                  <a:lnTo>
                    <a:pt x="594" y="570"/>
                  </a:lnTo>
                  <a:lnTo>
                    <a:pt x="610" y="553"/>
                  </a:lnTo>
                  <a:lnTo>
                    <a:pt x="16" y="0"/>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15" name="Freeform 113"/>
            <p:cNvSpPr>
              <a:spLocks/>
            </p:cNvSpPr>
            <p:nvPr/>
          </p:nvSpPr>
          <p:spPr bwMode="auto">
            <a:xfrm>
              <a:off x="4204" y="2276"/>
              <a:ext cx="97" cy="74"/>
            </a:xfrm>
            <a:custGeom>
              <a:avLst/>
              <a:gdLst>
                <a:gd name="T0" fmla="*/ 0 w 115"/>
                <a:gd name="T1" fmla="*/ 78 h 112"/>
                <a:gd name="T2" fmla="*/ 115 w 115"/>
                <a:gd name="T3" fmla="*/ 112 h 112"/>
                <a:gd name="T4" fmla="*/ 73 w 115"/>
                <a:gd name="T5" fmla="*/ 0 h 112"/>
                <a:gd name="T6" fmla="*/ 0 w 115"/>
                <a:gd name="T7" fmla="*/ 78 h 112"/>
              </a:gdLst>
              <a:ahLst/>
              <a:cxnLst>
                <a:cxn ang="0">
                  <a:pos x="T0" y="T1"/>
                </a:cxn>
                <a:cxn ang="0">
                  <a:pos x="T2" y="T3"/>
                </a:cxn>
                <a:cxn ang="0">
                  <a:pos x="T4" y="T5"/>
                </a:cxn>
                <a:cxn ang="0">
                  <a:pos x="T6" y="T7"/>
                </a:cxn>
              </a:cxnLst>
              <a:rect l="0" t="0" r="r" b="b"/>
              <a:pathLst>
                <a:path w="115" h="112">
                  <a:moveTo>
                    <a:pt x="0" y="78"/>
                  </a:moveTo>
                  <a:lnTo>
                    <a:pt x="115" y="112"/>
                  </a:lnTo>
                  <a:lnTo>
                    <a:pt x="73" y="0"/>
                  </a:lnTo>
                  <a:lnTo>
                    <a:pt x="0" y="78"/>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16" name="Freeform 114"/>
            <p:cNvSpPr>
              <a:spLocks/>
            </p:cNvSpPr>
            <p:nvPr/>
          </p:nvSpPr>
          <p:spPr bwMode="auto">
            <a:xfrm>
              <a:off x="3733" y="1968"/>
              <a:ext cx="485" cy="166"/>
            </a:xfrm>
            <a:custGeom>
              <a:avLst/>
              <a:gdLst>
                <a:gd name="T0" fmla="*/ 0 w 575"/>
                <a:gd name="T1" fmla="*/ 227 h 249"/>
                <a:gd name="T2" fmla="*/ 9 w 575"/>
                <a:gd name="T3" fmla="*/ 249 h 249"/>
                <a:gd name="T4" fmla="*/ 575 w 575"/>
                <a:gd name="T5" fmla="*/ 22 h 249"/>
                <a:gd name="T6" fmla="*/ 566 w 575"/>
                <a:gd name="T7" fmla="*/ 0 h 249"/>
                <a:gd name="T8" fmla="*/ 0 w 575"/>
                <a:gd name="T9" fmla="*/ 227 h 249"/>
              </a:gdLst>
              <a:ahLst/>
              <a:cxnLst>
                <a:cxn ang="0">
                  <a:pos x="T0" y="T1"/>
                </a:cxn>
                <a:cxn ang="0">
                  <a:pos x="T2" y="T3"/>
                </a:cxn>
                <a:cxn ang="0">
                  <a:pos x="T4" y="T5"/>
                </a:cxn>
                <a:cxn ang="0">
                  <a:pos x="T6" y="T7"/>
                </a:cxn>
                <a:cxn ang="0">
                  <a:pos x="T8" y="T9"/>
                </a:cxn>
              </a:cxnLst>
              <a:rect l="0" t="0" r="r" b="b"/>
              <a:pathLst>
                <a:path w="575" h="249">
                  <a:moveTo>
                    <a:pt x="0" y="227"/>
                  </a:moveTo>
                  <a:lnTo>
                    <a:pt x="9" y="249"/>
                  </a:lnTo>
                  <a:lnTo>
                    <a:pt x="575" y="22"/>
                  </a:lnTo>
                  <a:lnTo>
                    <a:pt x="566" y="0"/>
                  </a:lnTo>
                  <a:lnTo>
                    <a:pt x="0" y="227"/>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17" name="Freeform 115"/>
            <p:cNvSpPr>
              <a:spLocks/>
            </p:cNvSpPr>
            <p:nvPr/>
          </p:nvSpPr>
          <p:spPr bwMode="auto">
            <a:xfrm>
              <a:off x="4195" y="1943"/>
              <a:ext cx="100" cy="66"/>
            </a:xfrm>
            <a:custGeom>
              <a:avLst/>
              <a:gdLst>
                <a:gd name="T0" fmla="*/ 40 w 119"/>
                <a:gd name="T1" fmla="*/ 99 h 99"/>
                <a:gd name="T2" fmla="*/ 119 w 119"/>
                <a:gd name="T3" fmla="*/ 9 h 99"/>
                <a:gd name="T4" fmla="*/ 0 w 119"/>
                <a:gd name="T5" fmla="*/ 0 h 99"/>
                <a:gd name="T6" fmla="*/ 40 w 119"/>
                <a:gd name="T7" fmla="*/ 99 h 99"/>
              </a:gdLst>
              <a:ahLst/>
              <a:cxnLst>
                <a:cxn ang="0">
                  <a:pos x="T0" y="T1"/>
                </a:cxn>
                <a:cxn ang="0">
                  <a:pos x="T2" y="T3"/>
                </a:cxn>
                <a:cxn ang="0">
                  <a:pos x="T4" y="T5"/>
                </a:cxn>
                <a:cxn ang="0">
                  <a:pos x="T6" y="T7"/>
                </a:cxn>
              </a:cxnLst>
              <a:rect l="0" t="0" r="r" b="b"/>
              <a:pathLst>
                <a:path w="119" h="99">
                  <a:moveTo>
                    <a:pt x="40" y="99"/>
                  </a:moveTo>
                  <a:lnTo>
                    <a:pt x="119" y="9"/>
                  </a:lnTo>
                  <a:lnTo>
                    <a:pt x="0" y="0"/>
                  </a:lnTo>
                  <a:lnTo>
                    <a:pt x="40" y="99"/>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18" name="Freeform 116"/>
            <p:cNvSpPr>
              <a:spLocks/>
            </p:cNvSpPr>
            <p:nvPr/>
          </p:nvSpPr>
          <p:spPr bwMode="auto">
            <a:xfrm>
              <a:off x="3687" y="2314"/>
              <a:ext cx="570" cy="703"/>
            </a:xfrm>
            <a:custGeom>
              <a:avLst/>
              <a:gdLst>
                <a:gd name="T0" fmla="*/ 20 w 676"/>
                <a:gd name="T1" fmla="*/ 0 h 1055"/>
                <a:gd name="T2" fmla="*/ 0 w 676"/>
                <a:gd name="T3" fmla="*/ 13 h 1055"/>
                <a:gd name="T4" fmla="*/ 656 w 676"/>
                <a:gd name="T5" fmla="*/ 1055 h 1055"/>
                <a:gd name="T6" fmla="*/ 676 w 676"/>
                <a:gd name="T7" fmla="*/ 1042 h 1055"/>
                <a:gd name="T8" fmla="*/ 20 w 676"/>
                <a:gd name="T9" fmla="*/ 0 h 1055"/>
              </a:gdLst>
              <a:ahLst/>
              <a:cxnLst>
                <a:cxn ang="0">
                  <a:pos x="T0" y="T1"/>
                </a:cxn>
                <a:cxn ang="0">
                  <a:pos x="T2" y="T3"/>
                </a:cxn>
                <a:cxn ang="0">
                  <a:pos x="T4" y="T5"/>
                </a:cxn>
                <a:cxn ang="0">
                  <a:pos x="T6" y="T7"/>
                </a:cxn>
                <a:cxn ang="0">
                  <a:pos x="T8" y="T9"/>
                </a:cxn>
              </a:cxnLst>
              <a:rect l="0" t="0" r="r" b="b"/>
              <a:pathLst>
                <a:path w="676" h="1055">
                  <a:moveTo>
                    <a:pt x="20" y="0"/>
                  </a:moveTo>
                  <a:lnTo>
                    <a:pt x="0" y="13"/>
                  </a:lnTo>
                  <a:lnTo>
                    <a:pt x="656" y="1055"/>
                  </a:lnTo>
                  <a:lnTo>
                    <a:pt x="676" y="1042"/>
                  </a:lnTo>
                  <a:lnTo>
                    <a:pt x="20" y="0"/>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19" name="Freeform 117"/>
            <p:cNvSpPr>
              <a:spLocks/>
            </p:cNvSpPr>
            <p:nvPr/>
          </p:nvSpPr>
          <p:spPr bwMode="auto">
            <a:xfrm>
              <a:off x="4208" y="2992"/>
              <a:ext cx="87" cy="79"/>
            </a:xfrm>
            <a:custGeom>
              <a:avLst/>
              <a:gdLst>
                <a:gd name="T0" fmla="*/ 0 w 103"/>
                <a:gd name="T1" fmla="*/ 57 h 119"/>
                <a:gd name="T2" fmla="*/ 103 w 103"/>
                <a:gd name="T3" fmla="*/ 119 h 119"/>
                <a:gd name="T4" fmla="*/ 91 w 103"/>
                <a:gd name="T5" fmla="*/ 0 h 119"/>
                <a:gd name="T6" fmla="*/ 0 w 103"/>
                <a:gd name="T7" fmla="*/ 57 h 119"/>
              </a:gdLst>
              <a:ahLst/>
              <a:cxnLst>
                <a:cxn ang="0">
                  <a:pos x="T0" y="T1"/>
                </a:cxn>
                <a:cxn ang="0">
                  <a:pos x="T2" y="T3"/>
                </a:cxn>
                <a:cxn ang="0">
                  <a:pos x="T4" y="T5"/>
                </a:cxn>
                <a:cxn ang="0">
                  <a:pos x="T6" y="T7"/>
                </a:cxn>
              </a:cxnLst>
              <a:rect l="0" t="0" r="r" b="b"/>
              <a:pathLst>
                <a:path w="103" h="119">
                  <a:moveTo>
                    <a:pt x="0" y="57"/>
                  </a:moveTo>
                  <a:lnTo>
                    <a:pt x="103" y="119"/>
                  </a:lnTo>
                  <a:lnTo>
                    <a:pt x="91" y="0"/>
                  </a:lnTo>
                  <a:lnTo>
                    <a:pt x="0" y="57"/>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20" name="Freeform 118"/>
            <p:cNvSpPr>
              <a:spLocks/>
            </p:cNvSpPr>
            <p:nvPr/>
          </p:nvSpPr>
          <p:spPr bwMode="auto">
            <a:xfrm>
              <a:off x="3686" y="2474"/>
              <a:ext cx="586" cy="965"/>
            </a:xfrm>
            <a:custGeom>
              <a:avLst/>
              <a:gdLst>
                <a:gd name="T0" fmla="*/ 22 w 695"/>
                <a:gd name="T1" fmla="*/ 0 h 1450"/>
                <a:gd name="T2" fmla="*/ 0 w 695"/>
                <a:gd name="T3" fmla="*/ 10 h 1450"/>
                <a:gd name="T4" fmla="*/ 673 w 695"/>
                <a:gd name="T5" fmla="*/ 1450 h 1450"/>
                <a:gd name="T6" fmla="*/ 695 w 695"/>
                <a:gd name="T7" fmla="*/ 1440 h 1450"/>
                <a:gd name="T8" fmla="*/ 22 w 695"/>
                <a:gd name="T9" fmla="*/ 0 h 1450"/>
              </a:gdLst>
              <a:ahLst/>
              <a:cxnLst>
                <a:cxn ang="0">
                  <a:pos x="T0" y="T1"/>
                </a:cxn>
                <a:cxn ang="0">
                  <a:pos x="T2" y="T3"/>
                </a:cxn>
                <a:cxn ang="0">
                  <a:pos x="T4" y="T5"/>
                </a:cxn>
                <a:cxn ang="0">
                  <a:pos x="T6" y="T7"/>
                </a:cxn>
                <a:cxn ang="0">
                  <a:pos x="T8" y="T9"/>
                </a:cxn>
              </a:cxnLst>
              <a:rect l="0" t="0" r="r" b="b"/>
              <a:pathLst>
                <a:path w="695" h="1450">
                  <a:moveTo>
                    <a:pt x="22" y="0"/>
                  </a:moveTo>
                  <a:lnTo>
                    <a:pt x="0" y="10"/>
                  </a:lnTo>
                  <a:lnTo>
                    <a:pt x="673" y="1450"/>
                  </a:lnTo>
                  <a:lnTo>
                    <a:pt x="695" y="1440"/>
                  </a:lnTo>
                  <a:lnTo>
                    <a:pt x="22" y="0"/>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21" name="Freeform 119"/>
            <p:cNvSpPr>
              <a:spLocks/>
            </p:cNvSpPr>
            <p:nvPr/>
          </p:nvSpPr>
          <p:spPr bwMode="auto">
            <a:xfrm>
              <a:off x="4222" y="3420"/>
              <a:ext cx="82" cy="79"/>
            </a:xfrm>
            <a:custGeom>
              <a:avLst/>
              <a:gdLst>
                <a:gd name="T0" fmla="*/ 0 w 97"/>
                <a:gd name="T1" fmla="*/ 45 h 119"/>
                <a:gd name="T2" fmla="*/ 94 w 97"/>
                <a:gd name="T3" fmla="*/ 119 h 119"/>
                <a:gd name="T4" fmla="*/ 97 w 97"/>
                <a:gd name="T5" fmla="*/ 0 h 119"/>
                <a:gd name="T6" fmla="*/ 0 w 97"/>
                <a:gd name="T7" fmla="*/ 45 h 119"/>
              </a:gdLst>
              <a:ahLst/>
              <a:cxnLst>
                <a:cxn ang="0">
                  <a:pos x="T0" y="T1"/>
                </a:cxn>
                <a:cxn ang="0">
                  <a:pos x="T2" y="T3"/>
                </a:cxn>
                <a:cxn ang="0">
                  <a:pos x="T4" y="T5"/>
                </a:cxn>
                <a:cxn ang="0">
                  <a:pos x="T6" y="T7"/>
                </a:cxn>
              </a:cxnLst>
              <a:rect l="0" t="0" r="r" b="b"/>
              <a:pathLst>
                <a:path w="97" h="119">
                  <a:moveTo>
                    <a:pt x="0" y="45"/>
                  </a:moveTo>
                  <a:lnTo>
                    <a:pt x="94" y="119"/>
                  </a:lnTo>
                  <a:lnTo>
                    <a:pt x="97" y="0"/>
                  </a:lnTo>
                  <a:lnTo>
                    <a:pt x="0" y="45"/>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22" name="Freeform 120"/>
            <p:cNvSpPr>
              <a:spLocks/>
            </p:cNvSpPr>
            <p:nvPr/>
          </p:nvSpPr>
          <p:spPr bwMode="auto">
            <a:xfrm>
              <a:off x="3694" y="2662"/>
              <a:ext cx="517" cy="97"/>
            </a:xfrm>
            <a:custGeom>
              <a:avLst/>
              <a:gdLst>
                <a:gd name="T0" fmla="*/ 5 w 613"/>
                <a:gd name="T1" fmla="*/ 0 h 146"/>
                <a:gd name="T2" fmla="*/ 0 w 613"/>
                <a:gd name="T3" fmla="*/ 23 h 146"/>
                <a:gd name="T4" fmla="*/ 608 w 613"/>
                <a:gd name="T5" fmla="*/ 146 h 146"/>
                <a:gd name="T6" fmla="*/ 613 w 613"/>
                <a:gd name="T7" fmla="*/ 123 h 146"/>
                <a:gd name="T8" fmla="*/ 5 w 613"/>
                <a:gd name="T9" fmla="*/ 0 h 146"/>
              </a:gdLst>
              <a:ahLst/>
              <a:cxnLst>
                <a:cxn ang="0">
                  <a:pos x="T0" y="T1"/>
                </a:cxn>
                <a:cxn ang="0">
                  <a:pos x="T2" y="T3"/>
                </a:cxn>
                <a:cxn ang="0">
                  <a:pos x="T4" y="T5"/>
                </a:cxn>
                <a:cxn ang="0">
                  <a:pos x="T6" y="T7"/>
                </a:cxn>
                <a:cxn ang="0">
                  <a:pos x="T8" y="T9"/>
                </a:cxn>
              </a:cxnLst>
              <a:rect l="0" t="0" r="r" b="b"/>
              <a:pathLst>
                <a:path w="613" h="146">
                  <a:moveTo>
                    <a:pt x="5" y="0"/>
                  </a:moveTo>
                  <a:lnTo>
                    <a:pt x="0" y="23"/>
                  </a:lnTo>
                  <a:lnTo>
                    <a:pt x="608" y="146"/>
                  </a:lnTo>
                  <a:lnTo>
                    <a:pt x="613" y="123"/>
                  </a:lnTo>
                  <a:lnTo>
                    <a:pt x="5" y="0"/>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23" name="Freeform 121"/>
            <p:cNvSpPr>
              <a:spLocks/>
            </p:cNvSpPr>
            <p:nvPr/>
          </p:nvSpPr>
          <p:spPr bwMode="auto">
            <a:xfrm>
              <a:off x="4197" y="2716"/>
              <a:ext cx="98" cy="70"/>
            </a:xfrm>
            <a:custGeom>
              <a:avLst/>
              <a:gdLst>
                <a:gd name="T0" fmla="*/ 0 w 116"/>
                <a:gd name="T1" fmla="*/ 105 h 105"/>
                <a:gd name="T2" fmla="*/ 116 w 116"/>
                <a:gd name="T3" fmla="*/ 73 h 105"/>
                <a:gd name="T4" fmla="*/ 21 w 116"/>
                <a:gd name="T5" fmla="*/ 0 h 105"/>
                <a:gd name="T6" fmla="*/ 0 w 116"/>
                <a:gd name="T7" fmla="*/ 105 h 105"/>
              </a:gdLst>
              <a:ahLst/>
              <a:cxnLst>
                <a:cxn ang="0">
                  <a:pos x="T0" y="T1"/>
                </a:cxn>
                <a:cxn ang="0">
                  <a:pos x="T2" y="T3"/>
                </a:cxn>
                <a:cxn ang="0">
                  <a:pos x="T4" y="T5"/>
                </a:cxn>
                <a:cxn ang="0">
                  <a:pos x="T6" y="T7"/>
                </a:cxn>
              </a:cxnLst>
              <a:rect l="0" t="0" r="r" b="b"/>
              <a:pathLst>
                <a:path w="116" h="105">
                  <a:moveTo>
                    <a:pt x="0" y="105"/>
                  </a:moveTo>
                  <a:lnTo>
                    <a:pt x="116" y="73"/>
                  </a:lnTo>
                  <a:lnTo>
                    <a:pt x="21" y="0"/>
                  </a:lnTo>
                  <a:lnTo>
                    <a:pt x="0" y="105"/>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24" name="Rectangle 122"/>
            <p:cNvSpPr>
              <a:spLocks noChangeArrowheads="1"/>
            </p:cNvSpPr>
            <p:nvPr/>
          </p:nvSpPr>
          <p:spPr bwMode="auto">
            <a:xfrm>
              <a:off x="3534" y="1927"/>
              <a:ext cx="202" cy="16"/>
            </a:xfrm>
            <a:prstGeom prst="rect">
              <a:avLst/>
            </a:prstGeom>
            <a:solidFill>
              <a:srgbClr val="0033CC"/>
            </a:solidFill>
            <a:ln w="9525">
              <a:solidFill>
                <a:srgbClr val="0033CC"/>
              </a:solidFill>
              <a:miter lim="800000"/>
              <a:headEnd/>
              <a:tailEnd/>
            </a:ln>
          </p:spPr>
          <p:txBody>
            <a:bodyPr/>
            <a:lstStyle/>
            <a:p>
              <a:endParaRPr lang="zh-CN" altLang="en-US">
                <a:ea typeface="楷体" panose="02010609060101010101" pitchFamily="49" charset="-122"/>
              </a:endParaRPr>
            </a:p>
          </p:txBody>
        </p:sp>
        <p:sp>
          <p:nvSpPr>
            <p:cNvPr id="125" name="Rectangle 123"/>
            <p:cNvSpPr>
              <a:spLocks noChangeArrowheads="1"/>
            </p:cNvSpPr>
            <p:nvPr/>
          </p:nvSpPr>
          <p:spPr bwMode="auto">
            <a:xfrm>
              <a:off x="3534" y="2119"/>
              <a:ext cx="202" cy="16"/>
            </a:xfrm>
            <a:prstGeom prst="rect">
              <a:avLst/>
            </a:prstGeom>
            <a:solidFill>
              <a:srgbClr val="0033CC"/>
            </a:solidFill>
            <a:ln w="9525">
              <a:solidFill>
                <a:srgbClr val="0033CC"/>
              </a:solidFill>
              <a:miter lim="800000"/>
              <a:headEnd/>
              <a:tailEnd/>
            </a:ln>
          </p:spPr>
          <p:txBody>
            <a:bodyPr/>
            <a:lstStyle/>
            <a:p>
              <a:endParaRPr lang="zh-CN" altLang="en-US">
                <a:ea typeface="楷体" panose="02010609060101010101" pitchFamily="49" charset="-122"/>
              </a:endParaRPr>
            </a:p>
          </p:txBody>
        </p:sp>
        <p:sp>
          <p:nvSpPr>
            <p:cNvPr id="126" name="Rectangle 124"/>
            <p:cNvSpPr>
              <a:spLocks noChangeArrowheads="1"/>
            </p:cNvSpPr>
            <p:nvPr/>
          </p:nvSpPr>
          <p:spPr bwMode="auto">
            <a:xfrm>
              <a:off x="3493" y="2310"/>
              <a:ext cx="203" cy="16"/>
            </a:xfrm>
            <a:prstGeom prst="rect">
              <a:avLst/>
            </a:prstGeom>
            <a:solidFill>
              <a:srgbClr val="0033CC"/>
            </a:solidFill>
            <a:ln w="9525">
              <a:solidFill>
                <a:srgbClr val="0033CC"/>
              </a:solidFill>
              <a:miter lim="800000"/>
              <a:headEnd/>
              <a:tailEnd/>
            </a:ln>
          </p:spPr>
          <p:txBody>
            <a:bodyPr/>
            <a:lstStyle/>
            <a:p>
              <a:endParaRPr lang="zh-CN" altLang="en-US">
                <a:ea typeface="楷体" panose="02010609060101010101" pitchFamily="49" charset="-122"/>
              </a:endParaRPr>
            </a:p>
          </p:txBody>
        </p:sp>
        <p:sp>
          <p:nvSpPr>
            <p:cNvPr id="127" name="Rectangle 125"/>
            <p:cNvSpPr>
              <a:spLocks noChangeArrowheads="1"/>
            </p:cNvSpPr>
            <p:nvPr/>
          </p:nvSpPr>
          <p:spPr bwMode="auto">
            <a:xfrm>
              <a:off x="3493" y="2469"/>
              <a:ext cx="203" cy="16"/>
            </a:xfrm>
            <a:prstGeom prst="rect">
              <a:avLst/>
            </a:prstGeom>
            <a:solidFill>
              <a:srgbClr val="0033CC"/>
            </a:solidFill>
            <a:ln w="9525">
              <a:solidFill>
                <a:srgbClr val="0033CC"/>
              </a:solidFill>
              <a:miter lim="800000"/>
              <a:headEnd/>
              <a:tailEnd/>
            </a:ln>
          </p:spPr>
          <p:txBody>
            <a:bodyPr/>
            <a:lstStyle/>
            <a:p>
              <a:endParaRPr lang="zh-CN" altLang="en-US">
                <a:ea typeface="楷体" panose="02010609060101010101" pitchFamily="49" charset="-122"/>
              </a:endParaRPr>
            </a:p>
          </p:txBody>
        </p:sp>
        <p:sp>
          <p:nvSpPr>
            <p:cNvPr id="128" name="Rectangle 126"/>
            <p:cNvSpPr>
              <a:spLocks noChangeArrowheads="1"/>
            </p:cNvSpPr>
            <p:nvPr/>
          </p:nvSpPr>
          <p:spPr bwMode="auto">
            <a:xfrm>
              <a:off x="3493" y="2661"/>
              <a:ext cx="203" cy="16"/>
            </a:xfrm>
            <a:prstGeom prst="rect">
              <a:avLst/>
            </a:prstGeom>
            <a:solidFill>
              <a:srgbClr val="0033CC"/>
            </a:solidFill>
            <a:ln w="9525">
              <a:solidFill>
                <a:srgbClr val="0033CC"/>
              </a:solidFill>
              <a:miter lim="800000"/>
              <a:headEnd/>
              <a:tailEnd/>
            </a:ln>
          </p:spPr>
          <p:txBody>
            <a:bodyPr/>
            <a:lstStyle/>
            <a:p>
              <a:endParaRPr lang="zh-CN" altLang="en-US">
                <a:ea typeface="楷体" panose="02010609060101010101" pitchFamily="49" charset="-122"/>
              </a:endParaRPr>
            </a:p>
          </p:txBody>
        </p:sp>
        <p:sp>
          <p:nvSpPr>
            <p:cNvPr id="129" name="Freeform 127"/>
            <p:cNvSpPr>
              <a:spLocks/>
            </p:cNvSpPr>
            <p:nvPr/>
          </p:nvSpPr>
          <p:spPr bwMode="auto">
            <a:xfrm>
              <a:off x="1909" y="1831"/>
              <a:ext cx="20" cy="16"/>
            </a:xfrm>
            <a:custGeom>
              <a:avLst/>
              <a:gdLst>
                <a:gd name="T0" fmla="*/ 17 w 24"/>
                <a:gd name="T1" fmla="*/ 1 h 24"/>
                <a:gd name="T2" fmla="*/ 12 w 24"/>
                <a:gd name="T3" fmla="*/ 0 h 24"/>
                <a:gd name="T4" fmla="*/ 7 w 24"/>
                <a:gd name="T5" fmla="*/ 1 h 24"/>
                <a:gd name="T6" fmla="*/ 4 w 24"/>
                <a:gd name="T7" fmla="*/ 4 h 24"/>
                <a:gd name="T8" fmla="*/ 1 w 24"/>
                <a:gd name="T9" fmla="*/ 7 h 24"/>
                <a:gd name="T10" fmla="*/ 0 w 24"/>
                <a:gd name="T11" fmla="*/ 12 h 24"/>
                <a:gd name="T12" fmla="*/ 1 w 24"/>
                <a:gd name="T13" fmla="*/ 17 h 24"/>
                <a:gd name="T14" fmla="*/ 4 w 24"/>
                <a:gd name="T15" fmla="*/ 20 h 24"/>
                <a:gd name="T16" fmla="*/ 8 w 24"/>
                <a:gd name="T17" fmla="*/ 23 h 24"/>
                <a:gd name="T18" fmla="*/ 8 w 24"/>
                <a:gd name="T19" fmla="*/ 23 h 24"/>
                <a:gd name="T20" fmla="*/ 12 w 24"/>
                <a:gd name="T21" fmla="*/ 24 h 24"/>
                <a:gd name="T22" fmla="*/ 17 w 24"/>
                <a:gd name="T23" fmla="*/ 23 h 24"/>
                <a:gd name="T24" fmla="*/ 20 w 24"/>
                <a:gd name="T25" fmla="*/ 20 h 24"/>
                <a:gd name="T26" fmla="*/ 23 w 24"/>
                <a:gd name="T27" fmla="*/ 17 h 24"/>
                <a:gd name="T28" fmla="*/ 24 w 24"/>
                <a:gd name="T29" fmla="*/ 12 h 24"/>
                <a:gd name="T30" fmla="*/ 23 w 24"/>
                <a:gd name="T31" fmla="*/ 7 h 24"/>
                <a:gd name="T32" fmla="*/ 20 w 24"/>
                <a:gd name="T33" fmla="*/ 4 h 24"/>
                <a:gd name="T34" fmla="*/ 17 w 24"/>
                <a:gd name="T35" fmla="*/ 1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17" y="1"/>
                  </a:moveTo>
                  <a:lnTo>
                    <a:pt x="12" y="0"/>
                  </a:lnTo>
                  <a:lnTo>
                    <a:pt x="7" y="1"/>
                  </a:lnTo>
                  <a:lnTo>
                    <a:pt x="4" y="4"/>
                  </a:lnTo>
                  <a:lnTo>
                    <a:pt x="1" y="7"/>
                  </a:lnTo>
                  <a:lnTo>
                    <a:pt x="0" y="12"/>
                  </a:lnTo>
                  <a:lnTo>
                    <a:pt x="1" y="17"/>
                  </a:lnTo>
                  <a:lnTo>
                    <a:pt x="4" y="20"/>
                  </a:lnTo>
                  <a:lnTo>
                    <a:pt x="8" y="23"/>
                  </a:lnTo>
                  <a:lnTo>
                    <a:pt x="8" y="23"/>
                  </a:lnTo>
                  <a:lnTo>
                    <a:pt x="12" y="24"/>
                  </a:lnTo>
                  <a:lnTo>
                    <a:pt x="17" y="23"/>
                  </a:lnTo>
                  <a:lnTo>
                    <a:pt x="20" y="20"/>
                  </a:lnTo>
                  <a:lnTo>
                    <a:pt x="23" y="17"/>
                  </a:lnTo>
                  <a:lnTo>
                    <a:pt x="24" y="12"/>
                  </a:lnTo>
                  <a:lnTo>
                    <a:pt x="23" y="7"/>
                  </a:lnTo>
                  <a:lnTo>
                    <a:pt x="20" y="4"/>
                  </a:lnTo>
                  <a:lnTo>
                    <a:pt x="17" y="1"/>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30" name="Freeform 128"/>
            <p:cNvSpPr>
              <a:spLocks/>
            </p:cNvSpPr>
            <p:nvPr/>
          </p:nvSpPr>
          <p:spPr bwMode="auto">
            <a:xfrm>
              <a:off x="1948" y="1840"/>
              <a:ext cx="20" cy="16"/>
            </a:xfrm>
            <a:custGeom>
              <a:avLst/>
              <a:gdLst>
                <a:gd name="T0" fmla="*/ 17 w 24"/>
                <a:gd name="T1" fmla="*/ 1 h 24"/>
                <a:gd name="T2" fmla="*/ 12 w 24"/>
                <a:gd name="T3" fmla="*/ 0 h 24"/>
                <a:gd name="T4" fmla="*/ 7 w 24"/>
                <a:gd name="T5" fmla="*/ 1 h 24"/>
                <a:gd name="T6" fmla="*/ 4 w 24"/>
                <a:gd name="T7" fmla="*/ 3 h 24"/>
                <a:gd name="T8" fmla="*/ 1 w 24"/>
                <a:gd name="T9" fmla="*/ 7 h 24"/>
                <a:gd name="T10" fmla="*/ 0 w 24"/>
                <a:gd name="T11" fmla="*/ 12 h 24"/>
                <a:gd name="T12" fmla="*/ 1 w 24"/>
                <a:gd name="T13" fmla="*/ 16 h 24"/>
                <a:gd name="T14" fmla="*/ 4 w 24"/>
                <a:gd name="T15" fmla="*/ 20 h 24"/>
                <a:gd name="T16" fmla="*/ 8 w 24"/>
                <a:gd name="T17" fmla="*/ 23 h 24"/>
                <a:gd name="T18" fmla="*/ 8 w 24"/>
                <a:gd name="T19" fmla="*/ 23 h 24"/>
                <a:gd name="T20" fmla="*/ 12 w 24"/>
                <a:gd name="T21" fmla="*/ 24 h 24"/>
                <a:gd name="T22" fmla="*/ 17 w 24"/>
                <a:gd name="T23" fmla="*/ 23 h 24"/>
                <a:gd name="T24" fmla="*/ 21 w 24"/>
                <a:gd name="T25" fmla="*/ 20 h 24"/>
                <a:gd name="T26" fmla="*/ 23 w 24"/>
                <a:gd name="T27" fmla="*/ 16 h 24"/>
                <a:gd name="T28" fmla="*/ 24 w 24"/>
                <a:gd name="T29" fmla="*/ 12 h 24"/>
                <a:gd name="T30" fmla="*/ 23 w 24"/>
                <a:gd name="T31" fmla="*/ 7 h 24"/>
                <a:gd name="T32" fmla="*/ 21 w 24"/>
                <a:gd name="T33" fmla="*/ 3 h 24"/>
                <a:gd name="T34" fmla="*/ 17 w 24"/>
                <a:gd name="T35" fmla="*/ 1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17" y="1"/>
                  </a:moveTo>
                  <a:lnTo>
                    <a:pt x="12" y="0"/>
                  </a:lnTo>
                  <a:lnTo>
                    <a:pt x="7" y="1"/>
                  </a:lnTo>
                  <a:lnTo>
                    <a:pt x="4" y="3"/>
                  </a:lnTo>
                  <a:lnTo>
                    <a:pt x="1" y="7"/>
                  </a:lnTo>
                  <a:lnTo>
                    <a:pt x="0" y="12"/>
                  </a:lnTo>
                  <a:lnTo>
                    <a:pt x="1" y="16"/>
                  </a:lnTo>
                  <a:lnTo>
                    <a:pt x="4" y="20"/>
                  </a:lnTo>
                  <a:lnTo>
                    <a:pt x="8" y="23"/>
                  </a:lnTo>
                  <a:lnTo>
                    <a:pt x="8" y="23"/>
                  </a:lnTo>
                  <a:lnTo>
                    <a:pt x="12" y="24"/>
                  </a:lnTo>
                  <a:lnTo>
                    <a:pt x="17" y="23"/>
                  </a:lnTo>
                  <a:lnTo>
                    <a:pt x="21" y="20"/>
                  </a:lnTo>
                  <a:lnTo>
                    <a:pt x="23" y="16"/>
                  </a:lnTo>
                  <a:lnTo>
                    <a:pt x="24" y="12"/>
                  </a:lnTo>
                  <a:lnTo>
                    <a:pt x="23" y="7"/>
                  </a:lnTo>
                  <a:lnTo>
                    <a:pt x="21" y="3"/>
                  </a:lnTo>
                  <a:lnTo>
                    <a:pt x="17" y="1"/>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31" name="Freeform 129"/>
            <p:cNvSpPr>
              <a:spLocks/>
            </p:cNvSpPr>
            <p:nvPr/>
          </p:nvSpPr>
          <p:spPr bwMode="auto">
            <a:xfrm>
              <a:off x="1986" y="1849"/>
              <a:ext cx="21" cy="16"/>
            </a:xfrm>
            <a:custGeom>
              <a:avLst/>
              <a:gdLst>
                <a:gd name="T0" fmla="*/ 17 w 24"/>
                <a:gd name="T1" fmla="*/ 1 h 24"/>
                <a:gd name="T2" fmla="*/ 12 w 24"/>
                <a:gd name="T3" fmla="*/ 0 h 24"/>
                <a:gd name="T4" fmla="*/ 7 w 24"/>
                <a:gd name="T5" fmla="*/ 1 h 24"/>
                <a:gd name="T6" fmla="*/ 4 w 24"/>
                <a:gd name="T7" fmla="*/ 4 h 24"/>
                <a:gd name="T8" fmla="*/ 1 w 24"/>
                <a:gd name="T9" fmla="*/ 8 h 24"/>
                <a:gd name="T10" fmla="*/ 0 w 24"/>
                <a:gd name="T11" fmla="*/ 12 h 24"/>
                <a:gd name="T12" fmla="*/ 1 w 24"/>
                <a:gd name="T13" fmla="*/ 17 h 24"/>
                <a:gd name="T14" fmla="*/ 4 w 24"/>
                <a:gd name="T15" fmla="*/ 21 h 24"/>
                <a:gd name="T16" fmla="*/ 8 w 24"/>
                <a:gd name="T17" fmla="*/ 23 h 24"/>
                <a:gd name="T18" fmla="*/ 8 w 24"/>
                <a:gd name="T19" fmla="*/ 23 h 24"/>
                <a:gd name="T20" fmla="*/ 12 w 24"/>
                <a:gd name="T21" fmla="*/ 24 h 24"/>
                <a:gd name="T22" fmla="*/ 17 w 24"/>
                <a:gd name="T23" fmla="*/ 23 h 24"/>
                <a:gd name="T24" fmla="*/ 21 w 24"/>
                <a:gd name="T25" fmla="*/ 21 h 24"/>
                <a:gd name="T26" fmla="*/ 23 w 24"/>
                <a:gd name="T27" fmla="*/ 17 h 24"/>
                <a:gd name="T28" fmla="*/ 24 w 24"/>
                <a:gd name="T29" fmla="*/ 12 h 24"/>
                <a:gd name="T30" fmla="*/ 23 w 24"/>
                <a:gd name="T31" fmla="*/ 8 h 24"/>
                <a:gd name="T32" fmla="*/ 21 w 24"/>
                <a:gd name="T33" fmla="*/ 4 h 24"/>
                <a:gd name="T34" fmla="*/ 17 w 24"/>
                <a:gd name="T35" fmla="*/ 1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17" y="1"/>
                  </a:moveTo>
                  <a:lnTo>
                    <a:pt x="12" y="0"/>
                  </a:lnTo>
                  <a:lnTo>
                    <a:pt x="7" y="1"/>
                  </a:lnTo>
                  <a:lnTo>
                    <a:pt x="4" y="4"/>
                  </a:lnTo>
                  <a:lnTo>
                    <a:pt x="1" y="8"/>
                  </a:lnTo>
                  <a:lnTo>
                    <a:pt x="0" y="12"/>
                  </a:lnTo>
                  <a:lnTo>
                    <a:pt x="1" y="17"/>
                  </a:lnTo>
                  <a:lnTo>
                    <a:pt x="4" y="21"/>
                  </a:lnTo>
                  <a:lnTo>
                    <a:pt x="8" y="23"/>
                  </a:lnTo>
                  <a:lnTo>
                    <a:pt x="8" y="23"/>
                  </a:lnTo>
                  <a:lnTo>
                    <a:pt x="12" y="24"/>
                  </a:lnTo>
                  <a:lnTo>
                    <a:pt x="17" y="23"/>
                  </a:lnTo>
                  <a:lnTo>
                    <a:pt x="21" y="21"/>
                  </a:lnTo>
                  <a:lnTo>
                    <a:pt x="23" y="17"/>
                  </a:lnTo>
                  <a:lnTo>
                    <a:pt x="24" y="12"/>
                  </a:lnTo>
                  <a:lnTo>
                    <a:pt x="23" y="8"/>
                  </a:lnTo>
                  <a:lnTo>
                    <a:pt x="21" y="4"/>
                  </a:lnTo>
                  <a:lnTo>
                    <a:pt x="17" y="1"/>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32" name="Freeform 130"/>
            <p:cNvSpPr>
              <a:spLocks/>
            </p:cNvSpPr>
            <p:nvPr/>
          </p:nvSpPr>
          <p:spPr bwMode="auto">
            <a:xfrm>
              <a:off x="2025" y="1858"/>
              <a:ext cx="20" cy="16"/>
            </a:xfrm>
            <a:custGeom>
              <a:avLst/>
              <a:gdLst>
                <a:gd name="T0" fmla="*/ 17 w 24"/>
                <a:gd name="T1" fmla="*/ 1 h 24"/>
                <a:gd name="T2" fmla="*/ 12 w 24"/>
                <a:gd name="T3" fmla="*/ 0 h 24"/>
                <a:gd name="T4" fmla="*/ 7 w 24"/>
                <a:gd name="T5" fmla="*/ 1 h 24"/>
                <a:gd name="T6" fmla="*/ 4 w 24"/>
                <a:gd name="T7" fmla="*/ 4 h 24"/>
                <a:gd name="T8" fmla="*/ 1 w 24"/>
                <a:gd name="T9" fmla="*/ 7 h 24"/>
                <a:gd name="T10" fmla="*/ 0 w 24"/>
                <a:gd name="T11" fmla="*/ 12 h 24"/>
                <a:gd name="T12" fmla="*/ 1 w 24"/>
                <a:gd name="T13" fmla="*/ 17 h 24"/>
                <a:gd name="T14" fmla="*/ 4 w 24"/>
                <a:gd name="T15" fmla="*/ 20 h 24"/>
                <a:gd name="T16" fmla="*/ 8 w 24"/>
                <a:gd name="T17" fmla="*/ 23 h 24"/>
                <a:gd name="T18" fmla="*/ 8 w 24"/>
                <a:gd name="T19" fmla="*/ 23 h 24"/>
                <a:gd name="T20" fmla="*/ 12 w 24"/>
                <a:gd name="T21" fmla="*/ 24 h 24"/>
                <a:gd name="T22" fmla="*/ 17 w 24"/>
                <a:gd name="T23" fmla="*/ 23 h 24"/>
                <a:gd name="T24" fmla="*/ 20 w 24"/>
                <a:gd name="T25" fmla="*/ 20 h 24"/>
                <a:gd name="T26" fmla="*/ 23 w 24"/>
                <a:gd name="T27" fmla="*/ 17 h 24"/>
                <a:gd name="T28" fmla="*/ 24 w 24"/>
                <a:gd name="T29" fmla="*/ 12 h 24"/>
                <a:gd name="T30" fmla="*/ 23 w 24"/>
                <a:gd name="T31" fmla="*/ 7 h 24"/>
                <a:gd name="T32" fmla="*/ 20 w 24"/>
                <a:gd name="T33" fmla="*/ 4 h 24"/>
                <a:gd name="T34" fmla="*/ 17 w 24"/>
                <a:gd name="T35" fmla="*/ 1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17" y="1"/>
                  </a:moveTo>
                  <a:lnTo>
                    <a:pt x="12" y="0"/>
                  </a:lnTo>
                  <a:lnTo>
                    <a:pt x="7" y="1"/>
                  </a:lnTo>
                  <a:lnTo>
                    <a:pt x="4" y="4"/>
                  </a:lnTo>
                  <a:lnTo>
                    <a:pt x="1" y="7"/>
                  </a:lnTo>
                  <a:lnTo>
                    <a:pt x="0" y="12"/>
                  </a:lnTo>
                  <a:lnTo>
                    <a:pt x="1" y="17"/>
                  </a:lnTo>
                  <a:lnTo>
                    <a:pt x="4" y="20"/>
                  </a:lnTo>
                  <a:lnTo>
                    <a:pt x="8" y="23"/>
                  </a:lnTo>
                  <a:lnTo>
                    <a:pt x="8" y="23"/>
                  </a:lnTo>
                  <a:lnTo>
                    <a:pt x="12" y="24"/>
                  </a:lnTo>
                  <a:lnTo>
                    <a:pt x="17" y="23"/>
                  </a:lnTo>
                  <a:lnTo>
                    <a:pt x="20" y="20"/>
                  </a:lnTo>
                  <a:lnTo>
                    <a:pt x="23" y="17"/>
                  </a:lnTo>
                  <a:lnTo>
                    <a:pt x="24" y="12"/>
                  </a:lnTo>
                  <a:lnTo>
                    <a:pt x="23" y="7"/>
                  </a:lnTo>
                  <a:lnTo>
                    <a:pt x="20" y="4"/>
                  </a:lnTo>
                  <a:lnTo>
                    <a:pt x="17" y="1"/>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33" name="Freeform 131"/>
            <p:cNvSpPr>
              <a:spLocks/>
            </p:cNvSpPr>
            <p:nvPr/>
          </p:nvSpPr>
          <p:spPr bwMode="auto">
            <a:xfrm>
              <a:off x="2064" y="1868"/>
              <a:ext cx="19" cy="15"/>
            </a:xfrm>
            <a:custGeom>
              <a:avLst/>
              <a:gdLst>
                <a:gd name="T0" fmla="*/ 16 w 23"/>
                <a:gd name="T1" fmla="*/ 1 h 24"/>
                <a:gd name="T2" fmla="*/ 12 w 23"/>
                <a:gd name="T3" fmla="*/ 0 h 24"/>
                <a:gd name="T4" fmla="*/ 7 w 23"/>
                <a:gd name="T5" fmla="*/ 1 h 24"/>
                <a:gd name="T6" fmla="*/ 4 w 23"/>
                <a:gd name="T7" fmla="*/ 3 h 24"/>
                <a:gd name="T8" fmla="*/ 1 w 23"/>
                <a:gd name="T9" fmla="*/ 7 h 24"/>
                <a:gd name="T10" fmla="*/ 0 w 23"/>
                <a:gd name="T11" fmla="*/ 12 h 24"/>
                <a:gd name="T12" fmla="*/ 1 w 23"/>
                <a:gd name="T13" fmla="*/ 16 h 24"/>
                <a:gd name="T14" fmla="*/ 4 w 23"/>
                <a:gd name="T15" fmla="*/ 20 h 24"/>
                <a:gd name="T16" fmla="*/ 8 w 23"/>
                <a:gd name="T17" fmla="*/ 23 h 24"/>
                <a:gd name="T18" fmla="*/ 8 w 23"/>
                <a:gd name="T19" fmla="*/ 23 h 24"/>
                <a:gd name="T20" fmla="*/ 12 w 23"/>
                <a:gd name="T21" fmla="*/ 24 h 24"/>
                <a:gd name="T22" fmla="*/ 16 w 23"/>
                <a:gd name="T23" fmla="*/ 23 h 24"/>
                <a:gd name="T24" fmla="*/ 20 w 23"/>
                <a:gd name="T25" fmla="*/ 20 h 24"/>
                <a:gd name="T26" fmla="*/ 22 w 23"/>
                <a:gd name="T27" fmla="*/ 16 h 24"/>
                <a:gd name="T28" fmla="*/ 23 w 23"/>
                <a:gd name="T29" fmla="*/ 12 h 24"/>
                <a:gd name="T30" fmla="*/ 22 w 23"/>
                <a:gd name="T31" fmla="*/ 7 h 24"/>
                <a:gd name="T32" fmla="*/ 20 w 23"/>
                <a:gd name="T33" fmla="*/ 3 h 24"/>
                <a:gd name="T34" fmla="*/ 16 w 23"/>
                <a:gd name="T35" fmla="*/ 1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 h="24">
                  <a:moveTo>
                    <a:pt x="16" y="1"/>
                  </a:moveTo>
                  <a:lnTo>
                    <a:pt x="12" y="0"/>
                  </a:lnTo>
                  <a:lnTo>
                    <a:pt x="7" y="1"/>
                  </a:lnTo>
                  <a:lnTo>
                    <a:pt x="4" y="3"/>
                  </a:lnTo>
                  <a:lnTo>
                    <a:pt x="1" y="7"/>
                  </a:lnTo>
                  <a:lnTo>
                    <a:pt x="0" y="12"/>
                  </a:lnTo>
                  <a:lnTo>
                    <a:pt x="1" y="16"/>
                  </a:lnTo>
                  <a:lnTo>
                    <a:pt x="4" y="20"/>
                  </a:lnTo>
                  <a:lnTo>
                    <a:pt x="8" y="23"/>
                  </a:lnTo>
                  <a:lnTo>
                    <a:pt x="8" y="23"/>
                  </a:lnTo>
                  <a:lnTo>
                    <a:pt x="12" y="24"/>
                  </a:lnTo>
                  <a:lnTo>
                    <a:pt x="16" y="23"/>
                  </a:lnTo>
                  <a:lnTo>
                    <a:pt x="20" y="20"/>
                  </a:lnTo>
                  <a:lnTo>
                    <a:pt x="22" y="16"/>
                  </a:lnTo>
                  <a:lnTo>
                    <a:pt x="23" y="12"/>
                  </a:lnTo>
                  <a:lnTo>
                    <a:pt x="22" y="7"/>
                  </a:lnTo>
                  <a:lnTo>
                    <a:pt x="20" y="3"/>
                  </a:lnTo>
                  <a:lnTo>
                    <a:pt x="16" y="1"/>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34" name="Freeform 132"/>
            <p:cNvSpPr>
              <a:spLocks/>
            </p:cNvSpPr>
            <p:nvPr/>
          </p:nvSpPr>
          <p:spPr bwMode="auto">
            <a:xfrm>
              <a:off x="2102" y="1876"/>
              <a:ext cx="20" cy="16"/>
            </a:xfrm>
            <a:custGeom>
              <a:avLst/>
              <a:gdLst>
                <a:gd name="T0" fmla="*/ 17 w 24"/>
                <a:gd name="T1" fmla="*/ 1 h 24"/>
                <a:gd name="T2" fmla="*/ 12 w 24"/>
                <a:gd name="T3" fmla="*/ 0 h 24"/>
                <a:gd name="T4" fmla="*/ 7 w 24"/>
                <a:gd name="T5" fmla="*/ 1 h 24"/>
                <a:gd name="T6" fmla="*/ 4 w 24"/>
                <a:gd name="T7" fmla="*/ 4 h 24"/>
                <a:gd name="T8" fmla="*/ 1 w 24"/>
                <a:gd name="T9" fmla="*/ 8 h 24"/>
                <a:gd name="T10" fmla="*/ 0 w 24"/>
                <a:gd name="T11" fmla="*/ 12 h 24"/>
                <a:gd name="T12" fmla="*/ 1 w 24"/>
                <a:gd name="T13" fmla="*/ 17 h 24"/>
                <a:gd name="T14" fmla="*/ 4 w 24"/>
                <a:gd name="T15" fmla="*/ 21 h 24"/>
                <a:gd name="T16" fmla="*/ 8 w 24"/>
                <a:gd name="T17" fmla="*/ 23 h 24"/>
                <a:gd name="T18" fmla="*/ 8 w 24"/>
                <a:gd name="T19" fmla="*/ 23 h 24"/>
                <a:gd name="T20" fmla="*/ 12 w 24"/>
                <a:gd name="T21" fmla="*/ 24 h 24"/>
                <a:gd name="T22" fmla="*/ 17 w 24"/>
                <a:gd name="T23" fmla="*/ 23 h 24"/>
                <a:gd name="T24" fmla="*/ 21 w 24"/>
                <a:gd name="T25" fmla="*/ 21 h 24"/>
                <a:gd name="T26" fmla="*/ 23 w 24"/>
                <a:gd name="T27" fmla="*/ 17 h 24"/>
                <a:gd name="T28" fmla="*/ 24 w 24"/>
                <a:gd name="T29" fmla="*/ 12 h 24"/>
                <a:gd name="T30" fmla="*/ 23 w 24"/>
                <a:gd name="T31" fmla="*/ 8 h 24"/>
                <a:gd name="T32" fmla="*/ 21 w 24"/>
                <a:gd name="T33" fmla="*/ 4 h 24"/>
                <a:gd name="T34" fmla="*/ 17 w 24"/>
                <a:gd name="T35" fmla="*/ 1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17" y="1"/>
                  </a:moveTo>
                  <a:lnTo>
                    <a:pt x="12" y="0"/>
                  </a:lnTo>
                  <a:lnTo>
                    <a:pt x="7" y="1"/>
                  </a:lnTo>
                  <a:lnTo>
                    <a:pt x="4" y="4"/>
                  </a:lnTo>
                  <a:lnTo>
                    <a:pt x="1" y="8"/>
                  </a:lnTo>
                  <a:lnTo>
                    <a:pt x="0" y="12"/>
                  </a:lnTo>
                  <a:lnTo>
                    <a:pt x="1" y="17"/>
                  </a:lnTo>
                  <a:lnTo>
                    <a:pt x="4" y="21"/>
                  </a:lnTo>
                  <a:lnTo>
                    <a:pt x="8" y="23"/>
                  </a:lnTo>
                  <a:lnTo>
                    <a:pt x="8" y="23"/>
                  </a:lnTo>
                  <a:lnTo>
                    <a:pt x="12" y="24"/>
                  </a:lnTo>
                  <a:lnTo>
                    <a:pt x="17" y="23"/>
                  </a:lnTo>
                  <a:lnTo>
                    <a:pt x="21" y="21"/>
                  </a:lnTo>
                  <a:lnTo>
                    <a:pt x="23" y="17"/>
                  </a:lnTo>
                  <a:lnTo>
                    <a:pt x="24" y="12"/>
                  </a:lnTo>
                  <a:lnTo>
                    <a:pt x="23" y="8"/>
                  </a:lnTo>
                  <a:lnTo>
                    <a:pt x="21" y="4"/>
                  </a:lnTo>
                  <a:lnTo>
                    <a:pt x="17" y="1"/>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35" name="Freeform 133"/>
            <p:cNvSpPr>
              <a:spLocks/>
            </p:cNvSpPr>
            <p:nvPr/>
          </p:nvSpPr>
          <p:spPr bwMode="auto">
            <a:xfrm>
              <a:off x="2141" y="1885"/>
              <a:ext cx="20" cy="16"/>
            </a:xfrm>
            <a:custGeom>
              <a:avLst/>
              <a:gdLst>
                <a:gd name="T0" fmla="*/ 17 w 24"/>
                <a:gd name="T1" fmla="*/ 1 h 24"/>
                <a:gd name="T2" fmla="*/ 12 w 24"/>
                <a:gd name="T3" fmla="*/ 0 h 24"/>
                <a:gd name="T4" fmla="*/ 7 w 24"/>
                <a:gd name="T5" fmla="*/ 1 h 24"/>
                <a:gd name="T6" fmla="*/ 4 w 24"/>
                <a:gd name="T7" fmla="*/ 4 h 24"/>
                <a:gd name="T8" fmla="*/ 1 w 24"/>
                <a:gd name="T9" fmla="*/ 7 h 24"/>
                <a:gd name="T10" fmla="*/ 0 w 24"/>
                <a:gd name="T11" fmla="*/ 12 h 24"/>
                <a:gd name="T12" fmla="*/ 1 w 24"/>
                <a:gd name="T13" fmla="*/ 17 h 24"/>
                <a:gd name="T14" fmla="*/ 4 w 24"/>
                <a:gd name="T15" fmla="*/ 21 h 24"/>
                <a:gd name="T16" fmla="*/ 8 w 24"/>
                <a:gd name="T17" fmla="*/ 23 h 24"/>
                <a:gd name="T18" fmla="*/ 8 w 24"/>
                <a:gd name="T19" fmla="*/ 23 h 24"/>
                <a:gd name="T20" fmla="*/ 12 w 24"/>
                <a:gd name="T21" fmla="*/ 24 h 24"/>
                <a:gd name="T22" fmla="*/ 17 w 24"/>
                <a:gd name="T23" fmla="*/ 23 h 24"/>
                <a:gd name="T24" fmla="*/ 21 w 24"/>
                <a:gd name="T25" fmla="*/ 21 h 24"/>
                <a:gd name="T26" fmla="*/ 23 w 24"/>
                <a:gd name="T27" fmla="*/ 17 h 24"/>
                <a:gd name="T28" fmla="*/ 24 w 24"/>
                <a:gd name="T29" fmla="*/ 12 h 24"/>
                <a:gd name="T30" fmla="*/ 23 w 24"/>
                <a:gd name="T31" fmla="*/ 7 h 24"/>
                <a:gd name="T32" fmla="*/ 21 w 24"/>
                <a:gd name="T33" fmla="*/ 4 h 24"/>
                <a:gd name="T34" fmla="*/ 17 w 24"/>
                <a:gd name="T35" fmla="*/ 1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17" y="1"/>
                  </a:moveTo>
                  <a:lnTo>
                    <a:pt x="12" y="0"/>
                  </a:lnTo>
                  <a:lnTo>
                    <a:pt x="7" y="1"/>
                  </a:lnTo>
                  <a:lnTo>
                    <a:pt x="4" y="4"/>
                  </a:lnTo>
                  <a:lnTo>
                    <a:pt x="1" y="7"/>
                  </a:lnTo>
                  <a:lnTo>
                    <a:pt x="0" y="12"/>
                  </a:lnTo>
                  <a:lnTo>
                    <a:pt x="1" y="17"/>
                  </a:lnTo>
                  <a:lnTo>
                    <a:pt x="4" y="21"/>
                  </a:lnTo>
                  <a:lnTo>
                    <a:pt x="8" y="23"/>
                  </a:lnTo>
                  <a:lnTo>
                    <a:pt x="8" y="23"/>
                  </a:lnTo>
                  <a:lnTo>
                    <a:pt x="12" y="24"/>
                  </a:lnTo>
                  <a:lnTo>
                    <a:pt x="17" y="23"/>
                  </a:lnTo>
                  <a:lnTo>
                    <a:pt x="21" y="21"/>
                  </a:lnTo>
                  <a:lnTo>
                    <a:pt x="23" y="17"/>
                  </a:lnTo>
                  <a:lnTo>
                    <a:pt x="24" y="12"/>
                  </a:lnTo>
                  <a:lnTo>
                    <a:pt x="23" y="7"/>
                  </a:lnTo>
                  <a:lnTo>
                    <a:pt x="21" y="4"/>
                  </a:lnTo>
                  <a:lnTo>
                    <a:pt x="17" y="1"/>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36" name="Freeform 134"/>
            <p:cNvSpPr>
              <a:spLocks/>
            </p:cNvSpPr>
            <p:nvPr/>
          </p:nvSpPr>
          <p:spPr bwMode="auto">
            <a:xfrm>
              <a:off x="2180" y="1895"/>
              <a:ext cx="20" cy="16"/>
            </a:xfrm>
            <a:custGeom>
              <a:avLst/>
              <a:gdLst>
                <a:gd name="T0" fmla="*/ 17 w 24"/>
                <a:gd name="T1" fmla="*/ 1 h 24"/>
                <a:gd name="T2" fmla="*/ 12 w 24"/>
                <a:gd name="T3" fmla="*/ 0 h 24"/>
                <a:gd name="T4" fmla="*/ 7 w 24"/>
                <a:gd name="T5" fmla="*/ 1 h 24"/>
                <a:gd name="T6" fmla="*/ 4 w 24"/>
                <a:gd name="T7" fmla="*/ 3 h 24"/>
                <a:gd name="T8" fmla="*/ 1 w 24"/>
                <a:gd name="T9" fmla="*/ 7 h 24"/>
                <a:gd name="T10" fmla="*/ 0 w 24"/>
                <a:gd name="T11" fmla="*/ 12 h 24"/>
                <a:gd name="T12" fmla="*/ 1 w 24"/>
                <a:gd name="T13" fmla="*/ 16 h 24"/>
                <a:gd name="T14" fmla="*/ 4 w 24"/>
                <a:gd name="T15" fmla="*/ 20 h 24"/>
                <a:gd name="T16" fmla="*/ 8 w 24"/>
                <a:gd name="T17" fmla="*/ 23 h 24"/>
                <a:gd name="T18" fmla="*/ 8 w 24"/>
                <a:gd name="T19" fmla="*/ 23 h 24"/>
                <a:gd name="T20" fmla="*/ 12 w 24"/>
                <a:gd name="T21" fmla="*/ 24 h 24"/>
                <a:gd name="T22" fmla="*/ 17 w 24"/>
                <a:gd name="T23" fmla="*/ 23 h 24"/>
                <a:gd name="T24" fmla="*/ 21 w 24"/>
                <a:gd name="T25" fmla="*/ 20 h 24"/>
                <a:gd name="T26" fmla="*/ 23 w 24"/>
                <a:gd name="T27" fmla="*/ 16 h 24"/>
                <a:gd name="T28" fmla="*/ 24 w 24"/>
                <a:gd name="T29" fmla="*/ 12 h 24"/>
                <a:gd name="T30" fmla="*/ 23 w 24"/>
                <a:gd name="T31" fmla="*/ 7 h 24"/>
                <a:gd name="T32" fmla="*/ 21 w 24"/>
                <a:gd name="T33" fmla="*/ 3 h 24"/>
                <a:gd name="T34" fmla="*/ 17 w 24"/>
                <a:gd name="T35" fmla="*/ 1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17" y="1"/>
                  </a:moveTo>
                  <a:lnTo>
                    <a:pt x="12" y="0"/>
                  </a:lnTo>
                  <a:lnTo>
                    <a:pt x="7" y="1"/>
                  </a:lnTo>
                  <a:lnTo>
                    <a:pt x="4" y="3"/>
                  </a:lnTo>
                  <a:lnTo>
                    <a:pt x="1" y="7"/>
                  </a:lnTo>
                  <a:lnTo>
                    <a:pt x="0" y="12"/>
                  </a:lnTo>
                  <a:lnTo>
                    <a:pt x="1" y="16"/>
                  </a:lnTo>
                  <a:lnTo>
                    <a:pt x="4" y="20"/>
                  </a:lnTo>
                  <a:lnTo>
                    <a:pt x="8" y="23"/>
                  </a:lnTo>
                  <a:lnTo>
                    <a:pt x="8" y="23"/>
                  </a:lnTo>
                  <a:lnTo>
                    <a:pt x="12" y="24"/>
                  </a:lnTo>
                  <a:lnTo>
                    <a:pt x="17" y="23"/>
                  </a:lnTo>
                  <a:lnTo>
                    <a:pt x="21" y="20"/>
                  </a:lnTo>
                  <a:lnTo>
                    <a:pt x="23" y="16"/>
                  </a:lnTo>
                  <a:lnTo>
                    <a:pt x="24" y="12"/>
                  </a:lnTo>
                  <a:lnTo>
                    <a:pt x="23" y="7"/>
                  </a:lnTo>
                  <a:lnTo>
                    <a:pt x="21" y="3"/>
                  </a:lnTo>
                  <a:lnTo>
                    <a:pt x="17" y="1"/>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37" name="Freeform 135"/>
            <p:cNvSpPr>
              <a:spLocks/>
            </p:cNvSpPr>
            <p:nvPr/>
          </p:nvSpPr>
          <p:spPr bwMode="auto">
            <a:xfrm>
              <a:off x="2218" y="1903"/>
              <a:ext cx="21" cy="16"/>
            </a:xfrm>
            <a:custGeom>
              <a:avLst/>
              <a:gdLst>
                <a:gd name="T0" fmla="*/ 17 w 24"/>
                <a:gd name="T1" fmla="*/ 1 h 24"/>
                <a:gd name="T2" fmla="*/ 12 w 24"/>
                <a:gd name="T3" fmla="*/ 0 h 24"/>
                <a:gd name="T4" fmla="*/ 7 w 24"/>
                <a:gd name="T5" fmla="*/ 1 h 24"/>
                <a:gd name="T6" fmla="*/ 4 w 24"/>
                <a:gd name="T7" fmla="*/ 4 h 24"/>
                <a:gd name="T8" fmla="*/ 1 w 24"/>
                <a:gd name="T9" fmla="*/ 8 h 24"/>
                <a:gd name="T10" fmla="*/ 0 w 24"/>
                <a:gd name="T11" fmla="*/ 12 h 24"/>
                <a:gd name="T12" fmla="*/ 1 w 24"/>
                <a:gd name="T13" fmla="*/ 17 h 24"/>
                <a:gd name="T14" fmla="*/ 4 w 24"/>
                <a:gd name="T15" fmla="*/ 21 h 24"/>
                <a:gd name="T16" fmla="*/ 8 w 24"/>
                <a:gd name="T17" fmla="*/ 23 h 24"/>
                <a:gd name="T18" fmla="*/ 8 w 24"/>
                <a:gd name="T19" fmla="*/ 23 h 24"/>
                <a:gd name="T20" fmla="*/ 12 w 24"/>
                <a:gd name="T21" fmla="*/ 24 h 24"/>
                <a:gd name="T22" fmla="*/ 17 w 24"/>
                <a:gd name="T23" fmla="*/ 24 h 24"/>
                <a:gd name="T24" fmla="*/ 21 w 24"/>
                <a:gd name="T25" fmla="*/ 21 h 24"/>
                <a:gd name="T26" fmla="*/ 23 w 24"/>
                <a:gd name="T27" fmla="*/ 17 h 24"/>
                <a:gd name="T28" fmla="*/ 24 w 24"/>
                <a:gd name="T29" fmla="*/ 12 h 24"/>
                <a:gd name="T30" fmla="*/ 23 w 24"/>
                <a:gd name="T31" fmla="*/ 8 h 24"/>
                <a:gd name="T32" fmla="*/ 21 w 24"/>
                <a:gd name="T33" fmla="*/ 4 h 24"/>
                <a:gd name="T34" fmla="*/ 17 w 24"/>
                <a:gd name="T35" fmla="*/ 1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17" y="1"/>
                  </a:moveTo>
                  <a:lnTo>
                    <a:pt x="12" y="0"/>
                  </a:lnTo>
                  <a:lnTo>
                    <a:pt x="7" y="1"/>
                  </a:lnTo>
                  <a:lnTo>
                    <a:pt x="4" y="4"/>
                  </a:lnTo>
                  <a:lnTo>
                    <a:pt x="1" y="8"/>
                  </a:lnTo>
                  <a:lnTo>
                    <a:pt x="0" y="12"/>
                  </a:lnTo>
                  <a:lnTo>
                    <a:pt x="1" y="17"/>
                  </a:lnTo>
                  <a:lnTo>
                    <a:pt x="4" y="21"/>
                  </a:lnTo>
                  <a:lnTo>
                    <a:pt x="8" y="23"/>
                  </a:lnTo>
                  <a:lnTo>
                    <a:pt x="8" y="23"/>
                  </a:lnTo>
                  <a:lnTo>
                    <a:pt x="12" y="24"/>
                  </a:lnTo>
                  <a:lnTo>
                    <a:pt x="17" y="24"/>
                  </a:lnTo>
                  <a:lnTo>
                    <a:pt x="21" y="21"/>
                  </a:lnTo>
                  <a:lnTo>
                    <a:pt x="23" y="17"/>
                  </a:lnTo>
                  <a:lnTo>
                    <a:pt x="24" y="12"/>
                  </a:lnTo>
                  <a:lnTo>
                    <a:pt x="23" y="8"/>
                  </a:lnTo>
                  <a:lnTo>
                    <a:pt x="21" y="4"/>
                  </a:lnTo>
                  <a:lnTo>
                    <a:pt x="17" y="1"/>
                  </a:lnTo>
                  <a:close/>
                </a:path>
              </a:pathLst>
            </a:custGeom>
            <a:solidFill>
              <a:srgbClr val="0033CC"/>
            </a:solidFill>
            <a:ln>
              <a:noFill/>
            </a:ln>
            <a:extLst>
              <a:ext uri="{91240B29-F687-4F45-9708-019B960494DF}">
                <a14:hiddenLine xmlns:a14="http://schemas.microsoft.com/office/drawing/2010/main" w="9525">
                  <a:solidFill>
                    <a:srgbClr val="0033CC"/>
                  </a:solidFill>
                  <a:round/>
                  <a:headEnd/>
                  <a:tailEnd/>
                </a14:hiddenLine>
              </a:ext>
            </a:extLst>
          </p:spPr>
          <p:txBody>
            <a:bodyPr/>
            <a:lstStyle/>
            <a:p>
              <a:endParaRPr lang="zh-CN" altLang="en-US">
                <a:ea typeface="楷体" panose="02010609060101010101" pitchFamily="49" charset="-122"/>
              </a:endParaRPr>
            </a:p>
          </p:txBody>
        </p:sp>
        <p:sp>
          <p:nvSpPr>
            <p:cNvPr id="138" name="Freeform 136"/>
            <p:cNvSpPr>
              <a:spLocks/>
            </p:cNvSpPr>
            <p:nvPr/>
          </p:nvSpPr>
          <p:spPr bwMode="auto">
            <a:xfrm>
              <a:off x="2223" y="1880"/>
              <a:ext cx="100" cy="69"/>
            </a:xfrm>
            <a:custGeom>
              <a:avLst/>
              <a:gdLst>
                <a:gd name="T0" fmla="*/ 0 w 118"/>
                <a:gd name="T1" fmla="*/ 103 h 103"/>
                <a:gd name="T2" fmla="*/ 118 w 118"/>
                <a:gd name="T3" fmla="*/ 82 h 103"/>
                <a:gd name="T4" fmla="*/ 31 w 118"/>
                <a:gd name="T5" fmla="*/ 0 h 103"/>
                <a:gd name="T6" fmla="*/ 0 w 118"/>
                <a:gd name="T7" fmla="*/ 103 h 103"/>
              </a:gdLst>
              <a:ahLst/>
              <a:cxnLst>
                <a:cxn ang="0">
                  <a:pos x="T0" y="T1"/>
                </a:cxn>
                <a:cxn ang="0">
                  <a:pos x="T2" y="T3"/>
                </a:cxn>
                <a:cxn ang="0">
                  <a:pos x="T4" y="T5"/>
                </a:cxn>
                <a:cxn ang="0">
                  <a:pos x="T6" y="T7"/>
                </a:cxn>
              </a:cxnLst>
              <a:rect l="0" t="0" r="r" b="b"/>
              <a:pathLst>
                <a:path w="118" h="103">
                  <a:moveTo>
                    <a:pt x="0" y="103"/>
                  </a:moveTo>
                  <a:lnTo>
                    <a:pt x="118" y="82"/>
                  </a:lnTo>
                  <a:lnTo>
                    <a:pt x="31" y="0"/>
                  </a:lnTo>
                  <a:lnTo>
                    <a:pt x="0" y="103"/>
                  </a:lnTo>
                  <a:close/>
                </a:path>
              </a:pathLst>
            </a:custGeom>
            <a:solidFill>
              <a:srgbClr val="0033CC"/>
            </a:solidFill>
            <a:ln>
              <a:noFill/>
            </a:ln>
            <a:extLst>
              <a:ext uri="{91240B29-F687-4F45-9708-019B960494DF}">
                <a14:hiddenLine xmlns:a14="http://schemas.microsoft.com/office/drawing/2010/main" w="9525">
                  <a:solidFill>
                    <a:srgbClr val="0033CC"/>
                  </a:solidFill>
                  <a:round/>
                  <a:headEnd/>
                  <a:tailEnd/>
                </a14:hiddenLine>
              </a:ext>
            </a:extLst>
          </p:spPr>
          <p:txBody>
            <a:bodyPr/>
            <a:lstStyle/>
            <a:p>
              <a:endParaRPr lang="zh-CN" altLang="en-US">
                <a:ea typeface="楷体" panose="02010609060101010101" pitchFamily="49" charset="-122"/>
              </a:endParaRPr>
            </a:p>
          </p:txBody>
        </p:sp>
        <p:sp>
          <p:nvSpPr>
            <p:cNvPr id="139" name="Freeform 137"/>
            <p:cNvSpPr>
              <a:spLocks/>
            </p:cNvSpPr>
            <p:nvPr/>
          </p:nvSpPr>
          <p:spPr bwMode="auto">
            <a:xfrm>
              <a:off x="1909" y="2278"/>
              <a:ext cx="20" cy="16"/>
            </a:xfrm>
            <a:custGeom>
              <a:avLst/>
              <a:gdLst>
                <a:gd name="T0" fmla="*/ 8 w 24"/>
                <a:gd name="T1" fmla="*/ 1 h 24"/>
                <a:gd name="T2" fmla="*/ 4 w 24"/>
                <a:gd name="T3" fmla="*/ 4 h 24"/>
                <a:gd name="T4" fmla="*/ 1 w 24"/>
                <a:gd name="T5" fmla="*/ 7 h 24"/>
                <a:gd name="T6" fmla="*/ 0 w 24"/>
                <a:gd name="T7" fmla="*/ 12 h 24"/>
                <a:gd name="T8" fmla="*/ 1 w 24"/>
                <a:gd name="T9" fmla="*/ 17 h 24"/>
                <a:gd name="T10" fmla="*/ 4 w 24"/>
                <a:gd name="T11" fmla="*/ 20 h 24"/>
                <a:gd name="T12" fmla="*/ 7 w 24"/>
                <a:gd name="T13" fmla="*/ 23 h 24"/>
                <a:gd name="T14" fmla="*/ 12 w 24"/>
                <a:gd name="T15" fmla="*/ 24 h 24"/>
                <a:gd name="T16" fmla="*/ 17 w 24"/>
                <a:gd name="T17" fmla="*/ 23 h 24"/>
                <a:gd name="T18" fmla="*/ 17 w 24"/>
                <a:gd name="T19" fmla="*/ 23 h 24"/>
                <a:gd name="T20" fmla="*/ 21 w 24"/>
                <a:gd name="T21" fmla="*/ 20 h 24"/>
                <a:gd name="T22" fmla="*/ 23 w 24"/>
                <a:gd name="T23" fmla="*/ 17 h 24"/>
                <a:gd name="T24" fmla="*/ 24 w 24"/>
                <a:gd name="T25" fmla="*/ 12 h 24"/>
                <a:gd name="T26" fmla="*/ 23 w 24"/>
                <a:gd name="T27" fmla="*/ 7 h 24"/>
                <a:gd name="T28" fmla="*/ 21 w 24"/>
                <a:gd name="T29" fmla="*/ 3 h 24"/>
                <a:gd name="T30" fmla="*/ 17 w 24"/>
                <a:gd name="T31" fmla="*/ 1 h 24"/>
                <a:gd name="T32" fmla="*/ 12 w 24"/>
                <a:gd name="T33" fmla="*/ 0 h 24"/>
                <a:gd name="T34" fmla="*/ 8 w 24"/>
                <a:gd name="T35" fmla="*/ 1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8" y="1"/>
                  </a:moveTo>
                  <a:lnTo>
                    <a:pt x="4" y="4"/>
                  </a:lnTo>
                  <a:lnTo>
                    <a:pt x="1" y="7"/>
                  </a:lnTo>
                  <a:lnTo>
                    <a:pt x="0" y="12"/>
                  </a:lnTo>
                  <a:lnTo>
                    <a:pt x="1" y="17"/>
                  </a:lnTo>
                  <a:lnTo>
                    <a:pt x="4" y="20"/>
                  </a:lnTo>
                  <a:lnTo>
                    <a:pt x="7" y="23"/>
                  </a:lnTo>
                  <a:lnTo>
                    <a:pt x="12" y="24"/>
                  </a:lnTo>
                  <a:lnTo>
                    <a:pt x="17" y="23"/>
                  </a:lnTo>
                  <a:lnTo>
                    <a:pt x="17" y="23"/>
                  </a:lnTo>
                  <a:lnTo>
                    <a:pt x="21" y="20"/>
                  </a:lnTo>
                  <a:lnTo>
                    <a:pt x="23" y="17"/>
                  </a:lnTo>
                  <a:lnTo>
                    <a:pt x="24" y="12"/>
                  </a:lnTo>
                  <a:lnTo>
                    <a:pt x="23" y="7"/>
                  </a:lnTo>
                  <a:lnTo>
                    <a:pt x="21" y="3"/>
                  </a:lnTo>
                  <a:lnTo>
                    <a:pt x="17" y="1"/>
                  </a:lnTo>
                  <a:lnTo>
                    <a:pt x="12" y="0"/>
                  </a:lnTo>
                  <a:lnTo>
                    <a:pt x="8" y="1"/>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40" name="Freeform 138"/>
            <p:cNvSpPr>
              <a:spLocks/>
            </p:cNvSpPr>
            <p:nvPr/>
          </p:nvSpPr>
          <p:spPr bwMode="auto">
            <a:xfrm>
              <a:off x="1945" y="2264"/>
              <a:ext cx="20" cy="16"/>
            </a:xfrm>
            <a:custGeom>
              <a:avLst/>
              <a:gdLst>
                <a:gd name="T0" fmla="*/ 7 w 24"/>
                <a:gd name="T1" fmla="*/ 1 h 24"/>
                <a:gd name="T2" fmla="*/ 3 w 24"/>
                <a:gd name="T3" fmla="*/ 3 h 24"/>
                <a:gd name="T4" fmla="*/ 1 w 24"/>
                <a:gd name="T5" fmla="*/ 7 h 24"/>
                <a:gd name="T6" fmla="*/ 0 w 24"/>
                <a:gd name="T7" fmla="*/ 12 h 24"/>
                <a:gd name="T8" fmla="*/ 1 w 24"/>
                <a:gd name="T9" fmla="*/ 16 h 24"/>
                <a:gd name="T10" fmla="*/ 3 w 24"/>
                <a:gd name="T11" fmla="*/ 20 h 24"/>
                <a:gd name="T12" fmla="*/ 7 w 24"/>
                <a:gd name="T13" fmla="*/ 23 h 24"/>
                <a:gd name="T14" fmla="*/ 12 w 24"/>
                <a:gd name="T15" fmla="*/ 24 h 24"/>
                <a:gd name="T16" fmla="*/ 16 w 24"/>
                <a:gd name="T17" fmla="*/ 23 h 24"/>
                <a:gd name="T18" fmla="*/ 16 w 24"/>
                <a:gd name="T19" fmla="*/ 23 h 24"/>
                <a:gd name="T20" fmla="*/ 20 w 24"/>
                <a:gd name="T21" fmla="*/ 20 h 24"/>
                <a:gd name="T22" fmla="*/ 23 w 24"/>
                <a:gd name="T23" fmla="*/ 16 h 24"/>
                <a:gd name="T24" fmla="*/ 24 w 24"/>
                <a:gd name="T25" fmla="*/ 12 h 24"/>
                <a:gd name="T26" fmla="*/ 23 w 24"/>
                <a:gd name="T27" fmla="*/ 7 h 24"/>
                <a:gd name="T28" fmla="*/ 20 w 24"/>
                <a:gd name="T29" fmla="*/ 3 h 24"/>
                <a:gd name="T30" fmla="*/ 17 w 24"/>
                <a:gd name="T31" fmla="*/ 1 h 24"/>
                <a:gd name="T32" fmla="*/ 12 w 24"/>
                <a:gd name="T33" fmla="*/ 0 h 24"/>
                <a:gd name="T34" fmla="*/ 7 w 24"/>
                <a:gd name="T35" fmla="*/ 1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7" y="1"/>
                  </a:moveTo>
                  <a:lnTo>
                    <a:pt x="3" y="3"/>
                  </a:lnTo>
                  <a:lnTo>
                    <a:pt x="1" y="7"/>
                  </a:lnTo>
                  <a:lnTo>
                    <a:pt x="0" y="12"/>
                  </a:lnTo>
                  <a:lnTo>
                    <a:pt x="1" y="16"/>
                  </a:lnTo>
                  <a:lnTo>
                    <a:pt x="3" y="20"/>
                  </a:lnTo>
                  <a:lnTo>
                    <a:pt x="7" y="23"/>
                  </a:lnTo>
                  <a:lnTo>
                    <a:pt x="12" y="24"/>
                  </a:lnTo>
                  <a:lnTo>
                    <a:pt x="16" y="23"/>
                  </a:lnTo>
                  <a:lnTo>
                    <a:pt x="16" y="23"/>
                  </a:lnTo>
                  <a:lnTo>
                    <a:pt x="20" y="20"/>
                  </a:lnTo>
                  <a:lnTo>
                    <a:pt x="23" y="16"/>
                  </a:lnTo>
                  <a:lnTo>
                    <a:pt x="24" y="12"/>
                  </a:lnTo>
                  <a:lnTo>
                    <a:pt x="23" y="7"/>
                  </a:lnTo>
                  <a:lnTo>
                    <a:pt x="20" y="3"/>
                  </a:lnTo>
                  <a:lnTo>
                    <a:pt x="17" y="1"/>
                  </a:lnTo>
                  <a:lnTo>
                    <a:pt x="12" y="0"/>
                  </a:lnTo>
                  <a:lnTo>
                    <a:pt x="7" y="1"/>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41" name="Freeform 139"/>
            <p:cNvSpPr>
              <a:spLocks/>
            </p:cNvSpPr>
            <p:nvPr/>
          </p:nvSpPr>
          <p:spPr bwMode="auto">
            <a:xfrm>
              <a:off x="1981" y="2250"/>
              <a:ext cx="21" cy="16"/>
            </a:xfrm>
            <a:custGeom>
              <a:avLst/>
              <a:gdLst>
                <a:gd name="T0" fmla="*/ 7 w 24"/>
                <a:gd name="T1" fmla="*/ 1 h 24"/>
                <a:gd name="T2" fmla="*/ 3 w 24"/>
                <a:gd name="T3" fmla="*/ 4 h 24"/>
                <a:gd name="T4" fmla="*/ 1 w 24"/>
                <a:gd name="T5" fmla="*/ 8 h 24"/>
                <a:gd name="T6" fmla="*/ 0 w 24"/>
                <a:gd name="T7" fmla="*/ 12 h 24"/>
                <a:gd name="T8" fmla="*/ 1 w 24"/>
                <a:gd name="T9" fmla="*/ 17 h 24"/>
                <a:gd name="T10" fmla="*/ 3 w 24"/>
                <a:gd name="T11" fmla="*/ 21 h 24"/>
                <a:gd name="T12" fmla="*/ 7 w 24"/>
                <a:gd name="T13" fmla="*/ 23 h 24"/>
                <a:gd name="T14" fmla="*/ 12 w 24"/>
                <a:gd name="T15" fmla="*/ 24 h 24"/>
                <a:gd name="T16" fmla="*/ 16 w 24"/>
                <a:gd name="T17" fmla="*/ 23 h 24"/>
                <a:gd name="T18" fmla="*/ 16 w 24"/>
                <a:gd name="T19" fmla="*/ 23 h 24"/>
                <a:gd name="T20" fmla="*/ 20 w 24"/>
                <a:gd name="T21" fmla="*/ 21 h 24"/>
                <a:gd name="T22" fmla="*/ 23 w 24"/>
                <a:gd name="T23" fmla="*/ 17 h 24"/>
                <a:gd name="T24" fmla="*/ 24 w 24"/>
                <a:gd name="T25" fmla="*/ 12 h 24"/>
                <a:gd name="T26" fmla="*/ 23 w 24"/>
                <a:gd name="T27" fmla="*/ 8 h 24"/>
                <a:gd name="T28" fmla="*/ 20 w 24"/>
                <a:gd name="T29" fmla="*/ 4 h 24"/>
                <a:gd name="T30" fmla="*/ 17 w 24"/>
                <a:gd name="T31" fmla="*/ 1 h 24"/>
                <a:gd name="T32" fmla="*/ 12 w 24"/>
                <a:gd name="T33" fmla="*/ 0 h 24"/>
                <a:gd name="T34" fmla="*/ 7 w 24"/>
                <a:gd name="T35" fmla="*/ 1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7" y="1"/>
                  </a:moveTo>
                  <a:lnTo>
                    <a:pt x="3" y="4"/>
                  </a:lnTo>
                  <a:lnTo>
                    <a:pt x="1" y="8"/>
                  </a:lnTo>
                  <a:lnTo>
                    <a:pt x="0" y="12"/>
                  </a:lnTo>
                  <a:lnTo>
                    <a:pt x="1" y="17"/>
                  </a:lnTo>
                  <a:lnTo>
                    <a:pt x="3" y="21"/>
                  </a:lnTo>
                  <a:lnTo>
                    <a:pt x="7" y="23"/>
                  </a:lnTo>
                  <a:lnTo>
                    <a:pt x="12" y="24"/>
                  </a:lnTo>
                  <a:lnTo>
                    <a:pt x="16" y="23"/>
                  </a:lnTo>
                  <a:lnTo>
                    <a:pt x="16" y="23"/>
                  </a:lnTo>
                  <a:lnTo>
                    <a:pt x="20" y="21"/>
                  </a:lnTo>
                  <a:lnTo>
                    <a:pt x="23" y="17"/>
                  </a:lnTo>
                  <a:lnTo>
                    <a:pt x="24" y="12"/>
                  </a:lnTo>
                  <a:lnTo>
                    <a:pt x="23" y="8"/>
                  </a:lnTo>
                  <a:lnTo>
                    <a:pt x="20" y="4"/>
                  </a:lnTo>
                  <a:lnTo>
                    <a:pt x="17" y="1"/>
                  </a:lnTo>
                  <a:lnTo>
                    <a:pt x="12" y="0"/>
                  </a:lnTo>
                  <a:lnTo>
                    <a:pt x="7" y="1"/>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42" name="Freeform 140"/>
            <p:cNvSpPr>
              <a:spLocks/>
            </p:cNvSpPr>
            <p:nvPr/>
          </p:nvSpPr>
          <p:spPr bwMode="auto">
            <a:xfrm>
              <a:off x="2018" y="2236"/>
              <a:ext cx="20" cy="16"/>
            </a:xfrm>
            <a:custGeom>
              <a:avLst/>
              <a:gdLst>
                <a:gd name="T0" fmla="*/ 7 w 24"/>
                <a:gd name="T1" fmla="*/ 1 h 24"/>
                <a:gd name="T2" fmla="*/ 3 w 24"/>
                <a:gd name="T3" fmla="*/ 3 h 24"/>
                <a:gd name="T4" fmla="*/ 1 w 24"/>
                <a:gd name="T5" fmla="*/ 7 h 24"/>
                <a:gd name="T6" fmla="*/ 0 w 24"/>
                <a:gd name="T7" fmla="*/ 12 h 24"/>
                <a:gd name="T8" fmla="*/ 1 w 24"/>
                <a:gd name="T9" fmla="*/ 17 h 24"/>
                <a:gd name="T10" fmla="*/ 3 w 24"/>
                <a:gd name="T11" fmla="*/ 20 h 24"/>
                <a:gd name="T12" fmla="*/ 7 w 24"/>
                <a:gd name="T13" fmla="*/ 23 h 24"/>
                <a:gd name="T14" fmla="*/ 12 w 24"/>
                <a:gd name="T15" fmla="*/ 24 h 24"/>
                <a:gd name="T16" fmla="*/ 16 w 24"/>
                <a:gd name="T17" fmla="*/ 23 h 24"/>
                <a:gd name="T18" fmla="*/ 16 w 24"/>
                <a:gd name="T19" fmla="*/ 23 h 24"/>
                <a:gd name="T20" fmla="*/ 20 w 24"/>
                <a:gd name="T21" fmla="*/ 20 h 24"/>
                <a:gd name="T22" fmla="*/ 23 w 24"/>
                <a:gd name="T23" fmla="*/ 17 h 24"/>
                <a:gd name="T24" fmla="*/ 24 w 24"/>
                <a:gd name="T25" fmla="*/ 12 h 24"/>
                <a:gd name="T26" fmla="*/ 23 w 24"/>
                <a:gd name="T27" fmla="*/ 7 h 24"/>
                <a:gd name="T28" fmla="*/ 20 w 24"/>
                <a:gd name="T29" fmla="*/ 3 h 24"/>
                <a:gd name="T30" fmla="*/ 17 w 24"/>
                <a:gd name="T31" fmla="*/ 1 h 24"/>
                <a:gd name="T32" fmla="*/ 12 w 24"/>
                <a:gd name="T33" fmla="*/ 0 h 24"/>
                <a:gd name="T34" fmla="*/ 7 w 24"/>
                <a:gd name="T35" fmla="*/ 1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7" y="1"/>
                  </a:moveTo>
                  <a:lnTo>
                    <a:pt x="3" y="3"/>
                  </a:lnTo>
                  <a:lnTo>
                    <a:pt x="1" y="7"/>
                  </a:lnTo>
                  <a:lnTo>
                    <a:pt x="0" y="12"/>
                  </a:lnTo>
                  <a:lnTo>
                    <a:pt x="1" y="17"/>
                  </a:lnTo>
                  <a:lnTo>
                    <a:pt x="3" y="20"/>
                  </a:lnTo>
                  <a:lnTo>
                    <a:pt x="7" y="23"/>
                  </a:lnTo>
                  <a:lnTo>
                    <a:pt x="12" y="24"/>
                  </a:lnTo>
                  <a:lnTo>
                    <a:pt x="16" y="23"/>
                  </a:lnTo>
                  <a:lnTo>
                    <a:pt x="16" y="23"/>
                  </a:lnTo>
                  <a:lnTo>
                    <a:pt x="20" y="20"/>
                  </a:lnTo>
                  <a:lnTo>
                    <a:pt x="23" y="17"/>
                  </a:lnTo>
                  <a:lnTo>
                    <a:pt x="24" y="12"/>
                  </a:lnTo>
                  <a:lnTo>
                    <a:pt x="23" y="7"/>
                  </a:lnTo>
                  <a:lnTo>
                    <a:pt x="20" y="3"/>
                  </a:lnTo>
                  <a:lnTo>
                    <a:pt x="17" y="1"/>
                  </a:lnTo>
                  <a:lnTo>
                    <a:pt x="12" y="0"/>
                  </a:lnTo>
                  <a:lnTo>
                    <a:pt x="7" y="1"/>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43" name="Freeform 141"/>
            <p:cNvSpPr>
              <a:spLocks/>
            </p:cNvSpPr>
            <p:nvPr/>
          </p:nvSpPr>
          <p:spPr bwMode="auto">
            <a:xfrm>
              <a:off x="2054" y="2221"/>
              <a:ext cx="20" cy="16"/>
            </a:xfrm>
            <a:custGeom>
              <a:avLst/>
              <a:gdLst>
                <a:gd name="T0" fmla="*/ 7 w 24"/>
                <a:gd name="T1" fmla="*/ 1 h 24"/>
                <a:gd name="T2" fmla="*/ 3 w 24"/>
                <a:gd name="T3" fmla="*/ 4 h 24"/>
                <a:gd name="T4" fmla="*/ 1 w 24"/>
                <a:gd name="T5" fmla="*/ 8 h 24"/>
                <a:gd name="T6" fmla="*/ 0 w 24"/>
                <a:gd name="T7" fmla="*/ 12 h 24"/>
                <a:gd name="T8" fmla="*/ 1 w 24"/>
                <a:gd name="T9" fmla="*/ 17 h 24"/>
                <a:gd name="T10" fmla="*/ 3 w 24"/>
                <a:gd name="T11" fmla="*/ 21 h 24"/>
                <a:gd name="T12" fmla="*/ 7 w 24"/>
                <a:gd name="T13" fmla="*/ 24 h 24"/>
                <a:gd name="T14" fmla="*/ 12 w 24"/>
                <a:gd name="T15" fmla="*/ 24 h 24"/>
                <a:gd name="T16" fmla="*/ 16 w 24"/>
                <a:gd name="T17" fmla="*/ 23 h 24"/>
                <a:gd name="T18" fmla="*/ 16 w 24"/>
                <a:gd name="T19" fmla="*/ 23 h 24"/>
                <a:gd name="T20" fmla="*/ 20 w 24"/>
                <a:gd name="T21" fmla="*/ 21 h 24"/>
                <a:gd name="T22" fmla="*/ 23 w 24"/>
                <a:gd name="T23" fmla="*/ 17 h 24"/>
                <a:gd name="T24" fmla="*/ 24 w 24"/>
                <a:gd name="T25" fmla="*/ 12 h 24"/>
                <a:gd name="T26" fmla="*/ 23 w 24"/>
                <a:gd name="T27" fmla="*/ 8 h 24"/>
                <a:gd name="T28" fmla="*/ 20 w 24"/>
                <a:gd name="T29" fmla="*/ 4 h 24"/>
                <a:gd name="T30" fmla="*/ 17 w 24"/>
                <a:gd name="T31" fmla="*/ 1 h 24"/>
                <a:gd name="T32" fmla="*/ 12 w 24"/>
                <a:gd name="T33" fmla="*/ 0 h 24"/>
                <a:gd name="T34" fmla="*/ 7 w 24"/>
                <a:gd name="T35" fmla="*/ 1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7" y="1"/>
                  </a:moveTo>
                  <a:lnTo>
                    <a:pt x="3" y="4"/>
                  </a:lnTo>
                  <a:lnTo>
                    <a:pt x="1" y="8"/>
                  </a:lnTo>
                  <a:lnTo>
                    <a:pt x="0" y="12"/>
                  </a:lnTo>
                  <a:lnTo>
                    <a:pt x="1" y="17"/>
                  </a:lnTo>
                  <a:lnTo>
                    <a:pt x="3" y="21"/>
                  </a:lnTo>
                  <a:lnTo>
                    <a:pt x="7" y="24"/>
                  </a:lnTo>
                  <a:lnTo>
                    <a:pt x="12" y="24"/>
                  </a:lnTo>
                  <a:lnTo>
                    <a:pt x="16" y="23"/>
                  </a:lnTo>
                  <a:lnTo>
                    <a:pt x="16" y="23"/>
                  </a:lnTo>
                  <a:lnTo>
                    <a:pt x="20" y="21"/>
                  </a:lnTo>
                  <a:lnTo>
                    <a:pt x="23" y="17"/>
                  </a:lnTo>
                  <a:lnTo>
                    <a:pt x="24" y="12"/>
                  </a:lnTo>
                  <a:lnTo>
                    <a:pt x="23" y="8"/>
                  </a:lnTo>
                  <a:lnTo>
                    <a:pt x="20" y="4"/>
                  </a:lnTo>
                  <a:lnTo>
                    <a:pt x="17" y="1"/>
                  </a:lnTo>
                  <a:lnTo>
                    <a:pt x="12" y="0"/>
                  </a:lnTo>
                  <a:lnTo>
                    <a:pt x="7" y="1"/>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44" name="Freeform 142"/>
            <p:cNvSpPr>
              <a:spLocks/>
            </p:cNvSpPr>
            <p:nvPr/>
          </p:nvSpPr>
          <p:spPr bwMode="auto">
            <a:xfrm>
              <a:off x="2089" y="2207"/>
              <a:ext cx="21" cy="16"/>
            </a:xfrm>
            <a:custGeom>
              <a:avLst/>
              <a:gdLst>
                <a:gd name="T0" fmla="*/ 7 w 24"/>
                <a:gd name="T1" fmla="*/ 1 h 24"/>
                <a:gd name="T2" fmla="*/ 3 w 24"/>
                <a:gd name="T3" fmla="*/ 4 h 24"/>
                <a:gd name="T4" fmla="*/ 1 w 24"/>
                <a:gd name="T5" fmla="*/ 7 h 24"/>
                <a:gd name="T6" fmla="*/ 0 w 24"/>
                <a:gd name="T7" fmla="*/ 12 h 24"/>
                <a:gd name="T8" fmla="*/ 1 w 24"/>
                <a:gd name="T9" fmla="*/ 17 h 24"/>
                <a:gd name="T10" fmla="*/ 3 w 24"/>
                <a:gd name="T11" fmla="*/ 21 h 24"/>
                <a:gd name="T12" fmla="*/ 7 w 24"/>
                <a:gd name="T13" fmla="*/ 23 h 24"/>
                <a:gd name="T14" fmla="*/ 12 w 24"/>
                <a:gd name="T15" fmla="*/ 24 h 24"/>
                <a:gd name="T16" fmla="*/ 16 w 24"/>
                <a:gd name="T17" fmla="*/ 23 h 24"/>
                <a:gd name="T18" fmla="*/ 16 w 24"/>
                <a:gd name="T19" fmla="*/ 23 h 24"/>
                <a:gd name="T20" fmla="*/ 20 w 24"/>
                <a:gd name="T21" fmla="*/ 21 h 24"/>
                <a:gd name="T22" fmla="*/ 23 w 24"/>
                <a:gd name="T23" fmla="*/ 17 h 24"/>
                <a:gd name="T24" fmla="*/ 24 w 24"/>
                <a:gd name="T25" fmla="*/ 12 h 24"/>
                <a:gd name="T26" fmla="*/ 23 w 24"/>
                <a:gd name="T27" fmla="*/ 7 h 24"/>
                <a:gd name="T28" fmla="*/ 20 w 24"/>
                <a:gd name="T29" fmla="*/ 4 h 24"/>
                <a:gd name="T30" fmla="*/ 17 w 24"/>
                <a:gd name="T31" fmla="*/ 1 h 24"/>
                <a:gd name="T32" fmla="*/ 12 w 24"/>
                <a:gd name="T33" fmla="*/ 0 h 24"/>
                <a:gd name="T34" fmla="*/ 7 w 24"/>
                <a:gd name="T35" fmla="*/ 1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7" y="1"/>
                  </a:moveTo>
                  <a:lnTo>
                    <a:pt x="3" y="4"/>
                  </a:lnTo>
                  <a:lnTo>
                    <a:pt x="1" y="7"/>
                  </a:lnTo>
                  <a:lnTo>
                    <a:pt x="0" y="12"/>
                  </a:lnTo>
                  <a:lnTo>
                    <a:pt x="1" y="17"/>
                  </a:lnTo>
                  <a:lnTo>
                    <a:pt x="3" y="21"/>
                  </a:lnTo>
                  <a:lnTo>
                    <a:pt x="7" y="23"/>
                  </a:lnTo>
                  <a:lnTo>
                    <a:pt x="12" y="24"/>
                  </a:lnTo>
                  <a:lnTo>
                    <a:pt x="16" y="23"/>
                  </a:lnTo>
                  <a:lnTo>
                    <a:pt x="16" y="23"/>
                  </a:lnTo>
                  <a:lnTo>
                    <a:pt x="20" y="21"/>
                  </a:lnTo>
                  <a:lnTo>
                    <a:pt x="23" y="17"/>
                  </a:lnTo>
                  <a:lnTo>
                    <a:pt x="24" y="12"/>
                  </a:lnTo>
                  <a:lnTo>
                    <a:pt x="23" y="7"/>
                  </a:lnTo>
                  <a:lnTo>
                    <a:pt x="20" y="4"/>
                  </a:lnTo>
                  <a:lnTo>
                    <a:pt x="17" y="1"/>
                  </a:lnTo>
                  <a:lnTo>
                    <a:pt x="12" y="0"/>
                  </a:lnTo>
                  <a:lnTo>
                    <a:pt x="7" y="1"/>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45" name="Freeform 143"/>
            <p:cNvSpPr>
              <a:spLocks/>
            </p:cNvSpPr>
            <p:nvPr/>
          </p:nvSpPr>
          <p:spPr bwMode="auto">
            <a:xfrm>
              <a:off x="2126" y="2193"/>
              <a:ext cx="20" cy="16"/>
            </a:xfrm>
            <a:custGeom>
              <a:avLst/>
              <a:gdLst>
                <a:gd name="T0" fmla="*/ 7 w 24"/>
                <a:gd name="T1" fmla="*/ 1 h 24"/>
                <a:gd name="T2" fmla="*/ 3 w 24"/>
                <a:gd name="T3" fmla="*/ 3 h 24"/>
                <a:gd name="T4" fmla="*/ 1 w 24"/>
                <a:gd name="T5" fmla="*/ 7 h 24"/>
                <a:gd name="T6" fmla="*/ 0 w 24"/>
                <a:gd name="T7" fmla="*/ 12 h 24"/>
                <a:gd name="T8" fmla="*/ 1 w 24"/>
                <a:gd name="T9" fmla="*/ 16 h 24"/>
                <a:gd name="T10" fmla="*/ 3 w 24"/>
                <a:gd name="T11" fmla="*/ 20 h 24"/>
                <a:gd name="T12" fmla="*/ 7 w 24"/>
                <a:gd name="T13" fmla="*/ 23 h 24"/>
                <a:gd name="T14" fmla="*/ 12 w 24"/>
                <a:gd name="T15" fmla="*/ 24 h 24"/>
                <a:gd name="T16" fmla="*/ 16 w 24"/>
                <a:gd name="T17" fmla="*/ 23 h 24"/>
                <a:gd name="T18" fmla="*/ 16 w 24"/>
                <a:gd name="T19" fmla="*/ 23 h 24"/>
                <a:gd name="T20" fmla="*/ 20 w 24"/>
                <a:gd name="T21" fmla="*/ 20 h 24"/>
                <a:gd name="T22" fmla="*/ 23 w 24"/>
                <a:gd name="T23" fmla="*/ 16 h 24"/>
                <a:gd name="T24" fmla="*/ 24 w 24"/>
                <a:gd name="T25" fmla="*/ 12 h 24"/>
                <a:gd name="T26" fmla="*/ 23 w 24"/>
                <a:gd name="T27" fmla="*/ 7 h 24"/>
                <a:gd name="T28" fmla="*/ 20 w 24"/>
                <a:gd name="T29" fmla="*/ 3 h 24"/>
                <a:gd name="T30" fmla="*/ 17 w 24"/>
                <a:gd name="T31" fmla="*/ 1 h 24"/>
                <a:gd name="T32" fmla="*/ 12 w 24"/>
                <a:gd name="T33" fmla="*/ 0 h 24"/>
                <a:gd name="T34" fmla="*/ 7 w 24"/>
                <a:gd name="T35" fmla="*/ 1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7" y="1"/>
                  </a:moveTo>
                  <a:lnTo>
                    <a:pt x="3" y="3"/>
                  </a:lnTo>
                  <a:lnTo>
                    <a:pt x="1" y="7"/>
                  </a:lnTo>
                  <a:lnTo>
                    <a:pt x="0" y="12"/>
                  </a:lnTo>
                  <a:lnTo>
                    <a:pt x="1" y="16"/>
                  </a:lnTo>
                  <a:lnTo>
                    <a:pt x="3" y="20"/>
                  </a:lnTo>
                  <a:lnTo>
                    <a:pt x="7" y="23"/>
                  </a:lnTo>
                  <a:lnTo>
                    <a:pt x="12" y="24"/>
                  </a:lnTo>
                  <a:lnTo>
                    <a:pt x="16" y="23"/>
                  </a:lnTo>
                  <a:lnTo>
                    <a:pt x="16" y="23"/>
                  </a:lnTo>
                  <a:lnTo>
                    <a:pt x="20" y="20"/>
                  </a:lnTo>
                  <a:lnTo>
                    <a:pt x="23" y="16"/>
                  </a:lnTo>
                  <a:lnTo>
                    <a:pt x="24" y="12"/>
                  </a:lnTo>
                  <a:lnTo>
                    <a:pt x="23" y="7"/>
                  </a:lnTo>
                  <a:lnTo>
                    <a:pt x="20" y="3"/>
                  </a:lnTo>
                  <a:lnTo>
                    <a:pt x="17" y="1"/>
                  </a:lnTo>
                  <a:lnTo>
                    <a:pt x="12" y="0"/>
                  </a:lnTo>
                  <a:lnTo>
                    <a:pt x="7" y="1"/>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46" name="Freeform 144"/>
            <p:cNvSpPr>
              <a:spLocks/>
            </p:cNvSpPr>
            <p:nvPr/>
          </p:nvSpPr>
          <p:spPr bwMode="auto">
            <a:xfrm>
              <a:off x="2162" y="2178"/>
              <a:ext cx="20" cy="16"/>
            </a:xfrm>
            <a:custGeom>
              <a:avLst/>
              <a:gdLst>
                <a:gd name="T0" fmla="*/ 7 w 24"/>
                <a:gd name="T1" fmla="*/ 1 h 24"/>
                <a:gd name="T2" fmla="*/ 3 w 24"/>
                <a:gd name="T3" fmla="*/ 4 h 24"/>
                <a:gd name="T4" fmla="*/ 1 w 24"/>
                <a:gd name="T5" fmla="*/ 8 h 24"/>
                <a:gd name="T6" fmla="*/ 0 w 24"/>
                <a:gd name="T7" fmla="*/ 12 h 24"/>
                <a:gd name="T8" fmla="*/ 1 w 24"/>
                <a:gd name="T9" fmla="*/ 17 h 24"/>
                <a:gd name="T10" fmla="*/ 3 w 24"/>
                <a:gd name="T11" fmla="*/ 21 h 24"/>
                <a:gd name="T12" fmla="*/ 7 w 24"/>
                <a:gd name="T13" fmla="*/ 23 h 24"/>
                <a:gd name="T14" fmla="*/ 12 w 24"/>
                <a:gd name="T15" fmla="*/ 24 h 24"/>
                <a:gd name="T16" fmla="*/ 16 w 24"/>
                <a:gd name="T17" fmla="*/ 23 h 24"/>
                <a:gd name="T18" fmla="*/ 16 w 24"/>
                <a:gd name="T19" fmla="*/ 23 h 24"/>
                <a:gd name="T20" fmla="*/ 20 w 24"/>
                <a:gd name="T21" fmla="*/ 21 h 24"/>
                <a:gd name="T22" fmla="*/ 23 w 24"/>
                <a:gd name="T23" fmla="*/ 17 h 24"/>
                <a:gd name="T24" fmla="*/ 24 w 24"/>
                <a:gd name="T25" fmla="*/ 12 h 24"/>
                <a:gd name="T26" fmla="*/ 23 w 24"/>
                <a:gd name="T27" fmla="*/ 8 h 24"/>
                <a:gd name="T28" fmla="*/ 20 w 24"/>
                <a:gd name="T29" fmla="*/ 4 h 24"/>
                <a:gd name="T30" fmla="*/ 17 w 24"/>
                <a:gd name="T31" fmla="*/ 1 h 24"/>
                <a:gd name="T32" fmla="*/ 12 w 24"/>
                <a:gd name="T33" fmla="*/ 0 h 24"/>
                <a:gd name="T34" fmla="*/ 7 w 24"/>
                <a:gd name="T35" fmla="*/ 1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7" y="1"/>
                  </a:moveTo>
                  <a:lnTo>
                    <a:pt x="3" y="4"/>
                  </a:lnTo>
                  <a:lnTo>
                    <a:pt x="1" y="8"/>
                  </a:lnTo>
                  <a:lnTo>
                    <a:pt x="0" y="12"/>
                  </a:lnTo>
                  <a:lnTo>
                    <a:pt x="1" y="17"/>
                  </a:lnTo>
                  <a:lnTo>
                    <a:pt x="3" y="21"/>
                  </a:lnTo>
                  <a:lnTo>
                    <a:pt x="7" y="23"/>
                  </a:lnTo>
                  <a:lnTo>
                    <a:pt x="12" y="24"/>
                  </a:lnTo>
                  <a:lnTo>
                    <a:pt x="16" y="23"/>
                  </a:lnTo>
                  <a:lnTo>
                    <a:pt x="16" y="23"/>
                  </a:lnTo>
                  <a:lnTo>
                    <a:pt x="20" y="21"/>
                  </a:lnTo>
                  <a:lnTo>
                    <a:pt x="23" y="17"/>
                  </a:lnTo>
                  <a:lnTo>
                    <a:pt x="24" y="12"/>
                  </a:lnTo>
                  <a:lnTo>
                    <a:pt x="23" y="8"/>
                  </a:lnTo>
                  <a:lnTo>
                    <a:pt x="20" y="4"/>
                  </a:lnTo>
                  <a:lnTo>
                    <a:pt x="17" y="1"/>
                  </a:lnTo>
                  <a:lnTo>
                    <a:pt x="12" y="0"/>
                  </a:lnTo>
                  <a:lnTo>
                    <a:pt x="7" y="1"/>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47" name="Freeform 145"/>
            <p:cNvSpPr>
              <a:spLocks/>
            </p:cNvSpPr>
            <p:nvPr/>
          </p:nvSpPr>
          <p:spPr bwMode="auto">
            <a:xfrm>
              <a:off x="2198" y="2164"/>
              <a:ext cx="20" cy="16"/>
            </a:xfrm>
            <a:custGeom>
              <a:avLst/>
              <a:gdLst>
                <a:gd name="T0" fmla="*/ 7 w 24"/>
                <a:gd name="T1" fmla="*/ 1 h 24"/>
                <a:gd name="T2" fmla="*/ 3 w 24"/>
                <a:gd name="T3" fmla="*/ 3 h 24"/>
                <a:gd name="T4" fmla="*/ 1 w 24"/>
                <a:gd name="T5" fmla="*/ 7 h 24"/>
                <a:gd name="T6" fmla="*/ 0 w 24"/>
                <a:gd name="T7" fmla="*/ 12 h 24"/>
                <a:gd name="T8" fmla="*/ 1 w 24"/>
                <a:gd name="T9" fmla="*/ 17 h 24"/>
                <a:gd name="T10" fmla="*/ 3 w 24"/>
                <a:gd name="T11" fmla="*/ 20 h 24"/>
                <a:gd name="T12" fmla="*/ 7 w 24"/>
                <a:gd name="T13" fmla="*/ 23 h 24"/>
                <a:gd name="T14" fmla="*/ 12 w 24"/>
                <a:gd name="T15" fmla="*/ 24 h 24"/>
                <a:gd name="T16" fmla="*/ 16 w 24"/>
                <a:gd name="T17" fmla="*/ 23 h 24"/>
                <a:gd name="T18" fmla="*/ 16 w 24"/>
                <a:gd name="T19" fmla="*/ 23 h 24"/>
                <a:gd name="T20" fmla="*/ 20 w 24"/>
                <a:gd name="T21" fmla="*/ 20 h 24"/>
                <a:gd name="T22" fmla="*/ 23 w 24"/>
                <a:gd name="T23" fmla="*/ 17 h 24"/>
                <a:gd name="T24" fmla="*/ 24 w 24"/>
                <a:gd name="T25" fmla="*/ 12 h 24"/>
                <a:gd name="T26" fmla="*/ 23 w 24"/>
                <a:gd name="T27" fmla="*/ 7 h 24"/>
                <a:gd name="T28" fmla="*/ 20 w 24"/>
                <a:gd name="T29" fmla="*/ 3 h 24"/>
                <a:gd name="T30" fmla="*/ 17 w 24"/>
                <a:gd name="T31" fmla="*/ 1 h 24"/>
                <a:gd name="T32" fmla="*/ 12 w 24"/>
                <a:gd name="T33" fmla="*/ 0 h 24"/>
                <a:gd name="T34" fmla="*/ 7 w 24"/>
                <a:gd name="T35" fmla="*/ 1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7" y="1"/>
                  </a:moveTo>
                  <a:lnTo>
                    <a:pt x="3" y="3"/>
                  </a:lnTo>
                  <a:lnTo>
                    <a:pt x="1" y="7"/>
                  </a:lnTo>
                  <a:lnTo>
                    <a:pt x="0" y="12"/>
                  </a:lnTo>
                  <a:lnTo>
                    <a:pt x="1" y="17"/>
                  </a:lnTo>
                  <a:lnTo>
                    <a:pt x="3" y="20"/>
                  </a:lnTo>
                  <a:lnTo>
                    <a:pt x="7" y="23"/>
                  </a:lnTo>
                  <a:lnTo>
                    <a:pt x="12" y="24"/>
                  </a:lnTo>
                  <a:lnTo>
                    <a:pt x="16" y="23"/>
                  </a:lnTo>
                  <a:lnTo>
                    <a:pt x="16" y="23"/>
                  </a:lnTo>
                  <a:lnTo>
                    <a:pt x="20" y="20"/>
                  </a:lnTo>
                  <a:lnTo>
                    <a:pt x="23" y="17"/>
                  </a:lnTo>
                  <a:lnTo>
                    <a:pt x="24" y="12"/>
                  </a:lnTo>
                  <a:lnTo>
                    <a:pt x="23" y="7"/>
                  </a:lnTo>
                  <a:lnTo>
                    <a:pt x="20" y="3"/>
                  </a:lnTo>
                  <a:lnTo>
                    <a:pt x="17" y="1"/>
                  </a:lnTo>
                  <a:lnTo>
                    <a:pt x="12" y="0"/>
                  </a:lnTo>
                  <a:lnTo>
                    <a:pt x="7" y="1"/>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48" name="Freeform 146"/>
            <p:cNvSpPr>
              <a:spLocks/>
            </p:cNvSpPr>
            <p:nvPr/>
          </p:nvSpPr>
          <p:spPr bwMode="auto">
            <a:xfrm>
              <a:off x="2223" y="2127"/>
              <a:ext cx="100" cy="63"/>
            </a:xfrm>
            <a:custGeom>
              <a:avLst/>
              <a:gdLst>
                <a:gd name="T0" fmla="*/ 47 w 119"/>
                <a:gd name="T1" fmla="*/ 96 h 96"/>
                <a:gd name="T2" fmla="*/ 119 w 119"/>
                <a:gd name="T3" fmla="*/ 0 h 96"/>
                <a:gd name="T4" fmla="*/ 0 w 119"/>
                <a:gd name="T5" fmla="*/ 0 h 96"/>
                <a:gd name="T6" fmla="*/ 47 w 119"/>
                <a:gd name="T7" fmla="*/ 96 h 96"/>
              </a:gdLst>
              <a:ahLst/>
              <a:cxnLst>
                <a:cxn ang="0">
                  <a:pos x="T0" y="T1"/>
                </a:cxn>
                <a:cxn ang="0">
                  <a:pos x="T2" y="T3"/>
                </a:cxn>
                <a:cxn ang="0">
                  <a:pos x="T4" y="T5"/>
                </a:cxn>
                <a:cxn ang="0">
                  <a:pos x="T6" y="T7"/>
                </a:cxn>
              </a:cxnLst>
              <a:rect l="0" t="0" r="r" b="b"/>
              <a:pathLst>
                <a:path w="119" h="96">
                  <a:moveTo>
                    <a:pt x="47" y="96"/>
                  </a:moveTo>
                  <a:lnTo>
                    <a:pt x="119" y="0"/>
                  </a:lnTo>
                  <a:lnTo>
                    <a:pt x="0" y="0"/>
                  </a:lnTo>
                  <a:lnTo>
                    <a:pt x="47" y="96"/>
                  </a:lnTo>
                  <a:close/>
                </a:path>
              </a:pathLst>
            </a:custGeom>
            <a:solidFill>
              <a:srgbClr val="0033CC"/>
            </a:solidFill>
            <a:ln>
              <a:noFill/>
            </a:ln>
            <a:extLst>
              <a:ext uri="{91240B29-F687-4F45-9708-019B960494DF}">
                <a14:hiddenLine xmlns:a14="http://schemas.microsoft.com/office/drawing/2010/main" w="9525">
                  <a:solidFill>
                    <a:srgbClr val="0033CC"/>
                  </a:solidFill>
                  <a:round/>
                  <a:headEnd/>
                  <a:tailEnd/>
                </a14:hiddenLine>
              </a:ext>
            </a:extLst>
          </p:spPr>
          <p:txBody>
            <a:bodyPr/>
            <a:lstStyle/>
            <a:p>
              <a:endParaRPr lang="zh-CN" altLang="en-US">
                <a:ea typeface="楷体" panose="02010609060101010101" pitchFamily="49" charset="-122"/>
              </a:endParaRPr>
            </a:p>
          </p:txBody>
        </p:sp>
        <p:sp>
          <p:nvSpPr>
            <p:cNvPr id="149" name="Freeform 147"/>
            <p:cNvSpPr>
              <a:spLocks/>
            </p:cNvSpPr>
            <p:nvPr/>
          </p:nvSpPr>
          <p:spPr bwMode="auto">
            <a:xfrm>
              <a:off x="1868" y="2693"/>
              <a:ext cx="21" cy="16"/>
            </a:xfrm>
            <a:custGeom>
              <a:avLst/>
              <a:gdLst>
                <a:gd name="T0" fmla="*/ 4 w 24"/>
                <a:gd name="T1" fmla="*/ 4 h 24"/>
                <a:gd name="T2" fmla="*/ 1 w 24"/>
                <a:gd name="T3" fmla="*/ 7 h 24"/>
                <a:gd name="T4" fmla="*/ 0 w 24"/>
                <a:gd name="T5" fmla="*/ 12 h 24"/>
                <a:gd name="T6" fmla="*/ 1 w 24"/>
                <a:gd name="T7" fmla="*/ 17 h 24"/>
                <a:gd name="T8" fmla="*/ 4 w 24"/>
                <a:gd name="T9" fmla="*/ 20 h 24"/>
                <a:gd name="T10" fmla="*/ 7 w 24"/>
                <a:gd name="T11" fmla="*/ 23 h 24"/>
                <a:gd name="T12" fmla="*/ 12 w 24"/>
                <a:gd name="T13" fmla="*/ 24 h 24"/>
                <a:gd name="T14" fmla="*/ 17 w 24"/>
                <a:gd name="T15" fmla="*/ 23 h 24"/>
                <a:gd name="T16" fmla="*/ 21 w 24"/>
                <a:gd name="T17" fmla="*/ 21 h 24"/>
                <a:gd name="T18" fmla="*/ 21 w 24"/>
                <a:gd name="T19" fmla="*/ 20 h 24"/>
                <a:gd name="T20" fmla="*/ 23 w 24"/>
                <a:gd name="T21" fmla="*/ 17 h 24"/>
                <a:gd name="T22" fmla="*/ 24 w 24"/>
                <a:gd name="T23" fmla="*/ 12 h 24"/>
                <a:gd name="T24" fmla="*/ 23 w 24"/>
                <a:gd name="T25" fmla="*/ 7 h 24"/>
                <a:gd name="T26" fmla="*/ 21 w 24"/>
                <a:gd name="T27" fmla="*/ 3 h 24"/>
                <a:gd name="T28" fmla="*/ 17 w 24"/>
                <a:gd name="T29" fmla="*/ 1 h 24"/>
                <a:gd name="T30" fmla="*/ 12 w 24"/>
                <a:gd name="T31" fmla="*/ 0 h 24"/>
                <a:gd name="T32" fmla="*/ 7 w 24"/>
                <a:gd name="T33" fmla="*/ 1 h 24"/>
                <a:gd name="T34" fmla="*/ 4 w 24"/>
                <a:gd name="T35" fmla="*/ 3 h 24"/>
                <a:gd name="T36" fmla="*/ 4 w 24"/>
                <a:gd name="T37" fmla="*/ 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 h="24">
                  <a:moveTo>
                    <a:pt x="4" y="4"/>
                  </a:moveTo>
                  <a:lnTo>
                    <a:pt x="1" y="7"/>
                  </a:lnTo>
                  <a:lnTo>
                    <a:pt x="0" y="12"/>
                  </a:lnTo>
                  <a:lnTo>
                    <a:pt x="1" y="17"/>
                  </a:lnTo>
                  <a:lnTo>
                    <a:pt x="4" y="20"/>
                  </a:lnTo>
                  <a:lnTo>
                    <a:pt x="7" y="23"/>
                  </a:lnTo>
                  <a:lnTo>
                    <a:pt x="12" y="24"/>
                  </a:lnTo>
                  <a:lnTo>
                    <a:pt x="17" y="23"/>
                  </a:lnTo>
                  <a:lnTo>
                    <a:pt x="21" y="21"/>
                  </a:lnTo>
                  <a:lnTo>
                    <a:pt x="21" y="20"/>
                  </a:lnTo>
                  <a:lnTo>
                    <a:pt x="23" y="17"/>
                  </a:lnTo>
                  <a:lnTo>
                    <a:pt x="24" y="12"/>
                  </a:lnTo>
                  <a:lnTo>
                    <a:pt x="23" y="7"/>
                  </a:lnTo>
                  <a:lnTo>
                    <a:pt x="21" y="3"/>
                  </a:lnTo>
                  <a:lnTo>
                    <a:pt x="17" y="1"/>
                  </a:lnTo>
                  <a:lnTo>
                    <a:pt x="12" y="0"/>
                  </a:lnTo>
                  <a:lnTo>
                    <a:pt x="7" y="1"/>
                  </a:lnTo>
                  <a:lnTo>
                    <a:pt x="4" y="3"/>
                  </a:lnTo>
                  <a:lnTo>
                    <a:pt x="4" y="4"/>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50" name="Freeform 148"/>
            <p:cNvSpPr>
              <a:spLocks/>
            </p:cNvSpPr>
            <p:nvPr/>
          </p:nvSpPr>
          <p:spPr bwMode="auto">
            <a:xfrm>
              <a:off x="1895" y="2670"/>
              <a:ext cx="21" cy="16"/>
            </a:xfrm>
            <a:custGeom>
              <a:avLst/>
              <a:gdLst>
                <a:gd name="T0" fmla="*/ 4 w 24"/>
                <a:gd name="T1" fmla="*/ 3 h 24"/>
                <a:gd name="T2" fmla="*/ 1 w 24"/>
                <a:gd name="T3" fmla="*/ 7 h 24"/>
                <a:gd name="T4" fmla="*/ 0 w 24"/>
                <a:gd name="T5" fmla="*/ 12 h 24"/>
                <a:gd name="T6" fmla="*/ 1 w 24"/>
                <a:gd name="T7" fmla="*/ 16 h 24"/>
                <a:gd name="T8" fmla="*/ 4 w 24"/>
                <a:gd name="T9" fmla="*/ 20 h 24"/>
                <a:gd name="T10" fmla="*/ 8 w 24"/>
                <a:gd name="T11" fmla="*/ 23 h 24"/>
                <a:gd name="T12" fmla="*/ 12 w 24"/>
                <a:gd name="T13" fmla="*/ 24 h 24"/>
                <a:gd name="T14" fmla="*/ 17 w 24"/>
                <a:gd name="T15" fmla="*/ 23 h 24"/>
                <a:gd name="T16" fmla="*/ 21 w 24"/>
                <a:gd name="T17" fmla="*/ 20 h 24"/>
                <a:gd name="T18" fmla="*/ 21 w 24"/>
                <a:gd name="T19" fmla="*/ 20 h 24"/>
                <a:gd name="T20" fmla="*/ 24 w 24"/>
                <a:gd name="T21" fmla="*/ 16 h 24"/>
                <a:gd name="T22" fmla="*/ 24 w 24"/>
                <a:gd name="T23" fmla="*/ 12 h 24"/>
                <a:gd name="T24" fmla="*/ 24 w 24"/>
                <a:gd name="T25" fmla="*/ 7 h 24"/>
                <a:gd name="T26" fmla="*/ 21 w 24"/>
                <a:gd name="T27" fmla="*/ 3 h 24"/>
                <a:gd name="T28" fmla="*/ 17 w 24"/>
                <a:gd name="T29" fmla="*/ 1 h 24"/>
                <a:gd name="T30" fmla="*/ 12 w 24"/>
                <a:gd name="T31" fmla="*/ 0 h 24"/>
                <a:gd name="T32" fmla="*/ 8 w 24"/>
                <a:gd name="T33" fmla="*/ 1 h 24"/>
                <a:gd name="T34" fmla="*/ 4 w 24"/>
                <a:gd name="T35" fmla="*/ 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4" y="3"/>
                  </a:moveTo>
                  <a:lnTo>
                    <a:pt x="1" y="7"/>
                  </a:lnTo>
                  <a:lnTo>
                    <a:pt x="0" y="12"/>
                  </a:lnTo>
                  <a:lnTo>
                    <a:pt x="1" y="16"/>
                  </a:lnTo>
                  <a:lnTo>
                    <a:pt x="4" y="20"/>
                  </a:lnTo>
                  <a:lnTo>
                    <a:pt x="8" y="23"/>
                  </a:lnTo>
                  <a:lnTo>
                    <a:pt x="12" y="24"/>
                  </a:lnTo>
                  <a:lnTo>
                    <a:pt x="17" y="23"/>
                  </a:lnTo>
                  <a:lnTo>
                    <a:pt x="21" y="20"/>
                  </a:lnTo>
                  <a:lnTo>
                    <a:pt x="21" y="20"/>
                  </a:lnTo>
                  <a:lnTo>
                    <a:pt x="24" y="16"/>
                  </a:lnTo>
                  <a:lnTo>
                    <a:pt x="24" y="12"/>
                  </a:lnTo>
                  <a:lnTo>
                    <a:pt x="24" y="7"/>
                  </a:lnTo>
                  <a:lnTo>
                    <a:pt x="21" y="3"/>
                  </a:lnTo>
                  <a:lnTo>
                    <a:pt x="17" y="1"/>
                  </a:lnTo>
                  <a:lnTo>
                    <a:pt x="12" y="0"/>
                  </a:lnTo>
                  <a:lnTo>
                    <a:pt x="8" y="1"/>
                  </a:lnTo>
                  <a:lnTo>
                    <a:pt x="4" y="3"/>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51" name="Freeform 149"/>
            <p:cNvSpPr>
              <a:spLocks/>
            </p:cNvSpPr>
            <p:nvPr/>
          </p:nvSpPr>
          <p:spPr bwMode="auto">
            <a:xfrm>
              <a:off x="1923" y="2646"/>
              <a:ext cx="20" cy="16"/>
            </a:xfrm>
            <a:custGeom>
              <a:avLst/>
              <a:gdLst>
                <a:gd name="T0" fmla="*/ 3 w 24"/>
                <a:gd name="T1" fmla="*/ 4 h 24"/>
                <a:gd name="T2" fmla="*/ 1 w 24"/>
                <a:gd name="T3" fmla="*/ 8 h 24"/>
                <a:gd name="T4" fmla="*/ 0 w 24"/>
                <a:gd name="T5" fmla="*/ 12 h 24"/>
                <a:gd name="T6" fmla="*/ 1 w 24"/>
                <a:gd name="T7" fmla="*/ 17 h 24"/>
                <a:gd name="T8" fmla="*/ 3 w 24"/>
                <a:gd name="T9" fmla="*/ 21 h 24"/>
                <a:gd name="T10" fmla="*/ 7 w 24"/>
                <a:gd name="T11" fmla="*/ 23 h 24"/>
                <a:gd name="T12" fmla="*/ 12 w 24"/>
                <a:gd name="T13" fmla="*/ 24 h 24"/>
                <a:gd name="T14" fmla="*/ 17 w 24"/>
                <a:gd name="T15" fmla="*/ 23 h 24"/>
                <a:gd name="T16" fmla="*/ 20 w 24"/>
                <a:gd name="T17" fmla="*/ 21 h 24"/>
                <a:gd name="T18" fmla="*/ 20 w 24"/>
                <a:gd name="T19" fmla="*/ 21 h 24"/>
                <a:gd name="T20" fmla="*/ 23 w 24"/>
                <a:gd name="T21" fmla="*/ 17 h 24"/>
                <a:gd name="T22" fmla="*/ 24 w 24"/>
                <a:gd name="T23" fmla="*/ 12 h 24"/>
                <a:gd name="T24" fmla="*/ 23 w 24"/>
                <a:gd name="T25" fmla="*/ 8 h 24"/>
                <a:gd name="T26" fmla="*/ 20 w 24"/>
                <a:gd name="T27" fmla="*/ 4 h 24"/>
                <a:gd name="T28" fmla="*/ 17 w 24"/>
                <a:gd name="T29" fmla="*/ 1 h 24"/>
                <a:gd name="T30" fmla="*/ 12 w 24"/>
                <a:gd name="T31" fmla="*/ 0 h 24"/>
                <a:gd name="T32" fmla="*/ 7 w 24"/>
                <a:gd name="T33" fmla="*/ 1 h 24"/>
                <a:gd name="T34" fmla="*/ 3 w 24"/>
                <a:gd name="T35" fmla="*/ 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3" y="4"/>
                  </a:moveTo>
                  <a:lnTo>
                    <a:pt x="1" y="8"/>
                  </a:lnTo>
                  <a:lnTo>
                    <a:pt x="0" y="12"/>
                  </a:lnTo>
                  <a:lnTo>
                    <a:pt x="1" y="17"/>
                  </a:lnTo>
                  <a:lnTo>
                    <a:pt x="3" y="21"/>
                  </a:lnTo>
                  <a:lnTo>
                    <a:pt x="7" y="23"/>
                  </a:lnTo>
                  <a:lnTo>
                    <a:pt x="12" y="24"/>
                  </a:lnTo>
                  <a:lnTo>
                    <a:pt x="17" y="23"/>
                  </a:lnTo>
                  <a:lnTo>
                    <a:pt x="20" y="21"/>
                  </a:lnTo>
                  <a:lnTo>
                    <a:pt x="20" y="21"/>
                  </a:lnTo>
                  <a:lnTo>
                    <a:pt x="23" y="17"/>
                  </a:lnTo>
                  <a:lnTo>
                    <a:pt x="24" y="12"/>
                  </a:lnTo>
                  <a:lnTo>
                    <a:pt x="23" y="8"/>
                  </a:lnTo>
                  <a:lnTo>
                    <a:pt x="20" y="4"/>
                  </a:lnTo>
                  <a:lnTo>
                    <a:pt x="17" y="1"/>
                  </a:lnTo>
                  <a:lnTo>
                    <a:pt x="12" y="0"/>
                  </a:lnTo>
                  <a:lnTo>
                    <a:pt x="7" y="1"/>
                  </a:lnTo>
                  <a:lnTo>
                    <a:pt x="3" y="4"/>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52" name="Freeform 150"/>
            <p:cNvSpPr>
              <a:spLocks/>
            </p:cNvSpPr>
            <p:nvPr/>
          </p:nvSpPr>
          <p:spPr bwMode="auto">
            <a:xfrm>
              <a:off x="1950" y="2623"/>
              <a:ext cx="20" cy="16"/>
            </a:xfrm>
            <a:custGeom>
              <a:avLst/>
              <a:gdLst>
                <a:gd name="T0" fmla="*/ 4 w 24"/>
                <a:gd name="T1" fmla="*/ 3 h 24"/>
                <a:gd name="T2" fmla="*/ 1 w 24"/>
                <a:gd name="T3" fmla="*/ 7 h 24"/>
                <a:gd name="T4" fmla="*/ 0 w 24"/>
                <a:gd name="T5" fmla="*/ 12 h 24"/>
                <a:gd name="T6" fmla="*/ 1 w 24"/>
                <a:gd name="T7" fmla="*/ 17 h 24"/>
                <a:gd name="T8" fmla="*/ 4 w 24"/>
                <a:gd name="T9" fmla="*/ 20 h 24"/>
                <a:gd name="T10" fmla="*/ 8 w 24"/>
                <a:gd name="T11" fmla="*/ 23 h 24"/>
                <a:gd name="T12" fmla="*/ 12 w 24"/>
                <a:gd name="T13" fmla="*/ 24 h 24"/>
                <a:gd name="T14" fmla="*/ 17 w 24"/>
                <a:gd name="T15" fmla="*/ 23 h 24"/>
                <a:gd name="T16" fmla="*/ 21 w 24"/>
                <a:gd name="T17" fmla="*/ 20 h 24"/>
                <a:gd name="T18" fmla="*/ 21 w 24"/>
                <a:gd name="T19" fmla="*/ 20 h 24"/>
                <a:gd name="T20" fmla="*/ 23 w 24"/>
                <a:gd name="T21" fmla="*/ 17 h 24"/>
                <a:gd name="T22" fmla="*/ 24 w 24"/>
                <a:gd name="T23" fmla="*/ 12 h 24"/>
                <a:gd name="T24" fmla="*/ 23 w 24"/>
                <a:gd name="T25" fmla="*/ 7 h 24"/>
                <a:gd name="T26" fmla="*/ 21 w 24"/>
                <a:gd name="T27" fmla="*/ 3 h 24"/>
                <a:gd name="T28" fmla="*/ 17 w 24"/>
                <a:gd name="T29" fmla="*/ 1 h 24"/>
                <a:gd name="T30" fmla="*/ 12 w 24"/>
                <a:gd name="T31" fmla="*/ 0 h 24"/>
                <a:gd name="T32" fmla="*/ 8 w 24"/>
                <a:gd name="T33" fmla="*/ 1 h 24"/>
                <a:gd name="T34" fmla="*/ 4 w 24"/>
                <a:gd name="T35" fmla="*/ 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4" y="3"/>
                  </a:moveTo>
                  <a:lnTo>
                    <a:pt x="1" y="7"/>
                  </a:lnTo>
                  <a:lnTo>
                    <a:pt x="0" y="12"/>
                  </a:lnTo>
                  <a:lnTo>
                    <a:pt x="1" y="17"/>
                  </a:lnTo>
                  <a:lnTo>
                    <a:pt x="4" y="20"/>
                  </a:lnTo>
                  <a:lnTo>
                    <a:pt x="8" y="23"/>
                  </a:lnTo>
                  <a:lnTo>
                    <a:pt x="12" y="24"/>
                  </a:lnTo>
                  <a:lnTo>
                    <a:pt x="17" y="23"/>
                  </a:lnTo>
                  <a:lnTo>
                    <a:pt x="21" y="20"/>
                  </a:lnTo>
                  <a:lnTo>
                    <a:pt x="21" y="20"/>
                  </a:lnTo>
                  <a:lnTo>
                    <a:pt x="23" y="17"/>
                  </a:lnTo>
                  <a:lnTo>
                    <a:pt x="24" y="12"/>
                  </a:lnTo>
                  <a:lnTo>
                    <a:pt x="23" y="7"/>
                  </a:lnTo>
                  <a:lnTo>
                    <a:pt x="21" y="3"/>
                  </a:lnTo>
                  <a:lnTo>
                    <a:pt x="17" y="1"/>
                  </a:lnTo>
                  <a:lnTo>
                    <a:pt x="12" y="0"/>
                  </a:lnTo>
                  <a:lnTo>
                    <a:pt x="8" y="1"/>
                  </a:lnTo>
                  <a:lnTo>
                    <a:pt x="4" y="3"/>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53" name="Freeform 151"/>
            <p:cNvSpPr>
              <a:spLocks/>
            </p:cNvSpPr>
            <p:nvPr/>
          </p:nvSpPr>
          <p:spPr bwMode="auto">
            <a:xfrm>
              <a:off x="1978" y="2599"/>
              <a:ext cx="20" cy="16"/>
            </a:xfrm>
            <a:custGeom>
              <a:avLst/>
              <a:gdLst>
                <a:gd name="T0" fmla="*/ 3 w 24"/>
                <a:gd name="T1" fmla="*/ 3 h 24"/>
                <a:gd name="T2" fmla="*/ 1 w 24"/>
                <a:gd name="T3" fmla="*/ 7 h 24"/>
                <a:gd name="T4" fmla="*/ 0 w 24"/>
                <a:gd name="T5" fmla="*/ 12 h 24"/>
                <a:gd name="T6" fmla="*/ 1 w 24"/>
                <a:gd name="T7" fmla="*/ 16 h 24"/>
                <a:gd name="T8" fmla="*/ 3 w 24"/>
                <a:gd name="T9" fmla="*/ 20 h 24"/>
                <a:gd name="T10" fmla="*/ 7 w 24"/>
                <a:gd name="T11" fmla="*/ 23 h 24"/>
                <a:gd name="T12" fmla="*/ 12 w 24"/>
                <a:gd name="T13" fmla="*/ 24 h 24"/>
                <a:gd name="T14" fmla="*/ 17 w 24"/>
                <a:gd name="T15" fmla="*/ 23 h 24"/>
                <a:gd name="T16" fmla="*/ 20 w 24"/>
                <a:gd name="T17" fmla="*/ 20 h 24"/>
                <a:gd name="T18" fmla="*/ 20 w 24"/>
                <a:gd name="T19" fmla="*/ 20 h 24"/>
                <a:gd name="T20" fmla="*/ 23 w 24"/>
                <a:gd name="T21" fmla="*/ 16 h 24"/>
                <a:gd name="T22" fmla="*/ 24 w 24"/>
                <a:gd name="T23" fmla="*/ 12 h 24"/>
                <a:gd name="T24" fmla="*/ 23 w 24"/>
                <a:gd name="T25" fmla="*/ 7 h 24"/>
                <a:gd name="T26" fmla="*/ 20 w 24"/>
                <a:gd name="T27" fmla="*/ 3 h 24"/>
                <a:gd name="T28" fmla="*/ 17 w 24"/>
                <a:gd name="T29" fmla="*/ 0 h 24"/>
                <a:gd name="T30" fmla="*/ 12 w 24"/>
                <a:gd name="T31" fmla="*/ 0 h 24"/>
                <a:gd name="T32" fmla="*/ 7 w 24"/>
                <a:gd name="T33" fmla="*/ 0 h 24"/>
                <a:gd name="T34" fmla="*/ 3 w 24"/>
                <a:gd name="T35" fmla="*/ 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3" y="3"/>
                  </a:moveTo>
                  <a:lnTo>
                    <a:pt x="1" y="7"/>
                  </a:lnTo>
                  <a:lnTo>
                    <a:pt x="0" y="12"/>
                  </a:lnTo>
                  <a:lnTo>
                    <a:pt x="1" y="16"/>
                  </a:lnTo>
                  <a:lnTo>
                    <a:pt x="3" y="20"/>
                  </a:lnTo>
                  <a:lnTo>
                    <a:pt x="7" y="23"/>
                  </a:lnTo>
                  <a:lnTo>
                    <a:pt x="12" y="24"/>
                  </a:lnTo>
                  <a:lnTo>
                    <a:pt x="17" y="23"/>
                  </a:lnTo>
                  <a:lnTo>
                    <a:pt x="20" y="20"/>
                  </a:lnTo>
                  <a:lnTo>
                    <a:pt x="20" y="20"/>
                  </a:lnTo>
                  <a:lnTo>
                    <a:pt x="23" y="16"/>
                  </a:lnTo>
                  <a:lnTo>
                    <a:pt x="24" y="12"/>
                  </a:lnTo>
                  <a:lnTo>
                    <a:pt x="23" y="7"/>
                  </a:lnTo>
                  <a:lnTo>
                    <a:pt x="20" y="3"/>
                  </a:lnTo>
                  <a:lnTo>
                    <a:pt x="17" y="0"/>
                  </a:lnTo>
                  <a:lnTo>
                    <a:pt x="12" y="0"/>
                  </a:lnTo>
                  <a:lnTo>
                    <a:pt x="7" y="0"/>
                  </a:lnTo>
                  <a:lnTo>
                    <a:pt x="3" y="3"/>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54" name="Freeform 152"/>
            <p:cNvSpPr>
              <a:spLocks/>
            </p:cNvSpPr>
            <p:nvPr/>
          </p:nvSpPr>
          <p:spPr bwMode="auto">
            <a:xfrm>
              <a:off x="2005" y="2575"/>
              <a:ext cx="20" cy="16"/>
            </a:xfrm>
            <a:custGeom>
              <a:avLst/>
              <a:gdLst>
                <a:gd name="T0" fmla="*/ 4 w 24"/>
                <a:gd name="T1" fmla="*/ 4 h 24"/>
                <a:gd name="T2" fmla="*/ 1 w 24"/>
                <a:gd name="T3" fmla="*/ 7 h 24"/>
                <a:gd name="T4" fmla="*/ 0 w 24"/>
                <a:gd name="T5" fmla="*/ 12 h 24"/>
                <a:gd name="T6" fmla="*/ 1 w 24"/>
                <a:gd name="T7" fmla="*/ 17 h 24"/>
                <a:gd name="T8" fmla="*/ 4 w 24"/>
                <a:gd name="T9" fmla="*/ 21 h 24"/>
                <a:gd name="T10" fmla="*/ 8 w 24"/>
                <a:gd name="T11" fmla="*/ 23 h 24"/>
                <a:gd name="T12" fmla="*/ 12 w 24"/>
                <a:gd name="T13" fmla="*/ 24 h 24"/>
                <a:gd name="T14" fmla="*/ 17 w 24"/>
                <a:gd name="T15" fmla="*/ 23 h 24"/>
                <a:gd name="T16" fmla="*/ 21 w 24"/>
                <a:gd name="T17" fmla="*/ 21 h 24"/>
                <a:gd name="T18" fmla="*/ 21 w 24"/>
                <a:gd name="T19" fmla="*/ 21 h 24"/>
                <a:gd name="T20" fmla="*/ 23 w 24"/>
                <a:gd name="T21" fmla="*/ 17 h 24"/>
                <a:gd name="T22" fmla="*/ 24 w 24"/>
                <a:gd name="T23" fmla="*/ 12 h 24"/>
                <a:gd name="T24" fmla="*/ 23 w 24"/>
                <a:gd name="T25" fmla="*/ 7 h 24"/>
                <a:gd name="T26" fmla="*/ 21 w 24"/>
                <a:gd name="T27" fmla="*/ 4 h 24"/>
                <a:gd name="T28" fmla="*/ 17 w 24"/>
                <a:gd name="T29" fmla="*/ 1 h 24"/>
                <a:gd name="T30" fmla="*/ 12 w 24"/>
                <a:gd name="T31" fmla="*/ 0 h 24"/>
                <a:gd name="T32" fmla="*/ 8 w 24"/>
                <a:gd name="T33" fmla="*/ 1 h 24"/>
                <a:gd name="T34" fmla="*/ 4 w 24"/>
                <a:gd name="T35" fmla="*/ 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4" y="4"/>
                  </a:moveTo>
                  <a:lnTo>
                    <a:pt x="1" y="7"/>
                  </a:lnTo>
                  <a:lnTo>
                    <a:pt x="0" y="12"/>
                  </a:lnTo>
                  <a:lnTo>
                    <a:pt x="1" y="17"/>
                  </a:lnTo>
                  <a:lnTo>
                    <a:pt x="4" y="21"/>
                  </a:lnTo>
                  <a:lnTo>
                    <a:pt x="8" y="23"/>
                  </a:lnTo>
                  <a:lnTo>
                    <a:pt x="12" y="24"/>
                  </a:lnTo>
                  <a:lnTo>
                    <a:pt x="17" y="23"/>
                  </a:lnTo>
                  <a:lnTo>
                    <a:pt x="21" y="21"/>
                  </a:lnTo>
                  <a:lnTo>
                    <a:pt x="21" y="21"/>
                  </a:lnTo>
                  <a:lnTo>
                    <a:pt x="23" y="17"/>
                  </a:lnTo>
                  <a:lnTo>
                    <a:pt x="24" y="12"/>
                  </a:lnTo>
                  <a:lnTo>
                    <a:pt x="23" y="7"/>
                  </a:lnTo>
                  <a:lnTo>
                    <a:pt x="21" y="4"/>
                  </a:lnTo>
                  <a:lnTo>
                    <a:pt x="17" y="1"/>
                  </a:lnTo>
                  <a:lnTo>
                    <a:pt x="12" y="0"/>
                  </a:lnTo>
                  <a:lnTo>
                    <a:pt x="8" y="1"/>
                  </a:lnTo>
                  <a:lnTo>
                    <a:pt x="4" y="4"/>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55" name="Freeform 153"/>
            <p:cNvSpPr>
              <a:spLocks/>
            </p:cNvSpPr>
            <p:nvPr/>
          </p:nvSpPr>
          <p:spPr bwMode="auto">
            <a:xfrm>
              <a:off x="2033" y="2552"/>
              <a:ext cx="20" cy="16"/>
            </a:xfrm>
            <a:custGeom>
              <a:avLst/>
              <a:gdLst>
                <a:gd name="T0" fmla="*/ 3 w 24"/>
                <a:gd name="T1" fmla="*/ 3 h 24"/>
                <a:gd name="T2" fmla="*/ 1 w 24"/>
                <a:gd name="T3" fmla="*/ 7 h 24"/>
                <a:gd name="T4" fmla="*/ 0 w 24"/>
                <a:gd name="T5" fmla="*/ 12 h 24"/>
                <a:gd name="T6" fmla="*/ 1 w 24"/>
                <a:gd name="T7" fmla="*/ 17 h 24"/>
                <a:gd name="T8" fmla="*/ 3 w 24"/>
                <a:gd name="T9" fmla="*/ 20 h 24"/>
                <a:gd name="T10" fmla="*/ 7 w 24"/>
                <a:gd name="T11" fmla="*/ 23 h 24"/>
                <a:gd name="T12" fmla="*/ 12 w 24"/>
                <a:gd name="T13" fmla="*/ 24 h 24"/>
                <a:gd name="T14" fmla="*/ 16 w 24"/>
                <a:gd name="T15" fmla="*/ 23 h 24"/>
                <a:gd name="T16" fmla="*/ 20 w 24"/>
                <a:gd name="T17" fmla="*/ 20 h 24"/>
                <a:gd name="T18" fmla="*/ 20 w 24"/>
                <a:gd name="T19" fmla="*/ 20 h 24"/>
                <a:gd name="T20" fmla="*/ 23 w 24"/>
                <a:gd name="T21" fmla="*/ 16 h 24"/>
                <a:gd name="T22" fmla="*/ 24 w 24"/>
                <a:gd name="T23" fmla="*/ 12 h 24"/>
                <a:gd name="T24" fmla="*/ 23 w 24"/>
                <a:gd name="T25" fmla="*/ 7 h 24"/>
                <a:gd name="T26" fmla="*/ 20 w 24"/>
                <a:gd name="T27" fmla="*/ 3 h 24"/>
                <a:gd name="T28" fmla="*/ 16 w 24"/>
                <a:gd name="T29" fmla="*/ 1 h 24"/>
                <a:gd name="T30" fmla="*/ 12 w 24"/>
                <a:gd name="T31" fmla="*/ 0 h 24"/>
                <a:gd name="T32" fmla="*/ 7 w 24"/>
                <a:gd name="T33" fmla="*/ 1 h 24"/>
                <a:gd name="T34" fmla="*/ 3 w 24"/>
                <a:gd name="T35" fmla="*/ 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3" y="3"/>
                  </a:moveTo>
                  <a:lnTo>
                    <a:pt x="1" y="7"/>
                  </a:lnTo>
                  <a:lnTo>
                    <a:pt x="0" y="12"/>
                  </a:lnTo>
                  <a:lnTo>
                    <a:pt x="1" y="17"/>
                  </a:lnTo>
                  <a:lnTo>
                    <a:pt x="3" y="20"/>
                  </a:lnTo>
                  <a:lnTo>
                    <a:pt x="7" y="23"/>
                  </a:lnTo>
                  <a:lnTo>
                    <a:pt x="12" y="24"/>
                  </a:lnTo>
                  <a:lnTo>
                    <a:pt x="16" y="23"/>
                  </a:lnTo>
                  <a:lnTo>
                    <a:pt x="20" y="20"/>
                  </a:lnTo>
                  <a:lnTo>
                    <a:pt x="20" y="20"/>
                  </a:lnTo>
                  <a:lnTo>
                    <a:pt x="23" y="16"/>
                  </a:lnTo>
                  <a:lnTo>
                    <a:pt x="24" y="12"/>
                  </a:lnTo>
                  <a:lnTo>
                    <a:pt x="23" y="7"/>
                  </a:lnTo>
                  <a:lnTo>
                    <a:pt x="20" y="3"/>
                  </a:lnTo>
                  <a:lnTo>
                    <a:pt x="16" y="1"/>
                  </a:lnTo>
                  <a:lnTo>
                    <a:pt x="12" y="0"/>
                  </a:lnTo>
                  <a:lnTo>
                    <a:pt x="7" y="1"/>
                  </a:lnTo>
                  <a:lnTo>
                    <a:pt x="3" y="3"/>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56" name="Freeform 154"/>
            <p:cNvSpPr>
              <a:spLocks/>
            </p:cNvSpPr>
            <p:nvPr/>
          </p:nvSpPr>
          <p:spPr bwMode="auto">
            <a:xfrm>
              <a:off x="2060" y="2528"/>
              <a:ext cx="19" cy="16"/>
            </a:xfrm>
            <a:custGeom>
              <a:avLst/>
              <a:gdLst>
                <a:gd name="T0" fmla="*/ 4 w 23"/>
                <a:gd name="T1" fmla="*/ 4 h 24"/>
                <a:gd name="T2" fmla="*/ 1 w 23"/>
                <a:gd name="T3" fmla="*/ 8 h 24"/>
                <a:gd name="T4" fmla="*/ 0 w 23"/>
                <a:gd name="T5" fmla="*/ 12 h 24"/>
                <a:gd name="T6" fmla="*/ 1 w 23"/>
                <a:gd name="T7" fmla="*/ 17 h 24"/>
                <a:gd name="T8" fmla="*/ 4 w 23"/>
                <a:gd name="T9" fmla="*/ 21 h 24"/>
                <a:gd name="T10" fmla="*/ 8 w 23"/>
                <a:gd name="T11" fmla="*/ 24 h 24"/>
                <a:gd name="T12" fmla="*/ 12 w 23"/>
                <a:gd name="T13" fmla="*/ 24 h 24"/>
                <a:gd name="T14" fmla="*/ 17 w 23"/>
                <a:gd name="T15" fmla="*/ 24 h 24"/>
                <a:gd name="T16" fmla="*/ 20 w 23"/>
                <a:gd name="T17" fmla="*/ 21 h 24"/>
                <a:gd name="T18" fmla="*/ 20 w 23"/>
                <a:gd name="T19" fmla="*/ 21 h 24"/>
                <a:gd name="T20" fmla="*/ 22 w 23"/>
                <a:gd name="T21" fmla="*/ 17 h 24"/>
                <a:gd name="T22" fmla="*/ 23 w 23"/>
                <a:gd name="T23" fmla="*/ 12 h 24"/>
                <a:gd name="T24" fmla="*/ 22 w 23"/>
                <a:gd name="T25" fmla="*/ 8 h 24"/>
                <a:gd name="T26" fmla="*/ 20 w 23"/>
                <a:gd name="T27" fmla="*/ 4 h 24"/>
                <a:gd name="T28" fmla="*/ 17 w 23"/>
                <a:gd name="T29" fmla="*/ 1 h 24"/>
                <a:gd name="T30" fmla="*/ 12 w 23"/>
                <a:gd name="T31" fmla="*/ 0 h 24"/>
                <a:gd name="T32" fmla="*/ 8 w 23"/>
                <a:gd name="T33" fmla="*/ 1 h 24"/>
                <a:gd name="T34" fmla="*/ 4 w 23"/>
                <a:gd name="T35" fmla="*/ 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 h="24">
                  <a:moveTo>
                    <a:pt x="4" y="4"/>
                  </a:moveTo>
                  <a:lnTo>
                    <a:pt x="1" y="8"/>
                  </a:lnTo>
                  <a:lnTo>
                    <a:pt x="0" y="12"/>
                  </a:lnTo>
                  <a:lnTo>
                    <a:pt x="1" y="17"/>
                  </a:lnTo>
                  <a:lnTo>
                    <a:pt x="4" y="21"/>
                  </a:lnTo>
                  <a:lnTo>
                    <a:pt x="8" y="24"/>
                  </a:lnTo>
                  <a:lnTo>
                    <a:pt x="12" y="24"/>
                  </a:lnTo>
                  <a:lnTo>
                    <a:pt x="17" y="24"/>
                  </a:lnTo>
                  <a:lnTo>
                    <a:pt x="20" y="21"/>
                  </a:lnTo>
                  <a:lnTo>
                    <a:pt x="20" y="21"/>
                  </a:lnTo>
                  <a:lnTo>
                    <a:pt x="22" y="17"/>
                  </a:lnTo>
                  <a:lnTo>
                    <a:pt x="23" y="12"/>
                  </a:lnTo>
                  <a:lnTo>
                    <a:pt x="22" y="8"/>
                  </a:lnTo>
                  <a:lnTo>
                    <a:pt x="20" y="4"/>
                  </a:lnTo>
                  <a:lnTo>
                    <a:pt x="17" y="1"/>
                  </a:lnTo>
                  <a:lnTo>
                    <a:pt x="12" y="0"/>
                  </a:lnTo>
                  <a:lnTo>
                    <a:pt x="8" y="1"/>
                  </a:lnTo>
                  <a:lnTo>
                    <a:pt x="4" y="4"/>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57" name="Freeform 155"/>
            <p:cNvSpPr>
              <a:spLocks/>
            </p:cNvSpPr>
            <p:nvPr/>
          </p:nvSpPr>
          <p:spPr bwMode="auto">
            <a:xfrm>
              <a:off x="2087" y="2505"/>
              <a:ext cx="20" cy="16"/>
            </a:xfrm>
            <a:custGeom>
              <a:avLst/>
              <a:gdLst>
                <a:gd name="T0" fmla="*/ 3 w 24"/>
                <a:gd name="T1" fmla="*/ 4 h 24"/>
                <a:gd name="T2" fmla="*/ 1 w 24"/>
                <a:gd name="T3" fmla="*/ 7 h 24"/>
                <a:gd name="T4" fmla="*/ 0 w 24"/>
                <a:gd name="T5" fmla="*/ 12 h 24"/>
                <a:gd name="T6" fmla="*/ 1 w 24"/>
                <a:gd name="T7" fmla="*/ 17 h 24"/>
                <a:gd name="T8" fmla="*/ 3 w 24"/>
                <a:gd name="T9" fmla="*/ 21 h 24"/>
                <a:gd name="T10" fmla="*/ 7 w 24"/>
                <a:gd name="T11" fmla="*/ 23 h 24"/>
                <a:gd name="T12" fmla="*/ 12 w 24"/>
                <a:gd name="T13" fmla="*/ 24 h 24"/>
                <a:gd name="T14" fmla="*/ 16 w 24"/>
                <a:gd name="T15" fmla="*/ 23 h 24"/>
                <a:gd name="T16" fmla="*/ 20 w 24"/>
                <a:gd name="T17" fmla="*/ 21 h 24"/>
                <a:gd name="T18" fmla="*/ 20 w 24"/>
                <a:gd name="T19" fmla="*/ 21 h 24"/>
                <a:gd name="T20" fmla="*/ 23 w 24"/>
                <a:gd name="T21" fmla="*/ 17 h 24"/>
                <a:gd name="T22" fmla="*/ 24 w 24"/>
                <a:gd name="T23" fmla="*/ 12 h 24"/>
                <a:gd name="T24" fmla="*/ 23 w 24"/>
                <a:gd name="T25" fmla="*/ 7 h 24"/>
                <a:gd name="T26" fmla="*/ 20 w 24"/>
                <a:gd name="T27" fmla="*/ 4 h 24"/>
                <a:gd name="T28" fmla="*/ 16 w 24"/>
                <a:gd name="T29" fmla="*/ 1 h 24"/>
                <a:gd name="T30" fmla="*/ 12 w 24"/>
                <a:gd name="T31" fmla="*/ 0 h 24"/>
                <a:gd name="T32" fmla="*/ 7 w 24"/>
                <a:gd name="T33" fmla="*/ 1 h 24"/>
                <a:gd name="T34" fmla="*/ 3 w 24"/>
                <a:gd name="T35" fmla="*/ 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3" y="4"/>
                  </a:moveTo>
                  <a:lnTo>
                    <a:pt x="1" y="7"/>
                  </a:lnTo>
                  <a:lnTo>
                    <a:pt x="0" y="12"/>
                  </a:lnTo>
                  <a:lnTo>
                    <a:pt x="1" y="17"/>
                  </a:lnTo>
                  <a:lnTo>
                    <a:pt x="3" y="21"/>
                  </a:lnTo>
                  <a:lnTo>
                    <a:pt x="7" y="23"/>
                  </a:lnTo>
                  <a:lnTo>
                    <a:pt x="12" y="24"/>
                  </a:lnTo>
                  <a:lnTo>
                    <a:pt x="16" y="23"/>
                  </a:lnTo>
                  <a:lnTo>
                    <a:pt x="20" y="21"/>
                  </a:lnTo>
                  <a:lnTo>
                    <a:pt x="20" y="21"/>
                  </a:lnTo>
                  <a:lnTo>
                    <a:pt x="23" y="17"/>
                  </a:lnTo>
                  <a:lnTo>
                    <a:pt x="24" y="12"/>
                  </a:lnTo>
                  <a:lnTo>
                    <a:pt x="23" y="7"/>
                  </a:lnTo>
                  <a:lnTo>
                    <a:pt x="20" y="4"/>
                  </a:lnTo>
                  <a:lnTo>
                    <a:pt x="16" y="1"/>
                  </a:lnTo>
                  <a:lnTo>
                    <a:pt x="12" y="0"/>
                  </a:lnTo>
                  <a:lnTo>
                    <a:pt x="7" y="1"/>
                  </a:lnTo>
                  <a:lnTo>
                    <a:pt x="3" y="4"/>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58" name="Freeform 156"/>
            <p:cNvSpPr>
              <a:spLocks/>
            </p:cNvSpPr>
            <p:nvPr/>
          </p:nvSpPr>
          <p:spPr bwMode="auto">
            <a:xfrm>
              <a:off x="2114" y="2481"/>
              <a:ext cx="20" cy="16"/>
            </a:xfrm>
            <a:custGeom>
              <a:avLst/>
              <a:gdLst>
                <a:gd name="T0" fmla="*/ 4 w 24"/>
                <a:gd name="T1" fmla="*/ 3 h 24"/>
                <a:gd name="T2" fmla="*/ 1 w 24"/>
                <a:gd name="T3" fmla="*/ 7 h 24"/>
                <a:gd name="T4" fmla="*/ 0 w 24"/>
                <a:gd name="T5" fmla="*/ 12 h 24"/>
                <a:gd name="T6" fmla="*/ 1 w 24"/>
                <a:gd name="T7" fmla="*/ 16 h 24"/>
                <a:gd name="T8" fmla="*/ 4 w 24"/>
                <a:gd name="T9" fmla="*/ 20 h 24"/>
                <a:gd name="T10" fmla="*/ 7 w 24"/>
                <a:gd name="T11" fmla="*/ 23 h 24"/>
                <a:gd name="T12" fmla="*/ 12 w 24"/>
                <a:gd name="T13" fmla="*/ 24 h 24"/>
                <a:gd name="T14" fmla="*/ 17 w 24"/>
                <a:gd name="T15" fmla="*/ 23 h 24"/>
                <a:gd name="T16" fmla="*/ 21 w 24"/>
                <a:gd name="T17" fmla="*/ 20 h 24"/>
                <a:gd name="T18" fmla="*/ 21 w 24"/>
                <a:gd name="T19" fmla="*/ 20 h 24"/>
                <a:gd name="T20" fmla="*/ 23 w 24"/>
                <a:gd name="T21" fmla="*/ 16 h 24"/>
                <a:gd name="T22" fmla="*/ 24 w 24"/>
                <a:gd name="T23" fmla="*/ 12 h 24"/>
                <a:gd name="T24" fmla="*/ 23 w 24"/>
                <a:gd name="T25" fmla="*/ 7 h 24"/>
                <a:gd name="T26" fmla="*/ 21 w 24"/>
                <a:gd name="T27" fmla="*/ 3 h 24"/>
                <a:gd name="T28" fmla="*/ 17 w 24"/>
                <a:gd name="T29" fmla="*/ 1 h 24"/>
                <a:gd name="T30" fmla="*/ 12 w 24"/>
                <a:gd name="T31" fmla="*/ 0 h 24"/>
                <a:gd name="T32" fmla="*/ 7 w 24"/>
                <a:gd name="T33" fmla="*/ 1 h 24"/>
                <a:gd name="T34" fmla="*/ 4 w 24"/>
                <a:gd name="T35" fmla="*/ 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4" y="3"/>
                  </a:moveTo>
                  <a:lnTo>
                    <a:pt x="1" y="7"/>
                  </a:lnTo>
                  <a:lnTo>
                    <a:pt x="0" y="12"/>
                  </a:lnTo>
                  <a:lnTo>
                    <a:pt x="1" y="16"/>
                  </a:lnTo>
                  <a:lnTo>
                    <a:pt x="4" y="20"/>
                  </a:lnTo>
                  <a:lnTo>
                    <a:pt x="7" y="23"/>
                  </a:lnTo>
                  <a:lnTo>
                    <a:pt x="12" y="24"/>
                  </a:lnTo>
                  <a:lnTo>
                    <a:pt x="17" y="23"/>
                  </a:lnTo>
                  <a:lnTo>
                    <a:pt x="21" y="20"/>
                  </a:lnTo>
                  <a:lnTo>
                    <a:pt x="21" y="20"/>
                  </a:lnTo>
                  <a:lnTo>
                    <a:pt x="23" y="16"/>
                  </a:lnTo>
                  <a:lnTo>
                    <a:pt x="24" y="12"/>
                  </a:lnTo>
                  <a:lnTo>
                    <a:pt x="23" y="7"/>
                  </a:lnTo>
                  <a:lnTo>
                    <a:pt x="21" y="3"/>
                  </a:lnTo>
                  <a:lnTo>
                    <a:pt x="17" y="1"/>
                  </a:lnTo>
                  <a:lnTo>
                    <a:pt x="12" y="0"/>
                  </a:lnTo>
                  <a:lnTo>
                    <a:pt x="7" y="1"/>
                  </a:lnTo>
                  <a:lnTo>
                    <a:pt x="4" y="3"/>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59" name="Freeform 157"/>
            <p:cNvSpPr>
              <a:spLocks/>
            </p:cNvSpPr>
            <p:nvPr/>
          </p:nvSpPr>
          <p:spPr bwMode="auto">
            <a:xfrm>
              <a:off x="2142" y="2457"/>
              <a:ext cx="20" cy="16"/>
            </a:xfrm>
            <a:custGeom>
              <a:avLst/>
              <a:gdLst>
                <a:gd name="T0" fmla="*/ 3 w 24"/>
                <a:gd name="T1" fmla="*/ 4 h 24"/>
                <a:gd name="T2" fmla="*/ 1 w 24"/>
                <a:gd name="T3" fmla="*/ 8 h 24"/>
                <a:gd name="T4" fmla="*/ 0 w 24"/>
                <a:gd name="T5" fmla="*/ 12 h 24"/>
                <a:gd name="T6" fmla="*/ 1 w 24"/>
                <a:gd name="T7" fmla="*/ 17 h 24"/>
                <a:gd name="T8" fmla="*/ 3 w 24"/>
                <a:gd name="T9" fmla="*/ 21 h 24"/>
                <a:gd name="T10" fmla="*/ 7 w 24"/>
                <a:gd name="T11" fmla="*/ 23 h 24"/>
                <a:gd name="T12" fmla="*/ 12 w 24"/>
                <a:gd name="T13" fmla="*/ 24 h 24"/>
                <a:gd name="T14" fmla="*/ 16 w 24"/>
                <a:gd name="T15" fmla="*/ 23 h 24"/>
                <a:gd name="T16" fmla="*/ 20 w 24"/>
                <a:gd name="T17" fmla="*/ 21 h 24"/>
                <a:gd name="T18" fmla="*/ 20 w 24"/>
                <a:gd name="T19" fmla="*/ 21 h 24"/>
                <a:gd name="T20" fmla="*/ 23 w 24"/>
                <a:gd name="T21" fmla="*/ 17 h 24"/>
                <a:gd name="T22" fmla="*/ 24 w 24"/>
                <a:gd name="T23" fmla="*/ 12 h 24"/>
                <a:gd name="T24" fmla="*/ 23 w 24"/>
                <a:gd name="T25" fmla="*/ 8 h 24"/>
                <a:gd name="T26" fmla="*/ 20 w 24"/>
                <a:gd name="T27" fmla="*/ 4 h 24"/>
                <a:gd name="T28" fmla="*/ 16 w 24"/>
                <a:gd name="T29" fmla="*/ 1 h 24"/>
                <a:gd name="T30" fmla="*/ 12 w 24"/>
                <a:gd name="T31" fmla="*/ 0 h 24"/>
                <a:gd name="T32" fmla="*/ 7 w 24"/>
                <a:gd name="T33" fmla="*/ 1 h 24"/>
                <a:gd name="T34" fmla="*/ 3 w 24"/>
                <a:gd name="T35" fmla="*/ 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3" y="4"/>
                  </a:moveTo>
                  <a:lnTo>
                    <a:pt x="1" y="8"/>
                  </a:lnTo>
                  <a:lnTo>
                    <a:pt x="0" y="12"/>
                  </a:lnTo>
                  <a:lnTo>
                    <a:pt x="1" y="17"/>
                  </a:lnTo>
                  <a:lnTo>
                    <a:pt x="3" y="21"/>
                  </a:lnTo>
                  <a:lnTo>
                    <a:pt x="7" y="23"/>
                  </a:lnTo>
                  <a:lnTo>
                    <a:pt x="12" y="24"/>
                  </a:lnTo>
                  <a:lnTo>
                    <a:pt x="16" y="23"/>
                  </a:lnTo>
                  <a:lnTo>
                    <a:pt x="20" y="21"/>
                  </a:lnTo>
                  <a:lnTo>
                    <a:pt x="20" y="21"/>
                  </a:lnTo>
                  <a:lnTo>
                    <a:pt x="23" y="17"/>
                  </a:lnTo>
                  <a:lnTo>
                    <a:pt x="24" y="12"/>
                  </a:lnTo>
                  <a:lnTo>
                    <a:pt x="23" y="8"/>
                  </a:lnTo>
                  <a:lnTo>
                    <a:pt x="20" y="4"/>
                  </a:lnTo>
                  <a:lnTo>
                    <a:pt x="16" y="1"/>
                  </a:lnTo>
                  <a:lnTo>
                    <a:pt x="12" y="0"/>
                  </a:lnTo>
                  <a:lnTo>
                    <a:pt x="7" y="1"/>
                  </a:lnTo>
                  <a:lnTo>
                    <a:pt x="3" y="4"/>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60" name="Freeform 158"/>
            <p:cNvSpPr>
              <a:spLocks/>
            </p:cNvSpPr>
            <p:nvPr/>
          </p:nvSpPr>
          <p:spPr bwMode="auto">
            <a:xfrm>
              <a:off x="2169" y="2434"/>
              <a:ext cx="20" cy="16"/>
            </a:xfrm>
            <a:custGeom>
              <a:avLst/>
              <a:gdLst>
                <a:gd name="T0" fmla="*/ 4 w 24"/>
                <a:gd name="T1" fmla="*/ 4 h 24"/>
                <a:gd name="T2" fmla="*/ 1 w 24"/>
                <a:gd name="T3" fmla="*/ 7 h 24"/>
                <a:gd name="T4" fmla="*/ 0 w 24"/>
                <a:gd name="T5" fmla="*/ 12 h 24"/>
                <a:gd name="T6" fmla="*/ 1 w 24"/>
                <a:gd name="T7" fmla="*/ 17 h 24"/>
                <a:gd name="T8" fmla="*/ 4 w 24"/>
                <a:gd name="T9" fmla="*/ 20 h 24"/>
                <a:gd name="T10" fmla="*/ 7 w 24"/>
                <a:gd name="T11" fmla="*/ 23 h 24"/>
                <a:gd name="T12" fmla="*/ 12 w 24"/>
                <a:gd name="T13" fmla="*/ 24 h 24"/>
                <a:gd name="T14" fmla="*/ 17 w 24"/>
                <a:gd name="T15" fmla="*/ 23 h 24"/>
                <a:gd name="T16" fmla="*/ 21 w 24"/>
                <a:gd name="T17" fmla="*/ 21 h 24"/>
                <a:gd name="T18" fmla="*/ 21 w 24"/>
                <a:gd name="T19" fmla="*/ 20 h 24"/>
                <a:gd name="T20" fmla="*/ 23 w 24"/>
                <a:gd name="T21" fmla="*/ 17 h 24"/>
                <a:gd name="T22" fmla="*/ 24 w 24"/>
                <a:gd name="T23" fmla="*/ 12 h 24"/>
                <a:gd name="T24" fmla="*/ 23 w 24"/>
                <a:gd name="T25" fmla="*/ 7 h 24"/>
                <a:gd name="T26" fmla="*/ 21 w 24"/>
                <a:gd name="T27" fmla="*/ 3 h 24"/>
                <a:gd name="T28" fmla="*/ 17 w 24"/>
                <a:gd name="T29" fmla="*/ 1 h 24"/>
                <a:gd name="T30" fmla="*/ 12 w 24"/>
                <a:gd name="T31" fmla="*/ 0 h 24"/>
                <a:gd name="T32" fmla="*/ 7 w 24"/>
                <a:gd name="T33" fmla="*/ 1 h 24"/>
                <a:gd name="T34" fmla="*/ 4 w 24"/>
                <a:gd name="T35" fmla="*/ 3 h 24"/>
                <a:gd name="T36" fmla="*/ 4 w 24"/>
                <a:gd name="T37" fmla="*/ 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 h="24">
                  <a:moveTo>
                    <a:pt x="4" y="4"/>
                  </a:moveTo>
                  <a:lnTo>
                    <a:pt x="1" y="7"/>
                  </a:lnTo>
                  <a:lnTo>
                    <a:pt x="0" y="12"/>
                  </a:lnTo>
                  <a:lnTo>
                    <a:pt x="1" y="17"/>
                  </a:lnTo>
                  <a:lnTo>
                    <a:pt x="4" y="20"/>
                  </a:lnTo>
                  <a:lnTo>
                    <a:pt x="7" y="23"/>
                  </a:lnTo>
                  <a:lnTo>
                    <a:pt x="12" y="24"/>
                  </a:lnTo>
                  <a:lnTo>
                    <a:pt x="17" y="23"/>
                  </a:lnTo>
                  <a:lnTo>
                    <a:pt x="21" y="21"/>
                  </a:lnTo>
                  <a:lnTo>
                    <a:pt x="21" y="20"/>
                  </a:lnTo>
                  <a:lnTo>
                    <a:pt x="23" y="17"/>
                  </a:lnTo>
                  <a:lnTo>
                    <a:pt x="24" y="12"/>
                  </a:lnTo>
                  <a:lnTo>
                    <a:pt x="23" y="7"/>
                  </a:lnTo>
                  <a:lnTo>
                    <a:pt x="21" y="3"/>
                  </a:lnTo>
                  <a:lnTo>
                    <a:pt x="17" y="1"/>
                  </a:lnTo>
                  <a:lnTo>
                    <a:pt x="12" y="0"/>
                  </a:lnTo>
                  <a:lnTo>
                    <a:pt x="7" y="1"/>
                  </a:lnTo>
                  <a:lnTo>
                    <a:pt x="4" y="3"/>
                  </a:lnTo>
                  <a:lnTo>
                    <a:pt x="4" y="4"/>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61" name="Freeform 159"/>
            <p:cNvSpPr>
              <a:spLocks/>
            </p:cNvSpPr>
            <p:nvPr/>
          </p:nvSpPr>
          <p:spPr bwMode="auto">
            <a:xfrm>
              <a:off x="2196" y="2411"/>
              <a:ext cx="21" cy="16"/>
            </a:xfrm>
            <a:custGeom>
              <a:avLst/>
              <a:gdLst>
                <a:gd name="T0" fmla="*/ 4 w 25"/>
                <a:gd name="T1" fmla="*/ 3 h 23"/>
                <a:gd name="T2" fmla="*/ 1 w 25"/>
                <a:gd name="T3" fmla="*/ 7 h 23"/>
                <a:gd name="T4" fmla="*/ 0 w 25"/>
                <a:gd name="T5" fmla="*/ 11 h 23"/>
                <a:gd name="T6" fmla="*/ 1 w 25"/>
                <a:gd name="T7" fmla="*/ 15 h 23"/>
                <a:gd name="T8" fmla="*/ 4 w 25"/>
                <a:gd name="T9" fmla="*/ 19 h 23"/>
                <a:gd name="T10" fmla="*/ 8 w 25"/>
                <a:gd name="T11" fmla="*/ 22 h 23"/>
                <a:gd name="T12" fmla="*/ 12 w 25"/>
                <a:gd name="T13" fmla="*/ 23 h 23"/>
                <a:gd name="T14" fmla="*/ 17 w 25"/>
                <a:gd name="T15" fmla="*/ 22 h 23"/>
                <a:gd name="T16" fmla="*/ 21 w 25"/>
                <a:gd name="T17" fmla="*/ 19 h 23"/>
                <a:gd name="T18" fmla="*/ 21 w 25"/>
                <a:gd name="T19" fmla="*/ 19 h 23"/>
                <a:gd name="T20" fmla="*/ 24 w 25"/>
                <a:gd name="T21" fmla="*/ 15 h 23"/>
                <a:gd name="T22" fmla="*/ 25 w 25"/>
                <a:gd name="T23" fmla="*/ 11 h 23"/>
                <a:gd name="T24" fmla="*/ 24 w 25"/>
                <a:gd name="T25" fmla="*/ 7 h 23"/>
                <a:gd name="T26" fmla="*/ 21 w 25"/>
                <a:gd name="T27" fmla="*/ 3 h 23"/>
                <a:gd name="T28" fmla="*/ 17 w 25"/>
                <a:gd name="T29" fmla="*/ 1 h 23"/>
                <a:gd name="T30" fmla="*/ 13 w 25"/>
                <a:gd name="T31" fmla="*/ 0 h 23"/>
                <a:gd name="T32" fmla="*/ 8 w 25"/>
                <a:gd name="T33" fmla="*/ 1 h 23"/>
                <a:gd name="T34" fmla="*/ 4 w 25"/>
                <a:gd name="T35" fmla="*/ 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5" h="23">
                  <a:moveTo>
                    <a:pt x="4" y="3"/>
                  </a:moveTo>
                  <a:lnTo>
                    <a:pt x="1" y="7"/>
                  </a:lnTo>
                  <a:lnTo>
                    <a:pt x="0" y="11"/>
                  </a:lnTo>
                  <a:lnTo>
                    <a:pt x="1" y="15"/>
                  </a:lnTo>
                  <a:lnTo>
                    <a:pt x="4" y="19"/>
                  </a:lnTo>
                  <a:lnTo>
                    <a:pt x="8" y="22"/>
                  </a:lnTo>
                  <a:lnTo>
                    <a:pt x="12" y="23"/>
                  </a:lnTo>
                  <a:lnTo>
                    <a:pt x="17" y="22"/>
                  </a:lnTo>
                  <a:lnTo>
                    <a:pt x="21" y="19"/>
                  </a:lnTo>
                  <a:lnTo>
                    <a:pt x="21" y="19"/>
                  </a:lnTo>
                  <a:lnTo>
                    <a:pt x="24" y="15"/>
                  </a:lnTo>
                  <a:lnTo>
                    <a:pt x="25" y="11"/>
                  </a:lnTo>
                  <a:lnTo>
                    <a:pt x="24" y="7"/>
                  </a:lnTo>
                  <a:lnTo>
                    <a:pt x="21" y="3"/>
                  </a:lnTo>
                  <a:lnTo>
                    <a:pt x="17" y="1"/>
                  </a:lnTo>
                  <a:lnTo>
                    <a:pt x="13" y="0"/>
                  </a:lnTo>
                  <a:lnTo>
                    <a:pt x="8" y="1"/>
                  </a:lnTo>
                  <a:lnTo>
                    <a:pt x="4" y="3"/>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62" name="Freeform 160"/>
            <p:cNvSpPr>
              <a:spLocks/>
            </p:cNvSpPr>
            <p:nvPr/>
          </p:nvSpPr>
          <p:spPr bwMode="auto">
            <a:xfrm>
              <a:off x="2223" y="2388"/>
              <a:ext cx="21" cy="15"/>
            </a:xfrm>
            <a:custGeom>
              <a:avLst/>
              <a:gdLst>
                <a:gd name="T0" fmla="*/ 3 w 24"/>
                <a:gd name="T1" fmla="*/ 4 h 24"/>
                <a:gd name="T2" fmla="*/ 1 w 24"/>
                <a:gd name="T3" fmla="*/ 8 h 24"/>
                <a:gd name="T4" fmla="*/ 0 w 24"/>
                <a:gd name="T5" fmla="*/ 12 h 24"/>
                <a:gd name="T6" fmla="*/ 1 w 24"/>
                <a:gd name="T7" fmla="*/ 17 h 24"/>
                <a:gd name="T8" fmla="*/ 3 w 24"/>
                <a:gd name="T9" fmla="*/ 21 h 24"/>
                <a:gd name="T10" fmla="*/ 7 w 24"/>
                <a:gd name="T11" fmla="*/ 23 h 24"/>
                <a:gd name="T12" fmla="*/ 12 w 24"/>
                <a:gd name="T13" fmla="*/ 24 h 24"/>
                <a:gd name="T14" fmla="*/ 17 w 24"/>
                <a:gd name="T15" fmla="*/ 23 h 24"/>
                <a:gd name="T16" fmla="*/ 20 w 24"/>
                <a:gd name="T17" fmla="*/ 21 h 24"/>
                <a:gd name="T18" fmla="*/ 20 w 24"/>
                <a:gd name="T19" fmla="*/ 21 h 24"/>
                <a:gd name="T20" fmla="*/ 23 w 24"/>
                <a:gd name="T21" fmla="*/ 17 h 24"/>
                <a:gd name="T22" fmla="*/ 24 w 24"/>
                <a:gd name="T23" fmla="*/ 12 h 24"/>
                <a:gd name="T24" fmla="*/ 23 w 24"/>
                <a:gd name="T25" fmla="*/ 8 h 24"/>
                <a:gd name="T26" fmla="*/ 20 w 24"/>
                <a:gd name="T27" fmla="*/ 4 h 24"/>
                <a:gd name="T28" fmla="*/ 17 w 24"/>
                <a:gd name="T29" fmla="*/ 1 h 24"/>
                <a:gd name="T30" fmla="*/ 12 w 24"/>
                <a:gd name="T31" fmla="*/ 0 h 24"/>
                <a:gd name="T32" fmla="*/ 7 w 24"/>
                <a:gd name="T33" fmla="*/ 1 h 24"/>
                <a:gd name="T34" fmla="*/ 3 w 24"/>
                <a:gd name="T35" fmla="*/ 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3" y="4"/>
                  </a:moveTo>
                  <a:lnTo>
                    <a:pt x="1" y="8"/>
                  </a:lnTo>
                  <a:lnTo>
                    <a:pt x="0" y="12"/>
                  </a:lnTo>
                  <a:lnTo>
                    <a:pt x="1" y="17"/>
                  </a:lnTo>
                  <a:lnTo>
                    <a:pt x="3" y="21"/>
                  </a:lnTo>
                  <a:lnTo>
                    <a:pt x="7" y="23"/>
                  </a:lnTo>
                  <a:lnTo>
                    <a:pt x="12" y="24"/>
                  </a:lnTo>
                  <a:lnTo>
                    <a:pt x="17" y="23"/>
                  </a:lnTo>
                  <a:lnTo>
                    <a:pt x="20" y="21"/>
                  </a:lnTo>
                  <a:lnTo>
                    <a:pt x="20" y="21"/>
                  </a:lnTo>
                  <a:lnTo>
                    <a:pt x="23" y="17"/>
                  </a:lnTo>
                  <a:lnTo>
                    <a:pt x="24" y="12"/>
                  </a:lnTo>
                  <a:lnTo>
                    <a:pt x="23" y="8"/>
                  </a:lnTo>
                  <a:lnTo>
                    <a:pt x="20" y="4"/>
                  </a:lnTo>
                  <a:lnTo>
                    <a:pt x="17" y="1"/>
                  </a:lnTo>
                  <a:lnTo>
                    <a:pt x="12" y="0"/>
                  </a:lnTo>
                  <a:lnTo>
                    <a:pt x="7" y="1"/>
                  </a:lnTo>
                  <a:lnTo>
                    <a:pt x="3" y="4"/>
                  </a:lnTo>
                  <a:close/>
                </a:path>
              </a:pathLst>
            </a:custGeom>
            <a:solidFill>
              <a:srgbClr val="0033CC"/>
            </a:solidFill>
            <a:ln>
              <a:noFill/>
            </a:ln>
            <a:extLst>
              <a:ext uri="{91240B29-F687-4F45-9708-019B960494DF}">
                <a14:hiddenLine xmlns:a14="http://schemas.microsoft.com/office/drawing/2010/main" w="9525">
                  <a:solidFill>
                    <a:srgbClr val="0033CC"/>
                  </a:solidFill>
                  <a:round/>
                  <a:headEnd/>
                  <a:tailEnd/>
                </a14:hiddenLine>
              </a:ext>
            </a:extLst>
          </p:spPr>
          <p:txBody>
            <a:bodyPr/>
            <a:lstStyle/>
            <a:p>
              <a:endParaRPr lang="zh-CN" altLang="en-US">
                <a:ea typeface="楷体" panose="02010609060101010101" pitchFamily="49" charset="-122"/>
              </a:endParaRPr>
            </a:p>
          </p:txBody>
        </p:sp>
        <p:sp>
          <p:nvSpPr>
            <p:cNvPr id="163" name="Freeform 161"/>
            <p:cNvSpPr>
              <a:spLocks/>
            </p:cNvSpPr>
            <p:nvPr/>
          </p:nvSpPr>
          <p:spPr bwMode="auto">
            <a:xfrm>
              <a:off x="2250" y="2364"/>
              <a:ext cx="21" cy="16"/>
            </a:xfrm>
            <a:custGeom>
              <a:avLst/>
              <a:gdLst>
                <a:gd name="T0" fmla="*/ 4 w 24"/>
                <a:gd name="T1" fmla="*/ 3 h 24"/>
                <a:gd name="T2" fmla="*/ 1 w 24"/>
                <a:gd name="T3" fmla="*/ 7 h 24"/>
                <a:gd name="T4" fmla="*/ 0 w 24"/>
                <a:gd name="T5" fmla="*/ 12 h 24"/>
                <a:gd name="T6" fmla="*/ 1 w 24"/>
                <a:gd name="T7" fmla="*/ 17 h 24"/>
                <a:gd name="T8" fmla="*/ 4 w 24"/>
                <a:gd name="T9" fmla="*/ 20 h 24"/>
                <a:gd name="T10" fmla="*/ 8 w 24"/>
                <a:gd name="T11" fmla="*/ 23 h 24"/>
                <a:gd name="T12" fmla="*/ 12 w 24"/>
                <a:gd name="T13" fmla="*/ 24 h 24"/>
                <a:gd name="T14" fmla="*/ 17 w 24"/>
                <a:gd name="T15" fmla="*/ 23 h 24"/>
                <a:gd name="T16" fmla="*/ 21 w 24"/>
                <a:gd name="T17" fmla="*/ 20 h 24"/>
                <a:gd name="T18" fmla="*/ 21 w 24"/>
                <a:gd name="T19" fmla="*/ 20 h 24"/>
                <a:gd name="T20" fmla="*/ 23 w 24"/>
                <a:gd name="T21" fmla="*/ 17 h 24"/>
                <a:gd name="T22" fmla="*/ 24 w 24"/>
                <a:gd name="T23" fmla="*/ 12 h 24"/>
                <a:gd name="T24" fmla="*/ 23 w 24"/>
                <a:gd name="T25" fmla="*/ 7 h 24"/>
                <a:gd name="T26" fmla="*/ 21 w 24"/>
                <a:gd name="T27" fmla="*/ 3 h 24"/>
                <a:gd name="T28" fmla="*/ 17 w 24"/>
                <a:gd name="T29" fmla="*/ 1 h 24"/>
                <a:gd name="T30" fmla="*/ 12 w 24"/>
                <a:gd name="T31" fmla="*/ 0 h 24"/>
                <a:gd name="T32" fmla="*/ 8 w 24"/>
                <a:gd name="T33" fmla="*/ 1 h 24"/>
                <a:gd name="T34" fmla="*/ 4 w 24"/>
                <a:gd name="T35" fmla="*/ 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4" y="3"/>
                  </a:moveTo>
                  <a:lnTo>
                    <a:pt x="1" y="7"/>
                  </a:lnTo>
                  <a:lnTo>
                    <a:pt x="0" y="12"/>
                  </a:lnTo>
                  <a:lnTo>
                    <a:pt x="1" y="17"/>
                  </a:lnTo>
                  <a:lnTo>
                    <a:pt x="4" y="20"/>
                  </a:lnTo>
                  <a:lnTo>
                    <a:pt x="8" y="23"/>
                  </a:lnTo>
                  <a:lnTo>
                    <a:pt x="12" y="24"/>
                  </a:lnTo>
                  <a:lnTo>
                    <a:pt x="17" y="23"/>
                  </a:lnTo>
                  <a:lnTo>
                    <a:pt x="21" y="20"/>
                  </a:lnTo>
                  <a:lnTo>
                    <a:pt x="21" y="20"/>
                  </a:lnTo>
                  <a:lnTo>
                    <a:pt x="23" y="17"/>
                  </a:lnTo>
                  <a:lnTo>
                    <a:pt x="24" y="12"/>
                  </a:lnTo>
                  <a:lnTo>
                    <a:pt x="23" y="7"/>
                  </a:lnTo>
                  <a:lnTo>
                    <a:pt x="21" y="3"/>
                  </a:lnTo>
                  <a:lnTo>
                    <a:pt x="17" y="1"/>
                  </a:lnTo>
                  <a:lnTo>
                    <a:pt x="12" y="0"/>
                  </a:lnTo>
                  <a:lnTo>
                    <a:pt x="8" y="1"/>
                  </a:lnTo>
                  <a:lnTo>
                    <a:pt x="4" y="3"/>
                  </a:lnTo>
                  <a:close/>
                </a:path>
              </a:pathLst>
            </a:custGeom>
            <a:solidFill>
              <a:srgbClr val="0033CC"/>
            </a:solidFill>
            <a:ln>
              <a:noFill/>
            </a:ln>
            <a:extLst>
              <a:ext uri="{91240B29-F687-4F45-9708-019B960494DF}">
                <a14:hiddenLine xmlns:a14="http://schemas.microsoft.com/office/drawing/2010/main" w="9525">
                  <a:solidFill>
                    <a:srgbClr val="0033CC"/>
                  </a:solidFill>
                  <a:round/>
                  <a:headEnd/>
                  <a:tailEnd/>
                </a14:hiddenLine>
              </a:ext>
            </a:extLst>
          </p:spPr>
          <p:txBody>
            <a:bodyPr/>
            <a:lstStyle/>
            <a:p>
              <a:endParaRPr lang="zh-CN" altLang="en-US">
                <a:ea typeface="楷体" panose="02010609060101010101" pitchFamily="49" charset="-122"/>
              </a:endParaRPr>
            </a:p>
          </p:txBody>
        </p:sp>
        <p:sp>
          <p:nvSpPr>
            <p:cNvPr id="164" name="Freeform 162"/>
            <p:cNvSpPr>
              <a:spLocks/>
            </p:cNvSpPr>
            <p:nvPr/>
          </p:nvSpPr>
          <p:spPr bwMode="auto">
            <a:xfrm>
              <a:off x="2229" y="2318"/>
              <a:ext cx="94" cy="77"/>
            </a:xfrm>
            <a:custGeom>
              <a:avLst/>
              <a:gdLst>
                <a:gd name="T0" fmla="*/ 79 w 111"/>
                <a:gd name="T1" fmla="*/ 115 h 115"/>
                <a:gd name="T2" fmla="*/ 111 w 111"/>
                <a:gd name="T3" fmla="*/ 0 h 115"/>
                <a:gd name="T4" fmla="*/ 0 w 111"/>
                <a:gd name="T5" fmla="*/ 43 h 115"/>
                <a:gd name="T6" fmla="*/ 79 w 111"/>
                <a:gd name="T7" fmla="*/ 115 h 115"/>
              </a:gdLst>
              <a:ahLst/>
              <a:cxnLst>
                <a:cxn ang="0">
                  <a:pos x="T0" y="T1"/>
                </a:cxn>
                <a:cxn ang="0">
                  <a:pos x="T2" y="T3"/>
                </a:cxn>
                <a:cxn ang="0">
                  <a:pos x="T4" y="T5"/>
                </a:cxn>
                <a:cxn ang="0">
                  <a:pos x="T6" y="T7"/>
                </a:cxn>
              </a:cxnLst>
              <a:rect l="0" t="0" r="r" b="b"/>
              <a:pathLst>
                <a:path w="111" h="115">
                  <a:moveTo>
                    <a:pt x="79" y="115"/>
                  </a:moveTo>
                  <a:lnTo>
                    <a:pt x="111" y="0"/>
                  </a:lnTo>
                  <a:lnTo>
                    <a:pt x="0" y="43"/>
                  </a:lnTo>
                  <a:lnTo>
                    <a:pt x="79" y="115"/>
                  </a:lnTo>
                  <a:close/>
                </a:path>
              </a:pathLst>
            </a:custGeom>
            <a:solidFill>
              <a:srgbClr val="0033CC"/>
            </a:solidFill>
            <a:ln>
              <a:noFill/>
            </a:ln>
            <a:extLst>
              <a:ext uri="{91240B29-F687-4F45-9708-019B960494DF}">
                <a14:hiddenLine xmlns:a14="http://schemas.microsoft.com/office/drawing/2010/main" w="9525">
                  <a:solidFill>
                    <a:srgbClr val="0033CC"/>
                  </a:solidFill>
                  <a:round/>
                  <a:headEnd/>
                  <a:tailEnd/>
                </a14:hiddenLine>
              </a:ext>
            </a:extLst>
          </p:spPr>
          <p:txBody>
            <a:bodyPr/>
            <a:lstStyle/>
            <a:p>
              <a:endParaRPr lang="zh-CN" altLang="en-US">
                <a:ea typeface="楷体" panose="02010609060101010101" pitchFamily="49" charset="-122"/>
              </a:endParaRPr>
            </a:p>
          </p:txBody>
        </p:sp>
        <p:sp>
          <p:nvSpPr>
            <p:cNvPr id="165" name="Freeform 163"/>
            <p:cNvSpPr>
              <a:spLocks/>
            </p:cNvSpPr>
            <p:nvPr/>
          </p:nvSpPr>
          <p:spPr bwMode="auto">
            <a:xfrm>
              <a:off x="1868" y="3141"/>
              <a:ext cx="21" cy="15"/>
            </a:xfrm>
            <a:custGeom>
              <a:avLst/>
              <a:gdLst>
                <a:gd name="T0" fmla="*/ 1 w 24"/>
                <a:gd name="T1" fmla="*/ 8 h 23"/>
                <a:gd name="T2" fmla="*/ 0 w 24"/>
                <a:gd name="T3" fmla="*/ 12 h 23"/>
                <a:gd name="T4" fmla="*/ 1 w 24"/>
                <a:gd name="T5" fmla="*/ 16 h 23"/>
                <a:gd name="T6" fmla="*/ 4 w 24"/>
                <a:gd name="T7" fmla="*/ 19 h 23"/>
                <a:gd name="T8" fmla="*/ 7 w 24"/>
                <a:gd name="T9" fmla="*/ 22 h 23"/>
                <a:gd name="T10" fmla="*/ 12 w 24"/>
                <a:gd name="T11" fmla="*/ 23 h 23"/>
                <a:gd name="T12" fmla="*/ 17 w 24"/>
                <a:gd name="T13" fmla="*/ 22 h 23"/>
                <a:gd name="T14" fmla="*/ 20 w 24"/>
                <a:gd name="T15" fmla="*/ 19 h 23"/>
                <a:gd name="T16" fmla="*/ 23 w 24"/>
                <a:gd name="T17" fmla="*/ 16 h 23"/>
                <a:gd name="T18" fmla="*/ 23 w 24"/>
                <a:gd name="T19" fmla="*/ 15 h 23"/>
                <a:gd name="T20" fmla="*/ 24 w 24"/>
                <a:gd name="T21" fmla="*/ 12 h 23"/>
                <a:gd name="T22" fmla="*/ 23 w 24"/>
                <a:gd name="T23" fmla="*/ 7 h 23"/>
                <a:gd name="T24" fmla="*/ 21 w 24"/>
                <a:gd name="T25" fmla="*/ 3 h 23"/>
                <a:gd name="T26" fmla="*/ 17 w 24"/>
                <a:gd name="T27" fmla="*/ 1 h 23"/>
                <a:gd name="T28" fmla="*/ 12 w 24"/>
                <a:gd name="T29" fmla="*/ 0 h 23"/>
                <a:gd name="T30" fmla="*/ 7 w 24"/>
                <a:gd name="T31" fmla="*/ 1 h 23"/>
                <a:gd name="T32" fmla="*/ 4 w 24"/>
                <a:gd name="T33" fmla="*/ 3 h 23"/>
                <a:gd name="T34" fmla="*/ 1 w 24"/>
                <a:gd name="T35" fmla="*/ 7 h 23"/>
                <a:gd name="T36" fmla="*/ 1 w 24"/>
                <a:gd name="T37"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 h="23">
                  <a:moveTo>
                    <a:pt x="1" y="8"/>
                  </a:moveTo>
                  <a:lnTo>
                    <a:pt x="0" y="12"/>
                  </a:lnTo>
                  <a:lnTo>
                    <a:pt x="1" y="16"/>
                  </a:lnTo>
                  <a:lnTo>
                    <a:pt x="4" y="19"/>
                  </a:lnTo>
                  <a:lnTo>
                    <a:pt x="7" y="22"/>
                  </a:lnTo>
                  <a:lnTo>
                    <a:pt x="12" y="23"/>
                  </a:lnTo>
                  <a:lnTo>
                    <a:pt x="17" y="22"/>
                  </a:lnTo>
                  <a:lnTo>
                    <a:pt x="20" y="19"/>
                  </a:lnTo>
                  <a:lnTo>
                    <a:pt x="23" y="16"/>
                  </a:lnTo>
                  <a:lnTo>
                    <a:pt x="23" y="15"/>
                  </a:lnTo>
                  <a:lnTo>
                    <a:pt x="24" y="12"/>
                  </a:lnTo>
                  <a:lnTo>
                    <a:pt x="23" y="7"/>
                  </a:lnTo>
                  <a:lnTo>
                    <a:pt x="21" y="3"/>
                  </a:lnTo>
                  <a:lnTo>
                    <a:pt x="17" y="1"/>
                  </a:lnTo>
                  <a:lnTo>
                    <a:pt x="12" y="0"/>
                  </a:lnTo>
                  <a:lnTo>
                    <a:pt x="7" y="1"/>
                  </a:lnTo>
                  <a:lnTo>
                    <a:pt x="4" y="3"/>
                  </a:lnTo>
                  <a:lnTo>
                    <a:pt x="1" y="7"/>
                  </a:lnTo>
                  <a:lnTo>
                    <a:pt x="1" y="8"/>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66" name="Freeform 164"/>
            <p:cNvSpPr>
              <a:spLocks/>
            </p:cNvSpPr>
            <p:nvPr/>
          </p:nvSpPr>
          <p:spPr bwMode="auto">
            <a:xfrm>
              <a:off x="1888" y="3113"/>
              <a:ext cx="20" cy="16"/>
            </a:xfrm>
            <a:custGeom>
              <a:avLst/>
              <a:gdLst>
                <a:gd name="T0" fmla="*/ 1 w 24"/>
                <a:gd name="T1" fmla="*/ 7 h 24"/>
                <a:gd name="T2" fmla="*/ 0 w 24"/>
                <a:gd name="T3" fmla="*/ 12 h 24"/>
                <a:gd name="T4" fmla="*/ 1 w 24"/>
                <a:gd name="T5" fmla="*/ 17 h 24"/>
                <a:gd name="T6" fmla="*/ 4 w 24"/>
                <a:gd name="T7" fmla="*/ 20 h 24"/>
                <a:gd name="T8" fmla="*/ 7 w 24"/>
                <a:gd name="T9" fmla="*/ 23 h 24"/>
                <a:gd name="T10" fmla="*/ 12 w 24"/>
                <a:gd name="T11" fmla="*/ 24 h 24"/>
                <a:gd name="T12" fmla="*/ 17 w 24"/>
                <a:gd name="T13" fmla="*/ 23 h 24"/>
                <a:gd name="T14" fmla="*/ 21 w 24"/>
                <a:gd name="T15" fmla="*/ 20 h 24"/>
                <a:gd name="T16" fmla="*/ 23 w 24"/>
                <a:gd name="T17" fmla="*/ 16 h 24"/>
                <a:gd name="T18" fmla="*/ 23 w 24"/>
                <a:gd name="T19" fmla="*/ 16 h 24"/>
                <a:gd name="T20" fmla="*/ 24 w 24"/>
                <a:gd name="T21" fmla="*/ 12 h 24"/>
                <a:gd name="T22" fmla="*/ 23 w 24"/>
                <a:gd name="T23" fmla="*/ 7 h 24"/>
                <a:gd name="T24" fmla="*/ 21 w 24"/>
                <a:gd name="T25" fmla="*/ 3 h 24"/>
                <a:gd name="T26" fmla="*/ 17 w 24"/>
                <a:gd name="T27" fmla="*/ 1 h 24"/>
                <a:gd name="T28" fmla="*/ 12 w 24"/>
                <a:gd name="T29" fmla="*/ 0 h 24"/>
                <a:gd name="T30" fmla="*/ 7 w 24"/>
                <a:gd name="T31" fmla="*/ 1 h 24"/>
                <a:gd name="T32" fmla="*/ 4 w 24"/>
                <a:gd name="T33" fmla="*/ 3 h 24"/>
                <a:gd name="T34" fmla="*/ 1 w 24"/>
                <a:gd name="T35" fmla="*/ 7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1" y="7"/>
                  </a:moveTo>
                  <a:lnTo>
                    <a:pt x="0" y="12"/>
                  </a:lnTo>
                  <a:lnTo>
                    <a:pt x="1" y="17"/>
                  </a:lnTo>
                  <a:lnTo>
                    <a:pt x="4" y="20"/>
                  </a:lnTo>
                  <a:lnTo>
                    <a:pt x="7" y="23"/>
                  </a:lnTo>
                  <a:lnTo>
                    <a:pt x="12" y="24"/>
                  </a:lnTo>
                  <a:lnTo>
                    <a:pt x="17" y="23"/>
                  </a:lnTo>
                  <a:lnTo>
                    <a:pt x="21" y="20"/>
                  </a:lnTo>
                  <a:lnTo>
                    <a:pt x="23" y="16"/>
                  </a:lnTo>
                  <a:lnTo>
                    <a:pt x="23" y="16"/>
                  </a:lnTo>
                  <a:lnTo>
                    <a:pt x="24" y="12"/>
                  </a:lnTo>
                  <a:lnTo>
                    <a:pt x="23" y="7"/>
                  </a:lnTo>
                  <a:lnTo>
                    <a:pt x="21" y="3"/>
                  </a:lnTo>
                  <a:lnTo>
                    <a:pt x="17" y="1"/>
                  </a:lnTo>
                  <a:lnTo>
                    <a:pt x="12" y="0"/>
                  </a:lnTo>
                  <a:lnTo>
                    <a:pt x="7" y="1"/>
                  </a:lnTo>
                  <a:lnTo>
                    <a:pt x="4" y="3"/>
                  </a:lnTo>
                  <a:lnTo>
                    <a:pt x="1" y="7"/>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67" name="Freeform 165"/>
            <p:cNvSpPr>
              <a:spLocks/>
            </p:cNvSpPr>
            <p:nvPr/>
          </p:nvSpPr>
          <p:spPr bwMode="auto">
            <a:xfrm>
              <a:off x="1907" y="3085"/>
              <a:ext cx="20" cy="16"/>
            </a:xfrm>
            <a:custGeom>
              <a:avLst/>
              <a:gdLst>
                <a:gd name="T0" fmla="*/ 1 w 24"/>
                <a:gd name="T1" fmla="*/ 7 h 24"/>
                <a:gd name="T2" fmla="*/ 0 w 24"/>
                <a:gd name="T3" fmla="*/ 12 h 24"/>
                <a:gd name="T4" fmla="*/ 1 w 24"/>
                <a:gd name="T5" fmla="*/ 17 h 24"/>
                <a:gd name="T6" fmla="*/ 4 w 24"/>
                <a:gd name="T7" fmla="*/ 20 h 24"/>
                <a:gd name="T8" fmla="*/ 8 w 24"/>
                <a:gd name="T9" fmla="*/ 23 h 24"/>
                <a:gd name="T10" fmla="*/ 12 w 24"/>
                <a:gd name="T11" fmla="*/ 24 h 24"/>
                <a:gd name="T12" fmla="*/ 17 w 24"/>
                <a:gd name="T13" fmla="*/ 23 h 24"/>
                <a:gd name="T14" fmla="*/ 21 w 24"/>
                <a:gd name="T15" fmla="*/ 20 h 24"/>
                <a:gd name="T16" fmla="*/ 23 w 24"/>
                <a:gd name="T17" fmla="*/ 16 h 24"/>
                <a:gd name="T18" fmla="*/ 23 w 24"/>
                <a:gd name="T19" fmla="*/ 16 h 24"/>
                <a:gd name="T20" fmla="*/ 24 w 24"/>
                <a:gd name="T21" fmla="*/ 12 h 24"/>
                <a:gd name="T22" fmla="*/ 23 w 24"/>
                <a:gd name="T23" fmla="*/ 7 h 24"/>
                <a:gd name="T24" fmla="*/ 21 w 24"/>
                <a:gd name="T25" fmla="*/ 3 h 24"/>
                <a:gd name="T26" fmla="*/ 17 w 24"/>
                <a:gd name="T27" fmla="*/ 1 h 24"/>
                <a:gd name="T28" fmla="*/ 12 w 24"/>
                <a:gd name="T29" fmla="*/ 0 h 24"/>
                <a:gd name="T30" fmla="*/ 8 w 24"/>
                <a:gd name="T31" fmla="*/ 1 h 24"/>
                <a:gd name="T32" fmla="*/ 4 w 24"/>
                <a:gd name="T33" fmla="*/ 3 h 24"/>
                <a:gd name="T34" fmla="*/ 1 w 24"/>
                <a:gd name="T35" fmla="*/ 7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1" y="7"/>
                  </a:moveTo>
                  <a:lnTo>
                    <a:pt x="0" y="12"/>
                  </a:lnTo>
                  <a:lnTo>
                    <a:pt x="1" y="17"/>
                  </a:lnTo>
                  <a:lnTo>
                    <a:pt x="4" y="20"/>
                  </a:lnTo>
                  <a:lnTo>
                    <a:pt x="8" y="23"/>
                  </a:lnTo>
                  <a:lnTo>
                    <a:pt x="12" y="24"/>
                  </a:lnTo>
                  <a:lnTo>
                    <a:pt x="17" y="23"/>
                  </a:lnTo>
                  <a:lnTo>
                    <a:pt x="21" y="20"/>
                  </a:lnTo>
                  <a:lnTo>
                    <a:pt x="23" y="16"/>
                  </a:lnTo>
                  <a:lnTo>
                    <a:pt x="23" y="16"/>
                  </a:lnTo>
                  <a:lnTo>
                    <a:pt x="24" y="12"/>
                  </a:lnTo>
                  <a:lnTo>
                    <a:pt x="23" y="7"/>
                  </a:lnTo>
                  <a:lnTo>
                    <a:pt x="21" y="3"/>
                  </a:lnTo>
                  <a:lnTo>
                    <a:pt x="17" y="1"/>
                  </a:lnTo>
                  <a:lnTo>
                    <a:pt x="12" y="0"/>
                  </a:lnTo>
                  <a:lnTo>
                    <a:pt x="8" y="1"/>
                  </a:lnTo>
                  <a:lnTo>
                    <a:pt x="4" y="3"/>
                  </a:lnTo>
                  <a:lnTo>
                    <a:pt x="1" y="7"/>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68" name="Freeform 166"/>
            <p:cNvSpPr>
              <a:spLocks/>
            </p:cNvSpPr>
            <p:nvPr/>
          </p:nvSpPr>
          <p:spPr bwMode="auto">
            <a:xfrm>
              <a:off x="1927" y="3057"/>
              <a:ext cx="20" cy="16"/>
            </a:xfrm>
            <a:custGeom>
              <a:avLst/>
              <a:gdLst>
                <a:gd name="T0" fmla="*/ 1 w 24"/>
                <a:gd name="T1" fmla="*/ 7 h 24"/>
                <a:gd name="T2" fmla="*/ 0 w 24"/>
                <a:gd name="T3" fmla="*/ 12 h 24"/>
                <a:gd name="T4" fmla="*/ 1 w 24"/>
                <a:gd name="T5" fmla="*/ 17 h 24"/>
                <a:gd name="T6" fmla="*/ 4 w 24"/>
                <a:gd name="T7" fmla="*/ 20 h 24"/>
                <a:gd name="T8" fmla="*/ 8 w 24"/>
                <a:gd name="T9" fmla="*/ 23 h 24"/>
                <a:gd name="T10" fmla="*/ 12 w 24"/>
                <a:gd name="T11" fmla="*/ 24 h 24"/>
                <a:gd name="T12" fmla="*/ 17 w 24"/>
                <a:gd name="T13" fmla="*/ 23 h 24"/>
                <a:gd name="T14" fmla="*/ 21 w 24"/>
                <a:gd name="T15" fmla="*/ 20 h 24"/>
                <a:gd name="T16" fmla="*/ 23 w 24"/>
                <a:gd name="T17" fmla="*/ 16 h 24"/>
                <a:gd name="T18" fmla="*/ 23 w 24"/>
                <a:gd name="T19" fmla="*/ 16 h 24"/>
                <a:gd name="T20" fmla="*/ 24 w 24"/>
                <a:gd name="T21" fmla="*/ 12 h 24"/>
                <a:gd name="T22" fmla="*/ 24 w 24"/>
                <a:gd name="T23" fmla="*/ 7 h 24"/>
                <a:gd name="T24" fmla="*/ 21 w 24"/>
                <a:gd name="T25" fmla="*/ 3 h 24"/>
                <a:gd name="T26" fmla="*/ 17 w 24"/>
                <a:gd name="T27" fmla="*/ 1 h 24"/>
                <a:gd name="T28" fmla="*/ 12 w 24"/>
                <a:gd name="T29" fmla="*/ 0 h 24"/>
                <a:gd name="T30" fmla="*/ 8 w 24"/>
                <a:gd name="T31" fmla="*/ 1 h 24"/>
                <a:gd name="T32" fmla="*/ 4 w 24"/>
                <a:gd name="T33" fmla="*/ 3 h 24"/>
                <a:gd name="T34" fmla="*/ 1 w 24"/>
                <a:gd name="T35" fmla="*/ 7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1" y="7"/>
                  </a:moveTo>
                  <a:lnTo>
                    <a:pt x="0" y="12"/>
                  </a:lnTo>
                  <a:lnTo>
                    <a:pt x="1" y="17"/>
                  </a:lnTo>
                  <a:lnTo>
                    <a:pt x="4" y="20"/>
                  </a:lnTo>
                  <a:lnTo>
                    <a:pt x="8" y="23"/>
                  </a:lnTo>
                  <a:lnTo>
                    <a:pt x="12" y="24"/>
                  </a:lnTo>
                  <a:lnTo>
                    <a:pt x="17" y="23"/>
                  </a:lnTo>
                  <a:lnTo>
                    <a:pt x="21" y="20"/>
                  </a:lnTo>
                  <a:lnTo>
                    <a:pt x="23" y="16"/>
                  </a:lnTo>
                  <a:lnTo>
                    <a:pt x="23" y="16"/>
                  </a:lnTo>
                  <a:lnTo>
                    <a:pt x="24" y="12"/>
                  </a:lnTo>
                  <a:lnTo>
                    <a:pt x="24" y="7"/>
                  </a:lnTo>
                  <a:lnTo>
                    <a:pt x="21" y="3"/>
                  </a:lnTo>
                  <a:lnTo>
                    <a:pt x="17" y="1"/>
                  </a:lnTo>
                  <a:lnTo>
                    <a:pt x="12" y="0"/>
                  </a:lnTo>
                  <a:lnTo>
                    <a:pt x="8" y="1"/>
                  </a:lnTo>
                  <a:lnTo>
                    <a:pt x="4" y="3"/>
                  </a:lnTo>
                  <a:lnTo>
                    <a:pt x="1" y="7"/>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69" name="Freeform 167"/>
            <p:cNvSpPr>
              <a:spLocks/>
            </p:cNvSpPr>
            <p:nvPr/>
          </p:nvSpPr>
          <p:spPr bwMode="auto">
            <a:xfrm>
              <a:off x="1947" y="3029"/>
              <a:ext cx="20" cy="16"/>
            </a:xfrm>
            <a:custGeom>
              <a:avLst/>
              <a:gdLst>
                <a:gd name="T0" fmla="*/ 1 w 24"/>
                <a:gd name="T1" fmla="*/ 7 h 24"/>
                <a:gd name="T2" fmla="*/ 0 w 24"/>
                <a:gd name="T3" fmla="*/ 12 h 24"/>
                <a:gd name="T4" fmla="*/ 1 w 24"/>
                <a:gd name="T5" fmla="*/ 17 h 24"/>
                <a:gd name="T6" fmla="*/ 3 w 24"/>
                <a:gd name="T7" fmla="*/ 20 h 24"/>
                <a:gd name="T8" fmla="*/ 7 w 24"/>
                <a:gd name="T9" fmla="*/ 23 h 24"/>
                <a:gd name="T10" fmla="*/ 12 w 24"/>
                <a:gd name="T11" fmla="*/ 24 h 24"/>
                <a:gd name="T12" fmla="*/ 16 w 24"/>
                <a:gd name="T13" fmla="*/ 23 h 24"/>
                <a:gd name="T14" fmla="*/ 20 w 24"/>
                <a:gd name="T15" fmla="*/ 20 h 24"/>
                <a:gd name="T16" fmla="*/ 23 w 24"/>
                <a:gd name="T17" fmla="*/ 16 h 24"/>
                <a:gd name="T18" fmla="*/ 23 w 24"/>
                <a:gd name="T19" fmla="*/ 16 h 24"/>
                <a:gd name="T20" fmla="*/ 24 w 24"/>
                <a:gd name="T21" fmla="*/ 12 h 24"/>
                <a:gd name="T22" fmla="*/ 23 w 24"/>
                <a:gd name="T23" fmla="*/ 7 h 24"/>
                <a:gd name="T24" fmla="*/ 20 w 24"/>
                <a:gd name="T25" fmla="*/ 3 h 24"/>
                <a:gd name="T26" fmla="*/ 16 w 24"/>
                <a:gd name="T27" fmla="*/ 1 h 24"/>
                <a:gd name="T28" fmla="*/ 12 w 24"/>
                <a:gd name="T29" fmla="*/ 0 h 24"/>
                <a:gd name="T30" fmla="*/ 7 w 24"/>
                <a:gd name="T31" fmla="*/ 1 h 24"/>
                <a:gd name="T32" fmla="*/ 3 w 24"/>
                <a:gd name="T33" fmla="*/ 3 h 24"/>
                <a:gd name="T34" fmla="*/ 1 w 24"/>
                <a:gd name="T35" fmla="*/ 7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1" y="7"/>
                  </a:moveTo>
                  <a:lnTo>
                    <a:pt x="0" y="12"/>
                  </a:lnTo>
                  <a:lnTo>
                    <a:pt x="1" y="17"/>
                  </a:lnTo>
                  <a:lnTo>
                    <a:pt x="3" y="20"/>
                  </a:lnTo>
                  <a:lnTo>
                    <a:pt x="7" y="23"/>
                  </a:lnTo>
                  <a:lnTo>
                    <a:pt x="12" y="24"/>
                  </a:lnTo>
                  <a:lnTo>
                    <a:pt x="16" y="23"/>
                  </a:lnTo>
                  <a:lnTo>
                    <a:pt x="20" y="20"/>
                  </a:lnTo>
                  <a:lnTo>
                    <a:pt x="23" y="16"/>
                  </a:lnTo>
                  <a:lnTo>
                    <a:pt x="23" y="16"/>
                  </a:lnTo>
                  <a:lnTo>
                    <a:pt x="24" y="12"/>
                  </a:lnTo>
                  <a:lnTo>
                    <a:pt x="23" y="7"/>
                  </a:lnTo>
                  <a:lnTo>
                    <a:pt x="20" y="3"/>
                  </a:lnTo>
                  <a:lnTo>
                    <a:pt x="16" y="1"/>
                  </a:lnTo>
                  <a:lnTo>
                    <a:pt x="12" y="0"/>
                  </a:lnTo>
                  <a:lnTo>
                    <a:pt x="7" y="1"/>
                  </a:lnTo>
                  <a:lnTo>
                    <a:pt x="3" y="3"/>
                  </a:lnTo>
                  <a:lnTo>
                    <a:pt x="1" y="7"/>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70" name="Freeform 168"/>
            <p:cNvSpPr>
              <a:spLocks/>
            </p:cNvSpPr>
            <p:nvPr/>
          </p:nvSpPr>
          <p:spPr bwMode="auto">
            <a:xfrm>
              <a:off x="1966" y="3001"/>
              <a:ext cx="20" cy="16"/>
            </a:xfrm>
            <a:custGeom>
              <a:avLst/>
              <a:gdLst>
                <a:gd name="T0" fmla="*/ 1 w 24"/>
                <a:gd name="T1" fmla="*/ 7 h 24"/>
                <a:gd name="T2" fmla="*/ 0 w 24"/>
                <a:gd name="T3" fmla="*/ 12 h 24"/>
                <a:gd name="T4" fmla="*/ 1 w 24"/>
                <a:gd name="T5" fmla="*/ 16 h 24"/>
                <a:gd name="T6" fmla="*/ 3 w 24"/>
                <a:gd name="T7" fmla="*/ 20 h 24"/>
                <a:gd name="T8" fmla="*/ 7 w 24"/>
                <a:gd name="T9" fmla="*/ 23 h 24"/>
                <a:gd name="T10" fmla="*/ 12 w 24"/>
                <a:gd name="T11" fmla="*/ 24 h 24"/>
                <a:gd name="T12" fmla="*/ 16 w 24"/>
                <a:gd name="T13" fmla="*/ 23 h 24"/>
                <a:gd name="T14" fmla="*/ 20 w 24"/>
                <a:gd name="T15" fmla="*/ 20 h 24"/>
                <a:gd name="T16" fmla="*/ 23 w 24"/>
                <a:gd name="T17" fmla="*/ 16 h 24"/>
                <a:gd name="T18" fmla="*/ 23 w 24"/>
                <a:gd name="T19" fmla="*/ 16 h 24"/>
                <a:gd name="T20" fmla="*/ 24 w 24"/>
                <a:gd name="T21" fmla="*/ 12 h 24"/>
                <a:gd name="T22" fmla="*/ 23 w 24"/>
                <a:gd name="T23" fmla="*/ 7 h 24"/>
                <a:gd name="T24" fmla="*/ 20 w 24"/>
                <a:gd name="T25" fmla="*/ 3 h 24"/>
                <a:gd name="T26" fmla="*/ 16 w 24"/>
                <a:gd name="T27" fmla="*/ 1 h 24"/>
                <a:gd name="T28" fmla="*/ 12 w 24"/>
                <a:gd name="T29" fmla="*/ 0 h 24"/>
                <a:gd name="T30" fmla="*/ 7 w 24"/>
                <a:gd name="T31" fmla="*/ 1 h 24"/>
                <a:gd name="T32" fmla="*/ 3 w 24"/>
                <a:gd name="T33" fmla="*/ 3 h 24"/>
                <a:gd name="T34" fmla="*/ 1 w 24"/>
                <a:gd name="T35" fmla="*/ 7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1" y="7"/>
                  </a:moveTo>
                  <a:lnTo>
                    <a:pt x="0" y="12"/>
                  </a:lnTo>
                  <a:lnTo>
                    <a:pt x="1" y="16"/>
                  </a:lnTo>
                  <a:lnTo>
                    <a:pt x="3" y="20"/>
                  </a:lnTo>
                  <a:lnTo>
                    <a:pt x="7" y="23"/>
                  </a:lnTo>
                  <a:lnTo>
                    <a:pt x="12" y="24"/>
                  </a:lnTo>
                  <a:lnTo>
                    <a:pt x="16" y="23"/>
                  </a:lnTo>
                  <a:lnTo>
                    <a:pt x="20" y="20"/>
                  </a:lnTo>
                  <a:lnTo>
                    <a:pt x="23" y="16"/>
                  </a:lnTo>
                  <a:lnTo>
                    <a:pt x="23" y="16"/>
                  </a:lnTo>
                  <a:lnTo>
                    <a:pt x="24" y="12"/>
                  </a:lnTo>
                  <a:lnTo>
                    <a:pt x="23" y="7"/>
                  </a:lnTo>
                  <a:lnTo>
                    <a:pt x="20" y="3"/>
                  </a:lnTo>
                  <a:lnTo>
                    <a:pt x="16" y="1"/>
                  </a:lnTo>
                  <a:lnTo>
                    <a:pt x="12" y="0"/>
                  </a:lnTo>
                  <a:lnTo>
                    <a:pt x="7" y="1"/>
                  </a:lnTo>
                  <a:lnTo>
                    <a:pt x="3" y="3"/>
                  </a:lnTo>
                  <a:lnTo>
                    <a:pt x="1" y="7"/>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71" name="Freeform 169"/>
            <p:cNvSpPr>
              <a:spLocks/>
            </p:cNvSpPr>
            <p:nvPr/>
          </p:nvSpPr>
          <p:spPr bwMode="auto">
            <a:xfrm>
              <a:off x="1986" y="2973"/>
              <a:ext cx="20" cy="16"/>
            </a:xfrm>
            <a:custGeom>
              <a:avLst/>
              <a:gdLst>
                <a:gd name="T0" fmla="*/ 1 w 24"/>
                <a:gd name="T1" fmla="*/ 7 h 24"/>
                <a:gd name="T2" fmla="*/ 0 w 24"/>
                <a:gd name="T3" fmla="*/ 12 h 24"/>
                <a:gd name="T4" fmla="*/ 1 w 24"/>
                <a:gd name="T5" fmla="*/ 16 h 24"/>
                <a:gd name="T6" fmla="*/ 3 w 24"/>
                <a:gd name="T7" fmla="*/ 20 h 24"/>
                <a:gd name="T8" fmla="*/ 7 w 24"/>
                <a:gd name="T9" fmla="*/ 23 h 24"/>
                <a:gd name="T10" fmla="*/ 12 w 24"/>
                <a:gd name="T11" fmla="*/ 24 h 24"/>
                <a:gd name="T12" fmla="*/ 17 w 24"/>
                <a:gd name="T13" fmla="*/ 23 h 24"/>
                <a:gd name="T14" fmla="*/ 20 w 24"/>
                <a:gd name="T15" fmla="*/ 20 h 24"/>
                <a:gd name="T16" fmla="*/ 23 w 24"/>
                <a:gd name="T17" fmla="*/ 16 h 24"/>
                <a:gd name="T18" fmla="*/ 23 w 24"/>
                <a:gd name="T19" fmla="*/ 16 h 24"/>
                <a:gd name="T20" fmla="*/ 24 w 24"/>
                <a:gd name="T21" fmla="*/ 12 h 24"/>
                <a:gd name="T22" fmla="*/ 23 w 24"/>
                <a:gd name="T23" fmla="*/ 7 h 24"/>
                <a:gd name="T24" fmla="*/ 20 w 24"/>
                <a:gd name="T25" fmla="*/ 3 h 24"/>
                <a:gd name="T26" fmla="*/ 17 w 24"/>
                <a:gd name="T27" fmla="*/ 1 h 24"/>
                <a:gd name="T28" fmla="*/ 12 w 24"/>
                <a:gd name="T29" fmla="*/ 0 h 24"/>
                <a:gd name="T30" fmla="*/ 7 w 24"/>
                <a:gd name="T31" fmla="*/ 1 h 24"/>
                <a:gd name="T32" fmla="*/ 3 w 24"/>
                <a:gd name="T33" fmla="*/ 3 h 24"/>
                <a:gd name="T34" fmla="*/ 1 w 24"/>
                <a:gd name="T35" fmla="*/ 7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1" y="7"/>
                  </a:moveTo>
                  <a:lnTo>
                    <a:pt x="0" y="12"/>
                  </a:lnTo>
                  <a:lnTo>
                    <a:pt x="1" y="16"/>
                  </a:lnTo>
                  <a:lnTo>
                    <a:pt x="3" y="20"/>
                  </a:lnTo>
                  <a:lnTo>
                    <a:pt x="7" y="23"/>
                  </a:lnTo>
                  <a:lnTo>
                    <a:pt x="12" y="24"/>
                  </a:lnTo>
                  <a:lnTo>
                    <a:pt x="17" y="23"/>
                  </a:lnTo>
                  <a:lnTo>
                    <a:pt x="20" y="20"/>
                  </a:lnTo>
                  <a:lnTo>
                    <a:pt x="23" y="16"/>
                  </a:lnTo>
                  <a:lnTo>
                    <a:pt x="23" y="16"/>
                  </a:lnTo>
                  <a:lnTo>
                    <a:pt x="24" y="12"/>
                  </a:lnTo>
                  <a:lnTo>
                    <a:pt x="23" y="7"/>
                  </a:lnTo>
                  <a:lnTo>
                    <a:pt x="20" y="3"/>
                  </a:lnTo>
                  <a:lnTo>
                    <a:pt x="17" y="1"/>
                  </a:lnTo>
                  <a:lnTo>
                    <a:pt x="12" y="0"/>
                  </a:lnTo>
                  <a:lnTo>
                    <a:pt x="7" y="1"/>
                  </a:lnTo>
                  <a:lnTo>
                    <a:pt x="3" y="3"/>
                  </a:lnTo>
                  <a:lnTo>
                    <a:pt x="1" y="7"/>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72" name="Freeform 170"/>
            <p:cNvSpPr>
              <a:spLocks/>
            </p:cNvSpPr>
            <p:nvPr/>
          </p:nvSpPr>
          <p:spPr bwMode="auto">
            <a:xfrm>
              <a:off x="2005" y="2945"/>
              <a:ext cx="20" cy="16"/>
            </a:xfrm>
            <a:custGeom>
              <a:avLst/>
              <a:gdLst>
                <a:gd name="T0" fmla="*/ 1 w 24"/>
                <a:gd name="T1" fmla="*/ 7 h 24"/>
                <a:gd name="T2" fmla="*/ 0 w 24"/>
                <a:gd name="T3" fmla="*/ 12 h 24"/>
                <a:gd name="T4" fmla="*/ 1 w 24"/>
                <a:gd name="T5" fmla="*/ 16 h 24"/>
                <a:gd name="T6" fmla="*/ 4 w 24"/>
                <a:gd name="T7" fmla="*/ 20 h 24"/>
                <a:gd name="T8" fmla="*/ 7 w 24"/>
                <a:gd name="T9" fmla="*/ 23 h 24"/>
                <a:gd name="T10" fmla="*/ 12 w 24"/>
                <a:gd name="T11" fmla="*/ 24 h 24"/>
                <a:gd name="T12" fmla="*/ 17 w 24"/>
                <a:gd name="T13" fmla="*/ 23 h 24"/>
                <a:gd name="T14" fmla="*/ 21 w 24"/>
                <a:gd name="T15" fmla="*/ 20 h 24"/>
                <a:gd name="T16" fmla="*/ 23 w 24"/>
                <a:gd name="T17" fmla="*/ 16 h 24"/>
                <a:gd name="T18" fmla="*/ 23 w 24"/>
                <a:gd name="T19" fmla="*/ 16 h 24"/>
                <a:gd name="T20" fmla="*/ 24 w 24"/>
                <a:gd name="T21" fmla="*/ 12 h 24"/>
                <a:gd name="T22" fmla="*/ 23 w 24"/>
                <a:gd name="T23" fmla="*/ 7 h 24"/>
                <a:gd name="T24" fmla="*/ 21 w 24"/>
                <a:gd name="T25" fmla="*/ 3 h 24"/>
                <a:gd name="T26" fmla="*/ 17 w 24"/>
                <a:gd name="T27" fmla="*/ 1 h 24"/>
                <a:gd name="T28" fmla="*/ 12 w 24"/>
                <a:gd name="T29" fmla="*/ 0 h 24"/>
                <a:gd name="T30" fmla="*/ 7 w 24"/>
                <a:gd name="T31" fmla="*/ 1 h 24"/>
                <a:gd name="T32" fmla="*/ 4 w 24"/>
                <a:gd name="T33" fmla="*/ 3 h 24"/>
                <a:gd name="T34" fmla="*/ 1 w 24"/>
                <a:gd name="T35" fmla="*/ 7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1" y="7"/>
                  </a:moveTo>
                  <a:lnTo>
                    <a:pt x="0" y="12"/>
                  </a:lnTo>
                  <a:lnTo>
                    <a:pt x="1" y="16"/>
                  </a:lnTo>
                  <a:lnTo>
                    <a:pt x="4" y="20"/>
                  </a:lnTo>
                  <a:lnTo>
                    <a:pt x="7" y="23"/>
                  </a:lnTo>
                  <a:lnTo>
                    <a:pt x="12" y="24"/>
                  </a:lnTo>
                  <a:lnTo>
                    <a:pt x="17" y="23"/>
                  </a:lnTo>
                  <a:lnTo>
                    <a:pt x="21" y="20"/>
                  </a:lnTo>
                  <a:lnTo>
                    <a:pt x="23" y="16"/>
                  </a:lnTo>
                  <a:lnTo>
                    <a:pt x="23" y="16"/>
                  </a:lnTo>
                  <a:lnTo>
                    <a:pt x="24" y="12"/>
                  </a:lnTo>
                  <a:lnTo>
                    <a:pt x="23" y="7"/>
                  </a:lnTo>
                  <a:lnTo>
                    <a:pt x="21" y="3"/>
                  </a:lnTo>
                  <a:lnTo>
                    <a:pt x="17" y="1"/>
                  </a:lnTo>
                  <a:lnTo>
                    <a:pt x="12" y="0"/>
                  </a:lnTo>
                  <a:lnTo>
                    <a:pt x="7" y="1"/>
                  </a:lnTo>
                  <a:lnTo>
                    <a:pt x="4" y="3"/>
                  </a:lnTo>
                  <a:lnTo>
                    <a:pt x="1" y="7"/>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73" name="Freeform 171"/>
            <p:cNvSpPr>
              <a:spLocks/>
            </p:cNvSpPr>
            <p:nvPr/>
          </p:nvSpPr>
          <p:spPr bwMode="auto">
            <a:xfrm>
              <a:off x="2024" y="2917"/>
              <a:ext cx="21" cy="16"/>
            </a:xfrm>
            <a:custGeom>
              <a:avLst/>
              <a:gdLst>
                <a:gd name="T0" fmla="*/ 1 w 24"/>
                <a:gd name="T1" fmla="*/ 7 h 24"/>
                <a:gd name="T2" fmla="*/ 0 w 24"/>
                <a:gd name="T3" fmla="*/ 12 h 24"/>
                <a:gd name="T4" fmla="*/ 1 w 24"/>
                <a:gd name="T5" fmla="*/ 16 h 24"/>
                <a:gd name="T6" fmla="*/ 4 w 24"/>
                <a:gd name="T7" fmla="*/ 20 h 24"/>
                <a:gd name="T8" fmla="*/ 8 w 24"/>
                <a:gd name="T9" fmla="*/ 23 h 24"/>
                <a:gd name="T10" fmla="*/ 12 w 24"/>
                <a:gd name="T11" fmla="*/ 24 h 24"/>
                <a:gd name="T12" fmla="*/ 17 w 24"/>
                <a:gd name="T13" fmla="*/ 23 h 24"/>
                <a:gd name="T14" fmla="*/ 21 w 24"/>
                <a:gd name="T15" fmla="*/ 20 h 24"/>
                <a:gd name="T16" fmla="*/ 23 w 24"/>
                <a:gd name="T17" fmla="*/ 16 h 24"/>
                <a:gd name="T18" fmla="*/ 23 w 24"/>
                <a:gd name="T19" fmla="*/ 16 h 24"/>
                <a:gd name="T20" fmla="*/ 24 w 24"/>
                <a:gd name="T21" fmla="*/ 12 h 24"/>
                <a:gd name="T22" fmla="*/ 23 w 24"/>
                <a:gd name="T23" fmla="*/ 7 h 24"/>
                <a:gd name="T24" fmla="*/ 21 w 24"/>
                <a:gd name="T25" fmla="*/ 3 h 24"/>
                <a:gd name="T26" fmla="*/ 17 w 24"/>
                <a:gd name="T27" fmla="*/ 1 h 24"/>
                <a:gd name="T28" fmla="*/ 12 w 24"/>
                <a:gd name="T29" fmla="*/ 0 h 24"/>
                <a:gd name="T30" fmla="*/ 8 w 24"/>
                <a:gd name="T31" fmla="*/ 1 h 24"/>
                <a:gd name="T32" fmla="*/ 4 w 24"/>
                <a:gd name="T33" fmla="*/ 3 h 24"/>
                <a:gd name="T34" fmla="*/ 1 w 24"/>
                <a:gd name="T35" fmla="*/ 7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1" y="7"/>
                  </a:moveTo>
                  <a:lnTo>
                    <a:pt x="0" y="12"/>
                  </a:lnTo>
                  <a:lnTo>
                    <a:pt x="1" y="16"/>
                  </a:lnTo>
                  <a:lnTo>
                    <a:pt x="4" y="20"/>
                  </a:lnTo>
                  <a:lnTo>
                    <a:pt x="8" y="23"/>
                  </a:lnTo>
                  <a:lnTo>
                    <a:pt x="12" y="24"/>
                  </a:lnTo>
                  <a:lnTo>
                    <a:pt x="17" y="23"/>
                  </a:lnTo>
                  <a:lnTo>
                    <a:pt x="21" y="20"/>
                  </a:lnTo>
                  <a:lnTo>
                    <a:pt x="23" y="16"/>
                  </a:lnTo>
                  <a:lnTo>
                    <a:pt x="23" y="16"/>
                  </a:lnTo>
                  <a:lnTo>
                    <a:pt x="24" y="12"/>
                  </a:lnTo>
                  <a:lnTo>
                    <a:pt x="23" y="7"/>
                  </a:lnTo>
                  <a:lnTo>
                    <a:pt x="21" y="3"/>
                  </a:lnTo>
                  <a:lnTo>
                    <a:pt x="17" y="1"/>
                  </a:lnTo>
                  <a:lnTo>
                    <a:pt x="12" y="0"/>
                  </a:lnTo>
                  <a:lnTo>
                    <a:pt x="8" y="1"/>
                  </a:lnTo>
                  <a:lnTo>
                    <a:pt x="4" y="3"/>
                  </a:lnTo>
                  <a:lnTo>
                    <a:pt x="1" y="7"/>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74" name="Freeform 172"/>
            <p:cNvSpPr>
              <a:spLocks/>
            </p:cNvSpPr>
            <p:nvPr/>
          </p:nvSpPr>
          <p:spPr bwMode="auto">
            <a:xfrm>
              <a:off x="2044" y="2889"/>
              <a:ext cx="20" cy="16"/>
            </a:xfrm>
            <a:custGeom>
              <a:avLst/>
              <a:gdLst>
                <a:gd name="T0" fmla="*/ 1 w 24"/>
                <a:gd name="T1" fmla="*/ 7 h 24"/>
                <a:gd name="T2" fmla="*/ 0 w 24"/>
                <a:gd name="T3" fmla="*/ 12 h 24"/>
                <a:gd name="T4" fmla="*/ 1 w 24"/>
                <a:gd name="T5" fmla="*/ 16 h 24"/>
                <a:gd name="T6" fmla="*/ 4 w 24"/>
                <a:gd name="T7" fmla="*/ 20 h 24"/>
                <a:gd name="T8" fmla="*/ 8 w 24"/>
                <a:gd name="T9" fmla="*/ 23 h 24"/>
                <a:gd name="T10" fmla="*/ 12 w 24"/>
                <a:gd name="T11" fmla="*/ 24 h 24"/>
                <a:gd name="T12" fmla="*/ 17 w 24"/>
                <a:gd name="T13" fmla="*/ 23 h 24"/>
                <a:gd name="T14" fmla="*/ 21 w 24"/>
                <a:gd name="T15" fmla="*/ 20 h 24"/>
                <a:gd name="T16" fmla="*/ 23 w 24"/>
                <a:gd name="T17" fmla="*/ 16 h 24"/>
                <a:gd name="T18" fmla="*/ 23 w 24"/>
                <a:gd name="T19" fmla="*/ 16 h 24"/>
                <a:gd name="T20" fmla="*/ 24 w 24"/>
                <a:gd name="T21" fmla="*/ 12 h 24"/>
                <a:gd name="T22" fmla="*/ 23 w 24"/>
                <a:gd name="T23" fmla="*/ 7 h 24"/>
                <a:gd name="T24" fmla="*/ 21 w 24"/>
                <a:gd name="T25" fmla="*/ 3 h 24"/>
                <a:gd name="T26" fmla="*/ 17 w 24"/>
                <a:gd name="T27" fmla="*/ 1 h 24"/>
                <a:gd name="T28" fmla="*/ 12 w 24"/>
                <a:gd name="T29" fmla="*/ 0 h 24"/>
                <a:gd name="T30" fmla="*/ 8 w 24"/>
                <a:gd name="T31" fmla="*/ 1 h 24"/>
                <a:gd name="T32" fmla="*/ 4 w 24"/>
                <a:gd name="T33" fmla="*/ 3 h 24"/>
                <a:gd name="T34" fmla="*/ 1 w 24"/>
                <a:gd name="T35" fmla="*/ 7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1" y="7"/>
                  </a:moveTo>
                  <a:lnTo>
                    <a:pt x="0" y="12"/>
                  </a:lnTo>
                  <a:lnTo>
                    <a:pt x="1" y="16"/>
                  </a:lnTo>
                  <a:lnTo>
                    <a:pt x="4" y="20"/>
                  </a:lnTo>
                  <a:lnTo>
                    <a:pt x="8" y="23"/>
                  </a:lnTo>
                  <a:lnTo>
                    <a:pt x="12" y="24"/>
                  </a:lnTo>
                  <a:lnTo>
                    <a:pt x="17" y="23"/>
                  </a:lnTo>
                  <a:lnTo>
                    <a:pt x="21" y="20"/>
                  </a:lnTo>
                  <a:lnTo>
                    <a:pt x="23" y="16"/>
                  </a:lnTo>
                  <a:lnTo>
                    <a:pt x="23" y="16"/>
                  </a:lnTo>
                  <a:lnTo>
                    <a:pt x="24" y="12"/>
                  </a:lnTo>
                  <a:lnTo>
                    <a:pt x="23" y="7"/>
                  </a:lnTo>
                  <a:lnTo>
                    <a:pt x="21" y="3"/>
                  </a:lnTo>
                  <a:lnTo>
                    <a:pt x="17" y="1"/>
                  </a:lnTo>
                  <a:lnTo>
                    <a:pt x="12" y="0"/>
                  </a:lnTo>
                  <a:lnTo>
                    <a:pt x="8" y="1"/>
                  </a:lnTo>
                  <a:lnTo>
                    <a:pt x="4" y="3"/>
                  </a:lnTo>
                  <a:lnTo>
                    <a:pt x="1" y="7"/>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75" name="Freeform 173"/>
            <p:cNvSpPr>
              <a:spLocks/>
            </p:cNvSpPr>
            <p:nvPr/>
          </p:nvSpPr>
          <p:spPr bwMode="auto">
            <a:xfrm>
              <a:off x="2064" y="2861"/>
              <a:ext cx="19" cy="16"/>
            </a:xfrm>
            <a:custGeom>
              <a:avLst/>
              <a:gdLst>
                <a:gd name="T0" fmla="*/ 1 w 23"/>
                <a:gd name="T1" fmla="*/ 7 h 24"/>
                <a:gd name="T2" fmla="*/ 0 w 23"/>
                <a:gd name="T3" fmla="*/ 12 h 24"/>
                <a:gd name="T4" fmla="*/ 0 w 23"/>
                <a:gd name="T5" fmla="*/ 16 h 24"/>
                <a:gd name="T6" fmla="*/ 3 w 23"/>
                <a:gd name="T7" fmla="*/ 20 h 24"/>
                <a:gd name="T8" fmla="*/ 7 w 23"/>
                <a:gd name="T9" fmla="*/ 23 h 24"/>
                <a:gd name="T10" fmla="*/ 12 w 23"/>
                <a:gd name="T11" fmla="*/ 24 h 24"/>
                <a:gd name="T12" fmla="*/ 15 w 23"/>
                <a:gd name="T13" fmla="*/ 23 h 24"/>
                <a:gd name="T14" fmla="*/ 19 w 23"/>
                <a:gd name="T15" fmla="*/ 20 h 24"/>
                <a:gd name="T16" fmla="*/ 22 w 23"/>
                <a:gd name="T17" fmla="*/ 16 h 24"/>
                <a:gd name="T18" fmla="*/ 22 w 23"/>
                <a:gd name="T19" fmla="*/ 16 h 24"/>
                <a:gd name="T20" fmla="*/ 23 w 23"/>
                <a:gd name="T21" fmla="*/ 12 h 24"/>
                <a:gd name="T22" fmla="*/ 22 w 23"/>
                <a:gd name="T23" fmla="*/ 7 h 24"/>
                <a:gd name="T24" fmla="*/ 19 w 23"/>
                <a:gd name="T25" fmla="*/ 3 h 24"/>
                <a:gd name="T26" fmla="*/ 15 w 23"/>
                <a:gd name="T27" fmla="*/ 0 h 24"/>
                <a:gd name="T28" fmla="*/ 12 w 23"/>
                <a:gd name="T29" fmla="*/ 0 h 24"/>
                <a:gd name="T30" fmla="*/ 7 w 23"/>
                <a:gd name="T31" fmla="*/ 0 h 24"/>
                <a:gd name="T32" fmla="*/ 3 w 23"/>
                <a:gd name="T33" fmla="*/ 3 h 24"/>
                <a:gd name="T34" fmla="*/ 1 w 23"/>
                <a:gd name="T35" fmla="*/ 7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 h="24">
                  <a:moveTo>
                    <a:pt x="1" y="7"/>
                  </a:moveTo>
                  <a:lnTo>
                    <a:pt x="0" y="12"/>
                  </a:lnTo>
                  <a:lnTo>
                    <a:pt x="0" y="16"/>
                  </a:lnTo>
                  <a:lnTo>
                    <a:pt x="3" y="20"/>
                  </a:lnTo>
                  <a:lnTo>
                    <a:pt x="7" y="23"/>
                  </a:lnTo>
                  <a:lnTo>
                    <a:pt x="12" y="24"/>
                  </a:lnTo>
                  <a:lnTo>
                    <a:pt x="15" y="23"/>
                  </a:lnTo>
                  <a:lnTo>
                    <a:pt x="19" y="20"/>
                  </a:lnTo>
                  <a:lnTo>
                    <a:pt x="22" y="16"/>
                  </a:lnTo>
                  <a:lnTo>
                    <a:pt x="22" y="16"/>
                  </a:lnTo>
                  <a:lnTo>
                    <a:pt x="23" y="12"/>
                  </a:lnTo>
                  <a:lnTo>
                    <a:pt x="22" y="7"/>
                  </a:lnTo>
                  <a:lnTo>
                    <a:pt x="19" y="3"/>
                  </a:lnTo>
                  <a:lnTo>
                    <a:pt x="15" y="0"/>
                  </a:lnTo>
                  <a:lnTo>
                    <a:pt x="12" y="0"/>
                  </a:lnTo>
                  <a:lnTo>
                    <a:pt x="7" y="0"/>
                  </a:lnTo>
                  <a:lnTo>
                    <a:pt x="3" y="3"/>
                  </a:lnTo>
                  <a:lnTo>
                    <a:pt x="1" y="7"/>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76" name="Freeform 174"/>
            <p:cNvSpPr>
              <a:spLocks/>
            </p:cNvSpPr>
            <p:nvPr/>
          </p:nvSpPr>
          <p:spPr bwMode="auto">
            <a:xfrm>
              <a:off x="2083" y="2832"/>
              <a:ext cx="20" cy="16"/>
            </a:xfrm>
            <a:custGeom>
              <a:avLst/>
              <a:gdLst>
                <a:gd name="T0" fmla="*/ 1 w 24"/>
                <a:gd name="T1" fmla="*/ 8 h 24"/>
                <a:gd name="T2" fmla="*/ 0 w 24"/>
                <a:gd name="T3" fmla="*/ 12 h 24"/>
                <a:gd name="T4" fmla="*/ 1 w 24"/>
                <a:gd name="T5" fmla="*/ 17 h 24"/>
                <a:gd name="T6" fmla="*/ 3 w 24"/>
                <a:gd name="T7" fmla="*/ 21 h 24"/>
                <a:gd name="T8" fmla="*/ 7 w 24"/>
                <a:gd name="T9" fmla="*/ 24 h 24"/>
                <a:gd name="T10" fmla="*/ 12 w 24"/>
                <a:gd name="T11" fmla="*/ 24 h 24"/>
                <a:gd name="T12" fmla="*/ 16 w 24"/>
                <a:gd name="T13" fmla="*/ 24 h 24"/>
                <a:gd name="T14" fmla="*/ 20 w 24"/>
                <a:gd name="T15" fmla="*/ 21 h 24"/>
                <a:gd name="T16" fmla="*/ 23 w 24"/>
                <a:gd name="T17" fmla="*/ 17 h 24"/>
                <a:gd name="T18" fmla="*/ 23 w 24"/>
                <a:gd name="T19" fmla="*/ 17 h 24"/>
                <a:gd name="T20" fmla="*/ 24 w 24"/>
                <a:gd name="T21" fmla="*/ 12 h 24"/>
                <a:gd name="T22" fmla="*/ 23 w 24"/>
                <a:gd name="T23" fmla="*/ 8 h 24"/>
                <a:gd name="T24" fmla="*/ 20 w 24"/>
                <a:gd name="T25" fmla="*/ 4 h 24"/>
                <a:gd name="T26" fmla="*/ 16 w 24"/>
                <a:gd name="T27" fmla="*/ 1 h 24"/>
                <a:gd name="T28" fmla="*/ 12 w 24"/>
                <a:gd name="T29" fmla="*/ 0 h 24"/>
                <a:gd name="T30" fmla="*/ 7 w 24"/>
                <a:gd name="T31" fmla="*/ 1 h 24"/>
                <a:gd name="T32" fmla="*/ 3 w 24"/>
                <a:gd name="T33" fmla="*/ 4 h 24"/>
                <a:gd name="T34" fmla="*/ 1 w 24"/>
                <a:gd name="T35" fmla="*/ 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1" y="8"/>
                  </a:moveTo>
                  <a:lnTo>
                    <a:pt x="0" y="12"/>
                  </a:lnTo>
                  <a:lnTo>
                    <a:pt x="1" y="17"/>
                  </a:lnTo>
                  <a:lnTo>
                    <a:pt x="3" y="21"/>
                  </a:lnTo>
                  <a:lnTo>
                    <a:pt x="7" y="24"/>
                  </a:lnTo>
                  <a:lnTo>
                    <a:pt x="12" y="24"/>
                  </a:lnTo>
                  <a:lnTo>
                    <a:pt x="16" y="24"/>
                  </a:lnTo>
                  <a:lnTo>
                    <a:pt x="20" y="21"/>
                  </a:lnTo>
                  <a:lnTo>
                    <a:pt x="23" y="17"/>
                  </a:lnTo>
                  <a:lnTo>
                    <a:pt x="23" y="17"/>
                  </a:lnTo>
                  <a:lnTo>
                    <a:pt x="24" y="12"/>
                  </a:lnTo>
                  <a:lnTo>
                    <a:pt x="23" y="8"/>
                  </a:lnTo>
                  <a:lnTo>
                    <a:pt x="20" y="4"/>
                  </a:lnTo>
                  <a:lnTo>
                    <a:pt x="16" y="1"/>
                  </a:lnTo>
                  <a:lnTo>
                    <a:pt x="12" y="0"/>
                  </a:lnTo>
                  <a:lnTo>
                    <a:pt x="7" y="1"/>
                  </a:lnTo>
                  <a:lnTo>
                    <a:pt x="3" y="4"/>
                  </a:lnTo>
                  <a:lnTo>
                    <a:pt x="1" y="8"/>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77" name="Freeform 175"/>
            <p:cNvSpPr>
              <a:spLocks/>
            </p:cNvSpPr>
            <p:nvPr/>
          </p:nvSpPr>
          <p:spPr bwMode="auto">
            <a:xfrm>
              <a:off x="2102" y="2804"/>
              <a:ext cx="20" cy="16"/>
            </a:xfrm>
            <a:custGeom>
              <a:avLst/>
              <a:gdLst>
                <a:gd name="T0" fmla="*/ 1 w 24"/>
                <a:gd name="T1" fmla="*/ 8 h 24"/>
                <a:gd name="T2" fmla="*/ 0 w 24"/>
                <a:gd name="T3" fmla="*/ 12 h 24"/>
                <a:gd name="T4" fmla="*/ 1 w 24"/>
                <a:gd name="T5" fmla="*/ 17 h 24"/>
                <a:gd name="T6" fmla="*/ 3 w 24"/>
                <a:gd name="T7" fmla="*/ 21 h 24"/>
                <a:gd name="T8" fmla="*/ 7 w 24"/>
                <a:gd name="T9" fmla="*/ 24 h 24"/>
                <a:gd name="T10" fmla="*/ 12 w 24"/>
                <a:gd name="T11" fmla="*/ 24 h 24"/>
                <a:gd name="T12" fmla="*/ 17 w 24"/>
                <a:gd name="T13" fmla="*/ 24 h 24"/>
                <a:gd name="T14" fmla="*/ 20 w 24"/>
                <a:gd name="T15" fmla="*/ 21 h 24"/>
                <a:gd name="T16" fmla="*/ 23 w 24"/>
                <a:gd name="T17" fmla="*/ 17 h 24"/>
                <a:gd name="T18" fmla="*/ 23 w 24"/>
                <a:gd name="T19" fmla="*/ 17 h 24"/>
                <a:gd name="T20" fmla="*/ 24 w 24"/>
                <a:gd name="T21" fmla="*/ 12 h 24"/>
                <a:gd name="T22" fmla="*/ 23 w 24"/>
                <a:gd name="T23" fmla="*/ 8 h 24"/>
                <a:gd name="T24" fmla="*/ 20 w 24"/>
                <a:gd name="T25" fmla="*/ 4 h 24"/>
                <a:gd name="T26" fmla="*/ 17 w 24"/>
                <a:gd name="T27" fmla="*/ 1 h 24"/>
                <a:gd name="T28" fmla="*/ 12 w 24"/>
                <a:gd name="T29" fmla="*/ 0 h 24"/>
                <a:gd name="T30" fmla="*/ 7 w 24"/>
                <a:gd name="T31" fmla="*/ 1 h 24"/>
                <a:gd name="T32" fmla="*/ 3 w 24"/>
                <a:gd name="T33" fmla="*/ 4 h 24"/>
                <a:gd name="T34" fmla="*/ 1 w 24"/>
                <a:gd name="T35" fmla="*/ 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1" y="8"/>
                  </a:moveTo>
                  <a:lnTo>
                    <a:pt x="0" y="12"/>
                  </a:lnTo>
                  <a:lnTo>
                    <a:pt x="1" y="17"/>
                  </a:lnTo>
                  <a:lnTo>
                    <a:pt x="3" y="21"/>
                  </a:lnTo>
                  <a:lnTo>
                    <a:pt x="7" y="24"/>
                  </a:lnTo>
                  <a:lnTo>
                    <a:pt x="12" y="24"/>
                  </a:lnTo>
                  <a:lnTo>
                    <a:pt x="17" y="24"/>
                  </a:lnTo>
                  <a:lnTo>
                    <a:pt x="20" y="21"/>
                  </a:lnTo>
                  <a:lnTo>
                    <a:pt x="23" y="17"/>
                  </a:lnTo>
                  <a:lnTo>
                    <a:pt x="23" y="17"/>
                  </a:lnTo>
                  <a:lnTo>
                    <a:pt x="24" y="12"/>
                  </a:lnTo>
                  <a:lnTo>
                    <a:pt x="23" y="8"/>
                  </a:lnTo>
                  <a:lnTo>
                    <a:pt x="20" y="4"/>
                  </a:lnTo>
                  <a:lnTo>
                    <a:pt x="17" y="1"/>
                  </a:lnTo>
                  <a:lnTo>
                    <a:pt x="12" y="0"/>
                  </a:lnTo>
                  <a:lnTo>
                    <a:pt x="7" y="1"/>
                  </a:lnTo>
                  <a:lnTo>
                    <a:pt x="3" y="4"/>
                  </a:lnTo>
                  <a:lnTo>
                    <a:pt x="1" y="8"/>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78" name="Freeform 176"/>
            <p:cNvSpPr>
              <a:spLocks/>
            </p:cNvSpPr>
            <p:nvPr/>
          </p:nvSpPr>
          <p:spPr bwMode="auto">
            <a:xfrm>
              <a:off x="2121" y="2776"/>
              <a:ext cx="21" cy="16"/>
            </a:xfrm>
            <a:custGeom>
              <a:avLst/>
              <a:gdLst>
                <a:gd name="T0" fmla="*/ 1 w 24"/>
                <a:gd name="T1" fmla="*/ 8 h 24"/>
                <a:gd name="T2" fmla="*/ 0 w 24"/>
                <a:gd name="T3" fmla="*/ 12 h 24"/>
                <a:gd name="T4" fmla="*/ 1 w 24"/>
                <a:gd name="T5" fmla="*/ 17 h 24"/>
                <a:gd name="T6" fmla="*/ 4 w 24"/>
                <a:gd name="T7" fmla="*/ 21 h 24"/>
                <a:gd name="T8" fmla="*/ 7 w 24"/>
                <a:gd name="T9" fmla="*/ 23 h 24"/>
                <a:gd name="T10" fmla="*/ 12 w 24"/>
                <a:gd name="T11" fmla="*/ 24 h 24"/>
                <a:gd name="T12" fmla="*/ 17 w 24"/>
                <a:gd name="T13" fmla="*/ 23 h 24"/>
                <a:gd name="T14" fmla="*/ 21 w 24"/>
                <a:gd name="T15" fmla="*/ 21 h 24"/>
                <a:gd name="T16" fmla="*/ 23 w 24"/>
                <a:gd name="T17" fmla="*/ 17 h 24"/>
                <a:gd name="T18" fmla="*/ 23 w 24"/>
                <a:gd name="T19" fmla="*/ 17 h 24"/>
                <a:gd name="T20" fmla="*/ 24 w 24"/>
                <a:gd name="T21" fmla="*/ 12 h 24"/>
                <a:gd name="T22" fmla="*/ 23 w 24"/>
                <a:gd name="T23" fmla="*/ 8 h 24"/>
                <a:gd name="T24" fmla="*/ 21 w 24"/>
                <a:gd name="T25" fmla="*/ 4 h 24"/>
                <a:gd name="T26" fmla="*/ 17 w 24"/>
                <a:gd name="T27" fmla="*/ 1 h 24"/>
                <a:gd name="T28" fmla="*/ 12 w 24"/>
                <a:gd name="T29" fmla="*/ 0 h 24"/>
                <a:gd name="T30" fmla="*/ 7 w 24"/>
                <a:gd name="T31" fmla="*/ 1 h 24"/>
                <a:gd name="T32" fmla="*/ 4 w 24"/>
                <a:gd name="T33" fmla="*/ 4 h 24"/>
                <a:gd name="T34" fmla="*/ 1 w 24"/>
                <a:gd name="T35" fmla="*/ 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1" y="8"/>
                  </a:moveTo>
                  <a:lnTo>
                    <a:pt x="0" y="12"/>
                  </a:lnTo>
                  <a:lnTo>
                    <a:pt x="1" y="17"/>
                  </a:lnTo>
                  <a:lnTo>
                    <a:pt x="4" y="21"/>
                  </a:lnTo>
                  <a:lnTo>
                    <a:pt x="7" y="23"/>
                  </a:lnTo>
                  <a:lnTo>
                    <a:pt x="12" y="24"/>
                  </a:lnTo>
                  <a:lnTo>
                    <a:pt x="17" y="23"/>
                  </a:lnTo>
                  <a:lnTo>
                    <a:pt x="21" y="21"/>
                  </a:lnTo>
                  <a:lnTo>
                    <a:pt x="23" y="17"/>
                  </a:lnTo>
                  <a:lnTo>
                    <a:pt x="23" y="17"/>
                  </a:lnTo>
                  <a:lnTo>
                    <a:pt x="24" y="12"/>
                  </a:lnTo>
                  <a:lnTo>
                    <a:pt x="23" y="8"/>
                  </a:lnTo>
                  <a:lnTo>
                    <a:pt x="21" y="4"/>
                  </a:lnTo>
                  <a:lnTo>
                    <a:pt x="17" y="1"/>
                  </a:lnTo>
                  <a:lnTo>
                    <a:pt x="12" y="0"/>
                  </a:lnTo>
                  <a:lnTo>
                    <a:pt x="7" y="1"/>
                  </a:lnTo>
                  <a:lnTo>
                    <a:pt x="4" y="4"/>
                  </a:lnTo>
                  <a:lnTo>
                    <a:pt x="1" y="8"/>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79" name="Freeform 177"/>
            <p:cNvSpPr>
              <a:spLocks/>
            </p:cNvSpPr>
            <p:nvPr/>
          </p:nvSpPr>
          <p:spPr bwMode="auto">
            <a:xfrm>
              <a:off x="2141" y="2748"/>
              <a:ext cx="20" cy="16"/>
            </a:xfrm>
            <a:custGeom>
              <a:avLst/>
              <a:gdLst>
                <a:gd name="T0" fmla="*/ 1 w 24"/>
                <a:gd name="T1" fmla="*/ 8 h 24"/>
                <a:gd name="T2" fmla="*/ 0 w 24"/>
                <a:gd name="T3" fmla="*/ 12 h 24"/>
                <a:gd name="T4" fmla="*/ 1 w 24"/>
                <a:gd name="T5" fmla="*/ 17 h 24"/>
                <a:gd name="T6" fmla="*/ 4 w 24"/>
                <a:gd name="T7" fmla="*/ 21 h 24"/>
                <a:gd name="T8" fmla="*/ 7 w 24"/>
                <a:gd name="T9" fmla="*/ 23 h 24"/>
                <a:gd name="T10" fmla="*/ 12 w 24"/>
                <a:gd name="T11" fmla="*/ 24 h 24"/>
                <a:gd name="T12" fmla="*/ 17 w 24"/>
                <a:gd name="T13" fmla="*/ 23 h 24"/>
                <a:gd name="T14" fmla="*/ 21 w 24"/>
                <a:gd name="T15" fmla="*/ 21 h 24"/>
                <a:gd name="T16" fmla="*/ 23 w 24"/>
                <a:gd name="T17" fmla="*/ 17 h 24"/>
                <a:gd name="T18" fmla="*/ 23 w 24"/>
                <a:gd name="T19" fmla="*/ 17 h 24"/>
                <a:gd name="T20" fmla="*/ 24 w 24"/>
                <a:gd name="T21" fmla="*/ 12 h 24"/>
                <a:gd name="T22" fmla="*/ 23 w 24"/>
                <a:gd name="T23" fmla="*/ 8 h 24"/>
                <a:gd name="T24" fmla="*/ 21 w 24"/>
                <a:gd name="T25" fmla="*/ 4 h 24"/>
                <a:gd name="T26" fmla="*/ 17 w 24"/>
                <a:gd name="T27" fmla="*/ 1 h 24"/>
                <a:gd name="T28" fmla="*/ 12 w 24"/>
                <a:gd name="T29" fmla="*/ 0 h 24"/>
                <a:gd name="T30" fmla="*/ 7 w 24"/>
                <a:gd name="T31" fmla="*/ 1 h 24"/>
                <a:gd name="T32" fmla="*/ 4 w 24"/>
                <a:gd name="T33" fmla="*/ 4 h 24"/>
                <a:gd name="T34" fmla="*/ 1 w 24"/>
                <a:gd name="T35" fmla="*/ 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1" y="8"/>
                  </a:moveTo>
                  <a:lnTo>
                    <a:pt x="0" y="12"/>
                  </a:lnTo>
                  <a:lnTo>
                    <a:pt x="1" y="17"/>
                  </a:lnTo>
                  <a:lnTo>
                    <a:pt x="4" y="21"/>
                  </a:lnTo>
                  <a:lnTo>
                    <a:pt x="7" y="23"/>
                  </a:lnTo>
                  <a:lnTo>
                    <a:pt x="12" y="24"/>
                  </a:lnTo>
                  <a:lnTo>
                    <a:pt x="17" y="23"/>
                  </a:lnTo>
                  <a:lnTo>
                    <a:pt x="21" y="21"/>
                  </a:lnTo>
                  <a:lnTo>
                    <a:pt x="23" y="17"/>
                  </a:lnTo>
                  <a:lnTo>
                    <a:pt x="23" y="17"/>
                  </a:lnTo>
                  <a:lnTo>
                    <a:pt x="24" y="12"/>
                  </a:lnTo>
                  <a:lnTo>
                    <a:pt x="23" y="8"/>
                  </a:lnTo>
                  <a:lnTo>
                    <a:pt x="21" y="4"/>
                  </a:lnTo>
                  <a:lnTo>
                    <a:pt x="17" y="1"/>
                  </a:lnTo>
                  <a:lnTo>
                    <a:pt x="12" y="0"/>
                  </a:lnTo>
                  <a:lnTo>
                    <a:pt x="7" y="1"/>
                  </a:lnTo>
                  <a:lnTo>
                    <a:pt x="4" y="4"/>
                  </a:lnTo>
                  <a:lnTo>
                    <a:pt x="1" y="8"/>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80" name="Freeform 178"/>
            <p:cNvSpPr>
              <a:spLocks/>
            </p:cNvSpPr>
            <p:nvPr/>
          </p:nvSpPr>
          <p:spPr bwMode="auto">
            <a:xfrm>
              <a:off x="2160" y="2720"/>
              <a:ext cx="20" cy="16"/>
            </a:xfrm>
            <a:custGeom>
              <a:avLst/>
              <a:gdLst>
                <a:gd name="T0" fmla="*/ 1 w 24"/>
                <a:gd name="T1" fmla="*/ 8 h 24"/>
                <a:gd name="T2" fmla="*/ 0 w 24"/>
                <a:gd name="T3" fmla="*/ 12 h 24"/>
                <a:gd name="T4" fmla="*/ 1 w 24"/>
                <a:gd name="T5" fmla="*/ 17 h 24"/>
                <a:gd name="T6" fmla="*/ 4 w 24"/>
                <a:gd name="T7" fmla="*/ 21 h 24"/>
                <a:gd name="T8" fmla="*/ 8 w 24"/>
                <a:gd name="T9" fmla="*/ 23 h 24"/>
                <a:gd name="T10" fmla="*/ 12 w 24"/>
                <a:gd name="T11" fmla="*/ 24 h 24"/>
                <a:gd name="T12" fmla="*/ 17 w 24"/>
                <a:gd name="T13" fmla="*/ 23 h 24"/>
                <a:gd name="T14" fmla="*/ 21 w 24"/>
                <a:gd name="T15" fmla="*/ 21 h 24"/>
                <a:gd name="T16" fmla="*/ 23 w 24"/>
                <a:gd name="T17" fmla="*/ 17 h 24"/>
                <a:gd name="T18" fmla="*/ 23 w 24"/>
                <a:gd name="T19" fmla="*/ 17 h 24"/>
                <a:gd name="T20" fmla="*/ 24 w 24"/>
                <a:gd name="T21" fmla="*/ 12 h 24"/>
                <a:gd name="T22" fmla="*/ 23 w 24"/>
                <a:gd name="T23" fmla="*/ 8 h 24"/>
                <a:gd name="T24" fmla="*/ 21 w 24"/>
                <a:gd name="T25" fmla="*/ 4 h 24"/>
                <a:gd name="T26" fmla="*/ 17 w 24"/>
                <a:gd name="T27" fmla="*/ 1 h 24"/>
                <a:gd name="T28" fmla="*/ 12 w 24"/>
                <a:gd name="T29" fmla="*/ 0 h 24"/>
                <a:gd name="T30" fmla="*/ 8 w 24"/>
                <a:gd name="T31" fmla="*/ 1 h 24"/>
                <a:gd name="T32" fmla="*/ 4 w 24"/>
                <a:gd name="T33" fmla="*/ 4 h 24"/>
                <a:gd name="T34" fmla="*/ 1 w 24"/>
                <a:gd name="T35" fmla="*/ 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1" y="8"/>
                  </a:moveTo>
                  <a:lnTo>
                    <a:pt x="0" y="12"/>
                  </a:lnTo>
                  <a:lnTo>
                    <a:pt x="1" y="17"/>
                  </a:lnTo>
                  <a:lnTo>
                    <a:pt x="4" y="21"/>
                  </a:lnTo>
                  <a:lnTo>
                    <a:pt x="8" y="23"/>
                  </a:lnTo>
                  <a:lnTo>
                    <a:pt x="12" y="24"/>
                  </a:lnTo>
                  <a:lnTo>
                    <a:pt x="17" y="23"/>
                  </a:lnTo>
                  <a:lnTo>
                    <a:pt x="21" y="21"/>
                  </a:lnTo>
                  <a:lnTo>
                    <a:pt x="23" y="17"/>
                  </a:lnTo>
                  <a:lnTo>
                    <a:pt x="23" y="17"/>
                  </a:lnTo>
                  <a:lnTo>
                    <a:pt x="24" y="12"/>
                  </a:lnTo>
                  <a:lnTo>
                    <a:pt x="23" y="8"/>
                  </a:lnTo>
                  <a:lnTo>
                    <a:pt x="21" y="4"/>
                  </a:lnTo>
                  <a:lnTo>
                    <a:pt x="17" y="1"/>
                  </a:lnTo>
                  <a:lnTo>
                    <a:pt x="12" y="0"/>
                  </a:lnTo>
                  <a:lnTo>
                    <a:pt x="8" y="1"/>
                  </a:lnTo>
                  <a:lnTo>
                    <a:pt x="4" y="4"/>
                  </a:lnTo>
                  <a:lnTo>
                    <a:pt x="1" y="8"/>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81" name="Freeform 179"/>
            <p:cNvSpPr>
              <a:spLocks/>
            </p:cNvSpPr>
            <p:nvPr/>
          </p:nvSpPr>
          <p:spPr bwMode="auto">
            <a:xfrm>
              <a:off x="2180" y="2692"/>
              <a:ext cx="20" cy="16"/>
            </a:xfrm>
            <a:custGeom>
              <a:avLst/>
              <a:gdLst>
                <a:gd name="T0" fmla="*/ 1 w 24"/>
                <a:gd name="T1" fmla="*/ 8 h 24"/>
                <a:gd name="T2" fmla="*/ 0 w 24"/>
                <a:gd name="T3" fmla="*/ 12 h 24"/>
                <a:gd name="T4" fmla="*/ 1 w 24"/>
                <a:gd name="T5" fmla="*/ 17 h 24"/>
                <a:gd name="T6" fmla="*/ 4 w 24"/>
                <a:gd name="T7" fmla="*/ 21 h 24"/>
                <a:gd name="T8" fmla="*/ 8 w 24"/>
                <a:gd name="T9" fmla="*/ 23 h 24"/>
                <a:gd name="T10" fmla="*/ 12 w 24"/>
                <a:gd name="T11" fmla="*/ 24 h 24"/>
                <a:gd name="T12" fmla="*/ 17 w 24"/>
                <a:gd name="T13" fmla="*/ 23 h 24"/>
                <a:gd name="T14" fmla="*/ 21 w 24"/>
                <a:gd name="T15" fmla="*/ 21 h 24"/>
                <a:gd name="T16" fmla="*/ 23 w 24"/>
                <a:gd name="T17" fmla="*/ 17 h 24"/>
                <a:gd name="T18" fmla="*/ 23 w 24"/>
                <a:gd name="T19" fmla="*/ 17 h 24"/>
                <a:gd name="T20" fmla="*/ 24 w 24"/>
                <a:gd name="T21" fmla="*/ 12 h 24"/>
                <a:gd name="T22" fmla="*/ 24 w 24"/>
                <a:gd name="T23" fmla="*/ 8 h 24"/>
                <a:gd name="T24" fmla="*/ 21 w 24"/>
                <a:gd name="T25" fmla="*/ 4 h 24"/>
                <a:gd name="T26" fmla="*/ 17 w 24"/>
                <a:gd name="T27" fmla="*/ 1 h 24"/>
                <a:gd name="T28" fmla="*/ 12 w 24"/>
                <a:gd name="T29" fmla="*/ 0 h 24"/>
                <a:gd name="T30" fmla="*/ 8 w 24"/>
                <a:gd name="T31" fmla="*/ 1 h 24"/>
                <a:gd name="T32" fmla="*/ 4 w 24"/>
                <a:gd name="T33" fmla="*/ 4 h 24"/>
                <a:gd name="T34" fmla="*/ 1 w 24"/>
                <a:gd name="T35" fmla="*/ 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1" y="8"/>
                  </a:moveTo>
                  <a:lnTo>
                    <a:pt x="0" y="12"/>
                  </a:lnTo>
                  <a:lnTo>
                    <a:pt x="1" y="17"/>
                  </a:lnTo>
                  <a:lnTo>
                    <a:pt x="4" y="21"/>
                  </a:lnTo>
                  <a:lnTo>
                    <a:pt x="8" y="23"/>
                  </a:lnTo>
                  <a:lnTo>
                    <a:pt x="12" y="24"/>
                  </a:lnTo>
                  <a:lnTo>
                    <a:pt x="17" y="23"/>
                  </a:lnTo>
                  <a:lnTo>
                    <a:pt x="21" y="21"/>
                  </a:lnTo>
                  <a:lnTo>
                    <a:pt x="23" y="17"/>
                  </a:lnTo>
                  <a:lnTo>
                    <a:pt x="23" y="17"/>
                  </a:lnTo>
                  <a:lnTo>
                    <a:pt x="24" y="12"/>
                  </a:lnTo>
                  <a:lnTo>
                    <a:pt x="24" y="8"/>
                  </a:lnTo>
                  <a:lnTo>
                    <a:pt x="21" y="4"/>
                  </a:lnTo>
                  <a:lnTo>
                    <a:pt x="17" y="1"/>
                  </a:lnTo>
                  <a:lnTo>
                    <a:pt x="12" y="0"/>
                  </a:lnTo>
                  <a:lnTo>
                    <a:pt x="8" y="1"/>
                  </a:lnTo>
                  <a:lnTo>
                    <a:pt x="4" y="4"/>
                  </a:lnTo>
                  <a:lnTo>
                    <a:pt x="1" y="8"/>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82" name="Freeform 180"/>
            <p:cNvSpPr>
              <a:spLocks/>
            </p:cNvSpPr>
            <p:nvPr/>
          </p:nvSpPr>
          <p:spPr bwMode="auto">
            <a:xfrm>
              <a:off x="2200" y="2664"/>
              <a:ext cx="20" cy="16"/>
            </a:xfrm>
            <a:custGeom>
              <a:avLst/>
              <a:gdLst>
                <a:gd name="T0" fmla="*/ 1 w 24"/>
                <a:gd name="T1" fmla="*/ 8 h 24"/>
                <a:gd name="T2" fmla="*/ 0 w 24"/>
                <a:gd name="T3" fmla="*/ 12 h 24"/>
                <a:gd name="T4" fmla="*/ 1 w 24"/>
                <a:gd name="T5" fmla="*/ 17 h 24"/>
                <a:gd name="T6" fmla="*/ 3 w 24"/>
                <a:gd name="T7" fmla="*/ 21 h 24"/>
                <a:gd name="T8" fmla="*/ 7 w 24"/>
                <a:gd name="T9" fmla="*/ 23 h 24"/>
                <a:gd name="T10" fmla="*/ 12 w 24"/>
                <a:gd name="T11" fmla="*/ 24 h 24"/>
                <a:gd name="T12" fmla="*/ 16 w 24"/>
                <a:gd name="T13" fmla="*/ 23 h 24"/>
                <a:gd name="T14" fmla="*/ 20 w 24"/>
                <a:gd name="T15" fmla="*/ 21 h 24"/>
                <a:gd name="T16" fmla="*/ 23 w 24"/>
                <a:gd name="T17" fmla="*/ 17 h 24"/>
                <a:gd name="T18" fmla="*/ 23 w 24"/>
                <a:gd name="T19" fmla="*/ 17 h 24"/>
                <a:gd name="T20" fmla="*/ 24 w 24"/>
                <a:gd name="T21" fmla="*/ 12 h 24"/>
                <a:gd name="T22" fmla="*/ 23 w 24"/>
                <a:gd name="T23" fmla="*/ 8 h 24"/>
                <a:gd name="T24" fmla="*/ 20 w 24"/>
                <a:gd name="T25" fmla="*/ 4 h 24"/>
                <a:gd name="T26" fmla="*/ 16 w 24"/>
                <a:gd name="T27" fmla="*/ 1 h 24"/>
                <a:gd name="T28" fmla="*/ 12 w 24"/>
                <a:gd name="T29" fmla="*/ 0 h 24"/>
                <a:gd name="T30" fmla="*/ 7 w 24"/>
                <a:gd name="T31" fmla="*/ 1 h 24"/>
                <a:gd name="T32" fmla="*/ 3 w 24"/>
                <a:gd name="T33" fmla="*/ 4 h 24"/>
                <a:gd name="T34" fmla="*/ 1 w 24"/>
                <a:gd name="T35" fmla="*/ 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1" y="8"/>
                  </a:moveTo>
                  <a:lnTo>
                    <a:pt x="0" y="12"/>
                  </a:lnTo>
                  <a:lnTo>
                    <a:pt x="1" y="17"/>
                  </a:lnTo>
                  <a:lnTo>
                    <a:pt x="3" y="21"/>
                  </a:lnTo>
                  <a:lnTo>
                    <a:pt x="7" y="23"/>
                  </a:lnTo>
                  <a:lnTo>
                    <a:pt x="12" y="24"/>
                  </a:lnTo>
                  <a:lnTo>
                    <a:pt x="16" y="23"/>
                  </a:lnTo>
                  <a:lnTo>
                    <a:pt x="20" y="21"/>
                  </a:lnTo>
                  <a:lnTo>
                    <a:pt x="23" y="17"/>
                  </a:lnTo>
                  <a:lnTo>
                    <a:pt x="23" y="17"/>
                  </a:lnTo>
                  <a:lnTo>
                    <a:pt x="24" y="12"/>
                  </a:lnTo>
                  <a:lnTo>
                    <a:pt x="23" y="8"/>
                  </a:lnTo>
                  <a:lnTo>
                    <a:pt x="20" y="4"/>
                  </a:lnTo>
                  <a:lnTo>
                    <a:pt x="16" y="1"/>
                  </a:lnTo>
                  <a:lnTo>
                    <a:pt x="12" y="0"/>
                  </a:lnTo>
                  <a:lnTo>
                    <a:pt x="7" y="1"/>
                  </a:lnTo>
                  <a:lnTo>
                    <a:pt x="3" y="4"/>
                  </a:lnTo>
                  <a:lnTo>
                    <a:pt x="1" y="8"/>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83" name="Freeform 181"/>
            <p:cNvSpPr>
              <a:spLocks/>
            </p:cNvSpPr>
            <p:nvPr/>
          </p:nvSpPr>
          <p:spPr bwMode="auto">
            <a:xfrm>
              <a:off x="2219" y="2637"/>
              <a:ext cx="20" cy="16"/>
            </a:xfrm>
            <a:custGeom>
              <a:avLst/>
              <a:gdLst>
                <a:gd name="T0" fmla="*/ 1 w 24"/>
                <a:gd name="T1" fmla="*/ 8 h 24"/>
                <a:gd name="T2" fmla="*/ 0 w 24"/>
                <a:gd name="T3" fmla="*/ 12 h 24"/>
                <a:gd name="T4" fmla="*/ 1 w 24"/>
                <a:gd name="T5" fmla="*/ 17 h 24"/>
                <a:gd name="T6" fmla="*/ 3 w 24"/>
                <a:gd name="T7" fmla="*/ 21 h 24"/>
                <a:gd name="T8" fmla="*/ 7 w 24"/>
                <a:gd name="T9" fmla="*/ 23 h 24"/>
                <a:gd name="T10" fmla="*/ 12 w 24"/>
                <a:gd name="T11" fmla="*/ 24 h 24"/>
                <a:gd name="T12" fmla="*/ 16 w 24"/>
                <a:gd name="T13" fmla="*/ 23 h 24"/>
                <a:gd name="T14" fmla="*/ 20 w 24"/>
                <a:gd name="T15" fmla="*/ 21 h 24"/>
                <a:gd name="T16" fmla="*/ 23 w 24"/>
                <a:gd name="T17" fmla="*/ 17 h 24"/>
                <a:gd name="T18" fmla="*/ 23 w 24"/>
                <a:gd name="T19" fmla="*/ 17 h 24"/>
                <a:gd name="T20" fmla="*/ 24 w 24"/>
                <a:gd name="T21" fmla="*/ 12 h 24"/>
                <a:gd name="T22" fmla="*/ 23 w 24"/>
                <a:gd name="T23" fmla="*/ 7 h 24"/>
                <a:gd name="T24" fmla="*/ 20 w 24"/>
                <a:gd name="T25" fmla="*/ 4 h 24"/>
                <a:gd name="T26" fmla="*/ 16 w 24"/>
                <a:gd name="T27" fmla="*/ 1 h 24"/>
                <a:gd name="T28" fmla="*/ 12 w 24"/>
                <a:gd name="T29" fmla="*/ 0 h 24"/>
                <a:gd name="T30" fmla="*/ 7 w 24"/>
                <a:gd name="T31" fmla="*/ 1 h 24"/>
                <a:gd name="T32" fmla="*/ 3 w 24"/>
                <a:gd name="T33" fmla="*/ 4 h 24"/>
                <a:gd name="T34" fmla="*/ 1 w 24"/>
                <a:gd name="T35" fmla="*/ 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1" y="8"/>
                  </a:moveTo>
                  <a:lnTo>
                    <a:pt x="0" y="12"/>
                  </a:lnTo>
                  <a:lnTo>
                    <a:pt x="1" y="17"/>
                  </a:lnTo>
                  <a:lnTo>
                    <a:pt x="3" y="21"/>
                  </a:lnTo>
                  <a:lnTo>
                    <a:pt x="7" y="23"/>
                  </a:lnTo>
                  <a:lnTo>
                    <a:pt x="12" y="24"/>
                  </a:lnTo>
                  <a:lnTo>
                    <a:pt x="16" y="23"/>
                  </a:lnTo>
                  <a:lnTo>
                    <a:pt x="20" y="21"/>
                  </a:lnTo>
                  <a:lnTo>
                    <a:pt x="23" y="17"/>
                  </a:lnTo>
                  <a:lnTo>
                    <a:pt x="23" y="17"/>
                  </a:lnTo>
                  <a:lnTo>
                    <a:pt x="24" y="12"/>
                  </a:lnTo>
                  <a:lnTo>
                    <a:pt x="23" y="7"/>
                  </a:lnTo>
                  <a:lnTo>
                    <a:pt x="20" y="4"/>
                  </a:lnTo>
                  <a:lnTo>
                    <a:pt x="16" y="1"/>
                  </a:lnTo>
                  <a:lnTo>
                    <a:pt x="12" y="0"/>
                  </a:lnTo>
                  <a:lnTo>
                    <a:pt x="7" y="1"/>
                  </a:lnTo>
                  <a:lnTo>
                    <a:pt x="3" y="4"/>
                  </a:lnTo>
                  <a:lnTo>
                    <a:pt x="1" y="8"/>
                  </a:lnTo>
                  <a:close/>
                </a:path>
              </a:pathLst>
            </a:custGeom>
            <a:solidFill>
              <a:srgbClr val="0033CC"/>
            </a:solidFill>
            <a:ln>
              <a:noFill/>
            </a:ln>
            <a:extLst>
              <a:ext uri="{91240B29-F687-4F45-9708-019B960494DF}">
                <a14:hiddenLine xmlns:a14="http://schemas.microsoft.com/office/drawing/2010/main" w="9525">
                  <a:solidFill>
                    <a:srgbClr val="0033CC"/>
                  </a:solidFill>
                  <a:round/>
                  <a:headEnd/>
                  <a:tailEnd/>
                </a14:hiddenLine>
              </a:ext>
            </a:extLst>
          </p:spPr>
          <p:txBody>
            <a:bodyPr/>
            <a:lstStyle/>
            <a:p>
              <a:endParaRPr lang="zh-CN" altLang="en-US">
                <a:ea typeface="楷体" panose="02010609060101010101" pitchFamily="49" charset="-122"/>
              </a:endParaRPr>
            </a:p>
          </p:txBody>
        </p:sp>
        <p:sp>
          <p:nvSpPr>
            <p:cNvPr id="184" name="Freeform 182"/>
            <p:cNvSpPr>
              <a:spLocks/>
            </p:cNvSpPr>
            <p:nvPr/>
          </p:nvSpPr>
          <p:spPr bwMode="auto">
            <a:xfrm>
              <a:off x="2239" y="2609"/>
              <a:ext cx="20" cy="16"/>
            </a:xfrm>
            <a:custGeom>
              <a:avLst/>
              <a:gdLst>
                <a:gd name="T0" fmla="*/ 1 w 24"/>
                <a:gd name="T1" fmla="*/ 8 h 24"/>
                <a:gd name="T2" fmla="*/ 0 w 24"/>
                <a:gd name="T3" fmla="*/ 12 h 24"/>
                <a:gd name="T4" fmla="*/ 1 w 24"/>
                <a:gd name="T5" fmla="*/ 17 h 24"/>
                <a:gd name="T6" fmla="*/ 3 w 24"/>
                <a:gd name="T7" fmla="*/ 21 h 24"/>
                <a:gd name="T8" fmla="*/ 7 w 24"/>
                <a:gd name="T9" fmla="*/ 23 h 24"/>
                <a:gd name="T10" fmla="*/ 12 w 24"/>
                <a:gd name="T11" fmla="*/ 24 h 24"/>
                <a:gd name="T12" fmla="*/ 17 w 24"/>
                <a:gd name="T13" fmla="*/ 23 h 24"/>
                <a:gd name="T14" fmla="*/ 20 w 24"/>
                <a:gd name="T15" fmla="*/ 21 h 24"/>
                <a:gd name="T16" fmla="*/ 23 w 24"/>
                <a:gd name="T17" fmla="*/ 17 h 24"/>
                <a:gd name="T18" fmla="*/ 23 w 24"/>
                <a:gd name="T19" fmla="*/ 17 h 24"/>
                <a:gd name="T20" fmla="*/ 24 w 24"/>
                <a:gd name="T21" fmla="*/ 12 h 24"/>
                <a:gd name="T22" fmla="*/ 23 w 24"/>
                <a:gd name="T23" fmla="*/ 7 h 24"/>
                <a:gd name="T24" fmla="*/ 20 w 24"/>
                <a:gd name="T25" fmla="*/ 4 h 24"/>
                <a:gd name="T26" fmla="*/ 17 w 24"/>
                <a:gd name="T27" fmla="*/ 1 h 24"/>
                <a:gd name="T28" fmla="*/ 12 w 24"/>
                <a:gd name="T29" fmla="*/ 0 h 24"/>
                <a:gd name="T30" fmla="*/ 7 w 24"/>
                <a:gd name="T31" fmla="*/ 1 h 24"/>
                <a:gd name="T32" fmla="*/ 3 w 24"/>
                <a:gd name="T33" fmla="*/ 4 h 24"/>
                <a:gd name="T34" fmla="*/ 1 w 24"/>
                <a:gd name="T35" fmla="*/ 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1" y="8"/>
                  </a:moveTo>
                  <a:lnTo>
                    <a:pt x="0" y="12"/>
                  </a:lnTo>
                  <a:lnTo>
                    <a:pt x="1" y="17"/>
                  </a:lnTo>
                  <a:lnTo>
                    <a:pt x="3" y="21"/>
                  </a:lnTo>
                  <a:lnTo>
                    <a:pt x="7" y="23"/>
                  </a:lnTo>
                  <a:lnTo>
                    <a:pt x="12" y="24"/>
                  </a:lnTo>
                  <a:lnTo>
                    <a:pt x="17" y="23"/>
                  </a:lnTo>
                  <a:lnTo>
                    <a:pt x="20" y="21"/>
                  </a:lnTo>
                  <a:lnTo>
                    <a:pt x="23" y="17"/>
                  </a:lnTo>
                  <a:lnTo>
                    <a:pt x="23" y="17"/>
                  </a:lnTo>
                  <a:lnTo>
                    <a:pt x="24" y="12"/>
                  </a:lnTo>
                  <a:lnTo>
                    <a:pt x="23" y="7"/>
                  </a:lnTo>
                  <a:lnTo>
                    <a:pt x="20" y="4"/>
                  </a:lnTo>
                  <a:lnTo>
                    <a:pt x="17" y="1"/>
                  </a:lnTo>
                  <a:lnTo>
                    <a:pt x="12" y="0"/>
                  </a:lnTo>
                  <a:lnTo>
                    <a:pt x="7" y="1"/>
                  </a:lnTo>
                  <a:lnTo>
                    <a:pt x="3" y="4"/>
                  </a:lnTo>
                  <a:lnTo>
                    <a:pt x="1" y="8"/>
                  </a:lnTo>
                  <a:close/>
                </a:path>
              </a:pathLst>
            </a:custGeom>
            <a:solidFill>
              <a:srgbClr val="0033CC"/>
            </a:solidFill>
            <a:ln>
              <a:noFill/>
            </a:ln>
            <a:extLst>
              <a:ext uri="{91240B29-F687-4F45-9708-019B960494DF}">
                <a14:hiddenLine xmlns:a14="http://schemas.microsoft.com/office/drawing/2010/main" w="9525">
                  <a:solidFill>
                    <a:srgbClr val="0033CC"/>
                  </a:solidFill>
                  <a:round/>
                  <a:headEnd/>
                  <a:tailEnd/>
                </a14:hiddenLine>
              </a:ext>
            </a:extLst>
          </p:spPr>
          <p:txBody>
            <a:bodyPr/>
            <a:lstStyle/>
            <a:p>
              <a:endParaRPr lang="zh-CN" altLang="en-US">
                <a:ea typeface="楷体" panose="02010609060101010101" pitchFamily="49" charset="-122"/>
              </a:endParaRPr>
            </a:p>
          </p:txBody>
        </p:sp>
        <p:sp>
          <p:nvSpPr>
            <p:cNvPr id="185" name="Freeform 183"/>
            <p:cNvSpPr>
              <a:spLocks/>
            </p:cNvSpPr>
            <p:nvPr/>
          </p:nvSpPr>
          <p:spPr bwMode="auto">
            <a:xfrm>
              <a:off x="2258" y="2581"/>
              <a:ext cx="20" cy="16"/>
            </a:xfrm>
            <a:custGeom>
              <a:avLst/>
              <a:gdLst>
                <a:gd name="T0" fmla="*/ 1 w 24"/>
                <a:gd name="T1" fmla="*/ 8 h 24"/>
                <a:gd name="T2" fmla="*/ 0 w 24"/>
                <a:gd name="T3" fmla="*/ 12 h 24"/>
                <a:gd name="T4" fmla="*/ 1 w 24"/>
                <a:gd name="T5" fmla="*/ 17 h 24"/>
                <a:gd name="T6" fmla="*/ 4 w 24"/>
                <a:gd name="T7" fmla="*/ 21 h 24"/>
                <a:gd name="T8" fmla="*/ 7 w 24"/>
                <a:gd name="T9" fmla="*/ 23 h 24"/>
                <a:gd name="T10" fmla="*/ 12 w 24"/>
                <a:gd name="T11" fmla="*/ 24 h 24"/>
                <a:gd name="T12" fmla="*/ 17 w 24"/>
                <a:gd name="T13" fmla="*/ 23 h 24"/>
                <a:gd name="T14" fmla="*/ 21 w 24"/>
                <a:gd name="T15" fmla="*/ 21 h 24"/>
                <a:gd name="T16" fmla="*/ 23 w 24"/>
                <a:gd name="T17" fmla="*/ 17 h 24"/>
                <a:gd name="T18" fmla="*/ 23 w 24"/>
                <a:gd name="T19" fmla="*/ 17 h 24"/>
                <a:gd name="T20" fmla="*/ 24 w 24"/>
                <a:gd name="T21" fmla="*/ 12 h 24"/>
                <a:gd name="T22" fmla="*/ 23 w 24"/>
                <a:gd name="T23" fmla="*/ 7 h 24"/>
                <a:gd name="T24" fmla="*/ 21 w 24"/>
                <a:gd name="T25" fmla="*/ 4 h 24"/>
                <a:gd name="T26" fmla="*/ 17 w 24"/>
                <a:gd name="T27" fmla="*/ 1 h 24"/>
                <a:gd name="T28" fmla="*/ 12 w 24"/>
                <a:gd name="T29" fmla="*/ 0 h 24"/>
                <a:gd name="T30" fmla="*/ 7 w 24"/>
                <a:gd name="T31" fmla="*/ 1 h 24"/>
                <a:gd name="T32" fmla="*/ 4 w 24"/>
                <a:gd name="T33" fmla="*/ 4 h 24"/>
                <a:gd name="T34" fmla="*/ 1 w 24"/>
                <a:gd name="T35" fmla="*/ 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1" y="8"/>
                  </a:moveTo>
                  <a:lnTo>
                    <a:pt x="0" y="12"/>
                  </a:lnTo>
                  <a:lnTo>
                    <a:pt x="1" y="17"/>
                  </a:lnTo>
                  <a:lnTo>
                    <a:pt x="4" y="21"/>
                  </a:lnTo>
                  <a:lnTo>
                    <a:pt x="7" y="23"/>
                  </a:lnTo>
                  <a:lnTo>
                    <a:pt x="12" y="24"/>
                  </a:lnTo>
                  <a:lnTo>
                    <a:pt x="17" y="23"/>
                  </a:lnTo>
                  <a:lnTo>
                    <a:pt x="21" y="21"/>
                  </a:lnTo>
                  <a:lnTo>
                    <a:pt x="23" y="17"/>
                  </a:lnTo>
                  <a:lnTo>
                    <a:pt x="23" y="17"/>
                  </a:lnTo>
                  <a:lnTo>
                    <a:pt x="24" y="12"/>
                  </a:lnTo>
                  <a:lnTo>
                    <a:pt x="23" y="7"/>
                  </a:lnTo>
                  <a:lnTo>
                    <a:pt x="21" y="4"/>
                  </a:lnTo>
                  <a:lnTo>
                    <a:pt x="17" y="1"/>
                  </a:lnTo>
                  <a:lnTo>
                    <a:pt x="12" y="0"/>
                  </a:lnTo>
                  <a:lnTo>
                    <a:pt x="7" y="1"/>
                  </a:lnTo>
                  <a:lnTo>
                    <a:pt x="4" y="4"/>
                  </a:lnTo>
                  <a:lnTo>
                    <a:pt x="1" y="8"/>
                  </a:lnTo>
                  <a:close/>
                </a:path>
              </a:pathLst>
            </a:custGeom>
            <a:solidFill>
              <a:srgbClr val="0033CC"/>
            </a:solidFill>
            <a:ln>
              <a:noFill/>
            </a:ln>
            <a:extLst>
              <a:ext uri="{91240B29-F687-4F45-9708-019B960494DF}">
                <a14:hiddenLine xmlns:a14="http://schemas.microsoft.com/office/drawing/2010/main" w="9525">
                  <a:solidFill>
                    <a:srgbClr val="0033CC"/>
                  </a:solidFill>
                  <a:round/>
                  <a:headEnd/>
                  <a:tailEnd/>
                </a14:hiddenLine>
              </a:ext>
            </a:extLst>
          </p:spPr>
          <p:txBody>
            <a:bodyPr/>
            <a:lstStyle/>
            <a:p>
              <a:endParaRPr lang="zh-CN" altLang="en-US">
                <a:ea typeface="楷体" panose="02010609060101010101" pitchFamily="49" charset="-122"/>
              </a:endParaRPr>
            </a:p>
          </p:txBody>
        </p:sp>
        <p:sp>
          <p:nvSpPr>
            <p:cNvPr id="186" name="Freeform 184"/>
            <p:cNvSpPr>
              <a:spLocks/>
            </p:cNvSpPr>
            <p:nvPr/>
          </p:nvSpPr>
          <p:spPr bwMode="auto">
            <a:xfrm>
              <a:off x="2240" y="2509"/>
              <a:ext cx="83" cy="80"/>
            </a:xfrm>
            <a:custGeom>
              <a:avLst/>
              <a:gdLst>
                <a:gd name="T0" fmla="*/ 93 w 98"/>
                <a:gd name="T1" fmla="*/ 120 h 120"/>
                <a:gd name="T2" fmla="*/ 98 w 98"/>
                <a:gd name="T3" fmla="*/ 0 h 120"/>
                <a:gd name="T4" fmla="*/ 0 w 98"/>
                <a:gd name="T5" fmla="*/ 68 h 120"/>
                <a:gd name="T6" fmla="*/ 93 w 98"/>
                <a:gd name="T7" fmla="*/ 120 h 120"/>
              </a:gdLst>
              <a:ahLst/>
              <a:cxnLst>
                <a:cxn ang="0">
                  <a:pos x="T0" y="T1"/>
                </a:cxn>
                <a:cxn ang="0">
                  <a:pos x="T2" y="T3"/>
                </a:cxn>
                <a:cxn ang="0">
                  <a:pos x="T4" y="T5"/>
                </a:cxn>
                <a:cxn ang="0">
                  <a:pos x="T6" y="T7"/>
                </a:cxn>
              </a:cxnLst>
              <a:rect l="0" t="0" r="r" b="b"/>
              <a:pathLst>
                <a:path w="98" h="120">
                  <a:moveTo>
                    <a:pt x="93" y="120"/>
                  </a:moveTo>
                  <a:lnTo>
                    <a:pt x="98" y="0"/>
                  </a:lnTo>
                  <a:lnTo>
                    <a:pt x="0" y="68"/>
                  </a:lnTo>
                  <a:lnTo>
                    <a:pt x="93" y="120"/>
                  </a:lnTo>
                  <a:close/>
                </a:path>
              </a:pathLst>
            </a:custGeom>
            <a:solidFill>
              <a:srgbClr val="0033CC"/>
            </a:solidFill>
            <a:ln>
              <a:noFill/>
            </a:ln>
            <a:extLst>
              <a:ext uri="{91240B29-F687-4F45-9708-019B960494DF}">
                <a14:hiddenLine xmlns:a14="http://schemas.microsoft.com/office/drawing/2010/main" w="9525">
                  <a:solidFill>
                    <a:srgbClr val="0033CC"/>
                  </a:solidFill>
                  <a:round/>
                  <a:headEnd/>
                  <a:tailEnd/>
                </a14:hiddenLine>
              </a:ext>
            </a:extLst>
          </p:spPr>
          <p:txBody>
            <a:bodyPr/>
            <a:lstStyle/>
            <a:p>
              <a:endParaRPr lang="zh-CN" altLang="en-US">
                <a:ea typeface="楷体" panose="02010609060101010101" pitchFamily="49" charset="-122"/>
              </a:endParaRPr>
            </a:p>
          </p:txBody>
        </p:sp>
        <p:sp>
          <p:nvSpPr>
            <p:cNvPr id="187" name="Freeform 185"/>
            <p:cNvSpPr>
              <a:spLocks/>
            </p:cNvSpPr>
            <p:nvPr/>
          </p:nvSpPr>
          <p:spPr bwMode="auto">
            <a:xfrm>
              <a:off x="1868" y="3555"/>
              <a:ext cx="21" cy="16"/>
            </a:xfrm>
            <a:custGeom>
              <a:avLst/>
              <a:gdLst>
                <a:gd name="T0" fmla="*/ 1 w 24"/>
                <a:gd name="T1" fmla="*/ 8 h 24"/>
                <a:gd name="T2" fmla="*/ 0 w 24"/>
                <a:gd name="T3" fmla="*/ 12 h 24"/>
                <a:gd name="T4" fmla="*/ 1 w 24"/>
                <a:gd name="T5" fmla="*/ 17 h 24"/>
                <a:gd name="T6" fmla="*/ 4 w 24"/>
                <a:gd name="T7" fmla="*/ 20 h 24"/>
                <a:gd name="T8" fmla="*/ 7 w 24"/>
                <a:gd name="T9" fmla="*/ 23 h 24"/>
                <a:gd name="T10" fmla="*/ 12 w 24"/>
                <a:gd name="T11" fmla="*/ 24 h 24"/>
                <a:gd name="T12" fmla="*/ 17 w 24"/>
                <a:gd name="T13" fmla="*/ 23 h 24"/>
                <a:gd name="T14" fmla="*/ 20 w 24"/>
                <a:gd name="T15" fmla="*/ 20 h 24"/>
                <a:gd name="T16" fmla="*/ 23 w 24"/>
                <a:gd name="T17" fmla="*/ 17 h 24"/>
                <a:gd name="T18" fmla="*/ 23 w 24"/>
                <a:gd name="T19" fmla="*/ 16 h 24"/>
                <a:gd name="T20" fmla="*/ 24 w 24"/>
                <a:gd name="T21" fmla="*/ 12 h 24"/>
                <a:gd name="T22" fmla="*/ 23 w 24"/>
                <a:gd name="T23" fmla="*/ 7 h 24"/>
                <a:gd name="T24" fmla="*/ 21 w 24"/>
                <a:gd name="T25" fmla="*/ 3 h 24"/>
                <a:gd name="T26" fmla="*/ 17 w 24"/>
                <a:gd name="T27" fmla="*/ 1 h 24"/>
                <a:gd name="T28" fmla="*/ 12 w 24"/>
                <a:gd name="T29" fmla="*/ 0 h 24"/>
                <a:gd name="T30" fmla="*/ 7 w 24"/>
                <a:gd name="T31" fmla="*/ 1 h 24"/>
                <a:gd name="T32" fmla="*/ 4 w 24"/>
                <a:gd name="T33" fmla="*/ 3 h 24"/>
                <a:gd name="T34" fmla="*/ 1 w 24"/>
                <a:gd name="T35" fmla="*/ 7 h 24"/>
                <a:gd name="T36" fmla="*/ 1 w 24"/>
                <a:gd name="T37" fmla="*/ 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 h="24">
                  <a:moveTo>
                    <a:pt x="1" y="8"/>
                  </a:moveTo>
                  <a:lnTo>
                    <a:pt x="0" y="12"/>
                  </a:lnTo>
                  <a:lnTo>
                    <a:pt x="1" y="17"/>
                  </a:lnTo>
                  <a:lnTo>
                    <a:pt x="4" y="20"/>
                  </a:lnTo>
                  <a:lnTo>
                    <a:pt x="7" y="23"/>
                  </a:lnTo>
                  <a:lnTo>
                    <a:pt x="12" y="24"/>
                  </a:lnTo>
                  <a:lnTo>
                    <a:pt x="17" y="23"/>
                  </a:lnTo>
                  <a:lnTo>
                    <a:pt x="20" y="20"/>
                  </a:lnTo>
                  <a:lnTo>
                    <a:pt x="23" y="17"/>
                  </a:lnTo>
                  <a:lnTo>
                    <a:pt x="23" y="16"/>
                  </a:lnTo>
                  <a:lnTo>
                    <a:pt x="24" y="12"/>
                  </a:lnTo>
                  <a:lnTo>
                    <a:pt x="23" y="7"/>
                  </a:lnTo>
                  <a:lnTo>
                    <a:pt x="21" y="3"/>
                  </a:lnTo>
                  <a:lnTo>
                    <a:pt x="17" y="1"/>
                  </a:lnTo>
                  <a:lnTo>
                    <a:pt x="12" y="0"/>
                  </a:lnTo>
                  <a:lnTo>
                    <a:pt x="7" y="1"/>
                  </a:lnTo>
                  <a:lnTo>
                    <a:pt x="4" y="3"/>
                  </a:lnTo>
                  <a:lnTo>
                    <a:pt x="1" y="7"/>
                  </a:lnTo>
                  <a:lnTo>
                    <a:pt x="1" y="8"/>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88" name="Freeform 186"/>
            <p:cNvSpPr>
              <a:spLocks/>
            </p:cNvSpPr>
            <p:nvPr/>
          </p:nvSpPr>
          <p:spPr bwMode="auto">
            <a:xfrm>
              <a:off x="1884" y="3526"/>
              <a:ext cx="20" cy="16"/>
            </a:xfrm>
            <a:custGeom>
              <a:avLst/>
              <a:gdLst>
                <a:gd name="T0" fmla="*/ 1 w 24"/>
                <a:gd name="T1" fmla="*/ 7 h 24"/>
                <a:gd name="T2" fmla="*/ 0 w 24"/>
                <a:gd name="T3" fmla="*/ 12 h 24"/>
                <a:gd name="T4" fmla="*/ 1 w 24"/>
                <a:gd name="T5" fmla="*/ 16 h 24"/>
                <a:gd name="T6" fmla="*/ 4 w 24"/>
                <a:gd name="T7" fmla="*/ 20 h 24"/>
                <a:gd name="T8" fmla="*/ 7 w 24"/>
                <a:gd name="T9" fmla="*/ 23 h 24"/>
                <a:gd name="T10" fmla="*/ 12 w 24"/>
                <a:gd name="T11" fmla="*/ 24 h 24"/>
                <a:gd name="T12" fmla="*/ 17 w 24"/>
                <a:gd name="T13" fmla="*/ 23 h 24"/>
                <a:gd name="T14" fmla="*/ 21 w 24"/>
                <a:gd name="T15" fmla="*/ 20 h 24"/>
                <a:gd name="T16" fmla="*/ 23 w 24"/>
                <a:gd name="T17" fmla="*/ 16 h 24"/>
                <a:gd name="T18" fmla="*/ 23 w 24"/>
                <a:gd name="T19" fmla="*/ 16 h 24"/>
                <a:gd name="T20" fmla="*/ 24 w 24"/>
                <a:gd name="T21" fmla="*/ 12 h 24"/>
                <a:gd name="T22" fmla="*/ 23 w 24"/>
                <a:gd name="T23" fmla="*/ 7 h 24"/>
                <a:gd name="T24" fmla="*/ 21 w 24"/>
                <a:gd name="T25" fmla="*/ 3 h 24"/>
                <a:gd name="T26" fmla="*/ 17 w 24"/>
                <a:gd name="T27" fmla="*/ 0 h 24"/>
                <a:gd name="T28" fmla="*/ 12 w 24"/>
                <a:gd name="T29" fmla="*/ 0 h 24"/>
                <a:gd name="T30" fmla="*/ 7 w 24"/>
                <a:gd name="T31" fmla="*/ 0 h 24"/>
                <a:gd name="T32" fmla="*/ 4 w 24"/>
                <a:gd name="T33" fmla="*/ 3 h 24"/>
                <a:gd name="T34" fmla="*/ 1 w 24"/>
                <a:gd name="T35" fmla="*/ 7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1" y="7"/>
                  </a:moveTo>
                  <a:lnTo>
                    <a:pt x="0" y="12"/>
                  </a:lnTo>
                  <a:lnTo>
                    <a:pt x="1" y="16"/>
                  </a:lnTo>
                  <a:lnTo>
                    <a:pt x="4" y="20"/>
                  </a:lnTo>
                  <a:lnTo>
                    <a:pt x="7" y="23"/>
                  </a:lnTo>
                  <a:lnTo>
                    <a:pt x="12" y="24"/>
                  </a:lnTo>
                  <a:lnTo>
                    <a:pt x="17" y="23"/>
                  </a:lnTo>
                  <a:lnTo>
                    <a:pt x="21" y="20"/>
                  </a:lnTo>
                  <a:lnTo>
                    <a:pt x="23" y="16"/>
                  </a:lnTo>
                  <a:lnTo>
                    <a:pt x="23" y="16"/>
                  </a:lnTo>
                  <a:lnTo>
                    <a:pt x="24" y="12"/>
                  </a:lnTo>
                  <a:lnTo>
                    <a:pt x="23" y="7"/>
                  </a:lnTo>
                  <a:lnTo>
                    <a:pt x="21" y="3"/>
                  </a:lnTo>
                  <a:lnTo>
                    <a:pt x="17" y="0"/>
                  </a:lnTo>
                  <a:lnTo>
                    <a:pt x="12" y="0"/>
                  </a:lnTo>
                  <a:lnTo>
                    <a:pt x="7" y="0"/>
                  </a:lnTo>
                  <a:lnTo>
                    <a:pt x="4" y="3"/>
                  </a:lnTo>
                  <a:lnTo>
                    <a:pt x="1" y="7"/>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89" name="Freeform 187"/>
            <p:cNvSpPr>
              <a:spLocks/>
            </p:cNvSpPr>
            <p:nvPr/>
          </p:nvSpPr>
          <p:spPr bwMode="auto">
            <a:xfrm>
              <a:off x="1899" y="3496"/>
              <a:ext cx="20" cy="16"/>
            </a:xfrm>
            <a:custGeom>
              <a:avLst/>
              <a:gdLst>
                <a:gd name="T0" fmla="*/ 1 w 24"/>
                <a:gd name="T1" fmla="*/ 8 h 24"/>
                <a:gd name="T2" fmla="*/ 0 w 24"/>
                <a:gd name="T3" fmla="*/ 12 h 24"/>
                <a:gd name="T4" fmla="*/ 1 w 24"/>
                <a:gd name="T5" fmla="*/ 17 h 24"/>
                <a:gd name="T6" fmla="*/ 4 w 24"/>
                <a:gd name="T7" fmla="*/ 21 h 24"/>
                <a:gd name="T8" fmla="*/ 8 w 24"/>
                <a:gd name="T9" fmla="*/ 23 h 24"/>
                <a:gd name="T10" fmla="*/ 12 w 24"/>
                <a:gd name="T11" fmla="*/ 24 h 24"/>
                <a:gd name="T12" fmla="*/ 17 w 24"/>
                <a:gd name="T13" fmla="*/ 23 h 24"/>
                <a:gd name="T14" fmla="*/ 21 w 24"/>
                <a:gd name="T15" fmla="*/ 21 h 24"/>
                <a:gd name="T16" fmla="*/ 23 w 24"/>
                <a:gd name="T17" fmla="*/ 17 h 24"/>
                <a:gd name="T18" fmla="*/ 23 w 24"/>
                <a:gd name="T19" fmla="*/ 17 h 24"/>
                <a:gd name="T20" fmla="*/ 24 w 24"/>
                <a:gd name="T21" fmla="*/ 12 h 24"/>
                <a:gd name="T22" fmla="*/ 23 w 24"/>
                <a:gd name="T23" fmla="*/ 7 h 24"/>
                <a:gd name="T24" fmla="*/ 21 w 24"/>
                <a:gd name="T25" fmla="*/ 4 h 24"/>
                <a:gd name="T26" fmla="*/ 17 w 24"/>
                <a:gd name="T27" fmla="*/ 1 h 24"/>
                <a:gd name="T28" fmla="*/ 12 w 24"/>
                <a:gd name="T29" fmla="*/ 0 h 24"/>
                <a:gd name="T30" fmla="*/ 8 w 24"/>
                <a:gd name="T31" fmla="*/ 1 h 24"/>
                <a:gd name="T32" fmla="*/ 4 w 24"/>
                <a:gd name="T33" fmla="*/ 4 h 24"/>
                <a:gd name="T34" fmla="*/ 1 w 24"/>
                <a:gd name="T35" fmla="*/ 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1" y="8"/>
                  </a:moveTo>
                  <a:lnTo>
                    <a:pt x="0" y="12"/>
                  </a:lnTo>
                  <a:lnTo>
                    <a:pt x="1" y="17"/>
                  </a:lnTo>
                  <a:lnTo>
                    <a:pt x="4" y="21"/>
                  </a:lnTo>
                  <a:lnTo>
                    <a:pt x="8" y="23"/>
                  </a:lnTo>
                  <a:lnTo>
                    <a:pt x="12" y="24"/>
                  </a:lnTo>
                  <a:lnTo>
                    <a:pt x="17" y="23"/>
                  </a:lnTo>
                  <a:lnTo>
                    <a:pt x="21" y="21"/>
                  </a:lnTo>
                  <a:lnTo>
                    <a:pt x="23" y="17"/>
                  </a:lnTo>
                  <a:lnTo>
                    <a:pt x="23" y="17"/>
                  </a:lnTo>
                  <a:lnTo>
                    <a:pt x="24" y="12"/>
                  </a:lnTo>
                  <a:lnTo>
                    <a:pt x="23" y="7"/>
                  </a:lnTo>
                  <a:lnTo>
                    <a:pt x="21" y="4"/>
                  </a:lnTo>
                  <a:lnTo>
                    <a:pt x="17" y="1"/>
                  </a:lnTo>
                  <a:lnTo>
                    <a:pt x="12" y="0"/>
                  </a:lnTo>
                  <a:lnTo>
                    <a:pt x="8" y="1"/>
                  </a:lnTo>
                  <a:lnTo>
                    <a:pt x="4" y="4"/>
                  </a:lnTo>
                  <a:lnTo>
                    <a:pt x="1" y="8"/>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90" name="Freeform 188"/>
            <p:cNvSpPr>
              <a:spLocks/>
            </p:cNvSpPr>
            <p:nvPr/>
          </p:nvSpPr>
          <p:spPr bwMode="auto">
            <a:xfrm>
              <a:off x="1914" y="3467"/>
              <a:ext cx="20" cy="16"/>
            </a:xfrm>
            <a:custGeom>
              <a:avLst/>
              <a:gdLst>
                <a:gd name="T0" fmla="*/ 1 w 24"/>
                <a:gd name="T1" fmla="*/ 7 h 24"/>
                <a:gd name="T2" fmla="*/ 0 w 24"/>
                <a:gd name="T3" fmla="*/ 12 h 24"/>
                <a:gd name="T4" fmla="*/ 1 w 24"/>
                <a:gd name="T5" fmla="*/ 16 h 24"/>
                <a:gd name="T6" fmla="*/ 4 w 24"/>
                <a:gd name="T7" fmla="*/ 20 h 24"/>
                <a:gd name="T8" fmla="*/ 8 w 24"/>
                <a:gd name="T9" fmla="*/ 23 h 24"/>
                <a:gd name="T10" fmla="*/ 12 w 24"/>
                <a:gd name="T11" fmla="*/ 24 h 24"/>
                <a:gd name="T12" fmla="*/ 17 w 24"/>
                <a:gd name="T13" fmla="*/ 23 h 24"/>
                <a:gd name="T14" fmla="*/ 21 w 24"/>
                <a:gd name="T15" fmla="*/ 20 h 24"/>
                <a:gd name="T16" fmla="*/ 23 w 24"/>
                <a:gd name="T17" fmla="*/ 16 h 24"/>
                <a:gd name="T18" fmla="*/ 23 w 24"/>
                <a:gd name="T19" fmla="*/ 16 h 24"/>
                <a:gd name="T20" fmla="*/ 24 w 24"/>
                <a:gd name="T21" fmla="*/ 12 h 24"/>
                <a:gd name="T22" fmla="*/ 23 w 24"/>
                <a:gd name="T23" fmla="*/ 7 h 24"/>
                <a:gd name="T24" fmla="*/ 21 w 24"/>
                <a:gd name="T25" fmla="*/ 3 h 24"/>
                <a:gd name="T26" fmla="*/ 17 w 24"/>
                <a:gd name="T27" fmla="*/ 1 h 24"/>
                <a:gd name="T28" fmla="*/ 12 w 24"/>
                <a:gd name="T29" fmla="*/ 0 h 24"/>
                <a:gd name="T30" fmla="*/ 8 w 24"/>
                <a:gd name="T31" fmla="*/ 1 h 24"/>
                <a:gd name="T32" fmla="*/ 4 w 24"/>
                <a:gd name="T33" fmla="*/ 3 h 24"/>
                <a:gd name="T34" fmla="*/ 1 w 24"/>
                <a:gd name="T35" fmla="*/ 7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1" y="7"/>
                  </a:moveTo>
                  <a:lnTo>
                    <a:pt x="0" y="12"/>
                  </a:lnTo>
                  <a:lnTo>
                    <a:pt x="1" y="16"/>
                  </a:lnTo>
                  <a:lnTo>
                    <a:pt x="4" y="20"/>
                  </a:lnTo>
                  <a:lnTo>
                    <a:pt x="8" y="23"/>
                  </a:lnTo>
                  <a:lnTo>
                    <a:pt x="12" y="24"/>
                  </a:lnTo>
                  <a:lnTo>
                    <a:pt x="17" y="23"/>
                  </a:lnTo>
                  <a:lnTo>
                    <a:pt x="21" y="20"/>
                  </a:lnTo>
                  <a:lnTo>
                    <a:pt x="23" y="16"/>
                  </a:lnTo>
                  <a:lnTo>
                    <a:pt x="23" y="16"/>
                  </a:lnTo>
                  <a:lnTo>
                    <a:pt x="24" y="12"/>
                  </a:lnTo>
                  <a:lnTo>
                    <a:pt x="23" y="7"/>
                  </a:lnTo>
                  <a:lnTo>
                    <a:pt x="21" y="3"/>
                  </a:lnTo>
                  <a:lnTo>
                    <a:pt x="17" y="1"/>
                  </a:lnTo>
                  <a:lnTo>
                    <a:pt x="12" y="0"/>
                  </a:lnTo>
                  <a:lnTo>
                    <a:pt x="8" y="1"/>
                  </a:lnTo>
                  <a:lnTo>
                    <a:pt x="4" y="3"/>
                  </a:lnTo>
                  <a:lnTo>
                    <a:pt x="1" y="7"/>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91" name="Freeform 189"/>
            <p:cNvSpPr>
              <a:spLocks/>
            </p:cNvSpPr>
            <p:nvPr/>
          </p:nvSpPr>
          <p:spPr bwMode="auto">
            <a:xfrm>
              <a:off x="1929" y="3437"/>
              <a:ext cx="20" cy="16"/>
            </a:xfrm>
            <a:custGeom>
              <a:avLst/>
              <a:gdLst>
                <a:gd name="T0" fmla="*/ 1 w 24"/>
                <a:gd name="T1" fmla="*/ 8 h 24"/>
                <a:gd name="T2" fmla="*/ 0 w 24"/>
                <a:gd name="T3" fmla="*/ 12 h 24"/>
                <a:gd name="T4" fmla="*/ 1 w 24"/>
                <a:gd name="T5" fmla="*/ 17 h 24"/>
                <a:gd name="T6" fmla="*/ 4 w 24"/>
                <a:gd name="T7" fmla="*/ 21 h 24"/>
                <a:gd name="T8" fmla="*/ 8 w 24"/>
                <a:gd name="T9" fmla="*/ 23 h 24"/>
                <a:gd name="T10" fmla="*/ 12 w 24"/>
                <a:gd name="T11" fmla="*/ 24 h 24"/>
                <a:gd name="T12" fmla="*/ 17 w 24"/>
                <a:gd name="T13" fmla="*/ 23 h 24"/>
                <a:gd name="T14" fmla="*/ 21 w 24"/>
                <a:gd name="T15" fmla="*/ 21 h 24"/>
                <a:gd name="T16" fmla="*/ 23 w 24"/>
                <a:gd name="T17" fmla="*/ 17 h 24"/>
                <a:gd name="T18" fmla="*/ 23 w 24"/>
                <a:gd name="T19" fmla="*/ 17 h 24"/>
                <a:gd name="T20" fmla="*/ 24 w 24"/>
                <a:gd name="T21" fmla="*/ 12 h 24"/>
                <a:gd name="T22" fmla="*/ 23 w 24"/>
                <a:gd name="T23" fmla="*/ 7 h 24"/>
                <a:gd name="T24" fmla="*/ 21 w 24"/>
                <a:gd name="T25" fmla="*/ 4 h 24"/>
                <a:gd name="T26" fmla="*/ 17 w 24"/>
                <a:gd name="T27" fmla="*/ 1 h 24"/>
                <a:gd name="T28" fmla="*/ 12 w 24"/>
                <a:gd name="T29" fmla="*/ 0 h 24"/>
                <a:gd name="T30" fmla="*/ 8 w 24"/>
                <a:gd name="T31" fmla="*/ 1 h 24"/>
                <a:gd name="T32" fmla="*/ 4 w 24"/>
                <a:gd name="T33" fmla="*/ 4 h 24"/>
                <a:gd name="T34" fmla="*/ 1 w 24"/>
                <a:gd name="T35" fmla="*/ 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1" y="8"/>
                  </a:moveTo>
                  <a:lnTo>
                    <a:pt x="0" y="12"/>
                  </a:lnTo>
                  <a:lnTo>
                    <a:pt x="1" y="17"/>
                  </a:lnTo>
                  <a:lnTo>
                    <a:pt x="4" y="21"/>
                  </a:lnTo>
                  <a:lnTo>
                    <a:pt x="8" y="23"/>
                  </a:lnTo>
                  <a:lnTo>
                    <a:pt x="12" y="24"/>
                  </a:lnTo>
                  <a:lnTo>
                    <a:pt x="17" y="23"/>
                  </a:lnTo>
                  <a:lnTo>
                    <a:pt x="21" y="21"/>
                  </a:lnTo>
                  <a:lnTo>
                    <a:pt x="23" y="17"/>
                  </a:lnTo>
                  <a:lnTo>
                    <a:pt x="23" y="17"/>
                  </a:lnTo>
                  <a:lnTo>
                    <a:pt x="24" y="12"/>
                  </a:lnTo>
                  <a:lnTo>
                    <a:pt x="23" y="7"/>
                  </a:lnTo>
                  <a:lnTo>
                    <a:pt x="21" y="4"/>
                  </a:lnTo>
                  <a:lnTo>
                    <a:pt x="17" y="1"/>
                  </a:lnTo>
                  <a:lnTo>
                    <a:pt x="12" y="0"/>
                  </a:lnTo>
                  <a:lnTo>
                    <a:pt x="8" y="1"/>
                  </a:lnTo>
                  <a:lnTo>
                    <a:pt x="4" y="4"/>
                  </a:lnTo>
                  <a:lnTo>
                    <a:pt x="1" y="8"/>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92" name="Freeform 190"/>
            <p:cNvSpPr>
              <a:spLocks/>
            </p:cNvSpPr>
            <p:nvPr/>
          </p:nvSpPr>
          <p:spPr bwMode="auto">
            <a:xfrm>
              <a:off x="1944" y="3408"/>
              <a:ext cx="21" cy="16"/>
            </a:xfrm>
            <a:custGeom>
              <a:avLst/>
              <a:gdLst>
                <a:gd name="T0" fmla="*/ 1 w 24"/>
                <a:gd name="T1" fmla="*/ 7 h 24"/>
                <a:gd name="T2" fmla="*/ 0 w 24"/>
                <a:gd name="T3" fmla="*/ 12 h 24"/>
                <a:gd name="T4" fmla="*/ 1 w 24"/>
                <a:gd name="T5" fmla="*/ 16 h 24"/>
                <a:gd name="T6" fmla="*/ 4 w 24"/>
                <a:gd name="T7" fmla="*/ 20 h 24"/>
                <a:gd name="T8" fmla="*/ 8 w 24"/>
                <a:gd name="T9" fmla="*/ 23 h 24"/>
                <a:gd name="T10" fmla="*/ 12 w 24"/>
                <a:gd name="T11" fmla="*/ 24 h 24"/>
                <a:gd name="T12" fmla="*/ 17 w 24"/>
                <a:gd name="T13" fmla="*/ 23 h 24"/>
                <a:gd name="T14" fmla="*/ 21 w 24"/>
                <a:gd name="T15" fmla="*/ 20 h 24"/>
                <a:gd name="T16" fmla="*/ 23 w 24"/>
                <a:gd name="T17" fmla="*/ 16 h 24"/>
                <a:gd name="T18" fmla="*/ 23 w 24"/>
                <a:gd name="T19" fmla="*/ 16 h 24"/>
                <a:gd name="T20" fmla="*/ 24 w 24"/>
                <a:gd name="T21" fmla="*/ 12 h 24"/>
                <a:gd name="T22" fmla="*/ 24 w 24"/>
                <a:gd name="T23" fmla="*/ 7 h 24"/>
                <a:gd name="T24" fmla="*/ 21 w 24"/>
                <a:gd name="T25" fmla="*/ 3 h 24"/>
                <a:gd name="T26" fmla="*/ 17 w 24"/>
                <a:gd name="T27" fmla="*/ 1 h 24"/>
                <a:gd name="T28" fmla="*/ 12 w 24"/>
                <a:gd name="T29" fmla="*/ 0 h 24"/>
                <a:gd name="T30" fmla="*/ 8 w 24"/>
                <a:gd name="T31" fmla="*/ 1 h 24"/>
                <a:gd name="T32" fmla="*/ 4 w 24"/>
                <a:gd name="T33" fmla="*/ 3 h 24"/>
                <a:gd name="T34" fmla="*/ 1 w 24"/>
                <a:gd name="T35" fmla="*/ 7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1" y="7"/>
                  </a:moveTo>
                  <a:lnTo>
                    <a:pt x="0" y="12"/>
                  </a:lnTo>
                  <a:lnTo>
                    <a:pt x="1" y="16"/>
                  </a:lnTo>
                  <a:lnTo>
                    <a:pt x="4" y="20"/>
                  </a:lnTo>
                  <a:lnTo>
                    <a:pt x="8" y="23"/>
                  </a:lnTo>
                  <a:lnTo>
                    <a:pt x="12" y="24"/>
                  </a:lnTo>
                  <a:lnTo>
                    <a:pt x="17" y="23"/>
                  </a:lnTo>
                  <a:lnTo>
                    <a:pt x="21" y="20"/>
                  </a:lnTo>
                  <a:lnTo>
                    <a:pt x="23" y="16"/>
                  </a:lnTo>
                  <a:lnTo>
                    <a:pt x="23" y="16"/>
                  </a:lnTo>
                  <a:lnTo>
                    <a:pt x="24" y="12"/>
                  </a:lnTo>
                  <a:lnTo>
                    <a:pt x="24" y="7"/>
                  </a:lnTo>
                  <a:lnTo>
                    <a:pt x="21" y="3"/>
                  </a:lnTo>
                  <a:lnTo>
                    <a:pt x="17" y="1"/>
                  </a:lnTo>
                  <a:lnTo>
                    <a:pt x="12" y="0"/>
                  </a:lnTo>
                  <a:lnTo>
                    <a:pt x="8" y="1"/>
                  </a:lnTo>
                  <a:lnTo>
                    <a:pt x="4" y="3"/>
                  </a:lnTo>
                  <a:lnTo>
                    <a:pt x="1" y="7"/>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93" name="Freeform 191"/>
            <p:cNvSpPr>
              <a:spLocks/>
            </p:cNvSpPr>
            <p:nvPr/>
          </p:nvSpPr>
          <p:spPr bwMode="auto">
            <a:xfrm>
              <a:off x="1960" y="3378"/>
              <a:ext cx="21" cy="16"/>
            </a:xfrm>
            <a:custGeom>
              <a:avLst/>
              <a:gdLst>
                <a:gd name="T0" fmla="*/ 1 w 24"/>
                <a:gd name="T1" fmla="*/ 8 h 24"/>
                <a:gd name="T2" fmla="*/ 0 w 24"/>
                <a:gd name="T3" fmla="*/ 12 h 24"/>
                <a:gd name="T4" fmla="*/ 1 w 24"/>
                <a:gd name="T5" fmla="*/ 17 h 24"/>
                <a:gd name="T6" fmla="*/ 3 w 24"/>
                <a:gd name="T7" fmla="*/ 21 h 24"/>
                <a:gd name="T8" fmla="*/ 7 w 24"/>
                <a:gd name="T9" fmla="*/ 23 h 24"/>
                <a:gd name="T10" fmla="*/ 12 w 24"/>
                <a:gd name="T11" fmla="*/ 24 h 24"/>
                <a:gd name="T12" fmla="*/ 16 w 24"/>
                <a:gd name="T13" fmla="*/ 23 h 24"/>
                <a:gd name="T14" fmla="*/ 20 w 24"/>
                <a:gd name="T15" fmla="*/ 21 h 24"/>
                <a:gd name="T16" fmla="*/ 23 w 24"/>
                <a:gd name="T17" fmla="*/ 17 h 24"/>
                <a:gd name="T18" fmla="*/ 23 w 24"/>
                <a:gd name="T19" fmla="*/ 17 h 24"/>
                <a:gd name="T20" fmla="*/ 24 w 24"/>
                <a:gd name="T21" fmla="*/ 12 h 24"/>
                <a:gd name="T22" fmla="*/ 23 w 24"/>
                <a:gd name="T23" fmla="*/ 8 h 24"/>
                <a:gd name="T24" fmla="*/ 20 w 24"/>
                <a:gd name="T25" fmla="*/ 4 h 24"/>
                <a:gd name="T26" fmla="*/ 16 w 24"/>
                <a:gd name="T27" fmla="*/ 1 h 24"/>
                <a:gd name="T28" fmla="*/ 12 w 24"/>
                <a:gd name="T29" fmla="*/ 0 h 24"/>
                <a:gd name="T30" fmla="*/ 7 w 24"/>
                <a:gd name="T31" fmla="*/ 1 h 24"/>
                <a:gd name="T32" fmla="*/ 3 w 24"/>
                <a:gd name="T33" fmla="*/ 4 h 24"/>
                <a:gd name="T34" fmla="*/ 1 w 24"/>
                <a:gd name="T35" fmla="*/ 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1" y="8"/>
                  </a:moveTo>
                  <a:lnTo>
                    <a:pt x="0" y="12"/>
                  </a:lnTo>
                  <a:lnTo>
                    <a:pt x="1" y="17"/>
                  </a:lnTo>
                  <a:lnTo>
                    <a:pt x="3" y="21"/>
                  </a:lnTo>
                  <a:lnTo>
                    <a:pt x="7" y="23"/>
                  </a:lnTo>
                  <a:lnTo>
                    <a:pt x="12" y="24"/>
                  </a:lnTo>
                  <a:lnTo>
                    <a:pt x="16" y="23"/>
                  </a:lnTo>
                  <a:lnTo>
                    <a:pt x="20" y="21"/>
                  </a:lnTo>
                  <a:lnTo>
                    <a:pt x="23" y="17"/>
                  </a:lnTo>
                  <a:lnTo>
                    <a:pt x="23" y="17"/>
                  </a:lnTo>
                  <a:lnTo>
                    <a:pt x="24" y="12"/>
                  </a:lnTo>
                  <a:lnTo>
                    <a:pt x="23" y="8"/>
                  </a:lnTo>
                  <a:lnTo>
                    <a:pt x="20" y="4"/>
                  </a:lnTo>
                  <a:lnTo>
                    <a:pt x="16" y="1"/>
                  </a:lnTo>
                  <a:lnTo>
                    <a:pt x="12" y="0"/>
                  </a:lnTo>
                  <a:lnTo>
                    <a:pt x="7" y="1"/>
                  </a:lnTo>
                  <a:lnTo>
                    <a:pt x="3" y="4"/>
                  </a:lnTo>
                  <a:lnTo>
                    <a:pt x="1" y="8"/>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94" name="Freeform 192"/>
            <p:cNvSpPr>
              <a:spLocks/>
            </p:cNvSpPr>
            <p:nvPr/>
          </p:nvSpPr>
          <p:spPr bwMode="auto">
            <a:xfrm>
              <a:off x="1975" y="3348"/>
              <a:ext cx="21" cy="16"/>
            </a:xfrm>
            <a:custGeom>
              <a:avLst/>
              <a:gdLst>
                <a:gd name="T0" fmla="*/ 1 w 24"/>
                <a:gd name="T1" fmla="*/ 7 h 24"/>
                <a:gd name="T2" fmla="*/ 0 w 24"/>
                <a:gd name="T3" fmla="*/ 12 h 24"/>
                <a:gd name="T4" fmla="*/ 1 w 24"/>
                <a:gd name="T5" fmla="*/ 16 h 24"/>
                <a:gd name="T6" fmla="*/ 3 w 24"/>
                <a:gd name="T7" fmla="*/ 20 h 24"/>
                <a:gd name="T8" fmla="*/ 7 w 24"/>
                <a:gd name="T9" fmla="*/ 23 h 24"/>
                <a:gd name="T10" fmla="*/ 12 w 24"/>
                <a:gd name="T11" fmla="*/ 24 h 24"/>
                <a:gd name="T12" fmla="*/ 16 w 24"/>
                <a:gd name="T13" fmla="*/ 23 h 24"/>
                <a:gd name="T14" fmla="*/ 20 w 24"/>
                <a:gd name="T15" fmla="*/ 20 h 24"/>
                <a:gd name="T16" fmla="*/ 23 w 24"/>
                <a:gd name="T17" fmla="*/ 16 h 24"/>
                <a:gd name="T18" fmla="*/ 23 w 24"/>
                <a:gd name="T19" fmla="*/ 16 h 24"/>
                <a:gd name="T20" fmla="*/ 24 w 24"/>
                <a:gd name="T21" fmla="*/ 12 h 24"/>
                <a:gd name="T22" fmla="*/ 23 w 24"/>
                <a:gd name="T23" fmla="*/ 7 h 24"/>
                <a:gd name="T24" fmla="*/ 20 w 24"/>
                <a:gd name="T25" fmla="*/ 3 h 24"/>
                <a:gd name="T26" fmla="*/ 16 w 24"/>
                <a:gd name="T27" fmla="*/ 1 h 24"/>
                <a:gd name="T28" fmla="*/ 12 w 24"/>
                <a:gd name="T29" fmla="*/ 0 h 24"/>
                <a:gd name="T30" fmla="*/ 7 w 24"/>
                <a:gd name="T31" fmla="*/ 1 h 24"/>
                <a:gd name="T32" fmla="*/ 3 w 24"/>
                <a:gd name="T33" fmla="*/ 3 h 24"/>
                <a:gd name="T34" fmla="*/ 1 w 24"/>
                <a:gd name="T35" fmla="*/ 7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1" y="7"/>
                  </a:moveTo>
                  <a:lnTo>
                    <a:pt x="0" y="12"/>
                  </a:lnTo>
                  <a:lnTo>
                    <a:pt x="1" y="16"/>
                  </a:lnTo>
                  <a:lnTo>
                    <a:pt x="3" y="20"/>
                  </a:lnTo>
                  <a:lnTo>
                    <a:pt x="7" y="23"/>
                  </a:lnTo>
                  <a:lnTo>
                    <a:pt x="12" y="24"/>
                  </a:lnTo>
                  <a:lnTo>
                    <a:pt x="16" y="23"/>
                  </a:lnTo>
                  <a:lnTo>
                    <a:pt x="20" y="20"/>
                  </a:lnTo>
                  <a:lnTo>
                    <a:pt x="23" y="16"/>
                  </a:lnTo>
                  <a:lnTo>
                    <a:pt x="23" y="16"/>
                  </a:lnTo>
                  <a:lnTo>
                    <a:pt x="24" y="12"/>
                  </a:lnTo>
                  <a:lnTo>
                    <a:pt x="23" y="7"/>
                  </a:lnTo>
                  <a:lnTo>
                    <a:pt x="20" y="3"/>
                  </a:lnTo>
                  <a:lnTo>
                    <a:pt x="16" y="1"/>
                  </a:lnTo>
                  <a:lnTo>
                    <a:pt x="12" y="0"/>
                  </a:lnTo>
                  <a:lnTo>
                    <a:pt x="7" y="1"/>
                  </a:lnTo>
                  <a:lnTo>
                    <a:pt x="3" y="3"/>
                  </a:lnTo>
                  <a:lnTo>
                    <a:pt x="1" y="7"/>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95" name="Freeform 193"/>
            <p:cNvSpPr>
              <a:spLocks/>
            </p:cNvSpPr>
            <p:nvPr/>
          </p:nvSpPr>
          <p:spPr bwMode="auto">
            <a:xfrm>
              <a:off x="1991" y="3318"/>
              <a:ext cx="20" cy="16"/>
            </a:xfrm>
            <a:custGeom>
              <a:avLst/>
              <a:gdLst>
                <a:gd name="T0" fmla="*/ 1 w 24"/>
                <a:gd name="T1" fmla="*/ 8 h 24"/>
                <a:gd name="T2" fmla="*/ 0 w 24"/>
                <a:gd name="T3" fmla="*/ 12 h 24"/>
                <a:gd name="T4" fmla="*/ 1 w 24"/>
                <a:gd name="T5" fmla="*/ 17 h 24"/>
                <a:gd name="T6" fmla="*/ 3 w 24"/>
                <a:gd name="T7" fmla="*/ 21 h 24"/>
                <a:gd name="T8" fmla="*/ 7 w 24"/>
                <a:gd name="T9" fmla="*/ 23 h 24"/>
                <a:gd name="T10" fmla="*/ 12 w 24"/>
                <a:gd name="T11" fmla="*/ 24 h 24"/>
                <a:gd name="T12" fmla="*/ 16 w 24"/>
                <a:gd name="T13" fmla="*/ 23 h 24"/>
                <a:gd name="T14" fmla="*/ 20 w 24"/>
                <a:gd name="T15" fmla="*/ 21 h 24"/>
                <a:gd name="T16" fmla="*/ 23 w 24"/>
                <a:gd name="T17" fmla="*/ 17 h 24"/>
                <a:gd name="T18" fmla="*/ 23 w 24"/>
                <a:gd name="T19" fmla="*/ 17 h 24"/>
                <a:gd name="T20" fmla="*/ 24 w 24"/>
                <a:gd name="T21" fmla="*/ 12 h 24"/>
                <a:gd name="T22" fmla="*/ 23 w 24"/>
                <a:gd name="T23" fmla="*/ 8 h 24"/>
                <a:gd name="T24" fmla="*/ 20 w 24"/>
                <a:gd name="T25" fmla="*/ 4 h 24"/>
                <a:gd name="T26" fmla="*/ 16 w 24"/>
                <a:gd name="T27" fmla="*/ 1 h 24"/>
                <a:gd name="T28" fmla="*/ 12 w 24"/>
                <a:gd name="T29" fmla="*/ 0 h 24"/>
                <a:gd name="T30" fmla="*/ 7 w 24"/>
                <a:gd name="T31" fmla="*/ 1 h 24"/>
                <a:gd name="T32" fmla="*/ 3 w 24"/>
                <a:gd name="T33" fmla="*/ 4 h 24"/>
                <a:gd name="T34" fmla="*/ 1 w 24"/>
                <a:gd name="T35" fmla="*/ 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1" y="8"/>
                  </a:moveTo>
                  <a:lnTo>
                    <a:pt x="0" y="12"/>
                  </a:lnTo>
                  <a:lnTo>
                    <a:pt x="1" y="17"/>
                  </a:lnTo>
                  <a:lnTo>
                    <a:pt x="3" y="21"/>
                  </a:lnTo>
                  <a:lnTo>
                    <a:pt x="7" y="23"/>
                  </a:lnTo>
                  <a:lnTo>
                    <a:pt x="12" y="24"/>
                  </a:lnTo>
                  <a:lnTo>
                    <a:pt x="16" y="23"/>
                  </a:lnTo>
                  <a:lnTo>
                    <a:pt x="20" y="21"/>
                  </a:lnTo>
                  <a:lnTo>
                    <a:pt x="23" y="17"/>
                  </a:lnTo>
                  <a:lnTo>
                    <a:pt x="23" y="17"/>
                  </a:lnTo>
                  <a:lnTo>
                    <a:pt x="24" y="12"/>
                  </a:lnTo>
                  <a:lnTo>
                    <a:pt x="23" y="8"/>
                  </a:lnTo>
                  <a:lnTo>
                    <a:pt x="20" y="4"/>
                  </a:lnTo>
                  <a:lnTo>
                    <a:pt x="16" y="1"/>
                  </a:lnTo>
                  <a:lnTo>
                    <a:pt x="12" y="0"/>
                  </a:lnTo>
                  <a:lnTo>
                    <a:pt x="7" y="1"/>
                  </a:lnTo>
                  <a:lnTo>
                    <a:pt x="3" y="4"/>
                  </a:lnTo>
                  <a:lnTo>
                    <a:pt x="1" y="8"/>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96" name="Freeform 194"/>
            <p:cNvSpPr>
              <a:spLocks/>
            </p:cNvSpPr>
            <p:nvPr/>
          </p:nvSpPr>
          <p:spPr bwMode="auto">
            <a:xfrm>
              <a:off x="2006" y="3289"/>
              <a:ext cx="20" cy="16"/>
            </a:xfrm>
            <a:custGeom>
              <a:avLst/>
              <a:gdLst>
                <a:gd name="T0" fmla="*/ 1 w 24"/>
                <a:gd name="T1" fmla="*/ 7 h 24"/>
                <a:gd name="T2" fmla="*/ 0 w 24"/>
                <a:gd name="T3" fmla="*/ 12 h 24"/>
                <a:gd name="T4" fmla="*/ 1 w 24"/>
                <a:gd name="T5" fmla="*/ 17 h 24"/>
                <a:gd name="T6" fmla="*/ 3 w 24"/>
                <a:gd name="T7" fmla="*/ 20 h 24"/>
                <a:gd name="T8" fmla="*/ 7 w 24"/>
                <a:gd name="T9" fmla="*/ 23 h 24"/>
                <a:gd name="T10" fmla="*/ 12 w 24"/>
                <a:gd name="T11" fmla="*/ 24 h 24"/>
                <a:gd name="T12" fmla="*/ 17 w 24"/>
                <a:gd name="T13" fmla="*/ 23 h 24"/>
                <a:gd name="T14" fmla="*/ 20 w 24"/>
                <a:gd name="T15" fmla="*/ 20 h 24"/>
                <a:gd name="T16" fmla="*/ 23 w 24"/>
                <a:gd name="T17" fmla="*/ 16 h 24"/>
                <a:gd name="T18" fmla="*/ 23 w 24"/>
                <a:gd name="T19" fmla="*/ 16 h 24"/>
                <a:gd name="T20" fmla="*/ 24 w 24"/>
                <a:gd name="T21" fmla="*/ 12 h 24"/>
                <a:gd name="T22" fmla="*/ 23 w 24"/>
                <a:gd name="T23" fmla="*/ 7 h 24"/>
                <a:gd name="T24" fmla="*/ 20 w 24"/>
                <a:gd name="T25" fmla="*/ 3 h 24"/>
                <a:gd name="T26" fmla="*/ 17 w 24"/>
                <a:gd name="T27" fmla="*/ 1 h 24"/>
                <a:gd name="T28" fmla="*/ 12 w 24"/>
                <a:gd name="T29" fmla="*/ 0 h 24"/>
                <a:gd name="T30" fmla="*/ 7 w 24"/>
                <a:gd name="T31" fmla="*/ 1 h 24"/>
                <a:gd name="T32" fmla="*/ 3 w 24"/>
                <a:gd name="T33" fmla="*/ 3 h 24"/>
                <a:gd name="T34" fmla="*/ 1 w 24"/>
                <a:gd name="T35" fmla="*/ 7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1" y="7"/>
                  </a:moveTo>
                  <a:lnTo>
                    <a:pt x="0" y="12"/>
                  </a:lnTo>
                  <a:lnTo>
                    <a:pt x="1" y="17"/>
                  </a:lnTo>
                  <a:lnTo>
                    <a:pt x="3" y="20"/>
                  </a:lnTo>
                  <a:lnTo>
                    <a:pt x="7" y="23"/>
                  </a:lnTo>
                  <a:lnTo>
                    <a:pt x="12" y="24"/>
                  </a:lnTo>
                  <a:lnTo>
                    <a:pt x="17" y="23"/>
                  </a:lnTo>
                  <a:lnTo>
                    <a:pt x="20" y="20"/>
                  </a:lnTo>
                  <a:lnTo>
                    <a:pt x="23" y="16"/>
                  </a:lnTo>
                  <a:lnTo>
                    <a:pt x="23" y="16"/>
                  </a:lnTo>
                  <a:lnTo>
                    <a:pt x="24" y="12"/>
                  </a:lnTo>
                  <a:lnTo>
                    <a:pt x="23" y="7"/>
                  </a:lnTo>
                  <a:lnTo>
                    <a:pt x="20" y="3"/>
                  </a:lnTo>
                  <a:lnTo>
                    <a:pt x="17" y="1"/>
                  </a:lnTo>
                  <a:lnTo>
                    <a:pt x="12" y="0"/>
                  </a:lnTo>
                  <a:lnTo>
                    <a:pt x="7" y="1"/>
                  </a:lnTo>
                  <a:lnTo>
                    <a:pt x="3" y="3"/>
                  </a:lnTo>
                  <a:lnTo>
                    <a:pt x="1" y="7"/>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97" name="Freeform 195"/>
            <p:cNvSpPr>
              <a:spLocks/>
            </p:cNvSpPr>
            <p:nvPr/>
          </p:nvSpPr>
          <p:spPr bwMode="auto">
            <a:xfrm>
              <a:off x="2021" y="3259"/>
              <a:ext cx="20" cy="16"/>
            </a:xfrm>
            <a:custGeom>
              <a:avLst/>
              <a:gdLst>
                <a:gd name="T0" fmla="*/ 1 w 24"/>
                <a:gd name="T1" fmla="*/ 8 h 24"/>
                <a:gd name="T2" fmla="*/ 0 w 24"/>
                <a:gd name="T3" fmla="*/ 12 h 24"/>
                <a:gd name="T4" fmla="*/ 1 w 24"/>
                <a:gd name="T5" fmla="*/ 17 h 24"/>
                <a:gd name="T6" fmla="*/ 3 w 24"/>
                <a:gd name="T7" fmla="*/ 21 h 24"/>
                <a:gd name="T8" fmla="*/ 7 w 24"/>
                <a:gd name="T9" fmla="*/ 23 h 24"/>
                <a:gd name="T10" fmla="*/ 12 w 24"/>
                <a:gd name="T11" fmla="*/ 24 h 24"/>
                <a:gd name="T12" fmla="*/ 17 w 24"/>
                <a:gd name="T13" fmla="*/ 23 h 24"/>
                <a:gd name="T14" fmla="*/ 20 w 24"/>
                <a:gd name="T15" fmla="*/ 21 h 24"/>
                <a:gd name="T16" fmla="*/ 23 w 24"/>
                <a:gd name="T17" fmla="*/ 17 h 24"/>
                <a:gd name="T18" fmla="*/ 23 w 24"/>
                <a:gd name="T19" fmla="*/ 17 h 24"/>
                <a:gd name="T20" fmla="*/ 24 w 24"/>
                <a:gd name="T21" fmla="*/ 12 h 24"/>
                <a:gd name="T22" fmla="*/ 23 w 24"/>
                <a:gd name="T23" fmla="*/ 8 h 24"/>
                <a:gd name="T24" fmla="*/ 20 w 24"/>
                <a:gd name="T25" fmla="*/ 4 h 24"/>
                <a:gd name="T26" fmla="*/ 17 w 24"/>
                <a:gd name="T27" fmla="*/ 1 h 24"/>
                <a:gd name="T28" fmla="*/ 12 w 24"/>
                <a:gd name="T29" fmla="*/ 0 h 24"/>
                <a:gd name="T30" fmla="*/ 7 w 24"/>
                <a:gd name="T31" fmla="*/ 1 h 24"/>
                <a:gd name="T32" fmla="*/ 3 w 24"/>
                <a:gd name="T33" fmla="*/ 4 h 24"/>
                <a:gd name="T34" fmla="*/ 1 w 24"/>
                <a:gd name="T35" fmla="*/ 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1" y="8"/>
                  </a:moveTo>
                  <a:lnTo>
                    <a:pt x="0" y="12"/>
                  </a:lnTo>
                  <a:lnTo>
                    <a:pt x="1" y="17"/>
                  </a:lnTo>
                  <a:lnTo>
                    <a:pt x="3" y="21"/>
                  </a:lnTo>
                  <a:lnTo>
                    <a:pt x="7" y="23"/>
                  </a:lnTo>
                  <a:lnTo>
                    <a:pt x="12" y="24"/>
                  </a:lnTo>
                  <a:lnTo>
                    <a:pt x="17" y="23"/>
                  </a:lnTo>
                  <a:lnTo>
                    <a:pt x="20" y="21"/>
                  </a:lnTo>
                  <a:lnTo>
                    <a:pt x="23" y="17"/>
                  </a:lnTo>
                  <a:lnTo>
                    <a:pt x="23" y="17"/>
                  </a:lnTo>
                  <a:lnTo>
                    <a:pt x="24" y="12"/>
                  </a:lnTo>
                  <a:lnTo>
                    <a:pt x="23" y="8"/>
                  </a:lnTo>
                  <a:lnTo>
                    <a:pt x="20" y="4"/>
                  </a:lnTo>
                  <a:lnTo>
                    <a:pt x="17" y="1"/>
                  </a:lnTo>
                  <a:lnTo>
                    <a:pt x="12" y="0"/>
                  </a:lnTo>
                  <a:lnTo>
                    <a:pt x="7" y="1"/>
                  </a:lnTo>
                  <a:lnTo>
                    <a:pt x="3" y="4"/>
                  </a:lnTo>
                  <a:lnTo>
                    <a:pt x="1" y="8"/>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98" name="Freeform 196"/>
            <p:cNvSpPr>
              <a:spLocks/>
            </p:cNvSpPr>
            <p:nvPr/>
          </p:nvSpPr>
          <p:spPr bwMode="auto">
            <a:xfrm>
              <a:off x="2036" y="3230"/>
              <a:ext cx="20" cy="16"/>
            </a:xfrm>
            <a:custGeom>
              <a:avLst/>
              <a:gdLst>
                <a:gd name="T0" fmla="*/ 1 w 24"/>
                <a:gd name="T1" fmla="*/ 7 h 24"/>
                <a:gd name="T2" fmla="*/ 0 w 24"/>
                <a:gd name="T3" fmla="*/ 12 h 24"/>
                <a:gd name="T4" fmla="*/ 1 w 24"/>
                <a:gd name="T5" fmla="*/ 17 h 24"/>
                <a:gd name="T6" fmla="*/ 4 w 24"/>
                <a:gd name="T7" fmla="*/ 20 h 24"/>
                <a:gd name="T8" fmla="*/ 7 w 24"/>
                <a:gd name="T9" fmla="*/ 23 h 24"/>
                <a:gd name="T10" fmla="*/ 12 w 24"/>
                <a:gd name="T11" fmla="*/ 24 h 24"/>
                <a:gd name="T12" fmla="*/ 17 w 24"/>
                <a:gd name="T13" fmla="*/ 23 h 24"/>
                <a:gd name="T14" fmla="*/ 21 w 24"/>
                <a:gd name="T15" fmla="*/ 20 h 24"/>
                <a:gd name="T16" fmla="*/ 23 w 24"/>
                <a:gd name="T17" fmla="*/ 16 h 24"/>
                <a:gd name="T18" fmla="*/ 23 w 24"/>
                <a:gd name="T19" fmla="*/ 16 h 24"/>
                <a:gd name="T20" fmla="*/ 24 w 24"/>
                <a:gd name="T21" fmla="*/ 12 h 24"/>
                <a:gd name="T22" fmla="*/ 23 w 24"/>
                <a:gd name="T23" fmla="*/ 7 h 24"/>
                <a:gd name="T24" fmla="*/ 21 w 24"/>
                <a:gd name="T25" fmla="*/ 3 h 24"/>
                <a:gd name="T26" fmla="*/ 17 w 24"/>
                <a:gd name="T27" fmla="*/ 1 h 24"/>
                <a:gd name="T28" fmla="*/ 12 w 24"/>
                <a:gd name="T29" fmla="*/ 0 h 24"/>
                <a:gd name="T30" fmla="*/ 7 w 24"/>
                <a:gd name="T31" fmla="*/ 1 h 24"/>
                <a:gd name="T32" fmla="*/ 4 w 24"/>
                <a:gd name="T33" fmla="*/ 3 h 24"/>
                <a:gd name="T34" fmla="*/ 1 w 24"/>
                <a:gd name="T35" fmla="*/ 7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1" y="7"/>
                  </a:moveTo>
                  <a:lnTo>
                    <a:pt x="0" y="12"/>
                  </a:lnTo>
                  <a:lnTo>
                    <a:pt x="1" y="17"/>
                  </a:lnTo>
                  <a:lnTo>
                    <a:pt x="4" y="20"/>
                  </a:lnTo>
                  <a:lnTo>
                    <a:pt x="7" y="23"/>
                  </a:lnTo>
                  <a:lnTo>
                    <a:pt x="12" y="24"/>
                  </a:lnTo>
                  <a:lnTo>
                    <a:pt x="17" y="23"/>
                  </a:lnTo>
                  <a:lnTo>
                    <a:pt x="21" y="20"/>
                  </a:lnTo>
                  <a:lnTo>
                    <a:pt x="23" y="16"/>
                  </a:lnTo>
                  <a:lnTo>
                    <a:pt x="23" y="16"/>
                  </a:lnTo>
                  <a:lnTo>
                    <a:pt x="24" y="12"/>
                  </a:lnTo>
                  <a:lnTo>
                    <a:pt x="23" y="7"/>
                  </a:lnTo>
                  <a:lnTo>
                    <a:pt x="21" y="3"/>
                  </a:lnTo>
                  <a:lnTo>
                    <a:pt x="17" y="1"/>
                  </a:lnTo>
                  <a:lnTo>
                    <a:pt x="12" y="0"/>
                  </a:lnTo>
                  <a:lnTo>
                    <a:pt x="7" y="1"/>
                  </a:lnTo>
                  <a:lnTo>
                    <a:pt x="4" y="3"/>
                  </a:lnTo>
                  <a:lnTo>
                    <a:pt x="1" y="7"/>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199" name="Freeform 197"/>
            <p:cNvSpPr>
              <a:spLocks/>
            </p:cNvSpPr>
            <p:nvPr/>
          </p:nvSpPr>
          <p:spPr bwMode="auto">
            <a:xfrm>
              <a:off x="2051" y="3200"/>
              <a:ext cx="21" cy="16"/>
            </a:xfrm>
            <a:custGeom>
              <a:avLst/>
              <a:gdLst>
                <a:gd name="T0" fmla="*/ 1 w 24"/>
                <a:gd name="T1" fmla="*/ 8 h 24"/>
                <a:gd name="T2" fmla="*/ 0 w 24"/>
                <a:gd name="T3" fmla="*/ 12 h 24"/>
                <a:gd name="T4" fmla="*/ 1 w 24"/>
                <a:gd name="T5" fmla="*/ 17 h 24"/>
                <a:gd name="T6" fmla="*/ 4 w 24"/>
                <a:gd name="T7" fmla="*/ 21 h 24"/>
                <a:gd name="T8" fmla="*/ 7 w 24"/>
                <a:gd name="T9" fmla="*/ 24 h 24"/>
                <a:gd name="T10" fmla="*/ 12 w 24"/>
                <a:gd name="T11" fmla="*/ 24 h 24"/>
                <a:gd name="T12" fmla="*/ 17 w 24"/>
                <a:gd name="T13" fmla="*/ 24 h 24"/>
                <a:gd name="T14" fmla="*/ 21 w 24"/>
                <a:gd name="T15" fmla="*/ 21 h 24"/>
                <a:gd name="T16" fmla="*/ 23 w 24"/>
                <a:gd name="T17" fmla="*/ 17 h 24"/>
                <a:gd name="T18" fmla="*/ 23 w 24"/>
                <a:gd name="T19" fmla="*/ 17 h 24"/>
                <a:gd name="T20" fmla="*/ 24 w 24"/>
                <a:gd name="T21" fmla="*/ 12 h 24"/>
                <a:gd name="T22" fmla="*/ 23 w 24"/>
                <a:gd name="T23" fmla="*/ 8 h 24"/>
                <a:gd name="T24" fmla="*/ 21 w 24"/>
                <a:gd name="T25" fmla="*/ 4 h 24"/>
                <a:gd name="T26" fmla="*/ 17 w 24"/>
                <a:gd name="T27" fmla="*/ 1 h 24"/>
                <a:gd name="T28" fmla="*/ 12 w 24"/>
                <a:gd name="T29" fmla="*/ 0 h 24"/>
                <a:gd name="T30" fmla="*/ 7 w 24"/>
                <a:gd name="T31" fmla="*/ 1 h 24"/>
                <a:gd name="T32" fmla="*/ 4 w 24"/>
                <a:gd name="T33" fmla="*/ 4 h 24"/>
                <a:gd name="T34" fmla="*/ 1 w 24"/>
                <a:gd name="T35" fmla="*/ 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1" y="8"/>
                  </a:moveTo>
                  <a:lnTo>
                    <a:pt x="0" y="12"/>
                  </a:lnTo>
                  <a:lnTo>
                    <a:pt x="1" y="17"/>
                  </a:lnTo>
                  <a:lnTo>
                    <a:pt x="4" y="21"/>
                  </a:lnTo>
                  <a:lnTo>
                    <a:pt x="7" y="24"/>
                  </a:lnTo>
                  <a:lnTo>
                    <a:pt x="12" y="24"/>
                  </a:lnTo>
                  <a:lnTo>
                    <a:pt x="17" y="24"/>
                  </a:lnTo>
                  <a:lnTo>
                    <a:pt x="21" y="21"/>
                  </a:lnTo>
                  <a:lnTo>
                    <a:pt x="23" y="17"/>
                  </a:lnTo>
                  <a:lnTo>
                    <a:pt x="23" y="17"/>
                  </a:lnTo>
                  <a:lnTo>
                    <a:pt x="24" y="12"/>
                  </a:lnTo>
                  <a:lnTo>
                    <a:pt x="23" y="8"/>
                  </a:lnTo>
                  <a:lnTo>
                    <a:pt x="21" y="4"/>
                  </a:lnTo>
                  <a:lnTo>
                    <a:pt x="17" y="1"/>
                  </a:lnTo>
                  <a:lnTo>
                    <a:pt x="12" y="0"/>
                  </a:lnTo>
                  <a:lnTo>
                    <a:pt x="7" y="1"/>
                  </a:lnTo>
                  <a:lnTo>
                    <a:pt x="4" y="4"/>
                  </a:lnTo>
                  <a:lnTo>
                    <a:pt x="1" y="8"/>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200" name="Freeform 198"/>
            <p:cNvSpPr>
              <a:spLocks/>
            </p:cNvSpPr>
            <p:nvPr/>
          </p:nvSpPr>
          <p:spPr bwMode="auto">
            <a:xfrm>
              <a:off x="2067" y="3171"/>
              <a:ext cx="19" cy="15"/>
            </a:xfrm>
            <a:custGeom>
              <a:avLst/>
              <a:gdLst>
                <a:gd name="T0" fmla="*/ 1 w 23"/>
                <a:gd name="T1" fmla="*/ 8 h 24"/>
                <a:gd name="T2" fmla="*/ 0 w 23"/>
                <a:gd name="T3" fmla="*/ 12 h 24"/>
                <a:gd name="T4" fmla="*/ 1 w 23"/>
                <a:gd name="T5" fmla="*/ 17 h 24"/>
                <a:gd name="T6" fmla="*/ 4 w 23"/>
                <a:gd name="T7" fmla="*/ 21 h 24"/>
                <a:gd name="T8" fmla="*/ 8 w 23"/>
                <a:gd name="T9" fmla="*/ 23 h 24"/>
                <a:gd name="T10" fmla="*/ 11 w 23"/>
                <a:gd name="T11" fmla="*/ 24 h 24"/>
                <a:gd name="T12" fmla="*/ 16 w 23"/>
                <a:gd name="T13" fmla="*/ 23 h 24"/>
                <a:gd name="T14" fmla="*/ 20 w 23"/>
                <a:gd name="T15" fmla="*/ 21 h 24"/>
                <a:gd name="T16" fmla="*/ 22 w 23"/>
                <a:gd name="T17" fmla="*/ 17 h 24"/>
                <a:gd name="T18" fmla="*/ 22 w 23"/>
                <a:gd name="T19" fmla="*/ 17 h 24"/>
                <a:gd name="T20" fmla="*/ 23 w 23"/>
                <a:gd name="T21" fmla="*/ 12 h 24"/>
                <a:gd name="T22" fmla="*/ 22 w 23"/>
                <a:gd name="T23" fmla="*/ 7 h 24"/>
                <a:gd name="T24" fmla="*/ 20 w 23"/>
                <a:gd name="T25" fmla="*/ 4 h 24"/>
                <a:gd name="T26" fmla="*/ 16 w 23"/>
                <a:gd name="T27" fmla="*/ 1 h 24"/>
                <a:gd name="T28" fmla="*/ 11 w 23"/>
                <a:gd name="T29" fmla="*/ 0 h 24"/>
                <a:gd name="T30" fmla="*/ 8 w 23"/>
                <a:gd name="T31" fmla="*/ 1 h 24"/>
                <a:gd name="T32" fmla="*/ 4 w 23"/>
                <a:gd name="T33" fmla="*/ 4 h 24"/>
                <a:gd name="T34" fmla="*/ 1 w 23"/>
                <a:gd name="T35" fmla="*/ 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 h="24">
                  <a:moveTo>
                    <a:pt x="1" y="8"/>
                  </a:moveTo>
                  <a:lnTo>
                    <a:pt x="0" y="12"/>
                  </a:lnTo>
                  <a:lnTo>
                    <a:pt x="1" y="17"/>
                  </a:lnTo>
                  <a:lnTo>
                    <a:pt x="4" y="21"/>
                  </a:lnTo>
                  <a:lnTo>
                    <a:pt x="8" y="23"/>
                  </a:lnTo>
                  <a:lnTo>
                    <a:pt x="11" y="24"/>
                  </a:lnTo>
                  <a:lnTo>
                    <a:pt x="16" y="23"/>
                  </a:lnTo>
                  <a:lnTo>
                    <a:pt x="20" y="21"/>
                  </a:lnTo>
                  <a:lnTo>
                    <a:pt x="22" y="17"/>
                  </a:lnTo>
                  <a:lnTo>
                    <a:pt x="22" y="17"/>
                  </a:lnTo>
                  <a:lnTo>
                    <a:pt x="23" y="12"/>
                  </a:lnTo>
                  <a:lnTo>
                    <a:pt x="22" y="7"/>
                  </a:lnTo>
                  <a:lnTo>
                    <a:pt x="20" y="4"/>
                  </a:lnTo>
                  <a:lnTo>
                    <a:pt x="16" y="1"/>
                  </a:lnTo>
                  <a:lnTo>
                    <a:pt x="11" y="0"/>
                  </a:lnTo>
                  <a:lnTo>
                    <a:pt x="8" y="1"/>
                  </a:lnTo>
                  <a:lnTo>
                    <a:pt x="4" y="4"/>
                  </a:lnTo>
                  <a:lnTo>
                    <a:pt x="1" y="8"/>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201" name="Freeform 199"/>
            <p:cNvSpPr>
              <a:spLocks/>
            </p:cNvSpPr>
            <p:nvPr/>
          </p:nvSpPr>
          <p:spPr bwMode="auto">
            <a:xfrm>
              <a:off x="2081" y="3142"/>
              <a:ext cx="20" cy="15"/>
            </a:xfrm>
            <a:custGeom>
              <a:avLst/>
              <a:gdLst>
                <a:gd name="T0" fmla="*/ 1 w 24"/>
                <a:gd name="T1" fmla="*/ 7 h 23"/>
                <a:gd name="T2" fmla="*/ 0 w 24"/>
                <a:gd name="T3" fmla="*/ 11 h 23"/>
                <a:gd name="T4" fmla="*/ 1 w 24"/>
                <a:gd name="T5" fmla="*/ 15 h 23"/>
                <a:gd name="T6" fmla="*/ 4 w 24"/>
                <a:gd name="T7" fmla="*/ 19 h 23"/>
                <a:gd name="T8" fmla="*/ 8 w 24"/>
                <a:gd name="T9" fmla="*/ 22 h 23"/>
                <a:gd name="T10" fmla="*/ 12 w 24"/>
                <a:gd name="T11" fmla="*/ 23 h 23"/>
                <a:gd name="T12" fmla="*/ 17 w 24"/>
                <a:gd name="T13" fmla="*/ 22 h 23"/>
                <a:gd name="T14" fmla="*/ 21 w 24"/>
                <a:gd name="T15" fmla="*/ 19 h 23"/>
                <a:gd name="T16" fmla="*/ 23 w 24"/>
                <a:gd name="T17" fmla="*/ 15 h 23"/>
                <a:gd name="T18" fmla="*/ 23 w 24"/>
                <a:gd name="T19" fmla="*/ 15 h 23"/>
                <a:gd name="T20" fmla="*/ 24 w 24"/>
                <a:gd name="T21" fmla="*/ 11 h 23"/>
                <a:gd name="T22" fmla="*/ 23 w 24"/>
                <a:gd name="T23" fmla="*/ 7 h 23"/>
                <a:gd name="T24" fmla="*/ 21 w 24"/>
                <a:gd name="T25" fmla="*/ 3 h 23"/>
                <a:gd name="T26" fmla="*/ 17 w 24"/>
                <a:gd name="T27" fmla="*/ 0 h 23"/>
                <a:gd name="T28" fmla="*/ 12 w 24"/>
                <a:gd name="T29" fmla="*/ 0 h 23"/>
                <a:gd name="T30" fmla="*/ 8 w 24"/>
                <a:gd name="T31" fmla="*/ 0 h 23"/>
                <a:gd name="T32" fmla="*/ 4 w 24"/>
                <a:gd name="T33" fmla="*/ 3 h 23"/>
                <a:gd name="T34" fmla="*/ 1 w 24"/>
                <a:gd name="T35" fmla="*/ 7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3">
                  <a:moveTo>
                    <a:pt x="1" y="7"/>
                  </a:moveTo>
                  <a:lnTo>
                    <a:pt x="0" y="11"/>
                  </a:lnTo>
                  <a:lnTo>
                    <a:pt x="1" y="15"/>
                  </a:lnTo>
                  <a:lnTo>
                    <a:pt x="4" y="19"/>
                  </a:lnTo>
                  <a:lnTo>
                    <a:pt x="8" y="22"/>
                  </a:lnTo>
                  <a:lnTo>
                    <a:pt x="12" y="23"/>
                  </a:lnTo>
                  <a:lnTo>
                    <a:pt x="17" y="22"/>
                  </a:lnTo>
                  <a:lnTo>
                    <a:pt x="21" y="19"/>
                  </a:lnTo>
                  <a:lnTo>
                    <a:pt x="23" y="15"/>
                  </a:lnTo>
                  <a:lnTo>
                    <a:pt x="23" y="15"/>
                  </a:lnTo>
                  <a:lnTo>
                    <a:pt x="24" y="11"/>
                  </a:lnTo>
                  <a:lnTo>
                    <a:pt x="23" y="7"/>
                  </a:lnTo>
                  <a:lnTo>
                    <a:pt x="21" y="3"/>
                  </a:lnTo>
                  <a:lnTo>
                    <a:pt x="17" y="0"/>
                  </a:lnTo>
                  <a:lnTo>
                    <a:pt x="12" y="0"/>
                  </a:lnTo>
                  <a:lnTo>
                    <a:pt x="8" y="0"/>
                  </a:lnTo>
                  <a:lnTo>
                    <a:pt x="4" y="3"/>
                  </a:lnTo>
                  <a:lnTo>
                    <a:pt x="1" y="7"/>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202" name="Freeform 200"/>
            <p:cNvSpPr>
              <a:spLocks/>
            </p:cNvSpPr>
            <p:nvPr/>
          </p:nvSpPr>
          <p:spPr bwMode="auto">
            <a:xfrm>
              <a:off x="2096" y="3112"/>
              <a:ext cx="20" cy="16"/>
            </a:xfrm>
            <a:custGeom>
              <a:avLst/>
              <a:gdLst>
                <a:gd name="T0" fmla="*/ 1 w 24"/>
                <a:gd name="T1" fmla="*/ 8 h 24"/>
                <a:gd name="T2" fmla="*/ 0 w 24"/>
                <a:gd name="T3" fmla="*/ 12 h 24"/>
                <a:gd name="T4" fmla="*/ 1 w 24"/>
                <a:gd name="T5" fmla="*/ 17 h 24"/>
                <a:gd name="T6" fmla="*/ 4 w 24"/>
                <a:gd name="T7" fmla="*/ 21 h 24"/>
                <a:gd name="T8" fmla="*/ 8 w 24"/>
                <a:gd name="T9" fmla="*/ 23 h 24"/>
                <a:gd name="T10" fmla="*/ 12 w 24"/>
                <a:gd name="T11" fmla="*/ 24 h 24"/>
                <a:gd name="T12" fmla="*/ 17 w 24"/>
                <a:gd name="T13" fmla="*/ 23 h 24"/>
                <a:gd name="T14" fmla="*/ 21 w 24"/>
                <a:gd name="T15" fmla="*/ 21 h 24"/>
                <a:gd name="T16" fmla="*/ 23 w 24"/>
                <a:gd name="T17" fmla="*/ 17 h 24"/>
                <a:gd name="T18" fmla="*/ 23 w 24"/>
                <a:gd name="T19" fmla="*/ 17 h 24"/>
                <a:gd name="T20" fmla="*/ 24 w 24"/>
                <a:gd name="T21" fmla="*/ 12 h 24"/>
                <a:gd name="T22" fmla="*/ 23 w 24"/>
                <a:gd name="T23" fmla="*/ 7 h 24"/>
                <a:gd name="T24" fmla="*/ 21 w 24"/>
                <a:gd name="T25" fmla="*/ 4 h 24"/>
                <a:gd name="T26" fmla="*/ 17 w 24"/>
                <a:gd name="T27" fmla="*/ 1 h 24"/>
                <a:gd name="T28" fmla="*/ 12 w 24"/>
                <a:gd name="T29" fmla="*/ 0 h 24"/>
                <a:gd name="T30" fmla="*/ 8 w 24"/>
                <a:gd name="T31" fmla="*/ 1 h 24"/>
                <a:gd name="T32" fmla="*/ 4 w 24"/>
                <a:gd name="T33" fmla="*/ 4 h 24"/>
                <a:gd name="T34" fmla="*/ 1 w 24"/>
                <a:gd name="T35" fmla="*/ 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1" y="8"/>
                  </a:moveTo>
                  <a:lnTo>
                    <a:pt x="0" y="12"/>
                  </a:lnTo>
                  <a:lnTo>
                    <a:pt x="1" y="17"/>
                  </a:lnTo>
                  <a:lnTo>
                    <a:pt x="4" y="21"/>
                  </a:lnTo>
                  <a:lnTo>
                    <a:pt x="8" y="23"/>
                  </a:lnTo>
                  <a:lnTo>
                    <a:pt x="12" y="24"/>
                  </a:lnTo>
                  <a:lnTo>
                    <a:pt x="17" y="23"/>
                  </a:lnTo>
                  <a:lnTo>
                    <a:pt x="21" y="21"/>
                  </a:lnTo>
                  <a:lnTo>
                    <a:pt x="23" y="17"/>
                  </a:lnTo>
                  <a:lnTo>
                    <a:pt x="23" y="17"/>
                  </a:lnTo>
                  <a:lnTo>
                    <a:pt x="24" y="12"/>
                  </a:lnTo>
                  <a:lnTo>
                    <a:pt x="23" y="7"/>
                  </a:lnTo>
                  <a:lnTo>
                    <a:pt x="21" y="4"/>
                  </a:lnTo>
                  <a:lnTo>
                    <a:pt x="17" y="1"/>
                  </a:lnTo>
                  <a:lnTo>
                    <a:pt x="12" y="0"/>
                  </a:lnTo>
                  <a:lnTo>
                    <a:pt x="8" y="1"/>
                  </a:lnTo>
                  <a:lnTo>
                    <a:pt x="4" y="4"/>
                  </a:lnTo>
                  <a:lnTo>
                    <a:pt x="1" y="8"/>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203" name="Freeform 201"/>
            <p:cNvSpPr>
              <a:spLocks/>
            </p:cNvSpPr>
            <p:nvPr/>
          </p:nvSpPr>
          <p:spPr bwMode="auto">
            <a:xfrm>
              <a:off x="2112" y="3083"/>
              <a:ext cx="20" cy="16"/>
            </a:xfrm>
            <a:custGeom>
              <a:avLst/>
              <a:gdLst>
                <a:gd name="T0" fmla="*/ 1 w 24"/>
                <a:gd name="T1" fmla="*/ 7 h 24"/>
                <a:gd name="T2" fmla="*/ 0 w 24"/>
                <a:gd name="T3" fmla="*/ 12 h 24"/>
                <a:gd name="T4" fmla="*/ 0 w 24"/>
                <a:gd name="T5" fmla="*/ 16 h 24"/>
                <a:gd name="T6" fmla="*/ 3 w 24"/>
                <a:gd name="T7" fmla="*/ 20 h 24"/>
                <a:gd name="T8" fmla="*/ 7 w 24"/>
                <a:gd name="T9" fmla="*/ 23 h 24"/>
                <a:gd name="T10" fmla="*/ 12 w 24"/>
                <a:gd name="T11" fmla="*/ 24 h 24"/>
                <a:gd name="T12" fmla="*/ 16 w 24"/>
                <a:gd name="T13" fmla="*/ 23 h 24"/>
                <a:gd name="T14" fmla="*/ 20 w 24"/>
                <a:gd name="T15" fmla="*/ 20 h 24"/>
                <a:gd name="T16" fmla="*/ 23 w 24"/>
                <a:gd name="T17" fmla="*/ 16 h 24"/>
                <a:gd name="T18" fmla="*/ 23 w 24"/>
                <a:gd name="T19" fmla="*/ 16 h 24"/>
                <a:gd name="T20" fmla="*/ 24 w 24"/>
                <a:gd name="T21" fmla="*/ 12 h 24"/>
                <a:gd name="T22" fmla="*/ 23 w 24"/>
                <a:gd name="T23" fmla="*/ 7 h 24"/>
                <a:gd name="T24" fmla="*/ 20 w 24"/>
                <a:gd name="T25" fmla="*/ 3 h 24"/>
                <a:gd name="T26" fmla="*/ 16 w 24"/>
                <a:gd name="T27" fmla="*/ 1 h 24"/>
                <a:gd name="T28" fmla="*/ 12 w 24"/>
                <a:gd name="T29" fmla="*/ 0 h 24"/>
                <a:gd name="T30" fmla="*/ 7 w 24"/>
                <a:gd name="T31" fmla="*/ 1 h 24"/>
                <a:gd name="T32" fmla="*/ 3 w 24"/>
                <a:gd name="T33" fmla="*/ 3 h 24"/>
                <a:gd name="T34" fmla="*/ 1 w 24"/>
                <a:gd name="T35" fmla="*/ 7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1" y="7"/>
                  </a:moveTo>
                  <a:lnTo>
                    <a:pt x="0" y="12"/>
                  </a:lnTo>
                  <a:lnTo>
                    <a:pt x="0" y="16"/>
                  </a:lnTo>
                  <a:lnTo>
                    <a:pt x="3" y="20"/>
                  </a:lnTo>
                  <a:lnTo>
                    <a:pt x="7" y="23"/>
                  </a:lnTo>
                  <a:lnTo>
                    <a:pt x="12" y="24"/>
                  </a:lnTo>
                  <a:lnTo>
                    <a:pt x="16" y="23"/>
                  </a:lnTo>
                  <a:lnTo>
                    <a:pt x="20" y="20"/>
                  </a:lnTo>
                  <a:lnTo>
                    <a:pt x="23" y="16"/>
                  </a:lnTo>
                  <a:lnTo>
                    <a:pt x="23" y="16"/>
                  </a:lnTo>
                  <a:lnTo>
                    <a:pt x="24" y="12"/>
                  </a:lnTo>
                  <a:lnTo>
                    <a:pt x="23" y="7"/>
                  </a:lnTo>
                  <a:lnTo>
                    <a:pt x="20" y="3"/>
                  </a:lnTo>
                  <a:lnTo>
                    <a:pt x="16" y="1"/>
                  </a:lnTo>
                  <a:lnTo>
                    <a:pt x="12" y="0"/>
                  </a:lnTo>
                  <a:lnTo>
                    <a:pt x="7" y="1"/>
                  </a:lnTo>
                  <a:lnTo>
                    <a:pt x="3" y="3"/>
                  </a:lnTo>
                  <a:lnTo>
                    <a:pt x="1" y="7"/>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204" name="Freeform 202"/>
            <p:cNvSpPr>
              <a:spLocks/>
            </p:cNvSpPr>
            <p:nvPr/>
          </p:nvSpPr>
          <p:spPr bwMode="auto">
            <a:xfrm>
              <a:off x="2127" y="3053"/>
              <a:ext cx="21" cy="16"/>
            </a:xfrm>
            <a:custGeom>
              <a:avLst/>
              <a:gdLst>
                <a:gd name="T0" fmla="*/ 1 w 24"/>
                <a:gd name="T1" fmla="*/ 8 h 24"/>
                <a:gd name="T2" fmla="*/ 0 w 24"/>
                <a:gd name="T3" fmla="*/ 12 h 24"/>
                <a:gd name="T4" fmla="*/ 1 w 24"/>
                <a:gd name="T5" fmla="*/ 17 h 24"/>
                <a:gd name="T6" fmla="*/ 3 w 24"/>
                <a:gd name="T7" fmla="*/ 21 h 24"/>
                <a:gd name="T8" fmla="*/ 7 w 24"/>
                <a:gd name="T9" fmla="*/ 23 h 24"/>
                <a:gd name="T10" fmla="*/ 12 w 24"/>
                <a:gd name="T11" fmla="*/ 24 h 24"/>
                <a:gd name="T12" fmla="*/ 16 w 24"/>
                <a:gd name="T13" fmla="*/ 23 h 24"/>
                <a:gd name="T14" fmla="*/ 20 w 24"/>
                <a:gd name="T15" fmla="*/ 21 h 24"/>
                <a:gd name="T16" fmla="*/ 23 w 24"/>
                <a:gd name="T17" fmla="*/ 17 h 24"/>
                <a:gd name="T18" fmla="*/ 23 w 24"/>
                <a:gd name="T19" fmla="*/ 17 h 24"/>
                <a:gd name="T20" fmla="*/ 24 w 24"/>
                <a:gd name="T21" fmla="*/ 12 h 24"/>
                <a:gd name="T22" fmla="*/ 23 w 24"/>
                <a:gd name="T23" fmla="*/ 7 h 24"/>
                <a:gd name="T24" fmla="*/ 20 w 24"/>
                <a:gd name="T25" fmla="*/ 4 h 24"/>
                <a:gd name="T26" fmla="*/ 16 w 24"/>
                <a:gd name="T27" fmla="*/ 1 h 24"/>
                <a:gd name="T28" fmla="*/ 12 w 24"/>
                <a:gd name="T29" fmla="*/ 0 h 24"/>
                <a:gd name="T30" fmla="*/ 7 w 24"/>
                <a:gd name="T31" fmla="*/ 1 h 24"/>
                <a:gd name="T32" fmla="*/ 3 w 24"/>
                <a:gd name="T33" fmla="*/ 4 h 24"/>
                <a:gd name="T34" fmla="*/ 1 w 24"/>
                <a:gd name="T35" fmla="*/ 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1" y="8"/>
                  </a:moveTo>
                  <a:lnTo>
                    <a:pt x="0" y="12"/>
                  </a:lnTo>
                  <a:lnTo>
                    <a:pt x="1" y="17"/>
                  </a:lnTo>
                  <a:lnTo>
                    <a:pt x="3" y="21"/>
                  </a:lnTo>
                  <a:lnTo>
                    <a:pt x="7" y="23"/>
                  </a:lnTo>
                  <a:lnTo>
                    <a:pt x="12" y="24"/>
                  </a:lnTo>
                  <a:lnTo>
                    <a:pt x="16" y="23"/>
                  </a:lnTo>
                  <a:lnTo>
                    <a:pt x="20" y="21"/>
                  </a:lnTo>
                  <a:lnTo>
                    <a:pt x="23" y="17"/>
                  </a:lnTo>
                  <a:lnTo>
                    <a:pt x="23" y="17"/>
                  </a:lnTo>
                  <a:lnTo>
                    <a:pt x="24" y="12"/>
                  </a:lnTo>
                  <a:lnTo>
                    <a:pt x="23" y="7"/>
                  </a:lnTo>
                  <a:lnTo>
                    <a:pt x="20" y="4"/>
                  </a:lnTo>
                  <a:lnTo>
                    <a:pt x="16" y="1"/>
                  </a:lnTo>
                  <a:lnTo>
                    <a:pt x="12" y="0"/>
                  </a:lnTo>
                  <a:lnTo>
                    <a:pt x="7" y="1"/>
                  </a:lnTo>
                  <a:lnTo>
                    <a:pt x="3" y="4"/>
                  </a:lnTo>
                  <a:lnTo>
                    <a:pt x="1" y="8"/>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205" name="Freeform 203"/>
            <p:cNvSpPr>
              <a:spLocks/>
            </p:cNvSpPr>
            <p:nvPr/>
          </p:nvSpPr>
          <p:spPr bwMode="auto">
            <a:xfrm>
              <a:off x="2142" y="3023"/>
              <a:ext cx="21" cy="16"/>
            </a:xfrm>
            <a:custGeom>
              <a:avLst/>
              <a:gdLst>
                <a:gd name="T0" fmla="*/ 1 w 24"/>
                <a:gd name="T1" fmla="*/ 7 h 24"/>
                <a:gd name="T2" fmla="*/ 0 w 24"/>
                <a:gd name="T3" fmla="*/ 12 h 24"/>
                <a:gd name="T4" fmla="*/ 1 w 24"/>
                <a:gd name="T5" fmla="*/ 16 h 24"/>
                <a:gd name="T6" fmla="*/ 3 w 24"/>
                <a:gd name="T7" fmla="*/ 20 h 24"/>
                <a:gd name="T8" fmla="*/ 7 w 24"/>
                <a:gd name="T9" fmla="*/ 23 h 24"/>
                <a:gd name="T10" fmla="*/ 12 w 24"/>
                <a:gd name="T11" fmla="*/ 24 h 24"/>
                <a:gd name="T12" fmla="*/ 16 w 24"/>
                <a:gd name="T13" fmla="*/ 23 h 24"/>
                <a:gd name="T14" fmla="*/ 20 w 24"/>
                <a:gd name="T15" fmla="*/ 20 h 24"/>
                <a:gd name="T16" fmla="*/ 23 w 24"/>
                <a:gd name="T17" fmla="*/ 16 h 24"/>
                <a:gd name="T18" fmla="*/ 23 w 24"/>
                <a:gd name="T19" fmla="*/ 16 h 24"/>
                <a:gd name="T20" fmla="*/ 24 w 24"/>
                <a:gd name="T21" fmla="*/ 12 h 24"/>
                <a:gd name="T22" fmla="*/ 23 w 24"/>
                <a:gd name="T23" fmla="*/ 7 h 24"/>
                <a:gd name="T24" fmla="*/ 20 w 24"/>
                <a:gd name="T25" fmla="*/ 3 h 24"/>
                <a:gd name="T26" fmla="*/ 16 w 24"/>
                <a:gd name="T27" fmla="*/ 1 h 24"/>
                <a:gd name="T28" fmla="*/ 12 w 24"/>
                <a:gd name="T29" fmla="*/ 0 h 24"/>
                <a:gd name="T30" fmla="*/ 7 w 24"/>
                <a:gd name="T31" fmla="*/ 1 h 24"/>
                <a:gd name="T32" fmla="*/ 3 w 24"/>
                <a:gd name="T33" fmla="*/ 3 h 24"/>
                <a:gd name="T34" fmla="*/ 1 w 24"/>
                <a:gd name="T35" fmla="*/ 7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1" y="7"/>
                  </a:moveTo>
                  <a:lnTo>
                    <a:pt x="0" y="12"/>
                  </a:lnTo>
                  <a:lnTo>
                    <a:pt x="1" y="16"/>
                  </a:lnTo>
                  <a:lnTo>
                    <a:pt x="3" y="20"/>
                  </a:lnTo>
                  <a:lnTo>
                    <a:pt x="7" y="23"/>
                  </a:lnTo>
                  <a:lnTo>
                    <a:pt x="12" y="24"/>
                  </a:lnTo>
                  <a:lnTo>
                    <a:pt x="16" y="23"/>
                  </a:lnTo>
                  <a:lnTo>
                    <a:pt x="20" y="20"/>
                  </a:lnTo>
                  <a:lnTo>
                    <a:pt x="23" y="16"/>
                  </a:lnTo>
                  <a:lnTo>
                    <a:pt x="23" y="16"/>
                  </a:lnTo>
                  <a:lnTo>
                    <a:pt x="24" y="12"/>
                  </a:lnTo>
                  <a:lnTo>
                    <a:pt x="23" y="7"/>
                  </a:lnTo>
                  <a:lnTo>
                    <a:pt x="20" y="3"/>
                  </a:lnTo>
                  <a:lnTo>
                    <a:pt x="16" y="1"/>
                  </a:lnTo>
                  <a:lnTo>
                    <a:pt x="12" y="0"/>
                  </a:lnTo>
                  <a:lnTo>
                    <a:pt x="7" y="1"/>
                  </a:lnTo>
                  <a:lnTo>
                    <a:pt x="3" y="3"/>
                  </a:lnTo>
                  <a:lnTo>
                    <a:pt x="1" y="7"/>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206" name="Freeform 204"/>
            <p:cNvSpPr>
              <a:spLocks/>
            </p:cNvSpPr>
            <p:nvPr/>
          </p:nvSpPr>
          <p:spPr bwMode="auto">
            <a:xfrm>
              <a:off x="2158" y="2993"/>
              <a:ext cx="20" cy="16"/>
            </a:xfrm>
            <a:custGeom>
              <a:avLst/>
              <a:gdLst>
                <a:gd name="T0" fmla="*/ 1 w 24"/>
                <a:gd name="T1" fmla="*/ 8 h 24"/>
                <a:gd name="T2" fmla="*/ 0 w 24"/>
                <a:gd name="T3" fmla="*/ 12 h 24"/>
                <a:gd name="T4" fmla="*/ 1 w 24"/>
                <a:gd name="T5" fmla="*/ 17 h 24"/>
                <a:gd name="T6" fmla="*/ 3 w 24"/>
                <a:gd name="T7" fmla="*/ 21 h 24"/>
                <a:gd name="T8" fmla="*/ 7 w 24"/>
                <a:gd name="T9" fmla="*/ 23 h 24"/>
                <a:gd name="T10" fmla="*/ 12 w 24"/>
                <a:gd name="T11" fmla="*/ 24 h 24"/>
                <a:gd name="T12" fmla="*/ 16 w 24"/>
                <a:gd name="T13" fmla="*/ 23 h 24"/>
                <a:gd name="T14" fmla="*/ 20 w 24"/>
                <a:gd name="T15" fmla="*/ 21 h 24"/>
                <a:gd name="T16" fmla="*/ 23 w 24"/>
                <a:gd name="T17" fmla="*/ 17 h 24"/>
                <a:gd name="T18" fmla="*/ 23 w 24"/>
                <a:gd name="T19" fmla="*/ 17 h 24"/>
                <a:gd name="T20" fmla="*/ 24 w 24"/>
                <a:gd name="T21" fmla="*/ 12 h 24"/>
                <a:gd name="T22" fmla="*/ 23 w 24"/>
                <a:gd name="T23" fmla="*/ 8 h 24"/>
                <a:gd name="T24" fmla="*/ 20 w 24"/>
                <a:gd name="T25" fmla="*/ 4 h 24"/>
                <a:gd name="T26" fmla="*/ 17 w 24"/>
                <a:gd name="T27" fmla="*/ 1 h 24"/>
                <a:gd name="T28" fmla="*/ 12 w 24"/>
                <a:gd name="T29" fmla="*/ 0 h 24"/>
                <a:gd name="T30" fmla="*/ 7 w 24"/>
                <a:gd name="T31" fmla="*/ 1 h 24"/>
                <a:gd name="T32" fmla="*/ 3 w 24"/>
                <a:gd name="T33" fmla="*/ 4 h 24"/>
                <a:gd name="T34" fmla="*/ 1 w 24"/>
                <a:gd name="T35" fmla="*/ 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1" y="8"/>
                  </a:moveTo>
                  <a:lnTo>
                    <a:pt x="0" y="12"/>
                  </a:lnTo>
                  <a:lnTo>
                    <a:pt x="1" y="17"/>
                  </a:lnTo>
                  <a:lnTo>
                    <a:pt x="3" y="21"/>
                  </a:lnTo>
                  <a:lnTo>
                    <a:pt x="7" y="23"/>
                  </a:lnTo>
                  <a:lnTo>
                    <a:pt x="12" y="24"/>
                  </a:lnTo>
                  <a:lnTo>
                    <a:pt x="16" y="23"/>
                  </a:lnTo>
                  <a:lnTo>
                    <a:pt x="20" y="21"/>
                  </a:lnTo>
                  <a:lnTo>
                    <a:pt x="23" y="17"/>
                  </a:lnTo>
                  <a:lnTo>
                    <a:pt x="23" y="17"/>
                  </a:lnTo>
                  <a:lnTo>
                    <a:pt x="24" y="12"/>
                  </a:lnTo>
                  <a:lnTo>
                    <a:pt x="23" y="8"/>
                  </a:lnTo>
                  <a:lnTo>
                    <a:pt x="20" y="4"/>
                  </a:lnTo>
                  <a:lnTo>
                    <a:pt x="17" y="1"/>
                  </a:lnTo>
                  <a:lnTo>
                    <a:pt x="12" y="0"/>
                  </a:lnTo>
                  <a:lnTo>
                    <a:pt x="7" y="1"/>
                  </a:lnTo>
                  <a:lnTo>
                    <a:pt x="3" y="4"/>
                  </a:lnTo>
                  <a:lnTo>
                    <a:pt x="1" y="8"/>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207" name="Freeform 205"/>
            <p:cNvSpPr>
              <a:spLocks/>
            </p:cNvSpPr>
            <p:nvPr/>
          </p:nvSpPr>
          <p:spPr bwMode="auto">
            <a:xfrm>
              <a:off x="2173" y="2964"/>
              <a:ext cx="20" cy="16"/>
            </a:xfrm>
            <a:custGeom>
              <a:avLst/>
              <a:gdLst>
                <a:gd name="T0" fmla="*/ 1 w 24"/>
                <a:gd name="T1" fmla="*/ 7 h 24"/>
                <a:gd name="T2" fmla="*/ 0 w 24"/>
                <a:gd name="T3" fmla="*/ 12 h 24"/>
                <a:gd name="T4" fmla="*/ 1 w 24"/>
                <a:gd name="T5" fmla="*/ 17 h 24"/>
                <a:gd name="T6" fmla="*/ 3 w 24"/>
                <a:gd name="T7" fmla="*/ 20 h 24"/>
                <a:gd name="T8" fmla="*/ 7 w 24"/>
                <a:gd name="T9" fmla="*/ 23 h 24"/>
                <a:gd name="T10" fmla="*/ 12 w 24"/>
                <a:gd name="T11" fmla="*/ 24 h 24"/>
                <a:gd name="T12" fmla="*/ 17 w 24"/>
                <a:gd name="T13" fmla="*/ 23 h 24"/>
                <a:gd name="T14" fmla="*/ 20 w 24"/>
                <a:gd name="T15" fmla="*/ 20 h 24"/>
                <a:gd name="T16" fmla="*/ 23 w 24"/>
                <a:gd name="T17" fmla="*/ 16 h 24"/>
                <a:gd name="T18" fmla="*/ 23 w 24"/>
                <a:gd name="T19" fmla="*/ 16 h 24"/>
                <a:gd name="T20" fmla="*/ 24 w 24"/>
                <a:gd name="T21" fmla="*/ 12 h 24"/>
                <a:gd name="T22" fmla="*/ 23 w 24"/>
                <a:gd name="T23" fmla="*/ 7 h 24"/>
                <a:gd name="T24" fmla="*/ 20 w 24"/>
                <a:gd name="T25" fmla="*/ 3 h 24"/>
                <a:gd name="T26" fmla="*/ 17 w 24"/>
                <a:gd name="T27" fmla="*/ 1 h 24"/>
                <a:gd name="T28" fmla="*/ 12 w 24"/>
                <a:gd name="T29" fmla="*/ 0 h 24"/>
                <a:gd name="T30" fmla="*/ 7 w 24"/>
                <a:gd name="T31" fmla="*/ 1 h 24"/>
                <a:gd name="T32" fmla="*/ 3 w 24"/>
                <a:gd name="T33" fmla="*/ 3 h 24"/>
                <a:gd name="T34" fmla="*/ 1 w 24"/>
                <a:gd name="T35" fmla="*/ 7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1" y="7"/>
                  </a:moveTo>
                  <a:lnTo>
                    <a:pt x="0" y="12"/>
                  </a:lnTo>
                  <a:lnTo>
                    <a:pt x="1" y="17"/>
                  </a:lnTo>
                  <a:lnTo>
                    <a:pt x="3" y="20"/>
                  </a:lnTo>
                  <a:lnTo>
                    <a:pt x="7" y="23"/>
                  </a:lnTo>
                  <a:lnTo>
                    <a:pt x="12" y="24"/>
                  </a:lnTo>
                  <a:lnTo>
                    <a:pt x="17" y="23"/>
                  </a:lnTo>
                  <a:lnTo>
                    <a:pt x="20" y="20"/>
                  </a:lnTo>
                  <a:lnTo>
                    <a:pt x="23" y="16"/>
                  </a:lnTo>
                  <a:lnTo>
                    <a:pt x="23" y="16"/>
                  </a:lnTo>
                  <a:lnTo>
                    <a:pt x="24" y="12"/>
                  </a:lnTo>
                  <a:lnTo>
                    <a:pt x="23" y="7"/>
                  </a:lnTo>
                  <a:lnTo>
                    <a:pt x="20" y="3"/>
                  </a:lnTo>
                  <a:lnTo>
                    <a:pt x="17" y="1"/>
                  </a:lnTo>
                  <a:lnTo>
                    <a:pt x="12" y="0"/>
                  </a:lnTo>
                  <a:lnTo>
                    <a:pt x="7" y="1"/>
                  </a:lnTo>
                  <a:lnTo>
                    <a:pt x="3" y="3"/>
                  </a:lnTo>
                  <a:lnTo>
                    <a:pt x="1" y="7"/>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208" name="Freeform 206"/>
            <p:cNvSpPr>
              <a:spLocks/>
            </p:cNvSpPr>
            <p:nvPr/>
          </p:nvSpPr>
          <p:spPr bwMode="auto">
            <a:xfrm>
              <a:off x="2188" y="2934"/>
              <a:ext cx="20" cy="16"/>
            </a:xfrm>
            <a:custGeom>
              <a:avLst/>
              <a:gdLst>
                <a:gd name="T0" fmla="*/ 1 w 24"/>
                <a:gd name="T1" fmla="*/ 8 h 24"/>
                <a:gd name="T2" fmla="*/ 0 w 24"/>
                <a:gd name="T3" fmla="*/ 12 h 24"/>
                <a:gd name="T4" fmla="*/ 1 w 24"/>
                <a:gd name="T5" fmla="*/ 17 h 24"/>
                <a:gd name="T6" fmla="*/ 3 w 24"/>
                <a:gd name="T7" fmla="*/ 21 h 24"/>
                <a:gd name="T8" fmla="*/ 7 w 24"/>
                <a:gd name="T9" fmla="*/ 23 h 24"/>
                <a:gd name="T10" fmla="*/ 12 w 24"/>
                <a:gd name="T11" fmla="*/ 24 h 24"/>
                <a:gd name="T12" fmla="*/ 17 w 24"/>
                <a:gd name="T13" fmla="*/ 23 h 24"/>
                <a:gd name="T14" fmla="*/ 20 w 24"/>
                <a:gd name="T15" fmla="*/ 21 h 24"/>
                <a:gd name="T16" fmla="*/ 23 w 24"/>
                <a:gd name="T17" fmla="*/ 17 h 24"/>
                <a:gd name="T18" fmla="*/ 23 w 24"/>
                <a:gd name="T19" fmla="*/ 17 h 24"/>
                <a:gd name="T20" fmla="*/ 24 w 24"/>
                <a:gd name="T21" fmla="*/ 12 h 24"/>
                <a:gd name="T22" fmla="*/ 23 w 24"/>
                <a:gd name="T23" fmla="*/ 8 h 24"/>
                <a:gd name="T24" fmla="*/ 21 w 24"/>
                <a:gd name="T25" fmla="*/ 4 h 24"/>
                <a:gd name="T26" fmla="*/ 17 w 24"/>
                <a:gd name="T27" fmla="*/ 1 h 24"/>
                <a:gd name="T28" fmla="*/ 12 w 24"/>
                <a:gd name="T29" fmla="*/ 0 h 24"/>
                <a:gd name="T30" fmla="*/ 7 w 24"/>
                <a:gd name="T31" fmla="*/ 1 h 24"/>
                <a:gd name="T32" fmla="*/ 4 w 24"/>
                <a:gd name="T33" fmla="*/ 4 h 24"/>
                <a:gd name="T34" fmla="*/ 1 w 24"/>
                <a:gd name="T35" fmla="*/ 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1" y="8"/>
                  </a:moveTo>
                  <a:lnTo>
                    <a:pt x="0" y="12"/>
                  </a:lnTo>
                  <a:lnTo>
                    <a:pt x="1" y="17"/>
                  </a:lnTo>
                  <a:lnTo>
                    <a:pt x="3" y="21"/>
                  </a:lnTo>
                  <a:lnTo>
                    <a:pt x="7" y="23"/>
                  </a:lnTo>
                  <a:lnTo>
                    <a:pt x="12" y="24"/>
                  </a:lnTo>
                  <a:lnTo>
                    <a:pt x="17" y="23"/>
                  </a:lnTo>
                  <a:lnTo>
                    <a:pt x="20" y="21"/>
                  </a:lnTo>
                  <a:lnTo>
                    <a:pt x="23" y="17"/>
                  </a:lnTo>
                  <a:lnTo>
                    <a:pt x="23" y="17"/>
                  </a:lnTo>
                  <a:lnTo>
                    <a:pt x="24" y="12"/>
                  </a:lnTo>
                  <a:lnTo>
                    <a:pt x="23" y="8"/>
                  </a:lnTo>
                  <a:lnTo>
                    <a:pt x="21" y="4"/>
                  </a:lnTo>
                  <a:lnTo>
                    <a:pt x="17" y="1"/>
                  </a:lnTo>
                  <a:lnTo>
                    <a:pt x="12" y="0"/>
                  </a:lnTo>
                  <a:lnTo>
                    <a:pt x="7" y="1"/>
                  </a:lnTo>
                  <a:lnTo>
                    <a:pt x="4" y="4"/>
                  </a:lnTo>
                  <a:lnTo>
                    <a:pt x="1" y="8"/>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209" name="Freeform 207"/>
            <p:cNvSpPr>
              <a:spLocks/>
            </p:cNvSpPr>
            <p:nvPr/>
          </p:nvSpPr>
          <p:spPr bwMode="auto">
            <a:xfrm>
              <a:off x="2203" y="2905"/>
              <a:ext cx="20" cy="16"/>
            </a:xfrm>
            <a:custGeom>
              <a:avLst/>
              <a:gdLst>
                <a:gd name="T0" fmla="*/ 1 w 24"/>
                <a:gd name="T1" fmla="*/ 7 h 24"/>
                <a:gd name="T2" fmla="*/ 0 w 24"/>
                <a:gd name="T3" fmla="*/ 12 h 24"/>
                <a:gd name="T4" fmla="*/ 1 w 24"/>
                <a:gd name="T5" fmla="*/ 17 h 24"/>
                <a:gd name="T6" fmla="*/ 4 w 24"/>
                <a:gd name="T7" fmla="*/ 20 h 24"/>
                <a:gd name="T8" fmla="*/ 7 w 24"/>
                <a:gd name="T9" fmla="*/ 23 h 24"/>
                <a:gd name="T10" fmla="*/ 12 w 24"/>
                <a:gd name="T11" fmla="*/ 24 h 24"/>
                <a:gd name="T12" fmla="*/ 17 w 24"/>
                <a:gd name="T13" fmla="*/ 23 h 24"/>
                <a:gd name="T14" fmla="*/ 21 w 24"/>
                <a:gd name="T15" fmla="*/ 20 h 24"/>
                <a:gd name="T16" fmla="*/ 23 w 24"/>
                <a:gd name="T17" fmla="*/ 16 h 24"/>
                <a:gd name="T18" fmla="*/ 23 w 24"/>
                <a:gd name="T19" fmla="*/ 16 h 24"/>
                <a:gd name="T20" fmla="*/ 24 w 24"/>
                <a:gd name="T21" fmla="*/ 12 h 24"/>
                <a:gd name="T22" fmla="*/ 23 w 24"/>
                <a:gd name="T23" fmla="*/ 7 h 24"/>
                <a:gd name="T24" fmla="*/ 21 w 24"/>
                <a:gd name="T25" fmla="*/ 3 h 24"/>
                <a:gd name="T26" fmla="*/ 17 w 24"/>
                <a:gd name="T27" fmla="*/ 1 h 24"/>
                <a:gd name="T28" fmla="*/ 12 w 24"/>
                <a:gd name="T29" fmla="*/ 0 h 24"/>
                <a:gd name="T30" fmla="*/ 7 w 24"/>
                <a:gd name="T31" fmla="*/ 1 h 24"/>
                <a:gd name="T32" fmla="*/ 4 w 24"/>
                <a:gd name="T33" fmla="*/ 3 h 24"/>
                <a:gd name="T34" fmla="*/ 1 w 24"/>
                <a:gd name="T35" fmla="*/ 7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1" y="7"/>
                  </a:moveTo>
                  <a:lnTo>
                    <a:pt x="0" y="12"/>
                  </a:lnTo>
                  <a:lnTo>
                    <a:pt x="1" y="17"/>
                  </a:lnTo>
                  <a:lnTo>
                    <a:pt x="4" y="20"/>
                  </a:lnTo>
                  <a:lnTo>
                    <a:pt x="7" y="23"/>
                  </a:lnTo>
                  <a:lnTo>
                    <a:pt x="12" y="24"/>
                  </a:lnTo>
                  <a:lnTo>
                    <a:pt x="17" y="23"/>
                  </a:lnTo>
                  <a:lnTo>
                    <a:pt x="21" y="20"/>
                  </a:lnTo>
                  <a:lnTo>
                    <a:pt x="23" y="16"/>
                  </a:lnTo>
                  <a:lnTo>
                    <a:pt x="23" y="16"/>
                  </a:lnTo>
                  <a:lnTo>
                    <a:pt x="24" y="12"/>
                  </a:lnTo>
                  <a:lnTo>
                    <a:pt x="23" y="7"/>
                  </a:lnTo>
                  <a:lnTo>
                    <a:pt x="21" y="3"/>
                  </a:lnTo>
                  <a:lnTo>
                    <a:pt x="17" y="1"/>
                  </a:lnTo>
                  <a:lnTo>
                    <a:pt x="12" y="0"/>
                  </a:lnTo>
                  <a:lnTo>
                    <a:pt x="7" y="1"/>
                  </a:lnTo>
                  <a:lnTo>
                    <a:pt x="4" y="3"/>
                  </a:lnTo>
                  <a:lnTo>
                    <a:pt x="1" y="7"/>
                  </a:lnTo>
                  <a:close/>
                </a:path>
              </a:pathLst>
            </a:custGeom>
            <a:solidFill>
              <a:srgbClr val="0033CC"/>
            </a:solidFill>
            <a:ln w="9525">
              <a:solidFill>
                <a:srgbClr val="0033CC"/>
              </a:solidFill>
              <a:round/>
              <a:headEnd/>
              <a:tailEnd/>
            </a:ln>
          </p:spPr>
          <p:txBody>
            <a:bodyPr/>
            <a:lstStyle/>
            <a:p>
              <a:endParaRPr lang="zh-CN" altLang="en-US">
                <a:ea typeface="楷体" panose="02010609060101010101" pitchFamily="49" charset="-122"/>
              </a:endParaRPr>
            </a:p>
          </p:txBody>
        </p:sp>
        <p:sp>
          <p:nvSpPr>
            <p:cNvPr id="210" name="Freeform 208"/>
            <p:cNvSpPr>
              <a:spLocks/>
            </p:cNvSpPr>
            <p:nvPr/>
          </p:nvSpPr>
          <p:spPr bwMode="auto">
            <a:xfrm>
              <a:off x="2218" y="2875"/>
              <a:ext cx="21" cy="16"/>
            </a:xfrm>
            <a:custGeom>
              <a:avLst/>
              <a:gdLst>
                <a:gd name="T0" fmla="*/ 1 w 24"/>
                <a:gd name="T1" fmla="*/ 8 h 24"/>
                <a:gd name="T2" fmla="*/ 0 w 24"/>
                <a:gd name="T3" fmla="*/ 12 h 24"/>
                <a:gd name="T4" fmla="*/ 1 w 24"/>
                <a:gd name="T5" fmla="*/ 17 h 24"/>
                <a:gd name="T6" fmla="*/ 4 w 24"/>
                <a:gd name="T7" fmla="*/ 21 h 24"/>
                <a:gd name="T8" fmla="*/ 7 w 24"/>
                <a:gd name="T9" fmla="*/ 24 h 24"/>
                <a:gd name="T10" fmla="*/ 12 w 24"/>
                <a:gd name="T11" fmla="*/ 24 h 24"/>
                <a:gd name="T12" fmla="*/ 17 w 24"/>
                <a:gd name="T13" fmla="*/ 24 h 24"/>
                <a:gd name="T14" fmla="*/ 21 w 24"/>
                <a:gd name="T15" fmla="*/ 21 h 24"/>
                <a:gd name="T16" fmla="*/ 23 w 24"/>
                <a:gd name="T17" fmla="*/ 17 h 24"/>
                <a:gd name="T18" fmla="*/ 23 w 24"/>
                <a:gd name="T19" fmla="*/ 17 h 24"/>
                <a:gd name="T20" fmla="*/ 24 w 24"/>
                <a:gd name="T21" fmla="*/ 12 h 24"/>
                <a:gd name="T22" fmla="*/ 23 w 24"/>
                <a:gd name="T23" fmla="*/ 8 h 24"/>
                <a:gd name="T24" fmla="*/ 21 w 24"/>
                <a:gd name="T25" fmla="*/ 4 h 24"/>
                <a:gd name="T26" fmla="*/ 17 w 24"/>
                <a:gd name="T27" fmla="*/ 1 h 24"/>
                <a:gd name="T28" fmla="*/ 12 w 24"/>
                <a:gd name="T29" fmla="*/ 0 h 24"/>
                <a:gd name="T30" fmla="*/ 8 w 24"/>
                <a:gd name="T31" fmla="*/ 1 h 24"/>
                <a:gd name="T32" fmla="*/ 4 w 24"/>
                <a:gd name="T33" fmla="*/ 4 h 24"/>
                <a:gd name="T34" fmla="*/ 1 w 24"/>
                <a:gd name="T35" fmla="*/ 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1" y="8"/>
                  </a:moveTo>
                  <a:lnTo>
                    <a:pt x="0" y="12"/>
                  </a:lnTo>
                  <a:lnTo>
                    <a:pt x="1" y="17"/>
                  </a:lnTo>
                  <a:lnTo>
                    <a:pt x="4" y="21"/>
                  </a:lnTo>
                  <a:lnTo>
                    <a:pt x="7" y="24"/>
                  </a:lnTo>
                  <a:lnTo>
                    <a:pt x="12" y="24"/>
                  </a:lnTo>
                  <a:lnTo>
                    <a:pt x="17" y="24"/>
                  </a:lnTo>
                  <a:lnTo>
                    <a:pt x="21" y="21"/>
                  </a:lnTo>
                  <a:lnTo>
                    <a:pt x="23" y="17"/>
                  </a:lnTo>
                  <a:lnTo>
                    <a:pt x="23" y="17"/>
                  </a:lnTo>
                  <a:lnTo>
                    <a:pt x="24" y="12"/>
                  </a:lnTo>
                  <a:lnTo>
                    <a:pt x="23" y="8"/>
                  </a:lnTo>
                  <a:lnTo>
                    <a:pt x="21" y="4"/>
                  </a:lnTo>
                  <a:lnTo>
                    <a:pt x="17" y="1"/>
                  </a:lnTo>
                  <a:lnTo>
                    <a:pt x="12" y="0"/>
                  </a:lnTo>
                  <a:lnTo>
                    <a:pt x="8" y="1"/>
                  </a:lnTo>
                  <a:lnTo>
                    <a:pt x="4" y="4"/>
                  </a:lnTo>
                  <a:lnTo>
                    <a:pt x="1" y="8"/>
                  </a:lnTo>
                  <a:close/>
                </a:path>
              </a:pathLst>
            </a:custGeom>
            <a:solidFill>
              <a:srgbClr val="0033CC"/>
            </a:solidFill>
            <a:ln>
              <a:noFill/>
            </a:ln>
            <a:extLst>
              <a:ext uri="{91240B29-F687-4F45-9708-019B960494DF}">
                <a14:hiddenLine xmlns:a14="http://schemas.microsoft.com/office/drawing/2010/main" w="9525">
                  <a:solidFill>
                    <a:srgbClr val="0033CC"/>
                  </a:solidFill>
                  <a:round/>
                  <a:headEnd/>
                  <a:tailEnd/>
                </a14:hiddenLine>
              </a:ext>
            </a:extLst>
          </p:spPr>
          <p:txBody>
            <a:bodyPr/>
            <a:lstStyle/>
            <a:p>
              <a:endParaRPr lang="zh-CN" altLang="en-US">
                <a:ea typeface="楷体" panose="02010609060101010101" pitchFamily="49" charset="-122"/>
              </a:endParaRPr>
            </a:p>
          </p:txBody>
        </p:sp>
        <p:sp>
          <p:nvSpPr>
            <p:cNvPr id="211" name="Freeform 209"/>
            <p:cNvSpPr>
              <a:spLocks/>
            </p:cNvSpPr>
            <p:nvPr/>
          </p:nvSpPr>
          <p:spPr bwMode="auto">
            <a:xfrm>
              <a:off x="2234" y="2846"/>
              <a:ext cx="20" cy="16"/>
            </a:xfrm>
            <a:custGeom>
              <a:avLst/>
              <a:gdLst>
                <a:gd name="T0" fmla="*/ 1 w 24"/>
                <a:gd name="T1" fmla="*/ 7 h 24"/>
                <a:gd name="T2" fmla="*/ 0 w 24"/>
                <a:gd name="T3" fmla="*/ 12 h 24"/>
                <a:gd name="T4" fmla="*/ 1 w 24"/>
                <a:gd name="T5" fmla="*/ 17 h 24"/>
                <a:gd name="T6" fmla="*/ 4 w 24"/>
                <a:gd name="T7" fmla="*/ 20 h 24"/>
                <a:gd name="T8" fmla="*/ 8 w 24"/>
                <a:gd name="T9" fmla="*/ 23 h 24"/>
                <a:gd name="T10" fmla="*/ 12 w 24"/>
                <a:gd name="T11" fmla="*/ 24 h 24"/>
                <a:gd name="T12" fmla="*/ 17 w 24"/>
                <a:gd name="T13" fmla="*/ 23 h 24"/>
                <a:gd name="T14" fmla="*/ 21 w 24"/>
                <a:gd name="T15" fmla="*/ 20 h 24"/>
                <a:gd name="T16" fmla="*/ 23 w 24"/>
                <a:gd name="T17" fmla="*/ 16 h 24"/>
                <a:gd name="T18" fmla="*/ 23 w 24"/>
                <a:gd name="T19" fmla="*/ 16 h 24"/>
                <a:gd name="T20" fmla="*/ 24 w 24"/>
                <a:gd name="T21" fmla="*/ 12 h 24"/>
                <a:gd name="T22" fmla="*/ 23 w 24"/>
                <a:gd name="T23" fmla="*/ 7 h 24"/>
                <a:gd name="T24" fmla="*/ 21 w 24"/>
                <a:gd name="T25" fmla="*/ 3 h 24"/>
                <a:gd name="T26" fmla="*/ 17 w 24"/>
                <a:gd name="T27" fmla="*/ 1 h 24"/>
                <a:gd name="T28" fmla="*/ 12 w 24"/>
                <a:gd name="T29" fmla="*/ 0 h 24"/>
                <a:gd name="T30" fmla="*/ 8 w 24"/>
                <a:gd name="T31" fmla="*/ 1 h 24"/>
                <a:gd name="T32" fmla="*/ 4 w 24"/>
                <a:gd name="T33" fmla="*/ 3 h 24"/>
                <a:gd name="T34" fmla="*/ 1 w 24"/>
                <a:gd name="T35" fmla="*/ 7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1" y="7"/>
                  </a:moveTo>
                  <a:lnTo>
                    <a:pt x="0" y="12"/>
                  </a:lnTo>
                  <a:lnTo>
                    <a:pt x="1" y="17"/>
                  </a:lnTo>
                  <a:lnTo>
                    <a:pt x="4" y="20"/>
                  </a:lnTo>
                  <a:lnTo>
                    <a:pt x="8" y="23"/>
                  </a:lnTo>
                  <a:lnTo>
                    <a:pt x="12" y="24"/>
                  </a:lnTo>
                  <a:lnTo>
                    <a:pt x="17" y="23"/>
                  </a:lnTo>
                  <a:lnTo>
                    <a:pt x="21" y="20"/>
                  </a:lnTo>
                  <a:lnTo>
                    <a:pt x="23" y="16"/>
                  </a:lnTo>
                  <a:lnTo>
                    <a:pt x="23" y="16"/>
                  </a:lnTo>
                  <a:lnTo>
                    <a:pt x="24" y="12"/>
                  </a:lnTo>
                  <a:lnTo>
                    <a:pt x="23" y="7"/>
                  </a:lnTo>
                  <a:lnTo>
                    <a:pt x="21" y="3"/>
                  </a:lnTo>
                  <a:lnTo>
                    <a:pt x="17" y="1"/>
                  </a:lnTo>
                  <a:lnTo>
                    <a:pt x="12" y="0"/>
                  </a:lnTo>
                  <a:lnTo>
                    <a:pt x="8" y="1"/>
                  </a:lnTo>
                  <a:lnTo>
                    <a:pt x="4" y="3"/>
                  </a:lnTo>
                  <a:lnTo>
                    <a:pt x="1" y="7"/>
                  </a:lnTo>
                  <a:close/>
                </a:path>
              </a:pathLst>
            </a:custGeom>
            <a:solidFill>
              <a:srgbClr val="0033CC"/>
            </a:solidFill>
            <a:ln>
              <a:noFill/>
            </a:ln>
            <a:extLst>
              <a:ext uri="{91240B29-F687-4F45-9708-019B960494DF}">
                <a14:hiddenLine xmlns:a14="http://schemas.microsoft.com/office/drawing/2010/main" w="9525">
                  <a:solidFill>
                    <a:srgbClr val="0033CC"/>
                  </a:solidFill>
                  <a:round/>
                  <a:headEnd/>
                  <a:tailEnd/>
                </a14:hiddenLine>
              </a:ext>
            </a:extLst>
          </p:spPr>
          <p:txBody>
            <a:bodyPr/>
            <a:lstStyle/>
            <a:p>
              <a:endParaRPr lang="zh-CN" altLang="en-US">
                <a:ea typeface="楷体" panose="02010609060101010101" pitchFamily="49" charset="-122"/>
              </a:endParaRPr>
            </a:p>
          </p:txBody>
        </p:sp>
        <p:sp>
          <p:nvSpPr>
            <p:cNvPr id="212" name="Freeform 210"/>
            <p:cNvSpPr>
              <a:spLocks/>
            </p:cNvSpPr>
            <p:nvPr/>
          </p:nvSpPr>
          <p:spPr bwMode="auto">
            <a:xfrm>
              <a:off x="2249" y="2816"/>
              <a:ext cx="20" cy="16"/>
            </a:xfrm>
            <a:custGeom>
              <a:avLst/>
              <a:gdLst>
                <a:gd name="T0" fmla="*/ 1 w 24"/>
                <a:gd name="T1" fmla="*/ 7 h 24"/>
                <a:gd name="T2" fmla="*/ 0 w 24"/>
                <a:gd name="T3" fmla="*/ 12 h 24"/>
                <a:gd name="T4" fmla="*/ 1 w 24"/>
                <a:gd name="T5" fmla="*/ 16 h 24"/>
                <a:gd name="T6" fmla="*/ 4 w 24"/>
                <a:gd name="T7" fmla="*/ 20 h 24"/>
                <a:gd name="T8" fmla="*/ 8 w 24"/>
                <a:gd name="T9" fmla="*/ 23 h 24"/>
                <a:gd name="T10" fmla="*/ 12 w 24"/>
                <a:gd name="T11" fmla="*/ 24 h 24"/>
                <a:gd name="T12" fmla="*/ 17 w 24"/>
                <a:gd name="T13" fmla="*/ 23 h 24"/>
                <a:gd name="T14" fmla="*/ 21 w 24"/>
                <a:gd name="T15" fmla="*/ 20 h 24"/>
                <a:gd name="T16" fmla="*/ 23 w 24"/>
                <a:gd name="T17" fmla="*/ 16 h 24"/>
                <a:gd name="T18" fmla="*/ 23 w 24"/>
                <a:gd name="T19" fmla="*/ 16 h 24"/>
                <a:gd name="T20" fmla="*/ 24 w 24"/>
                <a:gd name="T21" fmla="*/ 12 h 24"/>
                <a:gd name="T22" fmla="*/ 23 w 24"/>
                <a:gd name="T23" fmla="*/ 7 h 24"/>
                <a:gd name="T24" fmla="*/ 21 w 24"/>
                <a:gd name="T25" fmla="*/ 3 h 24"/>
                <a:gd name="T26" fmla="*/ 17 w 24"/>
                <a:gd name="T27" fmla="*/ 0 h 24"/>
                <a:gd name="T28" fmla="*/ 12 w 24"/>
                <a:gd name="T29" fmla="*/ 0 h 24"/>
                <a:gd name="T30" fmla="*/ 8 w 24"/>
                <a:gd name="T31" fmla="*/ 0 h 24"/>
                <a:gd name="T32" fmla="*/ 4 w 24"/>
                <a:gd name="T33" fmla="*/ 3 h 24"/>
                <a:gd name="T34" fmla="*/ 1 w 24"/>
                <a:gd name="T35" fmla="*/ 7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1" y="7"/>
                  </a:moveTo>
                  <a:lnTo>
                    <a:pt x="0" y="12"/>
                  </a:lnTo>
                  <a:lnTo>
                    <a:pt x="1" y="16"/>
                  </a:lnTo>
                  <a:lnTo>
                    <a:pt x="4" y="20"/>
                  </a:lnTo>
                  <a:lnTo>
                    <a:pt x="8" y="23"/>
                  </a:lnTo>
                  <a:lnTo>
                    <a:pt x="12" y="24"/>
                  </a:lnTo>
                  <a:lnTo>
                    <a:pt x="17" y="23"/>
                  </a:lnTo>
                  <a:lnTo>
                    <a:pt x="21" y="20"/>
                  </a:lnTo>
                  <a:lnTo>
                    <a:pt x="23" y="16"/>
                  </a:lnTo>
                  <a:lnTo>
                    <a:pt x="23" y="16"/>
                  </a:lnTo>
                  <a:lnTo>
                    <a:pt x="24" y="12"/>
                  </a:lnTo>
                  <a:lnTo>
                    <a:pt x="23" y="7"/>
                  </a:lnTo>
                  <a:lnTo>
                    <a:pt x="21" y="3"/>
                  </a:lnTo>
                  <a:lnTo>
                    <a:pt x="17" y="0"/>
                  </a:lnTo>
                  <a:lnTo>
                    <a:pt x="12" y="0"/>
                  </a:lnTo>
                  <a:lnTo>
                    <a:pt x="8" y="0"/>
                  </a:lnTo>
                  <a:lnTo>
                    <a:pt x="4" y="3"/>
                  </a:lnTo>
                  <a:lnTo>
                    <a:pt x="1" y="7"/>
                  </a:lnTo>
                  <a:close/>
                </a:path>
              </a:pathLst>
            </a:custGeom>
            <a:solidFill>
              <a:srgbClr val="0033CC"/>
            </a:solidFill>
            <a:ln>
              <a:noFill/>
            </a:ln>
            <a:extLst>
              <a:ext uri="{91240B29-F687-4F45-9708-019B960494DF}">
                <a14:hiddenLine xmlns:a14="http://schemas.microsoft.com/office/drawing/2010/main" w="9525">
                  <a:solidFill>
                    <a:srgbClr val="0033CC"/>
                  </a:solidFill>
                  <a:round/>
                  <a:headEnd/>
                  <a:tailEnd/>
                </a14:hiddenLine>
              </a:ext>
            </a:extLst>
          </p:spPr>
          <p:txBody>
            <a:bodyPr/>
            <a:lstStyle/>
            <a:p>
              <a:endParaRPr lang="zh-CN" altLang="en-US">
                <a:ea typeface="楷体" panose="02010609060101010101" pitchFamily="49" charset="-122"/>
              </a:endParaRPr>
            </a:p>
          </p:txBody>
        </p:sp>
        <p:sp>
          <p:nvSpPr>
            <p:cNvPr id="213" name="Freeform 211"/>
            <p:cNvSpPr>
              <a:spLocks/>
            </p:cNvSpPr>
            <p:nvPr/>
          </p:nvSpPr>
          <p:spPr bwMode="auto">
            <a:xfrm>
              <a:off x="2264" y="2786"/>
              <a:ext cx="20" cy="16"/>
            </a:xfrm>
            <a:custGeom>
              <a:avLst/>
              <a:gdLst>
                <a:gd name="T0" fmla="*/ 1 w 24"/>
                <a:gd name="T1" fmla="*/ 8 h 24"/>
                <a:gd name="T2" fmla="*/ 0 w 24"/>
                <a:gd name="T3" fmla="*/ 12 h 24"/>
                <a:gd name="T4" fmla="*/ 1 w 24"/>
                <a:gd name="T5" fmla="*/ 17 h 24"/>
                <a:gd name="T6" fmla="*/ 4 w 24"/>
                <a:gd name="T7" fmla="*/ 21 h 24"/>
                <a:gd name="T8" fmla="*/ 8 w 24"/>
                <a:gd name="T9" fmla="*/ 23 h 24"/>
                <a:gd name="T10" fmla="*/ 12 w 24"/>
                <a:gd name="T11" fmla="*/ 24 h 24"/>
                <a:gd name="T12" fmla="*/ 17 w 24"/>
                <a:gd name="T13" fmla="*/ 23 h 24"/>
                <a:gd name="T14" fmla="*/ 21 w 24"/>
                <a:gd name="T15" fmla="*/ 21 h 24"/>
                <a:gd name="T16" fmla="*/ 23 w 24"/>
                <a:gd name="T17" fmla="*/ 17 h 24"/>
                <a:gd name="T18" fmla="*/ 23 w 24"/>
                <a:gd name="T19" fmla="*/ 17 h 24"/>
                <a:gd name="T20" fmla="*/ 24 w 24"/>
                <a:gd name="T21" fmla="*/ 12 h 24"/>
                <a:gd name="T22" fmla="*/ 24 w 24"/>
                <a:gd name="T23" fmla="*/ 7 h 24"/>
                <a:gd name="T24" fmla="*/ 21 w 24"/>
                <a:gd name="T25" fmla="*/ 4 h 24"/>
                <a:gd name="T26" fmla="*/ 17 w 24"/>
                <a:gd name="T27" fmla="*/ 1 h 24"/>
                <a:gd name="T28" fmla="*/ 12 w 24"/>
                <a:gd name="T29" fmla="*/ 0 h 24"/>
                <a:gd name="T30" fmla="*/ 8 w 24"/>
                <a:gd name="T31" fmla="*/ 1 h 24"/>
                <a:gd name="T32" fmla="*/ 4 w 24"/>
                <a:gd name="T33" fmla="*/ 4 h 24"/>
                <a:gd name="T34" fmla="*/ 1 w 24"/>
                <a:gd name="T35" fmla="*/ 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24">
                  <a:moveTo>
                    <a:pt x="1" y="8"/>
                  </a:moveTo>
                  <a:lnTo>
                    <a:pt x="0" y="12"/>
                  </a:lnTo>
                  <a:lnTo>
                    <a:pt x="1" y="17"/>
                  </a:lnTo>
                  <a:lnTo>
                    <a:pt x="4" y="21"/>
                  </a:lnTo>
                  <a:lnTo>
                    <a:pt x="8" y="23"/>
                  </a:lnTo>
                  <a:lnTo>
                    <a:pt x="12" y="24"/>
                  </a:lnTo>
                  <a:lnTo>
                    <a:pt x="17" y="23"/>
                  </a:lnTo>
                  <a:lnTo>
                    <a:pt x="21" y="21"/>
                  </a:lnTo>
                  <a:lnTo>
                    <a:pt x="23" y="17"/>
                  </a:lnTo>
                  <a:lnTo>
                    <a:pt x="23" y="17"/>
                  </a:lnTo>
                  <a:lnTo>
                    <a:pt x="24" y="12"/>
                  </a:lnTo>
                  <a:lnTo>
                    <a:pt x="24" y="7"/>
                  </a:lnTo>
                  <a:lnTo>
                    <a:pt x="21" y="4"/>
                  </a:lnTo>
                  <a:lnTo>
                    <a:pt x="17" y="1"/>
                  </a:lnTo>
                  <a:lnTo>
                    <a:pt x="12" y="0"/>
                  </a:lnTo>
                  <a:lnTo>
                    <a:pt x="8" y="1"/>
                  </a:lnTo>
                  <a:lnTo>
                    <a:pt x="4" y="4"/>
                  </a:lnTo>
                  <a:lnTo>
                    <a:pt x="1" y="8"/>
                  </a:lnTo>
                  <a:close/>
                </a:path>
              </a:pathLst>
            </a:custGeom>
            <a:solidFill>
              <a:srgbClr val="0033CC"/>
            </a:solidFill>
            <a:ln>
              <a:noFill/>
            </a:ln>
            <a:extLst>
              <a:ext uri="{91240B29-F687-4F45-9708-019B960494DF}">
                <a14:hiddenLine xmlns:a14="http://schemas.microsoft.com/office/drawing/2010/main" w="9525">
                  <a:solidFill>
                    <a:srgbClr val="0033CC"/>
                  </a:solidFill>
                  <a:round/>
                  <a:headEnd/>
                  <a:tailEnd/>
                </a14:hiddenLine>
              </a:ext>
            </a:extLst>
          </p:spPr>
          <p:txBody>
            <a:bodyPr/>
            <a:lstStyle/>
            <a:p>
              <a:endParaRPr lang="zh-CN" altLang="en-US">
                <a:ea typeface="楷体" panose="02010609060101010101" pitchFamily="49" charset="-122"/>
              </a:endParaRPr>
            </a:p>
          </p:txBody>
        </p:sp>
        <p:sp>
          <p:nvSpPr>
            <p:cNvPr id="214" name="Freeform 212"/>
            <p:cNvSpPr>
              <a:spLocks/>
            </p:cNvSpPr>
            <p:nvPr/>
          </p:nvSpPr>
          <p:spPr bwMode="auto">
            <a:xfrm>
              <a:off x="2248" y="2701"/>
              <a:ext cx="83" cy="79"/>
            </a:xfrm>
            <a:custGeom>
              <a:avLst/>
              <a:gdLst>
                <a:gd name="T0" fmla="*/ 99 w 99"/>
                <a:gd name="T1" fmla="*/ 119 h 119"/>
                <a:gd name="T2" fmla="*/ 89 w 99"/>
                <a:gd name="T3" fmla="*/ 0 h 119"/>
                <a:gd name="T4" fmla="*/ 0 w 99"/>
                <a:gd name="T5" fmla="*/ 79 h 119"/>
                <a:gd name="T6" fmla="*/ 99 w 99"/>
                <a:gd name="T7" fmla="*/ 119 h 119"/>
              </a:gdLst>
              <a:ahLst/>
              <a:cxnLst>
                <a:cxn ang="0">
                  <a:pos x="T0" y="T1"/>
                </a:cxn>
                <a:cxn ang="0">
                  <a:pos x="T2" y="T3"/>
                </a:cxn>
                <a:cxn ang="0">
                  <a:pos x="T4" y="T5"/>
                </a:cxn>
                <a:cxn ang="0">
                  <a:pos x="T6" y="T7"/>
                </a:cxn>
              </a:cxnLst>
              <a:rect l="0" t="0" r="r" b="b"/>
              <a:pathLst>
                <a:path w="99" h="119">
                  <a:moveTo>
                    <a:pt x="99" y="119"/>
                  </a:moveTo>
                  <a:lnTo>
                    <a:pt x="89" y="0"/>
                  </a:lnTo>
                  <a:lnTo>
                    <a:pt x="0" y="79"/>
                  </a:lnTo>
                  <a:lnTo>
                    <a:pt x="99" y="119"/>
                  </a:lnTo>
                  <a:close/>
                </a:path>
              </a:pathLst>
            </a:custGeom>
            <a:solidFill>
              <a:srgbClr val="0033CC"/>
            </a:solidFill>
            <a:ln>
              <a:noFill/>
            </a:ln>
            <a:extLst>
              <a:ext uri="{91240B29-F687-4F45-9708-019B960494DF}">
                <a14:hiddenLine xmlns:a14="http://schemas.microsoft.com/office/drawing/2010/main" w="9525">
                  <a:solidFill>
                    <a:srgbClr val="0033CC"/>
                  </a:solidFill>
                  <a:round/>
                  <a:headEnd/>
                  <a:tailEnd/>
                </a14:hiddenLine>
              </a:ext>
            </a:extLst>
          </p:spPr>
          <p:txBody>
            <a:bodyPr/>
            <a:lstStyle/>
            <a:p>
              <a:endParaRPr lang="zh-CN" altLang="en-US">
                <a:ea typeface="楷体" panose="02010609060101010101" pitchFamily="49" charset="-122"/>
              </a:endParaRPr>
            </a:p>
          </p:txBody>
        </p:sp>
        <p:sp>
          <p:nvSpPr>
            <p:cNvPr id="215" name="Rectangle 213"/>
            <p:cNvSpPr>
              <a:spLocks noChangeArrowheads="1"/>
            </p:cNvSpPr>
            <p:nvPr/>
          </p:nvSpPr>
          <p:spPr bwMode="auto">
            <a:xfrm>
              <a:off x="2923" y="1839"/>
              <a:ext cx="10" cy="926"/>
            </a:xfrm>
            <a:prstGeom prst="rect">
              <a:avLst/>
            </a:prstGeom>
            <a:solidFill>
              <a:srgbClr val="0033CC"/>
            </a:solidFill>
            <a:ln w="9525">
              <a:solidFill>
                <a:srgbClr val="0033CC"/>
              </a:solidFill>
              <a:miter lim="800000"/>
              <a:headEnd/>
              <a:tailEnd/>
            </a:ln>
          </p:spPr>
          <p:txBody>
            <a:bodyPr/>
            <a:lstStyle/>
            <a:p>
              <a:endParaRPr lang="zh-CN" altLang="en-US">
                <a:ea typeface="楷体" panose="02010609060101010101" pitchFamily="49" charset="-122"/>
              </a:endParaRPr>
            </a:p>
          </p:txBody>
        </p:sp>
        <p:sp>
          <p:nvSpPr>
            <p:cNvPr id="216" name="Rectangle 214"/>
            <p:cNvSpPr>
              <a:spLocks noChangeArrowheads="1"/>
            </p:cNvSpPr>
            <p:nvPr/>
          </p:nvSpPr>
          <p:spPr bwMode="auto">
            <a:xfrm>
              <a:off x="4348" y="1609"/>
              <a:ext cx="639" cy="166"/>
            </a:xfrm>
            <a:prstGeom prst="rect">
              <a:avLst/>
            </a:prstGeom>
            <a:solidFill>
              <a:srgbClr val="FFCCFF"/>
            </a:solidFill>
            <a:ln>
              <a:noFill/>
            </a:ln>
            <a:extLst>
              <a:ext uri="{91240B29-F687-4F45-9708-019B960494DF}">
                <a14:hiddenLine xmlns:a14="http://schemas.microsoft.com/office/drawing/2010/main" w="9525">
                  <a:solidFill>
                    <a:srgbClr val="0033CC"/>
                  </a:solidFill>
                  <a:miter lim="800000"/>
                  <a:headEnd/>
                  <a:tailEnd/>
                </a14:hiddenLine>
              </a:ext>
            </a:extLst>
          </p:spPr>
          <p:txBody>
            <a:bodyPr/>
            <a:lstStyle/>
            <a:p>
              <a:endParaRPr lang="zh-CN" altLang="en-US">
                <a:ea typeface="楷体" panose="02010609060101010101" pitchFamily="49" charset="-122"/>
              </a:endParaRPr>
            </a:p>
          </p:txBody>
        </p:sp>
        <p:sp>
          <p:nvSpPr>
            <p:cNvPr id="217" name="Rectangle 215"/>
            <p:cNvSpPr>
              <a:spLocks noChangeArrowheads="1"/>
            </p:cNvSpPr>
            <p:nvPr/>
          </p:nvSpPr>
          <p:spPr bwMode="auto">
            <a:xfrm>
              <a:off x="4397" y="1646"/>
              <a:ext cx="51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20000"/>
                </a:spcBef>
              </a:pPr>
              <a:r>
                <a:rPr lang="zh-CN" altLang="en-US" sz="1600" b="1">
                  <a:ea typeface="楷体" panose="02010609060101010101" pitchFamily="49" charset="-122"/>
                </a:rPr>
                <a:t>操作系统</a:t>
              </a:r>
            </a:p>
          </p:txBody>
        </p:sp>
      </p:grpSp>
    </p:spTree>
    <p:extLst>
      <p:ext uri="{BB962C8B-B14F-4D97-AF65-F5344CB8AC3E}">
        <p14:creationId xmlns:p14="http://schemas.microsoft.com/office/powerpoint/2010/main" val="3884498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简单段式管理</a:t>
            </a:r>
          </a:p>
        </p:txBody>
      </p:sp>
      <p:sp>
        <p:nvSpPr>
          <p:cNvPr id="3" name="Content Placeholder 2"/>
          <p:cNvSpPr>
            <a:spLocks noGrp="1"/>
          </p:cNvSpPr>
          <p:nvPr>
            <p:ph idx="1"/>
          </p:nvPr>
        </p:nvSpPr>
        <p:spPr/>
        <p:txBody>
          <a:bodyPr/>
          <a:lstStyle/>
          <a:p>
            <a:r>
              <a:rPr lang="zh-CN" altLang="en-US" dirty="0"/>
              <a:t>需要的数据结构</a:t>
            </a:r>
            <a:endParaRPr lang="en-US" altLang="zh-CN" dirty="0"/>
          </a:p>
          <a:p>
            <a:pPr lvl="1"/>
            <a:r>
              <a:rPr lang="zh-CN" altLang="en-US" dirty="0"/>
              <a:t>进程段表：记录所有段的段基址和段长度</a:t>
            </a:r>
            <a:endParaRPr lang="en-US" altLang="zh-CN" dirty="0"/>
          </a:p>
          <a:p>
            <a:pPr lvl="1"/>
            <a:r>
              <a:rPr lang="zh-CN" altLang="en-US" dirty="0"/>
              <a:t>系统段表：系统内所有的段</a:t>
            </a:r>
            <a:endParaRPr lang="en-US" altLang="zh-CN" dirty="0"/>
          </a:p>
          <a:p>
            <a:pPr lvl="1"/>
            <a:r>
              <a:rPr lang="zh-CN" altLang="en-US" dirty="0"/>
              <a:t>空闲段表：所有空闲段</a:t>
            </a:r>
          </a:p>
        </p:txBody>
      </p:sp>
      <p:sp>
        <p:nvSpPr>
          <p:cNvPr id="4" name="Date Placeholder 3"/>
          <p:cNvSpPr>
            <a:spLocks noGrp="1"/>
          </p:cNvSpPr>
          <p:nvPr>
            <p:ph type="dt" sz="half" idx="10"/>
          </p:nvPr>
        </p:nvSpPr>
        <p:spPr/>
        <p:txBody>
          <a:bodyPr/>
          <a:lstStyle/>
          <a:p>
            <a:fld id="{0D980ACF-0988-4FD3-94DB-785EBE5B86FD}"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73</a:t>
            </a:fld>
            <a:endParaRPr lang="zh-CN" altLang="en-US" dirty="0"/>
          </a:p>
        </p:txBody>
      </p:sp>
    </p:spTree>
    <p:extLst>
      <p:ext uri="{BB962C8B-B14F-4D97-AF65-F5344CB8AC3E}">
        <p14:creationId xmlns:p14="http://schemas.microsoft.com/office/powerpoint/2010/main" val="3450015818"/>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简单段式管理</a:t>
            </a:r>
          </a:p>
        </p:txBody>
      </p:sp>
      <p:sp>
        <p:nvSpPr>
          <p:cNvPr id="4" name="Date Placeholder 3"/>
          <p:cNvSpPr>
            <a:spLocks noGrp="1"/>
          </p:cNvSpPr>
          <p:nvPr>
            <p:ph type="dt" sz="half" idx="10"/>
          </p:nvPr>
        </p:nvSpPr>
        <p:spPr/>
        <p:txBody>
          <a:bodyPr/>
          <a:lstStyle/>
          <a:p>
            <a:fld id="{E64FF126-B21A-468A-B605-2534ED9205AC}"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74</a:t>
            </a:fld>
            <a:endParaRPr lang="zh-CN" altLang="en-US" dirty="0"/>
          </a:p>
        </p:txBody>
      </p:sp>
      <p:sp>
        <p:nvSpPr>
          <p:cNvPr id="7" name="Rectangle 73"/>
          <p:cNvSpPr>
            <a:spLocks noChangeArrowheads="1"/>
          </p:cNvSpPr>
          <p:nvPr/>
        </p:nvSpPr>
        <p:spPr bwMode="auto">
          <a:xfrm>
            <a:off x="1198613" y="2480519"/>
            <a:ext cx="2065337" cy="447675"/>
          </a:xfrm>
          <a:prstGeom prst="rect">
            <a:avLst/>
          </a:prstGeom>
          <a:solidFill>
            <a:srgbClr val="FFCCFF"/>
          </a:solidFill>
          <a:ln w="9525">
            <a:solidFill>
              <a:schemeClr val="tx1"/>
            </a:solidFill>
            <a:miter lim="800000"/>
            <a:headEnd/>
            <a:tailEnd/>
          </a:ln>
        </p:spPr>
        <p:txBody>
          <a:bodyPr/>
          <a:lstStyle/>
          <a:p>
            <a:endParaRPr lang="zh-CN" altLang="en-US" sz="2000">
              <a:ea typeface="楷体" panose="02010609060101010101" pitchFamily="49" charset="-122"/>
            </a:endParaRPr>
          </a:p>
        </p:txBody>
      </p:sp>
      <p:sp>
        <p:nvSpPr>
          <p:cNvPr id="8" name="Freeform 74"/>
          <p:cNvSpPr>
            <a:spLocks noEditPoints="1"/>
          </p:cNvSpPr>
          <p:nvPr/>
        </p:nvSpPr>
        <p:spPr bwMode="auto">
          <a:xfrm>
            <a:off x="1182738" y="2480519"/>
            <a:ext cx="2065337" cy="447675"/>
          </a:xfrm>
          <a:custGeom>
            <a:avLst/>
            <a:gdLst>
              <a:gd name="T0" fmla="*/ 0 w 1319"/>
              <a:gd name="T1" fmla="*/ 294 h 294"/>
              <a:gd name="T2" fmla="*/ 1319 w 1319"/>
              <a:gd name="T3" fmla="*/ 294 h 294"/>
              <a:gd name="T4" fmla="*/ 0 w 1319"/>
              <a:gd name="T5" fmla="*/ 294 h 294"/>
              <a:gd name="T6" fmla="*/ 0 w 1319"/>
              <a:gd name="T7" fmla="*/ 0 h 294"/>
              <a:gd name="T8" fmla="*/ 1319 w 1319"/>
              <a:gd name="T9" fmla="*/ 0 h 294"/>
              <a:gd name="T10" fmla="*/ 0 w 1319"/>
              <a:gd name="T11" fmla="*/ 0 h 294"/>
            </a:gdLst>
            <a:ahLst/>
            <a:cxnLst>
              <a:cxn ang="0">
                <a:pos x="T0" y="T1"/>
              </a:cxn>
              <a:cxn ang="0">
                <a:pos x="T2" y="T3"/>
              </a:cxn>
              <a:cxn ang="0">
                <a:pos x="T4" y="T5"/>
              </a:cxn>
              <a:cxn ang="0">
                <a:pos x="T6" y="T7"/>
              </a:cxn>
              <a:cxn ang="0">
                <a:pos x="T8" y="T9"/>
              </a:cxn>
              <a:cxn ang="0">
                <a:pos x="T10" y="T11"/>
              </a:cxn>
            </a:cxnLst>
            <a:rect l="0" t="0" r="r" b="b"/>
            <a:pathLst>
              <a:path w="1319" h="294">
                <a:moveTo>
                  <a:pt x="0" y="294"/>
                </a:moveTo>
                <a:lnTo>
                  <a:pt x="1319" y="294"/>
                </a:lnTo>
                <a:lnTo>
                  <a:pt x="0" y="294"/>
                </a:lnTo>
                <a:close/>
                <a:moveTo>
                  <a:pt x="0" y="0"/>
                </a:moveTo>
                <a:lnTo>
                  <a:pt x="131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000">
              <a:ea typeface="楷体" panose="02010609060101010101" pitchFamily="49" charset="-122"/>
            </a:endParaRPr>
          </a:p>
        </p:txBody>
      </p:sp>
      <p:sp>
        <p:nvSpPr>
          <p:cNvPr id="9" name="Rectangle 79"/>
          <p:cNvSpPr>
            <a:spLocks noChangeArrowheads="1"/>
          </p:cNvSpPr>
          <p:nvPr/>
        </p:nvSpPr>
        <p:spPr bwMode="auto">
          <a:xfrm>
            <a:off x="1520875" y="2539256"/>
            <a:ext cx="154850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2000" b="1">
                <a:solidFill>
                  <a:srgbClr val="000000"/>
                </a:solidFill>
                <a:ea typeface="楷体" panose="02010609060101010101" pitchFamily="49" charset="-122"/>
              </a:rPr>
              <a:t>段表起始地址</a:t>
            </a:r>
            <a:endParaRPr lang="zh-CN" altLang="en-US" sz="2000" b="1">
              <a:ea typeface="楷体" panose="02010609060101010101" pitchFamily="49" charset="-122"/>
            </a:endParaRPr>
          </a:p>
        </p:txBody>
      </p:sp>
      <p:sp>
        <p:nvSpPr>
          <p:cNvPr id="10" name="Rectangle 80"/>
          <p:cNvSpPr>
            <a:spLocks noChangeArrowheads="1"/>
          </p:cNvSpPr>
          <p:nvPr/>
        </p:nvSpPr>
        <p:spPr bwMode="auto">
          <a:xfrm>
            <a:off x="1387525" y="2132856"/>
            <a:ext cx="180658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2000" b="1">
                <a:solidFill>
                  <a:srgbClr val="000000"/>
                </a:solidFill>
                <a:ea typeface="楷体" panose="02010609060101010101" pitchFamily="49" charset="-122"/>
              </a:rPr>
              <a:t>段表地址寄存器</a:t>
            </a:r>
            <a:endParaRPr lang="zh-CN" altLang="en-US" sz="2000" b="1">
              <a:ea typeface="楷体" panose="02010609060101010101" pitchFamily="49" charset="-122"/>
            </a:endParaRPr>
          </a:p>
        </p:txBody>
      </p:sp>
      <p:sp>
        <p:nvSpPr>
          <p:cNvPr id="11" name="Rectangle 81"/>
          <p:cNvSpPr>
            <a:spLocks noChangeArrowheads="1"/>
          </p:cNvSpPr>
          <p:nvPr/>
        </p:nvSpPr>
        <p:spPr bwMode="auto">
          <a:xfrm>
            <a:off x="1535163" y="4326781"/>
            <a:ext cx="103233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2000" b="1">
                <a:solidFill>
                  <a:srgbClr val="000000"/>
                </a:solidFill>
                <a:ea typeface="楷体" panose="02010609060101010101" pitchFamily="49" charset="-122"/>
              </a:rPr>
              <a:t>虚拟地址</a:t>
            </a:r>
            <a:endParaRPr lang="zh-CN" altLang="en-US" sz="2000" b="1">
              <a:ea typeface="楷体" panose="02010609060101010101" pitchFamily="49" charset="-122"/>
            </a:endParaRPr>
          </a:p>
        </p:txBody>
      </p:sp>
      <p:sp>
        <p:nvSpPr>
          <p:cNvPr id="12" name="Rectangle 82"/>
          <p:cNvSpPr>
            <a:spLocks noChangeArrowheads="1"/>
          </p:cNvSpPr>
          <p:nvPr/>
        </p:nvSpPr>
        <p:spPr bwMode="auto">
          <a:xfrm>
            <a:off x="971600" y="4712544"/>
            <a:ext cx="917575" cy="447675"/>
          </a:xfrm>
          <a:prstGeom prst="rect">
            <a:avLst/>
          </a:prstGeom>
          <a:solidFill>
            <a:srgbClr val="FFCCFF"/>
          </a:solidFill>
          <a:ln w="6350">
            <a:solidFill>
              <a:srgbClr val="000000"/>
            </a:solidFill>
            <a:miter lim="800000"/>
            <a:headEnd/>
            <a:tailEnd/>
          </a:ln>
        </p:spPr>
        <p:txBody>
          <a:bodyPr/>
          <a:lstStyle/>
          <a:p>
            <a:endParaRPr lang="zh-CN" altLang="en-US" sz="2000">
              <a:ea typeface="楷体" panose="02010609060101010101" pitchFamily="49" charset="-122"/>
            </a:endParaRPr>
          </a:p>
        </p:txBody>
      </p:sp>
      <p:sp>
        <p:nvSpPr>
          <p:cNvPr id="13" name="Rectangle 83"/>
          <p:cNvSpPr>
            <a:spLocks noChangeArrowheads="1"/>
          </p:cNvSpPr>
          <p:nvPr/>
        </p:nvSpPr>
        <p:spPr bwMode="auto">
          <a:xfrm>
            <a:off x="1351013" y="4769694"/>
            <a:ext cx="12984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1">
                <a:solidFill>
                  <a:srgbClr val="000000"/>
                </a:solidFill>
                <a:ea typeface="楷体" panose="02010609060101010101" pitchFamily="49" charset="-122"/>
              </a:rPr>
              <a:t>1</a:t>
            </a:r>
            <a:endParaRPr lang="en-US" altLang="zh-CN" sz="2000" b="1">
              <a:ea typeface="楷体" panose="02010609060101010101" pitchFamily="49" charset="-122"/>
            </a:endParaRPr>
          </a:p>
        </p:txBody>
      </p:sp>
      <p:sp>
        <p:nvSpPr>
          <p:cNvPr id="14" name="Rectangle 84"/>
          <p:cNvSpPr>
            <a:spLocks noChangeArrowheads="1"/>
          </p:cNvSpPr>
          <p:nvPr/>
        </p:nvSpPr>
        <p:spPr bwMode="auto">
          <a:xfrm>
            <a:off x="1889175" y="4712544"/>
            <a:ext cx="1444625" cy="447675"/>
          </a:xfrm>
          <a:prstGeom prst="rect">
            <a:avLst/>
          </a:prstGeom>
          <a:solidFill>
            <a:srgbClr val="FFCCFF"/>
          </a:solidFill>
          <a:ln w="6350">
            <a:solidFill>
              <a:srgbClr val="000000"/>
            </a:solidFill>
            <a:miter lim="800000"/>
            <a:headEnd/>
            <a:tailEnd/>
          </a:ln>
        </p:spPr>
        <p:txBody>
          <a:bodyPr/>
          <a:lstStyle/>
          <a:p>
            <a:endParaRPr lang="zh-CN" altLang="en-US" sz="2000">
              <a:ea typeface="楷体" panose="02010609060101010101" pitchFamily="49" charset="-122"/>
            </a:endParaRPr>
          </a:p>
        </p:txBody>
      </p:sp>
      <p:sp>
        <p:nvSpPr>
          <p:cNvPr id="15" name="Rectangle 85"/>
          <p:cNvSpPr>
            <a:spLocks noChangeArrowheads="1"/>
          </p:cNvSpPr>
          <p:nvPr/>
        </p:nvSpPr>
        <p:spPr bwMode="auto">
          <a:xfrm>
            <a:off x="2379713" y="4769694"/>
            <a:ext cx="39594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1">
                <a:solidFill>
                  <a:srgbClr val="000000"/>
                </a:solidFill>
                <a:ea typeface="楷体" panose="02010609060101010101" pitchFamily="49" charset="-122"/>
              </a:rPr>
              <a:t>1C4</a:t>
            </a:r>
            <a:endParaRPr lang="en-US" altLang="zh-CN" sz="2000" b="1">
              <a:ea typeface="楷体" panose="02010609060101010101" pitchFamily="49" charset="-122"/>
            </a:endParaRPr>
          </a:p>
        </p:txBody>
      </p:sp>
      <p:sp>
        <p:nvSpPr>
          <p:cNvPr id="16" name="Rectangle 86"/>
          <p:cNvSpPr>
            <a:spLocks noChangeArrowheads="1"/>
          </p:cNvSpPr>
          <p:nvPr/>
        </p:nvSpPr>
        <p:spPr bwMode="auto">
          <a:xfrm>
            <a:off x="1135113" y="5218956"/>
            <a:ext cx="51616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2000" b="1">
                <a:solidFill>
                  <a:srgbClr val="000000"/>
                </a:solidFill>
                <a:ea typeface="楷体" panose="02010609060101010101" pitchFamily="49" charset="-122"/>
              </a:rPr>
              <a:t>段号</a:t>
            </a:r>
            <a:endParaRPr lang="zh-CN" altLang="en-US" sz="2000" b="1">
              <a:ea typeface="楷体" panose="02010609060101010101" pitchFamily="49" charset="-122"/>
            </a:endParaRPr>
          </a:p>
        </p:txBody>
      </p:sp>
      <p:sp>
        <p:nvSpPr>
          <p:cNvPr id="17" name="Rectangle 87"/>
          <p:cNvSpPr>
            <a:spLocks noChangeArrowheads="1"/>
          </p:cNvSpPr>
          <p:nvPr/>
        </p:nvSpPr>
        <p:spPr bwMode="auto">
          <a:xfrm>
            <a:off x="2030463" y="5218956"/>
            <a:ext cx="103233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2000" b="1">
                <a:solidFill>
                  <a:srgbClr val="000000"/>
                </a:solidFill>
                <a:ea typeface="楷体" panose="02010609060101010101" pitchFamily="49" charset="-122"/>
              </a:rPr>
              <a:t>段内地址</a:t>
            </a:r>
            <a:endParaRPr lang="zh-CN" altLang="en-US" sz="2000" b="1">
              <a:ea typeface="楷体" panose="02010609060101010101" pitchFamily="49" charset="-122"/>
            </a:endParaRPr>
          </a:p>
        </p:txBody>
      </p:sp>
      <p:sp>
        <p:nvSpPr>
          <p:cNvPr id="18" name="Rectangle 88"/>
          <p:cNvSpPr>
            <a:spLocks noChangeArrowheads="1"/>
          </p:cNvSpPr>
          <p:nvPr/>
        </p:nvSpPr>
        <p:spPr bwMode="auto">
          <a:xfrm>
            <a:off x="4083100" y="2539256"/>
            <a:ext cx="51616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2000" b="1">
                <a:solidFill>
                  <a:srgbClr val="000000"/>
                </a:solidFill>
                <a:ea typeface="楷体" panose="02010609060101010101" pitchFamily="49" charset="-122"/>
              </a:rPr>
              <a:t>段表</a:t>
            </a:r>
            <a:endParaRPr lang="zh-CN" altLang="en-US" sz="2000" b="1">
              <a:ea typeface="楷体" panose="02010609060101010101" pitchFamily="49" charset="-122"/>
            </a:endParaRPr>
          </a:p>
        </p:txBody>
      </p:sp>
      <p:sp>
        <p:nvSpPr>
          <p:cNvPr id="19" name="Rectangle 89"/>
          <p:cNvSpPr>
            <a:spLocks noChangeArrowheads="1"/>
          </p:cNvSpPr>
          <p:nvPr/>
        </p:nvSpPr>
        <p:spPr bwMode="auto">
          <a:xfrm>
            <a:off x="3584625" y="2928194"/>
            <a:ext cx="919163" cy="447675"/>
          </a:xfrm>
          <a:prstGeom prst="rect">
            <a:avLst/>
          </a:prstGeom>
          <a:solidFill>
            <a:schemeClr val="hlink"/>
          </a:solidFill>
          <a:ln w="6350">
            <a:solidFill>
              <a:srgbClr val="000000"/>
            </a:solidFill>
            <a:miter lim="800000"/>
            <a:headEnd/>
            <a:tailEnd/>
          </a:ln>
        </p:spPr>
        <p:txBody>
          <a:bodyPr/>
          <a:lstStyle/>
          <a:p>
            <a:endParaRPr lang="zh-CN" altLang="en-US" sz="2000">
              <a:ea typeface="楷体" panose="02010609060101010101" pitchFamily="49" charset="-122"/>
            </a:endParaRPr>
          </a:p>
        </p:txBody>
      </p:sp>
      <p:sp>
        <p:nvSpPr>
          <p:cNvPr id="20" name="Rectangle 90"/>
          <p:cNvSpPr>
            <a:spLocks noChangeArrowheads="1"/>
          </p:cNvSpPr>
          <p:nvPr/>
        </p:nvSpPr>
        <p:spPr bwMode="auto">
          <a:xfrm>
            <a:off x="3737025" y="2988519"/>
            <a:ext cx="51616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2000" b="1">
                <a:solidFill>
                  <a:srgbClr val="000000"/>
                </a:solidFill>
                <a:ea typeface="楷体" panose="02010609060101010101" pitchFamily="49" charset="-122"/>
              </a:rPr>
              <a:t>段号</a:t>
            </a:r>
            <a:endParaRPr lang="zh-CN" altLang="en-US" sz="2000" b="1">
              <a:ea typeface="楷体" panose="02010609060101010101" pitchFamily="49" charset="-122"/>
            </a:endParaRPr>
          </a:p>
        </p:txBody>
      </p:sp>
      <p:sp>
        <p:nvSpPr>
          <p:cNvPr id="21" name="Rectangle 91"/>
          <p:cNvSpPr>
            <a:spLocks noChangeArrowheads="1"/>
          </p:cNvSpPr>
          <p:nvPr/>
        </p:nvSpPr>
        <p:spPr bwMode="auto">
          <a:xfrm>
            <a:off x="4503788" y="2928194"/>
            <a:ext cx="1149350" cy="447675"/>
          </a:xfrm>
          <a:prstGeom prst="rect">
            <a:avLst/>
          </a:prstGeom>
          <a:solidFill>
            <a:schemeClr val="hlink"/>
          </a:solidFill>
          <a:ln w="6350">
            <a:solidFill>
              <a:srgbClr val="000000"/>
            </a:solidFill>
            <a:miter lim="800000"/>
            <a:headEnd/>
            <a:tailEnd/>
          </a:ln>
        </p:spPr>
        <p:txBody>
          <a:bodyPr/>
          <a:lstStyle/>
          <a:p>
            <a:endParaRPr lang="zh-CN" altLang="en-US" sz="2000">
              <a:ea typeface="楷体" panose="02010609060101010101" pitchFamily="49" charset="-122"/>
            </a:endParaRPr>
          </a:p>
        </p:txBody>
      </p:sp>
      <p:sp>
        <p:nvSpPr>
          <p:cNvPr id="22" name="Rectangle 92"/>
          <p:cNvSpPr>
            <a:spLocks noChangeArrowheads="1"/>
          </p:cNvSpPr>
          <p:nvPr/>
        </p:nvSpPr>
        <p:spPr bwMode="auto">
          <a:xfrm>
            <a:off x="4772075" y="2988519"/>
            <a:ext cx="51616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2000" b="1">
                <a:solidFill>
                  <a:srgbClr val="000000"/>
                </a:solidFill>
                <a:ea typeface="楷体" panose="02010609060101010101" pitchFamily="49" charset="-122"/>
              </a:rPr>
              <a:t>始址</a:t>
            </a:r>
            <a:endParaRPr lang="zh-CN" altLang="en-US" sz="2000" b="1">
              <a:ea typeface="楷体" panose="02010609060101010101" pitchFamily="49" charset="-122"/>
            </a:endParaRPr>
          </a:p>
        </p:txBody>
      </p:sp>
      <p:sp>
        <p:nvSpPr>
          <p:cNvPr id="23" name="Rectangle 93"/>
          <p:cNvSpPr>
            <a:spLocks noChangeArrowheads="1"/>
          </p:cNvSpPr>
          <p:nvPr/>
        </p:nvSpPr>
        <p:spPr bwMode="auto">
          <a:xfrm>
            <a:off x="3584625" y="3375869"/>
            <a:ext cx="919163" cy="446087"/>
          </a:xfrm>
          <a:prstGeom prst="rect">
            <a:avLst/>
          </a:prstGeom>
          <a:solidFill>
            <a:schemeClr val="hlink"/>
          </a:solidFill>
          <a:ln w="6350">
            <a:solidFill>
              <a:srgbClr val="000000"/>
            </a:solidFill>
            <a:miter lim="800000"/>
            <a:headEnd/>
            <a:tailEnd/>
          </a:ln>
        </p:spPr>
        <p:txBody>
          <a:bodyPr/>
          <a:lstStyle/>
          <a:p>
            <a:endParaRPr lang="zh-CN" altLang="en-US" sz="2000">
              <a:ea typeface="楷体" panose="02010609060101010101" pitchFamily="49" charset="-122"/>
            </a:endParaRPr>
          </a:p>
        </p:txBody>
      </p:sp>
      <p:sp>
        <p:nvSpPr>
          <p:cNvPr id="24" name="Rectangle 94"/>
          <p:cNvSpPr>
            <a:spLocks noChangeArrowheads="1"/>
          </p:cNvSpPr>
          <p:nvPr/>
        </p:nvSpPr>
        <p:spPr bwMode="auto">
          <a:xfrm>
            <a:off x="3967213" y="3431431"/>
            <a:ext cx="12984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1">
                <a:solidFill>
                  <a:srgbClr val="000000"/>
                </a:solidFill>
                <a:ea typeface="楷体" panose="02010609060101010101" pitchFamily="49" charset="-122"/>
              </a:rPr>
              <a:t>0</a:t>
            </a:r>
            <a:endParaRPr lang="en-US" altLang="zh-CN" sz="2000" b="1">
              <a:ea typeface="楷体" panose="02010609060101010101" pitchFamily="49" charset="-122"/>
            </a:endParaRPr>
          </a:p>
        </p:txBody>
      </p:sp>
      <p:sp>
        <p:nvSpPr>
          <p:cNvPr id="25" name="Rectangle 95"/>
          <p:cNvSpPr>
            <a:spLocks noChangeArrowheads="1"/>
          </p:cNvSpPr>
          <p:nvPr/>
        </p:nvSpPr>
        <p:spPr bwMode="auto">
          <a:xfrm>
            <a:off x="4503788" y="3375869"/>
            <a:ext cx="1149350" cy="446087"/>
          </a:xfrm>
          <a:prstGeom prst="rect">
            <a:avLst/>
          </a:prstGeom>
          <a:solidFill>
            <a:schemeClr val="hlink"/>
          </a:solidFill>
          <a:ln w="6350">
            <a:solidFill>
              <a:srgbClr val="000000"/>
            </a:solidFill>
            <a:miter lim="800000"/>
            <a:headEnd/>
            <a:tailEnd/>
          </a:ln>
        </p:spPr>
        <p:txBody>
          <a:bodyPr/>
          <a:lstStyle/>
          <a:p>
            <a:endParaRPr lang="zh-CN" altLang="en-US" sz="2000">
              <a:ea typeface="楷体" panose="02010609060101010101" pitchFamily="49" charset="-122"/>
            </a:endParaRPr>
          </a:p>
        </p:txBody>
      </p:sp>
      <p:sp>
        <p:nvSpPr>
          <p:cNvPr id="26" name="Rectangle 96"/>
          <p:cNvSpPr>
            <a:spLocks noChangeArrowheads="1"/>
          </p:cNvSpPr>
          <p:nvPr/>
        </p:nvSpPr>
        <p:spPr bwMode="auto">
          <a:xfrm>
            <a:off x="4772075" y="3431431"/>
            <a:ext cx="51937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1">
                <a:solidFill>
                  <a:srgbClr val="000000"/>
                </a:solidFill>
                <a:ea typeface="楷体" panose="02010609060101010101" pitchFamily="49" charset="-122"/>
              </a:rPr>
              <a:t>1500</a:t>
            </a:r>
            <a:endParaRPr lang="en-US" altLang="zh-CN" sz="2000" b="1">
              <a:ea typeface="楷体" panose="02010609060101010101" pitchFamily="49" charset="-122"/>
            </a:endParaRPr>
          </a:p>
        </p:txBody>
      </p:sp>
      <p:sp>
        <p:nvSpPr>
          <p:cNvPr id="27" name="Rectangle 97"/>
          <p:cNvSpPr>
            <a:spLocks noChangeArrowheads="1"/>
          </p:cNvSpPr>
          <p:nvPr/>
        </p:nvSpPr>
        <p:spPr bwMode="auto">
          <a:xfrm>
            <a:off x="3584625" y="3821956"/>
            <a:ext cx="919163" cy="446088"/>
          </a:xfrm>
          <a:prstGeom prst="rect">
            <a:avLst/>
          </a:prstGeom>
          <a:solidFill>
            <a:schemeClr val="hlink"/>
          </a:solidFill>
          <a:ln w="6350">
            <a:solidFill>
              <a:srgbClr val="000000"/>
            </a:solidFill>
            <a:miter lim="800000"/>
            <a:headEnd/>
            <a:tailEnd/>
          </a:ln>
        </p:spPr>
        <p:txBody>
          <a:bodyPr/>
          <a:lstStyle/>
          <a:p>
            <a:endParaRPr lang="zh-CN" altLang="en-US" sz="2000">
              <a:ea typeface="楷体" panose="02010609060101010101" pitchFamily="49" charset="-122"/>
            </a:endParaRPr>
          </a:p>
        </p:txBody>
      </p:sp>
      <p:sp>
        <p:nvSpPr>
          <p:cNvPr id="28" name="Rectangle 98"/>
          <p:cNvSpPr>
            <a:spLocks noChangeArrowheads="1"/>
          </p:cNvSpPr>
          <p:nvPr/>
        </p:nvSpPr>
        <p:spPr bwMode="auto">
          <a:xfrm>
            <a:off x="3967213" y="3879106"/>
            <a:ext cx="12984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1">
                <a:solidFill>
                  <a:srgbClr val="000000"/>
                </a:solidFill>
                <a:ea typeface="楷体" panose="02010609060101010101" pitchFamily="49" charset="-122"/>
              </a:rPr>
              <a:t>1</a:t>
            </a:r>
            <a:endParaRPr lang="en-US" altLang="zh-CN" sz="2000" b="1">
              <a:ea typeface="楷体" panose="02010609060101010101" pitchFamily="49" charset="-122"/>
            </a:endParaRPr>
          </a:p>
        </p:txBody>
      </p:sp>
      <p:sp>
        <p:nvSpPr>
          <p:cNvPr id="29" name="Rectangle 99"/>
          <p:cNvSpPr>
            <a:spLocks noChangeArrowheads="1"/>
          </p:cNvSpPr>
          <p:nvPr/>
        </p:nvSpPr>
        <p:spPr bwMode="auto">
          <a:xfrm>
            <a:off x="4503788" y="3821956"/>
            <a:ext cx="1149350" cy="446088"/>
          </a:xfrm>
          <a:prstGeom prst="rect">
            <a:avLst/>
          </a:prstGeom>
          <a:solidFill>
            <a:schemeClr val="hlink"/>
          </a:solidFill>
          <a:ln w="6350">
            <a:solidFill>
              <a:srgbClr val="000000"/>
            </a:solidFill>
            <a:miter lim="800000"/>
            <a:headEnd/>
            <a:tailEnd/>
          </a:ln>
        </p:spPr>
        <p:txBody>
          <a:bodyPr/>
          <a:lstStyle/>
          <a:p>
            <a:endParaRPr lang="zh-CN" altLang="en-US" sz="2000">
              <a:ea typeface="楷体" panose="02010609060101010101" pitchFamily="49" charset="-122"/>
            </a:endParaRPr>
          </a:p>
        </p:txBody>
      </p:sp>
      <p:sp>
        <p:nvSpPr>
          <p:cNvPr id="30" name="Rectangle 100"/>
          <p:cNvSpPr>
            <a:spLocks noChangeArrowheads="1"/>
          </p:cNvSpPr>
          <p:nvPr/>
        </p:nvSpPr>
        <p:spPr bwMode="auto">
          <a:xfrm>
            <a:off x="4772075" y="3879106"/>
            <a:ext cx="51937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1">
                <a:solidFill>
                  <a:srgbClr val="000000"/>
                </a:solidFill>
                <a:ea typeface="楷体" panose="02010609060101010101" pitchFamily="49" charset="-122"/>
              </a:rPr>
              <a:t>3400</a:t>
            </a:r>
            <a:endParaRPr lang="en-US" altLang="zh-CN" sz="2000" b="1">
              <a:ea typeface="楷体" panose="02010609060101010101" pitchFamily="49" charset="-122"/>
            </a:endParaRPr>
          </a:p>
        </p:txBody>
      </p:sp>
      <p:sp>
        <p:nvSpPr>
          <p:cNvPr id="31" name="Rectangle 115"/>
          <p:cNvSpPr>
            <a:spLocks noChangeArrowheads="1"/>
          </p:cNvSpPr>
          <p:nvPr/>
        </p:nvSpPr>
        <p:spPr bwMode="auto">
          <a:xfrm>
            <a:off x="7602588" y="2591644"/>
            <a:ext cx="458787" cy="2684462"/>
          </a:xfrm>
          <a:prstGeom prst="rect">
            <a:avLst/>
          </a:prstGeom>
          <a:solidFill>
            <a:srgbClr val="FFCCFF"/>
          </a:solidFill>
          <a:ln w="9525">
            <a:solidFill>
              <a:schemeClr val="tx1"/>
            </a:solidFill>
            <a:miter lim="800000"/>
            <a:headEnd/>
            <a:tailEnd/>
          </a:ln>
        </p:spPr>
        <p:txBody>
          <a:bodyPr/>
          <a:lstStyle/>
          <a:p>
            <a:endParaRPr lang="zh-CN" altLang="en-US" sz="2000">
              <a:ea typeface="楷体" panose="02010609060101010101" pitchFamily="49" charset="-122"/>
            </a:endParaRPr>
          </a:p>
        </p:txBody>
      </p:sp>
      <p:sp>
        <p:nvSpPr>
          <p:cNvPr id="32" name="Freeform 116"/>
          <p:cNvSpPr>
            <a:spLocks noEditPoints="1"/>
          </p:cNvSpPr>
          <p:nvPr/>
        </p:nvSpPr>
        <p:spPr bwMode="auto">
          <a:xfrm>
            <a:off x="7602588" y="2591644"/>
            <a:ext cx="458787" cy="2684462"/>
          </a:xfrm>
          <a:custGeom>
            <a:avLst/>
            <a:gdLst>
              <a:gd name="T0" fmla="*/ 0 w 293"/>
              <a:gd name="T1" fmla="*/ 1764 h 1764"/>
              <a:gd name="T2" fmla="*/ 293 w 293"/>
              <a:gd name="T3" fmla="*/ 1764 h 1764"/>
              <a:gd name="T4" fmla="*/ 0 w 293"/>
              <a:gd name="T5" fmla="*/ 1764 h 1764"/>
              <a:gd name="T6" fmla="*/ 0 w 293"/>
              <a:gd name="T7" fmla="*/ 0 h 1764"/>
              <a:gd name="T8" fmla="*/ 293 w 293"/>
              <a:gd name="T9" fmla="*/ 0 h 1764"/>
              <a:gd name="T10" fmla="*/ 0 w 293"/>
              <a:gd name="T11" fmla="*/ 0 h 1764"/>
            </a:gdLst>
            <a:ahLst/>
            <a:cxnLst>
              <a:cxn ang="0">
                <a:pos x="T0" y="T1"/>
              </a:cxn>
              <a:cxn ang="0">
                <a:pos x="T2" y="T3"/>
              </a:cxn>
              <a:cxn ang="0">
                <a:pos x="T4" y="T5"/>
              </a:cxn>
              <a:cxn ang="0">
                <a:pos x="T6" y="T7"/>
              </a:cxn>
              <a:cxn ang="0">
                <a:pos x="T8" y="T9"/>
              </a:cxn>
              <a:cxn ang="0">
                <a:pos x="T10" y="T11"/>
              </a:cxn>
            </a:cxnLst>
            <a:rect l="0" t="0" r="r" b="b"/>
            <a:pathLst>
              <a:path w="293" h="1764">
                <a:moveTo>
                  <a:pt x="0" y="1764"/>
                </a:moveTo>
                <a:lnTo>
                  <a:pt x="293" y="1764"/>
                </a:lnTo>
                <a:lnTo>
                  <a:pt x="0" y="1764"/>
                </a:lnTo>
                <a:close/>
                <a:moveTo>
                  <a:pt x="0" y="0"/>
                </a:moveTo>
                <a:lnTo>
                  <a:pt x="293"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000">
              <a:ea typeface="楷体" panose="02010609060101010101" pitchFamily="49" charset="-122"/>
            </a:endParaRPr>
          </a:p>
        </p:txBody>
      </p:sp>
      <p:sp>
        <p:nvSpPr>
          <p:cNvPr id="33" name="Line 117"/>
          <p:cNvSpPr>
            <a:spLocks noChangeShapeType="1"/>
          </p:cNvSpPr>
          <p:nvPr/>
        </p:nvSpPr>
        <p:spPr bwMode="auto">
          <a:xfrm>
            <a:off x="7602588" y="5276106"/>
            <a:ext cx="458787" cy="1588"/>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a:ea typeface="楷体" panose="02010609060101010101" pitchFamily="49" charset="-122"/>
            </a:endParaRPr>
          </a:p>
        </p:txBody>
      </p:sp>
      <p:sp>
        <p:nvSpPr>
          <p:cNvPr id="34" name="Rectangle 122"/>
          <p:cNvSpPr>
            <a:spLocks noChangeArrowheads="1"/>
          </p:cNvSpPr>
          <p:nvPr/>
        </p:nvSpPr>
        <p:spPr bwMode="auto">
          <a:xfrm>
            <a:off x="7558138" y="2201119"/>
            <a:ext cx="51616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2000" b="1">
                <a:solidFill>
                  <a:srgbClr val="000000"/>
                </a:solidFill>
                <a:ea typeface="楷体" panose="02010609060101010101" pitchFamily="49" charset="-122"/>
              </a:rPr>
              <a:t>内存</a:t>
            </a:r>
            <a:endParaRPr lang="zh-CN" altLang="en-US" sz="2000" b="1">
              <a:ea typeface="楷体" panose="02010609060101010101" pitchFamily="49" charset="-122"/>
            </a:endParaRPr>
          </a:p>
        </p:txBody>
      </p:sp>
      <p:sp>
        <p:nvSpPr>
          <p:cNvPr id="35" name="Freeform 127"/>
          <p:cNvSpPr>
            <a:spLocks/>
          </p:cNvSpPr>
          <p:nvPr/>
        </p:nvSpPr>
        <p:spPr bwMode="auto">
          <a:xfrm>
            <a:off x="6224638" y="3821956"/>
            <a:ext cx="458787" cy="446088"/>
          </a:xfrm>
          <a:custGeom>
            <a:avLst/>
            <a:gdLst>
              <a:gd name="T0" fmla="*/ 0 w 293"/>
              <a:gd name="T1" fmla="*/ 147 h 294"/>
              <a:gd name="T2" fmla="*/ 4 w 293"/>
              <a:gd name="T3" fmla="*/ 114 h 294"/>
              <a:gd name="T4" fmla="*/ 14 w 293"/>
              <a:gd name="T5" fmla="*/ 83 h 294"/>
              <a:gd name="T6" fmla="*/ 31 w 293"/>
              <a:gd name="T7" fmla="*/ 55 h 294"/>
              <a:gd name="T8" fmla="*/ 55 w 293"/>
              <a:gd name="T9" fmla="*/ 32 h 294"/>
              <a:gd name="T10" fmla="*/ 84 w 293"/>
              <a:gd name="T11" fmla="*/ 14 h 294"/>
              <a:gd name="T12" fmla="*/ 114 w 293"/>
              <a:gd name="T13" fmla="*/ 4 h 294"/>
              <a:gd name="T14" fmla="*/ 147 w 293"/>
              <a:gd name="T15" fmla="*/ 0 h 294"/>
              <a:gd name="T16" fmla="*/ 180 w 293"/>
              <a:gd name="T17" fmla="*/ 4 h 294"/>
              <a:gd name="T18" fmla="*/ 211 w 293"/>
              <a:gd name="T19" fmla="*/ 14 h 294"/>
              <a:gd name="T20" fmla="*/ 239 w 293"/>
              <a:gd name="T21" fmla="*/ 32 h 294"/>
              <a:gd name="T22" fmla="*/ 262 w 293"/>
              <a:gd name="T23" fmla="*/ 55 h 294"/>
              <a:gd name="T24" fmla="*/ 280 w 293"/>
              <a:gd name="T25" fmla="*/ 83 h 294"/>
              <a:gd name="T26" fmla="*/ 289 w 293"/>
              <a:gd name="T27" fmla="*/ 114 h 294"/>
              <a:gd name="T28" fmla="*/ 293 w 293"/>
              <a:gd name="T29" fmla="*/ 147 h 294"/>
              <a:gd name="T30" fmla="*/ 289 w 293"/>
              <a:gd name="T31" fmla="*/ 181 h 294"/>
              <a:gd name="T32" fmla="*/ 280 w 293"/>
              <a:gd name="T33" fmla="*/ 212 h 294"/>
              <a:gd name="T34" fmla="*/ 262 w 293"/>
              <a:gd name="T35" fmla="*/ 239 h 294"/>
              <a:gd name="T36" fmla="*/ 239 w 293"/>
              <a:gd name="T37" fmla="*/ 263 h 294"/>
              <a:gd name="T38" fmla="*/ 211 w 293"/>
              <a:gd name="T39" fmla="*/ 280 h 294"/>
              <a:gd name="T40" fmla="*/ 180 w 293"/>
              <a:gd name="T41" fmla="*/ 290 h 294"/>
              <a:gd name="T42" fmla="*/ 147 w 293"/>
              <a:gd name="T43" fmla="*/ 294 h 294"/>
              <a:gd name="T44" fmla="*/ 114 w 293"/>
              <a:gd name="T45" fmla="*/ 290 h 294"/>
              <a:gd name="T46" fmla="*/ 84 w 293"/>
              <a:gd name="T47" fmla="*/ 280 h 294"/>
              <a:gd name="T48" fmla="*/ 55 w 293"/>
              <a:gd name="T49" fmla="*/ 263 h 294"/>
              <a:gd name="T50" fmla="*/ 31 w 293"/>
              <a:gd name="T51" fmla="*/ 239 h 294"/>
              <a:gd name="T52" fmla="*/ 14 w 293"/>
              <a:gd name="T53" fmla="*/ 212 h 294"/>
              <a:gd name="T54" fmla="*/ 4 w 293"/>
              <a:gd name="T55" fmla="*/ 181 h 294"/>
              <a:gd name="T56" fmla="*/ 0 w 293"/>
              <a:gd name="T57" fmla="*/ 147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93" h="294">
                <a:moveTo>
                  <a:pt x="0" y="147"/>
                </a:moveTo>
                <a:lnTo>
                  <a:pt x="4" y="114"/>
                </a:lnTo>
                <a:lnTo>
                  <a:pt x="14" y="83"/>
                </a:lnTo>
                <a:lnTo>
                  <a:pt x="31" y="55"/>
                </a:lnTo>
                <a:lnTo>
                  <a:pt x="55" y="32"/>
                </a:lnTo>
                <a:lnTo>
                  <a:pt x="84" y="14"/>
                </a:lnTo>
                <a:lnTo>
                  <a:pt x="114" y="4"/>
                </a:lnTo>
                <a:lnTo>
                  <a:pt x="147" y="0"/>
                </a:lnTo>
                <a:lnTo>
                  <a:pt x="180" y="4"/>
                </a:lnTo>
                <a:lnTo>
                  <a:pt x="211" y="14"/>
                </a:lnTo>
                <a:lnTo>
                  <a:pt x="239" y="32"/>
                </a:lnTo>
                <a:lnTo>
                  <a:pt x="262" y="55"/>
                </a:lnTo>
                <a:lnTo>
                  <a:pt x="280" y="83"/>
                </a:lnTo>
                <a:lnTo>
                  <a:pt x="289" y="114"/>
                </a:lnTo>
                <a:lnTo>
                  <a:pt x="293" y="147"/>
                </a:lnTo>
                <a:lnTo>
                  <a:pt x="289" y="181"/>
                </a:lnTo>
                <a:lnTo>
                  <a:pt x="280" y="212"/>
                </a:lnTo>
                <a:lnTo>
                  <a:pt x="262" y="239"/>
                </a:lnTo>
                <a:lnTo>
                  <a:pt x="239" y="263"/>
                </a:lnTo>
                <a:lnTo>
                  <a:pt x="211" y="280"/>
                </a:lnTo>
                <a:lnTo>
                  <a:pt x="180" y="290"/>
                </a:lnTo>
                <a:lnTo>
                  <a:pt x="147" y="294"/>
                </a:lnTo>
                <a:lnTo>
                  <a:pt x="114" y="290"/>
                </a:lnTo>
                <a:lnTo>
                  <a:pt x="84" y="280"/>
                </a:lnTo>
                <a:lnTo>
                  <a:pt x="55" y="263"/>
                </a:lnTo>
                <a:lnTo>
                  <a:pt x="31" y="239"/>
                </a:lnTo>
                <a:lnTo>
                  <a:pt x="14" y="212"/>
                </a:lnTo>
                <a:lnTo>
                  <a:pt x="4" y="181"/>
                </a:lnTo>
                <a:lnTo>
                  <a:pt x="0" y="147"/>
                </a:lnTo>
                <a:close/>
              </a:path>
            </a:pathLst>
          </a:custGeom>
          <a:solidFill>
            <a:srgbClr val="66CCFF"/>
          </a:solidFill>
          <a:ln w="6350">
            <a:solidFill>
              <a:srgbClr val="000000"/>
            </a:solidFill>
            <a:prstDash val="solid"/>
            <a:round/>
            <a:headEnd/>
            <a:tailEnd/>
          </a:ln>
        </p:spPr>
        <p:txBody>
          <a:bodyPr/>
          <a:lstStyle/>
          <a:p>
            <a:endParaRPr lang="zh-CN" altLang="en-US" sz="2000">
              <a:ea typeface="楷体" panose="02010609060101010101" pitchFamily="49" charset="-122"/>
            </a:endParaRPr>
          </a:p>
        </p:txBody>
      </p:sp>
      <p:sp>
        <p:nvSpPr>
          <p:cNvPr id="36" name="Line 128"/>
          <p:cNvSpPr>
            <a:spLocks noChangeShapeType="1"/>
          </p:cNvSpPr>
          <p:nvPr/>
        </p:nvSpPr>
        <p:spPr bwMode="auto">
          <a:xfrm>
            <a:off x="6224638" y="4045794"/>
            <a:ext cx="458787" cy="158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a:ea typeface="楷体" panose="02010609060101010101" pitchFamily="49" charset="-122"/>
            </a:endParaRPr>
          </a:p>
        </p:txBody>
      </p:sp>
      <p:sp>
        <p:nvSpPr>
          <p:cNvPr id="37" name="Line 129"/>
          <p:cNvSpPr>
            <a:spLocks noChangeShapeType="1"/>
          </p:cNvSpPr>
          <p:nvPr/>
        </p:nvSpPr>
        <p:spPr bwMode="auto">
          <a:xfrm>
            <a:off x="6454825" y="3821956"/>
            <a:ext cx="1588" cy="4460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a:ea typeface="楷体" panose="02010609060101010101" pitchFamily="49" charset="-122"/>
            </a:endParaRPr>
          </a:p>
        </p:txBody>
      </p:sp>
      <p:sp>
        <p:nvSpPr>
          <p:cNvPr id="38" name="Freeform 130"/>
          <p:cNvSpPr>
            <a:spLocks/>
          </p:cNvSpPr>
          <p:nvPr/>
        </p:nvSpPr>
        <p:spPr bwMode="auto">
          <a:xfrm>
            <a:off x="2208263" y="3821956"/>
            <a:ext cx="458787" cy="446088"/>
          </a:xfrm>
          <a:custGeom>
            <a:avLst/>
            <a:gdLst>
              <a:gd name="T0" fmla="*/ 0 w 293"/>
              <a:gd name="T1" fmla="*/ 147 h 294"/>
              <a:gd name="T2" fmla="*/ 4 w 293"/>
              <a:gd name="T3" fmla="*/ 114 h 294"/>
              <a:gd name="T4" fmla="*/ 15 w 293"/>
              <a:gd name="T5" fmla="*/ 83 h 294"/>
              <a:gd name="T6" fmla="*/ 33 w 293"/>
              <a:gd name="T7" fmla="*/ 55 h 294"/>
              <a:gd name="T8" fmla="*/ 56 w 293"/>
              <a:gd name="T9" fmla="*/ 32 h 294"/>
              <a:gd name="T10" fmla="*/ 84 w 293"/>
              <a:gd name="T11" fmla="*/ 14 h 294"/>
              <a:gd name="T12" fmla="*/ 115 w 293"/>
              <a:gd name="T13" fmla="*/ 4 h 294"/>
              <a:gd name="T14" fmla="*/ 146 w 293"/>
              <a:gd name="T15" fmla="*/ 0 h 294"/>
              <a:gd name="T16" fmla="*/ 180 w 293"/>
              <a:gd name="T17" fmla="*/ 4 h 294"/>
              <a:gd name="T18" fmla="*/ 211 w 293"/>
              <a:gd name="T19" fmla="*/ 14 h 294"/>
              <a:gd name="T20" fmla="*/ 238 w 293"/>
              <a:gd name="T21" fmla="*/ 32 h 294"/>
              <a:gd name="T22" fmla="*/ 262 w 293"/>
              <a:gd name="T23" fmla="*/ 55 h 294"/>
              <a:gd name="T24" fmla="*/ 279 w 293"/>
              <a:gd name="T25" fmla="*/ 83 h 294"/>
              <a:gd name="T26" fmla="*/ 291 w 293"/>
              <a:gd name="T27" fmla="*/ 114 h 294"/>
              <a:gd name="T28" fmla="*/ 293 w 293"/>
              <a:gd name="T29" fmla="*/ 147 h 294"/>
              <a:gd name="T30" fmla="*/ 291 w 293"/>
              <a:gd name="T31" fmla="*/ 181 h 294"/>
              <a:gd name="T32" fmla="*/ 279 w 293"/>
              <a:gd name="T33" fmla="*/ 212 h 294"/>
              <a:gd name="T34" fmla="*/ 262 w 293"/>
              <a:gd name="T35" fmla="*/ 239 h 294"/>
              <a:gd name="T36" fmla="*/ 238 w 293"/>
              <a:gd name="T37" fmla="*/ 263 h 294"/>
              <a:gd name="T38" fmla="*/ 211 w 293"/>
              <a:gd name="T39" fmla="*/ 280 h 294"/>
              <a:gd name="T40" fmla="*/ 180 w 293"/>
              <a:gd name="T41" fmla="*/ 290 h 294"/>
              <a:gd name="T42" fmla="*/ 146 w 293"/>
              <a:gd name="T43" fmla="*/ 294 h 294"/>
              <a:gd name="T44" fmla="*/ 115 w 293"/>
              <a:gd name="T45" fmla="*/ 290 h 294"/>
              <a:gd name="T46" fmla="*/ 84 w 293"/>
              <a:gd name="T47" fmla="*/ 280 h 294"/>
              <a:gd name="T48" fmla="*/ 56 w 293"/>
              <a:gd name="T49" fmla="*/ 263 h 294"/>
              <a:gd name="T50" fmla="*/ 33 w 293"/>
              <a:gd name="T51" fmla="*/ 239 h 294"/>
              <a:gd name="T52" fmla="*/ 15 w 293"/>
              <a:gd name="T53" fmla="*/ 212 h 294"/>
              <a:gd name="T54" fmla="*/ 4 w 293"/>
              <a:gd name="T55" fmla="*/ 181 h 294"/>
              <a:gd name="T56" fmla="*/ 0 w 293"/>
              <a:gd name="T57" fmla="*/ 147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93" h="294">
                <a:moveTo>
                  <a:pt x="0" y="147"/>
                </a:moveTo>
                <a:lnTo>
                  <a:pt x="4" y="114"/>
                </a:lnTo>
                <a:lnTo>
                  <a:pt x="15" y="83"/>
                </a:lnTo>
                <a:lnTo>
                  <a:pt x="33" y="55"/>
                </a:lnTo>
                <a:lnTo>
                  <a:pt x="56" y="32"/>
                </a:lnTo>
                <a:lnTo>
                  <a:pt x="84" y="14"/>
                </a:lnTo>
                <a:lnTo>
                  <a:pt x="115" y="4"/>
                </a:lnTo>
                <a:lnTo>
                  <a:pt x="146" y="0"/>
                </a:lnTo>
                <a:lnTo>
                  <a:pt x="180" y="4"/>
                </a:lnTo>
                <a:lnTo>
                  <a:pt x="211" y="14"/>
                </a:lnTo>
                <a:lnTo>
                  <a:pt x="238" y="32"/>
                </a:lnTo>
                <a:lnTo>
                  <a:pt x="262" y="55"/>
                </a:lnTo>
                <a:lnTo>
                  <a:pt x="279" y="83"/>
                </a:lnTo>
                <a:lnTo>
                  <a:pt x="291" y="114"/>
                </a:lnTo>
                <a:lnTo>
                  <a:pt x="293" y="147"/>
                </a:lnTo>
                <a:lnTo>
                  <a:pt x="291" y="181"/>
                </a:lnTo>
                <a:lnTo>
                  <a:pt x="279" y="212"/>
                </a:lnTo>
                <a:lnTo>
                  <a:pt x="262" y="239"/>
                </a:lnTo>
                <a:lnTo>
                  <a:pt x="238" y="263"/>
                </a:lnTo>
                <a:lnTo>
                  <a:pt x="211" y="280"/>
                </a:lnTo>
                <a:lnTo>
                  <a:pt x="180" y="290"/>
                </a:lnTo>
                <a:lnTo>
                  <a:pt x="146" y="294"/>
                </a:lnTo>
                <a:lnTo>
                  <a:pt x="115" y="290"/>
                </a:lnTo>
                <a:lnTo>
                  <a:pt x="84" y="280"/>
                </a:lnTo>
                <a:lnTo>
                  <a:pt x="56" y="263"/>
                </a:lnTo>
                <a:lnTo>
                  <a:pt x="33" y="239"/>
                </a:lnTo>
                <a:lnTo>
                  <a:pt x="15" y="212"/>
                </a:lnTo>
                <a:lnTo>
                  <a:pt x="4" y="181"/>
                </a:lnTo>
                <a:lnTo>
                  <a:pt x="0" y="147"/>
                </a:lnTo>
                <a:close/>
              </a:path>
            </a:pathLst>
          </a:custGeom>
          <a:solidFill>
            <a:srgbClr val="66CCFF"/>
          </a:solidFill>
          <a:ln w="6350">
            <a:solidFill>
              <a:srgbClr val="000000"/>
            </a:solidFill>
            <a:prstDash val="solid"/>
            <a:round/>
            <a:headEnd/>
            <a:tailEnd/>
          </a:ln>
        </p:spPr>
        <p:txBody>
          <a:bodyPr/>
          <a:lstStyle/>
          <a:p>
            <a:endParaRPr lang="zh-CN" altLang="en-US" sz="2000">
              <a:ea typeface="楷体" panose="02010609060101010101" pitchFamily="49" charset="-122"/>
            </a:endParaRPr>
          </a:p>
        </p:txBody>
      </p:sp>
      <p:sp>
        <p:nvSpPr>
          <p:cNvPr id="39" name="Line 131"/>
          <p:cNvSpPr>
            <a:spLocks noChangeShapeType="1"/>
          </p:cNvSpPr>
          <p:nvPr/>
        </p:nvSpPr>
        <p:spPr bwMode="auto">
          <a:xfrm>
            <a:off x="2208263" y="4045794"/>
            <a:ext cx="458787" cy="158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a:ea typeface="楷体" panose="02010609060101010101" pitchFamily="49" charset="-122"/>
            </a:endParaRPr>
          </a:p>
        </p:txBody>
      </p:sp>
      <p:sp>
        <p:nvSpPr>
          <p:cNvPr id="40" name="Line 132"/>
          <p:cNvSpPr>
            <a:spLocks noChangeShapeType="1"/>
          </p:cNvSpPr>
          <p:nvPr/>
        </p:nvSpPr>
        <p:spPr bwMode="auto">
          <a:xfrm>
            <a:off x="2436863" y="3821956"/>
            <a:ext cx="1587" cy="4460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a:ea typeface="楷体" panose="02010609060101010101" pitchFamily="49" charset="-122"/>
            </a:endParaRPr>
          </a:p>
        </p:txBody>
      </p:sp>
      <p:sp>
        <p:nvSpPr>
          <p:cNvPr id="41" name="Line 137"/>
          <p:cNvSpPr>
            <a:spLocks noChangeShapeType="1"/>
          </p:cNvSpPr>
          <p:nvPr/>
        </p:nvSpPr>
        <p:spPr bwMode="auto">
          <a:xfrm>
            <a:off x="2425750" y="2894856"/>
            <a:ext cx="0" cy="914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ea typeface="楷体" panose="02010609060101010101" pitchFamily="49" charset="-122"/>
            </a:endParaRPr>
          </a:p>
        </p:txBody>
      </p:sp>
      <p:sp>
        <p:nvSpPr>
          <p:cNvPr id="42" name="Line 138"/>
          <p:cNvSpPr>
            <a:spLocks noChangeShapeType="1"/>
          </p:cNvSpPr>
          <p:nvPr/>
        </p:nvSpPr>
        <p:spPr bwMode="auto">
          <a:xfrm>
            <a:off x="2654350" y="4052144"/>
            <a:ext cx="9144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ea typeface="楷体" panose="02010609060101010101" pitchFamily="49" charset="-122"/>
            </a:endParaRPr>
          </a:p>
        </p:txBody>
      </p:sp>
      <p:sp>
        <p:nvSpPr>
          <p:cNvPr id="43" name="Line 139"/>
          <p:cNvSpPr>
            <a:spLocks noChangeShapeType="1"/>
          </p:cNvSpPr>
          <p:nvPr/>
        </p:nvSpPr>
        <p:spPr bwMode="auto">
          <a:xfrm>
            <a:off x="1435150" y="4037856"/>
            <a:ext cx="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ea typeface="楷体" panose="02010609060101010101" pitchFamily="49" charset="-122"/>
            </a:endParaRPr>
          </a:p>
        </p:txBody>
      </p:sp>
      <p:sp>
        <p:nvSpPr>
          <p:cNvPr id="44" name="Line 140"/>
          <p:cNvSpPr>
            <a:spLocks noChangeShapeType="1"/>
          </p:cNvSpPr>
          <p:nvPr/>
        </p:nvSpPr>
        <p:spPr bwMode="auto">
          <a:xfrm>
            <a:off x="1435150" y="4037856"/>
            <a:ext cx="762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ea typeface="楷体" panose="02010609060101010101" pitchFamily="49" charset="-122"/>
            </a:endParaRPr>
          </a:p>
        </p:txBody>
      </p:sp>
      <p:sp>
        <p:nvSpPr>
          <p:cNvPr id="45" name="Line 141"/>
          <p:cNvSpPr>
            <a:spLocks noChangeShapeType="1"/>
          </p:cNvSpPr>
          <p:nvPr/>
        </p:nvSpPr>
        <p:spPr bwMode="auto">
          <a:xfrm>
            <a:off x="3340150" y="4952256"/>
            <a:ext cx="3124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ea typeface="楷体" panose="02010609060101010101" pitchFamily="49" charset="-122"/>
            </a:endParaRPr>
          </a:p>
        </p:txBody>
      </p:sp>
      <p:sp>
        <p:nvSpPr>
          <p:cNvPr id="46" name="Line 142"/>
          <p:cNvSpPr>
            <a:spLocks noChangeShapeType="1"/>
          </p:cNvSpPr>
          <p:nvPr/>
        </p:nvSpPr>
        <p:spPr bwMode="auto">
          <a:xfrm flipV="1">
            <a:off x="6464350" y="4266456"/>
            <a:ext cx="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ea typeface="楷体" panose="02010609060101010101" pitchFamily="49" charset="-122"/>
            </a:endParaRPr>
          </a:p>
        </p:txBody>
      </p:sp>
      <p:sp>
        <p:nvSpPr>
          <p:cNvPr id="47" name="Line 143"/>
          <p:cNvSpPr>
            <a:spLocks noChangeShapeType="1"/>
          </p:cNvSpPr>
          <p:nvPr/>
        </p:nvSpPr>
        <p:spPr bwMode="auto">
          <a:xfrm>
            <a:off x="5640438" y="4052144"/>
            <a:ext cx="609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ea typeface="楷体" panose="02010609060101010101" pitchFamily="49" charset="-122"/>
            </a:endParaRPr>
          </a:p>
        </p:txBody>
      </p:sp>
      <p:grpSp>
        <p:nvGrpSpPr>
          <p:cNvPr id="48" name="Group 153"/>
          <p:cNvGrpSpPr>
            <a:grpSpLocks/>
          </p:cNvGrpSpPr>
          <p:nvPr/>
        </p:nvGrpSpPr>
        <p:grpSpPr bwMode="auto">
          <a:xfrm>
            <a:off x="6692950" y="3712419"/>
            <a:ext cx="914400" cy="339725"/>
            <a:chOff x="4416" y="2843"/>
            <a:chExt cx="576" cy="214"/>
          </a:xfrm>
        </p:grpSpPr>
        <p:sp>
          <p:nvSpPr>
            <p:cNvPr id="49" name="Rectangle 121"/>
            <p:cNvSpPr>
              <a:spLocks noChangeArrowheads="1"/>
            </p:cNvSpPr>
            <p:nvPr/>
          </p:nvSpPr>
          <p:spPr bwMode="auto">
            <a:xfrm>
              <a:off x="4578" y="2843"/>
              <a:ext cx="331"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1">
                  <a:solidFill>
                    <a:srgbClr val="000000"/>
                  </a:solidFill>
                  <a:ea typeface="楷体" panose="02010609060101010101" pitchFamily="49" charset="-122"/>
                </a:rPr>
                <a:t>35C4</a:t>
              </a:r>
              <a:endParaRPr lang="en-US" altLang="zh-CN" sz="2000" b="1">
                <a:ea typeface="楷体" panose="02010609060101010101" pitchFamily="49" charset="-122"/>
              </a:endParaRPr>
            </a:p>
          </p:txBody>
        </p:sp>
        <p:sp>
          <p:nvSpPr>
            <p:cNvPr id="50" name="Line 144"/>
            <p:cNvSpPr>
              <a:spLocks noChangeShapeType="1"/>
            </p:cNvSpPr>
            <p:nvPr/>
          </p:nvSpPr>
          <p:spPr bwMode="auto">
            <a:xfrm>
              <a:off x="4416" y="3057"/>
              <a:ext cx="576"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ea typeface="楷体" panose="02010609060101010101" pitchFamily="49" charset="-122"/>
              </a:endParaRPr>
            </a:p>
          </p:txBody>
        </p:sp>
      </p:grpSp>
      <p:sp>
        <p:nvSpPr>
          <p:cNvPr id="51" name="Oval 146"/>
          <p:cNvSpPr>
            <a:spLocks noChangeArrowheads="1"/>
          </p:cNvSpPr>
          <p:nvPr/>
        </p:nvSpPr>
        <p:spPr bwMode="auto">
          <a:xfrm>
            <a:off x="1422450" y="4933206"/>
            <a:ext cx="71438" cy="71438"/>
          </a:xfrm>
          <a:prstGeom prst="ellipse">
            <a:avLst/>
          </a:prstGeom>
          <a:solidFill>
            <a:srgbClr val="FF3300"/>
          </a:solidFill>
          <a:ln w="9525">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ea typeface="楷体" panose="02010609060101010101" pitchFamily="49" charset="-122"/>
            </a:endParaRPr>
          </a:p>
        </p:txBody>
      </p:sp>
      <p:sp>
        <p:nvSpPr>
          <p:cNvPr id="52" name="Oval 148"/>
          <p:cNvSpPr>
            <a:spLocks noChangeArrowheads="1"/>
          </p:cNvSpPr>
          <p:nvPr/>
        </p:nvSpPr>
        <p:spPr bwMode="auto">
          <a:xfrm>
            <a:off x="2398763" y="2699594"/>
            <a:ext cx="71437" cy="73025"/>
          </a:xfrm>
          <a:prstGeom prst="ellipse">
            <a:avLst/>
          </a:prstGeom>
          <a:solidFill>
            <a:srgbClr val="FF3300"/>
          </a:solidFill>
          <a:ln w="9525">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ea typeface="楷体" panose="02010609060101010101" pitchFamily="49" charset="-122"/>
            </a:endParaRPr>
          </a:p>
        </p:txBody>
      </p:sp>
      <p:sp>
        <p:nvSpPr>
          <p:cNvPr id="53" name="AutoShape 149"/>
          <p:cNvSpPr>
            <a:spLocks noChangeArrowheads="1"/>
          </p:cNvSpPr>
          <p:nvPr/>
        </p:nvSpPr>
        <p:spPr bwMode="auto">
          <a:xfrm>
            <a:off x="2222550" y="3836244"/>
            <a:ext cx="431800" cy="431800"/>
          </a:xfrm>
          <a:prstGeom prst="flowChartOr">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ea typeface="楷体" panose="02010609060101010101" pitchFamily="49" charset="-122"/>
            </a:endParaRPr>
          </a:p>
        </p:txBody>
      </p:sp>
      <p:sp>
        <p:nvSpPr>
          <p:cNvPr id="54" name="AutoShape 150"/>
          <p:cNvSpPr>
            <a:spLocks noChangeArrowheads="1"/>
          </p:cNvSpPr>
          <p:nvPr/>
        </p:nvSpPr>
        <p:spPr bwMode="auto">
          <a:xfrm>
            <a:off x="6238925" y="3828306"/>
            <a:ext cx="431800" cy="431800"/>
          </a:xfrm>
          <a:prstGeom prst="flowChartOr">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ea typeface="楷体" panose="02010609060101010101" pitchFamily="49" charset="-122"/>
            </a:endParaRPr>
          </a:p>
        </p:txBody>
      </p:sp>
      <p:sp>
        <p:nvSpPr>
          <p:cNvPr id="55" name="Oval 151"/>
          <p:cNvSpPr>
            <a:spLocks noChangeArrowheads="1"/>
          </p:cNvSpPr>
          <p:nvPr/>
        </p:nvSpPr>
        <p:spPr bwMode="auto">
          <a:xfrm>
            <a:off x="2382888" y="4012456"/>
            <a:ext cx="71437" cy="71438"/>
          </a:xfrm>
          <a:prstGeom prst="ellipse">
            <a:avLst/>
          </a:prstGeom>
          <a:solidFill>
            <a:srgbClr val="FF3300"/>
          </a:solidFill>
          <a:ln w="9525">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ea typeface="楷体" panose="02010609060101010101" pitchFamily="49" charset="-122"/>
            </a:endParaRPr>
          </a:p>
        </p:txBody>
      </p:sp>
      <p:sp>
        <p:nvSpPr>
          <p:cNvPr id="56" name="Oval 152"/>
          <p:cNvSpPr>
            <a:spLocks noChangeArrowheads="1"/>
          </p:cNvSpPr>
          <p:nvPr/>
        </p:nvSpPr>
        <p:spPr bwMode="auto">
          <a:xfrm>
            <a:off x="2598788" y="4933206"/>
            <a:ext cx="71437" cy="71438"/>
          </a:xfrm>
          <a:prstGeom prst="ellipse">
            <a:avLst/>
          </a:prstGeom>
          <a:solidFill>
            <a:srgbClr val="FF3300"/>
          </a:solidFill>
          <a:ln w="9525">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ea typeface="楷体" panose="02010609060101010101" pitchFamily="49" charset="-122"/>
            </a:endParaRPr>
          </a:p>
        </p:txBody>
      </p:sp>
    </p:spTree>
    <p:extLst>
      <p:ext uri="{BB962C8B-B14F-4D97-AF65-F5344CB8AC3E}">
        <p14:creationId xmlns:p14="http://schemas.microsoft.com/office/powerpoint/2010/main" val="3810762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childTnLst>
                          </p:cTn>
                        </p:par>
                        <p:par>
                          <p:cTn id="7" fill="hold">
                            <p:stCondLst>
                              <p:cond delay="0"/>
                            </p:stCondLst>
                            <p:childTnLst>
                              <p:par>
                                <p:cTn id="8" presetID="0" presetClass="path" presetSubtype="0" accel="50000" decel="50000" fill="hold" grpId="1" nodeType="afterEffect">
                                  <p:stCondLst>
                                    <p:cond delay="0"/>
                                  </p:stCondLst>
                                  <p:childTnLst>
                                    <p:animMotion origin="layout" path="M 5E-6 2.96296E-6 L -0.00121 -0.13125 " pathEditMode="relative" rAng="0" ptsTypes="AA">
                                      <p:cBhvr>
                                        <p:cTn id="9" dur="1000" fill="hold"/>
                                        <p:tgtEl>
                                          <p:spTgt spid="51"/>
                                        </p:tgtEl>
                                        <p:attrNameLst>
                                          <p:attrName>ppt_x</p:attrName>
                                          <p:attrName>ppt_y</p:attrName>
                                        </p:attrNameLst>
                                      </p:cBhvr>
                                      <p:rCtr x="-69" y="-6574"/>
                                    </p:animMotion>
                                  </p:childTnLst>
                                </p:cTn>
                              </p:par>
                            </p:childTnLst>
                          </p:cTn>
                        </p:par>
                        <p:par>
                          <p:cTn id="10" fill="hold">
                            <p:stCondLst>
                              <p:cond delay="1000"/>
                            </p:stCondLst>
                            <p:childTnLst>
                              <p:par>
                                <p:cTn id="11" presetID="0" presetClass="path" presetSubtype="0" accel="50000" decel="50000" fill="hold" grpId="2" nodeType="afterEffect">
                                  <p:stCondLst>
                                    <p:cond delay="0"/>
                                  </p:stCondLst>
                                  <p:childTnLst>
                                    <p:animMotion origin="layout" path="M -0.00121 -0.13125 L 0.10903 -0.13125 " pathEditMode="relative" rAng="0" ptsTypes="AA">
                                      <p:cBhvr>
                                        <p:cTn id="12" dur="1000" fill="hold"/>
                                        <p:tgtEl>
                                          <p:spTgt spid="51"/>
                                        </p:tgtEl>
                                        <p:attrNameLst>
                                          <p:attrName>ppt_x</p:attrName>
                                          <p:attrName>ppt_y</p:attrName>
                                        </p:attrNameLst>
                                      </p:cBhvr>
                                      <p:rCtr x="5503" y="0"/>
                                    </p:animMotion>
                                  </p:childTnLst>
                                </p:cTn>
                              </p:par>
                            </p:childTnLst>
                          </p:cTn>
                        </p:par>
                        <p:par>
                          <p:cTn id="13" fill="hold">
                            <p:stCondLst>
                              <p:cond delay="2000"/>
                            </p:stCondLst>
                            <p:childTnLst>
                              <p:par>
                                <p:cTn id="14" presetID="1" presetClass="entr" presetSubtype="0" fill="hold" grpId="0" nodeType="afterEffect">
                                  <p:stCondLst>
                                    <p:cond delay="0"/>
                                  </p:stCondLst>
                                  <p:childTnLst>
                                    <p:set>
                                      <p:cBhvr>
                                        <p:cTn id="15" dur="1" fill="hold">
                                          <p:stCondLst>
                                            <p:cond delay="0"/>
                                          </p:stCondLst>
                                        </p:cTn>
                                        <p:tgtEl>
                                          <p:spTgt spid="52"/>
                                        </p:tgtEl>
                                        <p:attrNameLst>
                                          <p:attrName>style.visibility</p:attrName>
                                        </p:attrNameLst>
                                      </p:cBhvr>
                                      <p:to>
                                        <p:strVal val="visible"/>
                                      </p:to>
                                    </p:set>
                                  </p:childTnLst>
                                </p:cTn>
                              </p:par>
                            </p:childTnLst>
                          </p:cTn>
                        </p:par>
                        <p:par>
                          <p:cTn id="16" fill="hold">
                            <p:stCondLst>
                              <p:cond delay="2000"/>
                            </p:stCondLst>
                            <p:childTnLst>
                              <p:par>
                                <p:cTn id="17" presetID="0" presetClass="path" presetSubtype="0" accel="50000" decel="50000" fill="hold" grpId="1" nodeType="afterEffect">
                                  <p:stCondLst>
                                    <p:cond delay="0"/>
                                  </p:stCondLst>
                                  <p:childTnLst>
                                    <p:animMotion origin="layout" path="M 4.16667E-6 -4.07407E-6 L 4.16667E-6 0.19954 " pathEditMode="relative" rAng="0" ptsTypes="AA">
                                      <p:cBhvr>
                                        <p:cTn id="18" dur="1000" fill="hold"/>
                                        <p:tgtEl>
                                          <p:spTgt spid="52"/>
                                        </p:tgtEl>
                                        <p:attrNameLst>
                                          <p:attrName>ppt_x</p:attrName>
                                          <p:attrName>ppt_y</p:attrName>
                                        </p:attrNameLst>
                                      </p:cBhvr>
                                      <p:rCtr x="0" y="9977"/>
                                    </p:animMotion>
                                  </p:childTnLst>
                                </p:cTn>
                              </p:par>
                            </p:childTnLst>
                          </p:cTn>
                        </p:par>
                        <p:par>
                          <p:cTn id="19" fill="hold">
                            <p:stCondLst>
                              <p:cond delay="3000"/>
                            </p:stCondLst>
                            <p:childTnLst>
                              <p:par>
                                <p:cTn id="20" presetID="4" presetClass="entr" presetSubtype="16" fill="hold" grpId="0" nodeType="afterEffect">
                                  <p:stCondLst>
                                    <p:cond delay="0"/>
                                  </p:stCondLst>
                                  <p:childTnLst>
                                    <p:set>
                                      <p:cBhvr>
                                        <p:cTn id="21" dur="1" fill="hold">
                                          <p:stCondLst>
                                            <p:cond delay="0"/>
                                          </p:stCondLst>
                                        </p:cTn>
                                        <p:tgtEl>
                                          <p:spTgt spid="53"/>
                                        </p:tgtEl>
                                        <p:attrNameLst>
                                          <p:attrName>style.visibility</p:attrName>
                                        </p:attrNameLst>
                                      </p:cBhvr>
                                      <p:to>
                                        <p:strVal val="visible"/>
                                      </p:to>
                                    </p:set>
                                    <p:animEffect transition="in" filter="box(in)">
                                      <p:cBhvr>
                                        <p:cTn id="22" dur="500"/>
                                        <p:tgtEl>
                                          <p:spTgt spid="53"/>
                                        </p:tgtEl>
                                      </p:cBhvr>
                                    </p:animEffect>
                                  </p:childTnLst>
                                </p:cTn>
                              </p:par>
                            </p:childTnLst>
                          </p:cTn>
                        </p:par>
                        <p:par>
                          <p:cTn id="23" fill="hold">
                            <p:stCondLst>
                              <p:cond delay="3500"/>
                            </p:stCondLst>
                            <p:childTnLst>
                              <p:par>
                                <p:cTn id="24" presetID="1" presetClass="entr" presetSubtype="0" fill="hold" grpId="0" nodeType="afterEffect">
                                  <p:stCondLst>
                                    <p:cond delay="0"/>
                                  </p:stCondLst>
                                  <p:childTnLst>
                                    <p:set>
                                      <p:cBhvr>
                                        <p:cTn id="25" dur="1" fill="hold">
                                          <p:stCondLst>
                                            <p:cond delay="0"/>
                                          </p:stCondLst>
                                        </p:cTn>
                                        <p:tgtEl>
                                          <p:spTgt spid="55"/>
                                        </p:tgtEl>
                                        <p:attrNameLst>
                                          <p:attrName>style.visibility</p:attrName>
                                        </p:attrNameLst>
                                      </p:cBhvr>
                                      <p:to>
                                        <p:strVal val="visible"/>
                                      </p:to>
                                    </p:set>
                                  </p:childTnLst>
                                </p:cTn>
                              </p:par>
                            </p:childTnLst>
                          </p:cTn>
                        </p:par>
                        <p:par>
                          <p:cTn id="26" fill="hold">
                            <p:stCondLst>
                              <p:cond delay="3500"/>
                            </p:stCondLst>
                            <p:childTnLst>
                              <p:par>
                                <p:cTn id="27" presetID="0" presetClass="path" presetSubtype="0" accel="50000" decel="50000" fill="hold" grpId="1" nodeType="afterEffect">
                                  <p:stCondLst>
                                    <p:cond delay="0"/>
                                  </p:stCondLst>
                                  <p:childTnLst>
                                    <p:animMotion origin="layout" path="M 2.77778E-7 2.22222E-6 L 0.17326 2.22222E-6 " pathEditMode="relative" rAng="0" ptsTypes="AA">
                                      <p:cBhvr>
                                        <p:cTn id="28" dur="1000" fill="hold"/>
                                        <p:tgtEl>
                                          <p:spTgt spid="55"/>
                                        </p:tgtEl>
                                        <p:attrNameLst>
                                          <p:attrName>ppt_x</p:attrName>
                                          <p:attrName>ppt_y</p:attrName>
                                        </p:attrNameLst>
                                      </p:cBhvr>
                                      <p:rCtr x="8663" y="0"/>
                                    </p:animMotion>
                                  </p:childTnLst>
                                </p:cTn>
                              </p:par>
                            </p:childTnLst>
                          </p:cTn>
                        </p:par>
                        <p:par>
                          <p:cTn id="29" fill="hold">
                            <p:stCondLst>
                              <p:cond delay="4500"/>
                            </p:stCondLst>
                            <p:childTnLst>
                              <p:par>
                                <p:cTn id="30" presetID="0" presetClass="path" presetSubtype="0" accel="50000" decel="50000" fill="hold" grpId="2" nodeType="afterEffect">
                                  <p:stCondLst>
                                    <p:cond delay="0"/>
                                  </p:stCondLst>
                                  <p:childTnLst>
                                    <p:animMotion origin="layout" path="M 0.17326 2.22222E-6 L 0.28351 2.22222E-6 " pathEditMode="relative" rAng="0" ptsTypes="AA">
                                      <p:cBhvr>
                                        <p:cTn id="31" dur="1000" fill="hold"/>
                                        <p:tgtEl>
                                          <p:spTgt spid="55"/>
                                        </p:tgtEl>
                                        <p:attrNameLst>
                                          <p:attrName>ppt_x</p:attrName>
                                          <p:attrName>ppt_y</p:attrName>
                                        </p:attrNameLst>
                                      </p:cBhvr>
                                      <p:rCtr x="5503" y="0"/>
                                    </p:animMotion>
                                  </p:childTnLst>
                                </p:cTn>
                              </p:par>
                            </p:childTnLst>
                          </p:cTn>
                        </p:par>
                        <p:par>
                          <p:cTn id="32" fill="hold">
                            <p:stCondLst>
                              <p:cond delay="5500"/>
                            </p:stCondLst>
                            <p:childTnLst>
                              <p:par>
                                <p:cTn id="33" presetID="0" presetClass="path" presetSubtype="0" accel="50000" decel="50000" fill="hold" grpId="3" nodeType="afterEffect">
                                  <p:stCondLst>
                                    <p:cond delay="0"/>
                                  </p:stCondLst>
                                  <p:childTnLst>
                                    <p:animMotion origin="layout" path="M 0.28351 2.22222E-6 L 0.44878 2.22222E-6 " pathEditMode="relative" rAng="0" ptsTypes="AA">
                                      <p:cBhvr>
                                        <p:cTn id="34" dur="1000" fill="hold"/>
                                        <p:tgtEl>
                                          <p:spTgt spid="55"/>
                                        </p:tgtEl>
                                        <p:attrNameLst>
                                          <p:attrName>ppt_x</p:attrName>
                                          <p:attrName>ppt_y</p:attrName>
                                        </p:attrNameLst>
                                      </p:cBhvr>
                                      <p:rCtr x="8264" y="0"/>
                                    </p:animMotion>
                                  </p:childTnLst>
                                </p:cTn>
                              </p:par>
                            </p:childTnLst>
                          </p:cTn>
                        </p:par>
                        <p:par>
                          <p:cTn id="35" fill="hold">
                            <p:stCondLst>
                              <p:cond delay="6500"/>
                            </p:stCondLst>
                            <p:childTnLst>
                              <p:par>
                                <p:cTn id="36" presetID="1" presetClass="entr" presetSubtype="0" fill="hold" grpId="0" nodeType="afterEffect">
                                  <p:stCondLst>
                                    <p:cond delay="0"/>
                                  </p:stCondLst>
                                  <p:childTnLst>
                                    <p:set>
                                      <p:cBhvr>
                                        <p:cTn id="37" dur="1" fill="hold">
                                          <p:stCondLst>
                                            <p:cond delay="0"/>
                                          </p:stCondLst>
                                        </p:cTn>
                                        <p:tgtEl>
                                          <p:spTgt spid="56"/>
                                        </p:tgtEl>
                                        <p:attrNameLst>
                                          <p:attrName>style.visibility</p:attrName>
                                        </p:attrNameLst>
                                      </p:cBhvr>
                                      <p:to>
                                        <p:strVal val="visible"/>
                                      </p:to>
                                    </p:set>
                                  </p:childTnLst>
                                </p:cTn>
                              </p:par>
                            </p:childTnLst>
                          </p:cTn>
                        </p:par>
                        <p:par>
                          <p:cTn id="38" fill="hold">
                            <p:stCondLst>
                              <p:cond delay="6500"/>
                            </p:stCondLst>
                            <p:childTnLst>
                              <p:par>
                                <p:cTn id="39" presetID="0" presetClass="path" presetSubtype="0" accel="50000" decel="50000" fill="hold" grpId="1" nodeType="afterEffect">
                                  <p:stCondLst>
                                    <p:cond delay="0"/>
                                  </p:stCondLst>
                                  <p:childTnLst>
                                    <p:animMotion origin="layout" path="M -8.33333E-7 2.96296E-6 L 0.41736 2.96296E-6 " pathEditMode="relative" rAng="0" ptsTypes="AA">
                                      <p:cBhvr>
                                        <p:cTn id="40" dur="1000" fill="hold"/>
                                        <p:tgtEl>
                                          <p:spTgt spid="56"/>
                                        </p:tgtEl>
                                        <p:attrNameLst>
                                          <p:attrName>ppt_x</p:attrName>
                                          <p:attrName>ppt_y</p:attrName>
                                        </p:attrNameLst>
                                      </p:cBhvr>
                                      <p:rCtr x="20868" y="0"/>
                                    </p:animMotion>
                                  </p:childTnLst>
                                </p:cTn>
                              </p:par>
                            </p:childTnLst>
                          </p:cTn>
                        </p:par>
                        <p:par>
                          <p:cTn id="41" fill="hold">
                            <p:stCondLst>
                              <p:cond delay="7500"/>
                            </p:stCondLst>
                            <p:childTnLst>
                              <p:par>
                                <p:cTn id="42" presetID="0" presetClass="path" presetSubtype="0" accel="50000" decel="50000" fill="hold" grpId="2" nodeType="afterEffect">
                                  <p:stCondLst>
                                    <p:cond delay="0"/>
                                  </p:stCondLst>
                                  <p:childTnLst>
                                    <p:animMotion origin="layout" path="M 0.41736 2.96296E-6 L 0.41736 -0.12616 " pathEditMode="relative" rAng="0" ptsTypes="AA">
                                      <p:cBhvr>
                                        <p:cTn id="43" dur="1000" fill="hold"/>
                                        <p:tgtEl>
                                          <p:spTgt spid="56"/>
                                        </p:tgtEl>
                                        <p:attrNameLst>
                                          <p:attrName>ppt_x</p:attrName>
                                          <p:attrName>ppt_y</p:attrName>
                                        </p:attrNameLst>
                                      </p:cBhvr>
                                      <p:rCtr x="0" y="-6319"/>
                                    </p:animMotion>
                                  </p:childTnLst>
                                </p:cTn>
                              </p:par>
                            </p:childTnLst>
                          </p:cTn>
                        </p:par>
                        <p:par>
                          <p:cTn id="44" fill="hold">
                            <p:stCondLst>
                              <p:cond delay="8500"/>
                            </p:stCondLst>
                            <p:childTnLst>
                              <p:par>
                                <p:cTn id="45" presetID="4" presetClass="entr" presetSubtype="16" fill="hold" grpId="0" nodeType="afterEffect">
                                  <p:stCondLst>
                                    <p:cond delay="0"/>
                                  </p:stCondLst>
                                  <p:childTnLst>
                                    <p:set>
                                      <p:cBhvr>
                                        <p:cTn id="46" dur="1" fill="hold">
                                          <p:stCondLst>
                                            <p:cond delay="0"/>
                                          </p:stCondLst>
                                        </p:cTn>
                                        <p:tgtEl>
                                          <p:spTgt spid="54"/>
                                        </p:tgtEl>
                                        <p:attrNameLst>
                                          <p:attrName>style.visibility</p:attrName>
                                        </p:attrNameLst>
                                      </p:cBhvr>
                                      <p:to>
                                        <p:strVal val="visible"/>
                                      </p:to>
                                    </p:set>
                                    <p:animEffect transition="in" filter="box(in)">
                                      <p:cBhvr>
                                        <p:cTn id="47" dur="500"/>
                                        <p:tgtEl>
                                          <p:spTgt spid="54"/>
                                        </p:tgtEl>
                                      </p:cBhvr>
                                    </p:animEffect>
                                  </p:childTnLst>
                                </p:cTn>
                              </p:par>
                            </p:childTnLst>
                          </p:cTn>
                        </p:par>
                        <p:par>
                          <p:cTn id="48" fill="hold">
                            <p:stCondLst>
                              <p:cond delay="9000"/>
                            </p:stCondLst>
                            <p:childTnLst>
                              <p:par>
                                <p:cTn id="49" presetID="22" presetClass="entr" presetSubtype="8" fill="hold" nodeType="afterEffect">
                                  <p:stCondLst>
                                    <p:cond delay="0"/>
                                  </p:stCondLst>
                                  <p:childTnLst>
                                    <p:set>
                                      <p:cBhvr>
                                        <p:cTn id="50" dur="1" fill="hold">
                                          <p:stCondLst>
                                            <p:cond delay="0"/>
                                          </p:stCondLst>
                                        </p:cTn>
                                        <p:tgtEl>
                                          <p:spTgt spid="48"/>
                                        </p:tgtEl>
                                        <p:attrNameLst>
                                          <p:attrName>style.visibility</p:attrName>
                                        </p:attrNameLst>
                                      </p:cBhvr>
                                      <p:to>
                                        <p:strVal val="visible"/>
                                      </p:to>
                                    </p:set>
                                    <p:animEffect transition="in" filter="wipe(left)">
                                      <p:cBhvr>
                                        <p:cTn id="51"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P spid="51" grpId="1" animBg="1"/>
      <p:bldP spid="51" grpId="2" animBg="1"/>
      <p:bldP spid="52" grpId="0" animBg="1"/>
      <p:bldP spid="52" grpId="1" animBg="1"/>
      <p:bldP spid="53" grpId="0" animBg="1"/>
      <p:bldP spid="54" grpId="0" animBg="1"/>
      <p:bldP spid="55" grpId="0" animBg="1"/>
      <p:bldP spid="55" grpId="1" animBg="1"/>
      <p:bldP spid="55" grpId="2" animBg="1"/>
      <p:bldP spid="55" grpId="3" animBg="1"/>
      <p:bldP spid="56" grpId="0" animBg="1"/>
      <p:bldP spid="56" grpId="1" animBg="1"/>
      <p:bldP spid="56" grpId="2"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段式管理举例</a:t>
            </a:r>
          </a:p>
        </p:txBody>
      </p:sp>
      <p:sp>
        <p:nvSpPr>
          <p:cNvPr id="4" name="Date Placeholder 3"/>
          <p:cNvSpPr>
            <a:spLocks noGrp="1"/>
          </p:cNvSpPr>
          <p:nvPr>
            <p:ph type="dt" sz="half" idx="10"/>
          </p:nvPr>
        </p:nvSpPr>
        <p:spPr/>
        <p:txBody>
          <a:bodyPr/>
          <a:lstStyle/>
          <a:p>
            <a:fld id="{97449D66-39B7-4B10-88EF-561088EA3780}"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75</a:t>
            </a:fld>
            <a:endParaRPr lang="zh-CN" altLang="en-US" dirty="0"/>
          </a:p>
        </p:txBody>
      </p:sp>
      <p:sp>
        <p:nvSpPr>
          <p:cNvPr id="7" name="Rectangle 5"/>
          <p:cNvSpPr>
            <a:spLocks noChangeArrowheads="1"/>
          </p:cNvSpPr>
          <p:nvPr/>
        </p:nvSpPr>
        <p:spPr bwMode="auto">
          <a:xfrm>
            <a:off x="2240632" y="1700808"/>
            <a:ext cx="4419600" cy="426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05000"/>
              </a:lnSpc>
              <a:spcBef>
                <a:spcPct val="0"/>
              </a:spcBef>
              <a:buFontTx/>
              <a:buNone/>
            </a:pPr>
            <a:r>
              <a:rPr lang="zh-CN" altLang="en-US" sz="1800" b="1" dirty="0">
                <a:latin typeface="+mn-lt"/>
                <a:ea typeface="楷体" panose="02010609060101010101" pitchFamily="49" charset="-122"/>
              </a:rPr>
              <a:t>在一个段式存储管理系统中，其段表为</a:t>
            </a:r>
            <a:r>
              <a:rPr lang="en-US" altLang="zh-CN" sz="1800" b="1" dirty="0">
                <a:latin typeface="+mn-lt"/>
                <a:ea typeface="楷体" panose="02010609060101010101" pitchFamily="49" charset="-122"/>
              </a:rPr>
              <a:t>:</a:t>
            </a:r>
          </a:p>
          <a:p>
            <a:pPr eaLnBrk="1" hangingPunct="1">
              <a:lnSpc>
                <a:spcPct val="105000"/>
              </a:lnSpc>
              <a:spcBef>
                <a:spcPct val="0"/>
              </a:spcBef>
              <a:buFontTx/>
              <a:buNone/>
            </a:pPr>
            <a:r>
              <a:rPr lang="en-US" altLang="zh-CN" sz="1800" b="1" dirty="0">
                <a:latin typeface="+mn-lt"/>
                <a:ea typeface="楷体" panose="02010609060101010101" pitchFamily="49" charset="-122"/>
              </a:rPr>
              <a:t> </a:t>
            </a:r>
            <a:r>
              <a:rPr lang="zh-CN" altLang="en-US" sz="1800" b="1" dirty="0">
                <a:latin typeface="+mn-lt"/>
                <a:ea typeface="楷体" panose="02010609060101010101" pitchFamily="49" charset="-122"/>
              </a:rPr>
              <a:t>段号     内存起始地址       段长</a:t>
            </a:r>
          </a:p>
          <a:p>
            <a:pPr eaLnBrk="1" hangingPunct="1">
              <a:lnSpc>
                <a:spcPct val="105000"/>
              </a:lnSpc>
              <a:spcBef>
                <a:spcPct val="0"/>
              </a:spcBef>
              <a:buFontTx/>
              <a:buNone/>
            </a:pPr>
            <a:r>
              <a:rPr lang="zh-CN" altLang="en-US" sz="1800" b="1" dirty="0">
                <a:latin typeface="+mn-lt"/>
                <a:ea typeface="楷体" panose="02010609060101010101" pitchFamily="49" charset="-122"/>
              </a:rPr>
              <a:t>    </a:t>
            </a:r>
            <a:r>
              <a:rPr lang="en-US" altLang="zh-CN" sz="1800" b="1" dirty="0">
                <a:latin typeface="+mn-lt"/>
                <a:ea typeface="楷体" panose="02010609060101010101" pitchFamily="49" charset="-122"/>
              </a:rPr>
              <a:t>0                   210               500</a:t>
            </a:r>
          </a:p>
          <a:p>
            <a:pPr eaLnBrk="1" hangingPunct="1">
              <a:lnSpc>
                <a:spcPct val="105000"/>
              </a:lnSpc>
              <a:spcBef>
                <a:spcPct val="0"/>
              </a:spcBef>
              <a:buFontTx/>
              <a:buNone/>
            </a:pPr>
            <a:r>
              <a:rPr lang="en-US" altLang="zh-CN" sz="1800" b="1" dirty="0">
                <a:latin typeface="+mn-lt"/>
                <a:ea typeface="楷体" panose="02010609060101010101" pitchFamily="49" charset="-122"/>
              </a:rPr>
              <a:t>    1                  2350                20</a:t>
            </a:r>
          </a:p>
          <a:p>
            <a:pPr eaLnBrk="1" hangingPunct="1">
              <a:lnSpc>
                <a:spcPct val="105000"/>
              </a:lnSpc>
              <a:spcBef>
                <a:spcPct val="0"/>
              </a:spcBef>
              <a:buFontTx/>
              <a:buNone/>
            </a:pPr>
            <a:r>
              <a:rPr lang="en-US" altLang="zh-CN" sz="1800" b="1" dirty="0">
                <a:latin typeface="+mn-lt"/>
                <a:ea typeface="楷体" panose="02010609060101010101" pitchFamily="49" charset="-122"/>
              </a:rPr>
              <a:t>    2                   100                 90</a:t>
            </a:r>
          </a:p>
          <a:p>
            <a:pPr eaLnBrk="1" hangingPunct="1">
              <a:lnSpc>
                <a:spcPct val="105000"/>
              </a:lnSpc>
              <a:spcBef>
                <a:spcPct val="0"/>
              </a:spcBef>
              <a:buFontTx/>
              <a:buNone/>
            </a:pPr>
            <a:r>
              <a:rPr lang="en-US" altLang="zh-CN" sz="1800" b="1" dirty="0">
                <a:latin typeface="+mn-lt"/>
                <a:ea typeface="楷体" panose="02010609060101010101" pitchFamily="49" charset="-122"/>
              </a:rPr>
              <a:t>    3                   1350             590</a:t>
            </a:r>
          </a:p>
          <a:p>
            <a:pPr eaLnBrk="1" hangingPunct="1">
              <a:lnSpc>
                <a:spcPct val="105000"/>
              </a:lnSpc>
              <a:spcBef>
                <a:spcPct val="0"/>
              </a:spcBef>
              <a:buFontTx/>
              <a:buNone/>
            </a:pPr>
            <a:r>
              <a:rPr lang="en-US" altLang="zh-CN" sz="1800" b="1" dirty="0">
                <a:latin typeface="+mn-lt"/>
                <a:ea typeface="楷体" panose="02010609060101010101" pitchFamily="49" charset="-122"/>
              </a:rPr>
              <a:t>    4                   1938               95</a:t>
            </a:r>
          </a:p>
          <a:p>
            <a:pPr eaLnBrk="1" hangingPunct="1">
              <a:lnSpc>
                <a:spcPct val="105000"/>
              </a:lnSpc>
              <a:spcBef>
                <a:spcPct val="0"/>
              </a:spcBef>
              <a:buFontTx/>
              <a:buNone/>
            </a:pPr>
            <a:r>
              <a:rPr lang="zh-CN" altLang="en-US" sz="1800" b="1" dirty="0">
                <a:latin typeface="+mn-lt"/>
                <a:ea typeface="楷体" panose="02010609060101010101" pitchFamily="49" charset="-122"/>
              </a:rPr>
              <a:t>求下述逻辑地址对应的物理地址是什么</a:t>
            </a:r>
            <a:r>
              <a:rPr lang="en-US" altLang="zh-CN" sz="1800" b="1" dirty="0">
                <a:latin typeface="+mn-lt"/>
                <a:ea typeface="楷体" panose="02010609060101010101" pitchFamily="49" charset="-122"/>
              </a:rPr>
              <a:t>?</a:t>
            </a:r>
          </a:p>
          <a:p>
            <a:pPr eaLnBrk="1" hangingPunct="1">
              <a:lnSpc>
                <a:spcPct val="105000"/>
              </a:lnSpc>
              <a:spcBef>
                <a:spcPct val="0"/>
              </a:spcBef>
              <a:buFontTx/>
              <a:buNone/>
            </a:pPr>
            <a:endParaRPr lang="en-US" altLang="zh-CN" sz="900" b="1" dirty="0">
              <a:latin typeface="+mn-lt"/>
              <a:ea typeface="楷体" panose="02010609060101010101" pitchFamily="49" charset="-122"/>
            </a:endParaRPr>
          </a:p>
          <a:p>
            <a:pPr eaLnBrk="1" hangingPunct="1">
              <a:lnSpc>
                <a:spcPct val="105000"/>
              </a:lnSpc>
              <a:spcBef>
                <a:spcPct val="0"/>
              </a:spcBef>
              <a:buFontTx/>
              <a:buNone/>
            </a:pPr>
            <a:r>
              <a:rPr lang="en-US" altLang="zh-CN" sz="1800" b="1" dirty="0">
                <a:latin typeface="+mn-lt"/>
                <a:ea typeface="楷体" panose="02010609060101010101" pitchFamily="49" charset="-122"/>
              </a:rPr>
              <a:t>  </a:t>
            </a:r>
            <a:r>
              <a:rPr lang="zh-CN" altLang="en-US" sz="1800" b="1" dirty="0">
                <a:latin typeface="+mn-lt"/>
                <a:ea typeface="楷体" panose="02010609060101010101" pitchFamily="49" charset="-122"/>
              </a:rPr>
              <a:t>段号         段内位移</a:t>
            </a:r>
          </a:p>
          <a:p>
            <a:pPr eaLnBrk="1" hangingPunct="1">
              <a:lnSpc>
                <a:spcPct val="105000"/>
              </a:lnSpc>
              <a:spcBef>
                <a:spcPct val="0"/>
              </a:spcBef>
              <a:buFontTx/>
              <a:buNone/>
            </a:pPr>
            <a:r>
              <a:rPr lang="zh-CN" altLang="en-US" sz="1800" b="1" dirty="0">
                <a:latin typeface="+mn-lt"/>
                <a:ea typeface="楷体" panose="02010609060101010101" pitchFamily="49" charset="-122"/>
              </a:rPr>
              <a:t>    </a:t>
            </a:r>
            <a:r>
              <a:rPr lang="en-US" altLang="zh-CN" sz="1800" b="1" dirty="0">
                <a:latin typeface="+mn-lt"/>
                <a:ea typeface="楷体" panose="02010609060101010101" pitchFamily="49" charset="-122"/>
              </a:rPr>
              <a:t>0                   430 </a:t>
            </a:r>
          </a:p>
          <a:p>
            <a:pPr eaLnBrk="1" hangingPunct="1">
              <a:lnSpc>
                <a:spcPct val="105000"/>
              </a:lnSpc>
              <a:spcBef>
                <a:spcPct val="0"/>
              </a:spcBef>
              <a:buFontTx/>
              <a:buNone/>
            </a:pPr>
            <a:r>
              <a:rPr lang="en-US" altLang="zh-CN" sz="1800" b="1" dirty="0">
                <a:latin typeface="+mn-lt"/>
                <a:ea typeface="楷体" panose="02010609060101010101" pitchFamily="49" charset="-122"/>
              </a:rPr>
              <a:t>    1                   10 </a:t>
            </a:r>
          </a:p>
          <a:p>
            <a:pPr eaLnBrk="1" hangingPunct="1">
              <a:lnSpc>
                <a:spcPct val="105000"/>
              </a:lnSpc>
              <a:spcBef>
                <a:spcPct val="0"/>
              </a:spcBef>
              <a:buFontTx/>
              <a:buNone/>
            </a:pPr>
            <a:r>
              <a:rPr lang="en-US" altLang="zh-CN" sz="1800" b="1" dirty="0">
                <a:latin typeface="+mn-lt"/>
                <a:ea typeface="楷体" panose="02010609060101010101" pitchFamily="49" charset="-122"/>
              </a:rPr>
              <a:t>    2                   500</a:t>
            </a:r>
            <a:endParaRPr lang="zh-CN" altLang="en-US" sz="1800" b="1" dirty="0">
              <a:latin typeface="+mn-lt"/>
              <a:ea typeface="楷体" panose="02010609060101010101" pitchFamily="49" charset="-122"/>
            </a:endParaRPr>
          </a:p>
          <a:p>
            <a:pPr eaLnBrk="1" hangingPunct="1">
              <a:lnSpc>
                <a:spcPct val="105000"/>
              </a:lnSpc>
              <a:spcBef>
                <a:spcPct val="0"/>
              </a:spcBef>
              <a:buFontTx/>
              <a:buNone/>
            </a:pPr>
            <a:r>
              <a:rPr lang="zh-CN" altLang="en-US" sz="1800" b="1" dirty="0">
                <a:latin typeface="+mn-lt"/>
                <a:ea typeface="楷体" panose="02010609060101010101" pitchFamily="49" charset="-122"/>
              </a:rPr>
              <a:t>    </a:t>
            </a:r>
            <a:r>
              <a:rPr lang="en-US" altLang="zh-CN" sz="1800" b="1" dirty="0">
                <a:latin typeface="+mn-lt"/>
                <a:ea typeface="楷体" panose="02010609060101010101" pitchFamily="49" charset="-122"/>
              </a:rPr>
              <a:t>3                   400          </a:t>
            </a:r>
          </a:p>
          <a:p>
            <a:pPr eaLnBrk="1" hangingPunct="1">
              <a:lnSpc>
                <a:spcPct val="105000"/>
              </a:lnSpc>
              <a:spcBef>
                <a:spcPct val="0"/>
              </a:spcBef>
              <a:buFontTx/>
              <a:buNone/>
            </a:pPr>
            <a:r>
              <a:rPr lang="en-US" altLang="zh-CN" sz="1800" b="1" dirty="0">
                <a:latin typeface="+mn-lt"/>
                <a:ea typeface="楷体" panose="02010609060101010101" pitchFamily="49" charset="-122"/>
              </a:rPr>
              <a:t>    4                   112          </a:t>
            </a:r>
            <a:endParaRPr lang="zh-CN" altLang="en-US" sz="1800" b="1" dirty="0">
              <a:latin typeface="+mn-lt"/>
              <a:ea typeface="楷体" panose="02010609060101010101" pitchFamily="49" charset="-122"/>
            </a:endParaRPr>
          </a:p>
        </p:txBody>
      </p:sp>
      <p:sp>
        <p:nvSpPr>
          <p:cNvPr id="8" name="TextBox 7"/>
          <p:cNvSpPr txBox="1"/>
          <p:nvPr/>
        </p:nvSpPr>
        <p:spPr>
          <a:xfrm>
            <a:off x="4788024" y="4479834"/>
            <a:ext cx="2088232" cy="1477328"/>
          </a:xfrm>
          <a:prstGeom prst="rect">
            <a:avLst/>
          </a:prstGeom>
          <a:noFill/>
        </p:spPr>
        <p:txBody>
          <a:bodyPr wrap="square" rtlCol="0">
            <a:spAutoFit/>
          </a:bodyPr>
          <a:lstStyle/>
          <a:p>
            <a:r>
              <a:rPr lang="en-US" altLang="zh-CN" b="1" dirty="0">
                <a:solidFill>
                  <a:srgbClr val="0000FF"/>
                </a:solidFill>
                <a:ea typeface="楷体" panose="02010609060101010101" pitchFamily="49" charset="-122"/>
              </a:rPr>
              <a:t>(210+430=640)</a:t>
            </a:r>
          </a:p>
          <a:p>
            <a:r>
              <a:rPr lang="en-US" altLang="zh-CN" b="1" dirty="0">
                <a:solidFill>
                  <a:srgbClr val="0000FF"/>
                </a:solidFill>
                <a:ea typeface="楷体" panose="02010609060101010101" pitchFamily="49" charset="-122"/>
              </a:rPr>
              <a:t>(2350+10=2360)</a:t>
            </a:r>
          </a:p>
          <a:p>
            <a:r>
              <a:rPr lang="zh-CN" altLang="en-US" b="1" dirty="0">
                <a:solidFill>
                  <a:srgbClr val="0000FF"/>
                </a:solidFill>
                <a:ea typeface="楷体" panose="02010609060101010101" pitchFamily="49" charset="-122"/>
              </a:rPr>
              <a:t>非法</a:t>
            </a:r>
            <a:endParaRPr lang="en-US" altLang="zh-CN" b="1" dirty="0">
              <a:solidFill>
                <a:srgbClr val="0000FF"/>
              </a:solidFill>
              <a:ea typeface="楷体" panose="02010609060101010101" pitchFamily="49" charset="-122"/>
            </a:endParaRPr>
          </a:p>
          <a:p>
            <a:r>
              <a:rPr lang="en-US" altLang="zh-CN" b="1" dirty="0">
                <a:solidFill>
                  <a:srgbClr val="0000FF"/>
                </a:solidFill>
                <a:ea typeface="楷体" panose="02010609060101010101" pitchFamily="49" charset="-122"/>
              </a:rPr>
              <a:t>1350+400=1750</a:t>
            </a:r>
          </a:p>
          <a:p>
            <a:r>
              <a:rPr lang="zh-CN" altLang="en-US" b="1" dirty="0">
                <a:solidFill>
                  <a:srgbClr val="0000FF"/>
                </a:solidFill>
                <a:ea typeface="楷体" panose="02010609060101010101" pitchFamily="49" charset="-122"/>
              </a:rPr>
              <a:t>非法</a:t>
            </a:r>
          </a:p>
        </p:txBody>
      </p:sp>
    </p:spTree>
    <p:extLst>
      <p:ext uri="{BB962C8B-B14F-4D97-AF65-F5344CB8AC3E}">
        <p14:creationId xmlns:p14="http://schemas.microsoft.com/office/powerpoint/2010/main" val="1997915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页式管理与段式管理的比较</a:t>
            </a:r>
          </a:p>
        </p:txBody>
      </p:sp>
      <p:sp>
        <p:nvSpPr>
          <p:cNvPr id="4" name="Date Placeholder 3"/>
          <p:cNvSpPr>
            <a:spLocks noGrp="1"/>
          </p:cNvSpPr>
          <p:nvPr>
            <p:ph type="dt" sz="half" idx="10"/>
          </p:nvPr>
        </p:nvSpPr>
        <p:spPr/>
        <p:txBody>
          <a:bodyPr/>
          <a:lstStyle/>
          <a:p>
            <a:fld id="{65449FD5-6BA1-4D58-8143-7239CA7AA073}"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76</a:t>
            </a:fld>
            <a:endParaRPr lang="zh-CN" altLang="en-US" dirty="0"/>
          </a:p>
        </p:txBody>
      </p:sp>
      <p:graphicFrame>
        <p:nvGraphicFramePr>
          <p:cNvPr id="9" name="Table 8"/>
          <p:cNvGraphicFramePr>
            <a:graphicFrameLocks noGrp="1"/>
          </p:cNvGraphicFramePr>
          <p:nvPr>
            <p:extLst/>
          </p:nvPr>
        </p:nvGraphicFramePr>
        <p:xfrm>
          <a:off x="611560" y="1700808"/>
          <a:ext cx="7822074" cy="3167683"/>
        </p:xfrm>
        <a:graphic>
          <a:graphicData uri="http://schemas.openxmlformats.org/drawingml/2006/table">
            <a:tbl>
              <a:tblPr firstRow="1" bandRow="1">
                <a:tableStyleId>{7DF18680-E054-41AD-8BC1-D1AEF772440D}</a:tableStyleId>
              </a:tblPr>
              <a:tblGrid>
                <a:gridCol w="1485370">
                  <a:extLst>
                    <a:ext uri="{9D8B030D-6E8A-4147-A177-3AD203B41FA5}">
                      <a16:colId xmlns:a16="http://schemas.microsoft.com/office/drawing/2014/main" xmlns="" val="20000"/>
                    </a:ext>
                  </a:extLst>
                </a:gridCol>
                <a:gridCol w="3168352">
                  <a:extLst>
                    <a:ext uri="{9D8B030D-6E8A-4147-A177-3AD203B41FA5}">
                      <a16:colId xmlns:a16="http://schemas.microsoft.com/office/drawing/2014/main" xmlns="" val="20001"/>
                    </a:ext>
                  </a:extLst>
                </a:gridCol>
                <a:gridCol w="3168352">
                  <a:extLst>
                    <a:ext uri="{9D8B030D-6E8A-4147-A177-3AD203B41FA5}">
                      <a16:colId xmlns:a16="http://schemas.microsoft.com/office/drawing/2014/main" xmlns="" val="20002"/>
                    </a:ext>
                  </a:extLst>
                </a:gridCol>
              </a:tblGrid>
              <a:tr h="553208">
                <a:tc>
                  <a:txBody>
                    <a:bodyPr/>
                    <a:lstStyle/>
                    <a:p>
                      <a:pPr algn="ctr"/>
                      <a:r>
                        <a:rPr lang="zh-CN" altLang="en-US" dirty="0">
                          <a:latin typeface="楷体" panose="02010609060101010101" pitchFamily="49" charset="-122"/>
                          <a:ea typeface="楷体" panose="02010609060101010101" pitchFamily="49" charset="-122"/>
                        </a:rPr>
                        <a:t>项目</a:t>
                      </a:r>
                    </a:p>
                  </a:txBody>
                  <a:tcPr/>
                </a:tc>
                <a:tc>
                  <a:txBody>
                    <a:bodyPr/>
                    <a:lstStyle/>
                    <a:p>
                      <a:pPr algn="ctr"/>
                      <a:r>
                        <a:rPr lang="zh-CN" altLang="en-US" dirty="0">
                          <a:latin typeface="楷体" panose="02010609060101010101" pitchFamily="49" charset="-122"/>
                          <a:ea typeface="楷体" panose="02010609060101010101" pitchFamily="49" charset="-122"/>
                        </a:rPr>
                        <a:t>页式管理</a:t>
                      </a:r>
                    </a:p>
                  </a:txBody>
                  <a:tcPr/>
                </a:tc>
                <a:tc>
                  <a:txBody>
                    <a:bodyPr/>
                    <a:lstStyle/>
                    <a:p>
                      <a:pPr algn="ctr"/>
                      <a:r>
                        <a:rPr lang="zh-CN" altLang="en-US" dirty="0">
                          <a:latin typeface="楷体" panose="02010609060101010101" pitchFamily="49" charset="-122"/>
                          <a:ea typeface="楷体" panose="02010609060101010101" pitchFamily="49" charset="-122"/>
                        </a:rPr>
                        <a:t>段式管理</a:t>
                      </a:r>
                    </a:p>
                  </a:txBody>
                  <a:tcPr/>
                </a:tc>
                <a:extLst>
                  <a:ext uri="{0D108BD9-81ED-4DB2-BD59-A6C34878D82A}">
                    <a16:rowId xmlns:a16="http://schemas.microsoft.com/office/drawing/2014/main" xmlns="" val="10000"/>
                  </a:ext>
                </a:extLst>
              </a:tr>
              <a:tr h="553208">
                <a:tc>
                  <a:txBody>
                    <a:bodyPr/>
                    <a:lstStyle/>
                    <a:p>
                      <a:pPr algn="ctr"/>
                      <a:r>
                        <a:rPr lang="zh-CN" altLang="en-US" dirty="0">
                          <a:latin typeface="楷体" panose="02010609060101010101" pitchFamily="49" charset="-122"/>
                          <a:ea typeface="楷体" panose="02010609060101010101" pitchFamily="49" charset="-122"/>
                        </a:rPr>
                        <a:t>设计目的</a:t>
                      </a:r>
                    </a:p>
                  </a:txBody>
                  <a:tcPr/>
                </a:tc>
                <a:tc>
                  <a:txBody>
                    <a:bodyPr/>
                    <a:lstStyle/>
                    <a:p>
                      <a:pPr algn="ctr"/>
                      <a:r>
                        <a:rPr lang="zh-CN" altLang="en-US" dirty="0">
                          <a:latin typeface="楷体" panose="02010609060101010101" pitchFamily="49" charset="-122"/>
                          <a:ea typeface="楷体" panose="02010609060101010101" pitchFamily="49" charset="-122"/>
                        </a:rPr>
                        <a:t>解决碎片问题</a:t>
                      </a:r>
                    </a:p>
                  </a:txBody>
                  <a:tcPr/>
                </a:tc>
                <a:tc>
                  <a:txBody>
                    <a:bodyPr/>
                    <a:lstStyle/>
                    <a:p>
                      <a:pPr algn="ctr"/>
                      <a:r>
                        <a:rPr lang="zh-CN" altLang="en-US" dirty="0">
                          <a:latin typeface="楷体" panose="02010609060101010101" pitchFamily="49" charset="-122"/>
                          <a:ea typeface="楷体" panose="02010609060101010101" pitchFamily="49" charset="-122"/>
                        </a:rPr>
                        <a:t>解决数据共享问题</a:t>
                      </a:r>
                    </a:p>
                  </a:txBody>
                  <a:tcPr/>
                </a:tc>
                <a:extLst>
                  <a:ext uri="{0D108BD9-81ED-4DB2-BD59-A6C34878D82A}">
                    <a16:rowId xmlns:a16="http://schemas.microsoft.com/office/drawing/2014/main" xmlns="" val="10001"/>
                  </a:ext>
                </a:extLst>
              </a:tr>
              <a:tr h="553208">
                <a:tc>
                  <a:txBody>
                    <a:bodyPr/>
                    <a:lstStyle/>
                    <a:p>
                      <a:pPr algn="ctr"/>
                      <a:r>
                        <a:rPr lang="zh-CN" altLang="en-US" dirty="0">
                          <a:latin typeface="楷体" panose="02010609060101010101" pitchFamily="49" charset="-122"/>
                          <a:ea typeface="楷体" panose="02010609060101010101" pitchFamily="49" charset="-122"/>
                        </a:rPr>
                        <a:t>出发点</a:t>
                      </a:r>
                    </a:p>
                  </a:txBody>
                  <a:tcPr/>
                </a:tc>
                <a:tc>
                  <a:txBody>
                    <a:bodyPr/>
                    <a:lstStyle/>
                    <a:p>
                      <a:pPr algn="ctr"/>
                      <a:r>
                        <a:rPr lang="zh-CN" altLang="en-US" dirty="0">
                          <a:latin typeface="楷体" panose="02010609060101010101" pitchFamily="49" charset="-122"/>
                          <a:ea typeface="楷体" panose="02010609060101010101" pitchFamily="49" charset="-122"/>
                        </a:rPr>
                        <a:t>物理空间的划分与管理</a:t>
                      </a:r>
                    </a:p>
                  </a:txBody>
                  <a:tcPr/>
                </a:tc>
                <a:tc>
                  <a:txBody>
                    <a:bodyPr/>
                    <a:lstStyle/>
                    <a:p>
                      <a:pPr algn="ctr"/>
                      <a:r>
                        <a:rPr lang="zh-CN" altLang="en-US" dirty="0">
                          <a:latin typeface="楷体" panose="02010609060101010101" pitchFamily="49" charset="-122"/>
                          <a:ea typeface="楷体" panose="02010609060101010101" pitchFamily="49" charset="-122"/>
                        </a:rPr>
                        <a:t>依据程序逻辑划分</a:t>
                      </a:r>
                    </a:p>
                  </a:txBody>
                  <a:tcPr/>
                </a:tc>
                <a:extLst>
                  <a:ext uri="{0D108BD9-81ED-4DB2-BD59-A6C34878D82A}">
                    <a16:rowId xmlns:a16="http://schemas.microsoft.com/office/drawing/2014/main" xmlns="" val="10002"/>
                  </a:ext>
                </a:extLst>
              </a:tr>
              <a:tr h="553208">
                <a:tc>
                  <a:txBody>
                    <a:bodyPr/>
                    <a:lstStyle/>
                    <a:p>
                      <a:pPr algn="ctr"/>
                      <a:r>
                        <a:rPr lang="zh-CN" altLang="en-US" dirty="0">
                          <a:latin typeface="楷体" panose="02010609060101010101" pitchFamily="49" charset="-122"/>
                          <a:ea typeface="楷体" panose="02010609060101010101" pitchFamily="49" charset="-122"/>
                        </a:rPr>
                        <a:t>尺寸</a:t>
                      </a:r>
                    </a:p>
                  </a:txBody>
                  <a:tcPr/>
                </a:tc>
                <a:tc>
                  <a:txBody>
                    <a:bodyPr/>
                    <a:lstStyle/>
                    <a:p>
                      <a:pPr algn="ctr"/>
                      <a:r>
                        <a:rPr lang="zh-CN" altLang="en-US" dirty="0">
                          <a:latin typeface="楷体" panose="02010609060101010101" pitchFamily="49" charset="-122"/>
                          <a:ea typeface="楷体" panose="02010609060101010101" pitchFamily="49" charset="-122"/>
                        </a:rPr>
                        <a:t>大小固定</a:t>
                      </a:r>
                    </a:p>
                  </a:txBody>
                  <a:tcPr/>
                </a:tc>
                <a:tc>
                  <a:txBody>
                    <a:bodyPr/>
                    <a:lstStyle/>
                    <a:p>
                      <a:pPr algn="ctr"/>
                      <a:r>
                        <a:rPr lang="zh-CN" altLang="en-US" dirty="0">
                          <a:latin typeface="楷体" panose="02010609060101010101" pitchFamily="49" charset="-122"/>
                          <a:ea typeface="楷体" panose="02010609060101010101" pitchFamily="49" charset="-122"/>
                        </a:rPr>
                        <a:t>大小不固定</a:t>
                      </a:r>
                    </a:p>
                  </a:txBody>
                  <a:tcPr/>
                </a:tc>
                <a:extLst>
                  <a:ext uri="{0D108BD9-81ED-4DB2-BD59-A6C34878D82A}">
                    <a16:rowId xmlns:a16="http://schemas.microsoft.com/office/drawing/2014/main" xmlns="" val="10003"/>
                  </a:ext>
                </a:extLst>
              </a:tr>
              <a:tr h="954851">
                <a:tc>
                  <a:txBody>
                    <a:bodyPr/>
                    <a:lstStyle/>
                    <a:p>
                      <a:pPr algn="ctr"/>
                      <a:r>
                        <a:rPr lang="zh-CN" altLang="en-US" dirty="0">
                          <a:latin typeface="楷体" panose="02010609060101010101" pitchFamily="49" charset="-122"/>
                          <a:ea typeface="楷体" panose="02010609060101010101" pitchFamily="49" charset="-122"/>
                        </a:rPr>
                        <a:t>地址映射</a:t>
                      </a:r>
                    </a:p>
                  </a:txBody>
                  <a:tcPr/>
                </a:tc>
                <a:tc>
                  <a:txBody>
                    <a:bodyPr/>
                    <a:lstStyle/>
                    <a:p>
                      <a:pPr algn="ctr"/>
                      <a:r>
                        <a:rPr lang="zh-CN" altLang="en-US" dirty="0">
                          <a:latin typeface="楷体" panose="02010609060101010101" pitchFamily="49" charset="-122"/>
                          <a:ea typeface="楷体" panose="02010609060101010101" pitchFamily="49" charset="-122"/>
                        </a:rPr>
                        <a:t>通过“页号</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页内偏移”</a:t>
                      </a:r>
                      <a:r>
                        <a:rPr lang="zh-CN" altLang="en-US" b="1" dirty="0">
                          <a:solidFill>
                            <a:srgbClr val="0000FF"/>
                          </a:solidFill>
                          <a:latin typeface="楷体" panose="02010609060101010101" pitchFamily="49" charset="-122"/>
                          <a:ea typeface="楷体" panose="02010609060101010101" pitchFamily="49" charset="-122"/>
                        </a:rPr>
                        <a:t>拼接</a:t>
                      </a:r>
                      <a:r>
                        <a:rPr lang="zh-CN" altLang="en-US" dirty="0">
                          <a:latin typeface="楷体" panose="02010609060101010101" pitchFamily="49" charset="-122"/>
                          <a:ea typeface="楷体" panose="02010609060101010101" pitchFamily="49" charset="-122"/>
                        </a:rPr>
                        <a:t>而来的</a:t>
                      </a:r>
                    </a:p>
                  </a:txBody>
                  <a:tcPr/>
                </a:tc>
                <a:tc>
                  <a:txBody>
                    <a:bodyPr/>
                    <a:lstStyle/>
                    <a:p>
                      <a:pPr algn="ctr"/>
                      <a:r>
                        <a:rPr lang="zh-CN" altLang="en-US" dirty="0">
                          <a:latin typeface="楷体" panose="02010609060101010101" pitchFamily="49" charset="-122"/>
                          <a:ea typeface="楷体" panose="02010609060101010101" pitchFamily="49" charset="-122"/>
                        </a:rPr>
                        <a:t>通过“段基址</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段内偏移”</a:t>
                      </a:r>
                      <a:r>
                        <a:rPr lang="zh-CN" altLang="en-US" b="1" dirty="0">
                          <a:solidFill>
                            <a:srgbClr val="0000FF"/>
                          </a:solidFill>
                          <a:latin typeface="楷体" panose="02010609060101010101" pitchFamily="49" charset="-122"/>
                          <a:ea typeface="楷体" panose="02010609060101010101" pitchFamily="49" charset="-122"/>
                        </a:rPr>
                        <a:t>相加</a:t>
                      </a:r>
                      <a:r>
                        <a:rPr lang="zh-CN" altLang="en-US" dirty="0">
                          <a:latin typeface="楷体" panose="02010609060101010101" pitchFamily="49" charset="-122"/>
                          <a:ea typeface="楷体" panose="02010609060101010101" pitchFamily="49" charset="-122"/>
                        </a:rPr>
                        <a:t>得到的</a:t>
                      </a:r>
                    </a:p>
                  </a:txBody>
                  <a:tcPr/>
                </a:tc>
                <a:extLst>
                  <a:ext uri="{0D108BD9-81ED-4DB2-BD59-A6C34878D82A}">
                    <a16:rowId xmlns:a16="http://schemas.microsoft.com/office/drawing/2014/main" xmlns="" val="10004"/>
                  </a:ext>
                </a:extLst>
              </a:tr>
            </a:tbl>
          </a:graphicData>
        </a:graphic>
      </p:graphicFrame>
      <p:sp>
        <p:nvSpPr>
          <p:cNvPr id="10" name="TextBox 9"/>
          <p:cNvSpPr txBox="1"/>
          <p:nvPr/>
        </p:nvSpPr>
        <p:spPr>
          <a:xfrm>
            <a:off x="899592" y="5445224"/>
            <a:ext cx="7272808" cy="646331"/>
          </a:xfrm>
          <a:prstGeom prst="rect">
            <a:avLst/>
          </a:prstGeom>
          <a:noFill/>
        </p:spPr>
        <p:txBody>
          <a:bodyPr wrap="square" rtlCol="0">
            <a:spAutoFit/>
          </a:bodyPr>
          <a:lstStyle/>
          <a:p>
            <a:pPr algn="ctr"/>
            <a:r>
              <a:rPr lang="zh-CN" altLang="en-US" b="1" dirty="0">
                <a:solidFill>
                  <a:srgbClr val="0000FF"/>
                </a:solidFill>
                <a:latin typeface="楷体" panose="02010609060101010101" pitchFamily="49" charset="-122"/>
                <a:ea typeface="楷体" panose="02010609060101010101" pitchFamily="49" charset="-122"/>
              </a:rPr>
              <a:t>尽管很少有系统直接使用简单页式和简单段式管理，但是这两种机制是实现虚拟存储器的基础</a:t>
            </a:r>
          </a:p>
        </p:txBody>
      </p:sp>
    </p:spTree>
    <p:extLst>
      <p:ext uri="{BB962C8B-B14F-4D97-AF65-F5344CB8AC3E}">
        <p14:creationId xmlns:p14="http://schemas.microsoft.com/office/powerpoint/2010/main" val="3000295840"/>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主要内容</a:t>
            </a:r>
          </a:p>
        </p:txBody>
      </p:sp>
      <p:sp>
        <p:nvSpPr>
          <p:cNvPr id="3" name="Content Placeholder 2"/>
          <p:cNvSpPr>
            <a:spLocks noGrp="1"/>
          </p:cNvSpPr>
          <p:nvPr>
            <p:ph idx="1"/>
          </p:nvPr>
        </p:nvSpPr>
        <p:spPr/>
        <p:txBody>
          <a:bodyPr>
            <a:normAutofit lnSpcReduction="10000"/>
          </a:bodyPr>
          <a:lstStyle/>
          <a:p>
            <a:r>
              <a:rPr lang="zh-CN" altLang="en-US" dirty="0">
                <a:solidFill>
                  <a:schemeClr val="bg1">
                    <a:lumMod val="85000"/>
                  </a:schemeClr>
                </a:solidFill>
              </a:rPr>
              <a:t>存储管理的功能与目标</a:t>
            </a:r>
            <a:endParaRPr lang="en-US" altLang="zh-CN" dirty="0">
              <a:solidFill>
                <a:schemeClr val="bg1">
                  <a:lumMod val="85000"/>
                </a:schemeClr>
              </a:solidFill>
            </a:endParaRPr>
          </a:p>
          <a:p>
            <a:r>
              <a:rPr lang="zh-CN" altLang="en-US" dirty="0">
                <a:solidFill>
                  <a:schemeClr val="bg1">
                    <a:lumMod val="85000"/>
                  </a:schemeClr>
                </a:solidFill>
              </a:rPr>
              <a:t>分区存储管理</a:t>
            </a:r>
            <a:endParaRPr lang="en-US" altLang="zh-CN" dirty="0">
              <a:solidFill>
                <a:schemeClr val="bg1">
                  <a:lumMod val="85000"/>
                </a:schemeClr>
              </a:solidFill>
            </a:endParaRPr>
          </a:p>
          <a:p>
            <a:r>
              <a:rPr lang="zh-CN" altLang="en-US" dirty="0">
                <a:solidFill>
                  <a:schemeClr val="bg1">
                    <a:lumMod val="85000"/>
                  </a:schemeClr>
                </a:solidFill>
              </a:rPr>
              <a:t>覆盖与交换技术</a:t>
            </a:r>
            <a:endParaRPr lang="en-US" altLang="zh-CN" dirty="0">
              <a:solidFill>
                <a:schemeClr val="bg1">
                  <a:lumMod val="85000"/>
                </a:schemeClr>
              </a:solidFill>
            </a:endParaRPr>
          </a:p>
          <a:p>
            <a:r>
              <a:rPr lang="zh-CN" altLang="en-US" dirty="0">
                <a:solidFill>
                  <a:schemeClr val="bg1">
                    <a:lumMod val="85000"/>
                  </a:schemeClr>
                </a:solidFill>
              </a:rPr>
              <a:t>页式与段式存储管理机制</a:t>
            </a:r>
            <a:endParaRPr lang="en-US" altLang="zh-CN" dirty="0">
              <a:solidFill>
                <a:schemeClr val="bg1">
                  <a:lumMod val="85000"/>
                </a:schemeClr>
              </a:solidFill>
            </a:endParaRPr>
          </a:p>
          <a:p>
            <a:pPr lvl="1"/>
            <a:r>
              <a:rPr lang="zh-CN" altLang="en-US" dirty="0">
                <a:solidFill>
                  <a:schemeClr val="bg1">
                    <a:lumMod val="85000"/>
                  </a:schemeClr>
                </a:solidFill>
              </a:rPr>
              <a:t>简单页式管理</a:t>
            </a:r>
            <a:endParaRPr lang="en-US" altLang="zh-CN" dirty="0">
              <a:solidFill>
                <a:schemeClr val="bg1">
                  <a:lumMod val="85000"/>
                </a:schemeClr>
              </a:solidFill>
            </a:endParaRPr>
          </a:p>
          <a:p>
            <a:pPr lvl="1"/>
            <a:r>
              <a:rPr lang="zh-CN" altLang="en-US" dirty="0">
                <a:solidFill>
                  <a:schemeClr val="bg1">
                    <a:lumMod val="85000"/>
                  </a:schemeClr>
                </a:solidFill>
              </a:rPr>
              <a:t>简单段式管理</a:t>
            </a:r>
            <a:endParaRPr lang="en-US" altLang="zh-CN" dirty="0">
              <a:solidFill>
                <a:schemeClr val="bg1">
                  <a:lumMod val="85000"/>
                </a:schemeClr>
              </a:solidFill>
            </a:endParaRPr>
          </a:p>
          <a:p>
            <a:r>
              <a:rPr lang="zh-CN" altLang="en-US" dirty="0">
                <a:solidFill>
                  <a:srgbClr val="0000FF"/>
                </a:solidFill>
              </a:rPr>
              <a:t>虚拟存储器（重中之重）</a:t>
            </a:r>
            <a:endParaRPr lang="en-US" altLang="zh-CN" dirty="0">
              <a:solidFill>
                <a:srgbClr val="0000FF"/>
              </a:solidFill>
            </a:endParaRPr>
          </a:p>
          <a:p>
            <a:pPr lvl="1"/>
            <a:r>
              <a:rPr lang="zh-CN" altLang="en-US" dirty="0">
                <a:solidFill>
                  <a:srgbClr val="0000FF"/>
                </a:solidFill>
              </a:rPr>
              <a:t>虚拟存储器的基本原理</a:t>
            </a:r>
            <a:endParaRPr lang="en-US" altLang="zh-CN" dirty="0">
              <a:solidFill>
                <a:srgbClr val="0000FF"/>
              </a:solidFill>
            </a:endParaRPr>
          </a:p>
          <a:p>
            <a:pPr lvl="1"/>
            <a:r>
              <a:rPr lang="zh-CN" altLang="en-US" dirty="0">
                <a:solidFill>
                  <a:schemeClr val="bg1">
                    <a:lumMod val="85000"/>
                  </a:schemeClr>
                </a:solidFill>
              </a:rPr>
              <a:t>虚拟页式、虚拟段式、段页式管理</a:t>
            </a:r>
            <a:endParaRPr lang="en-US" altLang="zh-CN" dirty="0">
              <a:solidFill>
                <a:schemeClr val="bg1">
                  <a:lumMod val="85000"/>
                </a:schemeClr>
              </a:solidFill>
            </a:endParaRPr>
          </a:p>
          <a:p>
            <a:pPr lvl="1"/>
            <a:r>
              <a:rPr lang="zh-CN" altLang="en-US" dirty="0">
                <a:solidFill>
                  <a:schemeClr val="bg1">
                    <a:lumMod val="85000"/>
                  </a:schemeClr>
                </a:solidFill>
              </a:rPr>
              <a:t>页面置换算法</a:t>
            </a:r>
          </a:p>
        </p:txBody>
      </p:sp>
      <p:sp>
        <p:nvSpPr>
          <p:cNvPr id="4" name="Date Placeholder 3"/>
          <p:cNvSpPr>
            <a:spLocks noGrp="1"/>
          </p:cNvSpPr>
          <p:nvPr>
            <p:ph type="dt" sz="half" idx="10"/>
          </p:nvPr>
        </p:nvSpPr>
        <p:spPr/>
        <p:txBody>
          <a:bodyPr/>
          <a:lstStyle/>
          <a:p>
            <a:fld id="{BC0D5696-FB39-44A9-9E5F-88E06206772D}"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77</a:t>
            </a:fld>
            <a:endParaRPr lang="zh-CN" altLang="en-US" dirty="0"/>
          </a:p>
        </p:txBody>
      </p:sp>
    </p:spTree>
    <p:extLst>
      <p:ext uri="{BB962C8B-B14F-4D97-AF65-F5344CB8AC3E}">
        <p14:creationId xmlns:p14="http://schemas.microsoft.com/office/powerpoint/2010/main" val="305874154"/>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虚拟存储器基本原理</a:t>
            </a:r>
          </a:p>
        </p:txBody>
      </p:sp>
      <p:sp>
        <p:nvSpPr>
          <p:cNvPr id="3" name="Content Placeholder 2"/>
          <p:cNvSpPr>
            <a:spLocks noGrp="1"/>
          </p:cNvSpPr>
          <p:nvPr>
            <p:ph idx="1"/>
          </p:nvPr>
        </p:nvSpPr>
        <p:spPr/>
        <p:txBody>
          <a:bodyPr/>
          <a:lstStyle/>
          <a:p>
            <a:r>
              <a:rPr lang="zh-CN" altLang="en-US" dirty="0"/>
              <a:t>目前已经讲过的方法存在的问题</a:t>
            </a:r>
            <a:endParaRPr lang="en-US" altLang="zh-CN" dirty="0"/>
          </a:p>
          <a:p>
            <a:pPr lvl="1"/>
            <a:r>
              <a:rPr lang="zh-CN" altLang="en-US" dirty="0"/>
              <a:t>程序执行时，所需指令和数据必须一次性全部调入内存</a:t>
            </a:r>
            <a:endParaRPr lang="en-US" altLang="zh-CN" dirty="0"/>
          </a:p>
          <a:p>
            <a:pPr lvl="1"/>
            <a:r>
              <a:rPr lang="zh-CN" altLang="en-US" dirty="0"/>
              <a:t>系统的并发性受到物理内存大小的影响</a:t>
            </a:r>
            <a:endParaRPr lang="en-US" altLang="zh-CN" dirty="0"/>
          </a:p>
          <a:p>
            <a:pPr lvl="1"/>
            <a:r>
              <a:rPr lang="zh-CN" altLang="en-US" dirty="0"/>
              <a:t>进程之间共享数据困难</a:t>
            </a:r>
            <a:endParaRPr lang="en-US" altLang="zh-CN" dirty="0"/>
          </a:p>
          <a:p>
            <a:endParaRPr lang="en-US" altLang="zh-CN" dirty="0"/>
          </a:p>
        </p:txBody>
      </p:sp>
      <p:sp>
        <p:nvSpPr>
          <p:cNvPr id="4" name="Date Placeholder 3"/>
          <p:cNvSpPr>
            <a:spLocks noGrp="1"/>
          </p:cNvSpPr>
          <p:nvPr>
            <p:ph type="dt" sz="half" idx="10"/>
          </p:nvPr>
        </p:nvSpPr>
        <p:spPr/>
        <p:txBody>
          <a:bodyPr/>
          <a:lstStyle/>
          <a:p>
            <a:fld id="{A68D6537-756A-416A-9F04-73754DC36753}"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78</a:t>
            </a:fld>
            <a:endParaRPr lang="zh-CN" altLang="en-US" dirty="0"/>
          </a:p>
        </p:txBody>
      </p:sp>
    </p:spTree>
    <p:extLst>
      <p:ext uri="{BB962C8B-B14F-4D97-AF65-F5344CB8AC3E}">
        <p14:creationId xmlns:p14="http://schemas.microsoft.com/office/powerpoint/2010/main" val="4090710905"/>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虚拟存储器基本原理</a:t>
            </a:r>
          </a:p>
        </p:txBody>
      </p:sp>
      <p:sp>
        <p:nvSpPr>
          <p:cNvPr id="3" name="Content Placeholder 2"/>
          <p:cNvSpPr>
            <a:spLocks noGrp="1"/>
          </p:cNvSpPr>
          <p:nvPr>
            <p:ph idx="1"/>
          </p:nvPr>
        </p:nvSpPr>
        <p:spPr/>
        <p:txBody>
          <a:bodyPr>
            <a:normAutofit fontScale="92500" lnSpcReduction="10000"/>
          </a:bodyPr>
          <a:lstStyle/>
          <a:p>
            <a:r>
              <a:rPr lang="zh-CN" altLang="en-US" dirty="0"/>
              <a:t>为解决上述问题，需要一种机制</a:t>
            </a:r>
            <a:endParaRPr lang="en-US" altLang="zh-CN" dirty="0"/>
          </a:p>
          <a:p>
            <a:pPr marL="800100" lvl="3" indent="-342900">
              <a:spcBef>
                <a:spcPts val="1200"/>
              </a:spcBef>
            </a:pPr>
            <a:r>
              <a:rPr lang="zh-CN" altLang="en-US" sz="2200" dirty="0"/>
              <a:t>在程序装入时，不必将其全部读入到内存，而只需将</a:t>
            </a:r>
            <a:r>
              <a:rPr lang="zh-CN" altLang="en-US" sz="2200" dirty="0">
                <a:solidFill>
                  <a:srgbClr val="0000FF"/>
                </a:solidFill>
              </a:rPr>
              <a:t>当前需要执行的部分页或段</a:t>
            </a:r>
            <a:r>
              <a:rPr lang="zh-CN" altLang="en-US" sz="2200" dirty="0"/>
              <a:t>读入到内存，就可让程序开始执行</a:t>
            </a:r>
          </a:p>
          <a:p>
            <a:pPr marL="800100" lvl="3" indent="-342900">
              <a:spcBef>
                <a:spcPts val="1200"/>
              </a:spcBef>
            </a:pPr>
            <a:endParaRPr lang="en-US" altLang="zh-CN" sz="2200" dirty="0"/>
          </a:p>
          <a:p>
            <a:pPr marL="800100" lvl="3" indent="-342900">
              <a:spcBef>
                <a:spcPts val="1200"/>
              </a:spcBef>
            </a:pPr>
            <a:r>
              <a:rPr lang="zh-CN" altLang="en-US" sz="2200" dirty="0"/>
              <a:t>在程序执行过程中，如果需执行的指令或访问的数据尚未在内存（称为缺页或缺段），则由处理器通知操作系统将相应的页或段调入到内存，然后继续执行程序</a:t>
            </a:r>
          </a:p>
          <a:p>
            <a:pPr marL="800100" lvl="3" indent="-342900">
              <a:spcBef>
                <a:spcPts val="1200"/>
              </a:spcBef>
            </a:pPr>
            <a:endParaRPr lang="en-US" altLang="zh-CN" sz="2200" dirty="0"/>
          </a:p>
          <a:p>
            <a:pPr marL="800100" lvl="3" indent="-342900">
              <a:spcBef>
                <a:spcPts val="1200"/>
              </a:spcBef>
            </a:pPr>
            <a:r>
              <a:rPr lang="zh-CN" altLang="en-US" sz="2200" dirty="0"/>
              <a:t>另一方面，操作系统将内存中暂时不使用的页或段调出保存在外存上，从而腾出空间存放将要装入的程序以及将要调入的页或段</a:t>
            </a:r>
          </a:p>
        </p:txBody>
      </p:sp>
      <p:sp>
        <p:nvSpPr>
          <p:cNvPr id="4" name="Date Placeholder 3"/>
          <p:cNvSpPr>
            <a:spLocks noGrp="1"/>
          </p:cNvSpPr>
          <p:nvPr>
            <p:ph type="dt" sz="half" idx="10"/>
          </p:nvPr>
        </p:nvSpPr>
        <p:spPr/>
        <p:txBody>
          <a:bodyPr/>
          <a:lstStyle/>
          <a:p>
            <a:fld id="{EC2A0E9E-AA32-4F80-AD8E-7CC2894D479C}"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79</a:t>
            </a:fld>
            <a:endParaRPr lang="zh-CN" altLang="en-US" dirty="0"/>
          </a:p>
        </p:txBody>
      </p:sp>
    </p:spTree>
    <p:extLst>
      <p:ext uri="{BB962C8B-B14F-4D97-AF65-F5344CB8AC3E}">
        <p14:creationId xmlns:p14="http://schemas.microsoft.com/office/powerpoint/2010/main" val="1032381435"/>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虚拟存储器基本原理</a:t>
            </a:r>
          </a:p>
        </p:txBody>
      </p:sp>
      <p:sp>
        <p:nvSpPr>
          <p:cNvPr id="3" name="Content Placeholder 2"/>
          <p:cNvSpPr>
            <a:spLocks noGrp="1"/>
          </p:cNvSpPr>
          <p:nvPr>
            <p:ph idx="1"/>
          </p:nvPr>
        </p:nvSpPr>
        <p:spPr/>
        <p:txBody>
          <a:bodyPr/>
          <a:lstStyle/>
          <a:p>
            <a:r>
              <a:rPr lang="zh-CN" altLang="en-US" dirty="0"/>
              <a:t>引入虚拟存储器的好处</a:t>
            </a:r>
            <a:endParaRPr lang="en-US" altLang="zh-CN" dirty="0"/>
          </a:p>
          <a:p>
            <a:pPr lvl="1"/>
            <a:r>
              <a:rPr lang="zh-CN" altLang="en-US" dirty="0"/>
              <a:t>程序的大小将不受物理内存大小的限制</a:t>
            </a:r>
            <a:endParaRPr lang="en-US" altLang="zh-CN" dirty="0"/>
          </a:p>
          <a:p>
            <a:pPr lvl="1"/>
            <a:endParaRPr lang="en-US" altLang="zh-CN" dirty="0"/>
          </a:p>
          <a:p>
            <a:pPr lvl="1"/>
            <a:r>
              <a:rPr lang="zh-CN" altLang="en-US" dirty="0"/>
              <a:t>因为每个进程占用的内存减少了，系统的并发度得到了提高</a:t>
            </a:r>
            <a:endParaRPr lang="en-US" altLang="zh-CN" dirty="0"/>
          </a:p>
          <a:p>
            <a:pPr lvl="1"/>
            <a:r>
              <a:rPr lang="zh-CN" altLang="en-US" dirty="0"/>
              <a:t>部分调入可能使得需要载入内存的数据减少（用不到的数据不调入），从而进一步提高系统性能</a:t>
            </a:r>
            <a:endParaRPr lang="en-US" altLang="zh-CN" dirty="0"/>
          </a:p>
          <a:p>
            <a:pPr lvl="1"/>
            <a:endParaRPr lang="en-US" altLang="zh-CN" dirty="0"/>
          </a:p>
          <a:p>
            <a:pPr lvl="1"/>
            <a:r>
              <a:rPr lang="zh-CN" altLang="en-US" dirty="0"/>
              <a:t>无需编程人员介入（对比覆盖技术）</a:t>
            </a:r>
          </a:p>
        </p:txBody>
      </p:sp>
      <p:sp>
        <p:nvSpPr>
          <p:cNvPr id="4" name="Date Placeholder 3"/>
          <p:cNvSpPr>
            <a:spLocks noGrp="1"/>
          </p:cNvSpPr>
          <p:nvPr>
            <p:ph type="dt" sz="half" idx="10"/>
          </p:nvPr>
        </p:nvSpPr>
        <p:spPr/>
        <p:txBody>
          <a:bodyPr/>
          <a:lstStyle/>
          <a:p>
            <a:fld id="{0AC7AEAE-017D-4B62-819E-1FAB70E4ACF1}"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80</a:t>
            </a:fld>
            <a:endParaRPr lang="zh-CN" altLang="en-US" dirty="0"/>
          </a:p>
        </p:txBody>
      </p:sp>
    </p:spTree>
    <p:extLst>
      <p:ext uri="{BB962C8B-B14F-4D97-AF65-F5344CB8AC3E}">
        <p14:creationId xmlns:p14="http://schemas.microsoft.com/office/powerpoint/2010/main" val="1410163528"/>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虚拟页式机制</a:t>
            </a:r>
          </a:p>
        </p:txBody>
      </p:sp>
      <p:sp>
        <p:nvSpPr>
          <p:cNvPr id="3" name="Content Placeholder 2"/>
          <p:cNvSpPr>
            <a:spLocks noGrp="1"/>
          </p:cNvSpPr>
          <p:nvPr>
            <p:ph idx="1"/>
          </p:nvPr>
        </p:nvSpPr>
        <p:spPr/>
        <p:txBody>
          <a:bodyPr/>
          <a:lstStyle/>
          <a:p>
            <a:r>
              <a:rPr lang="zh-CN" altLang="en-US" dirty="0"/>
              <a:t>以简单页式管理为基础，增加请求调页的功能</a:t>
            </a:r>
            <a:endParaRPr lang="en-US" altLang="zh-CN" dirty="0"/>
          </a:p>
          <a:p>
            <a:r>
              <a:rPr lang="zh-CN" altLang="en-US" dirty="0"/>
              <a:t>工作原理</a:t>
            </a:r>
            <a:endParaRPr lang="en-US" altLang="zh-CN" dirty="0"/>
          </a:p>
          <a:p>
            <a:pPr lvl="1"/>
            <a:r>
              <a:rPr lang="zh-CN" altLang="en-US" sz="2000" dirty="0"/>
              <a:t>在进程开始运行之前，不是装入全部页面，而是装入部分页面，之后根据进程运行的需要，动态装入其它页面；当内存空间已满，而又需要装入新的页面时，则根据某种算法淘汰某个页面，以便装入新的页面</a:t>
            </a:r>
            <a:endParaRPr lang="en-US" altLang="zh-CN" sz="2000" dirty="0"/>
          </a:p>
          <a:p>
            <a:r>
              <a:rPr lang="zh-CN" altLang="en-US" dirty="0"/>
              <a:t>三个主要问题</a:t>
            </a:r>
            <a:endParaRPr lang="en-US" altLang="zh-CN" dirty="0"/>
          </a:p>
          <a:p>
            <a:pPr lvl="1"/>
            <a:r>
              <a:rPr lang="zh-CN" altLang="en-US" dirty="0"/>
              <a:t>缺页是如何产生并让系统知道的？</a:t>
            </a:r>
            <a:endParaRPr lang="en-US" altLang="zh-CN" dirty="0"/>
          </a:p>
          <a:p>
            <a:pPr lvl="1"/>
            <a:r>
              <a:rPr lang="zh-CN" altLang="en-US" dirty="0"/>
              <a:t>如果内存页面不足，应该怎么处理？</a:t>
            </a:r>
            <a:endParaRPr lang="en-US" altLang="zh-CN" dirty="0"/>
          </a:p>
          <a:p>
            <a:pPr lvl="1"/>
            <a:r>
              <a:rPr lang="zh-CN" altLang="en-US" dirty="0"/>
              <a:t>调入所需页面的时机？</a:t>
            </a:r>
          </a:p>
          <a:p>
            <a:pPr lvl="1"/>
            <a:endParaRPr lang="en-US" altLang="zh-CN" dirty="0"/>
          </a:p>
          <a:p>
            <a:pPr lvl="1"/>
            <a:endParaRPr lang="en-US" altLang="zh-CN" dirty="0"/>
          </a:p>
          <a:p>
            <a:pPr lvl="1"/>
            <a:endParaRPr lang="zh-CN" altLang="en-US" dirty="0"/>
          </a:p>
        </p:txBody>
      </p:sp>
      <p:sp>
        <p:nvSpPr>
          <p:cNvPr id="4" name="Date Placeholder 3"/>
          <p:cNvSpPr>
            <a:spLocks noGrp="1"/>
          </p:cNvSpPr>
          <p:nvPr>
            <p:ph type="dt" sz="half" idx="10"/>
          </p:nvPr>
        </p:nvSpPr>
        <p:spPr/>
        <p:txBody>
          <a:bodyPr/>
          <a:lstStyle/>
          <a:p>
            <a:fld id="{52EA11E1-B8FF-44D5-86CD-EEFD67F956F8}"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81</a:t>
            </a:fld>
            <a:endParaRPr lang="zh-CN" altLang="en-US" dirty="0"/>
          </a:p>
        </p:txBody>
      </p:sp>
    </p:spTree>
    <p:extLst>
      <p:ext uri="{BB962C8B-B14F-4D97-AF65-F5344CB8AC3E}">
        <p14:creationId xmlns:p14="http://schemas.microsoft.com/office/powerpoint/2010/main" val="2508476839"/>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虚拟页式机制</a:t>
            </a:r>
          </a:p>
        </p:txBody>
      </p:sp>
      <p:sp>
        <p:nvSpPr>
          <p:cNvPr id="3" name="Content Placeholder 2"/>
          <p:cNvSpPr>
            <a:spLocks noGrp="1"/>
          </p:cNvSpPr>
          <p:nvPr>
            <p:ph idx="1"/>
          </p:nvPr>
        </p:nvSpPr>
        <p:spPr/>
        <p:txBody>
          <a:bodyPr/>
          <a:lstStyle/>
          <a:p>
            <a:r>
              <a:rPr lang="zh-CN" altLang="en-US" dirty="0"/>
              <a:t>对进程页表的修改</a:t>
            </a:r>
            <a:endParaRPr lang="en-US" altLang="zh-CN" dirty="0"/>
          </a:p>
          <a:p>
            <a:pPr lvl="1"/>
            <a:r>
              <a:rPr lang="zh-CN" altLang="en-US" dirty="0"/>
              <a:t>标志位：（驻留位）页面在内存还是外存</a:t>
            </a:r>
            <a:endParaRPr lang="en-US" altLang="zh-CN" dirty="0"/>
          </a:p>
          <a:p>
            <a:pPr lvl="1"/>
            <a:r>
              <a:rPr lang="zh-CN" altLang="en-US" dirty="0"/>
              <a:t>修改位</a:t>
            </a:r>
            <a:r>
              <a:rPr lang="en-US" altLang="zh-CN" dirty="0"/>
              <a:t>(modified bit)</a:t>
            </a:r>
            <a:r>
              <a:rPr lang="zh-CN" altLang="en-US" dirty="0"/>
              <a:t>：数据是否被修改过</a:t>
            </a:r>
            <a:endParaRPr lang="en-US" altLang="zh-CN" dirty="0"/>
          </a:p>
          <a:p>
            <a:pPr lvl="1"/>
            <a:r>
              <a:rPr lang="zh-CN" altLang="en-US" dirty="0"/>
              <a:t>访问统计：在近期内被访问的次数，或最近一次访问到现在的时间间隔</a:t>
            </a:r>
            <a:endParaRPr lang="en-US" altLang="zh-CN" dirty="0"/>
          </a:p>
          <a:p>
            <a:pPr lvl="1"/>
            <a:r>
              <a:rPr lang="zh-CN" altLang="en-US" dirty="0"/>
              <a:t>外存地址：如果在外存，地址多少</a:t>
            </a:r>
          </a:p>
        </p:txBody>
      </p:sp>
      <p:sp>
        <p:nvSpPr>
          <p:cNvPr id="4" name="Date Placeholder 3"/>
          <p:cNvSpPr>
            <a:spLocks noGrp="1"/>
          </p:cNvSpPr>
          <p:nvPr>
            <p:ph type="dt" sz="half" idx="10"/>
          </p:nvPr>
        </p:nvSpPr>
        <p:spPr/>
        <p:txBody>
          <a:bodyPr/>
          <a:lstStyle/>
          <a:p>
            <a:fld id="{2C593269-4C0A-433E-9D25-57A44377D9C1}"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82</a:t>
            </a:fld>
            <a:endParaRPr lang="zh-CN" altLang="en-US" dirty="0"/>
          </a:p>
        </p:txBody>
      </p:sp>
      <p:graphicFrame>
        <p:nvGraphicFramePr>
          <p:cNvPr id="7" name="Group 60"/>
          <p:cNvGraphicFramePr>
            <a:graphicFrameLocks noGrp="1"/>
          </p:cNvGraphicFramePr>
          <p:nvPr>
            <p:extLst>
              <p:ext uri="{D42A27DB-BD31-4B8C-83A1-F6EECF244321}">
                <p14:modId xmlns:p14="http://schemas.microsoft.com/office/powerpoint/2010/main" val="937976701"/>
              </p:ext>
            </p:extLst>
          </p:nvPr>
        </p:nvGraphicFramePr>
        <p:xfrm>
          <a:off x="1043608" y="4436792"/>
          <a:ext cx="7200800" cy="792408"/>
        </p:xfrm>
        <a:graphic>
          <a:graphicData uri="http://schemas.openxmlformats.org/drawingml/2006/table">
            <a:tbl>
              <a:tblPr/>
              <a:tblGrid>
                <a:gridCol w="938213">
                  <a:extLst>
                    <a:ext uri="{9D8B030D-6E8A-4147-A177-3AD203B41FA5}">
                      <a16:colId xmlns:a16="http://schemas.microsoft.com/office/drawing/2014/main" xmlns="" val="20000"/>
                    </a:ext>
                  </a:extLst>
                </a:gridCol>
                <a:gridCol w="1166812">
                  <a:extLst>
                    <a:ext uri="{9D8B030D-6E8A-4147-A177-3AD203B41FA5}">
                      <a16:colId xmlns:a16="http://schemas.microsoft.com/office/drawing/2014/main" xmlns="" val="20001"/>
                    </a:ext>
                  </a:extLst>
                </a:gridCol>
                <a:gridCol w="1268735">
                  <a:extLst>
                    <a:ext uri="{9D8B030D-6E8A-4147-A177-3AD203B41FA5}">
                      <a16:colId xmlns:a16="http://schemas.microsoft.com/office/drawing/2014/main" xmlns="" val="20002"/>
                    </a:ext>
                  </a:extLst>
                </a:gridCol>
                <a:gridCol w="1368152">
                  <a:extLst>
                    <a:ext uri="{9D8B030D-6E8A-4147-A177-3AD203B41FA5}">
                      <a16:colId xmlns:a16="http://schemas.microsoft.com/office/drawing/2014/main" xmlns="" val="20003"/>
                    </a:ext>
                  </a:extLst>
                </a:gridCol>
                <a:gridCol w="1152128">
                  <a:extLst>
                    <a:ext uri="{9D8B030D-6E8A-4147-A177-3AD203B41FA5}">
                      <a16:colId xmlns:a16="http://schemas.microsoft.com/office/drawing/2014/main" xmlns="" val="20004"/>
                    </a:ext>
                  </a:extLst>
                </a:gridCol>
                <a:gridCol w="1306760">
                  <a:extLst>
                    <a:ext uri="{9D8B030D-6E8A-4147-A177-3AD203B41FA5}">
                      <a16:colId xmlns:a16="http://schemas.microsoft.com/office/drawing/2014/main" xmlns="" val="20005"/>
                    </a:ext>
                  </a:extLst>
                </a:gridCol>
              </a:tblGrid>
              <a:tr h="396082">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页号</a:t>
                      </a:r>
                    </a:p>
                  </a:txBody>
                  <a:tcPr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页面号</a:t>
                      </a:r>
                    </a:p>
                  </a:txBody>
                  <a:tcPr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rPr>
                        <a:t>驻留位</a:t>
                      </a:r>
                    </a:p>
                  </a:txBody>
                  <a:tcPr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rPr>
                        <a:t>外存地址</a:t>
                      </a:r>
                    </a:p>
                  </a:txBody>
                  <a:tcPr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访问位</a:t>
                      </a:r>
                    </a:p>
                  </a:txBody>
                  <a:tcPr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修改位</a:t>
                      </a:r>
                    </a:p>
                  </a:txBody>
                  <a:tcPr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40000"/>
                        <a:lumOff val="60000"/>
                      </a:schemeClr>
                    </a:solidFill>
                  </a:tcPr>
                </a:tc>
                <a:extLst>
                  <a:ext uri="{0D108BD9-81ED-4DB2-BD59-A6C34878D82A}">
                    <a16:rowId xmlns:a16="http://schemas.microsoft.com/office/drawing/2014/main" xmlns="" val="10000"/>
                  </a:ext>
                </a:extLst>
              </a:tr>
              <a:tr h="396082">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40000"/>
                        <a:lumOff val="60000"/>
                      </a:schemeClr>
                    </a:solidFill>
                  </a:tcPr>
                </a:tc>
                <a:extLst>
                  <a:ext uri="{0D108BD9-81ED-4DB2-BD59-A6C34878D82A}">
                    <a16:rowId xmlns:a16="http://schemas.microsoft.com/office/drawing/2014/main" xmlns="" val="10001"/>
                  </a:ext>
                </a:extLst>
              </a:tr>
            </a:tbl>
          </a:graphicData>
        </a:graphic>
      </p:graphicFrame>
    </p:spTree>
    <p:extLst>
      <p:ext uri="{BB962C8B-B14F-4D97-AF65-F5344CB8AC3E}">
        <p14:creationId xmlns:p14="http://schemas.microsoft.com/office/powerpoint/2010/main" val="484352347"/>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虚拟页式机制</a:t>
            </a:r>
          </a:p>
        </p:txBody>
      </p:sp>
      <p:sp>
        <p:nvSpPr>
          <p:cNvPr id="3" name="Content Placeholder 2"/>
          <p:cNvSpPr>
            <a:spLocks noGrp="1"/>
          </p:cNvSpPr>
          <p:nvPr>
            <p:ph idx="1"/>
          </p:nvPr>
        </p:nvSpPr>
        <p:spPr/>
        <p:txBody>
          <a:bodyPr/>
          <a:lstStyle/>
          <a:p>
            <a:r>
              <a:rPr lang="zh-CN" altLang="en-US" dirty="0"/>
              <a:t>缺页中断</a:t>
            </a:r>
            <a:endParaRPr lang="en-US" altLang="zh-CN" dirty="0"/>
          </a:p>
          <a:p>
            <a:pPr lvl="1"/>
            <a:r>
              <a:rPr lang="zh-CN" altLang="en-US" dirty="0"/>
              <a:t>在地址映射过程中，在页表中发现所要访问的页不在内存，则产生</a:t>
            </a:r>
            <a:r>
              <a:rPr lang="zh-CN" altLang="en-US" dirty="0">
                <a:solidFill>
                  <a:srgbClr val="0000FF"/>
                </a:solidFill>
              </a:rPr>
              <a:t>缺页中断</a:t>
            </a:r>
          </a:p>
          <a:p>
            <a:pPr lvl="1"/>
            <a:r>
              <a:rPr lang="zh-CN" altLang="en-US" dirty="0"/>
              <a:t>操作系统接到此中断信号后，就调出缺页中断处理程序，根据页表中给出的外存地址，将该页调入内存，使作业继续运行下去</a:t>
            </a:r>
          </a:p>
          <a:p>
            <a:pPr lvl="1"/>
            <a:r>
              <a:rPr lang="zh-CN" altLang="en-US" dirty="0"/>
              <a:t>如果内存中有空闲块，则分配一页，将新调入页装入内存，并修改页表中相应页表项目的驻留位及相应的内存块号</a:t>
            </a:r>
          </a:p>
          <a:p>
            <a:pPr lvl="1"/>
            <a:r>
              <a:rPr lang="zh-CN" altLang="en-US" dirty="0"/>
              <a:t>若此时内存中没有空闲块，则要淘汰某页，若该页在内存期间被修改过，则要将其写回外存</a:t>
            </a:r>
          </a:p>
        </p:txBody>
      </p:sp>
      <p:sp>
        <p:nvSpPr>
          <p:cNvPr id="4" name="Date Placeholder 3"/>
          <p:cNvSpPr>
            <a:spLocks noGrp="1"/>
          </p:cNvSpPr>
          <p:nvPr>
            <p:ph type="dt" sz="half" idx="10"/>
          </p:nvPr>
        </p:nvSpPr>
        <p:spPr/>
        <p:txBody>
          <a:bodyPr/>
          <a:lstStyle/>
          <a:p>
            <a:fld id="{59CC01C6-1D40-4FBD-BA43-7EA08F6E42C7}"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83</a:t>
            </a:fld>
            <a:endParaRPr lang="zh-CN" altLang="en-US" dirty="0"/>
          </a:p>
        </p:txBody>
      </p:sp>
    </p:spTree>
    <p:extLst>
      <p:ext uri="{BB962C8B-B14F-4D97-AF65-F5344CB8AC3E}">
        <p14:creationId xmlns:p14="http://schemas.microsoft.com/office/powerpoint/2010/main" val="544401420"/>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虚拟页式机制</a:t>
            </a:r>
          </a:p>
        </p:txBody>
      </p:sp>
      <p:sp>
        <p:nvSpPr>
          <p:cNvPr id="3" name="Content Placeholder 2"/>
          <p:cNvSpPr>
            <a:spLocks noGrp="1"/>
          </p:cNvSpPr>
          <p:nvPr>
            <p:ph idx="1"/>
          </p:nvPr>
        </p:nvSpPr>
        <p:spPr/>
        <p:txBody>
          <a:bodyPr/>
          <a:lstStyle/>
          <a:p>
            <a:r>
              <a:rPr lang="zh-CN" altLang="en-US" dirty="0"/>
              <a:t>调入所需页面的时机</a:t>
            </a:r>
            <a:endParaRPr lang="en-US" altLang="zh-CN" dirty="0"/>
          </a:p>
          <a:p>
            <a:pPr lvl="1"/>
            <a:endParaRPr lang="en-US" altLang="zh-CN" dirty="0">
              <a:solidFill>
                <a:srgbClr val="0000FF"/>
              </a:solidFill>
            </a:endParaRPr>
          </a:p>
          <a:p>
            <a:pPr lvl="1"/>
            <a:r>
              <a:rPr lang="zh-CN" altLang="en-US" dirty="0">
                <a:solidFill>
                  <a:srgbClr val="0000FF"/>
                </a:solidFill>
              </a:rPr>
              <a:t>请求调入</a:t>
            </a:r>
            <a:r>
              <a:rPr lang="zh-CN" altLang="en-US" dirty="0"/>
              <a:t>：当需要执行某条指令而又发现它不在内存时，或当执行某条指令需要访问其他的数据或指令时，这些指令和数据不在内存中，从而发生缺页中断（主要讨论）</a:t>
            </a:r>
            <a:endParaRPr lang="en-US" altLang="zh-CN" dirty="0"/>
          </a:p>
          <a:p>
            <a:pPr lvl="1"/>
            <a:endParaRPr lang="en-US" altLang="zh-CN" dirty="0"/>
          </a:p>
          <a:p>
            <a:pPr lvl="1"/>
            <a:r>
              <a:rPr lang="zh-CN" altLang="en-US" dirty="0">
                <a:solidFill>
                  <a:srgbClr val="0000FF"/>
                </a:solidFill>
              </a:rPr>
              <a:t>预调入</a:t>
            </a:r>
            <a:r>
              <a:rPr lang="zh-CN" altLang="en-US" dirty="0"/>
              <a:t>：系统对那些在外存中的页进行调入顺序计算，估计出这些页中指令和数据的执行和被访问的顺序，并按此顺序将它们顺次调入和调出内存</a:t>
            </a:r>
          </a:p>
        </p:txBody>
      </p:sp>
      <p:sp>
        <p:nvSpPr>
          <p:cNvPr id="4" name="Date Placeholder 3"/>
          <p:cNvSpPr>
            <a:spLocks noGrp="1"/>
          </p:cNvSpPr>
          <p:nvPr>
            <p:ph type="dt" sz="half" idx="10"/>
          </p:nvPr>
        </p:nvSpPr>
        <p:spPr/>
        <p:txBody>
          <a:bodyPr/>
          <a:lstStyle/>
          <a:p>
            <a:fld id="{1DB0D005-0F24-4B19-B4A3-B11095322228}"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84</a:t>
            </a:fld>
            <a:endParaRPr lang="zh-CN" altLang="en-US" dirty="0"/>
          </a:p>
        </p:txBody>
      </p:sp>
    </p:spTree>
    <p:extLst>
      <p:ext uri="{BB962C8B-B14F-4D97-AF65-F5344CB8AC3E}">
        <p14:creationId xmlns:p14="http://schemas.microsoft.com/office/powerpoint/2010/main" val="4019683496"/>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虚拟页式机制</a:t>
            </a:r>
          </a:p>
        </p:txBody>
      </p:sp>
      <p:sp>
        <p:nvSpPr>
          <p:cNvPr id="3" name="Content Placeholder 2"/>
          <p:cNvSpPr>
            <a:spLocks noGrp="1"/>
          </p:cNvSpPr>
          <p:nvPr>
            <p:ph idx="1"/>
          </p:nvPr>
        </p:nvSpPr>
        <p:spPr/>
        <p:txBody>
          <a:bodyPr>
            <a:normAutofit/>
          </a:bodyPr>
          <a:lstStyle/>
          <a:p>
            <a:r>
              <a:rPr lang="zh-CN" altLang="en-US" dirty="0"/>
              <a:t>虚拟页式管理的优缺点</a:t>
            </a:r>
            <a:endParaRPr lang="en-US" altLang="zh-CN" dirty="0"/>
          </a:p>
          <a:p>
            <a:r>
              <a:rPr lang="zh-CN" altLang="en-US" dirty="0"/>
              <a:t>优点</a:t>
            </a:r>
            <a:endParaRPr lang="en-US" altLang="zh-CN" dirty="0"/>
          </a:p>
          <a:p>
            <a:pPr lvl="1"/>
            <a:r>
              <a:rPr lang="zh-CN" altLang="en-US" dirty="0"/>
              <a:t>支持一个进程的数据在内存中非连续存放</a:t>
            </a:r>
            <a:endParaRPr lang="en-US" altLang="zh-CN" dirty="0"/>
          </a:p>
          <a:p>
            <a:pPr lvl="1"/>
            <a:r>
              <a:rPr lang="zh-CN" altLang="en-US" dirty="0"/>
              <a:t>实现了虚存</a:t>
            </a:r>
            <a:endParaRPr lang="en-US" altLang="zh-CN" dirty="0"/>
          </a:p>
          <a:p>
            <a:endParaRPr lang="en-US" altLang="zh-CN" dirty="0"/>
          </a:p>
          <a:p>
            <a:r>
              <a:rPr lang="zh-CN" altLang="en-US" dirty="0"/>
              <a:t>缺点</a:t>
            </a:r>
            <a:endParaRPr lang="en-US" altLang="zh-CN" dirty="0"/>
          </a:p>
          <a:p>
            <a:pPr lvl="1"/>
            <a:r>
              <a:rPr lang="zh-CN" altLang="en-US" dirty="0"/>
              <a:t>增加了系统开销，如缺页中断的处理</a:t>
            </a:r>
            <a:endParaRPr lang="en-US" altLang="zh-CN" dirty="0"/>
          </a:p>
          <a:p>
            <a:pPr lvl="1"/>
            <a:r>
              <a:rPr lang="zh-CN" altLang="en-US" dirty="0"/>
              <a:t>请求调页算法如果不当，可能产生抖动现象</a:t>
            </a:r>
          </a:p>
        </p:txBody>
      </p:sp>
      <p:sp>
        <p:nvSpPr>
          <p:cNvPr id="4" name="Date Placeholder 3"/>
          <p:cNvSpPr>
            <a:spLocks noGrp="1"/>
          </p:cNvSpPr>
          <p:nvPr>
            <p:ph type="dt" sz="half" idx="10"/>
          </p:nvPr>
        </p:nvSpPr>
        <p:spPr/>
        <p:txBody>
          <a:bodyPr/>
          <a:lstStyle/>
          <a:p>
            <a:fld id="{480F2960-7BCA-4288-B18D-CC53B342DB78}"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85</a:t>
            </a:fld>
            <a:endParaRPr lang="zh-CN" altLang="en-US" dirty="0"/>
          </a:p>
        </p:txBody>
      </p:sp>
    </p:spTree>
    <p:extLst>
      <p:ext uri="{BB962C8B-B14F-4D97-AF65-F5344CB8AC3E}">
        <p14:creationId xmlns:p14="http://schemas.microsoft.com/office/powerpoint/2010/main" val="1698592188"/>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抖  动</a:t>
            </a:r>
          </a:p>
        </p:txBody>
      </p:sp>
      <p:sp>
        <p:nvSpPr>
          <p:cNvPr id="3" name="Content Placeholder 2"/>
          <p:cNvSpPr>
            <a:spLocks noGrp="1"/>
          </p:cNvSpPr>
          <p:nvPr>
            <p:ph idx="1"/>
          </p:nvPr>
        </p:nvSpPr>
        <p:spPr/>
        <p:txBody>
          <a:bodyPr/>
          <a:lstStyle/>
          <a:p>
            <a:r>
              <a:rPr lang="zh-CN" altLang="en-US" dirty="0"/>
              <a:t>现象</a:t>
            </a:r>
            <a:endParaRPr lang="en-US" altLang="zh-CN" dirty="0"/>
          </a:p>
          <a:p>
            <a:pPr lvl="1"/>
            <a:r>
              <a:rPr lang="zh-CN" altLang="en-US" dirty="0"/>
              <a:t>进程运行中，刚刚被淘汰的页很快被重新调入，调入不久又被再次淘汰，如此反复，以致大部分机器时间都用于页面调度，只有小部分时间用于进程的实际</a:t>
            </a:r>
            <a:r>
              <a:rPr lang="zh-CN" altLang="en-US" dirty="0" smtClean="0"/>
              <a:t>运行</a:t>
            </a:r>
            <a:endParaRPr lang="en-US" altLang="zh-CN" dirty="0"/>
          </a:p>
          <a:p>
            <a:r>
              <a:rPr lang="zh-CN" altLang="en-US" dirty="0"/>
              <a:t>工作集模型</a:t>
            </a:r>
            <a:endParaRPr lang="en-US" altLang="zh-CN" dirty="0"/>
          </a:p>
          <a:p>
            <a:pPr lvl="1"/>
            <a:r>
              <a:rPr lang="zh-CN" altLang="en-US" dirty="0"/>
              <a:t>一个进程在某一小段时间∆内访问页面的集合。用</a:t>
            </a:r>
            <a:r>
              <a:rPr lang="en-US" altLang="zh-CN" dirty="0"/>
              <a:t>WS(</a:t>
            </a:r>
            <a:r>
              <a:rPr lang="en-US" altLang="zh-CN" i="1" dirty="0" err="1"/>
              <a:t>t</a:t>
            </a:r>
            <a:r>
              <a:rPr lang="en-US" altLang="zh-CN" i="1" baseline="-25000" dirty="0" err="1"/>
              <a:t>i</a:t>
            </a:r>
            <a:r>
              <a:rPr lang="en-US" altLang="zh-CN" dirty="0"/>
              <a:t>,∆)</a:t>
            </a:r>
            <a:r>
              <a:rPr lang="zh-CN" altLang="en-US" dirty="0"/>
              <a:t>表示</a:t>
            </a:r>
            <a:r>
              <a:rPr lang="en-US" altLang="zh-CN" i="1" dirty="0" err="1"/>
              <a:t>t</a:t>
            </a:r>
            <a:r>
              <a:rPr lang="en-US" altLang="zh-CN" i="1" baseline="-25000" dirty="0" err="1"/>
              <a:t>i</a:t>
            </a:r>
            <a:r>
              <a:rPr lang="en-US" altLang="zh-CN" dirty="0"/>
              <a:t>- ∆</a:t>
            </a:r>
            <a:r>
              <a:rPr lang="zh-CN" altLang="en-US" dirty="0"/>
              <a:t>到</a:t>
            </a:r>
            <a:r>
              <a:rPr lang="en-US" altLang="zh-CN" i="1" dirty="0" err="1"/>
              <a:t>t</a:t>
            </a:r>
            <a:r>
              <a:rPr lang="en-US" altLang="zh-CN" i="1" baseline="-25000" dirty="0" err="1"/>
              <a:t>i</a:t>
            </a:r>
            <a:r>
              <a:rPr lang="zh-CN" altLang="en-US" dirty="0"/>
              <a:t>之间所访问的不同页面，则</a:t>
            </a:r>
            <a:r>
              <a:rPr lang="en-US" altLang="zh-CN" dirty="0"/>
              <a:t>WS(</a:t>
            </a:r>
            <a:r>
              <a:rPr lang="en-US" altLang="zh-CN" i="1" dirty="0" err="1"/>
              <a:t>t</a:t>
            </a:r>
            <a:r>
              <a:rPr lang="en-US" altLang="zh-CN" i="1" baseline="-25000" dirty="0" err="1"/>
              <a:t>i</a:t>
            </a:r>
            <a:r>
              <a:rPr lang="en-US" altLang="zh-CN" dirty="0"/>
              <a:t>,∆)</a:t>
            </a:r>
            <a:r>
              <a:rPr lang="zh-CN" altLang="en-US" dirty="0"/>
              <a:t>即为进程在时间</a:t>
            </a:r>
            <a:r>
              <a:rPr lang="en-US" altLang="zh-CN" i="1" dirty="0" err="1"/>
              <a:t>t</a:t>
            </a:r>
            <a:r>
              <a:rPr lang="en-US" altLang="zh-CN" i="1" baseline="-25000" dirty="0" err="1"/>
              <a:t>i</a:t>
            </a:r>
            <a:r>
              <a:rPr lang="zh-CN" altLang="en-US" dirty="0"/>
              <a:t>的工作集</a:t>
            </a:r>
          </a:p>
          <a:p>
            <a:pPr lvl="1"/>
            <a:endParaRPr lang="zh-CN" altLang="en-US" dirty="0"/>
          </a:p>
        </p:txBody>
      </p:sp>
      <p:sp>
        <p:nvSpPr>
          <p:cNvPr id="4" name="Date Placeholder 3"/>
          <p:cNvSpPr>
            <a:spLocks noGrp="1"/>
          </p:cNvSpPr>
          <p:nvPr>
            <p:ph type="dt" sz="half" idx="10"/>
          </p:nvPr>
        </p:nvSpPr>
        <p:spPr/>
        <p:txBody>
          <a:bodyPr/>
          <a:lstStyle/>
          <a:p>
            <a:fld id="{B37528A7-4460-4FE9-A46A-B861ED21A510}"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86</a:t>
            </a:fld>
            <a:endParaRPr lang="zh-CN" altLang="en-US" dirty="0"/>
          </a:p>
        </p:txBody>
      </p:sp>
      <p:grpSp>
        <p:nvGrpSpPr>
          <p:cNvPr id="22" name="Group 21"/>
          <p:cNvGrpSpPr/>
          <p:nvPr/>
        </p:nvGrpSpPr>
        <p:grpSpPr>
          <a:xfrm>
            <a:off x="611560" y="5229200"/>
            <a:ext cx="8064500" cy="1065212"/>
            <a:chOff x="684213" y="5516563"/>
            <a:chExt cx="8064500" cy="1065212"/>
          </a:xfrm>
        </p:grpSpPr>
        <p:sp>
          <p:nvSpPr>
            <p:cNvPr id="7" name="Text Box 5"/>
            <p:cNvSpPr txBox="1">
              <a:spLocks noChangeArrowheads="1"/>
            </p:cNvSpPr>
            <p:nvPr/>
          </p:nvSpPr>
          <p:spPr bwMode="auto">
            <a:xfrm>
              <a:off x="684213" y="5516563"/>
              <a:ext cx="80645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en-US" altLang="zh-CN" sz="1800" b="1"/>
                <a:t>…2  6  1  5  7  7  7  7  5  1  6  2  3  4  1  2  3  4  4  4  3  4  3  4  4  4  1  3  2  3  4  4  …</a:t>
              </a:r>
            </a:p>
          </p:txBody>
        </p:sp>
        <p:grpSp>
          <p:nvGrpSpPr>
            <p:cNvPr id="8" name="Group 6"/>
            <p:cNvGrpSpPr>
              <a:grpSpLocks/>
            </p:cNvGrpSpPr>
            <p:nvPr/>
          </p:nvGrpSpPr>
          <p:grpSpPr bwMode="auto">
            <a:xfrm>
              <a:off x="1042988" y="5772150"/>
              <a:ext cx="2592387" cy="720725"/>
              <a:chOff x="657" y="3636"/>
              <a:chExt cx="1665" cy="454"/>
            </a:xfrm>
          </p:grpSpPr>
          <p:sp>
            <p:nvSpPr>
              <p:cNvPr id="9" name="Line 7"/>
              <p:cNvSpPr>
                <a:spLocks noChangeShapeType="1"/>
              </p:cNvSpPr>
              <p:nvPr/>
            </p:nvSpPr>
            <p:spPr bwMode="auto">
              <a:xfrm>
                <a:off x="657" y="3657"/>
                <a:ext cx="0"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 name="Line 8"/>
              <p:cNvSpPr>
                <a:spLocks noChangeShapeType="1"/>
              </p:cNvSpPr>
              <p:nvPr/>
            </p:nvSpPr>
            <p:spPr bwMode="auto">
              <a:xfrm>
                <a:off x="2179" y="3646"/>
                <a:ext cx="0"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 name="Text Box 9"/>
              <p:cNvSpPr txBox="1">
                <a:spLocks noChangeArrowheads="1"/>
              </p:cNvSpPr>
              <p:nvPr/>
            </p:nvSpPr>
            <p:spPr bwMode="auto">
              <a:xfrm>
                <a:off x="2095" y="3859"/>
                <a:ext cx="22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en-US" altLang="zh-CN" sz="1800" b="1" i="1"/>
                  <a:t>t</a:t>
                </a:r>
                <a:r>
                  <a:rPr kumimoji="0" lang="en-US" altLang="zh-CN" sz="1800" b="1" baseline="-25000"/>
                  <a:t>1</a:t>
                </a:r>
              </a:p>
            </p:txBody>
          </p:sp>
          <p:sp>
            <p:nvSpPr>
              <p:cNvPr id="12" name="Line 10"/>
              <p:cNvSpPr>
                <a:spLocks noChangeShapeType="1"/>
              </p:cNvSpPr>
              <p:nvPr/>
            </p:nvSpPr>
            <p:spPr bwMode="auto">
              <a:xfrm>
                <a:off x="657" y="3838"/>
                <a:ext cx="151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 name="Text Box 11"/>
              <p:cNvSpPr txBox="1">
                <a:spLocks noChangeArrowheads="1"/>
              </p:cNvSpPr>
              <p:nvPr/>
            </p:nvSpPr>
            <p:spPr bwMode="auto">
              <a:xfrm>
                <a:off x="1313" y="3636"/>
                <a:ext cx="22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en-US" altLang="zh-CN" sz="1800" b="1"/>
                  <a:t>∆</a:t>
                </a:r>
              </a:p>
            </p:txBody>
          </p:sp>
        </p:grpSp>
        <p:grpSp>
          <p:nvGrpSpPr>
            <p:cNvPr id="14" name="Group 12"/>
            <p:cNvGrpSpPr>
              <a:grpSpLocks/>
            </p:cNvGrpSpPr>
            <p:nvPr/>
          </p:nvGrpSpPr>
          <p:grpSpPr bwMode="auto">
            <a:xfrm>
              <a:off x="4572000" y="5734050"/>
              <a:ext cx="2520950" cy="720725"/>
              <a:chOff x="657" y="3636"/>
              <a:chExt cx="1665" cy="454"/>
            </a:xfrm>
          </p:grpSpPr>
          <p:sp>
            <p:nvSpPr>
              <p:cNvPr id="15" name="Line 13"/>
              <p:cNvSpPr>
                <a:spLocks noChangeShapeType="1"/>
              </p:cNvSpPr>
              <p:nvPr/>
            </p:nvSpPr>
            <p:spPr bwMode="auto">
              <a:xfrm>
                <a:off x="657" y="3657"/>
                <a:ext cx="0"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Line 14"/>
              <p:cNvSpPr>
                <a:spLocks noChangeShapeType="1"/>
              </p:cNvSpPr>
              <p:nvPr/>
            </p:nvSpPr>
            <p:spPr bwMode="auto">
              <a:xfrm>
                <a:off x="2179" y="3646"/>
                <a:ext cx="0"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 name="Text Box 15"/>
              <p:cNvSpPr txBox="1">
                <a:spLocks noChangeArrowheads="1"/>
              </p:cNvSpPr>
              <p:nvPr/>
            </p:nvSpPr>
            <p:spPr bwMode="auto">
              <a:xfrm>
                <a:off x="2094" y="3859"/>
                <a:ext cx="22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en-US" altLang="zh-CN" sz="1800" b="1" i="1"/>
                  <a:t>t</a:t>
                </a:r>
                <a:r>
                  <a:rPr kumimoji="0" lang="en-US" altLang="zh-CN" sz="1800" b="1" baseline="-25000"/>
                  <a:t>2</a:t>
                </a:r>
              </a:p>
            </p:txBody>
          </p:sp>
          <p:sp>
            <p:nvSpPr>
              <p:cNvPr id="18" name="Line 16"/>
              <p:cNvSpPr>
                <a:spLocks noChangeShapeType="1"/>
              </p:cNvSpPr>
              <p:nvPr/>
            </p:nvSpPr>
            <p:spPr bwMode="auto">
              <a:xfrm>
                <a:off x="657" y="3838"/>
                <a:ext cx="151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 name="Text Box 17"/>
              <p:cNvSpPr txBox="1">
                <a:spLocks noChangeArrowheads="1"/>
              </p:cNvSpPr>
              <p:nvPr/>
            </p:nvSpPr>
            <p:spPr bwMode="auto">
              <a:xfrm>
                <a:off x="1313" y="3636"/>
                <a:ext cx="22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en-US" altLang="zh-CN" sz="1800" b="1"/>
                  <a:t>∆</a:t>
                </a:r>
              </a:p>
            </p:txBody>
          </p:sp>
        </p:grpSp>
        <p:sp>
          <p:nvSpPr>
            <p:cNvPr id="20" name="Text Box 18"/>
            <p:cNvSpPr txBox="1">
              <a:spLocks noChangeArrowheads="1"/>
            </p:cNvSpPr>
            <p:nvPr/>
          </p:nvSpPr>
          <p:spPr bwMode="auto">
            <a:xfrm>
              <a:off x="1260475" y="6215063"/>
              <a:ext cx="208756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en-US" altLang="zh-CN" sz="1800" b="1"/>
                <a:t>WS(</a:t>
              </a:r>
              <a:r>
                <a:rPr kumimoji="0" lang="en-US" altLang="zh-CN" sz="1800" b="1" i="1"/>
                <a:t>t</a:t>
              </a:r>
              <a:r>
                <a:rPr kumimoji="0" lang="en-US" altLang="zh-CN" sz="1800" b="1" baseline="-25000"/>
                <a:t>1</a:t>
              </a:r>
              <a:r>
                <a:rPr kumimoji="0" lang="en-US" altLang="zh-CN" sz="1800" b="1"/>
                <a:t>,∆)=(1,2,5,6,7)</a:t>
              </a:r>
            </a:p>
          </p:txBody>
        </p:sp>
        <p:sp>
          <p:nvSpPr>
            <p:cNvPr id="21" name="Text Box 19"/>
            <p:cNvSpPr txBox="1">
              <a:spLocks noChangeArrowheads="1"/>
            </p:cNvSpPr>
            <p:nvPr/>
          </p:nvSpPr>
          <p:spPr bwMode="auto">
            <a:xfrm>
              <a:off x="4932363" y="6165850"/>
              <a:ext cx="15843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en-US" altLang="zh-CN" sz="1800" b="1"/>
                <a:t>WS(</a:t>
              </a:r>
              <a:r>
                <a:rPr kumimoji="0" lang="en-US" altLang="zh-CN" sz="1800" b="1" i="1"/>
                <a:t>t</a:t>
              </a:r>
              <a:r>
                <a:rPr kumimoji="0" lang="en-US" altLang="zh-CN" sz="1800" b="1" baseline="-25000"/>
                <a:t>2</a:t>
              </a:r>
              <a:r>
                <a:rPr kumimoji="0" lang="en-US" altLang="zh-CN" sz="1800" b="1"/>
                <a:t>,∆)=(3,4)</a:t>
              </a:r>
            </a:p>
          </p:txBody>
        </p:sp>
      </p:grpSp>
    </p:spTree>
    <p:extLst>
      <p:ext uri="{BB962C8B-B14F-4D97-AF65-F5344CB8AC3E}">
        <p14:creationId xmlns:p14="http://schemas.microsoft.com/office/powerpoint/2010/main" val="4040830710"/>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抖  动</a:t>
            </a:r>
          </a:p>
        </p:txBody>
      </p:sp>
      <p:sp>
        <p:nvSpPr>
          <p:cNvPr id="3" name="Content Placeholder 2"/>
          <p:cNvSpPr>
            <a:spLocks noGrp="1"/>
          </p:cNvSpPr>
          <p:nvPr>
            <p:ph idx="1"/>
          </p:nvPr>
        </p:nvSpPr>
        <p:spPr/>
        <p:txBody>
          <a:bodyPr>
            <a:normAutofit fontScale="92500"/>
          </a:bodyPr>
          <a:lstStyle/>
          <a:p>
            <a:pPr marL="342900" lvl="3" indent="-342900">
              <a:spcBef>
                <a:spcPts val="1200"/>
              </a:spcBef>
              <a:buFont typeface="Arial" pitchFamily="34" charset="0"/>
              <a:buChar char="•"/>
            </a:pPr>
            <a:r>
              <a:rPr lang="zh-CN" altLang="en-US" sz="2400" b="1" dirty="0"/>
              <a:t>每个进程的工作集大小为</a:t>
            </a:r>
            <a:r>
              <a:rPr lang="en-US" altLang="zh-CN" sz="2400" b="1" dirty="0" err="1"/>
              <a:t>WSS</a:t>
            </a:r>
            <a:r>
              <a:rPr lang="en-US" altLang="zh-CN" sz="2400" b="1" i="1" baseline="-25000" dirty="0" err="1"/>
              <a:t>i</a:t>
            </a:r>
            <a:r>
              <a:rPr lang="zh-CN" altLang="en-US" sz="2400" b="1" dirty="0"/>
              <a:t>，则系统中全部进程对内存块的总请求量可表示为</a:t>
            </a:r>
            <a:endParaRPr lang="en-US" altLang="zh-CN" sz="2400" b="1" dirty="0"/>
          </a:p>
          <a:p>
            <a:pPr marL="342900" lvl="3" indent="-342900">
              <a:spcBef>
                <a:spcPts val="1200"/>
              </a:spcBef>
              <a:buFont typeface="Arial" pitchFamily="34" charset="0"/>
              <a:buChar char="•"/>
            </a:pPr>
            <a:endParaRPr lang="en-US" altLang="zh-CN" sz="2400" b="1" dirty="0"/>
          </a:p>
          <a:p>
            <a:pPr marL="342900" lvl="3" indent="-342900">
              <a:spcBef>
                <a:spcPts val="1200"/>
              </a:spcBef>
              <a:buFont typeface="Arial" pitchFamily="34" charset="0"/>
              <a:buChar char="•"/>
            </a:pPr>
            <a:endParaRPr lang="en-US" altLang="zh-CN" sz="2400" b="1" dirty="0"/>
          </a:p>
          <a:p>
            <a:pPr marL="342900" lvl="3" indent="-342900">
              <a:spcBef>
                <a:spcPts val="1200"/>
              </a:spcBef>
              <a:buFont typeface="Arial" pitchFamily="34" charset="0"/>
              <a:buChar char="•"/>
            </a:pPr>
            <a:r>
              <a:rPr lang="zh-CN" altLang="zh-CN" sz="2400" b="1" dirty="0"/>
              <a:t>如果</a:t>
            </a:r>
            <a:r>
              <a:rPr lang="zh-CN" altLang="zh-CN" sz="2400" b="1" i="1" dirty="0"/>
              <a:t>D</a:t>
            </a:r>
            <a:r>
              <a:rPr lang="zh-CN" altLang="zh-CN" sz="2400" b="1" dirty="0"/>
              <a:t>大于可用内存块的总量</a:t>
            </a:r>
            <a:r>
              <a:rPr lang="zh-CN" altLang="zh-CN" sz="2400" b="1" i="1" dirty="0"/>
              <a:t>m</a:t>
            </a:r>
            <a:r>
              <a:rPr lang="zh-CN" altLang="zh-CN" sz="2400" b="1" dirty="0"/>
              <a:t>（</a:t>
            </a:r>
            <a:r>
              <a:rPr lang="zh-CN" altLang="zh-CN" sz="2400" b="1" i="1" dirty="0"/>
              <a:t>D</a:t>
            </a:r>
            <a:r>
              <a:rPr lang="zh-CN" altLang="zh-CN" sz="2400" b="1" dirty="0">
                <a:sym typeface="Symbol" panose="05050102010706020507" pitchFamily="18" charset="2"/>
              </a:rPr>
              <a:t></a:t>
            </a:r>
            <a:r>
              <a:rPr lang="zh-CN" altLang="zh-CN" sz="2400" b="1" i="1" dirty="0"/>
              <a:t>m</a:t>
            </a:r>
            <a:r>
              <a:rPr lang="zh-CN" altLang="zh-CN" sz="2400" b="1" dirty="0"/>
              <a:t>），</a:t>
            </a:r>
            <a:r>
              <a:rPr lang="zh-CN" altLang="en-US" sz="2400" b="1" dirty="0"/>
              <a:t>可能</a:t>
            </a:r>
            <a:r>
              <a:rPr lang="zh-CN" altLang="zh-CN" sz="2400" b="1" dirty="0"/>
              <a:t>出现抖动</a:t>
            </a:r>
            <a:endParaRPr lang="en-US" altLang="zh-CN" sz="2400" b="1" dirty="0"/>
          </a:p>
          <a:p>
            <a:pPr marL="342900" lvl="3" indent="-342900">
              <a:spcBef>
                <a:spcPts val="1200"/>
              </a:spcBef>
              <a:buFont typeface="Arial" pitchFamily="34" charset="0"/>
              <a:buChar char="•"/>
            </a:pPr>
            <a:r>
              <a:rPr lang="zh-CN" altLang="en-US" sz="2400" b="1" dirty="0"/>
              <a:t>防止抖动</a:t>
            </a:r>
            <a:endParaRPr lang="en-US" altLang="zh-CN" sz="2400" b="1" dirty="0"/>
          </a:p>
          <a:p>
            <a:pPr marL="800100" lvl="4" indent="-342900">
              <a:spcBef>
                <a:spcPts val="1200"/>
              </a:spcBef>
              <a:buFont typeface="Arial" pitchFamily="34" charset="0"/>
              <a:buChar char="•"/>
            </a:pPr>
            <a:r>
              <a:rPr lang="zh-CN" altLang="en-US" sz="2200" dirty="0"/>
              <a:t>操作系统监督每个进程的工作集，并给它分配工作集所需的内存块。若有足够多的额外块，即可装入另外的进程；若工作集增大，超出可用块的总数，操作系统要选择一个进程挂起，将其页面换出，把内存分配给其它进程</a:t>
            </a:r>
          </a:p>
          <a:p>
            <a:pPr marL="800100" lvl="4" indent="-342900">
              <a:spcBef>
                <a:spcPts val="1200"/>
              </a:spcBef>
              <a:buFont typeface="Arial" pitchFamily="34" charset="0"/>
              <a:buChar char="•"/>
            </a:pPr>
            <a:endParaRPr lang="zh-CN" altLang="en-US" sz="2400" b="1" dirty="0"/>
          </a:p>
          <a:p>
            <a:pPr marL="342900" lvl="3" indent="-342900">
              <a:spcBef>
                <a:spcPts val="1200"/>
              </a:spcBef>
              <a:buFont typeface="Arial" pitchFamily="34" charset="0"/>
              <a:buChar char="•"/>
            </a:pPr>
            <a:endParaRPr lang="en-US" altLang="zh-CN" sz="2400" b="1" dirty="0"/>
          </a:p>
          <a:p>
            <a:pPr marL="342900" lvl="3" indent="-342900">
              <a:spcBef>
                <a:spcPts val="1200"/>
              </a:spcBef>
              <a:buFont typeface="Arial" pitchFamily="34" charset="0"/>
              <a:buChar char="•"/>
            </a:pPr>
            <a:endParaRPr lang="zh-CN" altLang="en-US" sz="2400" b="1" dirty="0"/>
          </a:p>
          <a:p>
            <a:endParaRPr lang="zh-CN" altLang="en-US" dirty="0"/>
          </a:p>
        </p:txBody>
      </p:sp>
      <p:sp>
        <p:nvSpPr>
          <p:cNvPr id="4" name="Date Placeholder 3"/>
          <p:cNvSpPr>
            <a:spLocks noGrp="1"/>
          </p:cNvSpPr>
          <p:nvPr>
            <p:ph type="dt" sz="half" idx="10"/>
          </p:nvPr>
        </p:nvSpPr>
        <p:spPr/>
        <p:txBody>
          <a:bodyPr/>
          <a:lstStyle/>
          <a:p>
            <a:fld id="{2C96CB03-2BB2-4C2B-99A4-D2DE3C3EF222}"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87</a:t>
            </a:fld>
            <a:endParaRPr lang="zh-CN" altLang="en-US" dirty="0"/>
          </a:p>
        </p:txBody>
      </p:sp>
      <p:graphicFrame>
        <p:nvGraphicFramePr>
          <p:cNvPr id="7" name="Object 21"/>
          <p:cNvGraphicFramePr>
            <a:graphicFrameLocks noChangeAspect="1"/>
          </p:cNvGraphicFramePr>
          <p:nvPr>
            <p:extLst/>
          </p:nvPr>
        </p:nvGraphicFramePr>
        <p:xfrm>
          <a:off x="3707308" y="2229173"/>
          <a:ext cx="1728788" cy="839787"/>
        </p:xfrm>
        <a:graphic>
          <a:graphicData uri="http://schemas.openxmlformats.org/presentationml/2006/ole">
            <mc:AlternateContent xmlns:mc="http://schemas.openxmlformats.org/markup-compatibility/2006">
              <mc:Choice xmlns:v="urn:schemas-microsoft-com:vml" Requires="v">
                <p:oleObj spid="_x0000_s2119" name="公式" r:id="rId3" imgW="888614" imgH="431613" progId="">
                  <p:embed/>
                </p:oleObj>
              </mc:Choice>
              <mc:Fallback>
                <p:oleObj name="公式" r:id="rId3" imgW="888614" imgH="431613" progId="">
                  <p:embed/>
                  <p:pic>
                    <p:nvPicPr>
                      <p:cNvPr id="0" name="Picture 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07308" y="2229173"/>
                        <a:ext cx="1728788" cy="8397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945441074"/>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虚拟段式机制</a:t>
            </a:r>
          </a:p>
        </p:txBody>
      </p:sp>
      <p:sp>
        <p:nvSpPr>
          <p:cNvPr id="3" name="Content Placeholder 2"/>
          <p:cNvSpPr>
            <a:spLocks noGrp="1"/>
          </p:cNvSpPr>
          <p:nvPr>
            <p:ph idx="1"/>
          </p:nvPr>
        </p:nvSpPr>
        <p:spPr/>
        <p:txBody>
          <a:bodyPr>
            <a:normAutofit/>
          </a:bodyPr>
          <a:lstStyle/>
          <a:p>
            <a:r>
              <a:rPr lang="zh-CN" altLang="en-US" dirty="0"/>
              <a:t>在简单段式管理基础上，增加请求调段和段置换功能</a:t>
            </a:r>
            <a:endParaRPr lang="en-US" altLang="zh-CN" dirty="0"/>
          </a:p>
          <a:p>
            <a:r>
              <a:rPr lang="zh-CN" altLang="en-US" dirty="0"/>
              <a:t>对段表的扩充</a:t>
            </a:r>
            <a:endParaRPr lang="en-US" altLang="zh-CN" dirty="0"/>
          </a:p>
          <a:p>
            <a:pPr lvl="1"/>
            <a:r>
              <a:rPr lang="zh-CN" altLang="en-US" dirty="0"/>
              <a:t>标志位：段在内存还是外存</a:t>
            </a:r>
            <a:endParaRPr lang="en-US" altLang="zh-CN" dirty="0"/>
          </a:p>
          <a:p>
            <a:pPr lvl="1"/>
            <a:r>
              <a:rPr lang="zh-CN" altLang="en-US" dirty="0"/>
              <a:t>修改位：段的内容是否被修改</a:t>
            </a:r>
            <a:endParaRPr lang="en-US" altLang="zh-CN" dirty="0"/>
          </a:p>
          <a:p>
            <a:pPr lvl="1"/>
            <a:r>
              <a:rPr lang="zh-CN" altLang="en-US" dirty="0"/>
              <a:t>增长位（该段是否增长过，在虚拟页式中没有该位）</a:t>
            </a:r>
            <a:endParaRPr lang="en-US" altLang="zh-CN" dirty="0"/>
          </a:p>
          <a:p>
            <a:pPr lvl="1"/>
            <a:r>
              <a:rPr lang="zh-CN" altLang="en-US" dirty="0"/>
              <a:t>访问统计信息</a:t>
            </a:r>
            <a:endParaRPr lang="en-US" altLang="zh-CN" dirty="0"/>
          </a:p>
          <a:p>
            <a:pPr lvl="1"/>
            <a:r>
              <a:rPr lang="zh-CN" altLang="en-US" dirty="0"/>
              <a:t>存取权限：</a:t>
            </a:r>
            <a:r>
              <a:rPr lang="en-US" altLang="zh-CN" dirty="0"/>
              <a:t>R, W, X</a:t>
            </a:r>
          </a:p>
          <a:p>
            <a:pPr lvl="1"/>
            <a:r>
              <a:rPr lang="zh-CN" altLang="en-US" dirty="0"/>
              <a:t>外存地址</a:t>
            </a:r>
          </a:p>
        </p:txBody>
      </p:sp>
      <p:sp>
        <p:nvSpPr>
          <p:cNvPr id="4" name="Date Placeholder 3"/>
          <p:cNvSpPr>
            <a:spLocks noGrp="1"/>
          </p:cNvSpPr>
          <p:nvPr>
            <p:ph type="dt" sz="half" idx="10"/>
          </p:nvPr>
        </p:nvSpPr>
        <p:spPr/>
        <p:txBody>
          <a:bodyPr/>
          <a:lstStyle/>
          <a:p>
            <a:fld id="{6916BC14-69C0-46D4-A1B9-DFFFAFB6BB84}"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88</a:t>
            </a:fld>
            <a:endParaRPr lang="zh-CN" altLang="en-US" dirty="0"/>
          </a:p>
        </p:txBody>
      </p:sp>
    </p:spTree>
    <p:extLst>
      <p:ext uri="{BB962C8B-B14F-4D97-AF65-F5344CB8AC3E}">
        <p14:creationId xmlns:p14="http://schemas.microsoft.com/office/powerpoint/2010/main" val="2338819527"/>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虚拟段式机制</a:t>
            </a:r>
          </a:p>
        </p:txBody>
      </p:sp>
      <p:sp>
        <p:nvSpPr>
          <p:cNvPr id="3" name="Content Placeholder 2"/>
          <p:cNvSpPr>
            <a:spLocks noGrp="1"/>
          </p:cNvSpPr>
          <p:nvPr>
            <p:ph idx="1"/>
          </p:nvPr>
        </p:nvSpPr>
        <p:spPr/>
        <p:txBody>
          <a:bodyPr/>
          <a:lstStyle/>
          <a:p>
            <a:r>
              <a:rPr lang="zh-CN" altLang="en-US" dirty="0"/>
              <a:t>地址映射</a:t>
            </a:r>
          </a:p>
        </p:txBody>
      </p:sp>
      <p:sp>
        <p:nvSpPr>
          <p:cNvPr id="4" name="Date Placeholder 3"/>
          <p:cNvSpPr>
            <a:spLocks noGrp="1"/>
          </p:cNvSpPr>
          <p:nvPr>
            <p:ph type="dt" sz="half" idx="10"/>
          </p:nvPr>
        </p:nvSpPr>
        <p:spPr/>
        <p:txBody>
          <a:bodyPr/>
          <a:lstStyle/>
          <a:p>
            <a:fld id="{8AD76192-95AE-45C8-AD99-FF784A4B8CBB}"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89</a:t>
            </a:fld>
            <a:endParaRPr lang="zh-CN" altLang="en-US" dirty="0"/>
          </a:p>
        </p:txBody>
      </p:sp>
      <p:sp>
        <p:nvSpPr>
          <p:cNvPr id="7" name="AutoShape 4"/>
          <p:cNvSpPr>
            <a:spLocks noChangeArrowheads="1"/>
          </p:cNvSpPr>
          <p:nvPr/>
        </p:nvSpPr>
        <p:spPr bwMode="auto">
          <a:xfrm>
            <a:off x="7074719" y="3537992"/>
            <a:ext cx="284163" cy="265112"/>
          </a:xfrm>
          <a:prstGeom prst="flowChartOr">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latin typeface="+mn-lt"/>
              <a:ea typeface="楷体" panose="02010609060101010101" pitchFamily="49" charset="-122"/>
            </a:endParaRPr>
          </a:p>
        </p:txBody>
      </p:sp>
      <p:grpSp>
        <p:nvGrpSpPr>
          <p:cNvPr id="8" name="Group 5"/>
          <p:cNvGrpSpPr>
            <a:grpSpLocks/>
          </p:cNvGrpSpPr>
          <p:nvPr/>
        </p:nvGrpSpPr>
        <p:grpSpPr bwMode="auto">
          <a:xfrm>
            <a:off x="7846244" y="2601367"/>
            <a:ext cx="677863" cy="2247900"/>
            <a:chOff x="4416" y="1584"/>
            <a:chExt cx="528" cy="1632"/>
          </a:xfrm>
        </p:grpSpPr>
        <p:sp>
          <p:nvSpPr>
            <p:cNvPr id="9" name="Rectangle 6"/>
            <p:cNvSpPr>
              <a:spLocks noChangeArrowheads="1"/>
            </p:cNvSpPr>
            <p:nvPr/>
          </p:nvSpPr>
          <p:spPr bwMode="auto">
            <a:xfrm>
              <a:off x="4416" y="1584"/>
              <a:ext cx="528" cy="163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latin typeface="+mn-lt"/>
                <a:ea typeface="楷体" panose="02010609060101010101" pitchFamily="49" charset="-122"/>
              </a:endParaRPr>
            </a:p>
          </p:txBody>
        </p:sp>
        <p:sp>
          <p:nvSpPr>
            <p:cNvPr id="10" name="Line 7"/>
            <p:cNvSpPr>
              <a:spLocks noChangeShapeType="1"/>
            </p:cNvSpPr>
            <p:nvPr/>
          </p:nvSpPr>
          <p:spPr bwMode="auto">
            <a:xfrm>
              <a:off x="4416" y="2208"/>
              <a:ext cx="52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11" name="Line 8"/>
            <p:cNvSpPr>
              <a:spLocks noChangeShapeType="1"/>
            </p:cNvSpPr>
            <p:nvPr/>
          </p:nvSpPr>
          <p:spPr bwMode="auto">
            <a:xfrm>
              <a:off x="4416" y="2496"/>
              <a:ext cx="52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grpSp>
        <p:nvGrpSpPr>
          <p:cNvPr id="12" name="Group 9"/>
          <p:cNvGrpSpPr>
            <a:grpSpLocks/>
          </p:cNvGrpSpPr>
          <p:nvPr/>
        </p:nvGrpSpPr>
        <p:grpSpPr bwMode="auto">
          <a:xfrm>
            <a:off x="2242369" y="2321967"/>
            <a:ext cx="4329113" cy="2208212"/>
            <a:chOff x="1632" y="461"/>
            <a:chExt cx="2928" cy="1603"/>
          </a:xfrm>
        </p:grpSpPr>
        <p:sp>
          <p:nvSpPr>
            <p:cNvPr id="13" name="Text Box 10"/>
            <p:cNvSpPr txBox="1">
              <a:spLocks noChangeArrowheads="1"/>
            </p:cNvSpPr>
            <p:nvPr/>
          </p:nvSpPr>
          <p:spPr bwMode="auto">
            <a:xfrm>
              <a:off x="2785" y="461"/>
              <a:ext cx="478" cy="2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1900" b="1" dirty="0">
                  <a:latin typeface="+mn-lt"/>
                  <a:ea typeface="楷体" panose="02010609060101010101" pitchFamily="49" charset="-122"/>
                </a:rPr>
                <a:t>段表</a:t>
              </a:r>
            </a:p>
          </p:txBody>
        </p:sp>
        <p:sp>
          <p:nvSpPr>
            <p:cNvPr id="14" name="Rectangle 11"/>
            <p:cNvSpPr>
              <a:spLocks noChangeArrowheads="1"/>
            </p:cNvSpPr>
            <p:nvPr/>
          </p:nvSpPr>
          <p:spPr bwMode="auto">
            <a:xfrm>
              <a:off x="1632" y="720"/>
              <a:ext cx="2928" cy="13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zh-CN" altLang="en-US" sz="1900" b="1" dirty="0">
                  <a:latin typeface="+mn-lt"/>
                  <a:ea typeface="楷体" panose="02010609060101010101" pitchFamily="49" charset="-122"/>
                </a:rPr>
                <a:t>段号  地址  长度  存取方式  </a:t>
              </a:r>
              <a:r>
                <a:rPr lang="zh-CN" altLang="en-US" sz="1900" b="1" dirty="0">
                  <a:solidFill>
                    <a:srgbClr val="FF0000"/>
                  </a:solidFill>
                  <a:latin typeface="+mn-lt"/>
                  <a:ea typeface="楷体" panose="02010609060101010101" pitchFamily="49" charset="-122"/>
                </a:rPr>
                <a:t>内外</a:t>
              </a:r>
              <a:r>
                <a:rPr lang="zh-CN" altLang="en-US" sz="1900" b="1" dirty="0">
                  <a:latin typeface="+mn-lt"/>
                  <a:ea typeface="楷体" panose="02010609060101010101" pitchFamily="49" charset="-122"/>
                </a:rPr>
                <a:t>  访问位</a:t>
              </a:r>
            </a:p>
            <a:p>
              <a:pPr eaLnBrk="1" hangingPunct="1">
                <a:spcBef>
                  <a:spcPct val="20000"/>
                </a:spcBef>
              </a:pPr>
              <a:endParaRPr lang="zh-CN" altLang="en-US" sz="1900" b="1" dirty="0">
                <a:latin typeface="+mn-lt"/>
                <a:ea typeface="楷体" panose="02010609060101010101" pitchFamily="49" charset="-122"/>
              </a:endParaRPr>
            </a:p>
            <a:p>
              <a:pPr eaLnBrk="1" hangingPunct="1">
                <a:spcBef>
                  <a:spcPct val="20000"/>
                </a:spcBef>
              </a:pPr>
              <a:endParaRPr lang="zh-CN" altLang="en-US" sz="1900" b="1" dirty="0">
                <a:latin typeface="+mn-lt"/>
                <a:ea typeface="楷体" panose="02010609060101010101" pitchFamily="49" charset="-122"/>
              </a:endParaRPr>
            </a:p>
            <a:p>
              <a:pPr eaLnBrk="1" hangingPunct="1">
                <a:spcBef>
                  <a:spcPct val="20000"/>
                </a:spcBef>
              </a:pPr>
              <a:endParaRPr lang="zh-CN" altLang="en-US" sz="1900" b="1" dirty="0">
                <a:latin typeface="+mn-lt"/>
                <a:ea typeface="楷体" panose="02010609060101010101" pitchFamily="49" charset="-122"/>
              </a:endParaRPr>
            </a:p>
            <a:p>
              <a:pPr eaLnBrk="1" hangingPunct="1">
                <a:spcBef>
                  <a:spcPct val="20000"/>
                </a:spcBef>
              </a:pPr>
              <a:endParaRPr lang="en-US" altLang="zh-CN" sz="1900" b="1" dirty="0">
                <a:latin typeface="+mn-lt"/>
                <a:ea typeface="楷体" panose="02010609060101010101" pitchFamily="49" charset="-122"/>
              </a:endParaRPr>
            </a:p>
          </p:txBody>
        </p:sp>
        <p:sp>
          <p:nvSpPr>
            <p:cNvPr id="15" name="Line 12"/>
            <p:cNvSpPr>
              <a:spLocks noChangeShapeType="1"/>
            </p:cNvSpPr>
            <p:nvPr/>
          </p:nvSpPr>
          <p:spPr bwMode="auto">
            <a:xfrm>
              <a:off x="1632" y="1096"/>
              <a:ext cx="292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16" name="Line 13"/>
            <p:cNvSpPr>
              <a:spLocks noChangeShapeType="1"/>
            </p:cNvSpPr>
            <p:nvPr/>
          </p:nvSpPr>
          <p:spPr bwMode="auto">
            <a:xfrm>
              <a:off x="1632" y="1334"/>
              <a:ext cx="292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17" name="Line 14"/>
            <p:cNvSpPr>
              <a:spLocks noChangeShapeType="1"/>
            </p:cNvSpPr>
            <p:nvPr/>
          </p:nvSpPr>
          <p:spPr bwMode="auto">
            <a:xfrm>
              <a:off x="1632" y="1582"/>
              <a:ext cx="292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18" name="Line 15"/>
            <p:cNvSpPr>
              <a:spLocks noChangeShapeType="1"/>
            </p:cNvSpPr>
            <p:nvPr/>
          </p:nvSpPr>
          <p:spPr bwMode="auto">
            <a:xfrm>
              <a:off x="1632" y="1824"/>
              <a:ext cx="292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19" name="Text Box 16"/>
            <p:cNvSpPr txBox="1">
              <a:spLocks noChangeArrowheads="1"/>
            </p:cNvSpPr>
            <p:nvPr/>
          </p:nvSpPr>
          <p:spPr bwMode="auto">
            <a:xfrm>
              <a:off x="2046" y="1347"/>
              <a:ext cx="2017" cy="2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900" b="1" dirty="0">
                  <a:latin typeface="+mn-lt"/>
                  <a:ea typeface="楷体" panose="02010609060101010101" pitchFamily="49" charset="-122"/>
                </a:rPr>
                <a:t>3400                 RW      </a:t>
              </a:r>
              <a:r>
                <a:rPr lang="en-US" altLang="zh-CN" sz="1900" b="1" dirty="0">
                  <a:solidFill>
                    <a:srgbClr val="FF0000"/>
                  </a:solidFill>
                  <a:latin typeface="+mn-lt"/>
                  <a:ea typeface="楷体" panose="02010609060101010101" pitchFamily="49" charset="-122"/>
                </a:rPr>
                <a:t>     </a:t>
              </a:r>
              <a:r>
                <a:rPr lang="zh-CN" altLang="en-US" sz="1900" b="1" dirty="0">
                  <a:solidFill>
                    <a:srgbClr val="FF0000"/>
                  </a:solidFill>
                  <a:latin typeface="+mn-lt"/>
                  <a:ea typeface="楷体" panose="02010609060101010101" pitchFamily="49" charset="-122"/>
                </a:rPr>
                <a:t>内</a:t>
              </a:r>
            </a:p>
          </p:txBody>
        </p:sp>
        <p:sp>
          <p:nvSpPr>
            <p:cNvPr id="20" name="Line 17"/>
            <p:cNvSpPr>
              <a:spLocks noChangeShapeType="1"/>
            </p:cNvSpPr>
            <p:nvPr/>
          </p:nvSpPr>
          <p:spPr bwMode="auto">
            <a:xfrm>
              <a:off x="2036" y="720"/>
              <a:ext cx="0" cy="13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21" name="Line 18"/>
            <p:cNvSpPr>
              <a:spLocks noChangeShapeType="1"/>
            </p:cNvSpPr>
            <p:nvPr/>
          </p:nvSpPr>
          <p:spPr bwMode="auto">
            <a:xfrm>
              <a:off x="2458" y="720"/>
              <a:ext cx="0" cy="13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22" name="Line 19"/>
            <p:cNvSpPr>
              <a:spLocks noChangeShapeType="1"/>
            </p:cNvSpPr>
            <p:nvPr/>
          </p:nvSpPr>
          <p:spPr bwMode="auto">
            <a:xfrm>
              <a:off x="2852" y="720"/>
              <a:ext cx="0" cy="13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23" name="Line 20"/>
            <p:cNvSpPr>
              <a:spLocks noChangeShapeType="1"/>
            </p:cNvSpPr>
            <p:nvPr/>
          </p:nvSpPr>
          <p:spPr bwMode="auto">
            <a:xfrm>
              <a:off x="3582" y="720"/>
              <a:ext cx="0" cy="13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24" name="Line 21"/>
            <p:cNvSpPr>
              <a:spLocks noChangeShapeType="1"/>
            </p:cNvSpPr>
            <p:nvPr/>
          </p:nvSpPr>
          <p:spPr bwMode="auto">
            <a:xfrm>
              <a:off x="3974" y="720"/>
              <a:ext cx="0" cy="13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
        <p:nvSpPr>
          <p:cNvPr id="25" name="Rectangle 23"/>
          <p:cNvSpPr>
            <a:spLocks noChangeArrowheads="1"/>
          </p:cNvSpPr>
          <p:nvPr/>
        </p:nvSpPr>
        <p:spPr bwMode="auto">
          <a:xfrm>
            <a:off x="467544" y="2166392"/>
            <a:ext cx="1349375" cy="3968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zh-CN" altLang="en-US" sz="1900" b="1">
                <a:latin typeface="+mn-lt"/>
                <a:ea typeface="楷体" panose="02010609060101010101" pitchFamily="49" charset="-122"/>
              </a:rPr>
              <a:t>段表始址</a:t>
            </a:r>
          </a:p>
        </p:txBody>
      </p:sp>
      <p:sp>
        <p:nvSpPr>
          <p:cNvPr id="26" name="Line 24"/>
          <p:cNvSpPr>
            <a:spLocks noChangeShapeType="1"/>
          </p:cNvSpPr>
          <p:nvPr/>
        </p:nvSpPr>
        <p:spPr bwMode="auto">
          <a:xfrm>
            <a:off x="1588319" y="2371179"/>
            <a:ext cx="0" cy="1112838"/>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nvGrpSpPr>
          <p:cNvPr id="27" name="Group 26"/>
          <p:cNvGrpSpPr>
            <a:grpSpLocks/>
          </p:cNvGrpSpPr>
          <p:nvPr/>
        </p:nvGrpSpPr>
        <p:grpSpPr bwMode="auto">
          <a:xfrm>
            <a:off x="621532" y="5058814"/>
            <a:ext cx="2260600" cy="1110620"/>
            <a:chOff x="218" y="2488"/>
            <a:chExt cx="1529" cy="806"/>
          </a:xfrm>
        </p:grpSpPr>
        <p:grpSp>
          <p:nvGrpSpPr>
            <p:cNvPr id="28" name="Group 27"/>
            <p:cNvGrpSpPr>
              <a:grpSpLocks/>
            </p:cNvGrpSpPr>
            <p:nvPr/>
          </p:nvGrpSpPr>
          <p:grpSpPr bwMode="auto">
            <a:xfrm>
              <a:off x="218" y="2488"/>
              <a:ext cx="1270" cy="536"/>
              <a:chOff x="218" y="2488"/>
              <a:chExt cx="1270" cy="536"/>
            </a:xfrm>
          </p:grpSpPr>
          <p:sp>
            <p:nvSpPr>
              <p:cNvPr id="30" name="Rectangle 28"/>
              <p:cNvSpPr>
                <a:spLocks noChangeArrowheads="1"/>
              </p:cNvSpPr>
              <p:nvPr/>
            </p:nvSpPr>
            <p:spPr bwMode="auto">
              <a:xfrm>
                <a:off x="576" y="2736"/>
                <a:ext cx="912" cy="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20000"/>
                  </a:spcBef>
                </a:pPr>
                <a:r>
                  <a:rPr lang="en-US" altLang="zh-CN" sz="1900" b="1">
                    <a:latin typeface="+mn-lt"/>
                    <a:ea typeface="楷体" panose="02010609060101010101" pitchFamily="49" charset="-122"/>
                  </a:rPr>
                  <a:t>1        120</a:t>
                </a:r>
              </a:p>
            </p:txBody>
          </p:sp>
          <p:sp>
            <p:nvSpPr>
              <p:cNvPr id="31" name="Text Box 29"/>
              <p:cNvSpPr txBox="1">
                <a:spLocks noChangeArrowheads="1"/>
              </p:cNvSpPr>
              <p:nvPr/>
            </p:nvSpPr>
            <p:spPr bwMode="auto">
              <a:xfrm>
                <a:off x="218" y="2488"/>
                <a:ext cx="672" cy="2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1900" b="1">
                    <a:latin typeface="+mn-lt"/>
                    <a:ea typeface="楷体" panose="02010609060101010101" pitchFamily="49" charset="-122"/>
                  </a:rPr>
                  <a:t>虚地址</a:t>
                </a:r>
              </a:p>
            </p:txBody>
          </p:sp>
          <p:sp>
            <p:nvSpPr>
              <p:cNvPr id="32" name="Line 30"/>
              <p:cNvSpPr>
                <a:spLocks noChangeShapeType="1"/>
              </p:cNvSpPr>
              <p:nvPr/>
            </p:nvSpPr>
            <p:spPr bwMode="auto">
              <a:xfrm>
                <a:off x="1008" y="2736"/>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
          <p:nvSpPr>
            <p:cNvPr id="29" name="Text Box 31"/>
            <p:cNvSpPr txBox="1">
              <a:spLocks noChangeArrowheads="1"/>
            </p:cNvSpPr>
            <p:nvPr/>
          </p:nvSpPr>
          <p:spPr bwMode="auto">
            <a:xfrm>
              <a:off x="545" y="3015"/>
              <a:ext cx="1202" cy="2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1900" b="1">
                  <a:latin typeface="+mn-lt"/>
                  <a:ea typeface="楷体" panose="02010609060101010101" pitchFamily="49" charset="-122"/>
                </a:rPr>
                <a:t>段号  段内地址</a:t>
              </a:r>
            </a:p>
          </p:txBody>
        </p:sp>
      </p:grpSp>
      <p:sp>
        <p:nvSpPr>
          <p:cNvPr id="33" name="Line 34"/>
          <p:cNvSpPr>
            <a:spLocks noChangeShapeType="1"/>
          </p:cNvSpPr>
          <p:nvPr/>
        </p:nvSpPr>
        <p:spPr bwMode="auto">
          <a:xfrm>
            <a:off x="1586732" y="3922167"/>
            <a:ext cx="0" cy="1627187"/>
          </a:xfrm>
          <a:prstGeom prst="line">
            <a:avLst/>
          </a:prstGeom>
          <a:noFill/>
          <a:ln w="9525">
            <a:solidFill>
              <a:schemeClr val="tx1"/>
            </a:solidFill>
            <a:round/>
            <a:headEnd type="triangle"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34" name="Line 35"/>
          <p:cNvSpPr>
            <a:spLocks noChangeShapeType="1"/>
          </p:cNvSpPr>
          <p:nvPr/>
        </p:nvSpPr>
        <p:spPr bwMode="auto">
          <a:xfrm>
            <a:off x="2526532" y="5587454"/>
            <a:ext cx="468471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35" name="Line 36"/>
          <p:cNvSpPr>
            <a:spLocks noChangeShapeType="1"/>
          </p:cNvSpPr>
          <p:nvPr/>
        </p:nvSpPr>
        <p:spPr bwMode="auto">
          <a:xfrm flipV="1">
            <a:off x="7211244" y="3803104"/>
            <a:ext cx="0" cy="17843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36" name="Line 37"/>
          <p:cNvSpPr>
            <a:spLocks noChangeShapeType="1"/>
          </p:cNvSpPr>
          <p:nvPr/>
        </p:nvSpPr>
        <p:spPr bwMode="auto">
          <a:xfrm>
            <a:off x="6571482" y="3671342"/>
            <a:ext cx="49688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37" name="Text Box 39"/>
          <p:cNvSpPr txBox="1">
            <a:spLocks noChangeArrowheads="1"/>
          </p:cNvSpPr>
          <p:nvPr/>
        </p:nvSpPr>
        <p:spPr bwMode="auto">
          <a:xfrm>
            <a:off x="6515919" y="3371304"/>
            <a:ext cx="708025"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900" b="1">
                <a:latin typeface="+mn-lt"/>
                <a:ea typeface="楷体" panose="02010609060101010101" pitchFamily="49" charset="-122"/>
              </a:rPr>
              <a:t>3400</a:t>
            </a:r>
          </a:p>
        </p:txBody>
      </p:sp>
      <p:grpSp>
        <p:nvGrpSpPr>
          <p:cNvPr id="38" name="Group 52"/>
          <p:cNvGrpSpPr>
            <a:grpSpLocks/>
          </p:cNvGrpSpPr>
          <p:nvPr/>
        </p:nvGrpSpPr>
        <p:grpSpPr bwMode="auto">
          <a:xfrm>
            <a:off x="7255694" y="3369717"/>
            <a:ext cx="709613" cy="381000"/>
            <a:chOff x="4660" y="2367"/>
            <a:chExt cx="447" cy="240"/>
          </a:xfrm>
        </p:grpSpPr>
        <p:sp>
          <p:nvSpPr>
            <p:cNvPr id="39" name="Line 38"/>
            <p:cNvSpPr>
              <a:spLocks noChangeShapeType="1"/>
            </p:cNvSpPr>
            <p:nvPr/>
          </p:nvSpPr>
          <p:spPr bwMode="auto">
            <a:xfrm>
              <a:off x="4721" y="2557"/>
              <a:ext cx="26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40" name="Text Box 40"/>
            <p:cNvSpPr txBox="1">
              <a:spLocks noChangeArrowheads="1"/>
            </p:cNvSpPr>
            <p:nvPr/>
          </p:nvSpPr>
          <p:spPr bwMode="auto">
            <a:xfrm>
              <a:off x="4660" y="2367"/>
              <a:ext cx="447"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900" b="1">
                  <a:latin typeface="+mn-lt"/>
                  <a:ea typeface="楷体" panose="02010609060101010101" pitchFamily="49" charset="-122"/>
                </a:rPr>
                <a:t>3520</a:t>
              </a:r>
            </a:p>
          </p:txBody>
        </p:sp>
      </p:grpSp>
      <p:sp>
        <p:nvSpPr>
          <p:cNvPr id="41" name="Text Box 41"/>
          <p:cNvSpPr txBox="1">
            <a:spLocks noChangeArrowheads="1"/>
          </p:cNvSpPr>
          <p:nvPr/>
        </p:nvSpPr>
        <p:spPr bwMode="auto">
          <a:xfrm>
            <a:off x="7827194" y="4884192"/>
            <a:ext cx="779463"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1900" b="1">
                <a:latin typeface="+mn-lt"/>
                <a:ea typeface="楷体" panose="02010609060101010101" pitchFamily="49" charset="-122"/>
              </a:rPr>
              <a:t>内存</a:t>
            </a:r>
          </a:p>
        </p:txBody>
      </p:sp>
      <p:sp>
        <p:nvSpPr>
          <p:cNvPr id="42" name="AutoShape 43"/>
          <p:cNvSpPr>
            <a:spLocks noChangeArrowheads="1"/>
          </p:cNvSpPr>
          <p:nvPr/>
        </p:nvSpPr>
        <p:spPr bwMode="auto">
          <a:xfrm>
            <a:off x="1374007" y="3487192"/>
            <a:ext cx="431800" cy="431800"/>
          </a:xfrm>
          <a:prstGeom prst="flowChartOr">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latin typeface="+mn-lt"/>
              <a:ea typeface="楷体" panose="02010609060101010101" pitchFamily="49" charset="-122"/>
            </a:endParaRPr>
          </a:p>
        </p:txBody>
      </p:sp>
      <p:sp>
        <p:nvSpPr>
          <p:cNvPr id="43" name="AutoShape 44"/>
          <p:cNvSpPr>
            <a:spLocks noChangeArrowheads="1"/>
          </p:cNvSpPr>
          <p:nvPr/>
        </p:nvSpPr>
        <p:spPr bwMode="auto">
          <a:xfrm>
            <a:off x="1374007" y="3488779"/>
            <a:ext cx="431800" cy="431800"/>
          </a:xfrm>
          <a:prstGeom prst="flowChartOr">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latin typeface="+mn-lt"/>
              <a:ea typeface="楷体" panose="02010609060101010101" pitchFamily="49" charset="-122"/>
            </a:endParaRPr>
          </a:p>
        </p:txBody>
      </p:sp>
      <p:sp>
        <p:nvSpPr>
          <p:cNvPr id="44" name="Line 45"/>
          <p:cNvSpPr>
            <a:spLocks noChangeShapeType="1"/>
          </p:cNvSpPr>
          <p:nvPr/>
        </p:nvSpPr>
        <p:spPr bwMode="auto">
          <a:xfrm>
            <a:off x="1718494" y="3704679"/>
            <a:ext cx="50323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45" name="AutoShape 46"/>
          <p:cNvSpPr>
            <a:spLocks noChangeArrowheads="1"/>
          </p:cNvSpPr>
          <p:nvPr/>
        </p:nvSpPr>
        <p:spPr bwMode="auto">
          <a:xfrm>
            <a:off x="7077894" y="3545929"/>
            <a:ext cx="287338" cy="287338"/>
          </a:xfrm>
          <a:prstGeom prst="flowChartOr">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latin typeface="+mn-lt"/>
              <a:ea typeface="楷体" panose="02010609060101010101" pitchFamily="49" charset="-122"/>
            </a:endParaRPr>
          </a:p>
        </p:txBody>
      </p:sp>
      <p:sp>
        <p:nvSpPr>
          <p:cNvPr id="46" name="Line 47"/>
          <p:cNvSpPr>
            <a:spLocks noChangeShapeType="1"/>
          </p:cNvSpPr>
          <p:nvPr/>
        </p:nvSpPr>
        <p:spPr bwMode="auto">
          <a:xfrm flipH="1" flipV="1">
            <a:off x="1621657" y="2393404"/>
            <a:ext cx="720725" cy="576263"/>
          </a:xfrm>
          <a:prstGeom prst="line">
            <a:avLst/>
          </a:prstGeom>
          <a:noFill/>
          <a:ln w="952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47" name="Oval 48"/>
          <p:cNvSpPr>
            <a:spLocks noChangeArrowheads="1"/>
          </p:cNvSpPr>
          <p:nvPr/>
        </p:nvSpPr>
        <p:spPr bwMode="auto">
          <a:xfrm>
            <a:off x="1550219" y="2320379"/>
            <a:ext cx="71438" cy="73025"/>
          </a:xfrm>
          <a:prstGeom prst="ellipse">
            <a:avLst/>
          </a:prstGeom>
          <a:solidFill>
            <a:srgbClr val="FF3300"/>
          </a:solidFill>
          <a:ln w="9525">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latin typeface="+mn-lt"/>
              <a:ea typeface="楷体" panose="02010609060101010101" pitchFamily="49" charset="-122"/>
            </a:endParaRPr>
          </a:p>
        </p:txBody>
      </p:sp>
      <p:sp>
        <p:nvSpPr>
          <p:cNvPr id="48" name="Oval 49"/>
          <p:cNvSpPr>
            <a:spLocks noChangeArrowheads="1"/>
          </p:cNvSpPr>
          <p:nvPr/>
        </p:nvSpPr>
        <p:spPr bwMode="auto">
          <a:xfrm>
            <a:off x="1550219" y="5489029"/>
            <a:ext cx="71438" cy="73025"/>
          </a:xfrm>
          <a:prstGeom prst="ellipse">
            <a:avLst/>
          </a:prstGeom>
          <a:solidFill>
            <a:srgbClr val="FF3300"/>
          </a:solidFill>
          <a:ln w="9525">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latin typeface="+mn-lt"/>
              <a:ea typeface="楷体" panose="02010609060101010101" pitchFamily="49" charset="-122"/>
            </a:endParaRPr>
          </a:p>
        </p:txBody>
      </p:sp>
      <p:sp>
        <p:nvSpPr>
          <p:cNvPr id="49" name="Oval 50"/>
          <p:cNvSpPr>
            <a:spLocks noChangeArrowheads="1"/>
          </p:cNvSpPr>
          <p:nvPr/>
        </p:nvSpPr>
        <p:spPr bwMode="auto">
          <a:xfrm>
            <a:off x="1550219" y="3657054"/>
            <a:ext cx="71438" cy="73025"/>
          </a:xfrm>
          <a:prstGeom prst="ellipse">
            <a:avLst/>
          </a:prstGeom>
          <a:solidFill>
            <a:srgbClr val="FF3300"/>
          </a:solidFill>
          <a:ln w="9525">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latin typeface="+mn-lt"/>
              <a:ea typeface="楷体" panose="02010609060101010101" pitchFamily="49" charset="-122"/>
            </a:endParaRPr>
          </a:p>
        </p:txBody>
      </p:sp>
      <p:sp>
        <p:nvSpPr>
          <p:cNvPr id="50" name="Oval 51"/>
          <p:cNvSpPr>
            <a:spLocks noChangeArrowheads="1"/>
          </p:cNvSpPr>
          <p:nvPr/>
        </p:nvSpPr>
        <p:spPr bwMode="auto">
          <a:xfrm>
            <a:off x="2126482" y="5562054"/>
            <a:ext cx="71437" cy="71438"/>
          </a:xfrm>
          <a:prstGeom prst="ellipse">
            <a:avLst/>
          </a:prstGeom>
          <a:solidFill>
            <a:srgbClr val="FF3300"/>
          </a:solidFill>
          <a:ln w="9525">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latin typeface="+mn-lt"/>
              <a:ea typeface="楷体" panose="02010609060101010101" pitchFamily="49" charset="-122"/>
            </a:endParaRPr>
          </a:p>
        </p:txBody>
      </p:sp>
    </p:spTree>
    <p:extLst>
      <p:ext uri="{BB962C8B-B14F-4D97-AF65-F5344CB8AC3E}">
        <p14:creationId xmlns:p14="http://schemas.microsoft.com/office/powerpoint/2010/main" val="488647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childTnLst>
                          </p:cTn>
                        </p:par>
                        <p:par>
                          <p:cTn id="7" fill="hold">
                            <p:stCondLst>
                              <p:cond delay="0"/>
                            </p:stCondLst>
                            <p:childTnLst>
                              <p:par>
                                <p:cTn id="8" presetID="0" presetClass="path" presetSubtype="0" accel="50000" decel="50000" fill="hold" grpId="1" nodeType="afterEffect">
                                  <p:stCondLst>
                                    <p:cond delay="0"/>
                                  </p:stCondLst>
                                  <p:childTnLst>
                                    <p:animMotion origin="layout" path="M -5.55556E-7 4.07407E-6 L -5.55556E-7 0.19953 " pathEditMode="relative" ptsTypes="AA">
                                      <p:cBhvr>
                                        <p:cTn id="9" dur="1000" fill="hold"/>
                                        <p:tgtEl>
                                          <p:spTgt spid="47"/>
                                        </p:tgtEl>
                                        <p:attrNameLst>
                                          <p:attrName>ppt_x</p:attrName>
                                          <p:attrName>ppt_y</p:attrName>
                                        </p:attrNameLst>
                                      </p:cBhvr>
                                    </p:animMotion>
                                  </p:childTnLst>
                                </p:cTn>
                              </p:par>
                            </p:childTnLst>
                          </p:cTn>
                        </p:par>
                        <p:par>
                          <p:cTn id="10" fill="hold">
                            <p:stCondLst>
                              <p:cond delay="1000"/>
                            </p:stCondLst>
                            <p:childTnLst>
                              <p:par>
                                <p:cTn id="11" presetID="1" presetClass="entr" presetSubtype="0" fill="hold" grpId="0" nodeType="afterEffect">
                                  <p:stCondLst>
                                    <p:cond delay="0"/>
                                  </p:stCondLst>
                                  <p:childTnLst>
                                    <p:set>
                                      <p:cBhvr>
                                        <p:cTn id="12" dur="1" fill="hold">
                                          <p:stCondLst>
                                            <p:cond delay="0"/>
                                          </p:stCondLst>
                                        </p:cTn>
                                        <p:tgtEl>
                                          <p:spTgt spid="48"/>
                                        </p:tgtEl>
                                        <p:attrNameLst>
                                          <p:attrName>style.visibility</p:attrName>
                                        </p:attrNameLst>
                                      </p:cBhvr>
                                      <p:to>
                                        <p:strVal val="visible"/>
                                      </p:to>
                                    </p:set>
                                  </p:childTnLst>
                                </p:cTn>
                              </p:par>
                            </p:childTnLst>
                          </p:cTn>
                        </p:par>
                        <p:par>
                          <p:cTn id="13" fill="hold">
                            <p:stCondLst>
                              <p:cond delay="1000"/>
                            </p:stCondLst>
                            <p:childTnLst>
                              <p:par>
                                <p:cTn id="14" presetID="0" presetClass="path" presetSubtype="0" accel="50000" decel="50000" fill="hold" grpId="1" nodeType="afterEffect">
                                  <p:stCondLst>
                                    <p:cond delay="0"/>
                                  </p:stCondLst>
                                  <p:childTnLst>
                                    <p:animMotion origin="layout" path="M -5.55556E-7 -4.07407E-6 L -5.55556E-7 -0.27315 " pathEditMode="relative" ptsTypes="AA">
                                      <p:cBhvr>
                                        <p:cTn id="15" dur="1000" fill="hold"/>
                                        <p:tgtEl>
                                          <p:spTgt spid="48"/>
                                        </p:tgtEl>
                                        <p:attrNameLst>
                                          <p:attrName>ppt_x</p:attrName>
                                          <p:attrName>ppt_y</p:attrName>
                                        </p:attrNameLst>
                                      </p:cBhvr>
                                    </p:animMotion>
                                  </p:childTnLst>
                                </p:cTn>
                              </p:par>
                            </p:childTnLst>
                          </p:cTn>
                        </p:par>
                        <p:par>
                          <p:cTn id="16" fill="hold">
                            <p:stCondLst>
                              <p:cond delay="2000"/>
                            </p:stCondLst>
                            <p:childTnLst>
                              <p:par>
                                <p:cTn id="17" presetID="4" presetClass="entr" presetSubtype="32" fill="hold" grpId="0" nodeType="afterEffect">
                                  <p:stCondLst>
                                    <p:cond delay="0"/>
                                  </p:stCondLst>
                                  <p:childTnLst>
                                    <p:set>
                                      <p:cBhvr>
                                        <p:cTn id="18" dur="1" fill="hold">
                                          <p:stCondLst>
                                            <p:cond delay="0"/>
                                          </p:stCondLst>
                                        </p:cTn>
                                        <p:tgtEl>
                                          <p:spTgt spid="43"/>
                                        </p:tgtEl>
                                        <p:attrNameLst>
                                          <p:attrName>style.visibility</p:attrName>
                                        </p:attrNameLst>
                                      </p:cBhvr>
                                      <p:to>
                                        <p:strVal val="visible"/>
                                      </p:to>
                                    </p:set>
                                    <p:animEffect transition="in" filter="box(out)">
                                      <p:cBhvr>
                                        <p:cTn id="19" dur="500"/>
                                        <p:tgtEl>
                                          <p:spTgt spid="43"/>
                                        </p:tgtEl>
                                      </p:cBhvr>
                                    </p:animEffect>
                                  </p:childTnLst>
                                </p:cTn>
                              </p:par>
                            </p:childTnLst>
                          </p:cTn>
                        </p:par>
                        <p:par>
                          <p:cTn id="20" fill="hold">
                            <p:stCondLst>
                              <p:cond delay="2500"/>
                            </p:stCondLst>
                            <p:childTnLst>
                              <p:par>
                                <p:cTn id="21" presetID="1" presetClass="entr" presetSubtype="0" fill="hold" grpId="0" nodeType="afterEffect">
                                  <p:stCondLst>
                                    <p:cond delay="0"/>
                                  </p:stCondLst>
                                  <p:childTnLst>
                                    <p:set>
                                      <p:cBhvr>
                                        <p:cTn id="22" dur="1" fill="hold">
                                          <p:stCondLst>
                                            <p:cond delay="0"/>
                                          </p:stCondLst>
                                        </p:cTn>
                                        <p:tgtEl>
                                          <p:spTgt spid="49"/>
                                        </p:tgtEl>
                                        <p:attrNameLst>
                                          <p:attrName>style.visibility</p:attrName>
                                        </p:attrNameLst>
                                      </p:cBhvr>
                                      <p:to>
                                        <p:strVal val="visible"/>
                                      </p:to>
                                    </p:set>
                                  </p:childTnLst>
                                </p:cTn>
                              </p:par>
                            </p:childTnLst>
                          </p:cTn>
                        </p:par>
                        <p:par>
                          <p:cTn id="23" fill="hold">
                            <p:stCondLst>
                              <p:cond delay="2500"/>
                            </p:stCondLst>
                            <p:childTnLst>
                              <p:par>
                                <p:cTn id="24" presetID="0" presetClass="path" presetSubtype="0" accel="50000" decel="50000" fill="hold" grpId="1" nodeType="afterEffect">
                                  <p:stCondLst>
                                    <p:cond delay="0"/>
                                  </p:stCondLst>
                                  <p:childTnLst>
                                    <p:animMotion origin="layout" path="M -5.55556E-7 -5.55556E-6 L 0.18108 -5.55556E-6 " pathEditMode="relative" ptsTypes="AA">
                                      <p:cBhvr>
                                        <p:cTn id="25" dur="1000" fill="hold"/>
                                        <p:tgtEl>
                                          <p:spTgt spid="49"/>
                                        </p:tgtEl>
                                        <p:attrNameLst>
                                          <p:attrName>ppt_x</p:attrName>
                                          <p:attrName>ppt_y</p:attrName>
                                        </p:attrNameLst>
                                      </p:cBhvr>
                                    </p:animMotion>
                                  </p:childTnLst>
                                </p:cTn>
                              </p:par>
                            </p:childTnLst>
                          </p:cTn>
                        </p:par>
                        <p:par>
                          <p:cTn id="26" fill="hold">
                            <p:stCondLst>
                              <p:cond delay="3500"/>
                            </p:stCondLst>
                            <p:childTnLst>
                              <p:par>
                                <p:cTn id="27" presetID="0" presetClass="path" presetSubtype="0" accel="50000" decel="50000" fill="hold" grpId="2" nodeType="afterEffect">
                                  <p:stCondLst>
                                    <p:cond delay="0"/>
                                  </p:stCondLst>
                                  <p:childTnLst>
                                    <p:animMotion origin="layout" path="M 0.18108 -5.55556E-6 L 0.33854 -5.55556E-6 " pathEditMode="relative" ptsTypes="AA">
                                      <p:cBhvr>
                                        <p:cTn id="28" dur="1000" fill="hold"/>
                                        <p:tgtEl>
                                          <p:spTgt spid="49"/>
                                        </p:tgtEl>
                                        <p:attrNameLst>
                                          <p:attrName>ppt_x</p:attrName>
                                          <p:attrName>ppt_y</p:attrName>
                                        </p:attrNameLst>
                                      </p:cBhvr>
                                    </p:animMotion>
                                  </p:childTnLst>
                                </p:cTn>
                              </p:par>
                            </p:childTnLst>
                          </p:cTn>
                        </p:par>
                        <p:par>
                          <p:cTn id="29" fill="hold">
                            <p:stCondLst>
                              <p:cond delay="4500"/>
                            </p:stCondLst>
                            <p:childTnLst>
                              <p:par>
                                <p:cTn id="30" presetID="0" presetClass="path" presetSubtype="0" accel="50000" decel="50000" fill="hold" grpId="3" nodeType="afterEffect">
                                  <p:stCondLst>
                                    <p:cond delay="0"/>
                                  </p:stCondLst>
                                  <p:childTnLst>
                                    <p:animMotion origin="layout" path="M 0.33854 -5.55556E-6 L 0.42517 -5.55556E-6 " pathEditMode="relative" ptsTypes="AA">
                                      <p:cBhvr>
                                        <p:cTn id="31" dur="1000" fill="hold"/>
                                        <p:tgtEl>
                                          <p:spTgt spid="49"/>
                                        </p:tgtEl>
                                        <p:attrNameLst>
                                          <p:attrName>ppt_x</p:attrName>
                                          <p:attrName>ppt_y</p:attrName>
                                        </p:attrNameLst>
                                      </p:cBhvr>
                                    </p:animMotion>
                                  </p:childTnLst>
                                </p:cTn>
                              </p:par>
                            </p:childTnLst>
                          </p:cTn>
                        </p:par>
                        <p:par>
                          <p:cTn id="32" fill="hold">
                            <p:stCondLst>
                              <p:cond delay="5500"/>
                            </p:stCondLst>
                            <p:childTnLst>
                              <p:par>
                                <p:cTn id="33" presetID="0" presetClass="path" presetSubtype="0" accel="50000" decel="50000" fill="hold" grpId="4" nodeType="afterEffect">
                                  <p:stCondLst>
                                    <p:cond delay="0"/>
                                  </p:stCondLst>
                                  <p:childTnLst>
                                    <p:animMotion origin="layout" path="M 0.42517 -5.55556E-6 L 0.55903 -5.55556E-6 " pathEditMode="relative" ptsTypes="AA">
                                      <p:cBhvr>
                                        <p:cTn id="34" dur="1000" fill="hold"/>
                                        <p:tgtEl>
                                          <p:spTgt spid="49"/>
                                        </p:tgtEl>
                                        <p:attrNameLst>
                                          <p:attrName>ppt_x</p:attrName>
                                          <p:attrName>ppt_y</p:attrName>
                                        </p:attrNameLst>
                                      </p:cBhvr>
                                    </p:animMotion>
                                  </p:childTnLst>
                                </p:cTn>
                              </p:par>
                            </p:childTnLst>
                          </p:cTn>
                        </p:par>
                        <p:par>
                          <p:cTn id="35" fill="hold">
                            <p:stCondLst>
                              <p:cond delay="6500"/>
                            </p:stCondLst>
                            <p:childTnLst>
                              <p:par>
                                <p:cTn id="36" presetID="4" presetClass="entr" presetSubtype="16" fill="hold" grpId="0" nodeType="after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box(in)">
                                      <p:cBhvr>
                                        <p:cTn id="38" dur="500"/>
                                        <p:tgtEl>
                                          <p:spTgt spid="37"/>
                                        </p:tgtEl>
                                      </p:cBhvr>
                                    </p:animEffect>
                                  </p:childTnLst>
                                </p:cTn>
                              </p:par>
                            </p:childTnLst>
                          </p:cTn>
                        </p:par>
                        <p:par>
                          <p:cTn id="39" fill="hold">
                            <p:stCondLst>
                              <p:cond delay="7000"/>
                            </p:stCondLst>
                            <p:childTnLst>
                              <p:par>
                                <p:cTn id="40" presetID="1" presetClass="entr" presetSubtype="0" fill="hold" grpId="0" nodeType="afterEffect">
                                  <p:stCondLst>
                                    <p:cond delay="0"/>
                                  </p:stCondLst>
                                  <p:childTnLst>
                                    <p:set>
                                      <p:cBhvr>
                                        <p:cTn id="41" dur="1" fill="hold">
                                          <p:stCondLst>
                                            <p:cond delay="0"/>
                                          </p:stCondLst>
                                        </p:cTn>
                                        <p:tgtEl>
                                          <p:spTgt spid="50"/>
                                        </p:tgtEl>
                                        <p:attrNameLst>
                                          <p:attrName>style.visibility</p:attrName>
                                        </p:attrNameLst>
                                      </p:cBhvr>
                                      <p:to>
                                        <p:strVal val="visible"/>
                                      </p:to>
                                    </p:set>
                                  </p:childTnLst>
                                </p:cTn>
                              </p:par>
                            </p:childTnLst>
                          </p:cTn>
                        </p:par>
                        <p:par>
                          <p:cTn id="42" fill="hold">
                            <p:stCondLst>
                              <p:cond delay="7000"/>
                            </p:stCondLst>
                            <p:childTnLst>
                              <p:par>
                                <p:cTn id="43" presetID="0" presetClass="path" presetSubtype="0" accel="50000" decel="50000" fill="hold" grpId="1" nodeType="afterEffect">
                                  <p:stCondLst>
                                    <p:cond delay="0"/>
                                  </p:stCondLst>
                                  <p:childTnLst>
                                    <p:animMotion origin="layout" path="M -3.05556E-6 -4.07407E-6 L 0.55122 -4.07407E-6 " pathEditMode="relative" ptsTypes="AA">
                                      <p:cBhvr>
                                        <p:cTn id="44" dur="1000" fill="hold"/>
                                        <p:tgtEl>
                                          <p:spTgt spid="50"/>
                                        </p:tgtEl>
                                        <p:attrNameLst>
                                          <p:attrName>ppt_x</p:attrName>
                                          <p:attrName>ppt_y</p:attrName>
                                        </p:attrNameLst>
                                      </p:cBhvr>
                                    </p:animMotion>
                                  </p:childTnLst>
                                </p:cTn>
                              </p:par>
                            </p:childTnLst>
                          </p:cTn>
                        </p:par>
                        <p:par>
                          <p:cTn id="45" fill="hold">
                            <p:stCondLst>
                              <p:cond delay="8000"/>
                            </p:stCondLst>
                            <p:childTnLst>
                              <p:par>
                                <p:cTn id="46" presetID="0" presetClass="path" presetSubtype="0" accel="50000" decel="50000" fill="hold" grpId="2" nodeType="afterEffect">
                                  <p:stCondLst>
                                    <p:cond delay="0"/>
                                  </p:stCondLst>
                                  <p:childTnLst>
                                    <p:animMotion origin="layout" path="M 0.55122 -7.40741E-6 L 0.55122 -0.27316 " pathEditMode="relative" ptsTypes="AA">
                                      <p:cBhvr>
                                        <p:cTn id="47" dur="1000" fill="hold"/>
                                        <p:tgtEl>
                                          <p:spTgt spid="50"/>
                                        </p:tgtEl>
                                        <p:attrNameLst>
                                          <p:attrName>ppt_x</p:attrName>
                                          <p:attrName>ppt_y</p:attrName>
                                        </p:attrNameLst>
                                      </p:cBhvr>
                                    </p:animMotion>
                                  </p:childTnLst>
                                </p:cTn>
                              </p:par>
                            </p:childTnLst>
                          </p:cTn>
                        </p:par>
                        <p:par>
                          <p:cTn id="48" fill="hold">
                            <p:stCondLst>
                              <p:cond delay="9000"/>
                            </p:stCondLst>
                            <p:childTnLst>
                              <p:par>
                                <p:cTn id="49" presetID="4" presetClass="entr" presetSubtype="32" fill="hold" grpId="0" nodeType="afterEffect">
                                  <p:stCondLst>
                                    <p:cond delay="0"/>
                                  </p:stCondLst>
                                  <p:childTnLst>
                                    <p:set>
                                      <p:cBhvr>
                                        <p:cTn id="50" dur="1" fill="hold">
                                          <p:stCondLst>
                                            <p:cond delay="0"/>
                                          </p:stCondLst>
                                        </p:cTn>
                                        <p:tgtEl>
                                          <p:spTgt spid="45"/>
                                        </p:tgtEl>
                                        <p:attrNameLst>
                                          <p:attrName>style.visibility</p:attrName>
                                        </p:attrNameLst>
                                      </p:cBhvr>
                                      <p:to>
                                        <p:strVal val="visible"/>
                                      </p:to>
                                    </p:set>
                                    <p:animEffect transition="in" filter="box(out)">
                                      <p:cBhvr>
                                        <p:cTn id="51" dur="1000"/>
                                        <p:tgtEl>
                                          <p:spTgt spid="45"/>
                                        </p:tgtEl>
                                      </p:cBhvr>
                                    </p:animEffect>
                                  </p:childTnLst>
                                </p:cTn>
                              </p:par>
                            </p:childTnLst>
                          </p:cTn>
                        </p:par>
                        <p:par>
                          <p:cTn id="52" fill="hold">
                            <p:stCondLst>
                              <p:cond delay="10000"/>
                            </p:stCondLst>
                            <p:childTnLst>
                              <p:par>
                                <p:cTn id="53" presetID="22" presetClass="entr" presetSubtype="8" fill="hold" nodeType="afterEffect">
                                  <p:stCondLst>
                                    <p:cond delay="0"/>
                                  </p:stCondLst>
                                  <p:childTnLst>
                                    <p:set>
                                      <p:cBhvr>
                                        <p:cTn id="54" dur="1" fill="hold">
                                          <p:stCondLst>
                                            <p:cond delay="0"/>
                                          </p:stCondLst>
                                        </p:cTn>
                                        <p:tgtEl>
                                          <p:spTgt spid="38"/>
                                        </p:tgtEl>
                                        <p:attrNameLst>
                                          <p:attrName>style.visibility</p:attrName>
                                        </p:attrNameLst>
                                      </p:cBhvr>
                                      <p:to>
                                        <p:strVal val="visible"/>
                                      </p:to>
                                    </p:set>
                                    <p:animEffect transition="in" filter="wipe(left)">
                                      <p:cBhvr>
                                        <p:cTn id="55"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43" grpId="0" animBg="1"/>
      <p:bldP spid="45" grpId="0" animBg="1"/>
      <p:bldP spid="47" grpId="0" animBg="1"/>
      <p:bldP spid="47" grpId="1" animBg="1"/>
      <p:bldP spid="48" grpId="0" animBg="1"/>
      <p:bldP spid="48" grpId="1" animBg="1"/>
      <p:bldP spid="49" grpId="0" animBg="1"/>
      <p:bldP spid="49" grpId="1" animBg="1"/>
      <p:bldP spid="49" grpId="2" animBg="1"/>
      <p:bldP spid="49" grpId="3" animBg="1"/>
      <p:bldP spid="49" grpId="4" animBg="1"/>
      <p:bldP spid="50" grpId="0" animBg="1"/>
      <p:bldP spid="50" grpId="1" animBg="1"/>
      <p:bldP spid="50" grpId="2"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虚拟段式机制</a:t>
            </a:r>
          </a:p>
        </p:txBody>
      </p:sp>
      <p:sp>
        <p:nvSpPr>
          <p:cNvPr id="3" name="Content Placeholder 2"/>
          <p:cNvSpPr>
            <a:spLocks noGrp="1"/>
          </p:cNvSpPr>
          <p:nvPr>
            <p:ph idx="1"/>
          </p:nvPr>
        </p:nvSpPr>
        <p:spPr/>
        <p:txBody>
          <a:bodyPr/>
          <a:lstStyle/>
          <a:p>
            <a:r>
              <a:rPr lang="zh-CN" altLang="en-US" dirty="0"/>
              <a:t>虚拟段式管理的优缺点</a:t>
            </a:r>
            <a:endParaRPr lang="en-US" altLang="zh-CN" dirty="0"/>
          </a:p>
          <a:p>
            <a:r>
              <a:rPr lang="zh-CN" altLang="en-US" dirty="0"/>
              <a:t>优点</a:t>
            </a:r>
            <a:endParaRPr lang="en-US" altLang="zh-CN" dirty="0"/>
          </a:p>
          <a:p>
            <a:pPr lvl="1"/>
            <a:r>
              <a:rPr lang="zh-CN" altLang="en-US" dirty="0"/>
              <a:t>可以实现虚存</a:t>
            </a:r>
            <a:endParaRPr lang="en-US" altLang="zh-CN" dirty="0"/>
          </a:p>
          <a:p>
            <a:pPr lvl="1"/>
            <a:r>
              <a:rPr lang="zh-CN" altLang="en-US" dirty="0"/>
              <a:t>段长可动态改变</a:t>
            </a:r>
            <a:endParaRPr lang="en-US" altLang="zh-CN" dirty="0"/>
          </a:p>
          <a:p>
            <a:pPr lvl="1"/>
            <a:r>
              <a:rPr lang="zh-CN" altLang="en-US" dirty="0"/>
              <a:t>便于信息共享和动态链接</a:t>
            </a:r>
            <a:endParaRPr lang="en-US" altLang="zh-CN" dirty="0"/>
          </a:p>
          <a:p>
            <a:endParaRPr lang="en-US" altLang="zh-CN" dirty="0"/>
          </a:p>
          <a:p>
            <a:r>
              <a:rPr lang="zh-CN" altLang="en-US" dirty="0"/>
              <a:t>缺点</a:t>
            </a:r>
            <a:endParaRPr lang="en-US" altLang="zh-CN" dirty="0"/>
          </a:p>
          <a:p>
            <a:pPr lvl="1"/>
            <a:r>
              <a:rPr lang="zh-CN" altLang="en-US" dirty="0"/>
              <a:t>每个段的长度仍旧受到物理内存大小的限制</a:t>
            </a:r>
            <a:endParaRPr lang="en-US" altLang="zh-CN" dirty="0"/>
          </a:p>
          <a:p>
            <a:pPr lvl="1"/>
            <a:endParaRPr lang="zh-CN" altLang="en-US" dirty="0"/>
          </a:p>
        </p:txBody>
      </p:sp>
      <p:sp>
        <p:nvSpPr>
          <p:cNvPr id="4" name="Date Placeholder 3"/>
          <p:cNvSpPr>
            <a:spLocks noGrp="1"/>
          </p:cNvSpPr>
          <p:nvPr>
            <p:ph type="dt" sz="half" idx="10"/>
          </p:nvPr>
        </p:nvSpPr>
        <p:spPr/>
        <p:txBody>
          <a:bodyPr/>
          <a:lstStyle/>
          <a:p>
            <a:fld id="{7C662FE7-657E-4852-81AF-3DB71624665B}"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90</a:t>
            </a:fld>
            <a:endParaRPr lang="zh-CN" altLang="en-US" dirty="0"/>
          </a:p>
        </p:txBody>
      </p:sp>
    </p:spTree>
    <p:extLst>
      <p:ext uri="{BB962C8B-B14F-4D97-AF65-F5344CB8AC3E}">
        <p14:creationId xmlns:p14="http://schemas.microsoft.com/office/powerpoint/2010/main" val="1286304312"/>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段页式机制</a:t>
            </a:r>
          </a:p>
        </p:txBody>
      </p:sp>
      <p:sp>
        <p:nvSpPr>
          <p:cNvPr id="3" name="Content Placeholder 2"/>
          <p:cNvSpPr>
            <a:spLocks noGrp="1"/>
          </p:cNvSpPr>
          <p:nvPr>
            <p:ph idx="1"/>
          </p:nvPr>
        </p:nvSpPr>
        <p:spPr/>
        <p:txBody>
          <a:bodyPr/>
          <a:lstStyle/>
          <a:p>
            <a:r>
              <a:rPr lang="zh-CN" altLang="en-US" dirty="0">
                <a:solidFill>
                  <a:srgbClr val="0000FF"/>
                </a:solidFill>
              </a:rPr>
              <a:t>能否有一种办法，把虚拟页式和虚拟段式的优点结合起来？</a:t>
            </a:r>
            <a:endParaRPr lang="en-US" altLang="zh-CN" dirty="0">
              <a:solidFill>
                <a:srgbClr val="0000FF"/>
              </a:solidFill>
            </a:endParaRPr>
          </a:p>
          <a:p>
            <a:r>
              <a:rPr lang="zh-CN" altLang="en-US" dirty="0"/>
              <a:t>段页式的原理</a:t>
            </a:r>
            <a:endParaRPr lang="en-US" altLang="zh-CN" dirty="0"/>
          </a:p>
          <a:p>
            <a:pPr lvl="1"/>
            <a:r>
              <a:rPr lang="zh-CN" altLang="en-US" dirty="0"/>
              <a:t>程序的虚拟地址空间分两个层次</a:t>
            </a:r>
            <a:endParaRPr lang="en-US" altLang="zh-CN" dirty="0"/>
          </a:p>
          <a:p>
            <a:pPr lvl="2"/>
            <a:r>
              <a:rPr lang="zh-CN" altLang="en-US" dirty="0"/>
              <a:t>首先，根据程序语义划分成若干个段</a:t>
            </a:r>
            <a:endParaRPr lang="en-US" altLang="zh-CN" dirty="0"/>
          </a:p>
          <a:p>
            <a:pPr lvl="2"/>
            <a:r>
              <a:rPr lang="zh-CN" altLang="en-US" dirty="0"/>
              <a:t>对于每个段内部，采用页式管理</a:t>
            </a:r>
            <a:endParaRPr lang="en-US" altLang="zh-CN" dirty="0"/>
          </a:p>
          <a:p>
            <a:pPr lvl="1"/>
            <a:r>
              <a:rPr lang="zh-CN" altLang="en-US" dirty="0"/>
              <a:t>逻辑地址的组成：段号、页号、页内偏移</a:t>
            </a:r>
            <a:endParaRPr lang="en-US" altLang="zh-CN" dirty="0"/>
          </a:p>
          <a:p>
            <a:pPr lvl="1"/>
            <a:r>
              <a:rPr lang="zh-CN" altLang="en-US" dirty="0"/>
              <a:t>地址变换：先查段表，后查页表</a:t>
            </a:r>
          </a:p>
        </p:txBody>
      </p:sp>
      <p:sp>
        <p:nvSpPr>
          <p:cNvPr id="4" name="Date Placeholder 3"/>
          <p:cNvSpPr>
            <a:spLocks noGrp="1"/>
          </p:cNvSpPr>
          <p:nvPr>
            <p:ph type="dt" sz="half" idx="10"/>
          </p:nvPr>
        </p:nvSpPr>
        <p:spPr/>
        <p:txBody>
          <a:bodyPr/>
          <a:lstStyle/>
          <a:p>
            <a:fld id="{40442354-EE38-4A34-B6D1-05102A7F7C63}"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91</a:t>
            </a:fld>
            <a:endParaRPr lang="zh-CN" altLang="en-US" dirty="0"/>
          </a:p>
        </p:txBody>
      </p:sp>
    </p:spTree>
    <p:extLst>
      <p:ext uri="{BB962C8B-B14F-4D97-AF65-F5344CB8AC3E}">
        <p14:creationId xmlns:p14="http://schemas.microsoft.com/office/powerpoint/2010/main" val="3852916326"/>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段页式机制</a:t>
            </a:r>
          </a:p>
        </p:txBody>
      </p:sp>
      <p:sp>
        <p:nvSpPr>
          <p:cNvPr id="4" name="Date Placeholder 3"/>
          <p:cNvSpPr>
            <a:spLocks noGrp="1"/>
          </p:cNvSpPr>
          <p:nvPr>
            <p:ph type="dt" sz="half" idx="10"/>
          </p:nvPr>
        </p:nvSpPr>
        <p:spPr/>
        <p:txBody>
          <a:bodyPr/>
          <a:lstStyle/>
          <a:p>
            <a:fld id="{FD2494F3-ECFC-41CD-B400-752608812D4D}"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92</a:t>
            </a:fld>
            <a:endParaRPr lang="zh-CN" altLang="en-US" dirty="0"/>
          </a:p>
        </p:txBody>
      </p:sp>
      <p:sp>
        <p:nvSpPr>
          <p:cNvPr id="7" name="Text Box 25"/>
          <p:cNvSpPr txBox="1">
            <a:spLocks noChangeArrowheads="1"/>
          </p:cNvSpPr>
          <p:nvPr/>
        </p:nvSpPr>
        <p:spPr bwMode="auto">
          <a:xfrm>
            <a:off x="5245100" y="5893520"/>
            <a:ext cx="12954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1800" b="1">
                <a:latin typeface="+mn-lt"/>
                <a:ea typeface="楷体" panose="02010609060101010101" pitchFamily="49" charset="-122"/>
              </a:rPr>
              <a:t>第</a:t>
            </a:r>
            <a:r>
              <a:rPr lang="en-US" altLang="zh-CN" sz="1800" b="1">
                <a:latin typeface="+mn-lt"/>
                <a:ea typeface="楷体" panose="02010609060101010101" pitchFamily="49" charset="-122"/>
              </a:rPr>
              <a:t>2</a:t>
            </a:r>
            <a:r>
              <a:rPr lang="zh-CN" altLang="en-US" sz="1800" b="1">
                <a:latin typeface="+mn-lt"/>
                <a:ea typeface="楷体" panose="02010609060101010101" pitchFamily="49" charset="-122"/>
              </a:rPr>
              <a:t>段页表</a:t>
            </a:r>
          </a:p>
        </p:txBody>
      </p:sp>
      <p:grpSp>
        <p:nvGrpSpPr>
          <p:cNvPr id="8" name="Group 61"/>
          <p:cNvGrpSpPr>
            <a:grpSpLocks/>
          </p:cNvGrpSpPr>
          <p:nvPr/>
        </p:nvGrpSpPr>
        <p:grpSpPr bwMode="auto">
          <a:xfrm>
            <a:off x="685800" y="1916832"/>
            <a:ext cx="7546975" cy="3962400"/>
            <a:chOff x="314" y="931"/>
            <a:chExt cx="5112" cy="3072"/>
          </a:xfrm>
        </p:grpSpPr>
        <p:sp>
          <p:nvSpPr>
            <p:cNvPr id="9" name="Text Box 5"/>
            <p:cNvSpPr txBox="1">
              <a:spLocks noChangeArrowheads="1"/>
            </p:cNvSpPr>
            <p:nvPr/>
          </p:nvSpPr>
          <p:spPr bwMode="auto">
            <a:xfrm>
              <a:off x="734" y="940"/>
              <a:ext cx="1056" cy="2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1600" b="1">
                  <a:latin typeface="+mn-lt"/>
                  <a:ea typeface="楷体" panose="02010609060101010101" pitchFamily="49" charset="-122"/>
                </a:rPr>
                <a:t>段地址寄存器</a:t>
              </a:r>
            </a:p>
          </p:txBody>
        </p:sp>
        <p:sp>
          <p:nvSpPr>
            <p:cNvPr id="10" name="Rectangle 6"/>
            <p:cNvSpPr>
              <a:spLocks noChangeArrowheads="1"/>
            </p:cNvSpPr>
            <p:nvPr/>
          </p:nvSpPr>
          <p:spPr bwMode="auto">
            <a:xfrm>
              <a:off x="482" y="1171"/>
              <a:ext cx="1536" cy="33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20000"/>
                </a:spcBef>
              </a:pPr>
              <a:r>
                <a:rPr lang="zh-CN" altLang="en-US" sz="1600" b="1">
                  <a:latin typeface="+mn-lt"/>
                  <a:ea typeface="楷体" panose="02010609060101010101" pitchFamily="49" charset="-122"/>
                </a:rPr>
                <a:t>段表长度      段表始址</a:t>
              </a:r>
            </a:p>
          </p:txBody>
        </p:sp>
        <p:sp>
          <p:nvSpPr>
            <p:cNvPr id="11" name="Line 7"/>
            <p:cNvSpPr>
              <a:spLocks noChangeShapeType="1"/>
            </p:cNvSpPr>
            <p:nvPr/>
          </p:nvSpPr>
          <p:spPr bwMode="auto">
            <a:xfrm>
              <a:off x="1250" y="1171"/>
              <a:ext cx="0"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12" name="Rectangle 10"/>
            <p:cNvSpPr>
              <a:spLocks noChangeArrowheads="1"/>
            </p:cNvSpPr>
            <p:nvPr/>
          </p:nvSpPr>
          <p:spPr bwMode="auto">
            <a:xfrm>
              <a:off x="3074" y="1075"/>
              <a:ext cx="1104" cy="14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20000"/>
                </a:spcBef>
              </a:pPr>
              <a:r>
                <a:rPr lang="zh-CN" altLang="en-US" sz="1600" b="1">
                  <a:latin typeface="+mn-lt"/>
                  <a:ea typeface="楷体" panose="02010609060101010101" pitchFamily="49" charset="-122"/>
                </a:rPr>
                <a:t>页号  其它  页面</a:t>
              </a:r>
            </a:p>
            <a:p>
              <a:pPr eaLnBrk="1" hangingPunct="1">
                <a:lnSpc>
                  <a:spcPct val="120000"/>
                </a:lnSpc>
                <a:spcBef>
                  <a:spcPct val="20000"/>
                </a:spcBef>
              </a:pPr>
              <a:r>
                <a:rPr lang="zh-CN" altLang="en-US" sz="1600" b="1">
                  <a:latin typeface="+mn-lt"/>
                  <a:ea typeface="楷体" panose="02010609060101010101" pitchFamily="49" charset="-122"/>
                </a:rPr>
                <a:t>   </a:t>
              </a:r>
              <a:r>
                <a:rPr lang="en-US" altLang="zh-CN" sz="1600" b="1">
                  <a:latin typeface="+mn-lt"/>
                  <a:ea typeface="楷体" panose="02010609060101010101" pitchFamily="49" charset="-122"/>
                </a:rPr>
                <a:t>1                 12</a:t>
              </a:r>
            </a:p>
            <a:p>
              <a:pPr eaLnBrk="1" hangingPunct="1">
                <a:lnSpc>
                  <a:spcPct val="120000"/>
                </a:lnSpc>
                <a:spcBef>
                  <a:spcPct val="20000"/>
                </a:spcBef>
              </a:pPr>
              <a:r>
                <a:rPr lang="en-US" altLang="zh-CN" sz="1600" b="1">
                  <a:latin typeface="+mn-lt"/>
                  <a:ea typeface="楷体" panose="02010609060101010101" pitchFamily="49" charset="-122"/>
                </a:rPr>
                <a:t>   2                 19</a:t>
              </a:r>
            </a:p>
            <a:p>
              <a:pPr eaLnBrk="1" hangingPunct="1">
                <a:lnSpc>
                  <a:spcPct val="120000"/>
                </a:lnSpc>
                <a:spcBef>
                  <a:spcPct val="20000"/>
                </a:spcBef>
              </a:pPr>
              <a:r>
                <a:rPr lang="en-US" altLang="zh-CN" sz="1600" b="1">
                  <a:latin typeface="+mn-lt"/>
                  <a:ea typeface="楷体" panose="02010609060101010101" pitchFamily="49" charset="-122"/>
                </a:rPr>
                <a:t>   3                 21</a:t>
              </a:r>
            </a:p>
            <a:p>
              <a:pPr eaLnBrk="1" hangingPunct="1">
                <a:lnSpc>
                  <a:spcPct val="120000"/>
                </a:lnSpc>
                <a:spcBef>
                  <a:spcPct val="20000"/>
                </a:spcBef>
              </a:pPr>
              <a:r>
                <a:rPr lang="en-US" altLang="zh-CN" sz="1600" b="1">
                  <a:latin typeface="+mn-lt"/>
                  <a:ea typeface="楷体" panose="02010609060101010101" pitchFamily="49" charset="-122"/>
                </a:rPr>
                <a:t>   4                   8</a:t>
              </a:r>
            </a:p>
            <a:p>
              <a:pPr eaLnBrk="1" hangingPunct="1">
                <a:lnSpc>
                  <a:spcPct val="120000"/>
                </a:lnSpc>
                <a:spcBef>
                  <a:spcPct val="20000"/>
                </a:spcBef>
              </a:pPr>
              <a:r>
                <a:rPr lang="en-US" altLang="zh-CN" sz="1600" b="1">
                  <a:latin typeface="+mn-lt"/>
                  <a:ea typeface="楷体" panose="02010609060101010101" pitchFamily="49" charset="-122"/>
                </a:rPr>
                <a:t>   5                 10</a:t>
              </a:r>
            </a:p>
          </p:txBody>
        </p:sp>
        <p:sp>
          <p:nvSpPr>
            <p:cNvPr id="13" name="Line 11"/>
            <p:cNvSpPr>
              <a:spLocks noChangeShapeType="1"/>
            </p:cNvSpPr>
            <p:nvPr/>
          </p:nvSpPr>
          <p:spPr bwMode="auto">
            <a:xfrm>
              <a:off x="3074" y="1343"/>
              <a:ext cx="110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14" name="Line 12"/>
            <p:cNvSpPr>
              <a:spLocks noChangeShapeType="1"/>
            </p:cNvSpPr>
            <p:nvPr/>
          </p:nvSpPr>
          <p:spPr bwMode="auto">
            <a:xfrm>
              <a:off x="3074" y="1573"/>
              <a:ext cx="110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15" name="Line 13"/>
            <p:cNvSpPr>
              <a:spLocks noChangeShapeType="1"/>
            </p:cNvSpPr>
            <p:nvPr/>
          </p:nvSpPr>
          <p:spPr bwMode="auto">
            <a:xfrm>
              <a:off x="3074" y="1815"/>
              <a:ext cx="110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16" name="Line 14"/>
            <p:cNvSpPr>
              <a:spLocks noChangeShapeType="1"/>
            </p:cNvSpPr>
            <p:nvPr/>
          </p:nvSpPr>
          <p:spPr bwMode="auto">
            <a:xfrm>
              <a:off x="3074" y="2065"/>
              <a:ext cx="110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17" name="Line 15"/>
            <p:cNvSpPr>
              <a:spLocks noChangeShapeType="1"/>
            </p:cNvSpPr>
            <p:nvPr/>
          </p:nvSpPr>
          <p:spPr bwMode="auto">
            <a:xfrm>
              <a:off x="3074" y="2313"/>
              <a:ext cx="110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18" name="Line 16"/>
            <p:cNvSpPr>
              <a:spLocks noChangeShapeType="1"/>
            </p:cNvSpPr>
            <p:nvPr/>
          </p:nvSpPr>
          <p:spPr bwMode="auto">
            <a:xfrm>
              <a:off x="3458" y="1075"/>
              <a:ext cx="0" cy="14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19" name="Line 17"/>
            <p:cNvSpPr>
              <a:spLocks noChangeShapeType="1"/>
            </p:cNvSpPr>
            <p:nvPr/>
          </p:nvSpPr>
          <p:spPr bwMode="auto">
            <a:xfrm>
              <a:off x="3824" y="1075"/>
              <a:ext cx="0" cy="14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20" name="Text Box 18"/>
            <p:cNvSpPr txBox="1">
              <a:spLocks noChangeArrowheads="1"/>
            </p:cNvSpPr>
            <p:nvPr/>
          </p:nvSpPr>
          <p:spPr bwMode="auto">
            <a:xfrm>
              <a:off x="3284" y="2562"/>
              <a:ext cx="768" cy="2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1600" b="1">
                  <a:latin typeface="+mn-lt"/>
                  <a:ea typeface="楷体" panose="02010609060101010101" pitchFamily="49" charset="-122"/>
                </a:rPr>
                <a:t>第</a:t>
              </a:r>
              <a:r>
                <a:rPr lang="en-US" altLang="zh-CN" sz="1600" b="1">
                  <a:latin typeface="+mn-lt"/>
                  <a:ea typeface="楷体" panose="02010609060101010101" pitchFamily="49" charset="-122"/>
                </a:rPr>
                <a:t>0</a:t>
              </a:r>
              <a:r>
                <a:rPr lang="zh-CN" altLang="en-US" sz="1600" b="1">
                  <a:latin typeface="+mn-lt"/>
                  <a:ea typeface="楷体" panose="02010609060101010101" pitchFamily="49" charset="-122"/>
                </a:rPr>
                <a:t>段页表</a:t>
              </a:r>
            </a:p>
          </p:txBody>
        </p:sp>
        <p:sp>
          <p:nvSpPr>
            <p:cNvPr id="21" name="Rectangle 20"/>
            <p:cNvSpPr>
              <a:spLocks noChangeArrowheads="1"/>
            </p:cNvSpPr>
            <p:nvPr/>
          </p:nvSpPr>
          <p:spPr bwMode="auto">
            <a:xfrm>
              <a:off x="3074" y="3235"/>
              <a:ext cx="1152" cy="76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20000"/>
                </a:spcBef>
              </a:pPr>
              <a:r>
                <a:rPr lang="zh-CN" altLang="en-US" sz="1600" b="1">
                  <a:latin typeface="+mn-lt"/>
                  <a:ea typeface="楷体" panose="02010609060101010101" pitchFamily="49" charset="-122"/>
                </a:rPr>
                <a:t>页号  其它  页面</a:t>
              </a:r>
            </a:p>
            <a:p>
              <a:pPr eaLnBrk="1" hangingPunct="1">
                <a:lnSpc>
                  <a:spcPct val="120000"/>
                </a:lnSpc>
                <a:spcBef>
                  <a:spcPct val="20000"/>
                </a:spcBef>
              </a:pPr>
              <a:r>
                <a:rPr lang="zh-CN" altLang="en-US" sz="1600" b="1">
                  <a:latin typeface="+mn-lt"/>
                  <a:ea typeface="楷体" panose="02010609060101010101" pitchFamily="49" charset="-122"/>
                </a:rPr>
                <a:t>   </a:t>
              </a:r>
              <a:r>
                <a:rPr lang="en-US" altLang="zh-CN" sz="1600" b="1">
                  <a:latin typeface="+mn-lt"/>
                  <a:ea typeface="楷体" panose="02010609060101010101" pitchFamily="49" charset="-122"/>
                </a:rPr>
                <a:t>1                 29</a:t>
              </a:r>
            </a:p>
            <a:p>
              <a:pPr eaLnBrk="1" hangingPunct="1">
                <a:lnSpc>
                  <a:spcPct val="120000"/>
                </a:lnSpc>
                <a:spcBef>
                  <a:spcPct val="20000"/>
                </a:spcBef>
              </a:pPr>
              <a:r>
                <a:rPr lang="en-US" altLang="zh-CN" sz="1600" b="1">
                  <a:latin typeface="+mn-lt"/>
                  <a:ea typeface="楷体" panose="02010609060101010101" pitchFamily="49" charset="-122"/>
                </a:rPr>
                <a:t>   2</a:t>
              </a:r>
            </a:p>
          </p:txBody>
        </p:sp>
        <p:sp>
          <p:nvSpPr>
            <p:cNvPr id="22" name="Line 21"/>
            <p:cNvSpPr>
              <a:spLocks noChangeShapeType="1"/>
            </p:cNvSpPr>
            <p:nvPr/>
          </p:nvSpPr>
          <p:spPr bwMode="auto">
            <a:xfrm>
              <a:off x="3074" y="3523"/>
              <a:ext cx="115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23" name="Line 22"/>
            <p:cNvSpPr>
              <a:spLocks noChangeShapeType="1"/>
            </p:cNvSpPr>
            <p:nvPr/>
          </p:nvSpPr>
          <p:spPr bwMode="auto">
            <a:xfrm>
              <a:off x="3074" y="3763"/>
              <a:ext cx="115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24" name="Line 23"/>
            <p:cNvSpPr>
              <a:spLocks noChangeShapeType="1"/>
            </p:cNvSpPr>
            <p:nvPr/>
          </p:nvSpPr>
          <p:spPr bwMode="auto">
            <a:xfrm>
              <a:off x="3448" y="3235"/>
              <a:ext cx="0" cy="76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25" name="Line 24"/>
            <p:cNvSpPr>
              <a:spLocks noChangeShapeType="1"/>
            </p:cNvSpPr>
            <p:nvPr/>
          </p:nvSpPr>
          <p:spPr bwMode="auto">
            <a:xfrm>
              <a:off x="3814" y="3235"/>
              <a:ext cx="0" cy="76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26" name="Rectangle 26"/>
            <p:cNvSpPr>
              <a:spLocks noChangeArrowheads="1"/>
            </p:cNvSpPr>
            <p:nvPr/>
          </p:nvSpPr>
          <p:spPr bwMode="auto">
            <a:xfrm>
              <a:off x="4802" y="931"/>
              <a:ext cx="624" cy="283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latin typeface="+mn-lt"/>
                <a:ea typeface="楷体" panose="02010609060101010101" pitchFamily="49" charset="-122"/>
              </a:endParaRPr>
            </a:p>
          </p:txBody>
        </p:sp>
        <p:sp>
          <p:nvSpPr>
            <p:cNvPr id="27" name="Line 27"/>
            <p:cNvSpPr>
              <a:spLocks noChangeShapeType="1"/>
            </p:cNvSpPr>
            <p:nvPr/>
          </p:nvSpPr>
          <p:spPr bwMode="auto">
            <a:xfrm>
              <a:off x="4802" y="1171"/>
              <a:ext cx="624"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28" name="Line 28"/>
            <p:cNvSpPr>
              <a:spLocks noChangeShapeType="1"/>
            </p:cNvSpPr>
            <p:nvPr/>
          </p:nvSpPr>
          <p:spPr bwMode="auto">
            <a:xfrm>
              <a:off x="5090" y="1219"/>
              <a:ext cx="1" cy="192"/>
            </a:xfrm>
            <a:prstGeom prst="line">
              <a:avLst/>
            </a:prstGeom>
            <a:noFill/>
            <a:ln w="9525">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29" name="Line 29"/>
            <p:cNvSpPr>
              <a:spLocks noChangeShapeType="1"/>
            </p:cNvSpPr>
            <p:nvPr/>
          </p:nvSpPr>
          <p:spPr bwMode="auto">
            <a:xfrm>
              <a:off x="4802" y="1459"/>
              <a:ext cx="624"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30" name="Line 30"/>
            <p:cNvSpPr>
              <a:spLocks noChangeShapeType="1"/>
            </p:cNvSpPr>
            <p:nvPr/>
          </p:nvSpPr>
          <p:spPr bwMode="auto">
            <a:xfrm>
              <a:off x="4802" y="1621"/>
              <a:ext cx="624"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31" name="Line 31"/>
            <p:cNvSpPr>
              <a:spLocks noChangeShapeType="1"/>
            </p:cNvSpPr>
            <p:nvPr/>
          </p:nvSpPr>
          <p:spPr bwMode="auto">
            <a:xfrm>
              <a:off x="4802" y="1795"/>
              <a:ext cx="624"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32" name="Line 32"/>
            <p:cNvSpPr>
              <a:spLocks noChangeShapeType="1"/>
            </p:cNvSpPr>
            <p:nvPr/>
          </p:nvSpPr>
          <p:spPr bwMode="auto">
            <a:xfrm>
              <a:off x="4802" y="1957"/>
              <a:ext cx="624"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33" name="Line 33"/>
            <p:cNvSpPr>
              <a:spLocks noChangeShapeType="1"/>
            </p:cNvSpPr>
            <p:nvPr/>
          </p:nvSpPr>
          <p:spPr bwMode="auto">
            <a:xfrm>
              <a:off x="5110" y="2017"/>
              <a:ext cx="1" cy="192"/>
            </a:xfrm>
            <a:prstGeom prst="line">
              <a:avLst/>
            </a:prstGeom>
            <a:noFill/>
            <a:ln w="9525">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34" name="Line 34"/>
            <p:cNvSpPr>
              <a:spLocks noChangeShapeType="1"/>
            </p:cNvSpPr>
            <p:nvPr/>
          </p:nvSpPr>
          <p:spPr bwMode="auto">
            <a:xfrm>
              <a:off x="4802" y="2275"/>
              <a:ext cx="624"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35" name="Line 35"/>
            <p:cNvSpPr>
              <a:spLocks noChangeShapeType="1"/>
            </p:cNvSpPr>
            <p:nvPr/>
          </p:nvSpPr>
          <p:spPr bwMode="auto">
            <a:xfrm>
              <a:off x="4802" y="2449"/>
              <a:ext cx="624"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36" name="Line 36"/>
            <p:cNvSpPr>
              <a:spLocks noChangeShapeType="1"/>
            </p:cNvSpPr>
            <p:nvPr/>
          </p:nvSpPr>
          <p:spPr bwMode="auto">
            <a:xfrm>
              <a:off x="4802" y="2611"/>
              <a:ext cx="624"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37" name="Line 37"/>
            <p:cNvSpPr>
              <a:spLocks noChangeShapeType="1"/>
            </p:cNvSpPr>
            <p:nvPr/>
          </p:nvSpPr>
          <p:spPr bwMode="auto">
            <a:xfrm>
              <a:off x="4802" y="2917"/>
              <a:ext cx="624"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38" name="Line 38"/>
            <p:cNvSpPr>
              <a:spLocks noChangeShapeType="1"/>
            </p:cNvSpPr>
            <p:nvPr/>
          </p:nvSpPr>
          <p:spPr bwMode="auto">
            <a:xfrm>
              <a:off x="4802" y="3091"/>
              <a:ext cx="624"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39" name="Line 39"/>
            <p:cNvSpPr>
              <a:spLocks noChangeShapeType="1"/>
            </p:cNvSpPr>
            <p:nvPr/>
          </p:nvSpPr>
          <p:spPr bwMode="auto">
            <a:xfrm>
              <a:off x="4802" y="3253"/>
              <a:ext cx="624"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40" name="Line 40"/>
            <p:cNvSpPr>
              <a:spLocks noChangeShapeType="1"/>
            </p:cNvSpPr>
            <p:nvPr/>
          </p:nvSpPr>
          <p:spPr bwMode="auto">
            <a:xfrm>
              <a:off x="5098" y="2659"/>
              <a:ext cx="1" cy="192"/>
            </a:xfrm>
            <a:prstGeom prst="line">
              <a:avLst/>
            </a:prstGeom>
            <a:noFill/>
            <a:ln w="9525">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41" name="Line 41"/>
            <p:cNvSpPr>
              <a:spLocks noChangeShapeType="1"/>
            </p:cNvSpPr>
            <p:nvPr/>
          </p:nvSpPr>
          <p:spPr bwMode="auto">
            <a:xfrm>
              <a:off x="5120" y="3359"/>
              <a:ext cx="1" cy="192"/>
            </a:xfrm>
            <a:prstGeom prst="line">
              <a:avLst/>
            </a:prstGeom>
            <a:noFill/>
            <a:ln w="9525">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42" name="Rectangle 44"/>
            <p:cNvSpPr>
              <a:spLocks noChangeArrowheads="1"/>
            </p:cNvSpPr>
            <p:nvPr/>
          </p:nvSpPr>
          <p:spPr bwMode="auto">
            <a:xfrm>
              <a:off x="530" y="2035"/>
              <a:ext cx="2064" cy="105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20000"/>
                </a:spcBef>
              </a:pPr>
              <a:r>
                <a:rPr lang="zh-CN" altLang="en-US" sz="1600" b="1">
                  <a:latin typeface="+mn-lt"/>
                  <a:ea typeface="楷体" panose="02010609060101010101" pitchFamily="49" charset="-122"/>
                </a:rPr>
                <a:t>段号  其它  页表长度  页表始址</a:t>
              </a:r>
            </a:p>
            <a:p>
              <a:pPr eaLnBrk="1" hangingPunct="1">
                <a:lnSpc>
                  <a:spcPct val="120000"/>
                </a:lnSpc>
                <a:spcBef>
                  <a:spcPct val="20000"/>
                </a:spcBef>
              </a:pPr>
              <a:r>
                <a:rPr lang="zh-CN" altLang="en-US" sz="1600" b="1">
                  <a:latin typeface="+mn-lt"/>
                  <a:ea typeface="楷体" panose="02010609060101010101" pitchFamily="49" charset="-122"/>
                </a:rPr>
                <a:t>  </a:t>
              </a:r>
              <a:r>
                <a:rPr lang="en-US" altLang="zh-CN" sz="1600" b="1">
                  <a:latin typeface="+mn-lt"/>
                  <a:ea typeface="楷体" panose="02010609060101010101" pitchFamily="49" charset="-122"/>
                </a:rPr>
                <a:t>0                       5             1024</a:t>
              </a:r>
            </a:p>
            <a:p>
              <a:pPr eaLnBrk="1" hangingPunct="1">
                <a:lnSpc>
                  <a:spcPct val="120000"/>
                </a:lnSpc>
                <a:spcBef>
                  <a:spcPct val="20000"/>
                </a:spcBef>
              </a:pPr>
              <a:r>
                <a:rPr lang="en-US" altLang="zh-CN" sz="1600" b="1">
                  <a:latin typeface="+mn-lt"/>
                  <a:ea typeface="楷体" panose="02010609060101010101" pitchFamily="49" charset="-122"/>
                </a:rPr>
                <a:t>  1                       7             1029</a:t>
              </a:r>
            </a:p>
            <a:p>
              <a:pPr eaLnBrk="1" hangingPunct="1">
                <a:lnSpc>
                  <a:spcPct val="120000"/>
                </a:lnSpc>
                <a:spcBef>
                  <a:spcPct val="20000"/>
                </a:spcBef>
              </a:pPr>
              <a:r>
                <a:rPr lang="en-US" altLang="zh-CN" sz="1600" b="1">
                  <a:latin typeface="+mn-lt"/>
                  <a:ea typeface="楷体" panose="02010609060101010101" pitchFamily="49" charset="-122"/>
                </a:rPr>
                <a:t>  2                       9             1036</a:t>
              </a:r>
            </a:p>
          </p:txBody>
        </p:sp>
        <p:sp>
          <p:nvSpPr>
            <p:cNvPr id="43" name="Line 45"/>
            <p:cNvSpPr>
              <a:spLocks noChangeShapeType="1"/>
            </p:cNvSpPr>
            <p:nvPr/>
          </p:nvSpPr>
          <p:spPr bwMode="auto">
            <a:xfrm>
              <a:off x="530" y="2331"/>
              <a:ext cx="206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44" name="Line 46"/>
            <p:cNvSpPr>
              <a:spLocks noChangeShapeType="1"/>
            </p:cNvSpPr>
            <p:nvPr/>
          </p:nvSpPr>
          <p:spPr bwMode="auto">
            <a:xfrm>
              <a:off x="530" y="2563"/>
              <a:ext cx="206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45" name="Line 47"/>
            <p:cNvSpPr>
              <a:spLocks noChangeShapeType="1"/>
            </p:cNvSpPr>
            <p:nvPr/>
          </p:nvSpPr>
          <p:spPr bwMode="auto">
            <a:xfrm>
              <a:off x="530" y="2813"/>
              <a:ext cx="206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46" name="Line 48"/>
            <p:cNvSpPr>
              <a:spLocks noChangeShapeType="1"/>
            </p:cNvSpPr>
            <p:nvPr/>
          </p:nvSpPr>
          <p:spPr bwMode="auto">
            <a:xfrm>
              <a:off x="904" y="2035"/>
              <a:ext cx="0" cy="105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47" name="Line 49"/>
            <p:cNvSpPr>
              <a:spLocks noChangeShapeType="1"/>
            </p:cNvSpPr>
            <p:nvPr/>
          </p:nvSpPr>
          <p:spPr bwMode="auto">
            <a:xfrm>
              <a:off x="1270" y="2035"/>
              <a:ext cx="0" cy="105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48" name="Line 50"/>
            <p:cNvSpPr>
              <a:spLocks noChangeShapeType="1"/>
            </p:cNvSpPr>
            <p:nvPr/>
          </p:nvSpPr>
          <p:spPr bwMode="auto">
            <a:xfrm>
              <a:off x="1922" y="2035"/>
              <a:ext cx="0" cy="105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49" name="Text Box 51"/>
            <p:cNvSpPr txBox="1">
              <a:spLocks noChangeArrowheads="1"/>
            </p:cNvSpPr>
            <p:nvPr/>
          </p:nvSpPr>
          <p:spPr bwMode="auto">
            <a:xfrm>
              <a:off x="1338" y="3101"/>
              <a:ext cx="480" cy="2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1600" b="1">
                  <a:latin typeface="+mn-lt"/>
                  <a:ea typeface="楷体" panose="02010609060101010101" pitchFamily="49" charset="-122"/>
                </a:rPr>
                <a:t>段表</a:t>
              </a:r>
            </a:p>
          </p:txBody>
        </p:sp>
        <p:sp>
          <p:nvSpPr>
            <p:cNvPr id="50" name="Freeform 52"/>
            <p:cNvSpPr>
              <a:spLocks/>
            </p:cNvSpPr>
            <p:nvPr/>
          </p:nvSpPr>
          <p:spPr bwMode="auto">
            <a:xfrm>
              <a:off x="314" y="1507"/>
              <a:ext cx="1320" cy="672"/>
            </a:xfrm>
            <a:custGeom>
              <a:avLst/>
              <a:gdLst>
                <a:gd name="T0" fmla="*/ 1320 w 1320"/>
                <a:gd name="T1" fmla="*/ 0 h 672"/>
                <a:gd name="T2" fmla="*/ 360 w 1320"/>
                <a:gd name="T3" fmla="*/ 240 h 672"/>
                <a:gd name="T4" fmla="*/ 24 w 1320"/>
                <a:gd name="T5" fmla="*/ 384 h 672"/>
                <a:gd name="T6" fmla="*/ 216 w 1320"/>
                <a:gd name="T7" fmla="*/ 672 h 67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20" h="672">
                  <a:moveTo>
                    <a:pt x="1320" y="0"/>
                  </a:moveTo>
                  <a:cubicBezTo>
                    <a:pt x="948" y="88"/>
                    <a:pt x="576" y="176"/>
                    <a:pt x="360" y="240"/>
                  </a:cubicBezTo>
                  <a:cubicBezTo>
                    <a:pt x="144" y="304"/>
                    <a:pt x="48" y="312"/>
                    <a:pt x="24" y="384"/>
                  </a:cubicBezTo>
                  <a:cubicBezTo>
                    <a:pt x="0" y="456"/>
                    <a:pt x="184" y="624"/>
                    <a:pt x="216" y="672"/>
                  </a:cubicBezTo>
                </a:path>
              </a:pathLst>
            </a:custGeom>
            <a:noFill/>
            <a:ln w="952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51" name="Freeform 53"/>
            <p:cNvSpPr>
              <a:spLocks/>
            </p:cNvSpPr>
            <p:nvPr/>
          </p:nvSpPr>
          <p:spPr bwMode="auto">
            <a:xfrm>
              <a:off x="2594" y="1219"/>
              <a:ext cx="480" cy="1248"/>
            </a:xfrm>
            <a:custGeom>
              <a:avLst/>
              <a:gdLst>
                <a:gd name="T0" fmla="*/ 0 w 480"/>
                <a:gd name="T1" fmla="*/ 1248 h 1248"/>
                <a:gd name="T2" fmla="*/ 192 w 480"/>
                <a:gd name="T3" fmla="*/ 480 h 1248"/>
                <a:gd name="T4" fmla="*/ 480 w 480"/>
                <a:gd name="T5" fmla="*/ 0 h 1248"/>
                <a:gd name="T6" fmla="*/ 0 60000 65536"/>
                <a:gd name="T7" fmla="*/ 0 60000 65536"/>
                <a:gd name="T8" fmla="*/ 0 60000 65536"/>
              </a:gdLst>
              <a:ahLst/>
              <a:cxnLst>
                <a:cxn ang="T6">
                  <a:pos x="T0" y="T1"/>
                </a:cxn>
                <a:cxn ang="T7">
                  <a:pos x="T2" y="T3"/>
                </a:cxn>
                <a:cxn ang="T8">
                  <a:pos x="T4" y="T5"/>
                </a:cxn>
              </a:cxnLst>
              <a:rect l="0" t="0" r="r" b="b"/>
              <a:pathLst>
                <a:path w="480" h="1248">
                  <a:moveTo>
                    <a:pt x="0" y="1248"/>
                  </a:moveTo>
                  <a:cubicBezTo>
                    <a:pt x="56" y="968"/>
                    <a:pt x="112" y="688"/>
                    <a:pt x="192" y="480"/>
                  </a:cubicBezTo>
                  <a:cubicBezTo>
                    <a:pt x="272" y="272"/>
                    <a:pt x="432" y="80"/>
                    <a:pt x="480" y="0"/>
                  </a:cubicBezTo>
                </a:path>
              </a:pathLst>
            </a:custGeom>
            <a:noFill/>
            <a:ln w="952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52" name="Freeform 54"/>
            <p:cNvSpPr>
              <a:spLocks/>
            </p:cNvSpPr>
            <p:nvPr/>
          </p:nvSpPr>
          <p:spPr bwMode="auto">
            <a:xfrm>
              <a:off x="2594" y="2947"/>
              <a:ext cx="480" cy="624"/>
            </a:xfrm>
            <a:custGeom>
              <a:avLst/>
              <a:gdLst>
                <a:gd name="T0" fmla="*/ 0 w 480"/>
                <a:gd name="T1" fmla="*/ 0 h 624"/>
                <a:gd name="T2" fmla="*/ 192 w 480"/>
                <a:gd name="T3" fmla="*/ 384 h 624"/>
                <a:gd name="T4" fmla="*/ 480 w 480"/>
                <a:gd name="T5" fmla="*/ 624 h 624"/>
                <a:gd name="T6" fmla="*/ 0 60000 65536"/>
                <a:gd name="T7" fmla="*/ 0 60000 65536"/>
                <a:gd name="T8" fmla="*/ 0 60000 65536"/>
              </a:gdLst>
              <a:ahLst/>
              <a:cxnLst>
                <a:cxn ang="T6">
                  <a:pos x="T0" y="T1"/>
                </a:cxn>
                <a:cxn ang="T7">
                  <a:pos x="T2" y="T3"/>
                </a:cxn>
                <a:cxn ang="T8">
                  <a:pos x="T4" y="T5"/>
                </a:cxn>
              </a:cxnLst>
              <a:rect l="0" t="0" r="r" b="b"/>
              <a:pathLst>
                <a:path w="480" h="624">
                  <a:moveTo>
                    <a:pt x="0" y="0"/>
                  </a:moveTo>
                  <a:cubicBezTo>
                    <a:pt x="56" y="140"/>
                    <a:pt x="112" y="280"/>
                    <a:pt x="192" y="384"/>
                  </a:cubicBezTo>
                  <a:cubicBezTo>
                    <a:pt x="272" y="488"/>
                    <a:pt x="432" y="584"/>
                    <a:pt x="480" y="624"/>
                  </a:cubicBezTo>
                </a:path>
              </a:pathLst>
            </a:custGeom>
            <a:noFill/>
            <a:ln w="952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53" name="Line 55"/>
            <p:cNvSpPr>
              <a:spLocks noChangeShapeType="1"/>
            </p:cNvSpPr>
            <p:nvPr/>
          </p:nvSpPr>
          <p:spPr bwMode="auto">
            <a:xfrm>
              <a:off x="4178" y="1459"/>
              <a:ext cx="624" cy="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54" name="Line 56"/>
            <p:cNvSpPr>
              <a:spLocks noChangeShapeType="1"/>
            </p:cNvSpPr>
            <p:nvPr/>
          </p:nvSpPr>
          <p:spPr bwMode="auto">
            <a:xfrm>
              <a:off x="4178" y="1699"/>
              <a:ext cx="624" cy="67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55" name="Line 57"/>
            <p:cNvSpPr>
              <a:spLocks noChangeShapeType="1"/>
            </p:cNvSpPr>
            <p:nvPr/>
          </p:nvSpPr>
          <p:spPr bwMode="auto">
            <a:xfrm flipV="1">
              <a:off x="4226" y="3187"/>
              <a:ext cx="576" cy="48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56" name="Line 58"/>
            <p:cNvSpPr>
              <a:spLocks noChangeShapeType="1"/>
            </p:cNvSpPr>
            <p:nvPr/>
          </p:nvSpPr>
          <p:spPr bwMode="auto">
            <a:xfrm flipV="1">
              <a:off x="4178" y="1699"/>
              <a:ext cx="624"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57" name="Line 59"/>
            <p:cNvSpPr>
              <a:spLocks noChangeShapeType="1"/>
            </p:cNvSpPr>
            <p:nvPr/>
          </p:nvSpPr>
          <p:spPr bwMode="auto">
            <a:xfrm>
              <a:off x="4178" y="2227"/>
              <a:ext cx="624"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58" name="Line 60"/>
            <p:cNvSpPr>
              <a:spLocks noChangeShapeType="1"/>
            </p:cNvSpPr>
            <p:nvPr/>
          </p:nvSpPr>
          <p:spPr bwMode="auto">
            <a:xfrm>
              <a:off x="4178" y="2467"/>
              <a:ext cx="624" cy="52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Tree>
    <p:extLst>
      <p:ext uri="{BB962C8B-B14F-4D97-AF65-F5344CB8AC3E}">
        <p14:creationId xmlns:p14="http://schemas.microsoft.com/office/powerpoint/2010/main" val="1910298674"/>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段页式机制</a:t>
            </a:r>
          </a:p>
        </p:txBody>
      </p:sp>
      <p:sp>
        <p:nvSpPr>
          <p:cNvPr id="4" name="Date Placeholder 3"/>
          <p:cNvSpPr>
            <a:spLocks noGrp="1"/>
          </p:cNvSpPr>
          <p:nvPr>
            <p:ph type="dt" sz="half" idx="10"/>
          </p:nvPr>
        </p:nvSpPr>
        <p:spPr/>
        <p:txBody>
          <a:bodyPr/>
          <a:lstStyle/>
          <a:p>
            <a:fld id="{61EFFD73-B4DF-47AF-A4F1-A23A2F484B74}"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93</a:t>
            </a:fld>
            <a:endParaRPr lang="zh-CN" altLang="en-US" dirty="0"/>
          </a:p>
        </p:txBody>
      </p:sp>
      <p:sp>
        <p:nvSpPr>
          <p:cNvPr id="7" name="Rectangle 56"/>
          <p:cNvSpPr>
            <a:spLocks noChangeArrowheads="1"/>
          </p:cNvSpPr>
          <p:nvPr/>
        </p:nvSpPr>
        <p:spPr bwMode="auto">
          <a:xfrm>
            <a:off x="6254750" y="1916832"/>
            <a:ext cx="28575" cy="984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8" name="Rectangle 57"/>
          <p:cNvSpPr>
            <a:spLocks noChangeArrowheads="1"/>
          </p:cNvSpPr>
          <p:nvPr/>
        </p:nvSpPr>
        <p:spPr bwMode="auto">
          <a:xfrm>
            <a:off x="6254750" y="2088282"/>
            <a:ext cx="28575" cy="984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9" name="Rectangle 58"/>
          <p:cNvSpPr>
            <a:spLocks noChangeArrowheads="1"/>
          </p:cNvSpPr>
          <p:nvPr/>
        </p:nvSpPr>
        <p:spPr bwMode="auto">
          <a:xfrm>
            <a:off x="6254750" y="2259732"/>
            <a:ext cx="28575" cy="984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 name="Rectangle 59"/>
          <p:cNvSpPr>
            <a:spLocks noChangeArrowheads="1"/>
          </p:cNvSpPr>
          <p:nvPr/>
        </p:nvSpPr>
        <p:spPr bwMode="auto">
          <a:xfrm>
            <a:off x="6254750" y="2431182"/>
            <a:ext cx="28575" cy="984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 name="Rectangle 60"/>
          <p:cNvSpPr>
            <a:spLocks noChangeArrowheads="1"/>
          </p:cNvSpPr>
          <p:nvPr/>
        </p:nvSpPr>
        <p:spPr bwMode="auto">
          <a:xfrm>
            <a:off x="6254750" y="2602632"/>
            <a:ext cx="28575" cy="968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2" name="Rectangle 61"/>
          <p:cNvSpPr>
            <a:spLocks noChangeArrowheads="1"/>
          </p:cNvSpPr>
          <p:nvPr/>
        </p:nvSpPr>
        <p:spPr bwMode="auto">
          <a:xfrm>
            <a:off x="6254750" y="2774082"/>
            <a:ext cx="28575" cy="984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3" name="Rectangle 62"/>
          <p:cNvSpPr>
            <a:spLocks noChangeArrowheads="1"/>
          </p:cNvSpPr>
          <p:nvPr/>
        </p:nvSpPr>
        <p:spPr bwMode="auto">
          <a:xfrm>
            <a:off x="6254750" y="2945532"/>
            <a:ext cx="28575" cy="968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4" name="Rectangle 63"/>
          <p:cNvSpPr>
            <a:spLocks noChangeArrowheads="1"/>
          </p:cNvSpPr>
          <p:nvPr/>
        </p:nvSpPr>
        <p:spPr bwMode="auto">
          <a:xfrm>
            <a:off x="6254750" y="3116982"/>
            <a:ext cx="28575" cy="968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5" name="Rectangle 64"/>
          <p:cNvSpPr>
            <a:spLocks noChangeArrowheads="1"/>
          </p:cNvSpPr>
          <p:nvPr/>
        </p:nvSpPr>
        <p:spPr bwMode="auto">
          <a:xfrm>
            <a:off x="6254750" y="3288432"/>
            <a:ext cx="28575" cy="968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6" name="Rectangle 65"/>
          <p:cNvSpPr>
            <a:spLocks noChangeArrowheads="1"/>
          </p:cNvSpPr>
          <p:nvPr/>
        </p:nvSpPr>
        <p:spPr bwMode="auto">
          <a:xfrm>
            <a:off x="6254750" y="3458294"/>
            <a:ext cx="28575" cy="984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7" name="Rectangle 66"/>
          <p:cNvSpPr>
            <a:spLocks noChangeArrowheads="1"/>
          </p:cNvSpPr>
          <p:nvPr/>
        </p:nvSpPr>
        <p:spPr bwMode="auto">
          <a:xfrm>
            <a:off x="6254750" y="3629744"/>
            <a:ext cx="28575" cy="984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8" name="Rectangle 67"/>
          <p:cNvSpPr>
            <a:spLocks noChangeArrowheads="1"/>
          </p:cNvSpPr>
          <p:nvPr/>
        </p:nvSpPr>
        <p:spPr bwMode="auto">
          <a:xfrm>
            <a:off x="6254750" y="3801194"/>
            <a:ext cx="28575" cy="984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9" name="Rectangle 68"/>
          <p:cNvSpPr>
            <a:spLocks noChangeArrowheads="1"/>
          </p:cNvSpPr>
          <p:nvPr/>
        </p:nvSpPr>
        <p:spPr bwMode="auto">
          <a:xfrm>
            <a:off x="6254750" y="3972644"/>
            <a:ext cx="28575" cy="984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0" name="Rectangle 69"/>
          <p:cNvSpPr>
            <a:spLocks noChangeArrowheads="1"/>
          </p:cNvSpPr>
          <p:nvPr/>
        </p:nvSpPr>
        <p:spPr bwMode="auto">
          <a:xfrm>
            <a:off x="6254750" y="4144094"/>
            <a:ext cx="28575" cy="968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1" name="Rectangle 70"/>
          <p:cNvSpPr>
            <a:spLocks noChangeArrowheads="1"/>
          </p:cNvSpPr>
          <p:nvPr/>
        </p:nvSpPr>
        <p:spPr bwMode="auto">
          <a:xfrm>
            <a:off x="6254750" y="4315544"/>
            <a:ext cx="28575" cy="984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2" name="Rectangle 71"/>
          <p:cNvSpPr>
            <a:spLocks noChangeArrowheads="1"/>
          </p:cNvSpPr>
          <p:nvPr/>
        </p:nvSpPr>
        <p:spPr bwMode="auto">
          <a:xfrm>
            <a:off x="6254750" y="4486994"/>
            <a:ext cx="28575" cy="968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3" name="Rectangle 72"/>
          <p:cNvSpPr>
            <a:spLocks noChangeArrowheads="1"/>
          </p:cNvSpPr>
          <p:nvPr/>
        </p:nvSpPr>
        <p:spPr bwMode="auto">
          <a:xfrm>
            <a:off x="6254750" y="4658444"/>
            <a:ext cx="28575" cy="984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 name="Rectangle 73"/>
          <p:cNvSpPr>
            <a:spLocks noChangeArrowheads="1"/>
          </p:cNvSpPr>
          <p:nvPr/>
        </p:nvSpPr>
        <p:spPr bwMode="auto">
          <a:xfrm>
            <a:off x="6254750" y="4829894"/>
            <a:ext cx="28575" cy="968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5" name="Rectangle 74"/>
          <p:cNvSpPr>
            <a:spLocks noChangeArrowheads="1"/>
          </p:cNvSpPr>
          <p:nvPr/>
        </p:nvSpPr>
        <p:spPr bwMode="auto">
          <a:xfrm>
            <a:off x="6254750" y="4999757"/>
            <a:ext cx="28575" cy="984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6" name="Rectangle 75"/>
          <p:cNvSpPr>
            <a:spLocks noChangeArrowheads="1"/>
          </p:cNvSpPr>
          <p:nvPr/>
        </p:nvSpPr>
        <p:spPr bwMode="auto">
          <a:xfrm>
            <a:off x="6254750" y="5171207"/>
            <a:ext cx="28575" cy="984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7" name="Rectangle 76"/>
          <p:cNvSpPr>
            <a:spLocks noChangeArrowheads="1"/>
          </p:cNvSpPr>
          <p:nvPr/>
        </p:nvSpPr>
        <p:spPr bwMode="auto">
          <a:xfrm>
            <a:off x="6254750" y="5342657"/>
            <a:ext cx="28575" cy="984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8" name="Rectangle 77"/>
          <p:cNvSpPr>
            <a:spLocks noChangeArrowheads="1"/>
          </p:cNvSpPr>
          <p:nvPr/>
        </p:nvSpPr>
        <p:spPr bwMode="auto">
          <a:xfrm>
            <a:off x="6254750" y="5514107"/>
            <a:ext cx="28575" cy="984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9" name="Rectangle 78"/>
          <p:cNvSpPr>
            <a:spLocks noChangeArrowheads="1"/>
          </p:cNvSpPr>
          <p:nvPr/>
        </p:nvSpPr>
        <p:spPr bwMode="auto">
          <a:xfrm>
            <a:off x="6254750" y="5685557"/>
            <a:ext cx="28575" cy="968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0" name="Rectangle 79"/>
          <p:cNvSpPr>
            <a:spLocks noChangeArrowheads="1"/>
          </p:cNvSpPr>
          <p:nvPr/>
        </p:nvSpPr>
        <p:spPr bwMode="auto">
          <a:xfrm>
            <a:off x="6254750" y="5857007"/>
            <a:ext cx="28575" cy="222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1" name="Rectangle 80"/>
          <p:cNvSpPr>
            <a:spLocks noChangeArrowheads="1"/>
          </p:cNvSpPr>
          <p:nvPr/>
        </p:nvSpPr>
        <p:spPr bwMode="auto">
          <a:xfrm>
            <a:off x="7199313" y="3750394"/>
            <a:ext cx="593725" cy="587375"/>
          </a:xfrm>
          <a:prstGeom prst="rect">
            <a:avLst/>
          </a:prstGeom>
          <a:solidFill>
            <a:srgbClr val="FF0000"/>
          </a:solidFill>
          <a:ln w="15875">
            <a:solidFill>
              <a:schemeClr val="tx1"/>
            </a:solidFill>
            <a:miter lim="800000"/>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2" name="Freeform 81"/>
          <p:cNvSpPr>
            <a:spLocks/>
          </p:cNvSpPr>
          <p:nvPr/>
        </p:nvSpPr>
        <p:spPr bwMode="auto">
          <a:xfrm>
            <a:off x="7196138" y="4337769"/>
            <a:ext cx="598487" cy="809625"/>
          </a:xfrm>
          <a:custGeom>
            <a:avLst/>
            <a:gdLst>
              <a:gd name="T0" fmla="*/ 0 w 404"/>
              <a:gd name="T1" fmla="*/ 750603 h 631"/>
              <a:gd name="T2" fmla="*/ 39998 w 404"/>
              <a:gd name="T3" fmla="*/ 768566 h 631"/>
              <a:gd name="T4" fmla="*/ 79996 w 404"/>
              <a:gd name="T5" fmla="*/ 785246 h 631"/>
              <a:gd name="T6" fmla="*/ 119994 w 404"/>
              <a:gd name="T7" fmla="*/ 801927 h 631"/>
              <a:gd name="T8" fmla="*/ 146659 w 404"/>
              <a:gd name="T9" fmla="*/ 809625 h 631"/>
              <a:gd name="T10" fmla="*/ 186657 w 404"/>
              <a:gd name="T11" fmla="*/ 809625 h 631"/>
              <a:gd name="T12" fmla="*/ 199989 w 404"/>
              <a:gd name="T13" fmla="*/ 809625 h 631"/>
              <a:gd name="T14" fmla="*/ 225173 w 404"/>
              <a:gd name="T15" fmla="*/ 801927 h 631"/>
              <a:gd name="T16" fmla="*/ 251839 w 404"/>
              <a:gd name="T17" fmla="*/ 792945 h 631"/>
              <a:gd name="T18" fmla="*/ 278504 w 404"/>
              <a:gd name="T19" fmla="*/ 776265 h 631"/>
              <a:gd name="T20" fmla="*/ 319983 w 404"/>
              <a:gd name="T21" fmla="*/ 750603 h 631"/>
              <a:gd name="T22" fmla="*/ 358500 w 404"/>
              <a:gd name="T23" fmla="*/ 724942 h 631"/>
              <a:gd name="T24" fmla="*/ 398498 w 404"/>
              <a:gd name="T25" fmla="*/ 700563 h 631"/>
              <a:gd name="T26" fmla="*/ 425163 w 404"/>
              <a:gd name="T27" fmla="*/ 683883 h 631"/>
              <a:gd name="T28" fmla="*/ 451828 w 404"/>
              <a:gd name="T29" fmla="*/ 667203 h 631"/>
              <a:gd name="T30" fmla="*/ 491826 w 404"/>
              <a:gd name="T31" fmla="*/ 659504 h 631"/>
              <a:gd name="T32" fmla="*/ 518491 w 404"/>
              <a:gd name="T33" fmla="*/ 650523 h 631"/>
              <a:gd name="T34" fmla="*/ 598487 w 404"/>
              <a:gd name="T35" fmla="*/ 650523 h 631"/>
              <a:gd name="T36" fmla="*/ 598487 w 404"/>
              <a:gd name="T37" fmla="*/ 0 h 631"/>
              <a:gd name="T38" fmla="*/ 0 w 404"/>
              <a:gd name="T39" fmla="*/ 0 h 631"/>
              <a:gd name="T40" fmla="*/ 0 w 404"/>
              <a:gd name="T41" fmla="*/ 750603 h 63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404" h="631">
                <a:moveTo>
                  <a:pt x="0" y="585"/>
                </a:moveTo>
                <a:lnTo>
                  <a:pt x="27" y="599"/>
                </a:lnTo>
                <a:lnTo>
                  <a:pt x="54" y="612"/>
                </a:lnTo>
                <a:lnTo>
                  <a:pt x="81" y="625"/>
                </a:lnTo>
                <a:lnTo>
                  <a:pt x="99" y="631"/>
                </a:lnTo>
                <a:lnTo>
                  <a:pt x="126" y="631"/>
                </a:lnTo>
                <a:lnTo>
                  <a:pt x="135" y="631"/>
                </a:lnTo>
                <a:lnTo>
                  <a:pt x="152" y="625"/>
                </a:lnTo>
                <a:lnTo>
                  <a:pt x="170" y="618"/>
                </a:lnTo>
                <a:lnTo>
                  <a:pt x="188" y="605"/>
                </a:lnTo>
                <a:lnTo>
                  <a:pt x="216" y="585"/>
                </a:lnTo>
                <a:lnTo>
                  <a:pt x="242" y="565"/>
                </a:lnTo>
                <a:lnTo>
                  <a:pt x="269" y="546"/>
                </a:lnTo>
                <a:lnTo>
                  <a:pt x="287" y="533"/>
                </a:lnTo>
                <a:lnTo>
                  <a:pt x="305" y="520"/>
                </a:lnTo>
                <a:lnTo>
                  <a:pt x="332" y="514"/>
                </a:lnTo>
                <a:lnTo>
                  <a:pt x="350" y="507"/>
                </a:lnTo>
                <a:lnTo>
                  <a:pt x="404" y="507"/>
                </a:lnTo>
                <a:lnTo>
                  <a:pt x="404" y="0"/>
                </a:lnTo>
                <a:lnTo>
                  <a:pt x="0" y="0"/>
                </a:lnTo>
                <a:lnTo>
                  <a:pt x="0" y="585"/>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3" name="Freeform 82"/>
          <p:cNvSpPr>
            <a:spLocks/>
          </p:cNvSpPr>
          <p:nvPr/>
        </p:nvSpPr>
        <p:spPr bwMode="auto">
          <a:xfrm>
            <a:off x="7196138" y="4337769"/>
            <a:ext cx="598487" cy="809625"/>
          </a:xfrm>
          <a:custGeom>
            <a:avLst/>
            <a:gdLst>
              <a:gd name="T0" fmla="*/ 0 w 404"/>
              <a:gd name="T1" fmla="*/ 750603 h 631"/>
              <a:gd name="T2" fmla="*/ 39998 w 404"/>
              <a:gd name="T3" fmla="*/ 768566 h 631"/>
              <a:gd name="T4" fmla="*/ 79996 w 404"/>
              <a:gd name="T5" fmla="*/ 785246 h 631"/>
              <a:gd name="T6" fmla="*/ 119994 w 404"/>
              <a:gd name="T7" fmla="*/ 801927 h 631"/>
              <a:gd name="T8" fmla="*/ 146659 w 404"/>
              <a:gd name="T9" fmla="*/ 809625 h 631"/>
              <a:gd name="T10" fmla="*/ 186657 w 404"/>
              <a:gd name="T11" fmla="*/ 809625 h 631"/>
              <a:gd name="T12" fmla="*/ 199989 w 404"/>
              <a:gd name="T13" fmla="*/ 809625 h 631"/>
              <a:gd name="T14" fmla="*/ 225173 w 404"/>
              <a:gd name="T15" fmla="*/ 801927 h 631"/>
              <a:gd name="T16" fmla="*/ 251839 w 404"/>
              <a:gd name="T17" fmla="*/ 792945 h 631"/>
              <a:gd name="T18" fmla="*/ 278504 w 404"/>
              <a:gd name="T19" fmla="*/ 776265 h 631"/>
              <a:gd name="T20" fmla="*/ 319983 w 404"/>
              <a:gd name="T21" fmla="*/ 750603 h 631"/>
              <a:gd name="T22" fmla="*/ 358500 w 404"/>
              <a:gd name="T23" fmla="*/ 724942 h 631"/>
              <a:gd name="T24" fmla="*/ 398498 w 404"/>
              <a:gd name="T25" fmla="*/ 700563 h 631"/>
              <a:gd name="T26" fmla="*/ 425163 w 404"/>
              <a:gd name="T27" fmla="*/ 683883 h 631"/>
              <a:gd name="T28" fmla="*/ 451828 w 404"/>
              <a:gd name="T29" fmla="*/ 667203 h 631"/>
              <a:gd name="T30" fmla="*/ 491826 w 404"/>
              <a:gd name="T31" fmla="*/ 659504 h 631"/>
              <a:gd name="T32" fmla="*/ 518491 w 404"/>
              <a:gd name="T33" fmla="*/ 650523 h 631"/>
              <a:gd name="T34" fmla="*/ 598487 w 404"/>
              <a:gd name="T35" fmla="*/ 650523 h 631"/>
              <a:gd name="T36" fmla="*/ 598487 w 404"/>
              <a:gd name="T37" fmla="*/ 0 h 631"/>
              <a:gd name="T38" fmla="*/ 0 w 404"/>
              <a:gd name="T39" fmla="*/ 0 h 631"/>
              <a:gd name="T40" fmla="*/ 0 w 404"/>
              <a:gd name="T41" fmla="*/ 750603 h 63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404" h="631">
                <a:moveTo>
                  <a:pt x="0" y="585"/>
                </a:moveTo>
                <a:lnTo>
                  <a:pt x="27" y="599"/>
                </a:lnTo>
                <a:lnTo>
                  <a:pt x="54" y="612"/>
                </a:lnTo>
                <a:lnTo>
                  <a:pt x="81" y="625"/>
                </a:lnTo>
                <a:lnTo>
                  <a:pt x="99" y="631"/>
                </a:lnTo>
                <a:lnTo>
                  <a:pt x="126" y="631"/>
                </a:lnTo>
                <a:lnTo>
                  <a:pt x="135" y="631"/>
                </a:lnTo>
                <a:lnTo>
                  <a:pt x="152" y="625"/>
                </a:lnTo>
                <a:lnTo>
                  <a:pt x="170" y="618"/>
                </a:lnTo>
                <a:lnTo>
                  <a:pt x="188" y="605"/>
                </a:lnTo>
                <a:lnTo>
                  <a:pt x="216" y="585"/>
                </a:lnTo>
                <a:lnTo>
                  <a:pt x="242" y="565"/>
                </a:lnTo>
                <a:lnTo>
                  <a:pt x="269" y="546"/>
                </a:lnTo>
                <a:lnTo>
                  <a:pt x="287" y="533"/>
                </a:lnTo>
                <a:lnTo>
                  <a:pt x="305" y="520"/>
                </a:lnTo>
                <a:lnTo>
                  <a:pt x="332" y="514"/>
                </a:lnTo>
                <a:lnTo>
                  <a:pt x="350" y="507"/>
                </a:lnTo>
                <a:lnTo>
                  <a:pt x="404" y="507"/>
                </a:lnTo>
                <a:lnTo>
                  <a:pt x="404" y="0"/>
                </a:lnTo>
                <a:lnTo>
                  <a:pt x="0" y="0"/>
                </a:lnTo>
                <a:lnTo>
                  <a:pt x="0" y="585"/>
                </a:lnTo>
              </a:path>
            </a:pathLst>
          </a:custGeom>
          <a:noFill/>
          <a:ln w="15875">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 name="Freeform 83"/>
          <p:cNvSpPr>
            <a:spLocks/>
          </p:cNvSpPr>
          <p:nvPr/>
        </p:nvSpPr>
        <p:spPr bwMode="auto">
          <a:xfrm>
            <a:off x="7196138" y="2726457"/>
            <a:ext cx="598487" cy="1025525"/>
          </a:xfrm>
          <a:custGeom>
            <a:avLst/>
            <a:gdLst>
              <a:gd name="T0" fmla="*/ 598487 w 404"/>
              <a:gd name="T1" fmla="*/ 66743 h 799"/>
              <a:gd name="T2" fmla="*/ 558489 w 404"/>
              <a:gd name="T3" fmla="*/ 42356 h 799"/>
              <a:gd name="T4" fmla="*/ 518491 w 404"/>
              <a:gd name="T5" fmla="*/ 24387 h 799"/>
              <a:gd name="T6" fmla="*/ 491826 w 404"/>
              <a:gd name="T7" fmla="*/ 11552 h 799"/>
              <a:gd name="T8" fmla="*/ 451828 w 404"/>
              <a:gd name="T9" fmla="*/ 0 h 799"/>
              <a:gd name="T10" fmla="*/ 425163 w 404"/>
              <a:gd name="T11" fmla="*/ 0 h 799"/>
              <a:gd name="T12" fmla="*/ 398498 w 404"/>
              <a:gd name="T13" fmla="*/ 5134 h 799"/>
              <a:gd name="T14" fmla="*/ 371832 w 404"/>
              <a:gd name="T15" fmla="*/ 11552 h 799"/>
              <a:gd name="T16" fmla="*/ 358500 w 404"/>
              <a:gd name="T17" fmla="*/ 24387 h 799"/>
              <a:gd name="T18" fmla="*/ 331834 w 404"/>
              <a:gd name="T19" fmla="*/ 35938 h 799"/>
              <a:gd name="T20" fmla="*/ 305169 w 404"/>
              <a:gd name="T21" fmla="*/ 55191 h 799"/>
              <a:gd name="T22" fmla="*/ 278504 w 404"/>
              <a:gd name="T23" fmla="*/ 73160 h 799"/>
              <a:gd name="T24" fmla="*/ 266653 w 404"/>
              <a:gd name="T25" fmla="*/ 84712 h 799"/>
              <a:gd name="T26" fmla="*/ 239987 w 404"/>
              <a:gd name="T27" fmla="*/ 103964 h 799"/>
              <a:gd name="T28" fmla="*/ 199989 w 404"/>
              <a:gd name="T29" fmla="*/ 139903 h 799"/>
              <a:gd name="T30" fmla="*/ 173324 w 404"/>
              <a:gd name="T31" fmla="*/ 159155 h 799"/>
              <a:gd name="T32" fmla="*/ 146659 w 404"/>
              <a:gd name="T33" fmla="*/ 170707 h 799"/>
              <a:gd name="T34" fmla="*/ 119994 w 404"/>
              <a:gd name="T35" fmla="*/ 183542 h 799"/>
              <a:gd name="T36" fmla="*/ 79996 w 404"/>
              <a:gd name="T37" fmla="*/ 195094 h 799"/>
              <a:gd name="T38" fmla="*/ 39998 w 404"/>
              <a:gd name="T39" fmla="*/ 201511 h 799"/>
              <a:gd name="T40" fmla="*/ 0 w 404"/>
              <a:gd name="T41" fmla="*/ 201511 h 799"/>
              <a:gd name="T42" fmla="*/ 0 w 404"/>
              <a:gd name="T43" fmla="*/ 1025525 h 799"/>
              <a:gd name="T44" fmla="*/ 598487 w 404"/>
              <a:gd name="T45" fmla="*/ 1025525 h 799"/>
              <a:gd name="T46" fmla="*/ 598487 w 404"/>
              <a:gd name="T47" fmla="*/ 66743 h 79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404" h="799">
                <a:moveTo>
                  <a:pt x="404" y="52"/>
                </a:moveTo>
                <a:lnTo>
                  <a:pt x="377" y="33"/>
                </a:lnTo>
                <a:lnTo>
                  <a:pt x="350" y="19"/>
                </a:lnTo>
                <a:lnTo>
                  <a:pt x="332" y="9"/>
                </a:lnTo>
                <a:lnTo>
                  <a:pt x="305" y="0"/>
                </a:lnTo>
                <a:lnTo>
                  <a:pt x="287" y="0"/>
                </a:lnTo>
                <a:lnTo>
                  <a:pt x="269" y="4"/>
                </a:lnTo>
                <a:lnTo>
                  <a:pt x="251" y="9"/>
                </a:lnTo>
                <a:lnTo>
                  <a:pt x="242" y="19"/>
                </a:lnTo>
                <a:lnTo>
                  <a:pt x="224" y="28"/>
                </a:lnTo>
                <a:lnTo>
                  <a:pt x="206" y="43"/>
                </a:lnTo>
                <a:lnTo>
                  <a:pt x="188" y="57"/>
                </a:lnTo>
                <a:lnTo>
                  <a:pt x="180" y="66"/>
                </a:lnTo>
                <a:lnTo>
                  <a:pt x="162" y="81"/>
                </a:lnTo>
                <a:lnTo>
                  <a:pt x="135" y="109"/>
                </a:lnTo>
                <a:lnTo>
                  <a:pt x="117" y="124"/>
                </a:lnTo>
                <a:lnTo>
                  <a:pt x="99" y="133"/>
                </a:lnTo>
                <a:lnTo>
                  <a:pt x="81" y="143"/>
                </a:lnTo>
                <a:lnTo>
                  <a:pt x="54" y="152"/>
                </a:lnTo>
                <a:lnTo>
                  <a:pt x="27" y="157"/>
                </a:lnTo>
                <a:lnTo>
                  <a:pt x="0" y="157"/>
                </a:lnTo>
                <a:lnTo>
                  <a:pt x="0" y="799"/>
                </a:lnTo>
                <a:lnTo>
                  <a:pt x="404" y="799"/>
                </a:lnTo>
                <a:lnTo>
                  <a:pt x="404" y="52"/>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 name="Freeform 84"/>
          <p:cNvSpPr>
            <a:spLocks/>
          </p:cNvSpPr>
          <p:nvPr/>
        </p:nvSpPr>
        <p:spPr bwMode="auto">
          <a:xfrm>
            <a:off x="7196138" y="2726457"/>
            <a:ext cx="598487" cy="1025525"/>
          </a:xfrm>
          <a:custGeom>
            <a:avLst/>
            <a:gdLst>
              <a:gd name="T0" fmla="*/ 598487 w 404"/>
              <a:gd name="T1" fmla="*/ 66743 h 799"/>
              <a:gd name="T2" fmla="*/ 558489 w 404"/>
              <a:gd name="T3" fmla="*/ 42356 h 799"/>
              <a:gd name="T4" fmla="*/ 518491 w 404"/>
              <a:gd name="T5" fmla="*/ 24387 h 799"/>
              <a:gd name="T6" fmla="*/ 491826 w 404"/>
              <a:gd name="T7" fmla="*/ 11552 h 799"/>
              <a:gd name="T8" fmla="*/ 451828 w 404"/>
              <a:gd name="T9" fmla="*/ 0 h 799"/>
              <a:gd name="T10" fmla="*/ 425163 w 404"/>
              <a:gd name="T11" fmla="*/ 0 h 799"/>
              <a:gd name="T12" fmla="*/ 398498 w 404"/>
              <a:gd name="T13" fmla="*/ 5134 h 799"/>
              <a:gd name="T14" fmla="*/ 371832 w 404"/>
              <a:gd name="T15" fmla="*/ 11552 h 799"/>
              <a:gd name="T16" fmla="*/ 358500 w 404"/>
              <a:gd name="T17" fmla="*/ 24387 h 799"/>
              <a:gd name="T18" fmla="*/ 331834 w 404"/>
              <a:gd name="T19" fmla="*/ 35938 h 799"/>
              <a:gd name="T20" fmla="*/ 305169 w 404"/>
              <a:gd name="T21" fmla="*/ 55191 h 799"/>
              <a:gd name="T22" fmla="*/ 278504 w 404"/>
              <a:gd name="T23" fmla="*/ 73160 h 799"/>
              <a:gd name="T24" fmla="*/ 266653 w 404"/>
              <a:gd name="T25" fmla="*/ 84712 h 799"/>
              <a:gd name="T26" fmla="*/ 239987 w 404"/>
              <a:gd name="T27" fmla="*/ 103964 h 799"/>
              <a:gd name="T28" fmla="*/ 199989 w 404"/>
              <a:gd name="T29" fmla="*/ 139903 h 799"/>
              <a:gd name="T30" fmla="*/ 173324 w 404"/>
              <a:gd name="T31" fmla="*/ 159155 h 799"/>
              <a:gd name="T32" fmla="*/ 146659 w 404"/>
              <a:gd name="T33" fmla="*/ 170707 h 799"/>
              <a:gd name="T34" fmla="*/ 119994 w 404"/>
              <a:gd name="T35" fmla="*/ 183542 h 799"/>
              <a:gd name="T36" fmla="*/ 79996 w 404"/>
              <a:gd name="T37" fmla="*/ 195094 h 799"/>
              <a:gd name="T38" fmla="*/ 39998 w 404"/>
              <a:gd name="T39" fmla="*/ 201511 h 799"/>
              <a:gd name="T40" fmla="*/ 0 w 404"/>
              <a:gd name="T41" fmla="*/ 201511 h 799"/>
              <a:gd name="T42" fmla="*/ 0 w 404"/>
              <a:gd name="T43" fmla="*/ 1025525 h 799"/>
              <a:gd name="T44" fmla="*/ 598487 w 404"/>
              <a:gd name="T45" fmla="*/ 1025525 h 799"/>
              <a:gd name="T46" fmla="*/ 598487 w 404"/>
              <a:gd name="T47" fmla="*/ 66743 h 79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404" h="799">
                <a:moveTo>
                  <a:pt x="404" y="52"/>
                </a:moveTo>
                <a:lnTo>
                  <a:pt x="377" y="33"/>
                </a:lnTo>
                <a:lnTo>
                  <a:pt x="350" y="19"/>
                </a:lnTo>
                <a:lnTo>
                  <a:pt x="332" y="9"/>
                </a:lnTo>
                <a:lnTo>
                  <a:pt x="305" y="0"/>
                </a:lnTo>
                <a:lnTo>
                  <a:pt x="287" y="0"/>
                </a:lnTo>
                <a:lnTo>
                  <a:pt x="269" y="4"/>
                </a:lnTo>
                <a:lnTo>
                  <a:pt x="251" y="9"/>
                </a:lnTo>
                <a:lnTo>
                  <a:pt x="242" y="19"/>
                </a:lnTo>
                <a:lnTo>
                  <a:pt x="224" y="28"/>
                </a:lnTo>
                <a:lnTo>
                  <a:pt x="206" y="43"/>
                </a:lnTo>
                <a:lnTo>
                  <a:pt x="188" y="57"/>
                </a:lnTo>
                <a:lnTo>
                  <a:pt x="180" y="66"/>
                </a:lnTo>
                <a:lnTo>
                  <a:pt x="162" y="81"/>
                </a:lnTo>
                <a:lnTo>
                  <a:pt x="135" y="109"/>
                </a:lnTo>
                <a:lnTo>
                  <a:pt x="117" y="124"/>
                </a:lnTo>
                <a:lnTo>
                  <a:pt x="99" y="133"/>
                </a:lnTo>
                <a:lnTo>
                  <a:pt x="81" y="143"/>
                </a:lnTo>
                <a:lnTo>
                  <a:pt x="54" y="152"/>
                </a:lnTo>
                <a:lnTo>
                  <a:pt x="27" y="157"/>
                </a:lnTo>
                <a:lnTo>
                  <a:pt x="0" y="157"/>
                </a:lnTo>
                <a:lnTo>
                  <a:pt x="0" y="799"/>
                </a:lnTo>
                <a:lnTo>
                  <a:pt x="404" y="799"/>
                </a:lnTo>
                <a:lnTo>
                  <a:pt x="404" y="52"/>
                </a:lnTo>
              </a:path>
            </a:pathLst>
          </a:custGeom>
          <a:noFill/>
          <a:ln w="15875">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 name="Line 85"/>
          <p:cNvSpPr>
            <a:spLocks noChangeShapeType="1"/>
          </p:cNvSpPr>
          <p:nvPr/>
        </p:nvSpPr>
        <p:spPr bwMode="auto">
          <a:xfrm>
            <a:off x="6692900" y="2431182"/>
            <a:ext cx="1588" cy="1539875"/>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 name="Line 86"/>
          <p:cNvSpPr>
            <a:spLocks noChangeShapeType="1"/>
          </p:cNvSpPr>
          <p:nvPr/>
        </p:nvSpPr>
        <p:spPr bwMode="auto">
          <a:xfrm>
            <a:off x="6694488" y="3971057"/>
            <a:ext cx="428625" cy="1587"/>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 name="Freeform 87"/>
          <p:cNvSpPr>
            <a:spLocks/>
          </p:cNvSpPr>
          <p:nvPr/>
        </p:nvSpPr>
        <p:spPr bwMode="auto">
          <a:xfrm>
            <a:off x="7081838" y="3920257"/>
            <a:ext cx="117475" cy="103187"/>
          </a:xfrm>
          <a:custGeom>
            <a:avLst/>
            <a:gdLst>
              <a:gd name="T0" fmla="*/ 0 w 80"/>
              <a:gd name="T1" fmla="*/ 103187 h 80"/>
              <a:gd name="T2" fmla="*/ 117475 w 80"/>
              <a:gd name="T3" fmla="*/ 51594 h 80"/>
              <a:gd name="T4" fmla="*/ 0 w 80"/>
              <a:gd name="T5" fmla="*/ 0 h 80"/>
              <a:gd name="T6" fmla="*/ 36711 w 80"/>
              <a:gd name="T7" fmla="*/ 51594 h 80"/>
              <a:gd name="T8" fmla="*/ 0 w 80"/>
              <a:gd name="T9" fmla="*/ 103187 h 8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0" h="80">
                <a:moveTo>
                  <a:pt x="0" y="80"/>
                </a:moveTo>
                <a:lnTo>
                  <a:pt x="80" y="40"/>
                </a:lnTo>
                <a:lnTo>
                  <a:pt x="0" y="0"/>
                </a:lnTo>
                <a:lnTo>
                  <a:pt x="25" y="40"/>
                </a:lnTo>
                <a:lnTo>
                  <a:pt x="0" y="80"/>
                </a:lnTo>
                <a:close/>
              </a:path>
            </a:pathLst>
          </a:custGeom>
          <a:solidFill>
            <a:schemeClr val="tx1"/>
          </a:solidFill>
          <a:ln w="9525">
            <a:solidFill>
              <a:schemeClr val="tx1"/>
            </a:solidFill>
            <a:round/>
            <a:headEnd/>
            <a:tailEnd/>
          </a:ln>
        </p:spPr>
        <p:txBody>
          <a:bodyPr/>
          <a:lstStyle/>
          <a:p>
            <a:endParaRPr lang="zh-CN" altLang="en-US"/>
          </a:p>
        </p:txBody>
      </p:sp>
      <p:sp>
        <p:nvSpPr>
          <p:cNvPr id="39" name="Line 88"/>
          <p:cNvSpPr>
            <a:spLocks noChangeShapeType="1"/>
          </p:cNvSpPr>
          <p:nvPr/>
        </p:nvSpPr>
        <p:spPr bwMode="auto">
          <a:xfrm flipV="1">
            <a:off x="7129463" y="3820244"/>
            <a:ext cx="1587" cy="84138"/>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 name="Freeform 89"/>
          <p:cNvSpPr>
            <a:spLocks/>
          </p:cNvSpPr>
          <p:nvPr/>
        </p:nvSpPr>
        <p:spPr bwMode="auto">
          <a:xfrm>
            <a:off x="7069138" y="3869457"/>
            <a:ext cx="119062" cy="101600"/>
          </a:xfrm>
          <a:custGeom>
            <a:avLst/>
            <a:gdLst>
              <a:gd name="T0" fmla="*/ 0 w 80"/>
              <a:gd name="T1" fmla="*/ 0 h 80"/>
              <a:gd name="T2" fmla="*/ 61019 w 80"/>
              <a:gd name="T3" fmla="*/ 101600 h 80"/>
              <a:gd name="T4" fmla="*/ 119062 w 80"/>
              <a:gd name="T5" fmla="*/ 0 h 80"/>
              <a:gd name="T6" fmla="*/ 61019 w 80"/>
              <a:gd name="T7" fmla="*/ 31750 h 80"/>
              <a:gd name="T8" fmla="*/ 0 w 80"/>
              <a:gd name="T9" fmla="*/ 0 h 8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0" h="80">
                <a:moveTo>
                  <a:pt x="0" y="0"/>
                </a:moveTo>
                <a:lnTo>
                  <a:pt x="41" y="80"/>
                </a:lnTo>
                <a:lnTo>
                  <a:pt x="80" y="0"/>
                </a:lnTo>
                <a:lnTo>
                  <a:pt x="41" y="25"/>
                </a:lnTo>
                <a:lnTo>
                  <a:pt x="0" y="0"/>
                </a:lnTo>
                <a:close/>
              </a:path>
            </a:pathLst>
          </a:custGeom>
          <a:solidFill>
            <a:schemeClr val="tx1"/>
          </a:solidFill>
          <a:ln w="9525">
            <a:solidFill>
              <a:schemeClr val="tx1"/>
            </a:solidFill>
            <a:round/>
            <a:headEnd/>
            <a:tailEnd/>
          </a:ln>
        </p:spPr>
        <p:txBody>
          <a:bodyPr/>
          <a:lstStyle/>
          <a:p>
            <a:endParaRPr lang="zh-CN" altLang="en-US"/>
          </a:p>
        </p:txBody>
      </p:sp>
      <p:sp>
        <p:nvSpPr>
          <p:cNvPr id="41" name="Freeform 90"/>
          <p:cNvSpPr>
            <a:spLocks/>
          </p:cNvSpPr>
          <p:nvPr/>
        </p:nvSpPr>
        <p:spPr bwMode="auto">
          <a:xfrm>
            <a:off x="7070725" y="3751982"/>
            <a:ext cx="119063" cy="103187"/>
          </a:xfrm>
          <a:custGeom>
            <a:avLst/>
            <a:gdLst>
              <a:gd name="T0" fmla="*/ 119063 w 80"/>
              <a:gd name="T1" fmla="*/ 103187 h 80"/>
              <a:gd name="T2" fmla="*/ 59532 w 80"/>
              <a:gd name="T3" fmla="*/ 0 h 80"/>
              <a:gd name="T4" fmla="*/ 0 w 80"/>
              <a:gd name="T5" fmla="*/ 103187 h 80"/>
              <a:gd name="T6" fmla="*/ 59532 w 80"/>
              <a:gd name="T7" fmla="*/ 70941 h 80"/>
              <a:gd name="T8" fmla="*/ 119063 w 80"/>
              <a:gd name="T9" fmla="*/ 103187 h 8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0" h="80">
                <a:moveTo>
                  <a:pt x="80" y="80"/>
                </a:moveTo>
                <a:lnTo>
                  <a:pt x="40" y="0"/>
                </a:lnTo>
                <a:lnTo>
                  <a:pt x="0" y="80"/>
                </a:lnTo>
                <a:lnTo>
                  <a:pt x="40" y="55"/>
                </a:lnTo>
                <a:lnTo>
                  <a:pt x="80" y="80"/>
                </a:lnTo>
                <a:close/>
              </a:path>
            </a:pathLst>
          </a:custGeom>
          <a:solidFill>
            <a:schemeClr val="tx1"/>
          </a:solidFill>
          <a:ln w="9525">
            <a:solidFill>
              <a:schemeClr val="tx1"/>
            </a:solidFill>
            <a:round/>
            <a:headEnd/>
            <a:tailEnd/>
          </a:ln>
        </p:spPr>
        <p:txBody>
          <a:bodyPr/>
          <a:lstStyle/>
          <a:p>
            <a:endParaRPr lang="zh-CN" altLang="en-US"/>
          </a:p>
        </p:txBody>
      </p:sp>
      <p:sp>
        <p:nvSpPr>
          <p:cNvPr id="42" name="Rectangle 91"/>
          <p:cNvSpPr>
            <a:spLocks noChangeArrowheads="1"/>
          </p:cNvSpPr>
          <p:nvPr/>
        </p:nvSpPr>
        <p:spPr bwMode="auto">
          <a:xfrm>
            <a:off x="6710363" y="5345832"/>
            <a:ext cx="94615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200" b="1"/>
              <a:t>Main Memory</a:t>
            </a:r>
          </a:p>
        </p:txBody>
      </p:sp>
      <p:sp>
        <p:nvSpPr>
          <p:cNvPr id="43" name="Rectangle 92"/>
          <p:cNvSpPr>
            <a:spLocks noChangeArrowheads="1"/>
          </p:cNvSpPr>
          <p:nvPr/>
        </p:nvSpPr>
        <p:spPr bwMode="auto">
          <a:xfrm>
            <a:off x="8010525" y="3874219"/>
            <a:ext cx="314325"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200" b="1"/>
              <a:t>Page</a:t>
            </a:r>
          </a:p>
        </p:txBody>
      </p:sp>
      <p:sp>
        <p:nvSpPr>
          <p:cNvPr id="44" name="Rectangle 93"/>
          <p:cNvSpPr>
            <a:spLocks noChangeArrowheads="1"/>
          </p:cNvSpPr>
          <p:nvPr/>
        </p:nvSpPr>
        <p:spPr bwMode="auto">
          <a:xfrm>
            <a:off x="7943850" y="4052019"/>
            <a:ext cx="433388"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200" b="1"/>
              <a:t>Frame</a:t>
            </a:r>
          </a:p>
        </p:txBody>
      </p:sp>
      <p:sp>
        <p:nvSpPr>
          <p:cNvPr id="45" name="Freeform 94"/>
          <p:cNvSpPr>
            <a:spLocks/>
          </p:cNvSpPr>
          <p:nvPr/>
        </p:nvSpPr>
        <p:spPr bwMode="auto">
          <a:xfrm>
            <a:off x="7804150" y="3748807"/>
            <a:ext cx="79375" cy="592137"/>
          </a:xfrm>
          <a:custGeom>
            <a:avLst/>
            <a:gdLst>
              <a:gd name="T0" fmla="*/ 0 w 54"/>
              <a:gd name="T1" fmla="*/ 0 h 461"/>
              <a:gd name="T2" fmla="*/ 13229 w 54"/>
              <a:gd name="T3" fmla="*/ 5138 h 461"/>
              <a:gd name="T4" fmla="*/ 24988 w 54"/>
              <a:gd name="T5" fmla="*/ 12845 h 461"/>
              <a:gd name="T6" fmla="*/ 39688 w 54"/>
              <a:gd name="T7" fmla="*/ 48810 h 461"/>
              <a:gd name="T8" fmla="*/ 39688 w 54"/>
              <a:gd name="T9" fmla="*/ 245332 h 461"/>
              <a:gd name="T10" fmla="*/ 54387 w 54"/>
              <a:gd name="T11" fmla="*/ 281297 h 461"/>
              <a:gd name="T12" fmla="*/ 66146 w 54"/>
              <a:gd name="T13" fmla="*/ 295426 h 461"/>
              <a:gd name="T14" fmla="*/ 79375 w 54"/>
              <a:gd name="T15" fmla="*/ 295426 h 461"/>
              <a:gd name="T16" fmla="*/ 66146 w 54"/>
              <a:gd name="T17" fmla="*/ 303133 h 461"/>
              <a:gd name="T18" fmla="*/ 54387 w 54"/>
              <a:gd name="T19" fmla="*/ 309555 h 461"/>
              <a:gd name="T20" fmla="*/ 39688 w 54"/>
              <a:gd name="T21" fmla="*/ 345520 h 461"/>
              <a:gd name="T22" fmla="*/ 39688 w 54"/>
              <a:gd name="T23" fmla="*/ 543327 h 461"/>
              <a:gd name="T24" fmla="*/ 24988 w 54"/>
              <a:gd name="T25" fmla="*/ 578008 h 461"/>
              <a:gd name="T26" fmla="*/ 13229 w 54"/>
              <a:gd name="T27" fmla="*/ 592137 h 461"/>
              <a:gd name="T28" fmla="*/ 0 w 54"/>
              <a:gd name="T29" fmla="*/ 592137 h 46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54" h="461">
                <a:moveTo>
                  <a:pt x="0" y="0"/>
                </a:moveTo>
                <a:lnTo>
                  <a:pt x="9" y="4"/>
                </a:lnTo>
                <a:lnTo>
                  <a:pt x="17" y="10"/>
                </a:lnTo>
                <a:lnTo>
                  <a:pt x="27" y="38"/>
                </a:lnTo>
                <a:lnTo>
                  <a:pt x="27" y="191"/>
                </a:lnTo>
                <a:lnTo>
                  <a:pt x="37" y="219"/>
                </a:lnTo>
                <a:lnTo>
                  <a:pt x="45" y="230"/>
                </a:lnTo>
                <a:lnTo>
                  <a:pt x="54" y="230"/>
                </a:lnTo>
                <a:lnTo>
                  <a:pt x="45" y="236"/>
                </a:lnTo>
                <a:lnTo>
                  <a:pt x="37" y="241"/>
                </a:lnTo>
                <a:lnTo>
                  <a:pt x="27" y="269"/>
                </a:lnTo>
                <a:lnTo>
                  <a:pt x="27" y="423"/>
                </a:lnTo>
                <a:lnTo>
                  <a:pt x="17" y="450"/>
                </a:lnTo>
                <a:lnTo>
                  <a:pt x="9" y="461"/>
                </a:lnTo>
                <a:lnTo>
                  <a:pt x="0" y="461"/>
                </a:lnTo>
              </a:path>
            </a:pathLst>
          </a:custGeom>
          <a:noFill/>
          <a:ln w="15875">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6" name="Rectangle 95"/>
          <p:cNvSpPr>
            <a:spLocks noChangeArrowheads="1"/>
          </p:cNvSpPr>
          <p:nvPr/>
        </p:nvSpPr>
        <p:spPr bwMode="auto">
          <a:xfrm>
            <a:off x="6710363" y="3801194"/>
            <a:ext cx="398462"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200" b="1"/>
              <a:t>Offset</a:t>
            </a:r>
          </a:p>
        </p:txBody>
      </p:sp>
      <p:sp>
        <p:nvSpPr>
          <p:cNvPr id="47" name="Oval 96"/>
          <p:cNvSpPr>
            <a:spLocks noChangeArrowheads="1"/>
          </p:cNvSpPr>
          <p:nvPr/>
        </p:nvSpPr>
        <p:spPr bwMode="auto">
          <a:xfrm>
            <a:off x="4662488" y="4045669"/>
            <a:ext cx="252412" cy="219075"/>
          </a:xfrm>
          <a:prstGeom prst="ellipse">
            <a:avLst/>
          </a:prstGeom>
          <a:noFill/>
          <a:ln w="158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48" name="Rectangle 100"/>
          <p:cNvSpPr>
            <a:spLocks noChangeArrowheads="1"/>
          </p:cNvSpPr>
          <p:nvPr/>
        </p:nvSpPr>
        <p:spPr bwMode="auto">
          <a:xfrm>
            <a:off x="5272088" y="5345832"/>
            <a:ext cx="449262"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200" b="1"/>
              <a:t>Paging</a:t>
            </a:r>
          </a:p>
        </p:txBody>
      </p:sp>
      <p:sp>
        <p:nvSpPr>
          <p:cNvPr id="49" name="Rectangle 101"/>
          <p:cNvSpPr>
            <a:spLocks noChangeArrowheads="1"/>
          </p:cNvSpPr>
          <p:nvPr/>
        </p:nvSpPr>
        <p:spPr bwMode="auto">
          <a:xfrm>
            <a:off x="5214938" y="3474169"/>
            <a:ext cx="725487"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200" b="1"/>
              <a:t>Page Table</a:t>
            </a:r>
          </a:p>
        </p:txBody>
      </p:sp>
      <p:grpSp>
        <p:nvGrpSpPr>
          <p:cNvPr id="50" name="Group 219"/>
          <p:cNvGrpSpPr>
            <a:grpSpLocks/>
          </p:cNvGrpSpPr>
          <p:nvPr/>
        </p:nvGrpSpPr>
        <p:grpSpPr bwMode="auto">
          <a:xfrm>
            <a:off x="4940300" y="3744044"/>
            <a:ext cx="273050" cy="439738"/>
            <a:chOff x="3112" y="2840"/>
            <a:chExt cx="172" cy="277"/>
          </a:xfrm>
        </p:grpSpPr>
        <p:sp>
          <p:nvSpPr>
            <p:cNvPr id="51" name="Line 97"/>
            <p:cNvSpPr>
              <a:spLocks noChangeShapeType="1"/>
            </p:cNvSpPr>
            <p:nvPr/>
          </p:nvSpPr>
          <p:spPr bwMode="auto">
            <a:xfrm flipV="1">
              <a:off x="3150" y="2883"/>
              <a:ext cx="1" cy="192"/>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 name="Freeform 98"/>
            <p:cNvSpPr>
              <a:spLocks/>
            </p:cNvSpPr>
            <p:nvPr/>
          </p:nvSpPr>
          <p:spPr bwMode="auto">
            <a:xfrm>
              <a:off x="3112" y="3052"/>
              <a:ext cx="75" cy="65"/>
            </a:xfrm>
            <a:custGeom>
              <a:avLst/>
              <a:gdLst>
                <a:gd name="T0" fmla="*/ 0 w 80"/>
                <a:gd name="T1" fmla="*/ 0 h 80"/>
                <a:gd name="T2" fmla="*/ 38 w 80"/>
                <a:gd name="T3" fmla="*/ 65 h 80"/>
                <a:gd name="T4" fmla="*/ 75 w 80"/>
                <a:gd name="T5" fmla="*/ 0 h 80"/>
                <a:gd name="T6" fmla="*/ 38 w 80"/>
                <a:gd name="T7" fmla="*/ 20 h 80"/>
                <a:gd name="T8" fmla="*/ 0 w 80"/>
                <a:gd name="T9" fmla="*/ 0 h 8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0" h="80">
                  <a:moveTo>
                    <a:pt x="0" y="0"/>
                  </a:moveTo>
                  <a:lnTo>
                    <a:pt x="41" y="80"/>
                  </a:lnTo>
                  <a:lnTo>
                    <a:pt x="80" y="0"/>
                  </a:lnTo>
                  <a:lnTo>
                    <a:pt x="41" y="25"/>
                  </a:lnTo>
                  <a:lnTo>
                    <a:pt x="0" y="0"/>
                  </a:lnTo>
                  <a:close/>
                </a:path>
              </a:pathLst>
            </a:custGeom>
            <a:solidFill>
              <a:schemeClr val="tx1"/>
            </a:solidFill>
            <a:ln w="9525">
              <a:solidFill>
                <a:schemeClr val="tx1"/>
              </a:solidFill>
              <a:round/>
              <a:headEnd/>
              <a:tailEnd/>
            </a:ln>
          </p:spPr>
          <p:txBody>
            <a:bodyPr/>
            <a:lstStyle/>
            <a:p>
              <a:endParaRPr lang="zh-CN" altLang="en-US"/>
            </a:p>
          </p:txBody>
        </p:sp>
        <p:sp>
          <p:nvSpPr>
            <p:cNvPr id="53" name="Freeform 99"/>
            <p:cNvSpPr>
              <a:spLocks/>
            </p:cNvSpPr>
            <p:nvPr/>
          </p:nvSpPr>
          <p:spPr bwMode="auto">
            <a:xfrm>
              <a:off x="3113" y="2840"/>
              <a:ext cx="75" cy="65"/>
            </a:xfrm>
            <a:custGeom>
              <a:avLst/>
              <a:gdLst>
                <a:gd name="T0" fmla="*/ 75 w 80"/>
                <a:gd name="T1" fmla="*/ 65 h 80"/>
                <a:gd name="T2" fmla="*/ 38 w 80"/>
                <a:gd name="T3" fmla="*/ 0 h 80"/>
                <a:gd name="T4" fmla="*/ 0 w 80"/>
                <a:gd name="T5" fmla="*/ 65 h 80"/>
                <a:gd name="T6" fmla="*/ 38 w 80"/>
                <a:gd name="T7" fmla="*/ 45 h 80"/>
                <a:gd name="T8" fmla="*/ 75 w 80"/>
                <a:gd name="T9" fmla="*/ 65 h 8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0" h="80">
                  <a:moveTo>
                    <a:pt x="80" y="80"/>
                  </a:moveTo>
                  <a:lnTo>
                    <a:pt x="40" y="0"/>
                  </a:lnTo>
                  <a:lnTo>
                    <a:pt x="0" y="80"/>
                  </a:lnTo>
                  <a:lnTo>
                    <a:pt x="40" y="55"/>
                  </a:lnTo>
                  <a:lnTo>
                    <a:pt x="80" y="80"/>
                  </a:lnTo>
                  <a:close/>
                </a:path>
              </a:pathLst>
            </a:custGeom>
            <a:solidFill>
              <a:schemeClr val="tx1"/>
            </a:solidFill>
            <a:ln w="9525">
              <a:solidFill>
                <a:schemeClr val="tx1"/>
              </a:solidFill>
              <a:round/>
              <a:headEnd/>
              <a:tailEnd/>
            </a:ln>
          </p:spPr>
          <p:txBody>
            <a:bodyPr/>
            <a:lstStyle/>
            <a:p>
              <a:endParaRPr lang="zh-CN" altLang="en-US"/>
            </a:p>
          </p:txBody>
        </p:sp>
        <p:sp>
          <p:nvSpPr>
            <p:cNvPr id="54" name="Rectangle 102"/>
            <p:cNvSpPr>
              <a:spLocks noChangeArrowheads="1"/>
            </p:cNvSpPr>
            <p:nvPr/>
          </p:nvSpPr>
          <p:spPr bwMode="auto">
            <a:xfrm>
              <a:off x="3177" y="2917"/>
              <a:ext cx="107"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200" b="1"/>
                <a:t>P#</a:t>
              </a:r>
            </a:p>
          </p:txBody>
        </p:sp>
      </p:grpSp>
      <p:sp>
        <p:nvSpPr>
          <p:cNvPr id="55" name="Rectangle 103"/>
          <p:cNvSpPr>
            <a:spLocks noChangeArrowheads="1"/>
          </p:cNvSpPr>
          <p:nvPr/>
        </p:nvSpPr>
        <p:spPr bwMode="auto">
          <a:xfrm>
            <a:off x="4741863" y="4058369"/>
            <a:ext cx="87312"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200" b="1"/>
              <a:t>+</a:t>
            </a:r>
          </a:p>
        </p:txBody>
      </p:sp>
      <p:sp>
        <p:nvSpPr>
          <p:cNvPr id="56" name="Rectangle 104"/>
          <p:cNvSpPr>
            <a:spLocks noChangeArrowheads="1"/>
          </p:cNvSpPr>
          <p:nvPr/>
        </p:nvSpPr>
        <p:spPr bwMode="auto">
          <a:xfrm>
            <a:off x="4830763" y="2289894"/>
            <a:ext cx="655637" cy="230188"/>
          </a:xfrm>
          <a:prstGeom prst="rect">
            <a:avLst/>
          </a:prstGeom>
          <a:solidFill>
            <a:srgbClr val="FF0000"/>
          </a:solidFill>
          <a:ln w="15875">
            <a:solidFill>
              <a:schemeClr val="tx1"/>
            </a:solidFill>
            <a:miter lim="800000"/>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7" name="Rectangle 105"/>
          <p:cNvSpPr>
            <a:spLocks noChangeArrowheads="1"/>
          </p:cNvSpPr>
          <p:nvPr/>
        </p:nvSpPr>
        <p:spPr bwMode="auto">
          <a:xfrm>
            <a:off x="5424488" y="2281957"/>
            <a:ext cx="590550" cy="230187"/>
          </a:xfrm>
          <a:prstGeom prst="rect">
            <a:avLst/>
          </a:prstGeom>
          <a:noFill/>
          <a:ln w="158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8" name="Rectangle 106"/>
          <p:cNvSpPr>
            <a:spLocks noChangeArrowheads="1"/>
          </p:cNvSpPr>
          <p:nvPr/>
        </p:nvSpPr>
        <p:spPr bwMode="auto">
          <a:xfrm>
            <a:off x="4895850" y="2332757"/>
            <a:ext cx="547688" cy="182562"/>
          </a:xfrm>
          <a:prstGeom prst="rect">
            <a:avLst/>
          </a:prstGeom>
          <a:solidFill>
            <a:srgbClr val="FF0000"/>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200" b="1"/>
              <a:t>Frame #</a:t>
            </a:r>
          </a:p>
        </p:txBody>
      </p:sp>
      <p:sp>
        <p:nvSpPr>
          <p:cNvPr id="59" name="Rectangle 107"/>
          <p:cNvSpPr>
            <a:spLocks noChangeArrowheads="1"/>
          </p:cNvSpPr>
          <p:nvPr/>
        </p:nvSpPr>
        <p:spPr bwMode="auto">
          <a:xfrm>
            <a:off x="5541963" y="2332757"/>
            <a:ext cx="398462" cy="182562"/>
          </a:xfrm>
          <a:prstGeom prst="rect">
            <a:avLst/>
          </a:prstGeom>
          <a:solidFill>
            <a:srgbClr val="0033CC"/>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200" b="1">
                <a:solidFill>
                  <a:srgbClr val="FFFF00"/>
                </a:solidFill>
              </a:rPr>
              <a:t>Offset</a:t>
            </a:r>
          </a:p>
        </p:txBody>
      </p:sp>
      <p:sp>
        <p:nvSpPr>
          <p:cNvPr id="60" name="Line 108"/>
          <p:cNvSpPr>
            <a:spLocks noChangeShapeType="1"/>
          </p:cNvSpPr>
          <p:nvPr/>
        </p:nvSpPr>
        <p:spPr bwMode="auto">
          <a:xfrm>
            <a:off x="5932488" y="4191719"/>
            <a:ext cx="252412" cy="1588"/>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 name="Line 109"/>
          <p:cNvSpPr>
            <a:spLocks noChangeShapeType="1"/>
          </p:cNvSpPr>
          <p:nvPr/>
        </p:nvSpPr>
        <p:spPr bwMode="auto">
          <a:xfrm flipV="1">
            <a:off x="6184900" y="2797894"/>
            <a:ext cx="1588" cy="1393825"/>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 name="Line 110"/>
          <p:cNvSpPr>
            <a:spLocks noChangeShapeType="1"/>
          </p:cNvSpPr>
          <p:nvPr/>
        </p:nvSpPr>
        <p:spPr bwMode="auto">
          <a:xfrm flipH="1">
            <a:off x="5172075" y="2797894"/>
            <a:ext cx="1012825"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 name="Line 111"/>
          <p:cNvSpPr>
            <a:spLocks noChangeShapeType="1"/>
          </p:cNvSpPr>
          <p:nvPr/>
        </p:nvSpPr>
        <p:spPr bwMode="auto">
          <a:xfrm flipV="1">
            <a:off x="5170488" y="2570882"/>
            <a:ext cx="1587" cy="227012"/>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 name="Freeform 112"/>
          <p:cNvSpPr>
            <a:spLocks/>
          </p:cNvSpPr>
          <p:nvPr/>
        </p:nvSpPr>
        <p:spPr bwMode="auto">
          <a:xfrm>
            <a:off x="5111750" y="2504207"/>
            <a:ext cx="117475" cy="103187"/>
          </a:xfrm>
          <a:custGeom>
            <a:avLst/>
            <a:gdLst>
              <a:gd name="T0" fmla="*/ 117475 w 79"/>
              <a:gd name="T1" fmla="*/ 103187 h 80"/>
              <a:gd name="T2" fmla="*/ 57994 w 79"/>
              <a:gd name="T3" fmla="*/ 0 h 80"/>
              <a:gd name="T4" fmla="*/ 0 w 79"/>
              <a:gd name="T5" fmla="*/ 103187 h 80"/>
              <a:gd name="T6" fmla="*/ 57994 w 79"/>
              <a:gd name="T7" fmla="*/ 70941 h 80"/>
              <a:gd name="T8" fmla="*/ 117475 w 79"/>
              <a:gd name="T9" fmla="*/ 103187 h 8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80">
                <a:moveTo>
                  <a:pt x="79" y="80"/>
                </a:moveTo>
                <a:lnTo>
                  <a:pt x="39" y="0"/>
                </a:lnTo>
                <a:lnTo>
                  <a:pt x="0" y="80"/>
                </a:lnTo>
                <a:lnTo>
                  <a:pt x="39" y="55"/>
                </a:lnTo>
                <a:lnTo>
                  <a:pt x="79" y="80"/>
                </a:lnTo>
                <a:close/>
              </a:path>
            </a:pathLst>
          </a:custGeom>
          <a:solidFill>
            <a:srgbClr val="000000"/>
          </a:solidFill>
          <a:ln w="9525">
            <a:solidFill>
              <a:schemeClr val="tx1"/>
            </a:solidFill>
            <a:round/>
            <a:headEnd/>
            <a:tailEnd/>
          </a:ln>
        </p:spPr>
        <p:txBody>
          <a:bodyPr/>
          <a:lstStyle/>
          <a:p>
            <a:endParaRPr lang="zh-CN" altLang="en-US"/>
          </a:p>
        </p:txBody>
      </p:sp>
      <p:sp>
        <p:nvSpPr>
          <p:cNvPr id="65" name="Line 113"/>
          <p:cNvSpPr>
            <a:spLocks noChangeShapeType="1"/>
          </p:cNvSpPr>
          <p:nvPr/>
        </p:nvSpPr>
        <p:spPr bwMode="auto">
          <a:xfrm>
            <a:off x="6016625" y="2429594"/>
            <a:ext cx="676275" cy="1588"/>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 name="Rectangle 114"/>
          <p:cNvSpPr>
            <a:spLocks noChangeArrowheads="1"/>
          </p:cNvSpPr>
          <p:nvPr/>
        </p:nvSpPr>
        <p:spPr bwMode="auto">
          <a:xfrm>
            <a:off x="5254625" y="3677369"/>
            <a:ext cx="676275" cy="1027113"/>
          </a:xfrm>
          <a:prstGeom prst="rect">
            <a:avLst/>
          </a:prstGeom>
          <a:noFill/>
          <a:ln w="158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7" name="Rectangle 115"/>
          <p:cNvSpPr>
            <a:spLocks noChangeArrowheads="1"/>
          </p:cNvSpPr>
          <p:nvPr/>
        </p:nvSpPr>
        <p:spPr bwMode="auto">
          <a:xfrm>
            <a:off x="5254625" y="4118694"/>
            <a:ext cx="676275" cy="146050"/>
          </a:xfrm>
          <a:prstGeom prst="rect">
            <a:avLst/>
          </a:prstGeom>
          <a:solidFill>
            <a:srgbClr val="FF0000"/>
          </a:solidFill>
          <a:ln w="15875">
            <a:solidFill>
              <a:schemeClr val="tx1"/>
            </a:solidFill>
            <a:miter lim="800000"/>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8" name="Rectangle 116"/>
          <p:cNvSpPr>
            <a:spLocks noChangeArrowheads="1"/>
          </p:cNvSpPr>
          <p:nvPr/>
        </p:nvSpPr>
        <p:spPr bwMode="auto">
          <a:xfrm>
            <a:off x="3562350" y="3677369"/>
            <a:ext cx="592138" cy="1393825"/>
          </a:xfrm>
          <a:prstGeom prst="rect">
            <a:avLst/>
          </a:prstGeom>
          <a:noFill/>
          <a:ln w="158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9" name="Rectangle 117"/>
          <p:cNvSpPr>
            <a:spLocks noChangeArrowheads="1"/>
          </p:cNvSpPr>
          <p:nvPr/>
        </p:nvSpPr>
        <p:spPr bwMode="auto">
          <a:xfrm>
            <a:off x="3562350" y="4412382"/>
            <a:ext cx="592138" cy="146050"/>
          </a:xfrm>
          <a:prstGeom prst="rect">
            <a:avLst/>
          </a:prstGeom>
          <a:solidFill>
            <a:srgbClr val="FF0000"/>
          </a:solidFill>
          <a:ln w="15875">
            <a:solidFill>
              <a:schemeClr val="tx1"/>
            </a:solidFill>
            <a:miter lim="800000"/>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70" name="Oval 118"/>
          <p:cNvSpPr>
            <a:spLocks noChangeArrowheads="1"/>
          </p:cNvSpPr>
          <p:nvPr/>
        </p:nvSpPr>
        <p:spPr bwMode="auto">
          <a:xfrm>
            <a:off x="2744788" y="4129807"/>
            <a:ext cx="254000" cy="220662"/>
          </a:xfrm>
          <a:prstGeom prst="ellipse">
            <a:avLst/>
          </a:prstGeom>
          <a:noFill/>
          <a:ln w="158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71" name="Line 119"/>
          <p:cNvSpPr>
            <a:spLocks noChangeShapeType="1"/>
          </p:cNvSpPr>
          <p:nvPr/>
        </p:nvSpPr>
        <p:spPr bwMode="auto">
          <a:xfrm flipV="1">
            <a:off x="4324350" y="4193307"/>
            <a:ext cx="1588" cy="29210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 name="Line 120"/>
          <p:cNvSpPr>
            <a:spLocks noChangeShapeType="1"/>
          </p:cNvSpPr>
          <p:nvPr/>
        </p:nvSpPr>
        <p:spPr bwMode="auto">
          <a:xfrm>
            <a:off x="4157663" y="4485407"/>
            <a:ext cx="166687" cy="1587"/>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 name="Line 121"/>
          <p:cNvSpPr>
            <a:spLocks noChangeShapeType="1"/>
          </p:cNvSpPr>
          <p:nvPr/>
        </p:nvSpPr>
        <p:spPr bwMode="auto">
          <a:xfrm>
            <a:off x="4325938" y="4191719"/>
            <a:ext cx="258762" cy="1588"/>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 name="Freeform 122"/>
          <p:cNvSpPr>
            <a:spLocks/>
          </p:cNvSpPr>
          <p:nvPr/>
        </p:nvSpPr>
        <p:spPr bwMode="auto">
          <a:xfrm>
            <a:off x="4545013" y="4140919"/>
            <a:ext cx="117475" cy="103188"/>
          </a:xfrm>
          <a:custGeom>
            <a:avLst/>
            <a:gdLst>
              <a:gd name="T0" fmla="*/ 0 w 80"/>
              <a:gd name="T1" fmla="*/ 103188 h 80"/>
              <a:gd name="T2" fmla="*/ 117475 w 80"/>
              <a:gd name="T3" fmla="*/ 50304 h 80"/>
              <a:gd name="T4" fmla="*/ 0 w 80"/>
              <a:gd name="T5" fmla="*/ 0 h 80"/>
              <a:gd name="T6" fmla="*/ 36711 w 80"/>
              <a:gd name="T7" fmla="*/ 50304 h 80"/>
              <a:gd name="T8" fmla="*/ 0 w 80"/>
              <a:gd name="T9" fmla="*/ 103188 h 8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0" h="80">
                <a:moveTo>
                  <a:pt x="0" y="80"/>
                </a:moveTo>
                <a:lnTo>
                  <a:pt x="80" y="39"/>
                </a:lnTo>
                <a:lnTo>
                  <a:pt x="0" y="0"/>
                </a:lnTo>
                <a:lnTo>
                  <a:pt x="25" y="39"/>
                </a:lnTo>
                <a:lnTo>
                  <a:pt x="0" y="80"/>
                </a:lnTo>
                <a:close/>
              </a:path>
            </a:pathLst>
          </a:custGeom>
          <a:solidFill>
            <a:schemeClr val="tx1"/>
          </a:solidFill>
          <a:ln w="9525">
            <a:solidFill>
              <a:schemeClr val="tx1"/>
            </a:solidFill>
            <a:round/>
            <a:headEnd/>
            <a:tailEnd/>
          </a:ln>
        </p:spPr>
        <p:txBody>
          <a:bodyPr/>
          <a:lstStyle/>
          <a:p>
            <a:endParaRPr lang="zh-CN" altLang="en-US"/>
          </a:p>
        </p:txBody>
      </p:sp>
      <p:sp>
        <p:nvSpPr>
          <p:cNvPr id="75" name="Rectangle 123"/>
          <p:cNvSpPr>
            <a:spLocks noChangeArrowheads="1"/>
          </p:cNvSpPr>
          <p:nvPr/>
        </p:nvSpPr>
        <p:spPr bwMode="auto">
          <a:xfrm>
            <a:off x="2617788" y="3031257"/>
            <a:ext cx="949325" cy="263525"/>
          </a:xfrm>
          <a:prstGeom prst="rect">
            <a:avLst/>
          </a:prstGeom>
          <a:noFill/>
          <a:ln w="158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76" name="Rectangle 124"/>
          <p:cNvSpPr>
            <a:spLocks noChangeArrowheads="1"/>
          </p:cNvSpPr>
          <p:nvPr/>
        </p:nvSpPr>
        <p:spPr bwMode="auto">
          <a:xfrm>
            <a:off x="2649538" y="3078882"/>
            <a:ext cx="890587"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200" b="1"/>
              <a:t>Seg Table Ptr</a:t>
            </a:r>
          </a:p>
        </p:txBody>
      </p:sp>
      <p:sp>
        <p:nvSpPr>
          <p:cNvPr id="77" name="Rectangle 125"/>
          <p:cNvSpPr>
            <a:spLocks noChangeArrowheads="1"/>
          </p:cNvSpPr>
          <p:nvPr/>
        </p:nvSpPr>
        <p:spPr bwMode="auto">
          <a:xfrm>
            <a:off x="2819400" y="4169494"/>
            <a:ext cx="87313"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200" b="1"/>
              <a:t>+</a:t>
            </a:r>
          </a:p>
        </p:txBody>
      </p:sp>
      <p:sp>
        <p:nvSpPr>
          <p:cNvPr id="78" name="Rectangle 126"/>
          <p:cNvSpPr>
            <a:spLocks noChangeArrowheads="1"/>
          </p:cNvSpPr>
          <p:nvPr/>
        </p:nvSpPr>
        <p:spPr bwMode="auto">
          <a:xfrm>
            <a:off x="685800" y="2281957"/>
            <a:ext cx="1184275" cy="295275"/>
          </a:xfrm>
          <a:prstGeom prst="rect">
            <a:avLst/>
          </a:prstGeom>
          <a:solidFill>
            <a:srgbClr val="FF0000"/>
          </a:solidFill>
          <a:ln w="15875">
            <a:solidFill>
              <a:schemeClr val="tx1"/>
            </a:solidFill>
            <a:miter lim="800000"/>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79" name="Rectangle 127"/>
          <p:cNvSpPr>
            <a:spLocks noChangeArrowheads="1"/>
          </p:cNvSpPr>
          <p:nvPr/>
        </p:nvSpPr>
        <p:spPr bwMode="auto">
          <a:xfrm>
            <a:off x="1870075" y="2281957"/>
            <a:ext cx="592138" cy="295275"/>
          </a:xfrm>
          <a:prstGeom prst="rect">
            <a:avLst/>
          </a:prstGeom>
          <a:noFill/>
          <a:ln w="158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80" name="Rectangle 128"/>
          <p:cNvSpPr>
            <a:spLocks noChangeArrowheads="1"/>
          </p:cNvSpPr>
          <p:nvPr/>
        </p:nvSpPr>
        <p:spPr bwMode="auto">
          <a:xfrm>
            <a:off x="4394200" y="1916832"/>
            <a:ext cx="28575" cy="984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81" name="Rectangle 129"/>
          <p:cNvSpPr>
            <a:spLocks noChangeArrowheads="1"/>
          </p:cNvSpPr>
          <p:nvPr/>
        </p:nvSpPr>
        <p:spPr bwMode="auto">
          <a:xfrm>
            <a:off x="4394200" y="2088282"/>
            <a:ext cx="28575" cy="984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82" name="Rectangle 130"/>
          <p:cNvSpPr>
            <a:spLocks noChangeArrowheads="1"/>
          </p:cNvSpPr>
          <p:nvPr/>
        </p:nvSpPr>
        <p:spPr bwMode="auto">
          <a:xfrm>
            <a:off x="4394200" y="2259732"/>
            <a:ext cx="28575" cy="984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83" name="Rectangle 131"/>
          <p:cNvSpPr>
            <a:spLocks noChangeArrowheads="1"/>
          </p:cNvSpPr>
          <p:nvPr/>
        </p:nvSpPr>
        <p:spPr bwMode="auto">
          <a:xfrm>
            <a:off x="4394200" y="2431182"/>
            <a:ext cx="28575" cy="984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84" name="Rectangle 132"/>
          <p:cNvSpPr>
            <a:spLocks noChangeArrowheads="1"/>
          </p:cNvSpPr>
          <p:nvPr/>
        </p:nvSpPr>
        <p:spPr bwMode="auto">
          <a:xfrm>
            <a:off x="4394200" y="2602632"/>
            <a:ext cx="28575" cy="968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85" name="Rectangle 133"/>
          <p:cNvSpPr>
            <a:spLocks noChangeArrowheads="1"/>
          </p:cNvSpPr>
          <p:nvPr/>
        </p:nvSpPr>
        <p:spPr bwMode="auto">
          <a:xfrm>
            <a:off x="4394200" y="2774082"/>
            <a:ext cx="28575" cy="984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86" name="Rectangle 134"/>
          <p:cNvSpPr>
            <a:spLocks noChangeArrowheads="1"/>
          </p:cNvSpPr>
          <p:nvPr/>
        </p:nvSpPr>
        <p:spPr bwMode="auto">
          <a:xfrm>
            <a:off x="4394200" y="2945532"/>
            <a:ext cx="28575" cy="968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87" name="Rectangle 135"/>
          <p:cNvSpPr>
            <a:spLocks noChangeArrowheads="1"/>
          </p:cNvSpPr>
          <p:nvPr/>
        </p:nvSpPr>
        <p:spPr bwMode="auto">
          <a:xfrm>
            <a:off x="4394200" y="3116982"/>
            <a:ext cx="28575" cy="968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88" name="Rectangle 136"/>
          <p:cNvSpPr>
            <a:spLocks noChangeArrowheads="1"/>
          </p:cNvSpPr>
          <p:nvPr/>
        </p:nvSpPr>
        <p:spPr bwMode="auto">
          <a:xfrm>
            <a:off x="4394200" y="3288432"/>
            <a:ext cx="28575" cy="968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89" name="Rectangle 137"/>
          <p:cNvSpPr>
            <a:spLocks noChangeArrowheads="1"/>
          </p:cNvSpPr>
          <p:nvPr/>
        </p:nvSpPr>
        <p:spPr bwMode="auto">
          <a:xfrm>
            <a:off x="4394200" y="3458294"/>
            <a:ext cx="28575" cy="984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90" name="Rectangle 138"/>
          <p:cNvSpPr>
            <a:spLocks noChangeArrowheads="1"/>
          </p:cNvSpPr>
          <p:nvPr/>
        </p:nvSpPr>
        <p:spPr bwMode="auto">
          <a:xfrm>
            <a:off x="4394200" y="3629744"/>
            <a:ext cx="28575" cy="984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91" name="Rectangle 139"/>
          <p:cNvSpPr>
            <a:spLocks noChangeArrowheads="1"/>
          </p:cNvSpPr>
          <p:nvPr/>
        </p:nvSpPr>
        <p:spPr bwMode="auto">
          <a:xfrm>
            <a:off x="4394200" y="3801194"/>
            <a:ext cx="28575" cy="984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92" name="Rectangle 140"/>
          <p:cNvSpPr>
            <a:spLocks noChangeArrowheads="1"/>
          </p:cNvSpPr>
          <p:nvPr/>
        </p:nvSpPr>
        <p:spPr bwMode="auto">
          <a:xfrm>
            <a:off x="4394200" y="3972644"/>
            <a:ext cx="28575" cy="984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93" name="Rectangle 141"/>
          <p:cNvSpPr>
            <a:spLocks noChangeArrowheads="1"/>
          </p:cNvSpPr>
          <p:nvPr/>
        </p:nvSpPr>
        <p:spPr bwMode="auto">
          <a:xfrm>
            <a:off x="4394200" y="4144094"/>
            <a:ext cx="28575" cy="968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94" name="Rectangle 142"/>
          <p:cNvSpPr>
            <a:spLocks noChangeArrowheads="1"/>
          </p:cNvSpPr>
          <p:nvPr/>
        </p:nvSpPr>
        <p:spPr bwMode="auto">
          <a:xfrm>
            <a:off x="4394200" y="4315544"/>
            <a:ext cx="28575" cy="984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95" name="Rectangle 143"/>
          <p:cNvSpPr>
            <a:spLocks noChangeArrowheads="1"/>
          </p:cNvSpPr>
          <p:nvPr/>
        </p:nvSpPr>
        <p:spPr bwMode="auto">
          <a:xfrm>
            <a:off x="4394200" y="4486994"/>
            <a:ext cx="28575" cy="968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96" name="Rectangle 144"/>
          <p:cNvSpPr>
            <a:spLocks noChangeArrowheads="1"/>
          </p:cNvSpPr>
          <p:nvPr/>
        </p:nvSpPr>
        <p:spPr bwMode="auto">
          <a:xfrm>
            <a:off x="4394200" y="4658444"/>
            <a:ext cx="28575" cy="984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97" name="Rectangle 145"/>
          <p:cNvSpPr>
            <a:spLocks noChangeArrowheads="1"/>
          </p:cNvSpPr>
          <p:nvPr/>
        </p:nvSpPr>
        <p:spPr bwMode="auto">
          <a:xfrm>
            <a:off x="4394200" y="4829894"/>
            <a:ext cx="28575" cy="968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98" name="Rectangle 146"/>
          <p:cNvSpPr>
            <a:spLocks noChangeArrowheads="1"/>
          </p:cNvSpPr>
          <p:nvPr/>
        </p:nvSpPr>
        <p:spPr bwMode="auto">
          <a:xfrm>
            <a:off x="4394200" y="4999757"/>
            <a:ext cx="28575" cy="984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99" name="Rectangle 147"/>
          <p:cNvSpPr>
            <a:spLocks noChangeArrowheads="1"/>
          </p:cNvSpPr>
          <p:nvPr/>
        </p:nvSpPr>
        <p:spPr bwMode="auto">
          <a:xfrm>
            <a:off x="4394200" y="5171207"/>
            <a:ext cx="28575" cy="984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0" name="Rectangle 148"/>
          <p:cNvSpPr>
            <a:spLocks noChangeArrowheads="1"/>
          </p:cNvSpPr>
          <p:nvPr/>
        </p:nvSpPr>
        <p:spPr bwMode="auto">
          <a:xfrm>
            <a:off x="4394200" y="5342657"/>
            <a:ext cx="28575" cy="984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1" name="Rectangle 149"/>
          <p:cNvSpPr>
            <a:spLocks noChangeArrowheads="1"/>
          </p:cNvSpPr>
          <p:nvPr/>
        </p:nvSpPr>
        <p:spPr bwMode="auto">
          <a:xfrm>
            <a:off x="4394200" y="5514107"/>
            <a:ext cx="28575" cy="984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2" name="Rectangle 150"/>
          <p:cNvSpPr>
            <a:spLocks noChangeArrowheads="1"/>
          </p:cNvSpPr>
          <p:nvPr/>
        </p:nvSpPr>
        <p:spPr bwMode="auto">
          <a:xfrm>
            <a:off x="4394200" y="5685557"/>
            <a:ext cx="28575" cy="968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3" name="Rectangle 151"/>
          <p:cNvSpPr>
            <a:spLocks noChangeArrowheads="1"/>
          </p:cNvSpPr>
          <p:nvPr/>
        </p:nvSpPr>
        <p:spPr bwMode="auto">
          <a:xfrm>
            <a:off x="4394200" y="5857007"/>
            <a:ext cx="28575" cy="222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4" name="Rectangle 152"/>
          <p:cNvSpPr>
            <a:spLocks noChangeArrowheads="1"/>
          </p:cNvSpPr>
          <p:nvPr/>
        </p:nvSpPr>
        <p:spPr bwMode="auto">
          <a:xfrm>
            <a:off x="2533650" y="1916832"/>
            <a:ext cx="28575" cy="984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5" name="Rectangle 153"/>
          <p:cNvSpPr>
            <a:spLocks noChangeArrowheads="1"/>
          </p:cNvSpPr>
          <p:nvPr/>
        </p:nvSpPr>
        <p:spPr bwMode="auto">
          <a:xfrm>
            <a:off x="2533650" y="2088282"/>
            <a:ext cx="28575" cy="984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6" name="Rectangle 154"/>
          <p:cNvSpPr>
            <a:spLocks noChangeArrowheads="1"/>
          </p:cNvSpPr>
          <p:nvPr/>
        </p:nvSpPr>
        <p:spPr bwMode="auto">
          <a:xfrm>
            <a:off x="2533650" y="2259732"/>
            <a:ext cx="28575" cy="984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7" name="Rectangle 155"/>
          <p:cNvSpPr>
            <a:spLocks noChangeArrowheads="1"/>
          </p:cNvSpPr>
          <p:nvPr/>
        </p:nvSpPr>
        <p:spPr bwMode="auto">
          <a:xfrm>
            <a:off x="2533650" y="2431182"/>
            <a:ext cx="28575" cy="984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8" name="Rectangle 156"/>
          <p:cNvSpPr>
            <a:spLocks noChangeArrowheads="1"/>
          </p:cNvSpPr>
          <p:nvPr/>
        </p:nvSpPr>
        <p:spPr bwMode="auto">
          <a:xfrm>
            <a:off x="2533650" y="2602632"/>
            <a:ext cx="28575" cy="968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9" name="Rectangle 157"/>
          <p:cNvSpPr>
            <a:spLocks noChangeArrowheads="1"/>
          </p:cNvSpPr>
          <p:nvPr/>
        </p:nvSpPr>
        <p:spPr bwMode="auto">
          <a:xfrm>
            <a:off x="2533650" y="2774082"/>
            <a:ext cx="28575" cy="984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0" name="Rectangle 158"/>
          <p:cNvSpPr>
            <a:spLocks noChangeArrowheads="1"/>
          </p:cNvSpPr>
          <p:nvPr/>
        </p:nvSpPr>
        <p:spPr bwMode="auto">
          <a:xfrm>
            <a:off x="2533650" y="2945532"/>
            <a:ext cx="28575" cy="968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1" name="Rectangle 159"/>
          <p:cNvSpPr>
            <a:spLocks noChangeArrowheads="1"/>
          </p:cNvSpPr>
          <p:nvPr/>
        </p:nvSpPr>
        <p:spPr bwMode="auto">
          <a:xfrm>
            <a:off x="2533650" y="3116982"/>
            <a:ext cx="28575" cy="968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2" name="Rectangle 160"/>
          <p:cNvSpPr>
            <a:spLocks noChangeArrowheads="1"/>
          </p:cNvSpPr>
          <p:nvPr/>
        </p:nvSpPr>
        <p:spPr bwMode="auto">
          <a:xfrm>
            <a:off x="2533650" y="3288432"/>
            <a:ext cx="28575" cy="968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3" name="Rectangle 161"/>
          <p:cNvSpPr>
            <a:spLocks noChangeArrowheads="1"/>
          </p:cNvSpPr>
          <p:nvPr/>
        </p:nvSpPr>
        <p:spPr bwMode="auto">
          <a:xfrm>
            <a:off x="2533650" y="3458294"/>
            <a:ext cx="28575" cy="984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4" name="Rectangle 162"/>
          <p:cNvSpPr>
            <a:spLocks noChangeArrowheads="1"/>
          </p:cNvSpPr>
          <p:nvPr/>
        </p:nvSpPr>
        <p:spPr bwMode="auto">
          <a:xfrm>
            <a:off x="2533650" y="3629744"/>
            <a:ext cx="28575" cy="984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5" name="Rectangle 163"/>
          <p:cNvSpPr>
            <a:spLocks noChangeArrowheads="1"/>
          </p:cNvSpPr>
          <p:nvPr/>
        </p:nvSpPr>
        <p:spPr bwMode="auto">
          <a:xfrm>
            <a:off x="2533650" y="3801194"/>
            <a:ext cx="28575" cy="984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6" name="Rectangle 164"/>
          <p:cNvSpPr>
            <a:spLocks noChangeArrowheads="1"/>
          </p:cNvSpPr>
          <p:nvPr/>
        </p:nvSpPr>
        <p:spPr bwMode="auto">
          <a:xfrm>
            <a:off x="2533650" y="3972644"/>
            <a:ext cx="28575" cy="984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7" name="Rectangle 165"/>
          <p:cNvSpPr>
            <a:spLocks noChangeArrowheads="1"/>
          </p:cNvSpPr>
          <p:nvPr/>
        </p:nvSpPr>
        <p:spPr bwMode="auto">
          <a:xfrm>
            <a:off x="2533650" y="4144094"/>
            <a:ext cx="28575" cy="968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8" name="Rectangle 166"/>
          <p:cNvSpPr>
            <a:spLocks noChangeArrowheads="1"/>
          </p:cNvSpPr>
          <p:nvPr/>
        </p:nvSpPr>
        <p:spPr bwMode="auto">
          <a:xfrm>
            <a:off x="2533650" y="4315544"/>
            <a:ext cx="28575" cy="984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9" name="Rectangle 167"/>
          <p:cNvSpPr>
            <a:spLocks noChangeArrowheads="1"/>
          </p:cNvSpPr>
          <p:nvPr/>
        </p:nvSpPr>
        <p:spPr bwMode="auto">
          <a:xfrm>
            <a:off x="2533650" y="4486994"/>
            <a:ext cx="28575" cy="968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20" name="Rectangle 168"/>
          <p:cNvSpPr>
            <a:spLocks noChangeArrowheads="1"/>
          </p:cNvSpPr>
          <p:nvPr/>
        </p:nvSpPr>
        <p:spPr bwMode="auto">
          <a:xfrm>
            <a:off x="2533650" y="4658444"/>
            <a:ext cx="28575" cy="984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21" name="Rectangle 169"/>
          <p:cNvSpPr>
            <a:spLocks noChangeArrowheads="1"/>
          </p:cNvSpPr>
          <p:nvPr/>
        </p:nvSpPr>
        <p:spPr bwMode="auto">
          <a:xfrm>
            <a:off x="2533650" y="4829894"/>
            <a:ext cx="28575" cy="968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22" name="Rectangle 170"/>
          <p:cNvSpPr>
            <a:spLocks noChangeArrowheads="1"/>
          </p:cNvSpPr>
          <p:nvPr/>
        </p:nvSpPr>
        <p:spPr bwMode="auto">
          <a:xfrm>
            <a:off x="2533650" y="4999757"/>
            <a:ext cx="28575" cy="984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23" name="Rectangle 171"/>
          <p:cNvSpPr>
            <a:spLocks noChangeArrowheads="1"/>
          </p:cNvSpPr>
          <p:nvPr/>
        </p:nvSpPr>
        <p:spPr bwMode="auto">
          <a:xfrm>
            <a:off x="2533650" y="5171207"/>
            <a:ext cx="28575" cy="984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24" name="Rectangle 172"/>
          <p:cNvSpPr>
            <a:spLocks noChangeArrowheads="1"/>
          </p:cNvSpPr>
          <p:nvPr/>
        </p:nvSpPr>
        <p:spPr bwMode="auto">
          <a:xfrm>
            <a:off x="2533650" y="5342657"/>
            <a:ext cx="28575" cy="984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25" name="Rectangle 173"/>
          <p:cNvSpPr>
            <a:spLocks noChangeArrowheads="1"/>
          </p:cNvSpPr>
          <p:nvPr/>
        </p:nvSpPr>
        <p:spPr bwMode="auto">
          <a:xfrm>
            <a:off x="2533650" y="5514107"/>
            <a:ext cx="28575" cy="984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26" name="Rectangle 174"/>
          <p:cNvSpPr>
            <a:spLocks noChangeArrowheads="1"/>
          </p:cNvSpPr>
          <p:nvPr/>
        </p:nvSpPr>
        <p:spPr bwMode="auto">
          <a:xfrm>
            <a:off x="2533650" y="5685557"/>
            <a:ext cx="28575" cy="968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27" name="Rectangle 175"/>
          <p:cNvSpPr>
            <a:spLocks noChangeArrowheads="1"/>
          </p:cNvSpPr>
          <p:nvPr/>
        </p:nvSpPr>
        <p:spPr bwMode="auto">
          <a:xfrm>
            <a:off x="2533650" y="5857007"/>
            <a:ext cx="28575" cy="222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000000"/>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28" name="Line 176"/>
          <p:cNvSpPr>
            <a:spLocks noChangeShapeType="1"/>
          </p:cNvSpPr>
          <p:nvPr/>
        </p:nvSpPr>
        <p:spPr bwMode="auto">
          <a:xfrm>
            <a:off x="1023938" y="2577232"/>
            <a:ext cx="1587" cy="1687512"/>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 name="Line 177"/>
          <p:cNvSpPr>
            <a:spLocks noChangeShapeType="1"/>
          </p:cNvSpPr>
          <p:nvPr/>
        </p:nvSpPr>
        <p:spPr bwMode="auto">
          <a:xfrm>
            <a:off x="1025525" y="4264744"/>
            <a:ext cx="1612900" cy="1588"/>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0" name="Freeform 178"/>
          <p:cNvSpPr>
            <a:spLocks/>
          </p:cNvSpPr>
          <p:nvPr/>
        </p:nvSpPr>
        <p:spPr bwMode="auto">
          <a:xfrm>
            <a:off x="2598738" y="4213944"/>
            <a:ext cx="119062" cy="103188"/>
          </a:xfrm>
          <a:custGeom>
            <a:avLst/>
            <a:gdLst>
              <a:gd name="T0" fmla="*/ 0 w 80"/>
              <a:gd name="T1" fmla="*/ 103188 h 80"/>
              <a:gd name="T2" fmla="*/ 119062 w 80"/>
              <a:gd name="T3" fmla="*/ 50304 h 80"/>
              <a:gd name="T4" fmla="*/ 0 w 80"/>
              <a:gd name="T5" fmla="*/ 0 h 80"/>
              <a:gd name="T6" fmla="*/ 37207 w 80"/>
              <a:gd name="T7" fmla="*/ 50304 h 80"/>
              <a:gd name="T8" fmla="*/ 0 w 80"/>
              <a:gd name="T9" fmla="*/ 103188 h 8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0" h="80">
                <a:moveTo>
                  <a:pt x="0" y="80"/>
                </a:moveTo>
                <a:lnTo>
                  <a:pt x="80" y="39"/>
                </a:lnTo>
                <a:lnTo>
                  <a:pt x="0" y="0"/>
                </a:lnTo>
                <a:lnTo>
                  <a:pt x="25" y="39"/>
                </a:lnTo>
                <a:lnTo>
                  <a:pt x="0" y="80"/>
                </a:lnTo>
                <a:close/>
              </a:path>
            </a:pathLst>
          </a:custGeom>
          <a:solidFill>
            <a:schemeClr val="tx1"/>
          </a:solidFill>
          <a:ln w="9525">
            <a:solidFill>
              <a:schemeClr val="tx1"/>
            </a:solidFill>
            <a:round/>
            <a:headEnd/>
            <a:tailEnd/>
          </a:ln>
        </p:spPr>
        <p:txBody>
          <a:bodyPr/>
          <a:lstStyle/>
          <a:p>
            <a:endParaRPr lang="zh-CN" altLang="en-US"/>
          </a:p>
        </p:txBody>
      </p:sp>
      <p:sp>
        <p:nvSpPr>
          <p:cNvPr id="131" name="Line 179"/>
          <p:cNvSpPr>
            <a:spLocks noChangeShapeType="1"/>
          </p:cNvSpPr>
          <p:nvPr/>
        </p:nvSpPr>
        <p:spPr bwMode="auto">
          <a:xfrm>
            <a:off x="2886075" y="3312244"/>
            <a:ext cx="1588" cy="739775"/>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2" name="Freeform 180"/>
          <p:cNvSpPr>
            <a:spLocks/>
          </p:cNvSpPr>
          <p:nvPr/>
        </p:nvSpPr>
        <p:spPr bwMode="auto">
          <a:xfrm>
            <a:off x="2825750" y="4015507"/>
            <a:ext cx="117475" cy="103187"/>
          </a:xfrm>
          <a:custGeom>
            <a:avLst/>
            <a:gdLst>
              <a:gd name="T0" fmla="*/ 0 w 80"/>
              <a:gd name="T1" fmla="*/ 0 h 80"/>
              <a:gd name="T2" fmla="*/ 60206 w 80"/>
              <a:gd name="T3" fmla="*/ 103187 h 80"/>
              <a:gd name="T4" fmla="*/ 117475 w 80"/>
              <a:gd name="T5" fmla="*/ 0 h 80"/>
              <a:gd name="T6" fmla="*/ 60206 w 80"/>
              <a:gd name="T7" fmla="*/ 32246 h 80"/>
              <a:gd name="T8" fmla="*/ 0 w 80"/>
              <a:gd name="T9" fmla="*/ 0 h 8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0" h="80">
                <a:moveTo>
                  <a:pt x="0" y="0"/>
                </a:moveTo>
                <a:lnTo>
                  <a:pt x="41" y="80"/>
                </a:lnTo>
                <a:lnTo>
                  <a:pt x="80" y="0"/>
                </a:lnTo>
                <a:lnTo>
                  <a:pt x="41" y="25"/>
                </a:lnTo>
                <a:lnTo>
                  <a:pt x="0" y="0"/>
                </a:lnTo>
                <a:close/>
              </a:path>
            </a:pathLst>
          </a:custGeom>
          <a:solidFill>
            <a:schemeClr val="tx1"/>
          </a:solidFill>
          <a:ln w="9525">
            <a:solidFill>
              <a:schemeClr val="tx1"/>
            </a:solidFill>
            <a:round/>
            <a:headEnd/>
            <a:tailEnd/>
          </a:ln>
        </p:spPr>
        <p:txBody>
          <a:bodyPr/>
          <a:lstStyle/>
          <a:p>
            <a:endParaRPr lang="zh-CN" altLang="en-US"/>
          </a:p>
        </p:txBody>
      </p:sp>
      <p:sp>
        <p:nvSpPr>
          <p:cNvPr id="133" name="Line 181"/>
          <p:cNvSpPr>
            <a:spLocks noChangeShapeType="1"/>
          </p:cNvSpPr>
          <p:nvPr/>
        </p:nvSpPr>
        <p:spPr bwMode="auto">
          <a:xfrm>
            <a:off x="2886075" y="4364757"/>
            <a:ext cx="1588" cy="12065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4" name="Line 182"/>
          <p:cNvSpPr>
            <a:spLocks noChangeShapeType="1"/>
          </p:cNvSpPr>
          <p:nvPr/>
        </p:nvSpPr>
        <p:spPr bwMode="auto">
          <a:xfrm>
            <a:off x="2887663" y="4485407"/>
            <a:ext cx="596900" cy="1587"/>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 name="Freeform 183"/>
          <p:cNvSpPr>
            <a:spLocks/>
          </p:cNvSpPr>
          <p:nvPr/>
        </p:nvSpPr>
        <p:spPr bwMode="auto">
          <a:xfrm>
            <a:off x="3444875" y="4434607"/>
            <a:ext cx="117475" cy="101600"/>
          </a:xfrm>
          <a:custGeom>
            <a:avLst/>
            <a:gdLst>
              <a:gd name="T0" fmla="*/ 0 w 80"/>
              <a:gd name="T1" fmla="*/ 101600 h 79"/>
              <a:gd name="T2" fmla="*/ 117475 w 80"/>
              <a:gd name="T3" fmla="*/ 50157 h 79"/>
              <a:gd name="T4" fmla="*/ 0 w 80"/>
              <a:gd name="T5" fmla="*/ 0 h 79"/>
              <a:gd name="T6" fmla="*/ 36711 w 80"/>
              <a:gd name="T7" fmla="*/ 50157 h 79"/>
              <a:gd name="T8" fmla="*/ 0 w 80"/>
              <a:gd name="T9" fmla="*/ 101600 h 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0" h="79">
                <a:moveTo>
                  <a:pt x="0" y="79"/>
                </a:moveTo>
                <a:lnTo>
                  <a:pt x="80" y="39"/>
                </a:lnTo>
                <a:lnTo>
                  <a:pt x="0" y="0"/>
                </a:lnTo>
                <a:lnTo>
                  <a:pt x="25" y="39"/>
                </a:lnTo>
                <a:lnTo>
                  <a:pt x="0" y="79"/>
                </a:lnTo>
                <a:close/>
              </a:path>
            </a:pathLst>
          </a:custGeom>
          <a:solidFill>
            <a:schemeClr val="tx1"/>
          </a:solidFill>
          <a:ln w="9525">
            <a:solidFill>
              <a:schemeClr val="tx1"/>
            </a:solidFill>
            <a:round/>
            <a:headEnd/>
            <a:tailEnd/>
          </a:ln>
        </p:spPr>
        <p:txBody>
          <a:bodyPr/>
          <a:lstStyle/>
          <a:p>
            <a:endParaRPr lang="zh-CN" altLang="en-US"/>
          </a:p>
        </p:txBody>
      </p:sp>
      <p:grpSp>
        <p:nvGrpSpPr>
          <p:cNvPr id="136" name="Group 216"/>
          <p:cNvGrpSpPr>
            <a:grpSpLocks/>
          </p:cNvGrpSpPr>
          <p:nvPr/>
        </p:nvGrpSpPr>
        <p:grpSpPr bwMode="auto">
          <a:xfrm>
            <a:off x="3163888" y="3832944"/>
            <a:ext cx="331787" cy="611188"/>
            <a:chOff x="1993" y="2896"/>
            <a:chExt cx="209" cy="385"/>
          </a:xfrm>
        </p:grpSpPr>
        <p:sp>
          <p:nvSpPr>
            <p:cNvPr id="137" name="Line 184"/>
            <p:cNvSpPr>
              <a:spLocks noChangeShapeType="1"/>
            </p:cNvSpPr>
            <p:nvPr/>
          </p:nvSpPr>
          <p:spPr bwMode="auto">
            <a:xfrm>
              <a:off x="2031" y="2939"/>
              <a:ext cx="1" cy="33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8" name="Freeform 185"/>
            <p:cNvSpPr>
              <a:spLocks/>
            </p:cNvSpPr>
            <p:nvPr/>
          </p:nvSpPr>
          <p:spPr bwMode="auto">
            <a:xfrm>
              <a:off x="1995" y="2896"/>
              <a:ext cx="73" cy="65"/>
            </a:xfrm>
            <a:custGeom>
              <a:avLst/>
              <a:gdLst>
                <a:gd name="T0" fmla="*/ 73 w 79"/>
                <a:gd name="T1" fmla="*/ 65 h 80"/>
                <a:gd name="T2" fmla="*/ 36 w 79"/>
                <a:gd name="T3" fmla="*/ 0 h 80"/>
                <a:gd name="T4" fmla="*/ 0 w 79"/>
                <a:gd name="T5" fmla="*/ 65 h 80"/>
                <a:gd name="T6" fmla="*/ 36 w 79"/>
                <a:gd name="T7" fmla="*/ 45 h 80"/>
                <a:gd name="T8" fmla="*/ 73 w 79"/>
                <a:gd name="T9" fmla="*/ 65 h 8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80">
                  <a:moveTo>
                    <a:pt x="79" y="80"/>
                  </a:moveTo>
                  <a:lnTo>
                    <a:pt x="39" y="0"/>
                  </a:lnTo>
                  <a:lnTo>
                    <a:pt x="0" y="80"/>
                  </a:lnTo>
                  <a:lnTo>
                    <a:pt x="39" y="55"/>
                  </a:lnTo>
                  <a:lnTo>
                    <a:pt x="79" y="80"/>
                  </a:lnTo>
                  <a:close/>
                </a:path>
              </a:pathLst>
            </a:custGeom>
            <a:solidFill>
              <a:schemeClr val="tx1"/>
            </a:solidFill>
            <a:ln w="9525">
              <a:solidFill>
                <a:schemeClr val="tx1"/>
              </a:solidFill>
              <a:round/>
              <a:headEnd/>
              <a:tailEnd/>
            </a:ln>
          </p:spPr>
          <p:txBody>
            <a:bodyPr/>
            <a:lstStyle/>
            <a:p>
              <a:endParaRPr lang="zh-CN" altLang="en-US"/>
            </a:p>
          </p:txBody>
        </p:sp>
        <p:sp>
          <p:nvSpPr>
            <p:cNvPr id="139" name="Freeform 186"/>
            <p:cNvSpPr>
              <a:spLocks/>
            </p:cNvSpPr>
            <p:nvPr/>
          </p:nvSpPr>
          <p:spPr bwMode="auto">
            <a:xfrm>
              <a:off x="1993" y="3216"/>
              <a:ext cx="74" cy="65"/>
            </a:xfrm>
            <a:custGeom>
              <a:avLst/>
              <a:gdLst>
                <a:gd name="T0" fmla="*/ 0 w 80"/>
                <a:gd name="T1" fmla="*/ 0 h 80"/>
                <a:gd name="T2" fmla="*/ 38 w 80"/>
                <a:gd name="T3" fmla="*/ 65 h 80"/>
                <a:gd name="T4" fmla="*/ 74 w 80"/>
                <a:gd name="T5" fmla="*/ 0 h 80"/>
                <a:gd name="T6" fmla="*/ 38 w 80"/>
                <a:gd name="T7" fmla="*/ 20 h 80"/>
                <a:gd name="T8" fmla="*/ 0 w 80"/>
                <a:gd name="T9" fmla="*/ 0 h 8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0" h="80">
                  <a:moveTo>
                    <a:pt x="0" y="0"/>
                  </a:moveTo>
                  <a:lnTo>
                    <a:pt x="41" y="80"/>
                  </a:lnTo>
                  <a:lnTo>
                    <a:pt x="80" y="0"/>
                  </a:lnTo>
                  <a:lnTo>
                    <a:pt x="41" y="25"/>
                  </a:lnTo>
                  <a:lnTo>
                    <a:pt x="0" y="0"/>
                  </a:lnTo>
                  <a:close/>
                </a:path>
              </a:pathLst>
            </a:custGeom>
            <a:solidFill>
              <a:schemeClr val="tx1"/>
            </a:solidFill>
            <a:ln w="9525">
              <a:solidFill>
                <a:schemeClr val="tx1"/>
              </a:solidFill>
              <a:round/>
              <a:headEnd/>
              <a:tailEnd/>
            </a:ln>
          </p:spPr>
          <p:txBody>
            <a:bodyPr/>
            <a:lstStyle/>
            <a:p>
              <a:endParaRPr lang="zh-CN" altLang="en-US"/>
            </a:p>
          </p:txBody>
        </p:sp>
        <p:sp>
          <p:nvSpPr>
            <p:cNvPr id="140" name="Rectangle 187"/>
            <p:cNvSpPr>
              <a:spLocks noChangeArrowheads="1"/>
            </p:cNvSpPr>
            <p:nvPr/>
          </p:nvSpPr>
          <p:spPr bwMode="auto">
            <a:xfrm>
              <a:off x="2077" y="3067"/>
              <a:ext cx="125"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200" b="1"/>
                <a:t>S #</a:t>
              </a:r>
            </a:p>
          </p:txBody>
        </p:sp>
      </p:grpSp>
      <p:sp>
        <p:nvSpPr>
          <p:cNvPr id="141" name="Line 188"/>
          <p:cNvSpPr>
            <a:spLocks noChangeShapeType="1"/>
          </p:cNvSpPr>
          <p:nvPr/>
        </p:nvSpPr>
        <p:spPr bwMode="auto">
          <a:xfrm>
            <a:off x="1531938" y="2577232"/>
            <a:ext cx="1587" cy="366712"/>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2" name="Line 189"/>
          <p:cNvSpPr>
            <a:spLocks noChangeShapeType="1"/>
          </p:cNvSpPr>
          <p:nvPr/>
        </p:nvSpPr>
        <p:spPr bwMode="auto">
          <a:xfrm>
            <a:off x="1535113" y="2943944"/>
            <a:ext cx="3295650" cy="1588"/>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 name="Line 190"/>
          <p:cNvSpPr>
            <a:spLocks noChangeShapeType="1"/>
          </p:cNvSpPr>
          <p:nvPr/>
        </p:nvSpPr>
        <p:spPr bwMode="auto">
          <a:xfrm>
            <a:off x="4830763" y="2945532"/>
            <a:ext cx="1587" cy="1031875"/>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 name="Freeform 191"/>
          <p:cNvSpPr>
            <a:spLocks/>
          </p:cNvSpPr>
          <p:nvPr/>
        </p:nvSpPr>
        <p:spPr bwMode="auto">
          <a:xfrm>
            <a:off x="4772025" y="3934544"/>
            <a:ext cx="117475" cy="103188"/>
          </a:xfrm>
          <a:custGeom>
            <a:avLst/>
            <a:gdLst>
              <a:gd name="T0" fmla="*/ 0 w 79"/>
              <a:gd name="T1" fmla="*/ 0 h 80"/>
              <a:gd name="T2" fmla="*/ 59481 w 79"/>
              <a:gd name="T3" fmla="*/ 103188 h 80"/>
              <a:gd name="T4" fmla="*/ 117475 w 79"/>
              <a:gd name="T5" fmla="*/ 0 h 80"/>
              <a:gd name="T6" fmla="*/ 59481 w 79"/>
              <a:gd name="T7" fmla="*/ 32246 h 80"/>
              <a:gd name="T8" fmla="*/ 0 w 79"/>
              <a:gd name="T9" fmla="*/ 0 h 8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80">
                <a:moveTo>
                  <a:pt x="0" y="0"/>
                </a:moveTo>
                <a:lnTo>
                  <a:pt x="40" y="80"/>
                </a:lnTo>
                <a:lnTo>
                  <a:pt x="79" y="0"/>
                </a:lnTo>
                <a:lnTo>
                  <a:pt x="40" y="25"/>
                </a:lnTo>
                <a:lnTo>
                  <a:pt x="0" y="0"/>
                </a:lnTo>
                <a:close/>
              </a:path>
            </a:pathLst>
          </a:custGeom>
          <a:solidFill>
            <a:schemeClr val="tx1"/>
          </a:solidFill>
          <a:ln w="9525">
            <a:solidFill>
              <a:schemeClr val="tx1"/>
            </a:solidFill>
            <a:round/>
            <a:headEnd/>
            <a:tailEnd/>
          </a:ln>
        </p:spPr>
        <p:txBody>
          <a:bodyPr/>
          <a:lstStyle/>
          <a:p>
            <a:endParaRPr lang="zh-CN" altLang="en-US"/>
          </a:p>
        </p:txBody>
      </p:sp>
      <p:sp>
        <p:nvSpPr>
          <p:cNvPr id="145" name="Line 192"/>
          <p:cNvSpPr>
            <a:spLocks noChangeShapeType="1"/>
          </p:cNvSpPr>
          <p:nvPr/>
        </p:nvSpPr>
        <p:spPr bwMode="auto">
          <a:xfrm>
            <a:off x="2124075" y="2577232"/>
            <a:ext cx="1588" cy="14605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6" name="Line 193"/>
          <p:cNvSpPr>
            <a:spLocks noChangeShapeType="1"/>
          </p:cNvSpPr>
          <p:nvPr/>
        </p:nvSpPr>
        <p:spPr bwMode="auto">
          <a:xfrm>
            <a:off x="2125663" y="2723282"/>
            <a:ext cx="2536825" cy="1587"/>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7" name="Line 194"/>
          <p:cNvSpPr>
            <a:spLocks noChangeShapeType="1"/>
          </p:cNvSpPr>
          <p:nvPr/>
        </p:nvSpPr>
        <p:spPr bwMode="auto">
          <a:xfrm flipV="1">
            <a:off x="4662488" y="1991444"/>
            <a:ext cx="1587" cy="731838"/>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8" name="Line 195"/>
          <p:cNvSpPr>
            <a:spLocks noChangeShapeType="1"/>
          </p:cNvSpPr>
          <p:nvPr/>
        </p:nvSpPr>
        <p:spPr bwMode="auto">
          <a:xfrm>
            <a:off x="4664075" y="1988269"/>
            <a:ext cx="1012825" cy="1588"/>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9" name="Line 196"/>
          <p:cNvSpPr>
            <a:spLocks noChangeShapeType="1"/>
          </p:cNvSpPr>
          <p:nvPr/>
        </p:nvSpPr>
        <p:spPr bwMode="auto">
          <a:xfrm>
            <a:off x="5676900" y="1991444"/>
            <a:ext cx="1588" cy="223838"/>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0" name="Freeform 197"/>
          <p:cNvSpPr>
            <a:spLocks/>
          </p:cNvSpPr>
          <p:nvPr/>
        </p:nvSpPr>
        <p:spPr bwMode="auto">
          <a:xfrm>
            <a:off x="5618163" y="2180357"/>
            <a:ext cx="117475" cy="101600"/>
          </a:xfrm>
          <a:custGeom>
            <a:avLst/>
            <a:gdLst>
              <a:gd name="T0" fmla="*/ 0 w 80"/>
              <a:gd name="T1" fmla="*/ 0 h 80"/>
              <a:gd name="T2" fmla="*/ 58738 w 80"/>
              <a:gd name="T3" fmla="*/ 101600 h 80"/>
              <a:gd name="T4" fmla="*/ 117475 w 80"/>
              <a:gd name="T5" fmla="*/ 0 h 80"/>
              <a:gd name="T6" fmla="*/ 58738 w 80"/>
              <a:gd name="T7" fmla="*/ 31750 h 80"/>
              <a:gd name="T8" fmla="*/ 0 w 80"/>
              <a:gd name="T9" fmla="*/ 0 h 8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0" h="80">
                <a:moveTo>
                  <a:pt x="0" y="0"/>
                </a:moveTo>
                <a:lnTo>
                  <a:pt x="40" y="80"/>
                </a:lnTo>
                <a:lnTo>
                  <a:pt x="80" y="0"/>
                </a:lnTo>
                <a:lnTo>
                  <a:pt x="40" y="25"/>
                </a:lnTo>
                <a:lnTo>
                  <a:pt x="0" y="0"/>
                </a:lnTo>
                <a:close/>
              </a:path>
            </a:pathLst>
          </a:custGeom>
          <a:solidFill>
            <a:srgbClr val="000000"/>
          </a:solidFill>
          <a:ln w="9525">
            <a:solidFill>
              <a:schemeClr val="tx1"/>
            </a:solidFill>
            <a:round/>
            <a:headEnd/>
            <a:tailEnd/>
          </a:ln>
        </p:spPr>
        <p:txBody>
          <a:bodyPr/>
          <a:lstStyle/>
          <a:p>
            <a:endParaRPr lang="zh-CN" altLang="en-US"/>
          </a:p>
        </p:txBody>
      </p:sp>
      <p:sp>
        <p:nvSpPr>
          <p:cNvPr id="151" name="Rectangle 198"/>
          <p:cNvSpPr>
            <a:spLocks noChangeArrowheads="1"/>
          </p:cNvSpPr>
          <p:nvPr/>
        </p:nvSpPr>
        <p:spPr bwMode="auto">
          <a:xfrm>
            <a:off x="3070225" y="5344244"/>
            <a:ext cx="8890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200" b="1"/>
              <a:t>Segmentation</a:t>
            </a:r>
          </a:p>
        </p:txBody>
      </p:sp>
      <p:sp>
        <p:nvSpPr>
          <p:cNvPr id="152" name="Rectangle 199"/>
          <p:cNvSpPr>
            <a:spLocks noChangeArrowheads="1"/>
          </p:cNvSpPr>
          <p:nvPr/>
        </p:nvSpPr>
        <p:spPr bwMode="auto">
          <a:xfrm>
            <a:off x="1381125" y="5344244"/>
            <a:ext cx="585788"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200" b="1"/>
              <a:t>Program</a:t>
            </a:r>
          </a:p>
        </p:txBody>
      </p:sp>
      <p:sp>
        <p:nvSpPr>
          <p:cNvPr id="153" name="Rectangle 200"/>
          <p:cNvSpPr>
            <a:spLocks noChangeArrowheads="1"/>
          </p:cNvSpPr>
          <p:nvPr/>
        </p:nvSpPr>
        <p:spPr bwMode="auto">
          <a:xfrm>
            <a:off x="3495675" y="3294782"/>
            <a:ext cx="5588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200" b="1"/>
              <a:t>Segment</a:t>
            </a:r>
          </a:p>
        </p:txBody>
      </p:sp>
      <p:sp>
        <p:nvSpPr>
          <p:cNvPr id="154" name="Rectangle 201"/>
          <p:cNvSpPr>
            <a:spLocks noChangeArrowheads="1"/>
          </p:cNvSpPr>
          <p:nvPr/>
        </p:nvSpPr>
        <p:spPr bwMode="auto">
          <a:xfrm>
            <a:off x="3598863" y="3464644"/>
            <a:ext cx="373062"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200" b="1"/>
              <a:t>Table</a:t>
            </a:r>
          </a:p>
        </p:txBody>
      </p:sp>
      <p:sp>
        <p:nvSpPr>
          <p:cNvPr id="155" name="Line 202"/>
          <p:cNvSpPr>
            <a:spLocks noChangeShapeType="1"/>
          </p:cNvSpPr>
          <p:nvPr/>
        </p:nvSpPr>
        <p:spPr bwMode="auto">
          <a:xfrm>
            <a:off x="4916488" y="4183782"/>
            <a:ext cx="260350" cy="1587"/>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6" name="Freeform 203"/>
          <p:cNvSpPr>
            <a:spLocks/>
          </p:cNvSpPr>
          <p:nvPr/>
        </p:nvSpPr>
        <p:spPr bwMode="auto">
          <a:xfrm>
            <a:off x="5135563" y="4140919"/>
            <a:ext cx="119062" cy="103188"/>
          </a:xfrm>
          <a:custGeom>
            <a:avLst/>
            <a:gdLst>
              <a:gd name="T0" fmla="*/ 0 w 80"/>
              <a:gd name="T1" fmla="*/ 103188 h 80"/>
              <a:gd name="T2" fmla="*/ 119062 w 80"/>
              <a:gd name="T3" fmla="*/ 50304 h 80"/>
              <a:gd name="T4" fmla="*/ 0 w 80"/>
              <a:gd name="T5" fmla="*/ 0 h 80"/>
              <a:gd name="T6" fmla="*/ 37207 w 80"/>
              <a:gd name="T7" fmla="*/ 50304 h 80"/>
              <a:gd name="T8" fmla="*/ 0 w 80"/>
              <a:gd name="T9" fmla="*/ 103188 h 8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0" h="80">
                <a:moveTo>
                  <a:pt x="0" y="80"/>
                </a:moveTo>
                <a:lnTo>
                  <a:pt x="80" y="39"/>
                </a:lnTo>
                <a:lnTo>
                  <a:pt x="0" y="0"/>
                </a:lnTo>
                <a:lnTo>
                  <a:pt x="25" y="39"/>
                </a:lnTo>
                <a:lnTo>
                  <a:pt x="0" y="80"/>
                </a:lnTo>
                <a:close/>
              </a:path>
            </a:pathLst>
          </a:custGeom>
          <a:solidFill>
            <a:schemeClr val="tx1"/>
          </a:solidFill>
          <a:ln w="9525">
            <a:solidFill>
              <a:schemeClr val="tx1"/>
            </a:solidFill>
            <a:round/>
            <a:headEnd/>
            <a:tailEnd/>
          </a:ln>
        </p:spPr>
        <p:txBody>
          <a:bodyPr/>
          <a:lstStyle/>
          <a:p>
            <a:endParaRPr lang="zh-CN" altLang="en-US"/>
          </a:p>
        </p:txBody>
      </p:sp>
      <p:sp>
        <p:nvSpPr>
          <p:cNvPr id="157" name="Rectangle 204"/>
          <p:cNvSpPr>
            <a:spLocks noChangeArrowheads="1"/>
          </p:cNvSpPr>
          <p:nvPr/>
        </p:nvSpPr>
        <p:spPr bwMode="auto">
          <a:xfrm>
            <a:off x="760413" y="2332757"/>
            <a:ext cx="3429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200" b="1"/>
              <a:t>Seg #</a:t>
            </a:r>
          </a:p>
        </p:txBody>
      </p:sp>
      <p:sp>
        <p:nvSpPr>
          <p:cNvPr id="158" name="Rectangle 205"/>
          <p:cNvSpPr>
            <a:spLocks noChangeArrowheads="1"/>
          </p:cNvSpPr>
          <p:nvPr/>
        </p:nvSpPr>
        <p:spPr bwMode="auto">
          <a:xfrm>
            <a:off x="1323975" y="2332757"/>
            <a:ext cx="428625"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200" b="1"/>
              <a:t>Page #</a:t>
            </a:r>
          </a:p>
        </p:txBody>
      </p:sp>
      <p:sp>
        <p:nvSpPr>
          <p:cNvPr id="159" name="Rectangle 206"/>
          <p:cNvSpPr>
            <a:spLocks noChangeArrowheads="1"/>
          </p:cNvSpPr>
          <p:nvPr/>
        </p:nvSpPr>
        <p:spPr bwMode="auto">
          <a:xfrm>
            <a:off x="1971675" y="2332757"/>
            <a:ext cx="398463"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200" b="1"/>
              <a:t>Offset</a:t>
            </a:r>
          </a:p>
        </p:txBody>
      </p:sp>
      <p:sp>
        <p:nvSpPr>
          <p:cNvPr id="160" name="Line 207"/>
          <p:cNvSpPr>
            <a:spLocks noChangeShapeType="1"/>
          </p:cNvSpPr>
          <p:nvPr/>
        </p:nvSpPr>
        <p:spPr bwMode="auto">
          <a:xfrm>
            <a:off x="1193800" y="2283544"/>
            <a:ext cx="1588" cy="293688"/>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1" name="AutoShape 212"/>
          <p:cNvSpPr>
            <a:spLocks noChangeArrowheads="1"/>
          </p:cNvSpPr>
          <p:nvPr/>
        </p:nvSpPr>
        <p:spPr bwMode="auto">
          <a:xfrm>
            <a:off x="4668838" y="4032969"/>
            <a:ext cx="287337" cy="252413"/>
          </a:xfrm>
          <a:prstGeom prst="flowChartOr">
            <a:avLst/>
          </a:prstGeom>
          <a:solidFill>
            <a:srgbClr val="008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62" name="AutoShape 213"/>
          <p:cNvSpPr>
            <a:spLocks noChangeArrowheads="1"/>
          </p:cNvSpPr>
          <p:nvPr/>
        </p:nvSpPr>
        <p:spPr bwMode="auto">
          <a:xfrm>
            <a:off x="2732088" y="4121869"/>
            <a:ext cx="287337" cy="252413"/>
          </a:xfrm>
          <a:prstGeom prst="flowChartOr">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63" name="Oval 214"/>
          <p:cNvSpPr>
            <a:spLocks noChangeArrowheads="1"/>
          </p:cNvSpPr>
          <p:nvPr/>
        </p:nvSpPr>
        <p:spPr bwMode="auto">
          <a:xfrm>
            <a:off x="971550" y="2448644"/>
            <a:ext cx="71438" cy="71438"/>
          </a:xfrm>
          <a:prstGeom prst="ellipse">
            <a:avLst/>
          </a:prstGeom>
          <a:solidFill>
            <a:srgbClr val="FF3300"/>
          </a:solidFill>
          <a:ln w="9525">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64" name="Oval 215"/>
          <p:cNvSpPr>
            <a:spLocks noChangeArrowheads="1"/>
          </p:cNvSpPr>
          <p:nvPr/>
        </p:nvSpPr>
        <p:spPr bwMode="auto">
          <a:xfrm>
            <a:off x="2843213" y="3169369"/>
            <a:ext cx="73025" cy="71438"/>
          </a:xfrm>
          <a:prstGeom prst="ellipse">
            <a:avLst/>
          </a:prstGeom>
          <a:solidFill>
            <a:srgbClr val="FF3300"/>
          </a:solidFill>
          <a:ln w="9525">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65" name="Oval 217"/>
          <p:cNvSpPr>
            <a:spLocks noChangeArrowheads="1"/>
          </p:cNvSpPr>
          <p:nvPr/>
        </p:nvSpPr>
        <p:spPr bwMode="auto">
          <a:xfrm>
            <a:off x="2843213" y="4248869"/>
            <a:ext cx="73025" cy="71438"/>
          </a:xfrm>
          <a:prstGeom prst="ellipse">
            <a:avLst/>
          </a:prstGeom>
          <a:solidFill>
            <a:srgbClr val="FF3300"/>
          </a:solidFill>
          <a:ln w="9525">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66" name="Oval 218"/>
          <p:cNvSpPr>
            <a:spLocks noChangeArrowheads="1"/>
          </p:cNvSpPr>
          <p:nvPr/>
        </p:nvSpPr>
        <p:spPr bwMode="auto">
          <a:xfrm>
            <a:off x="1476375" y="2377207"/>
            <a:ext cx="71438" cy="71437"/>
          </a:xfrm>
          <a:prstGeom prst="ellipse">
            <a:avLst/>
          </a:prstGeom>
          <a:solidFill>
            <a:schemeClr val="accent1"/>
          </a:solidFill>
          <a:ln w="9525">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67" name="Rectangle 220"/>
          <p:cNvSpPr>
            <a:spLocks noChangeArrowheads="1"/>
          </p:cNvSpPr>
          <p:nvPr/>
        </p:nvSpPr>
        <p:spPr bwMode="auto">
          <a:xfrm>
            <a:off x="5254625" y="4113932"/>
            <a:ext cx="676275" cy="146050"/>
          </a:xfrm>
          <a:prstGeom prst="rect">
            <a:avLst/>
          </a:prstGeom>
          <a:solidFill>
            <a:srgbClr val="008000"/>
          </a:solidFill>
          <a:ln w="15875">
            <a:solidFill>
              <a:schemeClr val="tx1"/>
            </a:solidFill>
            <a:miter lim="800000"/>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68" name="Oval 221"/>
          <p:cNvSpPr>
            <a:spLocks noChangeArrowheads="1"/>
          </p:cNvSpPr>
          <p:nvPr/>
        </p:nvSpPr>
        <p:spPr bwMode="auto">
          <a:xfrm>
            <a:off x="5548313" y="4161557"/>
            <a:ext cx="71437" cy="71437"/>
          </a:xfrm>
          <a:prstGeom prst="ellipse">
            <a:avLst/>
          </a:prstGeom>
          <a:solidFill>
            <a:srgbClr val="0033CC"/>
          </a:solidFill>
          <a:ln w="9525">
            <a:solidFill>
              <a:srgbClr val="0033C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69" name="Oval 222"/>
          <p:cNvSpPr>
            <a:spLocks noChangeArrowheads="1"/>
          </p:cNvSpPr>
          <p:nvPr/>
        </p:nvSpPr>
        <p:spPr bwMode="auto">
          <a:xfrm>
            <a:off x="2124075" y="2377207"/>
            <a:ext cx="71438" cy="71437"/>
          </a:xfrm>
          <a:prstGeom prst="ellipse">
            <a:avLst/>
          </a:prstGeom>
          <a:solidFill>
            <a:srgbClr val="0033CC"/>
          </a:solidFill>
          <a:ln w="9525">
            <a:solidFill>
              <a:srgbClr val="0033C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70" name="Oval 223"/>
          <p:cNvSpPr>
            <a:spLocks noChangeArrowheads="1"/>
          </p:cNvSpPr>
          <p:nvPr/>
        </p:nvSpPr>
        <p:spPr bwMode="auto">
          <a:xfrm>
            <a:off x="5651500" y="2377207"/>
            <a:ext cx="73025" cy="71437"/>
          </a:xfrm>
          <a:prstGeom prst="ellipse">
            <a:avLst/>
          </a:prstGeom>
          <a:solidFill>
            <a:srgbClr val="FF3300"/>
          </a:solidFill>
          <a:ln w="9525">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Tree>
    <p:extLst>
      <p:ext uri="{BB962C8B-B14F-4D97-AF65-F5344CB8AC3E}">
        <p14:creationId xmlns:p14="http://schemas.microsoft.com/office/powerpoint/2010/main" val="3428607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3"/>
                                        </p:tgtEl>
                                        <p:attrNameLst>
                                          <p:attrName>style.visibility</p:attrName>
                                        </p:attrNameLst>
                                      </p:cBhvr>
                                      <p:to>
                                        <p:strVal val="visible"/>
                                      </p:to>
                                    </p:set>
                                  </p:childTnLst>
                                </p:cTn>
                              </p:par>
                            </p:childTnLst>
                          </p:cTn>
                        </p:par>
                        <p:par>
                          <p:cTn id="7" fill="hold">
                            <p:stCondLst>
                              <p:cond delay="0"/>
                            </p:stCondLst>
                            <p:childTnLst>
                              <p:par>
                                <p:cTn id="8" presetID="0" presetClass="path" presetSubtype="0" accel="50000" decel="50000" fill="hold" grpId="1" nodeType="afterEffect">
                                  <p:stCondLst>
                                    <p:cond delay="0"/>
                                  </p:stCondLst>
                                  <p:childTnLst>
                                    <p:animMotion origin="layout" path="M -5.55556E-7 2.59259E-6 L -5.55556E-7 0.2625 " pathEditMode="relative" ptsTypes="AA">
                                      <p:cBhvr>
                                        <p:cTn id="9" dur="1000" fill="hold"/>
                                        <p:tgtEl>
                                          <p:spTgt spid="163"/>
                                        </p:tgtEl>
                                        <p:attrNameLst>
                                          <p:attrName>ppt_x</p:attrName>
                                          <p:attrName>ppt_y</p:attrName>
                                        </p:attrNameLst>
                                      </p:cBhvr>
                                    </p:animMotion>
                                  </p:childTnLst>
                                </p:cTn>
                              </p:par>
                            </p:childTnLst>
                          </p:cTn>
                        </p:par>
                        <p:par>
                          <p:cTn id="10" fill="hold">
                            <p:stCondLst>
                              <p:cond delay="1000"/>
                            </p:stCondLst>
                            <p:childTnLst>
                              <p:par>
                                <p:cTn id="11" presetID="0" presetClass="path" presetSubtype="0" accel="50000" decel="50000" fill="hold" grpId="2" nodeType="afterEffect">
                                  <p:stCondLst>
                                    <p:cond delay="0"/>
                                  </p:stCondLst>
                                  <p:childTnLst>
                                    <p:animMotion origin="layout" path="M -5.55556E-7 0.2625 L 0.21267 0.2625 " pathEditMode="relative" ptsTypes="AA">
                                      <p:cBhvr>
                                        <p:cTn id="12" dur="1000" fill="hold"/>
                                        <p:tgtEl>
                                          <p:spTgt spid="163"/>
                                        </p:tgtEl>
                                        <p:attrNameLst>
                                          <p:attrName>ppt_x</p:attrName>
                                          <p:attrName>ppt_y</p:attrName>
                                        </p:attrNameLst>
                                      </p:cBhvr>
                                    </p:animMotion>
                                  </p:childTnLst>
                                </p:cTn>
                              </p:par>
                              <p:par>
                                <p:cTn id="13" presetID="1" presetClass="entr" presetSubtype="0" fill="hold" grpId="0" nodeType="withEffect">
                                  <p:stCondLst>
                                    <p:cond delay="0"/>
                                  </p:stCondLst>
                                  <p:childTnLst>
                                    <p:set>
                                      <p:cBhvr>
                                        <p:cTn id="14" dur="1" fill="hold">
                                          <p:stCondLst>
                                            <p:cond delay="0"/>
                                          </p:stCondLst>
                                        </p:cTn>
                                        <p:tgtEl>
                                          <p:spTgt spid="164"/>
                                        </p:tgtEl>
                                        <p:attrNameLst>
                                          <p:attrName>style.visibility</p:attrName>
                                        </p:attrNameLst>
                                      </p:cBhvr>
                                      <p:to>
                                        <p:strVal val="visible"/>
                                      </p:to>
                                    </p:set>
                                  </p:childTnLst>
                                </p:cTn>
                              </p:par>
                            </p:childTnLst>
                          </p:cTn>
                        </p:par>
                        <p:par>
                          <p:cTn id="15" fill="hold">
                            <p:stCondLst>
                              <p:cond delay="2000"/>
                            </p:stCondLst>
                            <p:childTnLst>
                              <p:par>
                                <p:cTn id="16" presetID="0" presetClass="path" presetSubtype="0" accel="50000" decel="50000" fill="hold" grpId="1" nodeType="afterEffect">
                                  <p:stCondLst>
                                    <p:cond delay="0"/>
                                  </p:stCondLst>
                                  <p:childTnLst>
                                    <p:animMotion origin="layout" path="M 3.05556E-6 2.59259E-6 L 3.05556E-6 0.15741 " pathEditMode="relative" ptsTypes="AA">
                                      <p:cBhvr>
                                        <p:cTn id="17" dur="1000" fill="hold"/>
                                        <p:tgtEl>
                                          <p:spTgt spid="164"/>
                                        </p:tgtEl>
                                        <p:attrNameLst>
                                          <p:attrName>ppt_x</p:attrName>
                                          <p:attrName>ppt_y</p:attrName>
                                        </p:attrNameLst>
                                      </p:cBhvr>
                                    </p:animMotion>
                                  </p:childTnLst>
                                </p:cTn>
                              </p:par>
                            </p:childTnLst>
                          </p:cTn>
                        </p:par>
                        <p:par>
                          <p:cTn id="18" fill="hold">
                            <p:stCondLst>
                              <p:cond delay="3000"/>
                            </p:stCondLst>
                            <p:childTnLst>
                              <p:par>
                                <p:cTn id="19" presetID="4" presetClass="entr" presetSubtype="32" fill="hold" grpId="0" nodeType="afterEffect">
                                  <p:stCondLst>
                                    <p:cond delay="0"/>
                                  </p:stCondLst>
                                  <p:childTnLst>
                                    <p:set>
                                      <p:cBhvr>
                                        <p:cTn id="20" dur="1" fill="hold">
                                          <p:stCondLst>
                                            <p:cond delay="0"/>
                                          </p:stCondLst>
                                        </p:cTn>
                                        <p:tgtEl>
                                          <p:spTgt spid="162"/>
                                        </p:tgtEl>
                                        <p:attrNameLst>
                                          <p:attrName>style.visibility</p:attrName>
                                        </p:attrNameLst>
                                      </p:cBhvr>
                                      <p:to>
                                        <p:strVal val="visible"/>
                                      </p:to>
                                    </p:set>
                                    <p:animEffect transition="in" filter="box(out)">
                                      <p:cBhvr>
                                        <p:cTn id="21" dur="500"/>
                                        <p:tgtEl>
                                          <p:spTgt spid="162"/>
                                        </p:tgtEl>
                                      </p:cBhvr>
                                    </p:animEffect>
                                  </p:childTnLst>
                                </p:cTn>
                              </p:par>
                            </p:childTnLst>
                          </p:cTn>
                        </p:par>
                        <p:par>
                          <p:cTn id="22" fill="hold">
                            <p:stCondLst>
                              <p:cond delay="3500"/>
                            </p:stCondLst>
                            <p:childTnLst>
                              <p:par>
                                <p:cTn id="23" presetID="1" presetClass="entr" presetSubtype="0" fill="hold" grpId="0" nodeType="afterEffect">
                                  <p:stCondLst>
                                    <p:cond delay="0"/>
                                  </p:stCondLst>
                                  <p:childTnLst>
                                    <p:set>
                                      <p:cBhvr>
                                        <p:cTn id="24" dur="1" fill="hold">
                                          <p:stCondLst>
                                            <p:cond delay="0"/>
                                          </p:stCondLst>
                                        </p:cTn>
                                        <p:tgtEl>
                                          <p:spTgt spid="165"/>
                                        </p:tgtEl>
                                        <p:attrNameLst>
                                          <p:attrName>style.visibility</p:attrName>
                                        </p:attrNameLst>
                                      </p:cBhvr>
                                      <p:to>
                                        <p:strVal val="visible"/>
                                      </p:to>
                                    </p:set>
                                  </p:childTnLst>
                                </p:cTn>
                              </p:par>
                            </p:childTnLst>
                          </p:cTn>
                        </p:par>
                        <p:par>
                          <p:cTn id="25" fill="hold">
                            <p:stCondLst>
                              <p:cond delay="3500"/>
                            </p:stCondLst>
                            <p:childTnLst>
                              <p:par>
                                <p:cTn id="26" presetID="0" presetClass="path" presetSubtype="0" accel="50000" decel="50000" fill="hold" grpId="1" nodeType="afterEffect">
                                  <p:stCondLst>
                                    <p:cond delay="0"/>
                                  </p:stCondLst>
                                  <p:childTnLst>
                                    <p:animMotion origin="layout" path="M 3.05556E-6 2.59259E-6 L 3.05556E-6 0.03148 " pathEditMode="relative" ptsTypes="AA">
                                      <p:cBhvr>
                                        <p:cTn id="27" dur="1000" fill="hold"/>
                                        <p:tgtEl>
                                          <p:spTgt spid="165"/>
                                        </p:tgtEl>
                                        <p:attrNameLst>
                                          <p:attrName>ppt_x</p:attrName>
                                          <p:attrName>ppt_y</p:attrName>
                                        </p:attrNameLst>
                                      </p:cBhvr>
                                    </p:animMotion>
                                  </p:childTnLst>
                                </p:cTn>
                              </p:par>
                            </p:childTnLst>
                          </p:cTn>
                        </p:par>
                        <p:par>
                          <p:cTn id="28" fill="hold">
                            <p:stCondLst>
                              <p:cond delay="4500"/>
                            </p:stCondLst>
                            <p:childTnLst>
                              <p:par>
                                <p:cTn id="29" presetID="22" presetClass="entr" presetSubtype="1" fill="hold" nodeType="afterEffect">
                                  <p:stCondLst>
                                    <p:cond delay="0"/>
                                  </p:stCondLst>
                                  <p:childTnLst>
                                    <p:set>
                                      <p:cBhvr>
                                        <p:cTn id="30" dur="1" fill="hold">
                                          <p:stCondLst>
                                            <p:cond delay="0"/>
                                          </p:stCondLst>
                                        </p:cTn>
                                        <p:tgtEl>
                                          <p:spTgt spid="136"/>
                                        </p:tgtEl>
                                        <p:attrNameLst>
                                          <p:attrName>style.visibility</p:attrName>
                                        </p:attrNameLst>
                                      </p:cBhvr>
                                      <p:to>
                                        <p:strVal val="visible"/>
                                      </p:to>
                                    </p:set>
                                    <p:animEffect transition="in" filter="wipe(up)">
                                      <p:cBhvr>
                                        <p:cTn id="31" dur="500"/>
                                        <p:tgtEl>
                                          <p:spTgt spid="136"/>
                                        </p:tgtEl>
                                      </p:cBhvr>
                                    </p:animEffect>
                                  </p:childTnLst>
                                </p:cTn>
                              </p:par>
                            </p:childTnLst>
                          </p:cTn>
                        </p:par>
                        <p:par>
                          <p:cTn id="32" fill="hold">
                            <p:stCondLst>
                              <p:cond delay="5000"/>
                            </p:stCondLst>
                            <p:childTnLst>
                              <p:par>
                                <p:cTn id="33" presetID="0" presetClass="path" presetSubtype="0" accel="50000" decel="50000" fill="hold" grpId="2" nodeType="afterEffect">
                                  <p:stCondLst>
                                    <p:cond delay="0"/>
                                  </p:stCondLst>
                                  <p:childTnLst>
                                    <p:animMotion origin="layout" path="M -0.00087 0.03009 L 0.10156 0.03009 " pathEditMode="relative" rAng="0" ptsTypes="AA">
                                      <p:cBhvr>
                                        <p:cTn id="34" dur="1000" fill="hold"/>
                                        <p:tgtEl>
                                          <p:spTgt spid="165"/>
                                        </p:tgtEl>
                                        <p:attrNameLst>
                                          <p:attrName>ppt_x</p:attrName>
                                          <p:attrName>ppt_y</p:attrName>
                                        </p:attrNameLst>
                                      </p:cBhvr>
                                      <p:rCtr x="5122" y="0"/>
                                    </p:animMotion>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grpId="3" nodeType="clickEffect">
                                  <p:stCondLst>
                                    <p:cond delay="0"/>
                                  </p:stCondLst>
                                  <p:childTnLst>
                                    <p:animMotion origin="layout" path="M 0.10157 0.0301 L 0.16459 0.0301 " pathEditMode="relative" ptsTypes="AA">
                                      <p:cBhvr>
                                        <p:cTn id="38" dur="1000" fill="hold"/>
                                        <p:tgtEl>
                                          <p:spTgt spid="165"/>
                                        </p:tgtEl>
                                        <p:attrNameLst>
                                          <p:attrName>ppt_x</p:attrName>
                                          <p:attrName>ppt_y</p:attrName>
                                        </p:attrNameLst>
                                      </p:cBhvr>
                                    </p:animMotion>
                                  </p:childTnLst>
                                </p:cTn>
                              </p:par>
                            </p:childTnLst>
                          </p:cTn>
                        </p:par>
                        <p:par>
                          <p:cTn id="39" fill="hold">
                            <p:stCondLst>
                              <p:cond delay="1000"/>
                            </p:stCondLst>
                            <p:childTnLst>
                              <p:par>
                                <p:cTn id="40" presetID="0" presetClass="path" presetSubtype="0" accel="50000" decel="50000" fill="hold" grpId="4" nodeType="afterEffect">
                                  <p:stCondLst>
                                    <p:cond delay="0"/>
                                  </p:stCondLst>
                                  <p:childTnLst>
                                    <p:animMotion origin="layout" path="M 0.16459 0.0301 L 0.16459 -0.02222 " pathEditMode="relative" ptsTypes="AA">
                                      <p:cBhvr>
                                        <p:cTn id="41" dur="1000" fill="hold"/>
                                        <p:tgtEl>
                                          <p:spTgt spid="165"/>
                                        </p:tgtEl>
                                        <p:attrNameLst>
                                          <p:attrName>ppt_x</p:attrName>
                                          <p:attrName>ppt_y</p:attrName>
                                        </p:attrNameLst>
                                      </p:cBhvr>
                                    </p:animMotion>
                                  </p:childTnLst>
                                </p:cTn>
                              </p:par>
                            </p:childTnLst>
                          </p:cTn>
                        </p:par>
                        <p:par>
                          <p:cTn id="42" fill="hold">
                            <p:stCondLst>
                              <p:cond delay="2000"/>
                            </p:stCondLst>
                            <p:childTnLst>
                              <p:par>
                                <p:cTn id="43" presetID="0" presetClass="path" presetSubtype="0" accel="50000" decel="50000" fill="hold" grpId="5" nodeType="afterEffect">
                                  <p:stCondLst>
                                    <p:cond delay="0"/>
                                  </p:stCondLst>
                                  <p:childTnLst>
                                    <p:animMotion origin="layout" path="M 0.16458 -0.01667 L 0.20399 -0.01667 " pathEditMode="relative" rAng="0" ptsTypes="AA">
                                      <p:cBhvr>
                                        <p:cTn id="44" dur="1000" fill="hold"/>
                                        <p:tgtEl>
                                          <p:spTgt spid="165"/>
                                        </p:tgtEl>
                                        <p:attrNameLst>
                                          <p:attrName>ppt_x</p:attrName>
                                          <p:attrName>ppt_y</p:attrName>
                                        </p:attrNameLst>
                                      </p:cBhvr>
                                      <p:rCtr x="1962" y="0"/>
                                    </p:animMotion>
                                  </p:childTnLst>
                                </p:cTn>
                              </p:par>
                            </p:childTnLst>
                          </p:cTn>
                        </p:par>
                        <p:par>
                          <p:cTn id="45" fill="hold">
                            <p:stCondLst>
                              <p:cond delay="3000"/>
                            </p:stCondLst>
                            <p:childTnLst>
                              <p:par>
                                <p:cTn id="46" presetID="1" presetClass="entr" presetSubtype="0" fill="hold" grpId="0" nodeType="afterEffect">
                                  <p:stCondLst>
                                    <p:cond delay="0"/>
                                  </p:stCondLst>
                                  <p:childTnLst>
                                    <p:set>
                                      <p:cBhvr>
                                        <p:cTn id="47" dur="1" fill="hold">
                                          <p:stCondLst>
                                            <p:cond delay="0"/>
                                          </p:stCondLst>
                                        </p:cTn>
                                        <p:tgtEl>
                                          <p:spTgt spid="166"/>
                                        </p:tgtEl>
                                        <p:attrNameLst>
                                          <p:attrName>style.visibility</p:attrName>
                                        </p:attrNameLst>
                                      </p:cBhvr>
                                      <p:to>
                                        <p:strVal val="visible"/>
                                      </p:to>
                                    </p:set>
                                  </p:childTnLst>
                                </p:cTn>
                              </p:par>
                            </p:childTnLst>
                          </p:cTn>
                        </p:par>
                        <p:par>
                          <p:cTn id="48" fill="hold">
                            <p:stCondLst>
                              <p:cond delay="3000"/>
                            </p:stCondLst>
                            <p:childTnLst>
                              <p:par>
                                <p:cTn id="49" presetID="0" presetClass="path" presetSubtype="0" accel="50000" decel="50000" fill="hold" grpId="1" nodeType="afterEffect">
                                  <p:stCondLst>
                                    <p:cond delay="0"/>
                                  </p:stCondLst>
                                  <p:childTnLst>
                                    <p:animMotion origin="layout" path="M -3.05556E-6 5.92593E-6 L -3.05556E-6 0.07339 " pathEditMode="relative" ptsTypes="AA">
                                      <p:cBhvr>
                                        <p:cTn id="50" dur="1000" fill="hold"/>
                                        <p:tgtEl>
                                          <p:spTgt spid="166"/>
                                        </p:tgtEl>
                                        <p:attrNameLst>
                                          <p:attrName>ppt_x</p:attrName>
                                          <p:attrName>ppt_y</p:attrName>
                                        </p:attrNameLst>
                                      </p:cBhvr>
                                    </p:animMotion>
                                  </p:childTnLst>
                                </p:cTn>
                              </p:par>
                            </p:childTnLst>
                          </p:cTn>
                        </p:par>
                        <p:par>
                          <p:cTn id="51" fill="hold">
                            <p:stCondLst>
                              <p:cond delay="4000"/>
                            </p:stCondLst>
                            <p:childTnLst>
                              <p:par>
                                <p:cTn id="52" presetID="0" presetClass="path" presetSubtype="0" accel="50000" decel="50000" fill="hold" grpId="2" nodeType="afterEffect">
                                  <p:stCondLst>
                                    <p:cond delay="0"/>
                                  </p:stCondLst>
                                  <p:childTnLst>
                                    <p:animMotion origin="layout" path="M -3.05556E-6 0.07339 L 0.36215 0.07339 " pathEditMode="relative" ptsTypes="AA">
                                      <p:cBhvr>
                                        <p:cTn id="53" dur="1000" fill="hold"/>
                                        <p:tgtEl>
                                          <p:spTgt spid="166"/>
                                        </p:tgtEl>
                                        <p:attrNameLst>
                                          <p:attrName>ppt_x</p:attrName>
                                          <p:attrName>ppt_y</p:attrName>
                                        </p:attrNameLst>
                                      </p:cBhvr>
                                    </p:animMotion>
                                  </p:childTnLst>
                                </p:cTn>
                              </p:par>
                            </p:childTnLst>
                          </p:cTn>
                        </p:par>
                        <p:par>
                          <p:cTn id="54" fill="hold">
                            <p:stCondLst>
                              <p:cond delay="5000"/>
                            </p:stCondLst>
                            <p:childTnLst>
                              <p:par>
                                <p:cTn id="55" presetID="0" presetClass="path" presetSubtype="0" accel="50000" decel="50000" fill="hold" grpId="3" nodeType="afterEffect">
                                  <p:stCondLst>
                                    <p:cond delay="0"/>
                                  </p:stCondLst>
                                  <p:childTnLst>
                                    <p:animMotion origin="layout" path="M 0.36215 0.07339 L 0.36215 0.24144 " pathEditMode="relative" ptsTypes="AA">
                                      <p:cBhvr>
                                        <p:cTn id="56" dur="1000" fill="hold"/>
                                        <p:tgtEl>
                                          <p:spTgt spid="166"/>
                                        </p:tgtEl>
                                        <p:attrNameLst>
                                          <p:attrName>ppt_x</p:attrName>
                                          <p:attrName>ppt_y</p:attrName>
                                        </p:attrNameLst>
                                      </p:cBhvr>
                                    </p:animMotion>
                                  </p:childTnLst>
                                </p:cTn>
                              </p:par>
                            </p:childTnLst>
                          </p:cTn>
                        </p:par>
                        <p:par>
                          <p:cTn id="57" fill="hold">
                            <p:stCondLst>
                              <p:cond delay="6000"/>
                            </p:stCondLst>
                            <p:childTnLst>
                              <p:par>
                                <p:cTn id="58" presetID="4" presetClass="entr" presetSubtype="32" fill="hold" grpId="0" nodeType="afterEffect">
                                  <p:stCondLst>
                                    <p:cond delay="0"/>
                                  </p:stCondLst>
                                  <p:childTnLst>
                                    <p:set>
                                      <p:cBhvr>
                                        <p:cTn id="59" dur="1" fill="hold">
                                          <p:stCondLst>
                                            <p:cond delay="0"/>
                                          </p:stCondLst>
                                        </p:cTn>
                                        <p:tgtEl>
                                          <p:spTgt spid="161"/>
                                        </p:tgtEl>
                                        <p:attrNameLst>
                                          <p:attrName>style.visibility</p:attrName>
                                        </p:attrNameLst>
                                      </p:cBhvr>
                                      <p:to>
                                        <p:strVal val="visible"/>
                                      </p:to>
                                    </p:set>
                                    <p:animEffect transition="in" filter="box(out)">
                                      <p:cBhvr>
                                        <p:cTn id="60" dur="500"/>
                                        <p:tgtEl>
                                          <p:spTgt spid="161"/>
                                        </p:tgtEl>
                                      </p:cBhvr>
                                    </p:animEffect>
                                  </p:childTnLst>
                                </p:cTn>
                              </p:par>
                            </p:childTnLst>
                          </p:cTn>
                        </p:par>
                        <p:par>
                          <p:cTn id="61" fill="hold">
                            <p:stCondLst>
                              <p:cond delay="6500"/>
                            </p:stCondLst>
                            <p:childTnLst>
                              <p:par>
                                <p:cTn id="62" presetID="22" presetClass="entr" presetSubtype="1" fill="hold" nodeType="afterEffect">
                                  <p:stCondLst>
                                    <p:cond delay="0"/>
                                  </p:stCondLst>
                                  <p:childTnLst>
                                    <p:set>
                                      <p:cBhvr>
                                        <p:cTn id="63" dur="1" fill="hold">
                                          <p:stCondLst>
                                            <p:cond delay="0"/>
                                          </p:stCondLst>
                                        </p:cTn>
                                        <p:tgtEl>
                                          <p:spTgt spid="50"/>
                                        </p:tgtEl>
                                        <p:attrNameLst>
                                          <p:attrName>style.visibility</p:attrName>
                                        </p:attrNameLst>
                                      </p:cBhvr>
                                      <p:to>
                                        <p:strVal val="visible"/>
                                      </p:to>
                                    </p:set>
                                    <p:animEffect transition="in" filter="wipe(up)">
                                      <p:cBhvr>
                                        <p:cTn id="64" dur="500"/>
                                        <p:tgtEl>
                                          <p:spTgt spid="50"/>
                                        </p:tgtEl>
                                      </p:cBhvr>
                                    </p:animEffect>
                                  </p:childTnLst>
                                </p:cTn>
                              </p:par>
                            </p:childTnLst>
                          </p:cTn>
                        </p:par>
                        <p:par>
                          <p:cTn id="65" fill="hold">
                            <p:stCondLst>
                              <p:cond delay="7000"/>
                            </p:stCondLst>
                            <p:childTnLst>
                              <p:par>
                                <p:cTn id="66" presetID="0" presetClass="path" presetSubtype="0" accel="50000" decel="50000" fill="hold" grpId="4" nodeType="afterEffect">
                                  <p:stCondLst>
                                    <p:cond delay="0"/>
                                  </p:stCondLst>
                                  <p:childTnLst>
                                    <p:animMotion origin="layout" path="M 0.35364 0.25625 L 0.43246 0.25625 " pathEditMode="relative" ptsTypes="AA">
                                      <p:cBhvr>
                                        <p:cTn id="67" dur="1000" fill="hold"/>
                                        <p:tgtEl>
                                          <p:spTgt spid="166"/>
                                        </p:tgtEl>
                                        <p:attrNameLst>
                                          <p:attrName>ppt_x</p:attrName>
                                          <p:attrName>ppt_y</p:attrName>
                                        </p:attrNameLst>
                                      </p:cBhvr>
                                    </p:animMotion>
                                  </p:childTnLst>
                                </p:cTn>
                              </p:par>
                            </p:childTnLst>
                          </p:cTn>
                        </p:par>
                        <p:par>
                          <p:cTn id="68" fill="hold">
                            <p:stCondLst>
                              <p:cond delay="8000"/>
                            </p:stCondLst>
                            <p:childTnLst>
                              <p:par>
                                <p:cTn id="69" presetID="4" presetClass="entr" presetSubtype="32" fill="hold" grpId="0" nodeType="afterEffect">
                                  <p:stCondLst>
                                    <p:cond delay="0"/>
                                  </p:stCondLst>
                                  <p:childTnLst>
                                    <p:set>
                                      <p:cBhvr>
                                        <p:cTn id="70" dur="1" fill="hold">
                                          <p:stCondLst>
                                            <p:cond delay="0"/>
                                          </p:stCondLst>
                                        </p:cTn>
                                        <p:tgtEl>
                                          <p:spTgt spid="167"/>
                                        </p:tgtEl>
                                        <p:attrNameLst>
                                          <p:attrName>style.visibility</p:attrName>
                                        </p:attrNameLst>
                                      </p:cBhvr>
                                      <p:to>
                                        <p:strVal val="visible"/>
                                      </p:to>
                                    </p:set>
                                    <p:animEffect transition="in" filter="box(out)">
                                      <p:cBhvr>
                                        <p:cTn id="71" dur="500"/>
                                        <p:tgtEl>
                                          <p:spTgt spid="167"/>
                                        </p:tgtEl>
                                      </p:cBhvr>
                                    </p:animEffec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168"/>
                                        </p:tgtEl>
                                        <p:attrNameLst>
                                          <p:attrName>style.visibility</p:attrName>
                                        </p:attrNameLst>
                                      </p:cBhvr>
                                      <p:to>
                                        <p:strVal val="visible"/>
                                      </p:to>
                                    </p:set>
                                  </p:childTnLst>
                                </p:cTn>
                              </p:par>
                            </p:childTnLst>
                          </p:cTn>
                        </p:par>
                        <p:par>
                          <p:cTn id="76" fill="hold">
                            <p:stCondLst>
                              <p:cond delay="0"/>
                            </p:stCondLst>
                            <p:childTnLst>
                              <p:par>
                                <p:cTn id="77" presetID="0" presetClass="path" presetSubtype="0" accel="50000" decel="50000" fill="hold" grpId="1" nodeType="afterEffect">
                                  <p:stCondLst>
                                    <p:cond delay="0"/>
                                  </p:stCondLst>
                                  <p:childTnLst>
                                    <p:animMotion origin="layout" path="M -2.77778E-6 -2.22222E-6 L 0.06302 -2.22222E-6 " pathEditMode="relative" ptsTypes="AA">
                                      <p:cBhvr>
                                        <p:cTn id="78" dur="1000" fill="hold"/>
                                        <p:tgtEl>
                                          <p:spTgt spid="168"/>
                                        </p:tgtEl>
                                        <p:attrNameLst>
                                          <p:attrName>ppt_x</p:attrName>
                                          <p:attrName>ppt_y</p:attrName>
                                        </p:attrNameLst>
                                      </p:cBhvr>
                                    </p:animMotion>
                                  </p:childTnLst>
                                </p:cTn>
                              </p:par>
                            </p:childTnLst>
                          </p:cTn>
                        </p:par>
                        <p:par>
                          <p:cTn id="79" fill="hold">
                            <p:stCondLst>
                              <p:cond delay="1000"/>
                            </p:stCondLst>
                            <p:childTnLst>
                              <p:par>
                                <p:cTn id="80" presetID="0" presetClass="path" presetSubtype="0" accel="50000" decel="50000" fill="hold" grpId="2" nodeType="afterEffect">
                                  <p:stCondLst>
                                    <p:cond delay="0"/>
                                  </p:stCondLst>
                                  <p:childTnLst>
                                    <p:animMotion origin="layout" path="M 0.06302 -2.22222E-6 L 0.06302 -0.19954 " pathEditMode="relative" ptsTypes="AA">
                                      <p:cBhvr>
                                        <p:cTn id="81" dur="1000" fill="hold"/>
                                        <p:tgtEl>
                                          <p:spTgt spid="168"/>
                                        </p:tgtEl>
                                        <p:attrNameLst>
                                          <p:attrName>ppt_x</p:attrName>
                                          <p:attrName>ppt_y</p:attrName>
                                        </p:attrNameLst>
                                      </p:cBhvr>
                                    </p:animMotion>
                                  </p:childTnLst>
                                </p:cTn>
                              </p:par>
                            </p:childTnLst>
                          </p:cTn>
                        </p:par>
                        <p:par>
                          <p:cTn id="82" fill="hold">
                            <p:stCondLst>
                              <p:cond delay="2000"/>
                            </p:stCondLst>
                            <p:childTnLst>
                              <p:par>
                                <p:cTn id="83" presetID="0" presetClass="path" presetSubtype="0" accel="50000" decel="50000" fill="hold" grpId="3" nodeType="afterEffect">
                                  <p:stCondLst>
                                    <p:cond delay="0"/>
                                  </p:stCondLst>
                                  <p:childTnLst>
                                    <p:animMotion origin="layout" path="M 0.06302 -0.19953 L -0.04722 -0.19953 " pathEditMode="relative" ptsTypes="AA">
                                      <p:cBhvr>
                                        <p:cTn id="84" dur="1000" fill="hold"/>
                                        <p:tgtEl>
                                          <p:spTgt spid="168"/>
                                        </p:tgtEl>
                                        <p:attrNameLst>
                                          <p:attrName>ppt_x</p:attrName>
                                          <p:attrName>ppt_y</p:attrName>
                                        </p:attrNameLst>
                                      </p:cBhvr>
                                    </p:animMotion>
                                  </p:childTnLst>
                                </p:cTn>
                              </p:par>
                            </p:childTnLst>
                          </p:cTn>
                        </p:par>
                        <p:par>
                          <p:cTn id="85" fill="hold">
                            <p:stCondLst>
                              <p:cond delay="3000"/>
                            </p:stCondLst>
                            <p:childTnLst>
                              <p:par>
                                <p:cTn id="86" presetID="0" presetClass="path" presetSubtype="0" accel="50000" decel="50000" fill="hold" grpId="4" nodeType="afterEffect">
                                  <p:stCondLst>
                                    <p:cond delay="0"/>
                                  </p:stCondLst>
                                  <p:childTnLst>
                                    <p:animMotion origin="layout" path="M -0.04722 -0.19954 L -0.04722 -0.2625 " pathEditMode="relative" ptsTypes="AA">
                                      <p:cBhvr>
                                        <p:cTn id="87" dur="1000" fill="hold"/>
                                        <p:tgtEl>
                                          <p:spTgt spid="168"/>
                                        </p:tgtEl>
                                        <p:attrNameLst>
                                          <p:attrName>ppt_x</p:attrName>
                                          <p:attrName>ppt_y</p:attrName>
                                        </p:attrNameLst>
                                      </p:cBhvr>
                                    </p:animMotion>
                                  </p:childTnLst>
                                </p:cTn>
                              </p:par>
                            </p:childTnLst>
                          </p:cTn>
                        </p:par>
                        <p:par>
                          <p:cTn id="88" fill="hold">
                            <p:stCondLst>
                              <p:cond delay="4000"/>
                            </p:stCondLst>
                            <p:childTnLst>
                              <p:par>
                                <p:cTn id="89" presetID="4" presetClass="entr" presetSubtype="16" fill="hold" grpId="0" nodeType="afterEffect">
                                  <p:stCondLst>
                                    <p:cond delay="0"/>
                                  </p:stCondLst>
                                  <p:childTnLst>
                                    <p:set>
                                      <p:cBhvr>
                                        <p:cTn id="90" dur="1" fill="hold">
                                          <p:stCondLst>
                                            <p:cond delay="0"/>
                                          </p:stCondLst>
                                        </p:cTn>
                                        <p:tgtEl>
                                          <p:spTgt spid="58"/>
                                        </p:tgtEl>
                                        <p:attrNameLst>
                                          <p:attrName>style.visibility</p:attrName>
                                        </p:attrNameLst>
                                      </p:cBhvr>
                                      <p:to>
                                        <p:strVal val="visible"/>
                                      </p:to>
                                    </p:set>
                                    <p:animEffect transition="in" filter="box(in)">
                                      <p:cBhvr>
                                        <p:cTn id="91" dur="500"/>
                                        <p:tgtEl>
                                          <p:spTgt spid="58"/>
                                        </p:tgtEl>
                                      </p:cBhvr>
                                    </p:animEffect>
                                  </p:childTnLst>
                                </p:cTn>
                              </p:par>
                            </p:childTnLst>
                          </p:cTn>
                        </p:par>
                        <p:par>
                          <p:cTn id="92" fill="hold">
                            <p:stCondLst>
                              <p:cond delay="4500"/>
                            </p:stCondLst>
                            <p:childTnLst>
                              <p:par>
                                <p:cTn id="93" presetID="1" presetClass="entr" presetSubtype="0" fill="hold" grpId="0" nodeType="afterEffect">
                                  <p:stCondLst>
                                    <p:cond delay="0"/>
                                  </p:stCondLst>
                                  <p:childTnLst>
                                    <p:set>
                                      <p:cBhvr>
                                        <p:cTn id="94" dur="1" fill="hold">
                                          <p:stCondLst>
                                            <p:cond delay="0"/>
                                          </p:stCondLst>
                                        </p:cTn>
                                        <p:tgtEl>
                                          <p:spTgt spid="169"/>
                                        </p:tgtEl>
                                        <p:attrNameLst>
                                          <p:attrName>style.visibility</p:attrName>
                                        </p:attrNameLst>
                                      </p:cBhvr>
                                      <p:to>
                                        <p:strVal val="visible"/>
                                      </p:to>
                                    </p:set>
                                  </p:childTnLst>
                                </p:cTn>
                              </p:par>
                            </p:childTnLst>
                          </p:cTn>
                        </p:par>
                        <p:par>
                          <p:cTn id="95" fill="hold">
                            <p:stCondLst>
                              <p:cond delay="4500"/>
                            </p:stCondLst>
                            <p:childTnLst>
                              <p:par>
                                <p:cTn id="96" presetID="0" presetClass="path" presetSubtype="0" accel="50000" decel="50000" fill="hold" grpId="1" nodeType="afterEffect">
                                  <p:stCondLst>
                                    <p:cond delay="0"/>
                                  </p:stCondLst>
                                  <p:childTnLst>
                                    <p:animMotion origin="layout" path="M -5.55556E-7 2.59259E-6 L -5.55556E-7 0.05232 " pathEditMode="relative" ptsTypes="AA">
                                      <p:cBhvr>
                                        <p:cTn id="97" dur="1000" fill="hold"/>
                                        <p:tgtEl>
                                          <p:spTgt spid="169"/>
                                        </p:tgtEl>
                                        <p:attrNameLst>
                                          <p:attrName>ppt_x</p:attrName>
                                          <p:attrName>ppt_y</p:attrName>
                                        </p:attrNameLst>
                                      </p:cBhvr>
                                    </p:animMotion>
                                  </p:childTnLst>
                                </p:cTn>
                              </p:par>
                            </p:childTnLst>
                          </p:cTn>
                        </p:par>
                        <p:par>
                          <p:cTn id="98" fill="hold">
                            <p:stCondLst>
                              <p:cond delay="5500"/>
                            </p:stCondLst>
                            <p:childTnLst>
                              <p:par>
                                <p:cTn id="99" presetID="0" presetClass="path" presetSubtype="0" accel="50000" decel="50000" fill="hold" grpId="2" nodeType="afterEffect">
                                  <p:stCondLst>
                                    <p:cond delay="0"/>
                                  </p:stCondLst>
                                  <p:childTnLst>
                                    <p:animMotion origin="layout" path="M -5.55556E-7 0.05232 L 0.27552 0.05232 " pathEditMode="relative" ptsTypes="AA">
                                      <p:cBhvr>
                                        <p:cTn id="100" dur="1000" fill="hold"/>
                                        <p:tgtEl>
                                          <p:spTgt spid="169"/>
                                        </p:tgtEl>
                                        <p:attrNameLst>
                                          <p:attrName>ppt_x</p:attrName>
                                          <p:attrName>ppt_y</p:attrName>
                                        </p:attrNameLst>
                                      </p:cBhvr>
                                    </p:animMotion>
                                  </p:childTnLst>
                                </p:cTn>
                              </p:par>
                            </p:childTnLst>
                          </p:cTn>
                        </p:par>
                        <p:par>
                          <p:cTn id="101" fill="hold">
                            <p:stCondLst>
                              <p:cond delay="6500"/>
                            </p:stCondLst>
                            <p:childTnLst>
                              <p:par>
                                <p:cTn id="102" presetID="0" presetClass="path" presetSubtype="0" accel="50000" decel="50000" fill="hold" grpId="3" nodeType="afterEffect">
                                  <p:stCondLst>
                                    <p:cond delay="0"/>
                                  </p:stCondLst>
                                  <p:childTnLst>
                                    <p:animMotion origin="layout" path="M 0.27448 0.04028 L 0.27448 -0.06458 " pathEditMode="relative" rAng="0" ptsTypes="AA">
                                      <p:cBhvr>
                                        <p:cTn id="103" dur="1000" fill="hold"/>
                                        <p:tgtEl>
                                          <p:spTgt spid="169"/>
                                        </p:tgtEl>
                                        <p:attrNameLst>
                                          <p:attrName>ppt_x</p:attrName>
                                          <p:attrName>ppt_y</p:attrName>
                                        </p:attrNameLst>
                                      </p:cBhvr>
                                      <p:rCtr x="0" y="-5255"/>
                                    </p:animMotion>
                                  </p:childTnLst>
                                </p:cTn>
                              </p:par>
                            </p:childTnLst>
                          </p:cTn>
                        </p:par>
                        <p:par>
                          <p:cTn id="104" fill="hold">
                            <p:stCondLst>
                              <p:cond delay="7500"/>
                            </p:stCondLst>
                            <p:childTnLst>
                              <p:par>
                                <p:cTn id="105" presetID="0" presetClass="path" presetSubtype="0" accel="50000" decel="50000" fill="hold" grpId="4" nodeType="afterEffect">
                                  <p:stCondLst>
                                    <p:cond delay="0"/>
                                  </p:stCondLst>
                                  <p:childTnLst>
                                    <p:animMotion origin="layout" path="M 0.2717 -0.05763 L 0.38195 -0.05763 " pathEditMode="relative" rAng="0" ptsTypes="AA">
                                      <p:cBhvr>
                                        <p:cTn id="106" dur="1000" fill="hold"/>
                                        <p:tgtEl>
                                          <p:spTgt spid="169"/>
                                        </p:tgtEl>
                                        <p:attrNameLst>
                                          <p:attrName>ppt_x</p:attrName>
                                          <p:attrName>ppt_y</p:attrName>
                                        </p:attrNameLst>
                                      </p:cBhvr>
                                      <p:rCtr x="5503" y="0"/>
                                    </p:animMotion>
                                  </p:childTnLst>
                                </p:cTn>
                              </p:par>
                            </p:childTnLst>
                          </p:cTn>
                        </p:par>
                        <p:par>
                          <p:cTn id="107" fill="hold">
                            <p:stCondLst>
                              <p:cond delay="8500"/>
                            </p:stCondLst>
                            <p:childTnLst>
                              <p:par>
                                <p:cTn id="108" presetID="0" presetClass="path" presetSubtype="0" accel="50000" decel="50000" fill="hold" grpId="5" nodeType="afterEffect">
                                  <p:stCondLst>
                                    <p:cond delay="0"/>
                                  </p:stCondLst>
                                  <p:childTnLst>
                                    <p:animMotion origin="layout" path="M 0.38195 -0.06226 L 0.38195 0.00093 " pathEditMode="relative" rAng="0" ptsTypes="AA">
                                      <p:cBhvr>
                                        <p:cTn id="109" dur="1000" fill="hold"/>
                                        <p:tgtEl>
                                          <p:spTgt spid="169"/>
                                        </p:tgtEl>
                                        <p:attrNameLst>
                                          <p:attrName>ppt_x</p:attrName>
                                          <p:attrName>ppt_y</p:attrName>
                                        </p:attrNameLst>
                                      </p:cBhvr>
                                      <p:rCtr x="0" y="3148"/>
                                    </p:animMotion>
                                  </p:childTnLst>
                                </p:cTn>
                              </p:par>
                            </p:childTnLst>
                          </p:cTn>
                        </p:par>
                        <p:par>
                          <p:cTn id="110" fill="hold">
                            <p:stCondLst>
                              <p:cond delay="9500"/>
                            </p:stCondLst>
                            <p:childTnLst>
                              <p:par>
                                <p:cTn id="111" presetID="4" presetClass="entr" presetSubtype="32" fill="hold" grpId="0" nodeType="afterEffect">
                                  <p:stCondLst>
                                    <p:cond delay="0"/>
                                  </p:stCondLst>
                                  <p:childTnLst>
                                    <p:set>
                                      <p:cBhvr>
                                        <p:cTn id="112" dur="1" fill="hold">
                                          <p:stCondLst>
                                            <p:cond delay="0"/>
                                          </p:stCondLst>
                                        </p:cTn>
                                        <p:tgtEl>
                                          <p:spTgt spid="59"/>
                                        </p:tgtEl>
                                        <p:attrNameLst>
                                          <p:attrName>style.visibility</p:attrName>
                                        </p:attrNameLst>
                                      </p:cBhvr>
                                      <p:to>
                                        <p:strVal val="visible"/>
                                      </p:to>
                                    </p:set>
                                    <p:animEffect transition="in" filter="box(out)">
                                      <p:cBhvr>
                                        <p:cTn id="113" dur="500"/>
                                        <p:tgtEl>
                                          <p:spTgt spid="59"/>
                                        </p:tgtEl>
                                      </p:cBhvr>
                                    </p:animEffect>
                                  </p:childTnLst>
                                </p:cTn>
                              </p:par>
                            </p:childTnLst>
                          </p:cTn>
                        </p:par>
                      </p:childTnLst>
                    </p:cTn>
                  </p:par>
                  <p:par>
                    <p:cTn id="114" fill="hold">
                      <p:stCondLst>
                        <p:cond delay="indefinite"/>
                      </p:stCondLst>
                      <p:childTnLst>
                        <p:par>
                          <p:cTn id="115" fill="hold">
                            <p:stCondLst>
                              <p:cond delay="0"/>
                            </p:stCondLst>
                            <p:childTnLst>
                              <p:par>
                                <p:cTn id="116" presetID="1" presetClass="entr" presetSubtype="0" fill="hold" grpId="0" nodeType="clickEffect">
                                  <p:stCondLst>
                                    <p:cond delay="0"/>
                                  </p:stCondLst>
                                  <p:childTnLst>
                                    <p:set>
                                      <p:cBhvr>
                                        <p:cTn id="117" dur="1" fill="hold">
                                          <p:stCondLst>
                                            <p:cond delay="0"/>
                                          </p:stCondLst>
                                        </p:cTn>
                                        <p:tgtEl>
                                          <p:spTgt spid="170"/>
                                        </p:tgtEl>
                                        <p:attrNameLst>
                                          <p:attrName>style.visibility</p:attrName>
                                        </p:attrNameLst>
                                      </p:cBhvr>
                                      <p:to>
                                        <p:strVal val="visible"/>
                                      </p:to>
                                    </p:set>
                                  </p:childTnLst>
                                </p:cTn>
                              </p:par>
                            </p:childTnLst>
                          </p:cTn>
                        </p:par>
                        <p:par>
                          <p:cTn id="118" fill="hold">
                            <p:stCondLst>
                              <p:cond delay="0"/>
                            </p:stCondLst>
                            <p:childTnLst>
                              <p:par>
                                <p:cTn id="119" presetID="0" presetClass="path" presetSubtype="0" accel="50000" decel="50000" fill="hold" grpId="1" nodeType="afterEffect">
                                  <p:stCondLst>
                                    <p:cond delay="0"/>
                                  </p:stCondLst>
                                  <p:childTnLst>
                                    <p:animMotion origin="layout" path="M 3.05556E-6 5.92593E-6 L 0.11822 5.92593E-6 " pathEditMode="relative" ptsTypes="AA">
                                      <p:cBhvr>
                                        <p:cTn id="120" dur="1000" fill="hold"/>
                                        <p:tgtEl>
                                          <p:spTgt spid="170"/>
                                        </p:tgtEl>
                                        <p:attrNameLst>
                                          <p:attrName>ppt_x</p:attrName>
                                          <p:attrName>ppt_y</p:attrName>
                                        </p:attrNameLst>
                                      </p:cBhvr>
                                    </p:animMotion>
                                  </p:childTnLst>
                                </p:cTn>
                              </p:par>
                            </p:childTnLst>
                          </p:cTn>
                        </p:par>
                        <p:par>
                          <p:cTn id="121" fill="hold">
                            <p:stCondLst>
                              <p:cond delay="1000"/>
                            </p:stCondLst>
                            <p:childTnLst>
                              <p:par>
                                <p:cTn id="122" presetID="0" presetClass="path" presetSubtype="0" accel="50000" decel="50000" fill="hold" grpId="2" nodeType="afterEffect">
                                  <p:stCondLst>
                                    <p:cond delay="0"/>
                                  </p:stCondLst>
                                  <p:childTnLst>
                                    <p:animMotion origin="layout" path="M 0.11128 -4.44444E-6 L 0.11128 0.22037 " pathEditMode="relative" rAng="0" ptsTypes="AA">
                                      <p:cBhvr>
                                        <p:cTn id="123" dur="1000" fill="hold"/>
                                        <p:tgtEl>
                                          <p:spTgt spid="170"/>
                                        </p:tgtEl>
                                        <p:attrNameLst>
                                          <p:attrName>ppt_x</p:attrName>
                                          <p:attrName>ppt_y</p:attrName>
                                        </p:attrNameLst>
                                      </p:cBhvr>
                                      <p:rCtr x="0" y="11019"/>
                                    </p:animMotion>
                                  </p:childTnLst>
                                </p:cTn>
                              </p:par>
                            </p:childTnLst>
                          </p:cTn>
                        </p:par>
                        <p:par>
                          <p:cTn id="124" fill="hold">
                            <p:stCondLst>
                              <p:cond delay="2000"/>
                            </p:stCondLst>
                            <p:childTnLst>
                              <p:par>
                                <p:cTn id="125" presetID="0" presetClass="path" presetSubtype="0" accel="50000" decel="50000" fill="hold" grpId="3" nodeType="afterEffect">
                                  <p:stCondLst>
                                    <p:cond delay="0"/>
                                  </p:stCondLst>
                                  <p:childTnLst>
                                    <p:animMotion origin="layout" path="M 0.11129 0.22037 L 0.15851 0.22037 " pathEditMode="relative" rAng="0" ptsTypes="AA">
                                      <p:cBhvr>
                                        <p:cTn id="126" dur="1000" fill="hold"/>
                                        <p:tgtEl>
                                          <p:spTgt spid="170"/>
                                        </p:tgtEl>
                                        <p:attrNameLst>
                                          <p:attrName>ppt_x</p:attrName>
                                          <p:attrName>ppt_y</p:attrName>
                                        </p:attrNameLst>
                                      </p:cBhvr>
                                      <p:rCtr x="2361"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nimBg="1"/>
      <p:bldP spid="59" grpId="0" animBg="1"/>
      <p:bldP spid="161" grpId="0" animBg="1"/>
      <p:bldP spid="162" grpId="0" animBg="1"/>
      <p:bldP spid="163" grpId="0" animBg="1"/>
      <p:bldP spid="163" grpId="1" animBg="1"/>
      <p:bldP spid="163" grpId="2" animBg="1"/>
      <p:bldP spid="164" grpId="0" animBg="1"/>
      <p:bldP spid="164" grpId="1" animBg="1"/>
      <p:bldP spid="165" grpId="0" animBg="1"/>
      <p:bldP spid="165" grpId="1" animBg="1"/>
      <p:bldP spid="165" grpId="2" animBg="1"/>
      <p:bldP spid="165" grpId="3" animBg="1"/>
      <p:bldP spid="165" grpId="4" animBg="1"/>
      <p:bldP spid="165" grpId="5" animBg="1"/>
      <p:bldP spid="166" grpId="0" animBg="1"/>
      <p:bldP spid="166" grpId="1" animBg="1"/>
      <p:bldP spid="166" grpId="2" animBg="1"/>
      <p:bldP spid="166" grpId="3" animBg="1"/>
      <p:bldP spid="166" grpId="4" animBg="1"/>
      <p:bldP spid="167" grpId="0" animBg="1"/>
      <p:bldP spid="168" grpId="0" animBg="1"/>
      <p:bldP spid="168" grpId="1" animBg="1"/>
      <p:bldP spid="168" grpId="2" animBg="1"/>
      <p:bldP spid="168" grpId="3" animBg="1"/>
      <p:bldP spid="168" grpId="4" animBg="1"/>
      <p:bldP spid="169" grpId="0" animBg="1"/>
      <p:bldP spid="169" grpId="1" animBg="1"/>
      <p:bldP spid="169" grpId="2" animBg="1"/>
      <p:bldP spid="169" grpId="3" animBg="1"/>
      <p:bldP spid="169" grpId="4" animBg="1"/>
      <p:bldP spid="169" grpId="5" animBg="1"/>
      <p:bldP spid="170" grpId="0" animBg="1"/>
      <p:bldP spid="170" grpId="1" animBg="1"/>
      <p:bldP spid="170" grpId="2" animBg="1"/>
      <p:bldP spid="170" grpId="3"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高速联想寄存器（</a:t>
            </a:r>
            <a:r>
              <a:rPr lang="en-US" altLang="zh-CN" dirty="0"/>
              <a:t>TLB</a:t>
            </a:r>
            <a:r>
              <a:rPr lang="zh-CN" altLang="en-US" dirty="0"/>
              <a:t>）</a:t>
            </a:r>
          </a:p>
        </p:txBody>
      </p:sp>
      <p:sp>
        <p:nvSpPr>
          <p:cNvPr id="3" name="Content Placeholder 2"/>
          <p:cNvSpPr>
            <a:spLocks noGrp="1"/>
          </p:cNvSpPr>
          <p:nvPr>
            <p:ph idx="1"/>
          </p:nvPr>
        </p:nvSpPr>
        <p:spPr/>
        <p:txBody>
          <a:bodyPr/>
          <a:lstStyle/>
          <a:p>
            <a:r>
              <a:rPr lang="zh-CN" altLang="en-US" dirty="0"/>
              <a:t>本质上是地址转换硬件中的一个小型存储器，用于缓存段表和页表，从而减少对内存的访问次数</a:t>
            </a:r>
          </a:p>
        </p:txBody>
      </p:sp>
      <p:sp>
        <p:nvSpPr>
          <p:cNvPr id="4" name="Date Placeholder 3"/>
          <p:cNvSpPr>
            <a:spLocks noGrp="1"/>
          </p:cNvSpPr>
          <p:nvPr>
            <p:ph type="dt" sz="half" idx="10"/>
          </p:nvPr>
        </p:nvSpPr>
        <p:spPr/>
        <p:txBody>
          <a:bodyPr/>
          <a:lstStyle/>
          <a:p>
            <a:fld id="{9D0DC564-046D-4666-9BBD-11DEAE12DB53}"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94</a:t>
            </a:fld>
            <a:endParaRPr lang="zh-CN" altLang="en-US" dirty="0"/>
          </a:p>
        </p:txBody>
      </p:sp>
      <p:pic>
        <p:nvPicPr>
          <p:cNvPr id="7" name="Picture 6"/>
          <p:cNvPicPr>
            <a:picLocks noChangeAspect="1"/>
          </p:cNvPicPr>
          <p:nvPr/>
        </p:nvPicPr>
        <p:blipFill>
          <a:blip r:embed="rId2"/>
          <a:stretch>
            <a:fillRect/>
          </a:stretch>
        </p:blipFill>
        <p:spPr>
          <a:xfrm>
            <a:off x="1385887" y="2277194"/>
            <a:ext cx="6372225" cy="4248150"/>
          </a:xfrm>
          <a:prstGeom prst="rect">
            <a:avLst/>
          </a:prstGeom>
        </p:spPr>
      </p:pic>
      <p:sp>
        <p:nvSpPr>
          <p:cNvPr id="8" name="Rounded Rectangle 7"/>
          <p:cNvSpPr/>
          <p:nvPr/>
        </p:nvSpPr>
        <p:spPr>
          <a:xfrm>
            <a:off x="2051720" y="3068960"/>
            <a:ext cx="1656184" cy="1224136"/>
          </a:xfrm>
          <a:prstGeom prst="roundRect">
            <a:avLst/>
          </a:prstGeom>
          <a:solidFill>
            <a:srgbClr val="FF6600">
              <a:alpha val="40000"/>
            </a:srgbClr>
          </a:solidFill>
          <a:ln>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889762661"/>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存储管理技术的发展</a:t>
            </a:r>
          </a:p>
        </p:txBody>
      </p:sp>
      <p:sp>
        <p:nvSpPr>
          <p:cNvPr id="4" name="Date Placeholder 3"/>
          <p:cNvSpPr>
            <a:spLocks noGrp="1"/>
          </p:cNvSpPr>
          <p:nvPr>
            <p:ph type="dt" sz="half" idx="10"/>
          </p:nvPr>
        </p:nvSpPr>
        <p:spPr/>
        <p:txBody>
          <a:bodyPr/>
          <a:lstStyle/>
          <a:p>
            <a:fld id="{6B988665-F9AD-4647-8EC5-F0A7FD13F4DA}"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95</a:t>
            </a:fld>
            <a:endParaRPr lang="zh-CN" altLang="en-US" dirty="0"/>
          </a:p>
        </p:txBody>
      </p:sp>
      <p:grpSp>
        <p:nvGrpSpPr>
          <p:cNvPr id="7" name="Group 206"/>
          <p:cNvGrpSpPr>
            <a:grpSpLocks/>
          </p:cNvGrpSpPr>
          <p:nvPr/>
        </p:nvGrpSpPr>
        <p:grpSpPr bwMode="auto">
          <a:xfrm>
            <a:off x="738832" y="2231603"/>
            <a:ext cx="1241425" cy="1419225"/>
            <a:chOff x="465" y="1270"/>
            <a:chExt cx="782" cy="894"/>
          </a:xfrm>
        </p:grpSpPr>
        <p:grpSp>
          <p:nvGrpSpPr>
            <p:cNvPr id="8" name="Group 200"/>
            <p:cNvGrpSpPr>
              <a:grpSpLocks/>
            </p:cNvGrpSpPr>
            <p:nvPr/>
          </p:nvGrpSpPr>
          <p:grpSpPr bwMode="auto">
            <a:xfrm>
              <a:off x="465" y="1270"/>
              <a:ext cx="782" cy="618"/>
              <a:chOff x="465" y="1270"/>
              <a:chExt cx="1180" cy="582"/>
            </a:xfrm>
          </p:grpSpPr>
          <p:sp>
            <p:nvSpPr>
              <p:cNvPr id="10" name="Rectangle 7"/>
              <p:cNvSpPr>
                <a:spLocks noChangeArrowheads="1"/>
              </p:cNvSpPr>
              <p:nvPr/>
            </p:nvSpPr>
            <p:spPr bwMode="auto">
              <a:xfrm>
                <a:off x="696" y="1270"/>
                <a:ext cx="324" cy="149"/>
              </a:xfrm>
              <a:prstGeom prst="rect">
                <a:avLst/>
              </a:prstGeom>
              <a:noFill/>
              <a:ln w="20638">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楷体" panose="02010609060101010101" pitchFamily="49" charset="-122"/>
                  <a:cs typeface="Times New Roman" panose="02020603050405020304" pitchFamily="18" charset="0"/>
                </a:endParaRPr>
              </a:p>
            </p:txBody>
          </p:sp>
          <p:sp>
            <p:nvSpPr>
              <p:cNvPr id="11" name="Rectangle 10"/>
              <p:cNvSpPr>
                <a:spLocks noChangeArrowheads="1"/>
              </p:cNvSpPr>
              <p:nvPr/>
            </p:nvSpPr>
            <p:spPr bwMode="auto">
              <a:xfrm>
                <a:off x="465" y="1487"/>
                <a:ext cx="324" cy="149"/>
              </a:xfrm>
              <a:prstGeom prst="rect">
                <a:avLst/>
              </a:prstGeom>
              <a:noFill/>
              <a:ln w="20638">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楷体" panose="02010609060101010101" pitchFamily="49" charset="-122"/>
                  <a:cs typeface="Times New Roman" panose="02020603050405020304" pitchFamily="18" charset="0"/>
                </a:endParaRPr>
              </a:p>
            </p:txBody>
          </p:sp>
          <p:sp>
            <p:nvSpPr>
              <p:cNvPr id="12" name="Rectangle 13"/>
              <p:cNvSpPr>
                <a:spLocks noChangeArrowheads="1"/>
              </p:cNvSpPr>
              <p:nvPr/>
            </p:nvSpPr>
            <p:spPr bwMode="auto">
              <a:xfrm>
                <a:off x="927" y="1489"/>
                <a:ext cx="325" cy="149"/>
              </a:xfrm>
              <a:prstGeom prst="rect">
                <a:avLst/>
              </a:prstGeom>
              <a:noFill/>
              <a:ln w="20638">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楷体" panose="02010609060101010101" pitchFamily="49" charset="-122"/>
                  <a:cs typeface="Times New Roman" panose="02020603050405020304" pitchFamily="18" charset="0"/>
                </a:endParaRPr>
              </a:p>
            </p:txBody>
          </p:sp>
          <p:sp>
            <p:nvSpPr>
              <p:cNvPr id="13" name="Rectangle 16"/>
              <p:cNvSpPr>
                <a:spLocks noChangeArrowheads="1"/>
              </p:cNvSpPr>
              <p:nvPr/>
            </p:nvSpPr>
            <p:spPr bwMode="auto">
              <a:xfrm>
                <a:off x="465" y="1703"/>
                <a:ext cx="324" cy="149"/>
              </a:xfrm>
              <a:prstGeom prst="rect">
                <a:avLst/>
              </a:prstGeom>
              <a:noFill/>
              <a:ln w="20638">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楷体" panose="02010609060101010101" pitchFamily="49" charset="-122"/>
                  <a:cs typeface="Times New Roman" panose="02020603050405020304" pitchFamily="18" charset="0"/>
                </a:endParaRPr>
              </a:p>
            </p:txBody>
          </p:sp>
          <p:sp>
            <p:nvSpPr>
              <p:cNvPr id="14" name="Rectangle 19"/>
              <p:cNvSpPr>
                <a:spLocks noChangeArrowheads="1"/>
              </p:cNvSpPr>
              <p:nvPr/>
            </p:nvSpPr>
            <p:spPr bwMode="auto">
              <a:xfrm>
                <a:off x="927" y="1703"/>
                <a:ext cx="325" cy="149"/>
              </a:xfrm>
              <a:prstGeom prst="rect">
                <a:avLst/>
              </a:prstGeom>
              <a:noFill/>
              <a:ln w="20638">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楷体" panose="02010609060101010101" pitchFamily="49" charset="-122"/>
                  <a:cs typeface="Times New Roman" panose="02020603050405020304" pitchFamily="18" charset="0"/>
                </a:endParaRPr>
              </a:p>
            </p:txBody>
          </p:sp>
          <p:sp>
            <p:nvSpPr>
              <p:cNvPr id="15" name="Rectangle 22"/>
              <p:cNvSpPr>
                <a:spLocks noChangeArrowheads="1"/>
              </p:cNvSpPr>
              <p:nvPr/>
            </p:nvSpPr>
            <p:spPr bwMode="auto">
              <a:xfrm>
                <a:off x="1320" y="1703"/>
                <a:ext cx="325" cy="149"/>
              </a:xfrm>
              <a:prstGeom prst="rect">
                <a:avLst/>
              </a:prstGeom>
              <a:noFill/>
              <a:ln w="20638">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楷体" panose="02010609060101010101" pitchFamily="49" charset="-122"/>
                  <a:cs typeface="Times New Roman" panose="02020603050405020304" pitchFamily="18" charset="0"/>
                </a:endParaRPr>
              </a:p>
            </p:txBody>
          </p:sp>
          <p:sp>
            <p:nvSpPr>
              <p:cNvPr id="16" name="Rectangle 25"/>
              <p:cNvSpPr>
                <a:spLocks noChangeArrowheads="1"/>
              </p:cNvSpPr>
              <p:nvPr/>
            </p:nvSpPr>
            <p:spPr bwMode="auto">
              <a:xfrm>
                <a:off x="1088" y="1676"/>
                <a:ext cx="394" cy="27"/>
              </a:xfrm>
              <a:prstGeom prst="rect">
                <a:avLst/>
              </a:prstGeom>
              <a:noFill/>
              <a:ln w="20638">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楷体" panose="02010609060101010101" pitchFamily="49" charset="-122"/>
                  <a:cs typeface="Times New Roman" panose="02020603050405020304" pitchFamily="18" charset="0"/>
                </a:endParaRPr>
              </a:p>
            </p:txBody>
          </p:sp>
          <p:sp>
            <p:nvSpPr>
              <p:cNvPr id="17" name="Line 26"/>
              <p:cNvSpPr>
                <a:spLocks noChangeShapeType="1"/>
              </p:cNvSpPr>
              <p:nvPr/>
            </p:nvSpPr>
            <p:spPr bwMode="auto">
              <a:xfrm>
                <a:off x="858" y="1408"/>
                <a:ext cx="1" cy="41"/>
              </a:xfrm>
              <a:prstGeom prst="line">
                <a:avLst/>
              </a:prstGeom>
              <a:noFill/>
              <a:ln w="20638">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8" name="Line 27"/>
              <p:cNvSpPr>
                <a:spLocks noChangeShapeType="1"/>
              </p:cNvSpPr>
              <p:nvPr/>
            </p:nvSpPr>
            <p:spPr bwMode="auto">
              <a:xfrm>
                <a:off x="627" y="1635"/>
                <a:ext cx="0" cy="68"/>
              </a:xfrm>
              <a:prstGeom prst="line">
                <a:avLst/>
              </a:prstGeom>
              <a:noFill/>
              <a:ln w="20638">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9" name="Line 28"/>
              <p:cNvSpPr>
                <a:spLocks noChangeShapeType="1"/>
              </p:cNvSpPr>
              <p:nvPr/>
            </p:nvSpPr>
            <p:spPr bwMode="auto">
              <a:xfrm>
                <a:off x="1088" y="1635"/>
                <a:ext cx="1" cy="68"/>
              </a:xfrm>
              <a:prstGeom prst="line">
                <a:avLst/>
              </a:prstGeom>
              <a:noFill/>
              <a:ln w="20638">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0" name="Line 30"/>
              <p:cNvSpPr>
                <a:spLocks noChangeShapeType="1"/>
              </p:cNvSpPr>
              <p:nvPr/>
            </p:nvSpPr>
            <p:spPr bwMode="auto">
              <a:xfrm>
                <a:off x="638" y="1457"/>
                <a:ext cx="43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1" name="Line 31"/>
              <p:cNvSpPr>
                <a:spLocks noChangeShapeType="1"/>
              </p:cNvSpPr>
              <p:nvPr/>
            </p:nvSpPr>
            <p:spPr bwMode="auto">
              <a:xfrm>
                <a:off x="638" y="1454"/>
                <a:ext cx="0" cy="3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2" name="Line 32"/>
              <p:cNvSpPr>
                <a:spLocks noChangeShapeType="1"/>
              </p:cNvSpPr>
              <p:nvPr/>
            </p:nvSpPr>
            <p:spPr bwMode="auto">
              <a:xfrm>
                <a:off x="1074" y="1457"/>
                <a:ext cx="0" cy="3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grpSp>
        <p:sp>
          <p:nvSpPr>
            <p:cNvPr id="9" name="Text Box 201"/>
            <p:cNvSpPr txBox="1">
              <a:spLocks noChangeArrowheads="1"/>
            </p:cNvSpPr>
            <p:nvPr/>
          </p:nvSpPr>
          <p:spPr bwMode="auto">
            <a:xfrm>
              <a:off x="612" y="1933"/>
              <a:ext cx="40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1800" b="1">
                  <a:solidFill>
                    <a:srgbClr val="FF3300"/>
                  </a:solidFill>
                  <a:ea typeface="楷体" panose="02010609060101010101" pitchFamily="49" charset="-122"/>
                  <a:cs typeface="Times New Roman" panose="02020603050405020304" pitchFamily="18" charset="0"/>
                </a:rPr>
                <a:t>覆盖</a:t>
              </a:r>
            </a:p>
          </p:txBody>
        </p:sp>
      </p:grpSp>
      <p:grpSp>
        <p:nvGrpSpPr>
          <p:cNvPr id="23" name="Group 210"/>
          <p:cNvGrpSpPr>
            <a:grpSpLocks/>
          </p:cNvGrpSpPr>
          <p:nvPr/>
        </p:nvGrpSpPr>
        <p:grpSpPr bwMode="auto">
          <a:xfrm>
            <a:off x="1692919" y="4581103"/>
            <a:ext cx="2087563" cy="1735137"/>
            <a:chOff x="1066" y="3022"/>
            <a:chExt cx="1315" cy="1093"/>
          </a:xfrm>
        </p:grpSpPr>
        <p:grpSp>
          <p:nvGrpSpPr>
            <p:cNvPr id="24" name="Group 199"/>
            <p:cNvGrpSpPr>
              <a:grpSpLocks/>
            </p:cNvGrpSpPr>
            <p:nvPr/>
          </p:nvGrpSpPr>
          <p:grpSpPr bwMode="auto">
            <a:xfrm>
              <a:off x="1066" y="3022"/>
              <a:ext cx="1281" cy="820"/>
              <a:chOff x="3912" y="3339"/>
              <a:chExt cx="1101" cy="784"/>
            </a:xfrm>
          </p:grpSpPr>
          <p:sp>
            <p:nvSpPr>
              <p:cNvPr id="26" name="Rectangle 154"/>
              <p:cNvSpPr>
                <a:spLocks noChangeArrowheads="1"/>
              </p:cNvSpPr>
              <p:nvPr/>
            </p:nvSpPr>
            <p:spPr bwMode="auto">
              <a:xfrm>
                <a:off x="3917" y="3512"/>
                <a:ext cx="255" cy="46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900" b="1">
                  <a:ea typeface="楷体" panose="02010609060101010101" pitchFamily="49" charset="-122"/>
                  <a:cs typeface="Times New Roman" panose="02020603050405020304" pitchFamily="18" charset="0"/>
                </a:endParaRPr>
              </a:p>
            </p:txBody>
          </p:sp>
          <p:sp>
            <p:nvSpPr>
              <p:cNvPr id="27" name="Line 155"/>
              <p:cNvSpPr>
                <a:spLocks noChangeShapeType="1"/>
              </p:cNvSpPr>
              <p:nvPr/>
            </p:nvSpPr>
            <p:spPr bwMode="auto">
              <a:xfrm>
                <a:off x="3917" y="3625"/>
                <a:ext cx="25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8" name="Text Box 156"/>
              <p:cNvSpPr txBox="1">
                <a:spLocks noChangeArrowheads="1"/>
              </p:cNvSpPr>
              <p:nvPr/>
            </p:nvSpPr>
            <p:spPr bwMode="auto">
              <a:xfrm>
                <a:off x="3912" y="3385"/>
                <a:ext cx="279" cy="1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900" b="1">
                    <a:solidFill>
                      <a:srgbClr val="FF3300"/>
                    </a:solidFill>
                    <a:ea typeface="楷体" panose="02010609060101010101" pitchFamily="49" charset="-122"/>
                    <a:cs typeface="Times New Roman" panose="02020603050405020304" pitchFamily="18" charset="0"/>
                  </a:rPr>
                  <a:t>内存</a:t>
                </a:r>
              </a:p>
            </p:txBody>
          </p:sp>
          <p:sp>
            <p:nvSpPr>
              <p:cNvPr id="29" name="Line 157"/>
              <p:cNvSpPr>
                <a:spLocks noChangeShapeType="1"/>
              </p:cNvSpPr>
              <p:nvPr/>
            </p:nvSpPr>
            <p:spPr bwMode="auto">
              <a:xfrm>
                <a:off x="3912" y="3740"/>
                <a:ext cx="25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0" name="Line 158"/>
              <p:cNvSpPr>
                <a:spLocks noChangeShapeType="1"/>
              </p:cNvSpPr>
              <p:nvPr/>
            </p:nvSpPr>
            <p:spPr bwMode="auto">
              <a:xfrm>
                <a:off x="3912" y="3855"/>
                <a:ext cx="25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1" name="Text Box 159"/>
              <p:cNvSpPr txBox="1">
                <a:spLocks noChangeArrowheads="1"/>
              </p:cNvSpPr>
              <p:nvPr/>
            </p:nvSpPr>
            <p:spPr bwMode="auto">
              <a:xfrm>
                <a:off x="3919" y="3490"/>
                <a:ext cx="273" cy="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900" b="1">
                    <a:ea typeface="楷体" panose="02010609060101010101" pitchFamily="49" charset="-122"/>
                    <a:cs typeface="Times New Roman" panose="02020603050405020304" pitchFamily="18" charset="0"/>
                  </a:rPr>
                  <a:t>page</a:t>
                </a:r>
              </a:p>
            </p:txBody>
          </p:sp>
          <p:sp>
            <p:nvSpPr>
              <p:cNvPr id="32" name="Text Box 160"/>
              <p:cNvSpPr txBox="1">
                <a:spLocks noChangeArrowheads="1"/>
              </p:cNvSpPr>
              <p:nvPr/>
            </p:nvSpPr>
            <p:spPr bwMode="auto">
              <a:xfrm>
                <a:off x="3919" y="3598"/>
                <a:ext cx="273" cy="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900" b="1">
                    <a:ea typeface="楷体" panose="02010609060101010101" pitchFamily="49" charset="-122"/>
                    <a:cs typeface="Times New Roman" panose="02020603050405020304" pitchFamily="18" charset="0"/>
                  </a:rPr>
                  <a:t>page</a:t>
                </a:r>
              </a:p>
            </p:txBody>
          </p:sp>
          <p:sp>
            <p:nvSpPr>
              <p:cNvPr id="33" name="Text Box 161"/>
              <p:cNvSpPr txBox="1">
                <a:spLocks noChangeArrowheads="1"/>
              </p:cNvSpPr>
              <p:nvPr/>
            </p:nvSpPr>
            <p:spPr bwMode="auto">
              <a:xfrm>
                <a:off x="3919" y="3720"/>
                <a:ext cx="273" cy="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900" b="1">
                    <a:ea typeface="楷体" panose="02010609060101010101" pitchFamily="49" charset="-122"/>
                    <a:cs typeface="Times New Roman" panose="02020603050405020304" pitchFamily="18" charset="0"/>
                  </a:rPr>
                  <a:t>page</a:t>
                </a:r>
              </a:p>
            </p:txBody>
          </p:sp>
          <p:sp>
            <p:nvSpPr>
              <p:cNvPr id="34" name="Text Box 162"/>
              <p:cNvSpPr txBox="1">
                <a:spLocks noChangeArrowheads="1"/>
              </p:cNvSpPr>
              <p:nvPr/>
            </p:nvSpPr>
            <p:spPr bwMode="auto">
              <a:xfrm>
                <a:off x="3919" y="3832"/>
                <a:ext cx="273" cy="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900" b="1">
                    <a:ea typeface="楷体" panose="02010609060101010101" pitchFamily="49" charset="-122"/>
                    <a:cs typeface="Times New Roman" panose="02020603050405020304" pitchFamily="18" charset="0"/>
                  </a:rPr>
                  <a:t>page</a:t>
                </a:r>
              </a:p>
            </p:txBody>
          </p:sp>
          <p:sp>
            <p:nvSpPr>
              <p:cNvPr id="35" name="Rectangle 163"/>
              <p:cNvSpPr>
                <a:spLocks noChangeArrowheads="1"/>
              </p:cNvSpPr>
              <p:nvPr/>
            </p:nvSpPr>
            <p:spPr bwMode="auto">
              <a:xfrm>
                <a:off x="4752" y="3817"/>
                <a:ext cx="226" cy="29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楷体" panose="02010609060101010101" pitchFamily="49" charset="-122"/>
                  <a:cs typeface="Times New Roman" panose="02020603050405020304" pitchFamily="18" charset="0"/>
                </a:endParaRPr>
              </a:p>
            </p:txBody>
          </p:sp>
          <p:sp>
            <p:nvSpPr>
              <p:cNvPr id="36" name="Line 164"/>
              <p:cNvSpPr>
                <a:spLocks noChangeShapeType="1"/>
              </p:cNvSpPr>
              <p:nvPr/>
            </p:nvSpPr>
            <p:spPr bwMode="auto">
              <a:xfrm>
                <a:off x="4745" y="3915"/>
                <a:ext cx="22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7" name="Line 165"/>
              <p:cNvSpPr>
                <a:spLocks noChangeShapeType="1"/>
              </p:cNvSpPr>
              <p:nvPr/>
            </p:nvSpPr>
            <p:spPr bwMode="auto">
              <a:xfrm>
                <a:off x="4745" y="4006"/>
                <a:ext cx="22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8" name="Text Box 166"/>
              <p:cNvSpPr txBox="1">
                <a:spLocks noChangeArrowheads="1"/>
              </p:cNvSpPr>
              <p:nvPr/>
            </p:nvSpPr>
            <p:spPr bwMode="auto">
              <a:xfrm>
                <a:off x="4740" y="3793"/>
                <a:ext cx="273" cy="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900" b="1">
                    <a:ea typeface="楷体" panose="02010609060101010101" pitchFamily="49" charset="-122"/>
                    <a:cs typeface="Times New Roman" panose="02020603050405020304" pitchFamily="18" charset="0"/>
                  </a:rPr>
                  <a:t>page</a:t>
                </a:r>
              </a:p>
            </p:txBody>
          </p:sp>
          <p:sp>
            <p:nvSpPr>
              <p:cNvPr id="39" name="Text Box 167"/>
              <p:cNvSpPr txBox="1">
                <a:spLocks noChangeArrowheads="1"/>
              </p:cNvSpPr>
              <p:nvPr/>
            </p:nvSpPr>
            <p:spPr bwMode="auto">
              <a:xfrm>
                <a:off x="4738" y="3876"/>
                <a:ext cx="273" cy="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900" b="1">
                    <a:ea typeface="楷体" panose="02010609060101010101" pitchFamily="49" charset="-122"/>
                    <a:cs typeface="Times New Roman" panose="02020603050405020304" pitchFamily="18" charset="0"/>
                  </a:rPr>
                  <a:t>page</a:t>
                </a:r>
              </a:p>
            </p:txBody>
          </p:sp>
          <p:sp>
            <p:nvSpPr>
              <p:cNvPr id="40" name="Text Box 168"/>
              <p:cNvSpPr txBox="1">
                <a:spLocks noChangeArrowheads="1"/>
              </p:cNvSpPr>
              <p:nvPr/>
            </p:nvSpPr>
            <p:spPr bwMode="auto">
              <a:xfrm>
                <a:off x="4738" y="3985"/>
                <a:ext cx="273" cy="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900" b="1">
                    <a:ea typeface="楷体" panose="02010609060101010101" pitchFamily="49" charset="-122"/>
                    <a:cs typeface="Times New Roman" panose="02020603050405020304" pitchFamily="18" charset="0"/>
                  </a:rPr>
                  <a:t>page</a:t>
                </a:r>
              </a:p>
            </p:txBody>
          </p:sp>
          <p:sp>
            <p:nvSpPr>
              <p:cNvPr id="41" name="Text Box 169"/>
              <p:cNvSpPr txBox="1">
                <a:spLocks noChangeArrowheads="1"/>
              </p:cNvSpPr>
              <p:nvPr/>
            </p:nvSpPr>
            <p:spPr bwMode="auto">
              <a:xfrm>
                <a:off x="4241" y="3377"/>
                <a:ext cx="453" cy="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900" b="1">
                    <a:solidFill>
                      <a:srgbClr val="FF3300"/>
                    </a:solidFill>
                    <a:ea typeface="楷体" panose="02010609060101010101" pitchFamily="49" charset="-122"/>
                    <a:cs typeface="Times New Roman" panose="02020603050405020304" pitchFamily="18" charset="0"/>
                  </a:rPr>
                  <a:t>process1</a:t>
                </a:r>
              </a:p>
            </p:txBody>
          </p:sp>
          <p:sp>
            <p:nvSpPr>
              <p:cNvPr id="42" name="Rectangle 180"/>
              <p:cNvSpPr>
                <a:spLocks noChangeArrowheads="1"/>
              </p:cNvSpPr>
              <p:nvPr/>
            </p:nvSpPr>
            <p:spPr bwMode="auto">
              <a:xfrm>
                <a:off x="4286" y="3521"/>
                <a:ext cx="272" cy="5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楷体" panose="02010609060101010101" pitchFamily="49" charset="-122"/>
                  <a:cs typeface="Times New Roman" panose="02020603050405020304" pitchFamily="18" charset="0"/>
                </a:endParaRPr>
              </a:p>
            </p:txBody>
          </p:sp>
          <p:sp>
            <p:nvSpPr>
              <p:cNvPr id="43" name="Line 181"/>
              <p:cNvSpPr>
                <a:spLocks noChangeShapeType="1"/>
              </p:cNvSpPr>
              <p:nvPr/>
            </p:nvSpPr>
            <p:spPr bwMode="auto">
              <a:xfrm>
                <a:off x="4286" y="362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4" name="Line 182"/>
              <p:cNvSpPr>
                <a:spLocks noChangeShapeType="1"/>
              </p:cNvSpPr>
              <p:nvPr/>
            </p:nvSpPr>
            <p:spPr bwMode="auto">
              <a:xfrm>
                <a:off x="4286" y="3796"/>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5" name="Rectangle 183"/>
              <p:cNvSpPr>
                <a:spLocks noChangeArrowheads="1"/>
              </p:cNvSpPr>
              <p:nvPr/>
            </p:nvSpPr>
            <p:spPr bwMode="auto">
              <a:xfrm>
                <a:off x="4752" y="3541"/>
                <a:ext cx="226" cy="20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楷体" panose="02010609060101010101" pitchFamily="49" charset="-122"/>
                  <a:cs typeface="Times New Roman" panose="02020603050405020304" pitchFamily="18" charset="0"/>
                </a:endParaRPr>
              </a:p>
            </p:txBody>
          </p:sp>
          <p:sp>
            <p:nvSpPr>
              <p:cNvPr id="46" name="Line 184"/>
              <p:cNvSpPr>
                <a:spLocks noChangeShapeType="1"/>
              </p:cNvSpPr>
              <p:nvPr/>
            </p:nvSpPr>
            <p:spPr bwMode="auto">
              <a:xfrm>
                <a:off x="4745" y="3639"/>
                <a:ext cx="22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7" name="Text Box 186"/>
              <p:cNvSpPr txBox="1">
                <a:spLocks noChangeArrowheads="1"/>
              </p:cNvSpPr>
              <p:nvPr/>
            </p:nvSpPr>
            <p:spPr bwMode="auto">
              <a:xfrm>
                <a:off x="4740" y="3517"/>
                <a:ext cx="273" cy="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900" b="1">
                    <a:ea typeface="楷体" panose="02010609060101010101" pitchFamily="49" charset="-122"/>
                    <a:cs typeface="Times New Roman" panose="02020603050405020304" pitchFamily="18" charset="0"/>
                  </a:rPr>
                  <a:t>page</a:t>
                </a:r>
              </a:p>
            </p:txBody>
          </p:sp>
          <p:sp>
            <p:nvSpPr>
              <p:cNvPr id="48" name="Text Box 187"/>
              <p:cNvSpPr txBox="1">
                <a:spLocks noChangeArrowheads="1"/>
              </p:cNvSpPr>
              <p:nvPr/>
            </p:nvSpPr>
            <p:spPr bwMode="auto">
              <a:xfrm>
                <a:off x="4740" y="3608"/>
                <a:ext cx="273" cy="1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900" b="1">
                    <a:ea typeface="楷体" panose="02010609060101010101" pitchFamily="49" charset="-122"/>
                    <a:cs typeface="Times New Roman" panose="02020603050405020304" pitchFamily="18" charset="0"/>
                  </a:rPr>
                  <a:t>page</a:t>
                </a:r>
              </a:p>
            </p:txBody>
          </p:sp>
          <p:sp>
            <p:nvSpPr>
              <p:cNvPr id="49" name="Rectangle 189"/>
              <p:cNvSpPr>
                <a:spLocks noChangeArrowheads="1"/>
              </p:cNvSpPr>
              <p:nvPr/>
            </p:nvSpPr>
            <p:spPr bwMode="auto">
              <a:xfrm>
                <a:off x="4752" y="3363"/>
                <a:ext cx="226" cy="1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楷体" panose="02010609060101010101" pitchFamily="49" charset="-122"/>
                  <a:cs typeface="Times New Roman" panose="02020603050405020304" pitchFamily="18" charset="0"/>
                </a:endParaRPr>
              </a:p>
            </p:txBody>
          </p:sp>
          <p:sp>
            <p:nvSpPr>
              <p:cNvPr id="50" name="Text Box 191"/>
              <p:cNvSpPr txBox="1">
                <a:spLocks noChangeArrowheads="1"/>
              </p:cNvSpPr>
              <p:nvPr/>
            </p:nvSpPr>
            <p:spPr bwMode="auto">
              <a:xfrm>
                <a:off x="4740" y="3339"/>
                <a:ext cx="273" cy="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900" b="1">
                    <a:ea typeface="楷体" panose="02010609060101010101" pitchFamily="49" charset="-122"/>
                    <a:cs typeface="Times New Roman" panose="02020603050405020304" pitchFamily="18" charset="0"/>
                  </a:rPr>
                  <a:t>page</a:t>
                </a:r>
              </a:p>
            </p:txBody>
          </p:sp>
          <p:sp>
            <p:nvSpPr>
              <p:cNvPr id="51" name="Text Box 193"/>
              <p:cNvSpPr txBox="1">
                <a:spLocks noChangeArrowheads="1"/>
              </p:cNvSpPr>
              <p:nvPr/>
            </p:nvSpPr>
            <p:spPr bwMode="auto">
              <a:xfrm>
                <a:off x="4276" y="3507"/>
                <a:ext cx="318" cy="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900" b="1">
                    <a:ea typeface="楷体" panose="02010609060101010101" pitchFamily="49" charset="-122"/>
                    <a:cs typeface="Times New Roman" panose="02020603050405020304" pitchFamily="18" charset="0"/>
                  </a:rPr>
                  <a:t>segm1</a:t>
                </a:r>
              </a:p>
            </p:txBody>
          </p:sp>
          <p:sp>
            <p:nvSpPr>
              <p:cNvPr id="52" name="Text Box 194"/>
              <p:cNvSpPr txBox="1">
                <a:spLocks noChangeArrowheads="1"/>
              </p:cNvSpPr>
              <p:nvPr/>
            </p:nvSpPr>
            <p:spPr bwMode="auto">
              <a:xfrm>
                <a:off x="4279" y="3643"/>
                <a:ext cx="318" cy="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900" b="1">
                    <a:ea typeface="楷体" panose="02010609060101010101" pitchFamily="49" charset="-122"/>
                    <a:cs typeface="Times New Roman" panose="02020603050405020304" pitchFamily="18" charset="0"/>
                  </a:rPr>
                  <a:t>segm2</a:t>
                </a:r>
              </a:p>
            </p:txBody>
          </p:sp>
          <p:sp>
            <p:nvSpPr>
              <p:cNvPr id="53" name="Text Box 195"/>
              <p:cNvSpPr txBox="1">
                <a:spLocks noChangeArrowheads="1"/>
              </p:cNvSpPr>
              <p:nvPr/>
            </p:nvSpPr>
            <p:spPr bwMode="auto">
              <a:xfrm>
                <a:off x="4286" y="3850"/>
                <a:ext cx="318" cy="1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900" b="1">
                    <a:ea typeface="楷体" panose="02010609060101010101" pitchFamily="49" charset="-122"/>
                    <a:cs typeface="Times New Roman" panose="02020603050405020304" pitchFamily="18" charset="0"/>
                  </a:rPr>
                  <a:t>segm3</a:t>
                </a:r>
              </a:p>
            </p:txBody>
          </p:sp>
          <p:sp>
            <p:nvSpPr>
              <p:cNvPr id="54" name="Line 196"/>
              <p:cNvSpPr>
                <a:spLocks noChangeShapeType="1"/>
              </p:cNvSpPr>
              <p:nvPr/>
            </p:nvSpPr>
            <p:spPr bwMode="auto">
              <a:xfrm flipV="1">
                <a:off x="4558" y="3385"/>
                <a:ext cx="182" cy="18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5" name="Line 197"/>
              <p:cNvSpPr>
                <a:spLocks noChangeShapeType="1"/>
              </p:cNvSpPr>
              <p:nvPr/>
            </p:nvSpPr>
            <p:spPr bwMode="auto">
              <a:xfrm flipV="1">
                <a:off x="4558" y="3612"/>
                <a:ext cx="182" cy="9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6" name="Line 198"/>
              <p:cNvSpPr>
                <a:spLocks noChangeShapeType="1"/>
              </p:cNvSpPr>
              <p:nvPr/>
            </p:nvSpPr>
            <p:spPr bwMode="auto">
              <a:xfrm>
                <a:off x="4558" y="3929"/>
                <a:ext cx="182" cy="4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grpSp>
        <p:sp>
          <p:nvSpPr>
            <p:cNvPr id="25" name="Text Box 205"/>
            <p:cNvSpPr txBox="1">
              <a:spLocks noChangeArrowheads="1"/>
            </p:cNvSpPr>
            <p:nvPr/>
          </p:nvSpPr>
          <p:spPr bwMode="auto">
            <a:xfrm>
              <a:off x="1066" y="3884"/>
              <a:ext cx="131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1800" b="1">
                  <a:solidFill>
                    <a:srgbClr val="FF3300"/>
                  </a:solidFill>
                  <a:ea typeface="楷体" panose="02010609060101010101" pitchFamily="49" charset="-122"/>
                  <a:cs typeface="Times New Roman" panose="02020603050405020304" pitchFamily="18" charset="0"/>
                </a:rPr>
                <a:t>简单</a:t>
              </a:r>
              <a:r>
                <a:rPr lang="en-US" altLang="zh-CN" sz="1800" b="1">
                  <a:solidFill>
                    <a:srgbClr val="FF3300"/>
                  </a:solidFill>
                  <a:ea typeface="楷体" panose="02010609060101010101" pitchFamily="49" charset="-122"/>
                  <a:cs typeface="Times New Roman" panose="02020603050405020304" pitchFamily="18" charset="0"/>
                </a:rPr>
                <a:t>(</a:t>
              </a:r>
              <a:r>
                <a:rPr lang="zh-CN" altLang="en-US" sz="1800" b="1">
                  <a:solidFill>
                    <a:srgbClr val="FF3300"/>
                  </a:solidFill>
                  <a:ea typeface="楷体" panose="02010609060101010101" pitchFamily="49" charset="-122"/>
                  <a:cs typeface="Times New Roman" panose="02020603050405020304" pitchFamily="18" charset="0"/>
                </a:rPr>
                <a:t>虚拟</a:t>
              </a:r>
              <a:r>
                <a:rPr lang="en-US" altLang="zh-CN" sz="1800" b="1">
                  <a:solidFill>
                    <a:srgbClr val="FF3300"/>
                  </a:solidFill>
                  <a:ea typeface="楷体" panose="02010609060101010101" pitchFamily="49" charset="-122"/>
                  <a:cs typeface="Times New Roman" panose="02020603050405020304" pitchFamily="18" charset="0"/>
                </a:rPr>
                <a:t>)</a:t>
              </a:r>
              <a:r>
                <a:rPr lang="zh-CN" altLang="en-US" sz="1800" b="1">
                  <a:solidFill>
                    <a:srgbClr val="FF3300"/>
                  </a:solidFill>
                  <a:ea typeface="楷体" panose="02010609060101010101" pitchFamily="49" charset="-122"/>
                  <a:cs typeface="Times New Roman" panose="02020603050405020304" pitchFamily="18" charset="0"/>
                </a:rPr>
                <a:t>段页式</a:t>
              </a:r>
            </a:p>
          </p:txBody>
        </p:sp>
      </p:grpSp>
      <p:grpSp>
        <p:nvGrpSpPr>
          <p:cNvPr id="57" name="Group 221"/>
          <p:cNvGrpSpPr>
            <a:grpSpLocks/>
          </p:cNvGrpSpPr>
          <p:nvPr/>
        </p:nvGrpSpPr>
        <p:grpSpPr bwMode="auto">
          <a:xfrm>
            <a:off x="1908819" y="2231603"/>
            <a:ext cx="2087563" cy="1419225"/>
            <a:chOff x="1202" y="1270"/>
            <a:chExt cx="1315" cy="894"/>
          </a:xfrm>
        </p:grpSpPr>
        <p:grpSp>
          <p:nvGrpSpPr>
            <p:cNvPr id="58" name="Group 207"/>
            <p:cNvGrpSpPr>
              <a:grpSpLocks/>
            </p:cNvGrpSpPr>
            <p:nvPr/>
          </p:nvGrpSpPr>
          <p:grpSpPr bwMode="auto">
            <a:xfrm>
              <a:off x="1610" y="1270"/>
              <a:ext cx="907" cy="894"/>
              <a:chOff x="1519" y="1270"/>
              <a:chExt cx="907" cy="894"/>
            </a:xfrm>
          </p:grpSpPr>
          <p:grpSp>
            <p:nvGrpSpPr>
              <p:cNvPr id="60" name="Group 41"/>
              <p:cNvGrpSpPr>
                <a:grpSpLocks/>
              </p:cNvGrpSpPr>
              <p:nvPr/>
            </p:nvGrpSpPr>
            <p:grpSpPr bwMode="auto">
              <a:xfrm>
                <a:off x="1519" y="1270"/>
                <a:ext cx="907" cy="635"/>
                <a:chOff x="2417" y="2795"/>
                <a:chExt cx="1779" cy="1360"/>
              </a:xfrm>
            </p:grpSpPr>
            <p:sp>
              <p:nvSpPr>
                <p:cNvPr id="62" name="Rectangle 34"/>
                <p:cNvSpPr>
                  <a:spLocks noChangeArrowheads="1"/>
                </p:cNvSpPr>
                <p:nvPr/>
              </p:nvSpPr>
              <p:spPr bwMode="auto">
                <a:xfrm>
                  <a:off x="2427" y="3067"/>
                  <a:ext cx="499" cy="99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900" b="1">
                      <a:ea typeface="楷体" panose="02010609060101010101" pitchFamily="49" charset="-122"/>
                      <a:cs typeface="Times New Roman" panose="02020603050405020304" pitchFamily="18" charset="0"/>
                    </a:rPr>
                    <a:t>OS</a:t>
                  </a:r>
                </a:p>
                <a:p>
                  <a:pPr algn="ctr" eaLnBrk="1" hangingPunct="1"/>
                  <a:endParaRPr lang="en-US" altLang="zh-CN" sz="900" b="1">
                    <a:ea typeface="楷体" panose="02010609060101010101" pitchFamily="49" charset="-122"/>
                    <a:cs typeface="Times New Roman" panose="02020603050405020304" pitchFamily="18" charset="0"/>
                  </a:endParaRPr>
                </a:p>
                <a:p>
                  <a:pPr algn="ctr" eaLnBrk="1" hangingPunct="1">
                    <a:lnSpc>
                      <a:spcPct val="80000"/>
                    </a:lnSpc>
                  </a:pPr>
                  <a:r>
                    <a:rPr lang="en-US" altLang="zh-CN" sz="900" b="1">
                      <a:ea typeface="楷体" panose="02010609060101010101" pitchFamily="49" charset="-122"/>
                      <a:cs typeface="Times New Roman" panose="02020603050405020304" pitchFamily="18" charset="0"/>
                    </a:rPr>
                    <a:t>User</a:t>
                  </a:r>
                </a:p>
                <a:p>
                  <a:pPr algn="ctr" eaLnBrk="1" hangingPunct="1">
                    <a:lnSpc>
                      <a:spcPct val="80000"/>
                    </a:lnSpc>
                  </a:pPr>
                  <a:r>
                    <a:rPr lang="en-US" altLang="zh-CN" sz="900" b="1">
                      <a:ea typeface="楷体" panose="02010609060101010101" pitchFamily="49" charset="-122"/>
                      <a:cs typeface="Times New Roman" panose="02020603050405020304" pitchFamily="18" charset="0"/>
                    </a:rPr>
                    <a:t>space</a:t>
                  </a:r>
                </a:p>
                <a:p>
                  <a:pPr algn="ctr" eaLnBrk="1" hangingPunct="1"/>
                  <a:endParaRPr lang="en-US" altLang="zh-CN" sz="900" b="1">
                    <a:ea typeface="楷体" panose="02010609060101010101" pitchFamily="49" charset="-122"/>
                    <a:cs typeface="Times New Roman" panose="02020603050405020304" pitchFamily="18" charset="0"/>
                  </a:endParaRPr>
                </a:p>
              </p:txBody>
            </p:sp>
            <p:sp>
              <p:nvSpPr>
                <p:cNvPr id="63" name="Line 35"/>
                <p:cNvSpPr>
                  <a:spLocks noChangeShapeType="1"/>
                </p:cNvSpPr>
                <p:nvPr/>
              </p:nvSpPr>
              <p:spPr bwMode="auto">
                <a:xfrm>
                  <a:off x="2427" y="3339"/>
                  <a:ext cx="49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4" name="AutoShape 36" descr="粉色面巾纸"/>
                <p:cNvSpPr>
                  <a:spLocks noChangeArrowheads="1"/>
                </p:cNvSpPr>
                <p:nvPr/>
              </p:nvSpPr>
              <p:spPr bwMode="auto">
                <a:xfrm>
                  <a:off x="3016" y="2840"/>
                  <a:ext cx="1180" cy="1315"/>
                </a:xfrm>
                <a:prstGeom prst="flowChartMagneticDisk">
                  <a:avLst/>
                </a:prstGeom>
                <a:blipFill dpi="0" rotWithShape="1">
                  <a:blip r:embed="rId2"/>
                  <a:srcRect/>
                  <a:tile tx="0" ty="0" sx="100000" sy="100000" flip="none" algn="tl"/>
                </a:bli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楷体" panose="02010609060101010101" pitchFamily="49" charset="-122"/>
                    <a:cs typeface="Times New Roman" panose="02020603050405020304" pitchFamily="18" charset="0"/>
                  </a:endParaRPr>
                </a:p>
              </p:txBody>
            </p:sp>
            <p:sp>
              <p:nvSpPr>
                <p:cNvPr id="65" name="Rectangle 37"/>
                <p:cNvSpPr>
                  <a:spLocks noChangeArrowheads="1"/>
                </p:cNvSpPr>
                <p:nvPr/>
              </p:nvSpPr>
              <p:spPr bwMode="auto">
                <a:xfrm>
                  <a:off x="2426" y="3339"/>
                  <a:ext cx="499" cy="725"/>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900" b="1">
                      <a:ea typeface="楷体" panose="02010609060101010101" pitchFamily="49" charset="-122"/>
                      <a:cs typeface="Times New Roman" panose="02020603050405020304" pitchFamily="18" charset="0"/>
                    </a:rPr>
                    <a:t>Process</a:t>
                  </a:r>
                </a:p>
                <a:p>
                  <a:pPr algn="ctr" eaLnBrk="1" hangingPunct="1"/>
                  <a:r>
                    <a:rPr lang="en-US" altLang="zh-CN" sz="900" b="1">
                      <a:ea typeface="楷体" panose="02010609060101010101" pitchFamily="49" charset="-122"/>
                      <a:cs typeface="Times New Roman" panose="02020603050405020304" pitchFamily="18" charset="0"/>
                    </a:rPr>
                    <a:t>1</a:t>
                  </a:r>
                </a:p>
              </p:txBody>
            </p:sp>
            <p:sp>
              <p:nvSpPr>
                <p:cNvPr id="66" name="Rectangle 38"/>
                <p:cNvSpPr>
                  <a:spLocks noChangeArrowheads="1"/>
                </p:cNvSpPr>
                <p:nvPr/>
              </p:nvSpPr>
              <p:spPr bwMode="auto">
                <a:xfrm>
                  <a:off x="3651" y="3293"/>
                  <a:ext cx="499" cy="725"/>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900" b="1">
                      <a:ea typeface="楷体" panose="02010609060101010101" pitchFamily="49" charset="-122"/>
                      <a:cs typeface="Times New Roman" panose="02020603050405020304" pitchFamily="18" charset="0"/>
                    </a:rPr>
                    <a:t>Process</a:t>
                  </a:r>
                </a:p>
                <a:p>
                  <a:pPr algn="ctr" eaLnBrk="1" hangingPunct="1"/>
                  <a:r>
                    <a:rPr lang="en-US" altLang="zh-CN" sz="900" b="1">
                      <a:ea typeface="楷体" panose="02010609060101010101" pitchFamily="49" charset="-122"/>
                      <a:cs typeface="Times New Roman" panose="02020603050405020304" pitchFamily="18" charset="0"/>
                    </a:rPr>
                    <a:t>2</a:t>
                  </a:r>
                </a:p>
              </p:txBody>
            </p:sp>
            <p:sp>
              <p:nvSpPr>
                <p:cNvPr id="67" name="Text Box 39"/>
                <p:cNvSpPr txBox="1">
                  <a:spLocks noChangeArrowheads="1"/>
                </p:cNvSpPr>
                <p:nvPr/>
              </p:nvSpPr>
              <p:spPr bwMode="auto">
                <a:xfrm>
                  <a:off x="2417" y="2795"/>
                  <a:ext cx="547"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900" b="1">
                      <a:solidFill>
                        <a:srgbClr val="FF3300"/>
                      </a:solidFill>
                      <a:ea typeface="楷体" panose="02010609060101010101" pitchFamily="49" charset="-122"/>
                      <a:cs typeface="Times New Roman" panose="02020603050405020304" pitchFamily="18" charset="0"/>
                    </a:rPr>
                    <a:t>内存</a:t>
                  </a:r>
                </a:p>
              </p:txBody>
            </p:sp>
            <p:sp>
              <p:nvSpPr>
                <p:cNvPr id="68" name="Text Box 40"/>
                <p:cNvSpPr txBox="1">
                  <a:spLocks noChangeArrowheads="1"/>
                </p:cNvSpPr>
                <p:nvPr/>
              </p:nvSpPr>
              <p:spPr bwMode="auto">
                <a:xfrm>
                  <a:off x="3355" y="2913"/>
                  <a:ext cx="539"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900" b="1">
                      <a:solidFill>
                        <a:srgbClr val="FF3300"/>
                      </a:solidFill>
                      <a:ea typeface="楷体" panose="02010609060101010101" pitchFamily="49" charset="-122"/>
                      <a:cs typeface="Times New Roman" panose="02020603050405020304" pitchFamily="18" charset="0"/>
                    </a:rPr>
                    <a:t>外存</a:t>
                  </a:r>
                </a:p>
              </p:txBody>
            </p:sp>
          </p:grpSp>
          <p:sp>
            <p:nvSpPr>
              <p:cNvPr id="61" name="Text Box 202"/>
              <p:cNvSpPr txBox="1">
                <a:spLocks noChangeArrowheads="1"/>
              </p:cNvSpPr>
              <p:nvPr/>
            </p:nvSpPr>
            <p:spPr bwMode="auto">
              <a:xfrm>
                <a:off x="1882" y="1933"/>
                <a:ext cx="40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1800" b="1">
                    <a:solidFill>
                      <a:srgbClr val="FF3300"/>
                    </a:solidFill>
                    <a:ea typeface="楷体" panose="02010609060101010101" pitchFamily="49" charset="-122"/>
                    <a:cs typeface="Times New Roman" panose="02020603050405020304" pitchFamily="18" charset="0"/>
                  </a:rPr>
                  <a:t>交换</a:t>
                </a:r>
              </a:p>
            </p:txBody>
          </p:sp>
        </p:grpSp>
        <p:sp>
          <p:nvSpPr>
            <p:cNvPr id="59" name="AutoShape 211"/>
            <p:cNvSpPr>
              <a:spLocks noChangeArrowheads="1"/>
            </p:cNvSpPr>
            <p:nvPr/>
          </p:nvSpPr>
          <p:spPr bwMode="auto">
            <a:xfrm>
              <a:off x="1202" y="1525"/>
              <a:ext cx="363" cy="136"/>
            </a:xfrm>
            <a:prstGeom prst="rightArrow">
              <a:avLst>
                <a:gd name="adj1" fmla="val 50000"/>
                <a:gd name="adj2" fmla="val 66728"/>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楷体" panose="02010609060101010101" pitchFamily="49" charset="-122"/>
                <a:cs typeface="Times New Roman" panose="02020603050405020304" pitchFamily="18" charset="0"/>
              </a:endParaRPr>
            </a:p>
          </p:txBody>
        </p:sp>
      </p:grpSp>
      <p:grpSp>
        <p:nvGrpSpPr>
          <p:cNvPr id="69" name="Group 222"/>
          <p:cNvGrpSpPr>
            <a:grpSpLocks/>
          </p:cNvGrpSpPr>
          <p:nvPr/>
        </p:nvGrpSpPr>
        <p:grpSpPr bwMode="auto">
          <a:xfrm>
            <a:off x="4067819" y="2014115"/>
            <a:ext cx="2203450" cy="4367213"/>
            <a:chOff x="2562" y="1133"/>
            <a:chExt cx="1388" cy="2751"/>
          </a:xfrm>
        </p:grpSpPr>
        <p:grpSp>
          <p:nvGrpSpPr>
            <p:cNvPr id="70" name="Group 208"/>
            <p:cNvGrpSpPr>
              <a:grpSpLocks/>
            </p:cNvGrpSpPr>
            <p:nvPr/>
          </p:nvGrpSpPr>
          <p:grpSpPr bwMode="auto">
            <a:xfrm>
              <a:off x="2925" y="1133"/>
              <a:ext cx="1025" cy="2751"/>
              <a:chOff x="2925" y="1133"/>
              <a:chExt cx="1025" cy="2751"/>
            </a:xfrm>
          </p:grpSpPr>
          <p:grpSp>
            <p:nvGrpSpPr>
              <p:cNvPr id="72" name="Group 73"/>
              <p:cNvGrpSpPr>
                <a:grpSpLocks/>
              </p:cNvGrpSpPr>
              <p:nvPr/>
            </p:nvGrpSpPr>
            <p:grpSpPr bwMode="auto">
              <a:xfrm>
                <a:off x="3015" y="1133"/>
                <a:ext cx="935" cy="1117"/>
                <a:chOff x="1927" y="2773"/>
                <a:chExt cx="809" cy="1020"/>
              </a:xfrm>
            </p:grpSpPr>
            <p:sp>
              <p:nvSpPr>
                <p:cNvPr id="91" name="Rectangle 43"/>
                <p:cNvSpPr>
                  <a:spLocks noChangeArrowheads="1"/>
                </p:cNvSpPr>
                <p:nvPr/>
              </p:nvSpPr>
              <p:spPr bwMode="auto">
                <a:xfrm>
                  <a:off x="1932" y="3103"/>
                  <a:ext cx="255" cy="46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900" b="1">
                    <a:ea typeface="楷体" panose="02010609060101010101" pitchFamily="49" charset="-122"/>
                    <a:cs typeface="Times New Roman" panose="02020603050405020304" pitchFamily="18" charset="0"/>
                  </a:endParaRPr>
                </a:p>
              </p:txBody>
            </p:sp>
            <p:sp>
              <p:nvSpPr>
                <p:cNvPr id="92" name="Line 44"/>
                <p:cNvSpPr>
                  <a:spLocks noChangeShapeType="1"/>
                </p:cNvSpPr>
                <p:nvPr/>
              </p:nvSpPr>
              <p:spPr bwMode="auto">
                <a:xfrm>
                  <a:off x="1932" y="3216"/>
                  <a:ext cx="25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93" name="Text Box 48"/>
                <p:cNvSpPr txBox="1">
                  <a:spLocks noChangeArrowheads="1"/>
                </p:cNvSpPr>
                <p:nvPr/>
              </p:nvSpPr>
              <p:spPr bwMode="auto">
                <a:xfrm>
                  <a:off x="1927" y="2976"/>
                  <a:ext cx="279" cy="1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900" b="1">
                      <a:solidFill>
                        <a:srgbClr val="FF3300"/>
                      </a:solidFill>
                      <a:ea typeface="楷体" panose="02010609060101010101" pitchFamily="49" charset="-122"/>
                      <a:cs typeface="Times New Roman" panose="02020603050405020304" pitchFamily="18" charset="0"/>
                    </a:rPr>
                    <a:t>内存</a:t>
                  </a:r>
                </a:p>
              </p:txBody>
            </p:sp>
            <p:sp>
              <p:nvSpPr>
                <p:cNvPr id="94" name="Line 50"/>
                <p:cNvSpPr>
                  <a:spLocks noChangeShapeType="1"/>
                </p:cNvSpPr>
                <p:nvPr/>
              </p:nvSpPr>
              <p:spPr bwMode="auto">
                <a:xfrm>
                  <a:off x="1927" y="3331"/>
                  <a:ext cx="25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95" name="Line 51"/>
                <p:cNvSpPr>
                  <a:spLocks noChangeShapeType="1"/>
                </p:cNvSpPr>
                <p:nvPr/>
              </p:nvSpPr>
              <p:spPr bwMode="auto">
                <a:xfrm>
                  <a:off x="1927" y="3446"/>
                  <a:ext cx="25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96" name="Text Box 52"/>
                <p:cNvSpPr txBox="1">
                  <a:spLocks noChangeArrowheads="1"/>
                </p:cNvSpPr>
                <p:nvPr/>
              </p:nvSpPr>
              <p:spPr bwMode="auto">
                <a:xfrm>
                  <a:off x="1934" y="3081"/>
                  <a:ext cx="273" cy="1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900" b="1">
                      <a:ea typeface="楷体" panose="02010609060101010101" pitchFamily="49" charset="-122"/>
                      <a:cs typeface="Times New Roman" panose="02020603050405020304" pitchFamily="18" charset="0"/>
                    </a:rPr>
                    <a:t>page</a:t>
                  </a:r>
                </a:p>
              </p:txBody>
            </p:sp>
            <p:sp>
              <p:nvSpPr>
                <p:cNvPr id="97" name="Text Box 54"/>
                <p:cNvSpPr txBox="1">
                  <a:spLocks noChangeArrowheads="1"/>
                </p:cNvSpPr>
                <p:nvPr/>
              </p:nvSpPr>
              <p:spPr bwMode="auto">
                <a:xfrm>
                  <a:off x="1934" y="3189"/>
                  <a:ext cx="273" cy="1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900" b="1">
                      <a:ea typeface="楷体" panose="02010609060101010101" pitchFamily="49" charset="-122"/>
                      <a:cs typeface="Times New Roman" panose="02020603050405020304" pitchFamily="18" charset="0"/>
                    </a:rPr>
                    <a:t>page</a:t>
                  </a:r>
                </a:p>
              </p:txBody>
            </p:sp>
            <p:sp>
              <p:nvSpPr>
                <p:cNvPr id="98" name="Text Box 55"/>
                <p:cNvSpPr txBox="1">
                  <a:spLocks noChangeArrowheads="1"/>
                </p:cNvSpPr>
                <p:nvPr/>
              </p:nvSpPr>
              <p:spPr bwMode="auto">
                <a:xfrm>
                  <a:off x="1934" y="3311"/>
                  <a:ext cx="273" cy="1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900" b="1">
                      <a:ea typeface="楷体" panose="02010609060101010101" pitchFamily="49" charset="-122"/>
                      <a:cs typeface="Times New Roman" panose="02020603050405020304" pitchFamily="18" charset="0"/>
                    </a:rPr>
                    <a:t>page</a:t>
                  </a:r>
                </a:p>
              </p:txBody>
            </p:sp>
            <p:sp>
              <p:nvSpPr>
                <p:cNvPr id="99" name="Text Box 56"/>
                <p:cNvSpPr txBox="1">
                  <a:spLocks noChangeArrowheads="1"/>
                </p:cNvSpPr>
                <p:nvPr/>
              </p:nvSpPr>
              <p:spPr bwMode="auto">
                <a:xfrm>
                  <a:off x="1934" y="3423"/>
                  <a:ext cx="273" cy="1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900" b="1">
                      <a:ea typeface="楷体" panose="02010609060101010101" pitchFamily="49" charset="-122"/>
                      <a:cs typeface="Times New Roman" panose="02020603050405020304" pitchFamily="18" charset="0"/>
                    </a:rPr>
                    <a:t>page</a:t>
                  </a:r>
                </a:p>
              </p:txBody>
            </p:sp>
            <p:sp>
              <p:nvSpPr>
                <p:cNvPr id="100" name="Rectangle 57"/>
                <p:cNvSpPr>
                  <a:spLocks noChangeArrowheads="1"/>
                </p:cNvSpPr>
                <p:nvPr/>
              </p:nvSpPr>
              <p:spPr bwMode="auto">
                <a:xfrm>
                  <a:off x="2336" y="2931"/>
                  <a:ext cx="226" cy="29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楷体" panose="02010609060101010101" pitchFamily="49" charset="-122"/>
                    <a:cs typeface="Times New Roman" panose="02020603050405020304" pitchFamily="18" charset="0"/>
                  </a:endParaRPr>
                </a:p>
              </p:txBody>
            </p:sp>
            <p:sp>
              <p:nvSpPr>
                <p:cNvPr id="101" name="Line 58"/>
                <p:cNvSpPr>
                  <a:spLocks noChangeShapeType="1"/>
                </p:cNvSpPr>
                <p:nvPr/>
              </p:nvSpPr>
              <p:spPr bwMode="auto">
                <a:xfrm>
                  <a:off x="2329" y="3029"/>
                  <a:ext cx="22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02" name="Line 59"/>
                <p:cNvSpPr>
                  <a:spLocks noChangeShapeType="1"/>
                </p:cNvSpPr>
                <p:nvPr/>
              </p:nvSpPr>
              <p:spPr bwMode="auto">
                <a:xfrm>
                  <a:off x="2329" y="3120"/>
                  <a:ext cx="22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03" name="Text Box 60"/>
                <p:cNvSpPr txBox="1">
                  <a:spLocks noChangeArrowheads="1"/>
                </p:cNvSpPr>
                <p:nvPr/>
              </p:nvSpPr>
              <p:spPr bwMode="auto">
                <a:xfrm>
                  <a:off x="2324" y="2907"/>
                  <a:ext cx="273" cy="1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900" b="1">
                      <a:ea typeface="楷体" panose="02010609060101010101" pitchFamily="49" charset="-122"/>
                      <a:cs typeface="Times New Roman" panose="02020603050405020304" pitchFamily="18" charset="0"/>
                    </a:rPr>
                    <a:t>page</a:t>
                  </a:r>
                </a:p>
              </p:txBody>
            </p:sp>
            <p:sp>
              <p:nvSpPr>
                <p:cNvPr id="104" name="Text Box 61"/>
                <p:cNvSpPr txBox="1">
                  <a:spLocks noChangeArrowheads="1"/>
                </p:cNvSpPr>
                <p:nvPr/>
              </p:nvSpPr>
              <p:spPr bwMode="auto">
                <a:xfrm>
                  <a:off x="2322" y="2990"/>
                  <a:ext cx="273" cy="1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900" b="1">
                      <a:ea typeface="楷体" panose="02010609060101010101" pitchFamily="49" charset="-122"/>
                      <a:cs typeface="Times New Roman" panose="02020603050405020304" pitchFamily="18" charset="0"/>
                    </a:rPr>
                    <a:t>page</a:t>
                  </a:r>
                </a:p>
              </p:txBody>
            </p:sp>
            <p:sp>
              <p:nvSpPr>
                <p:cNvPr id="105" name="Text Box 62"/>
                <p:cNvSpPr txBox="1">
                  <a:spLocks noChangeArrowheads="1"/>
                </p:cNvSpPr>
                <p:nvPr/>
              </p:nvSpPr>
              <p:spPr bwMode="auto">
                <a:xfrm>
                  <a:off x="2322" y="3099"/>
                  <a:ext cx="273" cy="1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900" b="1">
                      <a:ea typeface="楷体" panose="02010609060101010101" pitchFamily="49" charset="-122"/>
                      <a:cs typeface="Times New Roman" panose="02020603050405020304" pitchFamily="18" charset="0"/>
                    </a:rPr>
                    <a:t>page</a:t>
                  </a:r>
                </a:p>
              </p:txBody>
            </p:sp>
            <p:sp>
              <p:nvSpPr>
                <p:cNvPr id="106" name="Text Box 63"/>
                <p:cNvSpPr txBox="1">
                  <a:spLocks noChangeArrowheads="1"/>
                </p:cNvSpPr>
                <p:nvPr/>
              </p:nvSpPr>
              <p:spPr bwMode="auto">
                <a:xfrm>
                  <a:off x="2270" y="2773"/>
                  <a:ext cx="453" cy="1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900" b="1">
                      <a:solidFill>
                        <a:srgbClr val="FF3300"/>
                      </a:solidFill>
                      <a:ea typeface="楷体" panose="02010609060101010101" pitchFamily="49" charset="-122"/>
                      <a:cs typeface="Times New Roman" panose="02020603050405020304" pitchFamily="18" charset="0"/>
                    </a:rPr>
                    <a:t>process1</a:t>
                  </a:r>
                </a:p>
              </p:txBody>
            </p:sp>
            <p:sp>
              <p:nvSpPr>
                <p:cNvPr id="107" name="Rectangle 64"/>
                <p:cNvSpPr>
                  <a:spLocks noChangeArrowheads="1"/>
                </p:cNvSpPr>
                <p:nvPr/>
              </p:nvSpPr>
              <p:spPr bwMode="auto">
                <a:xfrm>
                  <a:off x="2349" y="3399"/>
                  <a:ext cx="226" cy="39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楷体" panose="02010609060101010101" pitchFamily="49" charset="-122"/>
                    <a:cs typeface="Times New Roman" panose="02020603050405020304" pitchFamily="18" charset="0"/>
                  </a:endParaRPr>
                </a:p>
              </p:txBody>
            </p:sp>
            <p:sp>
              <p:nvSpPr>
                <p:cNvPr id="108" name="Line 65"/>
                <p:cNvSpPr>
                  <a:spLocks noChangeShapeType="1"/>
                </p:cNvSpPr>
                <p:nvPr/>
              </p:nvSpPr>
              <p:spPr bwMode="auto">
                <a:xfrm>
                  <a:off x="2342" y="3497"/>
                  <a:ext cx="22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09" name="Line 66"/>
                <p:cNvSpPr>
                  <a:spLocks noChangeShapeType="1"/>
                </p:cNvSpPr>
                <p:nvPr/>
              </p:nvSpPr>
              <p:spPr bwMode="auto">
                <a:xfrm>
                  <a:off x="2342" y="3588"/>
                  <a:ext cx="22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10" name="Text Box 67"/>
                <p:cNvSpPr txBox="1">
                  <a:spLocks noChangeArrowheads="1"/>
                </p:cNvSpPr>
                <p:nvPr/>
              </p:nvSpPr>
              <p:spPr bwMode="auto">
                <a:xfrm>
                  <a:off x="2337" y="3375"/>
                  <a:ext cx="273" cy="1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900" b="1">
                      <a:ea typeface="楷体" panose="02010609060101010101" pitchFamily="49" charset="-122"/>
                      <a:cs typeface="Times New Roman" panose="02020603050405020304" pitchFamily="18" charset="0"/>
                    </a:rPr>
                    <a:t>page</a:t>
                  </a:r>
                </a:p>
              </p:txBody>
            </p:sp>
            <p:sp>
              <p:nvSpPr>
                <p:cNvPr id="111" name="Text Box 68"/>
                <p:cNvSpPr txBox="1">
                  <a:spLocks noChangeArrowheads="1"/>
                </p:cNvSpPr>
                <p:nvPr/>
              </p:nvSpPr>
              <p:spPr bwMode="auto">
                <a:xfrm>
                  <a:off x="2336" y="3468"/>
                  <a:ext cx="273" cy="1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900" b="1">
                      <a:ea typeface="楷体" panose="02010609060101010101" pitchFamily="49" charset="-122"/>
                      <a:cs typeface="Times New Roman" panose="02020603050405020304" pitchFamily="18" charset="0"/>
                    </a:rPr>
                    <a:t>page</a:t>
                  </a:r>
                </a:p>
              </p:txBody>
            </p:sp>
            <p:sp>
              <p:nvSpPr>
                <p:cNvPr id="112" name="Text Box 69"/>
                <p:cNvSpPr txBox="1">
                  <a:spLocks noChangeArrowheads="1"/>
                </p:cNvSpPr>
                <p:nvPr/>
              </p:nvSpPr>
              <p:spPr bwMode="auto">
                <a:xfrm>
                  <a:off x="2336" y="3559"/>
                  <a:ext cx="273" cy="1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900" b="1">
                      <a:ea typeface="楷体" panose="02010609060101010101" pitchFamily="49" charset="-122"/>
                      <a:cs typeface="Times New Roman" panose="02020603050405020304" pitchFamily="18" charset="0"/>
                    </a:rPr>
                    <a:t>page</a:t>
                  </a:r>
                </a:p>
              </p:txBody>
            </p:sp>
            <p:sp>
              <p:nvSpPr>
                <p:cNvPr id="113" name="Text Box 70"/>
                <p:cNvSpPr txBox="1">
                  <a:spLocks noChangeArrowheads="1"/>
                </p:cNvSpPr>
                <p:nvPr/>
              </p:nvSpPr>
              <p:spPr bwMode="auto">
                <a:xfrm>
                  <a:off x="2283" y="3241"/>
                  <a:ext cx="453" cy="1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900" b="1">
                      <a:solidFill>
                        <a:srgbClr val="008000"/>
                      </a:solidFill>
                      <a:ea typeface="楷体" panose="02010609060101010101" pitchFamily="49" charset="-122"/>
                      <a:cs typeface="Times New Roman" panose="02020603050405020304" pitchFamily="18" charset="0"/>
                    </a:rPr>
                    <a:t>process2</a:t>
                  </a:r>
                </a:p>
              </p:txBody>
            </p:sp>
            <p:sp>
              <p:nvSpPr>
                <p:cNvPr id="114" name="Line 71"/>
                <p:cNvSpPr>
                  <a:spLocks noChangeShapeType="1"/>
                </p:cNvSpPr>
                <p:nvPr/>
              </p:nvSpPr>
              <p:spPr bwMode="auto">
                <a:xfrm>
                  <a:off x="2343" y="3688"/>
                  <a:ext cx="22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15" name="Text Box 72"/>
                <p:cNvSpPr txBox="1">
                  <a:spLocks noChangeArrowheads="1"/>
                </p:cNvSpPr>
                <p:nvPr/>
              </p:nvSpPr>
              <p:spPr bwMode="auto">
                <a:xfrm>
                  <a:off x="2336" y="3657"/>
                  <a:ext cx="273" cy="1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900" b="1">
                      <a:ea typeface="楷体" panose="02010609060101010101" pitchFamily="49" charset="-122"/>
                      <a:cs typeface="Times New Roman" panose="02020603050405020304" pitchFamily="18" charset="0"/>
                    </a:rPr>
                    <a:t>page</a:t>
                  </a:r>
                </a:p>
              </p:txBody>
            </p:sp>
          </p:grpSp>
          <p:grpSp>
            <p:nvGrpSpPr>
              <p:cNvPr id="73" name="Group 105"/>
              <p:cNvGrpSpPr>
                <a:grpSpLocks/>
              </p:cNvGrpSpPr>
              <p:nvPr/>
            </p:nvGrpSpPr>
            <p:grpSpPr bwMode="auto">
              <a:xfrm>
                <a:off x="3015" y="2382"/>
                <a:ext cx="935" cy="1225"/>
                <a:chOff x="2018" y="2886"/>
                <a:chExt cx="809" cy="1088"/>
              </a:xfrm>
            </p:grpSpPr>
            <p:sp>
              <p:nvSpPr>
                <p:cNvPr id="75" name="Rectangle 76"/>
                <p:cNvSpPr>
                  <a:spLocks noChangeArrowheads="1"/>
                </p:cNvSpPr>
                <p:nvPr/>
              </p:nvSpPr>
              <p:spPr bwMode="auto">
                <a:xfrm>
                  <a:off x="2023" y="3216"/>
                  <a:ext cx="255" cy="46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900" b="1">
                    <a:ea typeface="楷体" panose="02010609060101010101" pitchFamily="49" charset="-122"/>
                    <a:cs typeface="Times New Roman" panose="02020603050405020304" pitchFamily="18" charset="0"/>
                  </a:endParaRPr>
                </a:p>
              </p:txBody>
            </p:sp>
            <p:sp>
              <p:nvSpPr>
                <p:cNvPr id="76" name="Line 77"/>
                <p:cNvSpPr>
                  <a:spLocks noChangeShapeType="1"/>
                </p:cNvSpPr>
                <p:nvPr/>
              </p:nvSpPr>
              <p:spPr bwMode="auto">
                <a:xfrm>
                  <a:off x="2023" y="3329"/>
                  <a:ext cx="25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77" name="Text Box 78"/>
                <p:cNvSpPr txBox="1">
                  <a:spLocks noChangeArrowheads="1"/>
                </p:cNvSpPr>
                <p:nvPr/>
              </p:nvSpPr>
              <p:spPr bwMode="auto">
                <a:xfrm>
                  <a:off x="2018" y="3089"/>
                  <a:ext cx="279" cy="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900" b="1">
                      <a:solidFill>
                        <a:srgbClr val="FF3300"/>
                      </a:solidFill>
                      <a:ea typeface="楷体" panose="02010609060101010101" pitchFamily="49" charset="-122"/>
                      <a:cs typeface="Times New Roman" panose="02020603050405020304" pitchFamily="18" charset="0"/>
                    </a:rPr>
                    <a:t>内存</a:t>
                  </a:r>
                </a:p>
              </p:txBody>
            </p:sp>
            <p:sp>
              <p:nvSpPr>
                <p:cNvPr id="78" name="Text Box 81"/>
                <p:cNvSpPr txBox="1">
                  <a:spLocks noChangeArrowheads="1"/>
                </p:cNvSpPr>
                <p:nvPr/>
              </p:nvSpPr>
              <p:spPr bwMode="auto">
                <a:xfrm>
                  <a:off x="2025" y="3194"/>
                  <a:ext cx="273" cy="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900" b="1">
                      <a:ea typeface="楷体" panose="02010609060101010101" pitchFamily="49" charset="-122"/>
                      <a:cs typeface="Times New Roman" panose="02020603050405020304" pitchFamily="18" charset="0"/>
                    </a:rPr>
                    <a:t>OS</a:t>
                  </a:r>
                </a:p>
              </p:txBody>
            </p:sp>
            <p:sp>
              <p:nvSpPr>
                <p:cNvPr id="79" name="Rectangle 85"/>
                <p:cNvSpPr>
                  <a:spLocks noChangeArrowheads="1"/>
                </p:cNvSpPr>
                <p:nvPr/>
              </p:nvSpPr>
              <p:spPr bwMode="auto">
                <a:xfrm>
                  <a:off x="2427" y="3044"/>
                  <a:ext cx="226" cy="29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楷体" panose="02010609060101010101" pitchFamily="49" charset="-122"/>
                    <a:cs typeface="Times New Roman" panose="02020603050405020304" pitchFamily="18" charset="0"/>
                  </a:endParaRPr>
                </a:p>
              </p:txBody>
            </p:sp>
            <p:sp>
              <p:nvSpPr>
                <p:cNvPr id="80" name="Line 86"/>
                <p:cNvSpPr>
                  <a:spLocks noChangeShapeType="1"/>
                </p:cNvSpPr>
                <p:nvPr/>
              </p:nvSpPr>
              <p:spPr bwMode="auto">
                <a:xfrm>
                  <a:off x="2420" y="3142"/>
                  <a:ext cx="22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81" name="Text Box 91"/>
                <p:cNvSpPr txBox="1">
                  <a:spLocks noChangeArrowheads="1"/>
                </p:cNvSpPr>
                <p:nvPr/>
              </p:nvSpPr>
              <p:spPr bwMode="auto">
                <a:xfrm>
                  <a:off x="2361" y="2886"/>
                  <a:ext cx="453" cy="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900" b="1">
                      <a:solidFill>
                        <a:srgbClr val="FF3300"/>
                      </a:solidFill>
                      <a:ea typeface="楷体" panose="02010609060101010101" pitchFamily="49" charset="-122"/>
                      <a:cs typeface="Times New Roman" panose="02020603050405020304" pitchFamily="18" charset="0"/>
                    </a:rPr>
                    <a:t>process1</a:t>
                  </a:r>
                </a:p>
              </p:txBody>
            </p:sp>
            <p:sp>
              <p:nvSpPr>
                <p:cNvPr id="82" name="Rectangle 92"/>
                <p:cNvSpPr>
                  <a:spLocks noChangeArrowheads="1"/>
                </p:cNvSpPr>
                <p:nvPr/>
              </p:nvSpPr>
              <p:spPr bwMode="auto">
                <a:xfrm>
                  <a:off x="2440" y="3512"/>
                  <a:ext cx="226" cy="4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楷体" panose="02010609060101010101" pitchFamily="49" charset="-122"/>
                    <a:cs typeface="Times New Roman" panose="02020603050405020304" pitchFamily="18" charset="0"/>
                  </a:endParaRPr>
                </a:p>
              </p:txBody>
            </p:sp>
            <p:sp>
              <p:nvSpPr>
                <p:cNvPr id="83" name="Line 93"/>
                <p:cNvSpPr>
                  <a:spLocks noChangeShapeType="1"/>
                </p:cNvSpPr>
                <p:nvPr/>
              </p:nvSpPr>
              <p:spPr bwMode="auto">
                <a:xfrm>
                  <a:off x="2433" y="3610"/>
                  <a:ext cx="22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84" name="Text Box 95"/>
                <p:cNvSpPr txBox="1">
                  <a:spLocks noChangeArrowheads="1"/>
                </p:cNvSpPr>
                <p:nvPr/>
              </p:nvSpPr>
              <p:spPr bwMode="auto">
                <a:xfrm>
                  <a:off x="2414" y="3488"/>
                  <a:ext cx="316" cy="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900" b="1">
                      <a:ea typeface="楷体" panose="02010609060101010101" pitchFamily="49" charset="-122"/>
                      <a:cs typeface="Times New Roman" panose="02020603050405020304" pitchFamily="18" charset="0"/>
                    </a:rPr>
                    <a:t>Segm1</a:t>
                  </a:r>
                </a:p>
              </p:txBody>
            </p:sp>
            <p:sp>
              <p:nvSpPr>
                <p:cNvPr id="85" name="Text Box 98"/>
                <p:cNvSpPr txBox="1">
                  <a:spLocks noChangeArrowheads="1"/>
                </p:cNvSpPr>
                <p:nvPr/>
              </p:nvSpPr>
              <p:spPr bwMode="auto">
                <a:xfrm>
                  <a:off x="2374" y="3354"/>
                  <a:ext cx="453" cy="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900" b="1">
                      <a:solidFill>
                        <a:srgbClr val="FF3300"/>
                      </a:solidFill>
                      <a:ea typeface="楷体" panose="02010609060101010101" pitchFamily="49" charset="-122"/>
                      <a:cs typeface="Times New Roman" panose="02020603050405020304" pitchFamily="18" charset="0"/>
                    </a:rPr>
                    <a:t>process2</a:t>
                  </a:r>
                </a:p>
              </p:txBody>
            </p:sp>
            <p:sp>
              <p:nvSpPr>
                <p:cNvPr id="86" name="Line 99"/>
                <p:cNvSpPr>
                  <a:spLocks noChangeShapeType="1"/>
                </p:cNvSpPr>
                <p:nvPr/>
              </p:nvSpPr>
              <p:spPr bwMode="auto">
                <a:xfrm>
                  <a:off x="2434" y="3801"/>
                  <a:ext cx="22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87" name="Text Box 101"/>
                <p:cNvSpPr txBox="1">
                  <a:spLocks noChangeArrowheads="1"/>
                </p:cNvSpPr>
                <p:nvPr/>
              </p:nvSpPr>
              <p:spPr bwMode="auto">
                <a:xfrm>
                  <a:off x="2381" y="3022"/>
                  <a:ext cx="363" cy="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900" b="1">
                      <a:ea typeface="楷体" panose="02010609060101010101" pitchFamily="49" charset="-122"/>
                      <a:cs typeface="Times New Roman" panose="02020603050405020304" pitchFamily="18" charset="0"/>
                    </a:rPr>
                    <a:t>Segm 1</a:t>
                  </a:r>
                </a:p>
              </p:txBody>
            </p:sp>
            <p:sp>
              <p:nvSpPr>
                <p:cNvPr id="88" name="Text Box 102"/>
                <p:cNvSpPr txBox="1">
                  <a:spLocks noChangeArrowheads="1"/>
                </p:cNvSpPr>
                <p:nvPr/>
              </p:nvSpPr>
              <p:spPr bwMode="auto">
                <a:xfrm>
                  <a:off x="2381" y="3158"/>
                  <a:ext cx="363" cy="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900" b="1">
                      <a:ea typeface="楷体" panose="02010609060101010101" pitchFamily="49" charset="-122"/>
                      <a:cs typeface="Times New Roman" panose="02020603050405020304" pitchFamily="18" charset="0"/>
                    </a:rPr>
                    <a:t>Segm 2</a:t>
                  </a:r>
                </a:p>
              </p:txBody>
            </p:sp>
            <p:sp>
              <p:nvSpPr>
                <p:cNvPr id="89" name="Text Box 103"/>
                <p:cNvSpPr txBox="1">
                  <a:spLocks noChangeArrowheads="1"/>
                </p:cNvSpPr>
                <p:nvPr/>
              </p:nvSpPr>
              <p:spPr bwMode="auto">
                <a:xfrm>
                  <a:off x="2405" y="3634"/>
                  <a:ext cx="363" cy="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900" b="1">
                      <a:ea typeface="楷体" panose="02010609060101010101" pitchFamily="49" charset="-122"/>
                      <a:cs typeface="Times New Roman" panose="02020603050405020304" pitchFamily="18" charset="0"/>
                    </a:rPr>
                    <a:t>Segm 2</a:t>
                  </a:r>
                </a:p>
              </p:txBody>
            </p:sp>
            <p:sp>
              <p:nvSpPr>
                <p:cNvPr id="90" name="Text Box 104"/>
                <p:cNvSpPr txBox="1">
                  <a:spLocks noChangeArrowheads="1"/>
                </p:cNvSpPr>
                <p:nvPr/>
              </p:nvSpPr>
              <p:spPr bwMode="auto">
                <a:xfrm>
                  <a:off x="2405" y="3791"/>
                  <a:ext cx="363" cy="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900" b="1">
                      <a:ea typeface="楷体" panose="02010609060101010101" pitchFamily="49" charset="-122"/>
                      <a:cs typeface="Times New Roman" panose="02020603050405020304" pitchFamily="18" charset="0"/>
                    </a:rPr>
                    <a:t>Segm 3</a:t>
                  </a:r>
                </a:p>
              </p:txBody>
            </p:sp>
          </p:grpSp>
          <p:sp>
            <p:nvSpPr>
              <p:cNvPr id="74" name="Text Box 203"/>
              <p:cNvSpPr txBox="1">
                <a:spLocks noChangeArrowheads="1"/>
              </p:cNvSpPr>
              <p:nvPr/>
            </p:nvSpPr>
            <p:spPr bwMode="auto">
              <a:xfrm>
                <a:off x="2925" y="3653"/>
                <a:ext cx="99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1800" b="1">
                    <a:solidFill>
                      <a:srgbClr val="FF3300"/>
                    </a:solidFill>
                    <a:ea typeface="楷体" panose="02010609060101010101" pitchFamily="49" charset="-122"/>
                    <a:cs typeface="Times New Roman" panose="02020603050405020304" pitchFamily="18" charset="0"/>
                  </a:rPr>
                  <a:t>简单页、段式</a:t>
                </a:r>
              </a:p>
            </p:txBody>
          </p:sp>
        </p:grpSp>
        <p:sp>
          <p:nvSpPr>
            <p:cNvPr id="71" name="AutoShape 212"/>
            <p:cNvSpPr>
              <a:spLocks noChangeArrowheads="1"/>
            </p:cNvSpPr>
            <p:nvPr/>
          </p:nvSpPr>
          <p:spPr bwMode="auto">
            <a:xfrm rot="2674312">
              <a:off x="2562" y="1888"/>
              <a:ext cx="363" cy="136"/>
            </a:xfrm>
            <a:prstGeom prst="rightArrow">
              <a:avLst>
                <a:gd name="adj1" fmla="val 50000"/>
                <a:gd name="adj2" fmla="val 66728"/>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楷体" panose="02010609060101010101" pitchFamily="49" charset="-122"/>
                <a:cs typeface="Times New Roman" panose="02020603050405020304" pitchFamily="18" charset="0"/>
              </a:endParaRPr>
            </a:p>
          </p:txBody>
        </p:sp>
      </p:grpSp>
      <p:grpSp>
        <p:nvGrpSpPr>
          <p:cNvPr id="116" name="Group 223"/>
          <p:cNvGrpSpPr>
            <a:grpSpLocks/>
          </p:cNvGrpSpPr>
          <p:nvPr/>
        </p:nvGrpSpPr>
        <p:grpSpPr bwMode="auto">
          <a:xfrm>
            <a:off x="6228407" y="2137940"/>
            <a:ext cx="2232025" cy="4243388"/>
            <a:chOff x="3923" y="1211"/>
            <a:chExt cx="1406" cy="2673"/>
          </a:xfrm>
        </p:grpSpPr>
        <p:grpSp>
          <p:nvGrpSpPr>
            <p:cNvPr id="117" name="Group 209"/>
            <p:cNvGrpSpPr>
              <a:grpSpLocks/>
            </p:cNvGrpSpPr>
            <p:nvPr/>
          </p:nvGrpSpPr>
          <p:grpSpPr bwMode="auto">
            <a:xfrm>
              <a:off x="4286" y="1211"/>
              <a:ext cx="1043" cy="2673"/>
              <a:chOff x="4286" y="1211"/>
              <a:chExt cx="1043" cy="2673"/>
            </a:xfrm>
          </p:grpSpPr>
          <p:grpSp>
            <p:nvGrpSpPr>
              <p:cNvPr id="119" name="Group 179"/>
              <p:cNvGrpSpPr>
                <a:grpSpLocks/>
              </p:cNvGrpSpPr>
              <p:nvPr/>
            </p:nvGrpSpPr>
            <p:grpSpPr bwMode="auto">
              <a:xfrm>
                <a:off x="4422" y="1211"/>
                <a:ext cx="903" cy="1134"/>
                <a:chOff x="4300" y="992"/>
                <a:chExt cx="809" cy="1020"/>
              </a:xfrm>
            </p:grpSpPr>
            <p:sp>
              <p:nvSpPr>
                <p:cNvPr id="141" name="Rectangle 107"/>
                <p:cNvSpPr>
                  <a:spLocks noChangeArrowheads="1"/>
                </p:cNvSpPr>
                <p:nvPr/>
              </p:nvSpPr>
              <p:spPr bwMode="auto">
                <a:xfrm>
                  <a:off x="4305" y="1322"/>
                  <a:ext cx="255" cy="46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900" b="1">
                    <a:ea typeface="楷体" panose="02010609060101010101" pitchFamily="49" charset="-122"/>
                    <a:cs typeface="Times New Roman" panose="02020603050405020304" pitchFamily="18" charset="0"/>
                  </a:endParaRPr>
                </a:p>
              </p:txBody>
            </p:sp>
            <p:sp>
              <p:nvSpPr>
                <p:cNvPr id="142" name="Line 108"/>
                <p:cNvSpPr>
                  <a:spLocks noChangeShapeType="1"/>
                </p:cNvSpPr>
                <p:nvPr/>
              </p:nvSpPr>
              <p:spPr bwMode="auto">
                <a:xfrm>
                  <a:off x="4305" y="1435"/>
                  <a:ext cx="25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43" name="Text Box 109"/>
                <p:cNvSpPr txBox="1">
                  <a:spLocks noChangeArrowheads="1"/>
                </p:cNvSpPr>
                <p:nvPr/>
              </p:nvSpPr>
              <p:spPr bwMode="auto">
                <a:xfrm>
                  <a:off x="4300" y="1195"/>
                  <a:ext cx="279"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900" b="1">
                      <a:solidFill>
                        <a:srgbClr val="FF3300"/>
                      </a:solidFill>
                      <a:ea typeface="楷体" panose="02010609060101010101" pitchFamily="49" charset="-122"/>
                      <a:cs typeface="Times New Roman" panose="02020603050405020304" pitchFamily="18" charset="0"/>
                    </a:rPr>
                    <a:t>内存</a:t>
                  </a:r>
                </a:p>
              </p:txBody>
            </p:sp>
            <p:sp>
              <p:nvSpPr>
                <p:cNvPr id="144" name="Line 110"/>
                <p:cNvSpPr>
                  <a:spLocks noChangeShapeType="1"/>
                </p:cNvSpPr>
                <p:nvPr/>
              </p:nvSpPr>
              <p:spPr bwMode="auto">
                <a:xfrm>
                  <a:off x="4300" y="1550"/>
                  <a:ext cx="25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45" name="Line 111"/>
                <p:cNvSpPr>
                  <a:spLocks noChangeShapeType="1"/>
                </p:cNvSpPr>
                <p:nvPr/>
              </p:nvSpPr>
              <p:spPr bwMode="auto">
                <a:xfrm>
                  <a:off x="4300" y="1665"/>
                  <a:ext cx="25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46" name="Text Box 112"/>
                <p:cNvSpPr txBox="1">
                  <a:spLocks noChangeArrowheads="1"/>
                </p:cNvSpPr>
                <p:nvPr/>
              </p:nvSpPr>
              <p:spPr bwMode="auto">
                <a:xfrm>
                  <a:off x="4307" y="1300"/>
                  <a:ext cx="273" cy="1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900" b="1">
                      <a:ea typeface="楷体" panose="02010609060101010101" pitchFamily="49" charset="-122"/>
                      <a:cs typeface="Times New Roman" panose="02020603050405020304" pitchFamily="18" charset="0"/>
                    </a:rPr>
                    <a:t>OS</a:t>
                  </a:r>
                </a:p>
              </p:txBody>
            </p:sp>
            <p:sp>
              <p:nvSpPr>
                <p:cNvPr id="147" name="Text Box 113"/>
                <p:cNvSpPr txBox="1">
                  <a:spLocks noChangeArrowheads="1"/>
                </p:cNvSpPr>
                <p:nvPr/>
              </p:nvSpPr>
              <p:spPr bwMode="auto">
                <a:xfrm>
                  <a:off x="4307" y="1408"/>
                  <a:ext cx="273" cy="1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900" b="1">
                      <a:solidFill>
                        <a:srgbClr val="FF3300"/>
                      </a:solidFill>
                      <a:ea typeface="楷体" panose="02010609060101010101" pitchFamily="49" charset="-122"/>
                      <a:cs typeface="Times New Roman" panose="02020603050405020304" pitchFamily="18" charset="0"/>
                    </a:rPr>
                    <a:t>page</a:t>
                  </a:r>
                </a:p>
              </p:txBody>
            </p:sp>
            <p:sp>
              <p:nvSpPr>
                <p:cNvPr id="148" name="Text Box 114"/>
                <p:cNvSpPr txBox="1">
                  <a:spLocks noChangeArrowheads="1"/>
                </p:cNvSpPr>
                <p:nvPr/>
              </p:nvSpPr>
              <p:spPr bwMode="auto">
                <a:xfrm>
                  <a:off x="4307" y="1530"/>
                  <a:ext cx="273" cy="1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900" b="1">
                      <a:solidFill>
                        <a:srgbClr val="008000"/>
                      </a:solidFill>
                      <a:ea typeface="楷体" panose="02010609060101010101" pitchFamily="49" charset="-122"/>
                      <a:cs typeface="Times New Roman" panose="02020603050405020304" pitchFamily="18" charset="0"/>
                    </a:rPr>
                    <a:t>page</a:t>
                  </a:r>
                </a:p>
              </p:txBody>
            </p:sp>
            <p:sp>
              <p:nvSpPr>
                <p:cNvPr id="149" name="Text Box 115"/>
                <p:cNvSpPr txBox="1">
                  <a:spLocks noChangeArrowheads="1"/>
                </p:cNvSpPr>
                <p:nvPr/>
              </p:nvSpPr>
              <p:spPr bwMode="auto">
                <a:xfrm>
                  <a:off x="4307" y="1642"/>
                  <a:ext cx="273"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900" b="1">
                      <a:ea typeface="楷体" panose="02010609060101010101" pitchFamily="49" charset="-122"/>
                      <a:cs typeface="Times New Roman" panose="02020603050405020304" pitchFamily="18" charset="0"/>
                    </a:rPr>
                    <a:t>page</a:t>
                  </a:r>
                </a:p>
              </p:txBody>
            </p:sp>
            <p:sp>
              <p:nvSpPr>
                <p:cNvPr id="150" name="Rectangle 116"/>
                <p:cNvSpPr>
                  <a:spLocks noChangeArrowheads="1"/>
                </p:cNvSpPr>
                <p:nvPr/>
              </p:nvSpPr>
              <p:spPr bwMode="auto">
                <a:xfrm>
                  <a:off x="4709" y="1150"/>
                  <a:ext cx="226" cy="29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楷体" panose="02010609060101010101" pitchFamily="49" charset="-122"/>
                    <a:cs typeface="Times New Roman" panose="02020603050405020304" pitchFamily="18" charset="0"/>
                  </a:endParaRPr>
                </a:p>
              </p:txBody>
            </p:sp>
            <p:sp>
              <p:nvSpPr>
                <p:cNvPr id="151" name="Line 117"/>
                <p:cNvSpPr>
                  <a:spLocks noChangeShapeType="1"/>
                </p:cNvSpPr>
                <p:nvPr/>
              </p:nvSpPr>
              <p:spPr bwMode="auto">
                <a:xfrm>
                  <a:off x="4702" y="1248"/>
                  <a:ext cx="22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52" name="Line 118"/>
                <p:cNvSpPr>
                  <a:spLocks noChangeShapeType="1"/>
                </p:cNvSpPr>
                <p:nvPr/>
              </p:nvSpPr>
              <p:spPr bwMode="auto">
                <a:xfrm>
                  <a:off x="4702" y="1339"/>
                  <a:ext cx="22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53" name="Text Box 119"/>
                <p:cNvSpPr txBox="1">
                  <a:spLocks noChangeArrowheads="1"/>
                </p:cNvSpPr>
                <p:nvPr/>
              </p:nvSpPr>
              <p:spPr bwMode="auto">
                <a:xfrm>
                  <a:off x="4697" y="1126"/>
                  <a:ext cx="273"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900" b="1">
                      <a:solidFill>
                        <a:srgbClr val="FF3300"/>
                      </a:solidFill>
                      <a:ea typeface="楷体" panose="02010609060101010101" pitchFamily="49" charset="-122"/>
                      <a:cs typeface="Times New Roman" panose="02020603050405020304" pitchFamily="18" charset="0"/>
                    </a:rPr>
                    <a:t>page</a:t>
                  </a:r>
                </a:p>
              </p:txBody>
            </p:sp>
            <p:sp>
              <p:nvSpPr>
                <p:cNvPr id="154" name="Text Box 120"/>
                <p:cNvSpPr txBox="1">
                  <a:spLocks noChangeArrowheads="1"/>
                </p:cNvSpPr>
                <p:nvPr/>
              </p:nvSpPr>
              <p:spPr bwMode="auto">
                <a:xfrm>
                  <a:off x="4695" y="1209"/>
                  <a:ext cx="273" cy="1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900" b="1">
                      <a:solidFill>
                        <a:srgbClr val="FF3300"/>
                      </a:solidFill>
                      <a:ea typeface="楷体" panose="02010609060101010101" pitchFamily="49" charset="-122"/>
                      <a:cs typeface="Times New Roman" panose="02020603050405020304" pitchFamily="18" charset="0"/>
                    </a:rPr>
                    <a:t>page</a:t>
                  </a:r>
                </a:p>
              </p:txBody>
            </p:sp>
            <p:sp>
              <p:nvSpPr>
                <p:cNvPr id="155" name="Text Box 121"/>
                <p:cNvSpPr txBox="1">
                  <a:spLocks noChangeArrowheads="1"/>
                </p:cNvSpPr>
                <p:nvPr/>
              </p:nvSpPr>
              <p:spPr bwMode="auto">
                <a:xfrm>
                  <a:off x="4695" y="1318"/>
                  <a:ext cx="273" cy="1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900" b="1">
                      <a:solidFill>
                        <a:srgbClr val="FF3300"/>
                      </a:solidFill>
                      <a:ea typeface="楷体" panose="02010609060101010101" pitchFamily="49" charset="-122"/>
                      <a:cs typeface="Times New Roman" panose="02020603050405020304" pitchFamily="18" charset="0"/>
                    </a:rPr>
                    <a:t>page</a:t>
                  </a:r>
                </a:p>
              </p:txBody>
            </p:sp>
            <p:sp>
              <p:nvSpPr>
                <p:cNvPr id="156" name="Text Box 122"/>
                <p:cNvSpPr txBox="1">
                  <a:spLocks noChangeArrowheads="1"/>
                </p:cNvSpPr>
                <p:nvPr/>
              </p:nvSpPr>
              <p:spPr bwMode="auto">
                <a:xfrm>
                  <a:off x="4643" y="992"/>
                  <a:ext cx="453"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900" b="1">
                      <a:solidFill>
                        <a:srgbClr val="FF3300"/>
                      </a:solidFill>
                      <a:ea typeface="楷体" panose="02010609060101010101" pitchFamily="49" charset="-122"/>
                      <a:cs typeface="Times New Roman" panose="02020603050405020304" pitchFamily="18" charset="0"/>
                    </a:rPr>
                    <a:t>process1</a:t>
                  </a:r>
                </a:p>
              </p:txBody>
            </p:sp>
            <p:sp>
              <p:nvSpPr>
                <p:cNvPr id="157" name="Rectangle 123"/>
                <p:cNvSpPr>
                  <a:spLocks noChangeArrowheads="1"/>
                </p:cNvSpPr>
                <p:nvPr/>
              </p:nvSpPr>
              <p:spPr bwMode="auto">
                <a:xfrm>
                  <a:off x="4722" y="1618"/>
                  <a:ext cx="226" cy="39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楷体" panose="02010609060101010101" pitchFamily="49" charset="-122"/>
                    <a:cs typeface="Times New Roman" panose="02020603050405020304" pitchFamily="18" charset="0"/>
                  </a:endParaRPr>
                </a:p>
              </p:txBody>
            </p:sp>
            <p:sp>
              <p:nvSpPr>
                <p:cNvPr id="158" name="Line 124"/>
                <p:cNvSpPr>
                  <a:spLocks noChangeShapeType="1"/>
                </p:cNvSpPr>
                <p:nvPr/>
              </p:nvSpPr>
              <p:spPr bwMode="auto">
                <a:xfrm>
                  <a:off x="4715" y="1716"/>
                  <a:ext cx="22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59" name="Line 125"/>
                <p:cNvSpPr>
                  <a:spLocks noChangeShapeType="1"/>
                </p:cNvSpPr>
                <p:nvPr/>
              </p:nvSpPr>
              <p:spPr bwMode="auto">
                <a:xfrm>
                  <a:off x="4715" y="1807"/>
                  <a:ext cx="22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60" name="Text Box 126"/>
                <p:cNvSpPr txBox="1">
                  <a:spLocks noChangeArrowheads="1"/>
                </p:cNvSpPr>
                <p:nvPr/>
              </p:nvSpPr>
              <p:spPr bwMode="auto">
                <a:xfrm>
                  <a:off x="4710" y="1594"/>
                  <a:ext cx="273" cy="1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900" b="1">
                      <a:solidFill>
                        <a:srgbClr val="008000"/>
                      </a:solidFill>
                      <a:ea typeface="楷体" panose="02010609060101010101" pitchFamily="49" charset="-122"/>
                      <a:cs typeface="Times New Roman" panose="02020603050405020304" pitchFamily="18" charset="0"/>
                    </a:rPr>
                    <a:t>page</a:t>
                  </a:r>
                </a:p>
              </p:txBody>
            </p:sp>
            <p:sp>
              <p:nvSpPr>
                <p:cNvPr id="161" name="Text Box 127"/>
                <p:cNvSpPr txBox="1">
                  <a:spLocks noChangeArrowheads="1"/>
                </p:cNvSpPr>
                <p:nvPr/>
              </p:nvSpPr>
              <p:spPr bwMode="auto">
                <a:xfrm>
                  <a:off x="4709" y="1687"/>
                  <a:ext cx="273"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900" b="1">
                      <a:solidFill>
                        <a:srgbClr val="008000"/>
                      </a:solidFill>
                      <a:ea typeface="楷体" panose="02010609060101010101" pitchFamily="49" charset="-122"/>
                      <a:cs typeface="Times New Roman" panose="02020603050405020304" pitchFamily="18" charset="0"/>
                    </a:rPr>
                    <a:t>page</a:t>
                  </a:r>
                </a:p>
              </p:txBody>
            </p:sp>
            <p:sp>
              <p:nvSpPr>
                <p:cNvPr id="162" name="Text Box 128"/>
                <p:cNvSpPr txBox="1">
                  <a:spLocks noChangeArrowheads="1"/>
                </p:cNvSpPr>
                <p:nvPr/>
              </p:nvSpPr>
              <p:spPr bwMode="auto">
                <a:xfrm>
                  <a:off x="4709" y="1778"/>
                  <a:ext cx="273"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900" b="1">
                      <a:solidFill>
                        <a:srgbClr val="008000"/>
                      </a:solidFill>
                      <a:ea typeface="楷体" panose="02010609060101010101" pitchFamily="49" charset="-122"/>
                      <a:cs typeface="Times New Roman" panose="02020603050405020304" pitchFamily="18" charset="0"/>
                    </a:rPr>
                    <a:t>page</a:t>
                  </a:r>
                </a:p>
              </p:txBody>
            </p:sp>
            <p:sp>
              <p:nvSpPr>
                <p:cNvPr id="163" name="Text Box 129"/>
                <p:cNvSpPr txBox="1">
                  <a:spLocks noChangeArrowheads="1"/>
                </p:cNvSpPr>
                <p:nvPr/>
              </p:nvSpPr>
              <p:spPr bwMode="auto">
                <a:xfrm>
                  <a:off x="4656" y="1460"/>
                  <a:ext cx="453" cy="1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900" b="1">
                      <a:solidFill>
                        <a:srgbClr val="008000"/>
                      </a:solidFill>
                      <a:ea typeface="楷体" panose="02010609060101010101" pitchFamily="49" charset="-122"/>
                      <a:cs typeface="Times New Roman" panose="02020603050405020304" pitchFamily="18" charset="0"/>
                    </a:rPr>
                    <a:t>process2</a:t>
                  </a:r>
                </a:p>
              </p:txBody>
            </p:sp>
            <p:sp>
              <p:nvSpPr>
                <p:cNvPr id="164" name="Line 130"/>
                <p:cNvSpPr>
                  <a:spLocks noChangeShapeType="1"/>
                </p:cNvSpPr>
                <p:nvPr/>
              </p:nvSpPr>
              <p:spPr bwMode="auto">
                <a:xfrm>
                  <a:off x="4716" y="1907"/>
                  <a:ext cx="22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65" name="Text Box 131"/>
                <p:cNvSpPr txBox="1">
                  <a:spLocks noChangeArrowheads="1"/>
                </p:cNvSpPr>
                <p:nvPr/>
              </p:nvSpPr>
              <p:spPr bwMode="auto">
                <a:xfrm>
                  <a:off x="4709" y="1876"/>
                  <a:ext cx="273"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900" b="1">
                      <a:solidFill>
                        <a:srgbClr val="008000"/>
                      </a:solidFill>
                      <a:ea typeface="楷体" panose="02010609060101010101" pitchFamily="49" charset="-122"/>
                      <a:cs typeface="Times New Roman" panose="02020603050405020304" pitchFamily="18" charset="0"/>
                    </a:rPr>
                    <a:t>page</a:t>
                  </a:r>
                </a:p>
              </p:txBody>
            </p:sp>
          </p:grpSp>
          <p:grpSp>
            <p:nvGrpSpPr>
              <p:cNvPr id="120" name="Group 152"/>
              <p:cNvGrpSpPr>
                <a:grpSpLocks/>
              </p:cNvGrpSpPr>
              <p:nvPr/>
            </p:nvGrpSpPr>
            <p:grpSpPr bwMode="auto">
              <a:xfrm>
                <a:off x="4377" y="2421"/>
                <a:ext cx="952" cy="1191"/>
                <a:chOff x="4558" y="2453"/>
                <a:chExt cx="827" cy="1088"/>
              </a:xfrm>
            </p:grpSpPr>
            <p:sp>
              <p:nvSpPr>
                <p:cNvPr id="122" name="Rectangle 133"/>
                <p:cNvSpPr>
                  <a:spLocks noChangeArrowheads="1"/>
                </p:cNvSpPr>
                <p:nvPr/>
              </p:nvSpPr>
              <p:spPr bwMode="auto">
                <a:xfrm>
                  <a:off x="4581" y="2783"/>
                  <a:ext cx="255" cy="46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900" b="1">
                    <a:ea typeface="楷体" panose="02010609060101010101" pitchFamily="49" charset="-122"/>
                    <a:cs typeface="Times New Roman" panose="02020603050405020304" pitchFamily="18" charset="0"/>
                  </a:endParaRPr>
                </a:p>
              </p:txBody>
            </p:sp>
            <p:sp>
              <p:nvSpPr>
                <p:cNvPr id="123" name="Line 134"/>
                <p:cNvSpPr>
                  <a:spLocks noChangeShapeType="1"/>
                </p:cNvSpPr>
                <p:nvPr/>
              </p:nvSpPr>
              <p:spPr bwMode="auto">
                <a:xfrm>
                  <a:off x="4581" y="2896"/>
                  <a:ext cx="25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24" name="Text Box 135"/>
                <p:cNvSpPr txBox="1">
                  <a:spLocks noChangeArrowheads="1"/>
                </p:cNvSpPr>
                <p:nvPr/>
              </p:nvSpPr>
              <p:spPr bwMode="auto">
                <a:xfrm>
                  <a:off x="4576" y="2656"/>
                  <a:ext cx="279" cy="1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900" b="1">
                      <a:solidFill>
                        <a:srgbClr val="FF3300"/>
                      </a:solidFill>
                      <a:ea typeface="楷体" panose="02010609060101010101" pitchFamily="49" charset="-122"/>
                      <a:cs typeface="Times New Roman" panose="02020603050405020304" pitchFamily="18" charset="0"/>
                    </a:rPr>
                    <a:t>内存</a:t>
                  </a:r>
                </a:p>
              </p:txBody>
            </p:sp>
            <p:sp>
              <p:nvSpPr>
                <p:cNvPr id="125" name="Text Box 136"/>
                <p:cNvSpPr txBox="1">
                  <a:spLocks noChangeArrowheads="1"/>
                </p:cNvSpPr>
                <p:nvPr/>
              </p:nvSpPr>
              <p:spPr bwMode="auto">
                <a:xfrm>
                  <a:off x="4583" y="2761"/>
                  <a:ext cx="273" cy="1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900" b="1">
                      <a:ea typeface="楷体" panose="02010609060101010101" pitchFamily="49" charset="-122"/>
                      <a:cs typeface="Times New Roman" panose="02020603050405020304" pitchFamily="18" charset="0"/>
                    </a:rPr>
                    <a:t>OS</a:t>
                  </a:r>
                </a:p>
              </p:txBody>
            </p:sp>
            <p:sp>
              <p:nvSpPr>
                <p:cNvPr id="126" name="Rectangle 137"/>
                <p:cNvSpPr>
                  <a:spLocks noChangeArrowheads="1"/>
                </p:cNvSpPr>
                <p:nvPr/>
              </p:nvSpPr>
              <p:spPr bwMode="auto">
                <a:xfrm>
                  <a:off x="4985" y="2611"/>
                  <a:ext cx="226" cy="29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楷体" panose="02010609060101010101" pitchFamily="49" charset="-122"/>
                    <a:cs typeface="Times New Roman" panose="02020603050405020304" pitchFamily="18" charset="0"/>
                  </a:endParaRPr>
                </a:p>
              </p:txBody>
            </p:sp>
            <p:sp>
              <p:nvSpPr>
                <p:cNvPr id="127" name="Line 138"/>
                <p:cNvSpPr>
                  <a:spLocks noChangeShapeType="1"/>
                </p:cNvSpPr>
                <p:nvPr/>
              </p:nvSpPr>
              <p:spPr bwMode="auto">
                <a:xfrm>
                  <a:off x="4978" y="2709"/>
                  <a:ext cx="22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28" name="Text Box 139"/>
                <p:cNvSpPr txBox="1">
                  <a:spLocks noChangeArrowheads="1"/>
                </p:cNvSpPr>
                <p:nvPr/>
              </p:nvSpPr>
              <p:spPr bwMode="auto">
                <a:xfrm>
                  <a:off x="4919" y="2453"/>
                  <a:ext cx="453" cy="1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900" b="1">
                      <a:solidFill>
                        <a:srgbClr val="FF3300"/>
                      </a:solidFill>
                      <a:ea typeface="楷体" panose="02010609060101010101" pitchFamily="49" charset="-122"/>
                      <a:cs typeface="Times New Roman" panose="02020603050405020304" pitchFamily="18" charset="0"/>
                    </a:rPr>
                    <a:t>process1</a:t>
                  </a:r>
                </a:p>
              </p:txBody>
            </p:sp>
            <p:sp>
              <p:nvSpPr>
                <p:cNvPr id="129" name="Rectangle 140"/>
                <p:cNvSpPr>
                  <a:spLocks noChangeArrowheads="1"/>
                </p:cNvSpPr>
                <p:nvPr/>
              </p:nvSpPr>
              <p:spPr bwMode="auto">
                <a:xfrm>
                  <a:off x="4998" y="3079"/>
                  <a:ext cx="226" cy="4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楷体" panose="02010609060101010101" pitchFamily="49" charset="-122"/>
                    <a:cs typeface="Times New Roman" panose="02020603050405020304" pitchFamily="18" charset="0"/>
                  </a:endParaRPr>
                </a:p>
              </p:txBody>
            </p:sp>
            <p:sp>
              <p:nvSpPr>
                <p:cNvPr id="130" name="Line 141"/>
                <p:cNvSpPr>
                  <a:spLocks noChangeShapeType="1"/>
                </p:cNvSpPr>
                <p:nvPr/>
              </p:nvSpPr>
              <p:spPr bwMode="auto">
                <a:xfrm>
                  <a:off x="4991" y="3177"/>
                  <a:ext cx="22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31" name="Text Box 142"/>
                <p:cNvSpPr txBox="1">
                  <a:spLocks noChangeArrowheads="1"/>
                </p:cNvSpPr>
                <p:nvPr/>
              </p:nvSpPr>
              <p:spPr bwMode="auto">
                <a:xfrm>
                  <a:off x="4958" y="3055"/>
                  <a:ext cx="316" cy="1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900" b="1">
                      <a:solidFill>
                        <a:srgbClr val="008000"/>
                      </a:solidFill>
                      <a:ea typeface="楷体" panose="02010609060101010101" pitchFamily="49" charset="-122"/>
                      <a:cs typeface="Times New Roman" panose="02020603050405020304" pitchFamily="18" charset="0"/>
                    </a:rPr>
                    <a:t>Segm 1</a:t>
                  </a:r>
                </a:p>
              </p:txBody>
            </p:sp>
            <p:sp>
              <p:nvSpPr>
                <p:cNvPr id="132" name="Text Box 143"/>
                <p:cNvSpPr txBox="1">
                  <a:spLocks noChangeArrowheads="1"/>
                </p:cNvSpPr>
                <p:nvPr/>
              </p:nvSpPr>
              <p:spPr bwMode="auto">
                <a:xfrm>
                  <a:off x="4932" y="2921"/>
                  <a:ext cx="453" cy="1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900" b="1">
                      <a:solidFill>
                        <a:srgbClr val="008000"/>
                      </a:solidFill>
                      <a:ea typeface="楷体" panose="02010609060101010101" pitchFamily="49" charset="-122"/>
                      <a:cs typeface="Times New Roman" panose="02020603050405020304" pitchFamily="18" charset="0"/>
                    </a:rPr>
                    <a:t>process2</a:t>
                  </a:r>
                </a:p>
              </p:txBody>
            </p:sp>
            <p:sp>
              <p:nvSpPr>
                <p:cNvPr id="133" name="Line 144"/>
                <p:cNvSpPr>
                  <a:spLocks noChangeShapeType="1"/>
                </p:cNvSpPr>
                <p:nvPr/>
              </p:nvSpPr>
              <p:spPr bwMode="auto">
                <a:xfrm>
                  <a:off x="4992" y="3368"/>
                  <a:ext cx="22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34" name="Text Box 145"/>
                <p:cNvSpPr txBox="1">
                  <a:spLocks noChangeArrowheads="1"/>
                </p:cNvSpPr>
                <p:nvPr/>
              </p:nvSpPr>
              <p:spPr bwMode="auto">
                <a:xfrm>
                  <a:off x="4939" y="2589"/>
                  <a:ext cx="363" cy="1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900" b="1">
                      <a:solidFill>
                        <a:srgbClr val="FF3300"/>
                      </a:solidFill>
                      <a:ea typeface="楷体" panose="02010609060101010101" pitchFamily="49" charset="-122"/>
                      <a:cs typeface="Times New Roman" panose="02020603050405020304" pitchFamily="18" charset="0"/>
                    </a:rPr>
                    <a:t>Segm 1</a:t>
                  </a:r>
                </a:p>
              </p:txBody>
            </p:sp>
            <p:sp>
              <p:nvSpPr>
                <p:cNvPr id="135" name="Text Box 146"/>
                <p:cNvSpPr txBox="1">
                  <a:spLocks noChangeArrowheads="1"/>
                </p:cNvSpPr>
                <p:nvPr/>
              </p:nvSpPr>
              <p:spPr bwMode="auto">
                <a:xfrm>
                  <a:off x="4939" y="2725"/>
                  <a:ext cx="363" cy="1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900" b="1">
                      <a:solidFill>
                        <a:srgbClr val="FF3300"/>
                      </a:solidFill>
                      <a:ea typeface="楷体" panose="02010609060101010101" pitchFamily="49" charset="-122"/>
                      <a:cs typeface="Times New Roman" panose="02020603050405020304" pitchFamily="18" charset="0"/>
                    </a:rPr>
                    <a:t>Segm 2</a:t>
                  </a:r>
                </a:p>
              </p:txBody>
            </p:sp>
            <p:sp>
              <p:nvSpPr>
                <p:cNvPr id="136" name="Text Box 147"/>
                <p:cNvSpPr txBox="1">
                  <a:spLocks noChangeArrowheads="1"/>
                </p:cNvSpPr>
                <p:nvPr/>
              </p:nvSpPr>
              <p:spPr bwMode="auto">
                <a:xfrm>
                  <a:off x="4963" y="3201"/>
                  <a:ext cx="363" cy="1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900" b="1">
                      <a:solidFill>
                        <a:srgbClr val="008000"/>
                      </a:solidFill>
                      <a:ea typeface="楷体" panose="02010609060101010101" pitchFamily="49" charset="-122"/>
                      <a:cs typeface="Times New Roman" panose="02020603050405020304" pitchFamily="18" charset="0"/>
                    </a:rPr>
                    <a:t>Segm 2</a:t>
                  </a:r>
                </a:p>
              </p:txBody>
            </p:sp>
            <p:sp>
              <p:nvSpPr>
                <p:cNvPr id="137" name="Text Box 148"/>
                <p:cNvSpPr txBox="1">
                  <a:spLocks noChangeArrowheads="1"/>
                </p:cNvSpPr>
                <p:nvPr/>
              </p:nvSpPr>
              <p:spPr bwMode="auto">
                <a:xfrm>
                  <a:off x="4963" y="3358"/>
                  <a:ext cx="363" cy="1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900" b="1">
                      <a:solidFill>
                        <a:srgbClr val="008000"/>
                      </a:solidFill>
                      <a:ea typeface="楷体" panose="02010609060101010101" pitchFamily="49" charset="-122"/>
                      <a:cs typeface="Times New Roman" panose="02020603050405020304" pitchFamily="18" charset="0"/>
                    </a:rPr>
                    <a:t>Segm 3</a:t>
                  </a:r>
                </a:p>
              </p:txBody>
            </p:sp>
            <p:sp>
              <p:nvSpPr>
                <p:cNvPr id="138" name="Line 149"/>
                <p:cNvSpPr>
                  <a:spLocks noChangeShapeType="1"/>
                </p:cNvSpPr>
                <p:nvPr/>
              </p:nvSpPr>
              <p:spPr bwMode="auto">
                <a:xfrm>
                  <a:off x="4576" y="3025"/>
                  <a:ext cx="25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39" name="Text Box 150"/>
                <p:cNvSpPr txBox="1">
                  <a:spLocks noChangeArrowheads="1"/>
                </p:cNvSpPr>
                <p:nvPr/>
              </p:nvSpPr>
              <p:spPr bwMode="auto">
                <a:xfrm>
                  <a:off x="4558" y="2886"/>
                  <a:ext cx="363" cy="1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900" b="1">
                      <a:solidFill>
                        <a:srgbClr val="FF3300"/>
                      </a:solidFill>
                      <a:ea typeface="楷体" panose="02010609060101010101" pitchFamily="49" charset="-122"/>
                      <a:cs typeface="Times New Roman" panose="02020603050405020304" pitchFamily="18" charset="0"/>
                    </a:rPr>
                    <a:t>Segm 1</a:t>
                  </a:r>
                </a:p>
              </p:txBody>
            </p:sp>
            <p:sp>
              <p:nvSpPr>
                <p:cNvPr id="140" name="Text Box 151"/>
                <p:cNvSpPr txBox="1">
                  <a:spLocks noChangeArrowheads="1"/>
                </p:cNvSpPr>
                <p:nvPr/>
              </p:nvSpPr>
              <p:spPr bwMode="auto">
                <a:xfrm>
                  <a:off x="4558" y="3022"/>
                  <a:ext cx="316" cy="1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900" b="1">
                      <a:solidFill>
                        <a:srgbClr val="008000"/>
                      </a:solidFill>
                      <a:ea typeface="楷体" panose="02010609060101010101" pitchFamily="49" charset="-122"/>
                      <a:cs typeface="Times New Roman" panose="02020603050405020304" pitchFamily="18" charset="0"/>
                    </a:rPr>
                    <a:t>Segm 3</a:t>
                  </a:r>
                </a:p>
              </p:txBody>
            </p:sp>
          </p:grpSp>
          <p:sp>
            <p:nvSpPr>
              <p:cNvPr id="121" name="Text Box 204"/>
              <p:cNvSpPr txBox="1">
                <a:spLocks noChangeArrowheads="1"/>
              </p:cNvSpPr>
              <p:nvPr/>
            </p:nvSpPr>
            <p:spPr bwMode="auto">
              <a:xfrm>
                <a:off x="4286" y="3653"/>
                <a:ext cx="99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1800" b="1">
                    <a:solidFill>
                      <a:srgbClr val="FF3300"/>
                    </a:solidFill>
                    <a:ea typeface="楷体" panose="02010609060101010101" pitchFamily="49" charset="-122"/>
                    <a:cs typeface="Times New Roman" panose="02020603050405020304" pitchFamily="18" charset="0"/>
                  </a:rPr>
                  <a:t>虚拟页、段式</a:t>
                </a:r>
              </a:p>
            </p:txBody>
          </p:sp>
        </p:grpSp>
        <p:sp>
          <p:nvSpPr>
            <p:cNvPr id="118" name="AutoShape 213"/>
            <p:cNvSpPr>
              <a:spLocks noChangeArrowheads="1"/>
            </p:cNvSpPr>
            <p:nvPr/>
          </p:nvSpPr>
          <p:spPr bwMode="auto">
            <a:xfrm>
              <a:off x="3923" y="2251"/>
              <a:ext cx="454" cy="136"/>
            </a:xfrm>
            <a:prstGeom prst="rightArrow">
              <a:avLst>
                <a:gd name="adj1" fmla="val 50000"/>
                <a:gd name="adj2" fmla="val 83456"/>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楷体" panose="02010609060101010101" pitchFamily="49" charset="-122"/>
                <a:cs typeface="Times New Roman" panose="02020603050405020304" pitchFamily="18" charset="0"/>
              </a:endParaRPr>
            </a:p>
          </p:txBody>
        </p:sp>
      </p:grpSp>
      <p:grpSp>
        <p:nvGrpSpPr>
          <p:cNvPr id="166" name="Group 220"/>
          <p:cNvGrpSpPr>
            <a:grpSpLocks/>
          </p:cNvGrpSpPr>
          <p:nvPr/>
        </p:nvGrpSpPr>
        <p:grpSpPr bwMode="auto">
          <a:xfrm>
            <a:off x="1692919" y="3357140"/>
            <a:ext cx="5543550" cy="1008063"/>
            <a:chOff x="1066" y="1979"/>
            <a:chExt cx="3492" cy="635"/>
          </a:xfrm>
        </p:grpSpPr>
        <p:sp>
          <p:nvSpPr>
            <p:cNvPr id="167" name="AutoShape 214"/>
            <p:cNvSpPr>
              <a:spLocks noChangeArrowheads="1"/>
            </p:cNvSpPr>
            <p:nvPr/>
          </p:nvSpPr>
          <p:spPr bwMode="auto">
            <a:xfrm>
              <a:off x="1383" y="2296"/>
              <a:ext cx="725" cy="227"/>
            </a:xfrm>
            <a:prstGeom prst="roundRect">
              <a:avLst>
                <a:gd name="adj" fmla="val 16667"/>
              </a:avLst>
            </a:prstGeom>
            <a:solidFill>
              <a:srgbClr val="0033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b="1">
                  <a:solidFill>
                    <a:srgbClr val="FFFF00"/>
                  </a:solidFill>
                  <a:ea typeface="楷体" panose="02010609060101010101" pitchFamily="49" charset="-122"/>
                  <a:cs typeface="Times New Roman" panose="02020603050405020304" pitchFamily="18" charset="0"/>
                </a:rPr>
                <a:t>分区管理</a:t>
              </a:r>
            </a:p>
          </p:txBody>
        </p:sp>
        <p:sp>
          <p:nvSpPr>
            <p:cNvPr id="168" name="Line 215"/>
            <p:cNvSpPr>
              <a:spLocks noChangeShapeType="1"/>
            </p:cNvSpPr>
            <p:nvPr/>
          </p:nvSpPr>
          <p:spPr bwMode="auto">
            <a:xfrm flipH="1" flipV="1">
              <a:off x="1066" y="1979"/>
              <a:ext cx="589" cy="317"/>
            </a:xfrm>
            <a:prstGeom prst="line">
              <a:avLst/>
            </a:prstGeom>
            <a:noFill/>
            <a:ln w="28575">
              <a:solidFill>
                <a:srgbClr val="00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69" name="Line 216"/>
            <p:cNvSpPr>
              <a:spLocks noChangeShapeType="1"/>
            </p:cNvSpPr>
            <p:nvPr/>
          </p:nvSpPr>
          <p:spPr bwMode="auto">
            <a:xfrm flipV="1">
              <a:off x="1746" y="1979"/>
              <a:ext cx="318" cy="317"/>
            </a:xfrm>
            <a:prstGeom prst="line">
              <a:avLst/>
            </a:prstGeom>
            <a:noFill/>
            <a:ln w="28575">
              <a:solidFill>
                <a:srgbClr val="00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70" name="Freeform 218"/>
            <p:cNvSpPr>
              <a:spLocks/>
            </p:cNvSpPr>
            <p:nvPr/>
          </p:nvSpPr>
          <p:spPr bwMode="auto">
            <a:xfrm>
              <a:off x="1882" y="2167"/>
              <a:ext cx="2676" cy="447"/>
            </a:xfrm>
            <a:custGeom>
              <a:avLst/>
              <a:gdLst>
                <a:gd name="T0" fmla="*/ 0 w 2812"/>
                <a:gd name="T1" fmla="*/ 129 h 447"/>
                <a:gd name="T2" fmla="*/ 777 w 2812"/>
                <a:gd name="T3" fmla="*/ 38 h 447"/>
                <a:gd name="T4" fmla="*/ 2332 w 2812"/>
                <a:gd name="T5" fmla="*/ 356 h 447"/>
                <a:gd name="T6" fmla="*/ 2676 w 2812"/>
                <a:gd name="T7" fmla="*/ 447 h 44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12" h="447">
                  <a:moveTo>
                    <a:pt x="0" y="129"/>
                  </a:moveTo>
                  <a:cubicBezTo>
                    <a:pt x="204" y="64"/>
                    <a:pt x="409" y="0"/>
                    <a:pt x="817" y="38"/>
                  </a:cubicBezTo>
                  <a:cubicBezTo>
                    <a:pt x="1225" y="76"/>
                    <a:pt x="2118" y="288"/>
                    <a:pt x="2450" y="356"/>
                  </a:cubicBezTo>
                  <a:cubicBezTo>
                    <a:pt x="2782" y="424"/>
                    <a:pt x="2752" y="432"/>
                    <a:pt x="2812" y="447"/>
                  </a:cubicBezTo>
                </a:path>
              </a:pathLst>
            </a:custGeom>
            <a:noFill/>
            <a:ln w="28575" cmpd="sng">
              <a:solidFill>
                <a:srgbClr val="0033CC"/>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71" name="Freeform 219"/>
            <p:cNvSpPr>
              <a:spLocks/>
            </p:cNvSpPr>
            <p:nvPr/>
          </p:nvSpPr>
          <p:spPr bwMode="auto">
            <a:xfrm>
              <a:off x="2109" y="2296"/>
              <a:ext cx="907" cy="318"/>
            </a:xfrm>
            <a:custGeom>
              <a:avLst/>
              <a:gdLst>
                <a:gd name="T0" fmla="*/ 0 w 907"/>
                <a:gd name="T1" fmla="*/ 45 h 318"/>
                <a:gd name="T2" fmla="*/ 227 w 907"/>
                <a:gd name="T3" fmla="*/ 45 h 318"/>
                <a:gd name="T4" fmla="*/ 907 w 907"/>
                <a:gd name="T5" fmla="*/ 318 h 318"/>
                <a:gd name="T6" fmla="*/ 0 60000 65536"/>
                <a:gd name="T7" fmla="*/ 0 60000 65536"/>
                <a:gd name="T8" fmla="*/ 0 60000 65536"/>
              </a:gdLst>
              <a:ahLst/>
              <a:cxnLst>
                <a:cxn ang="T6">
                  <a:pos x="T0" y="T1"/>
                </a:cxn>
                <a:cxn ang="T7">
                  <a:pos x="T2" y="T3"/>
                </a:cxn>
                <a:cxn ang="T8">
                  <a:pos x="T4" y="T5"/>
                </a:cxn>
              </a:cxnLst>
              <a:rect l="0" t="0" r="r" b="b"/>
              <a:pathLst>
                <a:path w="907" h="318">
                  <a:moveTo>
                    <a:pt x="0" y="45"/>
                  </a:moveTo>
                  <a:cubicBezTo>
                    <a:pt x="38" y="22"/>
                    <a:pt x="76" y="0"/>
                    <a:pt x="227" y="45"/>
                  </a:cubicBezTo>
                  <a:cubicBezTo>
                    <a:pt x="378" y="90"/>
                    <a:pt x="794" y="273"/>
                    <a:pt x="907" y="318"/>
                  </a:cubicBezTo>
                </a:path>
              </a:pathLst>
            </a:custGeom>
            <a:noFill/>
            <a:ln w="28575" cmpd="sng">
              <a:solidFill>
                <a:srgbClr val="0033CC"/>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grpSp>
      <p:sp>
        <p:nvSpPr>
          <p:cNvPr id="172" name="Text Box 224"/>
          <p:cNvSpPr txBox="1">
            <a:spLocks noChangeArrowheads="1"/>
          </p:cNvSpPr>
          <p:nvPr/>
        </p:nvSpPr>
        <p:spPr bwMode="auto">
          <a:xfrm>
            <a:off x="756294" y="1485354"/>
            <a:ext cx="2592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000" b="1">
                <a:solidFill>
                  <a:srgbClr val="663300"/>
                </a:solidFill>
                <a:ea typeface="楷体" panose="02010609060101010101" pitchFamily="49" charset="-122"/>
                <a:cs typeface="Times New Roman" panose="02020603050405020304" pitchFamily="18" charset="0"/>
              </a:rPr>
              <a:t>程序处理</a:t>
            </a:r>
            <a:r>
              <a:rPr lang="zh-CN" altLang="en-US" sz="2000" b="1">
                <a:solidFill>
                  <a:srgbClr val="663300"/>
                </a:solidFill>
                <a:ea typeface="楷体" panose="02010609060101010101" pitchFamily="49" charset="-122"/>
                <a:cs typeface="Times New Roman" panose="02020603050405020304" pitchFamily="18" charset="0"/>
                <a:sym typeface="Symbol" panose="05050102010706020507" pitchFamily="18" charset="2"/>
              </a:rPr>
              <a:t>系统处理</a:t>
            </a:r>
          </a:p>
        </p:txBody>
      </p:sp>
      <p:sp>
        <p:nvSpPr>
          <p:cNvPr id="173" name="Text Box 225"/>
          <p:cNvSpPr txBox="1">
            <a:spLocks noChangeArrowheads="1"/>
          </p:cNvSpPr>
          <p:nvPr/>
        </p:nvSpPr>
        <p:spPr bwMode="auto">
          <a:xfrm>
            <a:off x="3204219" y="1485354"/>
            <a:ext cx="28082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000" b="1">
                <a:solidFill>
                  <a:srgbClr val="663300"/>
                </a:solidFill>
                <a:ea typeface="楷体" panose="02010609060101010101" pitchFamily="49" charset="-122"/>
                <a:cs typeface="Times New Roman" panose="02020603050405020304" pitchFamily="18" charset="0"/>
              </a:rPr>
              <a:t>连续存放</a:t>
            </a:r>
            <a:r>
              <a:rPr lang="zh-CN" altLang="en-US" sz="2000" b="1">
                <a:solidFill>
                  <a:srgbClr val="663300"/>
                </a:solidFill>
                <a:ea typeface="楷体" panose="02010609060101010101" pitchFamily="49" charset="-122"/>
                <a:cs typeface="Times New Roman" panose="02020603050405020304" pitchFamily="18" charset="0"/>
                <a:sym typeface="Symbol" panose="05050102010706020507" pitchFamily="18" charset="2"/>
              </a:rPr>
              <a:t>不连续存放</a:t>
            </a:r>
          </a:p>
        </p:txBody>
      </p:sp>
      <p:sp>
        <p:nvSpPr>
          <p:cNvPr id="174" name="Text Box 227"/>
          <p:cNvSpPr txBox="1">
            <a:spLocks noChangeArrowheads="1"/>
          </p:cNvSpPr>
          <p:nvPr/>
        </p:nvSpPr>
        <p:spPr bwMode="auto">
          <a:xfrm>
            <a:off x="5869632" y="1485354"/>
            <a:ext cx="2519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000" b="1">
                <a:solidFill>
                  <a:srgbClr val="663300"/>
                </a:solidFill>
                <a:ea typeface="楷体" panose="02010609060101010101" pitchFamily="49" charset="-122"/>
                <a:cs typeface="Times New Roman" panose="02020603050405020304" pitchFamily="18" charset="0"/>
              </a:rPr>
              <a:t>整体调入</a:t>
            </a:r>
            <a:r>
              <a:rPr lang="zh-CN" altLang="en-US" sz="2000" b="1">
                <a:solidFill>
                  <a:srgbClr val="663300"/>
                </a:solidFill>
                <a:ea typeface="楷体" panose="02010609060101010101" pitchFamily="49" charset="-122"/>
                <a:cs typeface="Times New Roman" panose="02020603050405020304" pitchFamily="18" charset="0"/>
                <a:sym typeface="Symbol" panose="05050102010706020507" pitchFamily="18" charset="2"/>
              </a:rPr>
              <a:t>部分调入</a:t>
            </a:r>
          </a:p>
        </p:txBody>
      </p:sp>
    </p:spTree>
    <p:extLst>
      <p:ext uri="{BB962C8B-B14F-4D97-AF65-F5344CB8AC3E}">
        <p14:creationId xmlns:p14="http://schemas.microsoft.com/office/powerpoint/2010/main" val="4290825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57"/>
                                        </p:tgtEl>
                                        <p:attrNameLst>
                                          <p:attrName>style.visibility</p:attrName>
                                        </p:attrNameLst>
                                      </p:cBhvr>
                                      <p:to>
                                        <p:strVal val="visible"/>
                                      </p:to>
                                    </p:set>
                                    <p:animEffect transition="in" filter="wipe(left)">
                                      <p:cBhvr>
                                        <p:cTn id="11" dur="500"/>
                                        <p:tgtEl>
                                          <p:spTgt spid="57"/>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69"/>
                                        </p:tgtEl>
                                        <p:attrNameLst>
                                          <p:attrName>style.visibility</p:attrName>
                                        </p:attrNameLst>
                                      </p:cBhvr>
                                      <p:to>
                                        <p:strVal val="visible"/>
                                      </p:to>
                                    </p:set>
                                    <p:animEffect transition="in" filter="wipe(left)">
                                      <p:cBhvr>
                                        <p:cTn id="16" dur="500"/>
                                        <p:tgtEl>
                                          <p:spTgt spid="6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16"/>
                                        </p:tgtEl>
                                        <p:attrNameLst>
                                          <p:attrName>style.visibility</p:attrName>
                                        </p:attrNameLst>
                                      </p:cBhvr>
                                      <p:to>
                                        <p:strVal val="visible"/>
                                      </p:to>
                                    </p:set>
                                    <p:animEffect transition="in" filter="wipe(left)">
                                      <p:cBhvr>
                                        <p:cTn id="21" dur="500"/>
                                        <p:tgtEl>
                                          <p:spTgt spid="116"/>
                                        </p:tgtEl>
                                      </p:cBhvr>
                                    </p:animEffect>
                                  </p:childTnLst>
                                </p:cTn>
                              </p:par>
                            </p:childTnLst>
                          </p:cTn>
                        </p:par>
                      </p:childTnLst>
                    </p:cTn>
                  </p:par>
                  <p:par>
                    <p:cTn id="22" fill="hold">
                      <p:stCondLst>
                        <p:cond delay="indefinite"/>
                      </p:stCondLst>
                      <p:childTnLst>
                        <p:par>
                          <p:cTn id="23" fill="hold">
                            <p:stCondLst>
                              <p:cond delay="0"/>
                            </p:stCondLst>
                            <p:childTnLst>
                              <p:par>
                                <p:cTn id="24" presetID="20" presetClass="entr" presetSubtype="0" fill="hold" nodeType="click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wedge">
                                      <p:cBhvr>
                                        <p:cTn id="26" dur="500"/>
                                        <p:tgtEl>
                                          <p:spTgt spid="23"/>
                                        </p:tgtEl>
                                      </p:cBhvr>
                                    </p:animEffect>
                                  </p:childTnLst>
                                </p:cTn>
                              </p:par>
                            </p:childTnLst>
                          </p:cTn>
                        </p:par>
                      </p:childTnLst>
                    </p:cTn>
                  </p:par>
                  <p:par>
                    <p:cTn id="27" fill="hold">
                      <p:stCondLst>
                        <p:cond delay="indefinite"/>
                      </p:stCondLst>
                      <p:childTnLst>
                        <p:par>
                          <p:cTn id="28" fill="hold">
                            <p:stCondLst>
                              <p:cond delay="0"/>
                            </p:stCondLst>
                            <p:childTnLst>
                              <p:par>
                                <p:cTn id="29" presetID="4" presetClass="entr" presetSubtype="32" fill="hold" nodeType="clickEffect">
                                  <p:stCondLst>
                                    <p:cond delay="0"/>
                                  </p:stCondLst>
                                  <p:childTnLst>
                                    <p:set>
                                      <p:cBhvr>
                                        <p:cTn id="30" dur="1" fill="hold">
                                          <p:stCondLst>
                                            <p:cond delay="0"/>
                                          </p:stCondLst>
                                        </p:cTn>
                                        <p:tgtEl>
                                          <p:spTgt spid="166"/>
                                        </p:tgtEl>
                                        <p:attrNameLst>
                                          <p:attrName>style.visibility</p:attrName>
                                        </p:attrNameLst>
                                      </p:cBhvr>
                                      <p:to>
                                        <p:strVal val="visible"/>
                                      </p:to>
                                    </p:set>
                                    <p:animEffect transition="in" filter="box(out)">
                                      <p:cBhvr>
                                        <p:cTn id="31" dur="500"/>
                                        <p:tgtEl>
                                          <p:spTgt spid="166"/>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72"/>
                                        </p:tgtEl>
                                        <p:attrNameLst>
                                          <p:attrName>style.visibility</p:attrName>
                                        </p:attrNameLst>
                                      </p:cBhvr>
                                      <p:to>
                                        <p:strVal val="visible"/>
                                      </p:to>
                                    </p:set>
                                    <p:animEffect transition="in" filter="wipe(left)">
                                      <p:cBhvr>
                                        <p:cTn id="36" dur="500"/>
                                        <p:tgtEl>
                                          <p:spTgt spid="172"/>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73"/>
                                        </p:tgtEl>
                                        <p:attrNameLst>
                                          <p:attrName>style.visibility</p:attrName>
                                        </p:attrNameLst>
                                      </p:cBhvr>
                                      <p:to>
                                        <p:strVal val="visible"/>
                                      </p:to>
                                    </p:set>
                                    <p:animEffect transition="in" filter="wipe(left)">
                                      <p:cBhvr>
                                        <p:cTn id="41" dur="500"/>
                                        <p:tgtEl>
                                          <p:spTgt spid="173"/>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74"/>
                                        </p:tgtEl>
                                        <p:attrNameLst>
                                          <p:attrName>style.visibility</p:attrName>
                                        </p:attrNameLst>
                                      </p:cBhvr>
                                      <p:to>
                                        <p:strVal val="visible"/>
                                      </p:to>
                                    </p:set>
                                    <p:animEffect transition="in" filter="wipe(left)">
                                      <p:cBhvr>
                                        <p:cTn id="46" dur="500"/>
                                        <p:tgtEl>
                                          <p:spTgt spid="1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 grpId="0"/>
      <p:bldP spid="173" grpId="0"/>
      <p:bldP spid="174"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（段）页式管理中的分配与置换</a:t>
            </a:r>
          </a:p>
        </p:txBody>
      </p:sp>
      <p:sp>
        <p:nvSpPr>
          <p:cNvPr id="3" name="Content Placeholder 2"/>
          <p:cNvSpPr>
            <a:spLocks noGrp="1"/>
          </p:cNvSpPr>
          <p:nvPr>
            <p:ph idx="1"/>
          </p:nvPr>
        </p:nvSpPr>
        <p:spPr/>
        <p:txBody>
          <a:bodyPr>
            <a:normAutofit lnSpcReduction="10000"/>
          </a:bodyPr>
          <a:lstStyle/>
          <a:p>
            <a:r>
              <a:rPr lang="zh-CN" altLang="en-US" dirty="0"/>
              <a:t>固定分配，局部置换</a:t>
            </a:r>
            <a:endParaRPr lang="en-US" altLang="zh-CN" dirty="0"/>
          </a:p>
          <a:p>
            <a:pPr lvl="1"/>
            <a:r>
              <a:rPr lang="zh-CN" altLang="en-US" dirty="0"/>
              <a:t>为每个进程分配固定数量的页面，运行期间不变</a:t>
            </a:r>
            <a:endParaRPr lang="en-US" altLang="zh-CN" dirty="0"/>
          </a:p>
          <a:p>
            <a:pPr lvl="1"/>
            <a:r>
              <a:rPr lang="zh-CN" altLang="en-US" dirty="0"/>
              <a:t>若进程缺页，只能替换该进程在内存中的某个页面</a:t>
            </a:r>
            <a:endParaRPr lang="en-US" altLang="zh-CN" dirty="0"/>
          </a:p>
          <a:p>
            <a:pPr lvl="1"/>
            <a:r>
              <a:rPr lang="zh-CN" altLang="en-US" dirty="0"/>
              <a:t>但是，为每个进程分配的内存块数量难以确定</a:t>
            </a:r>
            <a:endParaRPr lang="en-US" altLang="zh-CN" dirty="0"/>
          </a:p>
          <a:p>
            <a:endParaRPr lang="en-US" altLang="zh-CN" dirty="0"/>
          </a:p>
          <a:p>
            <a:r>
              <a:rPr lang="zh-CN" altLang="en-US" dirty="0"/>
              <a:t>可变分配，全局置换</a:t>
            </a:r>
            <a:endParaRPr lang="en-US" altLang="zh-CN" dirty="0"/>
          </a:p>
          <a:p>
            <a:pPr lvl="1"/>
            <a:r>
              <a:rPr lang="zh-CN" altLang="en-US" dirty="0"/>
              <a:t>首先为每个进程分配一定数量的物理内存页面，系统维护空闲页面</a:t>
            </a:r>
            <a:endParaRPr lang="en-US" altLang="zh-CN" dirty="0"/>
          </a:p>
          <a:p>
            <a:pPr lvl="1"/>
            <a:r>
              <a:rPr lang="zh-CN" altLang="en-US" dirty="0"/>
              <a:t>进程缺页时，系统从全局的空闲队列中取一个页面分配给进程</a:t>
            </a:r>
            <a:endParaRPr lang="en-US" altLang="zh-CN" dirty="0"/>
          </a:p>
          <a:p>
            <a:pPr lvl="1"/>
            <a:r>
              <a:rPr lang="zh-CN" altLang="en-US" dirty="0"/>
              <a:t>仅当空闲队列为空时，操作系统选择一个内存中的页面被替换掉</a:t>
            </a:r>
            <a:endParaRPr lang="en-US" altLang="zh-CN" dirty="0"/>
          </a:p>
        </p:txBody>
      </p:sp>
      <p:sp>
        <p:nvSpPr>
          <p:cNvPr id="4" name="Date Placeholder 3"/>
          <p:cNvSpPr>
            <a:spLocks noGrp="1"/>
          </p:cNvSpPr>
          <p:nvPr>
            <p:ph type="dt" sz="half" idx="10"/>
          </p:nvPr>
        </p:nvSpPr>
        <p:spPr/>
        <p:txBody>
          <a:bodyPr/>
          <a:lstStyle/>
          <a:p>
            <a:fld id="{9DDE79A9-96F3-431D-9E05-C18674A93462}"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96</a:t>
            </a:fld>
            <a:endParaRPr lang="zh-CN" altLang="en-US" dirty="0"/>
          </a:p>
        </p:txBody>
      </p:sp>
    </p:spTree>
    <p:extLst>
      <p:ext uri="{BB962C8B-B14F-4D97-AF65-F5344CB8AC3E}">
        <p14:creationId xmlns:p14="http://schemas.microsoft.com/office/powerpoint/2010/main" val="3016124697"/>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（段）页式管理中的分配与置换</a:t>
            </a:r>
          </a:p>
        </p:txBody>
      </p:sp>
      <p:sp>
        <p:nvSpPr>
          <p:cNvPr id="3" name="Content Placeholder 2"/>
          <p:cNvSpPr>
            <a:spLocks noGrp="1"/>
          </p:cNvSpPr>
          <p:nvPr>
            <p:ph idx="1"/>
          </p:nvPr>
        </p:nvSpPr>
        <p:spPr/>
        <p:txBody>
          <a:bodyPr/>
          <a:lstStyle/>
          <a:p>
            <a:r>
              <a:rPr lang="zh-CN" altLang="en-US" dirty="0"/>
              <a:t>可变分配，局部置换</a:t>
            </a:r>
            <a:endParaRPr lang="en-US" altLang="zh-CN" dirty="0"/>
          </a:p>
          <a:p>
            <a:pPr lvl="1"/>
            <a:r>
              <a:rPr lang="zh-CN" altLang="en-US" dirty="0"/>
              <a:t>先为进程分配一定数量页面，缺页时，首先从进程自身替换</a:t>
            </a:r>
            <a:endParaRPr lang="en-US" altLang="zh-CN" dirty="0"/>
          </a:p>
          <a:p>
            <a:pPr lvl="1"/>
            <a:r>
              <a:rPr lang="zh-CN" altLang="en-US" dirty="0"/>
              <a:t>若频繁发生缺页中断，则为进程附加分配一些物理页面，直至缺页减少</a:t>
            </a:r>
            <a:endParaRPr lang="en-US" altLang="zh-CN" dirty="0"/>
          </a:p>
          <a:p>
            <a:pPr lvl="1"/>
            <a:r>
              <a:rPr lang="zh-CN" altLang="en-US" dirty="0"/>
              <a:t>若进程缺页很少，在不引起其缺页率明显增加的情况下，适当减少分配给该进程的页面数量</a:t>
            </a:r>
          </a:p>
          <a:p>
            <a:endParaRPr lang="zh-CN" altLang="en-US" dirty="0"/>
          </a:p>
        </p:txBody>
      </p:sp>
      <p:sp>
        <p:nvSpPr>
          <p:cNvPr id="4" name="Date Placeholder 3"/>
          <p:cNvSpPr>
            <a:spLocks noGrp="1"/>
          </p:cNvSpPr>
          <p:nvPr>
            <p:ph type="dt" sz="half" idx="10"/>
          </p:nvPr>
        </p:nvSpPr>
        <p:spPr/>
        <p:txBody>
          <a:bodyPr/>
          <a:lstStyle/>
          <a:p>
            <a:fld id="{6172A58C-D7E4-4C4A-B757-F9BAD6392A77}"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97</a:t>
            </a:fld>
            <a:endParaRPr lang="zh-CN" altLang="en-US" dirty="0"/>
          </a:p>
        </p:txBody>
      </p:sp>
    </p:spTree>
    <p:extLst>
      <p:ext uri="{BB962C8B-B14F-4D97-AF65-F5344CB8AC3E}">
        <p14:creationId xmlns:p14="http://schemas.microsoft.com/office/powerpoint/2010/main" val="1227113704"/>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页面置换算法</a:t>
            </a:r>
          </a:p>
        </p:txBody>
      </p:sp>
      <p:sp>
        <p:nvSpPr>
          <p:cNvPr id="3" name="Content Placeholder 2"/>
          <p:cNvSpPr>
            <a:spLocks noGrp="1"/>
          </p:cNvSpPr>
          <p:nvPr>
            <p:ph idx="1"/>
          </p:nvPr>
        </p:nvSpPr>
        <p:spPr/>
        <p:txBody>
          <a:bodyPr/>
          <a:lstStyle/>
          <a:p>
            <a:r>
              <a:rPr lang="zh-CN" altLang="en-US" dirty="0"/>
              <a:t>功能</a:t>
            </a:r>
            <a:endParaRPr lang="en-US" altLang="zh-CN" dirty="0"/>
          </a:p>
          <a:p>
            <a:pPr lvl="1"/>
            <a:r>
              <a:rPr lang="zh-CN" altLang="en-US" dirty="0"/>
              <a:t>如需要替换某个页面到外存，应该选择谁？</a:t>
            </a:r>
            <a:endParaRPr lang="en-US" altLang="zh-CN" dirty="0"/>
          </a:p>
          <a:p>
            <a:pPr lvl="1"/>
            <a:r>
              <a:rPr lang="zh-CN" altLang="en-US" dirty="0"/>
              <a:t>目标：把未来不使用或短期内不使用的页替换出去</a:t>
            </a:r>
            <a:endParaRPr lang="en-US" altLang="zh-CN" dirty="0"/>
          </a:p>
          <a:p>
            <a:r>
              <a:rPr lang="zh-CN" altLang="en-US" dirty="0"/>
              <a:t>常见置换算法</a:t>
            </a:r>
            <a:endParaRPr lang="en-US" altLang="zh-CN" dirty="0"/>
          </a:p>
          <a:p>
            <a:pPr lvl="1"/>
            <a:r>
              <a:rPr lang="zh-CN" altLang="en-US" dirty="0"/>
              <a:t>最佳算法</a:t>
            </a:r>
            <a:endParaRPr lang="en-US" altLang="zh-CN" dirty="0"/>
          </a:p>
          <a:p>
            <a:pPr lvl="1"/>
            <a:r>
              <a:rPr lang="zh-CN" altLang="en-US" dirty="0"/>
              <a:t>最近最久未使用算法</a:t>
            </a:r>
            <a:endParaRPr lang="en-US" altLang="zh-CN" dirty="0"/>
          </a:p>
          <a:p>
            <a:pPr lvl="1"/>
            <a:r>
              <a:rPr lang="zh-CN" altLang="en-US" dirty="0"/>
              <a:t>先进先出算法</a:t>
            </a:r>
            <a:endParaRPr lang="en-US" altLang="zh-CN" dirty="0"/>
          </a:p>
          <a:p>
            <a:pPr lvl="1"/>
            <a:r>
              <a:rPr lang="zh-CN" altLang="en-US" dirty="0"/>
              <a:t>轮转法</a:t>
            </a:r>
            <a:endParaRPr lang="en-US" altLang="zh-CN" dirty="0"/>
          </a:p>
          <a:p>
            <a:pPr lvl="1"/>
            <a:r>
              <a:rPr lang="zh-CN" altLang="en-US" dirty="0"/>
              <a:t>最不常用算法</a:t>
            </a:r>
          </a:p>
        </p:txBody>
      </p:sp>
      <p:sp>
        <p:nvSpPr>
          <p:cNvPr id="4" name="Date Placeholder 3"/>
          <p:cNvSpPr>
            <a:spLocks noGrp="1"/>
          </p:cNvSpPr>
          <p:nvPr>
            <p:ph type="dt" sz="half" idx="10"/>
          </p:nvPr>
        </p:nvSpPr>
        <p:spPr/>
        <p:txBody>
          <a:bodyPr/>
          <a:lstStyle/>
          <a:p>
            <a:fld id="{A38A26B6-DCBA-4AB7-87C2-72E328A211C4}"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98</a:t>
            </a:fld>
            <a:endParaRPr lang="zh-CN" altLang="en-US" dirty="0"/>
          </a:p>
        </p:txBody>
      </p:sp>
    </p:spTree>
    <p:extLst>
      <p:ext uri="{BB962C8B-B14F-4D97-AF65-F5344CB8AC3E}">
        <p14:creationId xmlns:p14="http://schemas.microsoft.com/office/powerpoint/2010/main" val="223635915"/>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最佳置换算法</a:t>
            </a:r>
          </a:p>
        </p:txBody>
      </p:sp>
      <p:sp>
        <p:nvSpPr>
          <p:cNvPr id="3" name="Content Placeholder 2"/>
          <p:cNvSpPr>
            <a:spLocks noGrp="1"/>
          </p:cNvSpPr>
          <p:nvPr>
            <p:ph idx="1"/>
          </p:nvPr>
        </p:nvSpPr>
        <p:spPr/>
        <p:txBody>
          <a:bodyPr>
            <a:normAutofit/>
          </a:bodyPr>
          <a:lstStyle/>
          <a:p>
            <a:r>
              <a:rPr lang="zh-CN" altLang="en-US" dirty="0"/>
              <a:t>基本原理</a:t>
            </a:r>
            <a:endParaRPr lang="en-US" altLang="zh-CN" dirty="0"/>
          </a:p>
          <a:p>
            <a:pPr lvl="1"/>
            <a:r>
              <a:rPr lang="zh-CN" altLang="en-US" dirty="0"/>
              <a:t>选择</a:t>
            </a:r>
            <a:r>
              <a:rPr lang="zh-CN" altLang="en-US" dirty="0" smtClean="0"/>
              <a:t>“</a:t>
            </a:r>
            <a:r>
              <a:rPr lang="zh-CN" altLang="en-US" dirty="0"/>
              <a:t>最</a:t>
            </a:r>
            <a:r>
              <a:rPr lang="zh-CN" altLang="en-US" dirty="0" smtClean="0"/>
              <a:t>长（未来）时间内</a:t>
            </a:r>
            <a:r>
              <a:rPr lang="zh-CN" altLang="en-US" dirty="0" smtClean="0"/>
              <a:t>不再使用的”</a:t>
            </a:r>
            <a:r>
              <a:rPr lang="zh-CN" altLang="en-US" dirty="0"/>
              <a:t>或“在离当前最远位置上”的页面被置换</a:t>
            </a:r>
            <a:endParaRPr lang="en-US" altLang="zh-CN" dirty="0"/>
          </a:p>
          <a:p>
            <a:pPr lvl="1"/>
            <a:r>
              <a:rPr lang="zh-CN" altLang="en-US" dirty="0"/>
              <a:t>这只是一种理想情况，现实世界中，无法预知未来，因为这个算法是无法实现的</a:t>
            </a:r>
            <a:endParaRPr lang="en-US" altLang="zh-CN" dirty="0"/>
          </a:p>
          <a:p>
            <a:pPr lvl="1"/>
            <a:endParaRPr lang="en-US" altLang="zh-CN" dirty="0"/>
          </a:p>
          <a:p>
            <a:pPr lvl="1"/>
            <a:r>
              <a:rPr lang="zh-CN" altLang="en-US" dirty="0"/>
              <a:t>可作为性能评价的依据</a:t>
            </a:r>
            <a:endParaRPr lang="en-US" altLang="zh-CN" dirty="0"/>
          </a:p>
          <a:p>
            <a:pPr lvl="2"/>
            <a:r>
              <a:rPr lang="zh-CN" altLang="en-US" dirty="0"/>
              <a:t>在已知（后知后觉）一种执行路径的情况下</a:t>
            </a:r>
          </a:p>
        </p:txBody>
      </p:sp>
      <p:sp>
        <p:nvSpPr>
          <p:cNvPr id="4" name="Date Placeholder 3"/>
          <p:cNvSpPr>
            <a:spLocks noGrp="1"/>
          </p:cNvSpPr>
          <p:nvPr>
            <p:ph type="dt" sz="half" idx="10"/>
          </p:nvPr>
        </p:nvSpPr>
        <p:spPr/>
        <p:txBody>
          <a:bodyPr/>
          <a:lstStyle/>
          <a:p>
            <a:fld id="{F8185695-845A-44AA-BD6E-087AD0A5B219}"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99</a:t>
            </a:fld>
            <a:endParaRPr lang="zh-CN" altLang="en-US" dirty="0"/>
          </a:p>
        </p:txBody>
      </p:sp>
    </p:spTree>
    <p:extLst>
      <p:ext uri="{BB962C8B-B14F-4D97-AF65-F5344CB8AC3E}">
        <p14:creationId xmlns:p14="http://schemas.microsoft.com/office/powerpoint/2010/main" val="912451542"/>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最佳置换算法</a:t>
            </a:r>
          </a:p>
        </p:txBody>
      </p:sp>
      <p:sp>
        <p:nvSpPr>
          <p:cNvPr id="4" name="Date Placeholder 3"/>
          <p:cNvSpPr>
            <a:spLocks noGrp="1"/>
          </p:cNvSpPr>
          <p:nvPr>
            <p:ph type="dt" sz="half" idx="10"/>
          </p:nvPr>
        </p:nvSpPr>
        <p:spPr/>
        <p:txBody>
          <a:bodyPr/>
          <a:lstStyle/>
          <a:p>
            <a:fld id="{D87A37FB-36F7-47FA-8A2B-C7722B19731C}"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100</a:t>
            </a:fld>
            <a:endParaRPr lang="zh-CN" altLang="en-US" dirty="0"/>
          </a:p>
        </p:txBody>
      </p:sp>
      <p:sp>
        <p:nvSpPr>
          <p:cNvPr id="7" name="Oval 7"/>
          <p:cNvSpPr>
            <a:spLocks noChangeArrowheads="1"/>
          </p:cNvSpPr>
          <p:nvPr/>
        </p:nvSpPr>
        <p:spPr bwMode="auto">
          <a:xfrm>
            <a:off x="3435350" y="4327748"/>
            <a:ext cx="431800" cy="431800"/>
          </a:xfrm>
          <a:prstGeom prst="ellipse">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8" name="AutoShape 4"/>
          <p:cNvSpPr>
            <a:spLocks noChangeArrowheads="1"/>
          </p:cNvSpPr>
          <p:nvPr/>
        </p:nvSpPr>
        <p:spPr bwMode="auto">
          <a:xfrm>
            <a:off x="1116013" y="3967386"/>
            <a:ext cx="1871662" cy="1296987"/>
          </a:xfrm>
          <a:prstGeom prst="flowChartMagneticDisk">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9" name="Text Box 5"/>
          <p:cNvSpPr txBox="1">
            <a:spLocks noChangeArrowheads="1"/>
          </p:cNvSpPr>
          <p:nvPr/>
        </p:nvSpPr>
        <p:spPr bwMode="auto">
          <a:xfrm>
            <a:off x="1692275" y="5264373"/>
            <a:ext cx="7921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b="1"/>
              <a:t>主存</a:t>
            </a:r>
          </a:p>
        </p:txBody>
      </p:sp>
      <p:sp>
        <p:nvSpPr>
          <p:cNvPr id="10" name="Text Box 6"/>
          <p:cNvSpPr txBox="1">
            <a:spLocks noChangeArrowheads="1"/>
          </p:cNvSpPr>
          <p:nvPr/>
        </p:nvSpPr>
        <p:spPr bwMode="auto">
          <a:xfrm>
            <a:off x="3492500" y="4327748"/>
            <a:ext cx="4679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4    3    2    1    4    3    5    4    3    2    1    5</a:t>
            </a:r>
          </a:p>
        </p:txBody>
      </p:sp>
      <p:sp>
        <p:nvSpPr>
          <p:cNvPr id="11" name="Rectangle 8"/>
          <p:cNvSpPr>
            <a:spLocks noChangeArrowheads="1"/>
          </p:cNvSpPr>
          <p:nvPr/>
        </p:nvSpPr>
        <p:spPr bwMode="auto">
          <a:xfrm>
            <a:off x="1274763" y="4543648"/>
            <a:ext cx="431800" cy="360363"/>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a:t>4</a:t>
            </a:r>
          </a:p>
        </p:txBody>
      </p:sp>
      <p:sp>
        <p:nvSpPr>
          <p:cNvPr id="12" name="Text Box 9"/>
          <p:cNvSpPr txBox="1">
            <a:spLocks noChangeArrowheads="1"/>
          </p:cNvSpPr>
          <p:nvPr/>
        </p:nvSpPr>
        <p:spPr bwMode="auto">
          <a:xfrm>
            <a:off x="3476625" y="4615086"/>
            <a:ext cx="3587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b="1">
                <a:solidFill>
                  <a:srgbClr val="FF3300"/>
                </a:solidFill>
                <a:sym typeface="Symbol" panose="05050102010706020507" pitchFamily="18" charset="2"/>
              </a:rPr>
              <a:t></a:t>
            </a:r>
          </a:p>
        </p:txBody>
      </p:sp>
      <p:sp>
        <p:nvSpPr>
          <p:cNvPr id="13" name="Rectangle 12"/>
          <p:cNvSpPr/>
          <p:nvPr/>
        </p:nvSpPr>
        <p:spPr>
          <a:xfrm>
            <a:off x="971600" y="1817793"/>
            <a:ext cx="6768752" cy="1107996"/>
          </a:xfrm>
          <a:prstGeom prst="rect">
            <a:avLst/>
          </a:prstGeom>
        </p:spPr>
        <p:txBody>
          <a:bodyPr wrap="square">
            <a:spAutoFit/>
          </a:bodyPr>
          <a:lstStyle/>
          <a:p>
            <a:pPr marL="755650" lvl="2">
              <a:lnSpc>
                <a:spcPct val="110000"/>
              </a:lnSpc>
            </a:pPr>
            <a:r>
              <a:rPr lang="zh-CN" altLang="en-US" sz="2000" b="1" dirty="0">
                <a:ea typeface="楷体" panose="02010609060101010101" pitchFamily="49" charset="-122"/>
              </a:rPr>
              <a:t>一个作业的页面走向为</a:t>
            </a:r>
            <a:r>
              <a:rPr lang="en-US" altLang="zh-CN" sz="2000" b="1" dirty="0">
                <a:ea typeface="楷体" panose="02010609060101010101" pitchFamily="49" charset="-122"/>
              </a:rPr>
              <a:t>4</a:t>
            </a:r>
            <a:r>
              <a:rPr lang="zh-CN" altLang="en-US" sz="2000" b="1" dirty="0">
                <a:ea typeface="楷体" panose="02010609060101010101" pitchFamily="49" charset="-122"/>
              </a:rPr>
              <a:t>、</a:t>
            </a:r>
            <a:r>
              <a:rPr lang="en-US" altLang="zh-CN" sz="2000" b="1" dirty="0">
                <a:ea typeface="楷体" panose="02010609060101010101" pitchFamily="49" charset="-122"/>
              </a:rPr>
              <a:t>3</a:t>
            </a:r>
            <a:r>
              <a:rPr lang="zh-CN" altLang="en-US" sz="2000" b="1" dirty="0">
                <a:ea typeface="楷体" panose="02010609060101010101" pitchFamily="49" charset="-122"/>
              </a:rPr>
              <a:t>、</a:t>
            </a:r>
            <a:r>
              <a:rPr lang="en-US" altLang="zh-CN" sz="2000" b="1" dirty="0">
                <a:ea typeface="楷体" panose="02010609060101010101" pitchFamily="49" charset="-122"/>
              </a:rPr>
              <a:t>2</a:t>
            </a:r>
            <a:r>
              <a:rPr lang="zh-CN" altLang="en-US" sz="2000" b="1" dirty="0">
                <a:ea typeface="楷体" panose="02010609060101010101" pitchFamily="49" charset="-122"/>
              </a:rPr>
              <a:t>、</a:t>
            </a:r>
            <a:r>
              <a:rPr lang="en-US" altLang="zh-CN" sz="2000" b="1" dirty="0">
                <a:ea typeface="楷体" panose="02010609060101010101" pitchFamily="49" charset="-122"/>
              </a:rPr>
              <a:t>1</a:t>
            </a:r>
            <a:r>
              <a:rPr lang="zh-CN" altLang="en-US" sz="2000" b="1" dirty="0">
                <a:ea typeface="楷体" panose="02010609060101010101" pitchFamily="49" charset="-122"/>
              </a:rPr>
              <a:t>、</a:t>
            </a:r>
            <a:r>
              <a:rPr lang="en-US" altLang="zh-CN" sz="2000" b="1" dirty="0">
                <a:ea typeface="楷体" panose="02010609060101010101" pitchFamily="49" charset="-122"/>
              </a:rPr>
              <a:t>4</a:t>
            </a:r>
            <a:r>
              <a:rPr lang="zh-CN" altLang="en-US" sz="2000" b="1" dirty="0">
                <a:ea typeface="楷体" panose="02010609060101010101" pitchFamily="49" charset="-122"/>
              </a:rPr>
              <a:t>、</a:t>
            </a:r>
            <a:r>
              <a:rPr lang="en-US" altLang="zh-CN" sz="2000" b="1" dirty="0">
                <a:ea typeface="楷体" panose="02010609060101010101" pitchFamily="49" charset="-122"/>
              </a:rPr>
              <a:t>3</a:t>
            </a:r>
            <a:r>
              <a:rPr lang="zh-CN" altLang="en-US" sz="2000" b="1" dirty="0">
                <a:ea typeface="楷体" panose="02010609060101010101" pitchFamily="49" charset="-122"/>
              </a:rPr>
              <a:t>、</a:t>
            </a:r>
            <a:r>
              <a:rPr lang="en-US" altLang="zh-CN" sz="2000" b="1" dirty="0">
                <a:ea typeface="楷体" panose="02010609060101010101" pitchFamily="49" charset="-122"/>
              </a:rPr>
              <a:t>5</a:t>
            </a:r>
            <a:r>
              <a:rPr lang="zh-CN" altLang="en-US" sz="2000" b="1" dirty="0">
                <a:ea typeface="楷体" panose="02010609060101010101" pitchFamily="49" charset="-122"/>
              </a:rPr>
              <a:t>、</a:t>
            </a:r>
            <a:r>
              <a:rPr lang="en-US" altLang="zh-CN" sz="2000" b="1" dirty="0">
                <a:ea typeface="楷体" panose="02010609060101010101" pitchFamily="49" charset="-122"/>
              </a:rPr>
              <a:t>4</a:t>
            </a:r>
            <a:r>
              <a:rPr lang="zh-CN" altLang="en-US" sz="2000" b="1" dirty="0">
                <a:ea typeface="楷体" panose="02010609060101010101" pitchFamily="49" charset="-122"/>
              </a:rPr>
              <a:t>、</a:t>
            </a:r>
            <a:r>
              <a:rPr lang="en-US" altLang="zh-CN" sz="2000" b="1" dirty="0">
                <a:ea typeface="楷体" panose="02010609060101010101" pitchFamily="49" charset="-122"/>
              </a:rPr>
              <a:t>3</a:t>
            </a:r>
            <a:r>
              <a:rPr lang="zh-CN" altLang="en-US" sz="2000" b="1" dirty="0">
                <a:ea typeface="楷体" panose="02010609060101010101" pitchFamily="49" charset="-122"/>
              </a:rPr>
              <a:t>、</a:t>
            </a:r>
            <a:r>
              <a:rPr lang="en-US" altLang="zh-CN" sz="2000" b="1" dirty="0">
                <a:ea typeface="楷体" panose="02010609060101010101" pitchFamily="49" charset="-122"/>
              </a:rPr>
              <a:t>2</a:t>
            </a:r>
            <a:r>
              <a:rPr lang="zh-CN" altLang="en-US" sz="2000" b="1" dirty="0">
                <a:ea typeface="楷体" panose="02010609060101010101" pitchFamily="49" charset="-122"/>
              </a:rPr>
              <a:t>、</a:t>
            </a:r>
            <a:r>
              <a:rPr lang="en-US" altLang="zh-CN" sz="2000" b="1" dirty="0">
                <a:ea typeface="楷体" panose="02010609060101010101" pitchFamily="49" charset="-122"/>
              </a:rPr>
              <a:t>1</a:t>
            </a:r>
            <a:r>
              <a:rPr lang="zh-CN" altLang="en-US" sz="2000" b="1" dirty="0">
                <a:ea typeface="楷体" panose="02010609060101010101" pitchFamily="49" charset="-122"/>
              </a:rPr>
              <a:t>、</a:t>
            </a:r>
            <a:r>
              <a:rPr lang="en-US" altLang="zh-CN" sz="2000" b="1" dirty="0">
                <a:ea typeface="楷体" panose="02010609060101010101" pitchFamily="49" charset="-122"/>
              </a:rPr>
              <a:t>5</a:t>
            </a:r>
            <a:r>
              <a:rPr lang="zh-CN" altLang="en-US" sz="2000" b="1" dirty="0">
                <a:ea typeface="楷体" panose="02010609060101010101" pitchFamily="49" charset="-122"/>
              </a:rPr>
              <a:t>，分配给该作业的物理块数为</a:t>
            </a:r>
            <a:r>
              <a:rPr lang="en-US" altLang="zh-CN" sz="2000" b="1" dirty="0">
                <a:ea typeface="楷体" panose="02010609060101010101" pitchFamily="49" charset="-122"/>
              </a:rPr>
              <a:t>3</a:t>
            </a:r>
            <a:r>
              <a:rPr lang="zh-CN" altLang="en-US" sz="2000" b="1" dirty="0">
                <a:ea typeface="楷体" panose="02010609060101010101" pitchFamily="49" charset="-122"/>
              </a:rPr>
              <a:t>，计算采用最佳算法时的缺页率</a:t>
            </a:r>
          </a:p>
        </p:txBody>
      </p:sp>
    </p:spTree>
    <p:extLst>
      <p:ext uri="{BB962C8B-B14F-4D97-AF65-F5344CB8AC3E}">
        <p14:creationId xmlns:p14="http://schemas.microsoft.com/office/powerpoint/2010/main" val="2486145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ou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 calcmode="lin" valueType="num">
                                      <p:cBhvr additive="base">
                                        <p:cTn id="16" dur="500" fill="hold"/>
                                        <p:tgtEl>
                                          <p:spTgt spid="11"/>
                                        </p:tgtEl>
                                        <p:attrNameLst>
                                          <p:attrName>ppt_x</p:attrName>
                                        </p:attrNameLst>
                                      </p:cBhvr>
                                      <p:tavLst>
                                        <p:tav tm="0">
                                          <p:val>
                                            <p:strVal val="#ppt_x"/>
                                          </p:val>
                                        </p:tav>
                                        <p:tav tm="100000">
                                          <p:val>
                                            <p:strVal val="#ppt_x"/>
                                          </p:val>
                                        </p:tav>
                                      </p:tavLst>
                                    </p:anim>
                                    <p:anim calcmode="lin" valueType="num">
                                      <p:cBhvr additive="base">
                                        <p:cTn id="17"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1" grpId="0" animBg="1"/>
      <p:bldP spid="12"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最佳置换算法</a:t>
            </a:r>
          </a:p>
        </p:txBody>
      </p:sp>
      <p:sp>
        <p:nvSpPr>
          <p:cNvPr id="4" name="Date Placeholder 3"/>
          <p:cNvSpPr>
            <a:spLocks noGrp="1"/>
          </p:cNvSpPr>
          <p:nvPr>
            <p:ph type="dt" sz="half" idx="10"/>
          </p:nvPr>
        </p:nvSpPr>
        <p:spPr/>
        <p:txBody>
          <a:bodyPr/>
          <a:lstStyle/>
          <a:p>
            <a:fld id="{BA999AAA-E308-4728-B587-3CA2D713E72B}"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101</a:t>
            </a:fld>
            <a:endParaRPr lang="zh-CN" altLang="en-US" dirty="0"/>
          </a:p>
        </p:txBody>
      </p:sp>
      <p:sp>
        <p:nvSpPr>
          <p:cNvPr id="13" name="Rectangle 12"/>
          <p:cNvSpPr/>
          <p:nvPr/>
        </p:nvSpPr>
        <p:spPr>
          <a:xfrm>
            <a:off x="971600" y="1817793"/>
            <a:ext cx="6768752" cy="1107996"/>
          </a:xfrm>
          <a:prstGeom prst="rect">
            <a:avLst/>
          </a:prstGeom>
        </p:spPr>
        <p:txBody>
          <a:bodyPr wrap="square">
            <a:spAutoFit/>
          </a:bodyPr>
          <a:lstStyle/>
          <a:p>
            <a:pPr marL="755650" lvl="2">
              <a:lnSpc>
                <a:spcPct val="110000"/>
              </a:lnSpc>
            </a:pPr>
            <a:r>
              <a:rPr lang="zh-CN" altLang="en-US" sz="2000" b="1" dirty="0">
                <a:ea typeface="楷体" panose="02010609060101010101" pitchFamily="49" charset="-122"/>
              </a:rPr>
              <a:t>一个作业的页面走向为</a:t>
            </a:r>
            <a:r>
              <a:rPr lang="en-US" altLang="zh-CN" sz="2000" b="1" dirty="0">
                <a:ea typeface="楷体" panose="02010609060101010101" pitchFamily="49" charset="-122"/>
              </a:rPr>
              <a:t>4</a:t>
            </a:r>
            <a:r>
              <a:rPr lang="zh-CN" altLang="en-US" sz="2000" b="1" dirty="0">
                <a:ea typeface="楷体" panose="02010609060101010101" pitchFamily="49" charset="-122"/>
              </a:rPr>
              <a:t>、</a:t>
            </a:r>
            <a:r>
              <a:rPr lang="en-US" altLang="zh-CN" sz="2000" b="1" dirty="0">
                <a:ea typeface="楷体" panose="02010609060101010101" pitchFamily="49" charset="-122"/>
              </a:rPr>
              <a:t>3</a:t>
            </a:r>
            <a:r>
              <a:rPr lang="zh-CN" altLang="en-US" sz="2000" b="1" dirty="0">
                <a:ea typeface="楷体" panose="02010609060101010101" pitchFamily="49" charset="-122"/>
              </a:rPr>
              <a:t>、</a:t>
            </a:r>
            <a:r>
              <a:rPr lang="en-US" altLang="zh-CN" sz="2000" b="1" dirty="0">
                <a:ea typeface="楷体" panose="02010609060101010101" pitchFamily="49" charset="-122"/>
              </a:rPr>
              <a:t>2</a:t>
            </a:r>
            <a:r>
              <a:rPr lang="zh-CN" altLang="en-US" sz="2000" b="1" dirty="0">
                <a:ea typeface="楷体" panose="02010609060101010101" pitchFamily="49" charset="-122"/>
              </a:rPr>
              <a:t>、</a:t>
            </a:r>
            <a:r>
              <a:rPr lang="en-US" altLang="zh-CN" sz="2000" b="1" dirty="0">
                <a:ea typeface="楷体" panose="02010609060101010101" pitchFamily="49" charset="-122"/>
              </a:rPr>
              <a:t>1</a:t>
            </a:r>
            <a:r>
              <a:rPr lang="zh-CN" altLang="en-US" sz="2000" b="1" dirty="0">
                <a:ea typeface="楷体" panose="02010609060101010101" pitchFamily="49" charset="-122"/>
              </a:rPr>
              <a:t>、</a:t>
            </a:r>
            <a:r>
              <a:rPr lang="en-US" altLang="zh-CN" sz="2000" b="1" dirty="0">
                <a:ea typeface="楷体" panose="02010609060101010101" pitchFamily="49" charset="-122"/>
              </a:rPr>
              <a:t>4</a:t>
            </a:r>
            <a:r>
              <a:rPr lang="zh-CN" altLang="en-US" sz="2000" b="1" dirty="0">
                <a:ea typeface="楷体" panose="02010609060101010101" pitchFamily="49" charset="-122"/>
              </a:rPr>
              <a:t>、</a:t>
            </a:r>
            <a:r>
              <a:rPr lang="en-US" altLang="zh-CN" sz="2000" b="1" dirty="0">
                <a:ea typeface="楷体" panose="02010609060101010101" pitchFamily="49" charset="-122"/>
              </a:rPr>
              <a:t>3</a:t>
            </a:r>
            <a:r>
              <a:rPr lang="zh-CN" altLang="en-US" sz="2000" b="1" dirty="0">
                <a:ea typeface="楷体" panose="02010609060101010101" pitchFamily="49" charset="-122"/>
              </a:rPr>
              <a:t>、</a:t>
            </a:r>
            <a:r>
              <a:rPr lang="en-US" altLang="zh-CN" sz="2000" b="1" dirty="0">
                <a:ea typeface="楷体" panose="02010609060101010101" pitchFamily="49" charset="-122"/>
              </a:rPr>
              <a:t>5</a:t>
            </a:r>
            <a:r>
              <a:rPr lang="zh-CN" altLang="en-US" sz="2000" b="1" dirty="0">
                <a:ea typeface="楷体" panose="02010609060101010101" pitchFamily="49" charset="-122"/>
              </a:rPr>
              <a:t>、</a:t>
            </a:r>
            <a:r>
              <a:rPr lang="en-US" altLang="zh-CN" sz="2000" b="1" dirty="0">
                <a:ea typeface="楷体" panose="02010609060101010101" pitchFamily="49" charset="-122"/>
              </a:rPr>
              <a:t>4</a:t>
            </a:r>
            <a:r>
              <a:rPr lang="zh-CN" altLang="en-US" sz="2000" b="1" dirty="0">
                <a:ea typeface="楷体" panose="02010609060101010101" pitchFamily="49" charset="-122"/>
              </a:rPr>
              <a:t>、</a:t>
            </a:r>
            <a:r>
              <a:rPr lang="en-US" altLang="zh-CN" sz="2000" b="1" dirty="0">
                <a:ea typeface="楷体" panose="02010609060101010101" pitchFamily="49" charset="-122"/>
              </a:rPr>
              <a:t>3</a:t>
            </a:r>
            <a:r>
              <a:rPr lang="zh-CN" altLang="en-US" sz="2000" b="1" dirty="0">
                <a:ea typeface="楷体" panose="02010609060101010101" pitchFamily="49" charset="-122"/>
              </a:rPr>
              <a:t>、</a:t>
            </a:r>
            <a:r>
              <a:rPr lang="en-US" altLang="zh-CN" sz="2000" b="1" dirty="0">
                <a:ea typeface="楷体" panose="02010609060101010101" pitchFamily="49" charset="-122"/>
              </a:rPr>
              <a:t>2</a:t>
            </a:r>
            <a:r>
              <a:rPr lang="zh-CN" altLang="en-US" sz="2000" b="1" dirty="0">
                <a:ea typeface="楷体" panose="02010609060101010101" pitchFamily="49" charset="-122"/>
              </a:rPr>
              <a:t>、</a:t>
            </a:r>
            <a:r>
              <a:rPr lang="en-US" altLang="zh-CN" sz="2000" b="1" dirty="0">
                <a:ea typeface="楷体" panose="02010609060101010101" pitchFamily="49" charset="-122"/>
              </a:rPr>
              <a:t>1</a:t>
            </a:r>
            <a:r>
              <a:rPr lang="zh-CN" altLang="en-US" sz="2000" b="1" dirty="0">
                <a:ea typeface="楷体" panose="02010609060101010101" pitchFamily="49" charset="-122"/>
              </a:rPr>
              <a:t>、</a:t>
            </a:r>
            <a:r>
              <a:rPr lang="en-US" altLang="zh-CN" sz="2000" b="1" dirty="0">
                <a:ea typeface="楷体" panose="02010609060101010101" pitchFamily="49" charset="-122"/>
              </a:rPr>
              <a:t>5</a:t>
            </a:r>
            <a:r>
              <a:rPr lang="zh-CN" altLang="en-US" sz="2000" b="1" dirty="0">
                <a:ea typeface="楷体" panose="02010609060101010101" pitchFamily="49" charset="-122"/>
              </a:rPr>
              <a:t>，分配给该作业的物理块数为</a:t>
            </a:r>
            <a:r>
              <a:rPr lang="en-US" altLang="zh-CN" sz="2000" b="1" dirty="0">
                <a:ea typeface="楷体" panose="02010609060101010101" pitchFamily="49" charset="-122"/>
              </a:rPr>
              <a:t>3</a:t>
            </a:r>
            <a:r>
              <a:rPr lang="zh-CN" altLang="en-US" sz="2000" b="1" dirty="0">
                <a:ea typeface="楷体" panose="02010609060101010101" pitchFamily="49" charset="-122"/>
              </a:rPr>
              <a:t>，计算采用最佳算法时的缺页率</a:t>
            </a:r>
          </a:p>
        </p:txBody>
      </p:sp>
      <p:sp>
        <p:nvSpPr>
          <p:cNvPr id="15" name="Oval 2"/>
          <p:cNvSpPr>
            <a:spLocks noChangeArrowheads="1"/>
          </p:cNvSpPr>
          <p:nvPr/>
        </p:nvSpPr>
        <p:spPr bwMode="auto">
          <a:xfrm>
            <a:off x="3795713" y="4327748"/>
            <a:ext cx="431800" cy="431800"/>
          </a:xfrm>
          <a:prstGeom prst="ellipse">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6" name="AutoShape 5"/>
          <p:cNvSpPr>
            <a:spLocks noChangeArrowheads="1"/>
          </p:cNvSpPr>
          <p:nvPr/>
        </p:nvSpPr>
        <p:spPr bwMode="auto">
          <a:xfrm>
            <a:off x="1116013" y="3967386"/>
            <a:ext cx="1871662" cy="1296987"/>
          </a:xfrm>
          <a:prstGeom prst="flowChartMagneticDisk">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7" name="Text Box 6"/>
          <p:cNvSpPr txBox="1">
            <a:spLocks noChangeArrowheads="1"/>
          </p:cNvSpPr>
          <p:nvPr/>
        </p:nvSpPr>
        <p:spPr bwMode="auto">
          <a:xfrm>
            <a:off x="1692275" y="5264373"/>
            <a:ext cx="7921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b="1"/>
              <a:t>主存</a:t>
            </a:r>
          </a:p>
        </p:txBody>
      </p:sp>
      <p:sp>
        <p:nvSpPr>
          <p:cNvPr id="18" name="Text Box 7"/>
          <p:cNvSpPr txBox="1">
            <a:spLocks noChangeArrowheads="1"/>
          </p:cNvSpPr>
          <p:nvPr/>
        </p:nvSpPr>
        <p:spPr bwMode="auto">
          <a:xfrm>
            <a:off x="3492500" y="4327748"/>
            <a:ext cx="4679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dirty="0"/>
              <a:t>4    3    2    1    4    3    5    4    3    2    1    5</a:t>
            </a:r>
          </a:p>
        </p:txBody>
      </p:sp>
      <p:sp>
        <p:nvSpPr>
          <p:cNvPr id="19" name="Rectangle 8"/>
          <p:cNvSpPr>
            <a:spLocks noChangeArrowheads="1"/>
          </p:cNvSpPr>
          <p:nvPr/>
        </p:nvSpPr>
        <p:spPr bwMode="auto">
          <a:xfrm>
            <a:off x="1274763" y="4543648"/>
            <a:ext cx="431800" cy="360363"/>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a:t>4</a:t>
            </a:r>
          </a:p>
        </p:txBody>
      </p:sp>
      <p:sp>
        <p:nvSpPr>
          <p:cNvPr id="20" name="Rectangle 9"/>
          <p:cNvSpPr>
            <a:spLocks noChangeArrowheads="1"/>
          </p:cNvSpPr>
          <p:nvPr/>
        </p:nvSpPr>
        <p:spPr bwMode="auto">
          <a:xfrm>
            <a:off x="1820863" y="4551586"/>
            <a:ext cx="431800" cy="36036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a:t>3</a:t>
            </a:r>
          </a:p>
        </p:txBody>
      </p:sp>
      <p:sp>
        <p:nvSpPr>
          <p:cNvPr id="21" name="Text Box 10"/>
          <p:cNvSpPr txBox="1">
            <a:spLocks noChangeArrowheads="1"/>
          </p:cNvSpPr>
          <p:nvPr/>
        </p:nvSpPr>
        <p:spPr bwMode="auto">
          <a:xfrm>
            <a:off x="3476625" y="4615086"/>
            <a:ext cx="3587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b="1">
                <a:solidFill>
                  <a:srgbClr val="FF3300"/>
                </a:solidFill>
                <a:sym typeface="Symbol" panose="05050102010706020507" pitchFamily="18" charset="2"/>
              </a:rPr>
              <a:t></a:t>
            </a:r>
          </a:p>
        </p:txBody>
      </p:sp>
      <p:sp>
        <p:nvSpPr>
          <p:cNvPr id="22" name="Text Box 11"/>
          <p:cNvSpPr txBox="1">
            <a:spLocks noChangeArrowheads="1"/>
          </p:cNvSpPr>
          <p:nvPr/>
        </p:nvSpPr>
        <p:spPr bwMode="auto">
          <a:xfrm>
            <a:off x="3836988" y="4608736"/>
            <a:ext cx="3587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b="1" dirty="0">
                <a:solidFill>
                  <a:srgbClr val="FF3300"/>
                </a:solidFill>
                <a:sym typeface="Symbol" panose="05050102010706020507" pitchFamily="18" charset="2"/>
              </a:rPr>
              <a:t></a:t>
            </a:r>
          </a:p>
        </p:txBody>
      </p:sp>
    </p:spTree>
    <p:extLst>
      <p:ext uri="{BB962C8B-B14F-4D97-AF65-F5344CB8AC3E}">
        <p14:creationId xmlns:p14="http://schemas.microsoft.com/office/powerpoint/2010/main" val="2748159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ppt_x"/>
                                          </p:val>
                                        </p:tav>
                                        <p:tav tm="100000">
                                          <p:val>
                                            <p:strVal val="#ppt_x"/>
                                          </p:val>
                                        </p:tav>
                                      </p:tavLst>
                                    </p:anim>
                                    <p:anim calcmode="lin" valueType="num">
                                      <p:cBhvr additive="base">
                                        <p:cTn id="12"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2"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最佳置换算法</a:t>
            </a:r>
          </a:p>
        </p:txBody>
      </p:sp>
      <p:sp>
        <p:nvSpPr>
          <p:cNvPr id="4" name="Date Placeholder 3"/>
          <p:cNvSpPr>
            <a:spLocks noGrp="1"/>
          </p:cNvSpPr>
          <p:nvPr>
            <p:ph type="dt" sz="half" idx="10"/>
          </p:nvPr>
        </p:nvSpPr>
        <p:spPr/>
        <p:txBody>
          <a:bodyPr/>
          <a:lstStyle/>
          <a:p>
            <a:fld id="{71FAA6C9-E67C-4C54-86A5-CDCD3FCAA91A}"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102</a:t>
            </a:fld>
            <a:endParaRPr lang="zh-CN" altLang="en-US" dirty="0"/>
          </a:p>
        </p:txBody>
      </p:sp>
      <p:sp>
        <p:nvSpPr>
          <p:cNvPr id="13" name="Rectangle 12"/>
          <p:cNvSpPr/>
          <p:nvPr/>
        </p:nvSpPr>
        <p:spPr>
          <a:xfrm>
            <a:off x="971600" y="1817793"/>
            <a:ext cx="6768752" cy="1107996"/>
          </a:xfrm>
          <a:prstGeom prst="rect">
            <a:avLst/>
          </a:prstGeom>
        </p:spPr>
        <p:txBody>
          <a:bodyPr wrap="square">
            <a:spAutoFit/>
          </a:bodyPr>
          <a:lstStyle/>
          <a:p>
            <a:pPr marL="755650" lvl="2">
              <a:lnSpc>
                <a:spcPct val="110000"/>
              </a:lnSpc>
            </a:pPr>
            <a:r>
              <a:rPr lang="zh-CN" altLang="en-US" sz="2000" b="1" dirty="0">
                <a:ea typeface="楷体" panose="02010609060101010101" pitchFamily="49" charset="-122"/>
              </a:rPr>
              <a:t>一个作业的页面走向为</a:t>
            </a:r>
            <a:r>
              <a:rPr lang="en-US" altLang="zh-CN" sz="2000" b="1" dirty="0">
                <a:ea typeface="楷体" panose="02010609060101010101" pitchFamily="49" charset="-122"/>
              </a:rPr>
              <a:t>4</a:t>
            </a:r>
            <a:r>
              <a:rPr lang="zh-CN" altLang="en-US" sz="2000" b="1" dirty="0">
                <a:ea typeface="楷体" panose="02010609060101010101" pitchFamily="49" charset="-122"/>
              </a:rPr>
              <a:t>、</a:t>
            </a:r>
            <a:r>
              <a:rPr lang="en-US" altLang="zh-CN" sz="2000" b="1" dirty="0">
                <a:ea typeface="楷体" panose="02010609060101010101" pitchFamily="49" charset="-122"/>
              </a:rPr>
              <a:t>3</a:t>
            </a:r>
            <a:r>
              <a:rPr lang="zh-CN" altLang="en-US" sz="2000" b="1" dirty="0">
                <a:ea typeface="楷体" panose="02010609060101010101" pitchFamily="49" charset="-122"/>
              </a:rPr>
              <a:t>、</a:t>
            </a:r>
            <a:r>
              <a:rPr lang="en-US" altLang="zh-CN" sz="2000" b="1" dirty="0">
                <a:ea typeface="楷体" panose="02010609060101010101" pitchFamily="49" charset="-122"/>
              </a:rPr>
              <a:t>2</a:t>
            </a:r>
            <a:r>
              <a:rPr lang="zh-CN" altLang="en-US" sz="2000" b="1" dirty="0">
                <a:ea typeface="楷体" panose="02010609060101010101" pitchFamily="49" charset="-122"/>
              </a:rPr>
              <a:t>、</a:t>
            </a:r>
            <a:r>
              <a:rPr lang="en-US" altLang="zh-CN" sz="2000" b="1" dirty="0">
                <a:ea typeface="楷体" panose="02010609060101010101" pitchFamily="49" charset="-122"/>
              </a:rPr>
              <a:t>1</a:t>
            </a:r>
            <a:r>
              <a:rPr lang="zh-CN" altLang="en-US" sz="2000" b="1" dirty="0">
                <a:ea typeface="楷体" panose="02010609060101010101" pitchFamily="49" charset="-122"/>
              </a:rPr>
              <a:t>、</a:t>
            </a:r>
            <a:r>
              <a:rPr lang="en-US" altLang="zh-CN" sz="2000" b="1" dirty="0">
                <a:ea typeface="楷体" panose="02010609060101010101" pitchFamily="49" charset="-122"/>
              </a:rPr>
              <a:t>4</a:t>
            </a:r>
            <a:r>
              <a:rPr lang="zh-CN" altLang="en-US" sz="2000" b="1" dirty="0">
                <a:ea typeface="楷体" panose="02010609060101010101" pitchFamily="49" charset="-122"/>
              </a:rPr>
              <a:t>、</a:t>
            </a:r>
            <a:r>
              <a:rPr lang="en-US" altLang="zh-CN" sz="2000" b="1" dirty="0">
                <a:ea typeface="楷体" panose="02010609060101010101" pitchFamily="49" charset="-122"/>
              </a:rPr>
              <a:t>3</a:t>
            </a:r>
            <a:r>
              <a:rPr lang="zh-CN" altLang="en-US" sz="2000" b="1" dirty="0">
                <a:ea typeface="楷体" panose="02010609060101010101" pitchFamily="49" charset="-122"/>
              </a:rPr>
              <a:t>、</a:t>
            </a:r>
            <a:r>
              <a:rPr lang="en-US" altLang="zh-CN" sz="2000" b="1" dirty="0">
                <a:ea typeface="楷体" panose="02010609060101010101" pitchFamily="49" charset="-122"/>
              </a:rPr>
              <a:t>5</a:t>
            </a:r>
            <a:r>
              <a:rPr lang="zh-CN" altLang="en-US" sz="2000" b="1" dirty="0">
                <a:ea typeface="楷体" panose="02010609060101010101" pitchFamily="49" charset="-122"/>
              </a:rPr>
              <a:t>、</a:t>
            </a:r>
            <a:r>
              <a:rPr lang="en-US" altLang="zh-CN" sz="2000" b="1" dirty="0">
                <a:ea typeface="楷体" panose="02010609060101010101" pitchFamily="49" charset="-122"/>
              </a:rPr>
              <a:t>4</a:t>
            </a:r>
            <a:r>
              <a:rPr lang="zh-CN" altLang="en-US" sz="2000" b="1" dirty="0">
                <a:ea typeface="楷体" panose="02010609060101010101" pitchFamily="49" charset="-122"/>
              </a:rPr>
              <a:t>、</a:t>
            </a:r>
            <a:r>
              <a:rPr lang="en-US" altLang="zh-CN" sz="2000" b="1" dirty="0">
                <a:ea typeface="楷体" panose="02010609060101010101" pitchFamily="49" charset="-122"/>
              </a:rPr>
              <a:t>3</a:t>
            </a:r>
            <a:r>
              <a:rPr lang="zh-CN" altLang="en-US" sz="2000" b="1" dirty="0">
                <a:ea typeface="楷体" panose="02010609060101010101" pitchFamily="49" charset="-122"/>
              </a:rPr>
              <a:t>、</a:t>
            </a:r>
            <a:r>
              <a:rPr lang="en-US" altLang="zh-CN" sz="2000" b="1" dirty="0">
                <a:ea typeface="楷体" panose="02010609060101010101" pitchFamily="49" charset="-122"/>
              </a:rPr>
              <a:t>2</a:t>
            </a:r>
            <a:r>
              <a:rPr lang="zh-CN" altLang="en-US" sz="2000" b="1" dirty="0">
                <a:ea typeface="楷体" panose="02010609060101010101" pitchFamily="49" charset="-122"/>
              </a:rPr>
              <a:t>、</a:t>
            </a:r>
            <a:r>
              <a:rPr lang="en-US" altLang="zh-CN" sz="2000" b="1" dirty="0">
                <a:ea typeface="楷体" panose="02010609060101010101" pitchFamily="49" charset="-122"/>
              </a:rPr>
              <a:t>1</a:t>
            </a:r>
            <a:r>
              <a:rPr lang="zh-CN" altLang="en-US" sz="2000" b="1" dirty="0">
                <a:ea typeface="楷体" panose="02010609060101010101" pitchFamily="49" charset="-122"/>
              </a:rPr>
              <a:t>、</a:t>
            </a:r>
            <a:r>
              <a:rPr lang="en-US" altLang="zh-CN" sz="2000" b="1" dirty="0">
                <a:ea typeface="楷体" panose="02010609060101010101" pitchFamily="49" charset="-122"/>
              </a:rPr>
              <a:t>5</a:t>
            </a:r>
            <a:r>
              <a:rPr lang="zh-CN" altLang="en-US" sz="2000" b="1" dirty="0">
                <a:ea typeface="楷体" panose="02010609060101010101" pitchFamily="49" charset="-122"/>
              </a:rPr>
              <a:t>，分配给该作业的物理块数为</a:t>
            </a:r>
            <a:r>
              <a:rPr lang="en-US" altLang="zh-CN" sz="2000" b="1" dirty="0">
                <a:ea typeface="楷体" panose="02010609060101010101" pitchFamily="49" charset="-122"/>
              </a:rPr>
              <a:t>3</a:t>
            </a:r>
            <a:r>
              <a:rPr lang="zh-CN" altLang="en-US" sz="2000" b="1" dirty="0">
                <a:ea typeface="楷体" panose="02010609060101010101" pitchFamily="49" charset="-122"/>
              </a:rPr>
              <a:t>，计算采用最佳算法时的缺页率</a:t>
            </a:r>
          </a:p>
        </p:txBody>
      </p:sp>
      <p:sp>
        <p:nvSpPr>
          <p:cNvPr id="14" name="Oval 2"/>
          <p:cNvSpPr>
            <a:spLocks noChangeArrowheads="1"/>
          </p:cNvSpPr>
          <p:nvPr/>
        </p:nvSpPr>
        <p:spPr bwMode="auto">
          <a:xfrm>
            <a:off x="4187825" y="4293418"/>
            <a:ext cx="431800" cy="431800"/>
          </a:xfrm>
          <a:prstGeom prst="ellipse">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5" name="AutoShape 5"/>
          <p:cNvSpPr>
            <a:spLocks noChangeArrowheads="1"/>
          </p:cNvSpPr>
          <p:nvPr/>
        </p:nvSpPr>
        <p:spPr bwMode="auto">
          <a:xfrm>
            <a:off x="1116013" y="3933056"/>
            <a:ext cx="1871662" cy="1296987"/>
          </a:xfrm>
          <a:prstGeom prst="flowChartMagneticDisk">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6" name="Text Box 6"/>
          <p:cNvSpPr txBox="1">
            <a:spLocks noChangeArrowheads="1"/>
          </p:cNvSpPr>
          <p:nvPr/>
        </p:nvSpPr>
        <p:spPr bwMode="auto">
          <a:xfrm>
            <a:off x="1692275" y="5230043"/>
            <a:ext cx="7921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b="1"/>
              <a:t>主存</a:t>
            </a:r>
          </a:p>
        </p:txBody>
      </p:sp>
      <p:sp>
        <p:nvSpPr>
          <p:cNvPr id="17" name="Text Box 7"/>
          <p:cNvSpPr txBox="1">
            <a:spLocks noChangeArrowheads="1"/>
          </p:cNvSpPr>
          <p:nvPr/>
        </p:nvSpPr>
        <p:spPr bwMode="auto">
          <a:xfrm>
            <a:off x="3492500" y="4293418"/>
            <a:ext cx="4679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4    3    2    1    4    3    5    4    3    2    1    5</a:t>
            </a:r>
          </a:p>
        </p:txBody>
      </p:sp>
      <p:sp>
        <p:nvSpPr>
          <p:cNvPr id="18" name="Rectangle 8"/>
          <p:cNvSpPr>
            <a:spLocks noChangeArrowheads="1"/>
          </p:cNvSpPr>
          <p:nvPr/>
        </p:nvSpPr>
        <p:spPr bwMode="auto">
          <a:xfrm>
            <a:off x="1274763" y="4509318"/>
            <a:ext cx="431800" cy="360363"/>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a:t>4</a:t>
            </a:r>
          </a:p>
        </p:txBody>
      </p:sp>
      <p:sp>
        <p:nvSpPr>
          <p:cNvPr id="19" name="Rectangle 9"/>
          <p:cNvSpPr>
            <a:spLocks noChangeArrowheads="1"/>
          </p:cNvSpPr>
          <p:nvPr/>
        </p:nvSpPr>
        <p:spPr bwMode="auto">
          <a:xfrm>
            <a:off x="1820863" y="4517256"/>
            <a:ext cx="431800" cy="36036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a:t>3</a:t>
            </a:r>
          </a:p>
        </p:txBody>
      </p:sp>
      <p:sp>
        <p:nvSpPr>
          <p:cNvPr id="20" name="Rectangle 10"/>
          <p:cNvSpPr>
            <a:spLocks noChangeArrowheads="1"/>
          </p:cNvSpPr>
          <p:nvPr/>
        </p:nvSpPr>
        <p:spPr bwMode="auto">
          <a:xfrm>
            <a:off x="2371725" y="4509318"/>
            <a:ext cx="431800" cy="360363"/>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a:t>2</a:t>
            </a:r>
          </a:p>
        </p:txBody>
      </p:sp>
      <p:sp>
        <p:nvSpPr>
          <p:cNvPr id="21" name="Text Box 11"/>
          <p:cNvSpPr txBox="1">
            <a:spLocks noChangeArrowheads="1"/>
          </p:cNvSpPr>
          <p:nvPr/>
        </p:nvSpPr>
        <p:spPr bwMode="auto">
          <a:xfrm>
            <a:off x="3476625" y="4580756"/>
            <a:ext cx="3587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b="1">
                <a:solidFill>
                  <a:srgbClr val="FF3300"/>
                </a:solidFill>
                <a:sym typeface="Symbol" panose="05050102010706020507" pitchFamily="18" charset="2"/>
              </a:rPr>
              <a:t></a:t>
            </a:r>
          </a:p>
        </p:txBody>
      </p:sp>
      <p:sp>
        <p:nvSpPr>
          <p:cNvPr id="22" name="Text Box 12"/>
          <p:cNvSpPr txBox="1">
            <a:spLocks noChangeArrowheads="1"/>
          </p:cNvSpPr>
          <p:nvPr/>
        </p:nvSpPr>
        <p:spPr bwMode="auto">
          <a:xfrm>
            <a:off x="3836988" y="4574406"/>
            <a:ext cx="3587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b="1">
                <a:solidFill>
                  <a:srgbClr val="FF3300"/>
                </a:solidFill>
                <a:sym typeface="Symbol" panose="05050102010706020507" pitchFamily="18" charset="2"/>
              </a:rPr>
              <a:t></a:t>
            </a:r>
          </a:p>
        </p:txBody>
      </p:sp>
      <p:sp>
        <p:nvSpPr>
          <p:cNvPr id="23" name="Text Box 13"/>
          <p:cNvSpPr txBox="1">
            <a:spLocks noChangeArrowheads="1"/>
          </p:cNvSpPr>
          <p:nvPr/>
        </p:nvSpPr>
        <p:spPr bwMode="auto">
          <a:xfrm>
            <a:off x="4221163" y="4580756"/>
            <a:ext cx="3587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b="1">
                <a:solidFill>
                  <a:srgbClr val="FF3300"/>
                </a:solidFill>
                <a:sym typeface="Symbol" panose="05050102010706020507" pitchFamily="18" charset="2"/>
              </a:rPr>
              <a:t></a:t>
            </a:r>
          </a:p>
        </p:txBody>
      </p:sp>
    </p:spTree>
    <p:extLst>
      <p:ext uri="{BB962C8B-B14F-4D97-AF65-F5344CB8AC3E}">
        <p14:creationId xmlns:p14="http://schemas.microsoft.com/office/powerpoint/2010/main" val="2669594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ppt_x"/>
                                          </p:val>
                                        </p:tav>
                                        <p:tav tm="100000">
                                          <p:val>
                                            <p:strVal val="#ppt_x"/>
                                          </p:val>
                                        </p:tav>
                                      </p:tavLst>
                                    </p:anim>
                                    <p:anim calcmode="lin" valueType="num">
                                      <p:cBhvr additive="base">
                                        <p:cTn id="12"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3"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最佳置换算法</a:t>
            </a:r>
          </a:p>
        </p:txBody>
      </p:sp>
      <p:sp>
        <p:nvSpPr>
          <p:cNvPr id="4" name="Date Placeholder 3"/>
          <p:cNvSpPr>
            <a:spLocks noGrp="1"/>
          </p:cNvSpPr>
          <p:nvPr>
            <p:ph type="dt" sz="half" idx="10"/>
          </p:nvPr>
        </p:nvSpPr>
        <p:spPr/>
        <p:txBody>
          <a:bodyPr/>
          <a:lstStyle/>
          <a:p>
            <a:fld id="{1ADEBFE8-B21D-403A-A20B-39D73803ED88}"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103</a:t>
            </a:fld>
            <a:endParaRPr lang="zh-CN" altLang="en-US" dirty="0"/>
          </a:p>
        </p:txBody>
      </p:sp>
      <p:sp>
        <p:nvSpPr>
          <p:cNvPr id="13" name="Rectangle 12"/>
          <p:cNvSpPr/>
          <p:nvPr/>
        </p:nvSpPr>
        <p:spPr>
          <a:xfrm>
            <a:off x="971600" y="1817793"/>
            <a:ext cx="6768752" cy="1107996"/>
          </a:xfrm>
          <a:prstGeom prst="rect">
            <a:avLst/>
          </a:prstGeom>
        </p:spPr>
        <p:txBody>
          <a:bodyPr wrap="square">
            <a:spAutoFit/>
          </a:bodyPr>
          <a:lstStyle/>
          <a:p>
            <a:pPr marL="755650" lvl="2">
              <a:lnSpc>
                <a:spcPct val="110000"/>
              </a:lnSpc>
            </a:pPr>
            <a:r>
              <a:rPr lang="zh-CN" altLang="en-US" sz="2000" b="1" dirty="0">
                <a:ea typeface="楷体" panose="02010609060101010101" pitchFamily="49" charset="-122"/>
              </a:rPr>
              <a:t>一个作业的页面走向为</a:t>
            </a:r>
            <a:r>
              <a:rPr lang="en-US" altLang="zh-CN" sz="2000" b="1" dirty="0">
                <a:ea typeface="楷体" panose="02010609060101010101" pitchFamily="49" charset="-122"/>
              </a:rPr>
              <a:t>4</a:t>
            </a:r>
            <a:r>
              <a:rPr lang="zh-CN" altLang="en-US" sz="2000" b="1" dirty="0">
                <a:ea typeface="楷体" panose="02010609060101010101" pitchFamily="49" charset="-122"/>
              </a:rPr>
              <a:t>、</a:t>
            </a:r>
            <a:r>
              <a:rPr lang="en-US" altLang="zh-CN" sz="2000" b="1" dirty="0">
                <a:ea typeface="楷体" panose="02010609060101010101" pitchFamily="49" charset="-122"/>
              </a:rPr>
              <a:t>3</a:t>
            </a:r>
            <a:r>
              <a:rPr lang="zh-CN" altLang="en-US" sz="2000" b="1" dirty="0">
                <a:ea typeface="楷体" panose="02010609060101010101" pitchFamily="49" charset="-122"/>
              </a:rPr>
              <a:t>、</a:t>
            </a:r>
            <a:r>
              <a:rPr lang="en-US" altLang="zh-CN" sz="2000" b="1" dirty="0">
                <a:ea typeface="楷体" panose="02010609060101010101" pitchFamily="49" charset="-122"/>
              </a:rPr>
              <a:t>2</a:t>
            </a:r>
            <a:r>
              <a:rPr lang="zh-CN" altLang="en-US" sz="2000" b="1" dirty="0">
                <a:ea typeface="楷体" panose="02010609060101010101" pitchFamily="49" charset="-122"/>
              </a:rPr>
              <a:t>、</a:t>
            </a:r>
            <a:r>
              <a:rPr lang="en-US" altLang="zh-CN" sz="2000" b="1" dirty="0">
                <a:ea typeface="楷体" panose="02010609060101010101" pitchFamily="49" charset="-122"/>
              </a:rPr>
              <a:t>1</a:t>
            </a:r>
            <a:r>
              <a:rPr lang="zh-CN" altLang="en-US" sz="2000" b="1" dirty="0">
                <a:ea typeface="楷体" panose="02010609060101010101" pitchFamily="49" charset="-122"/>
              </a:rPr>
              <a:t>、</a:t>
            </a:r>
            <a:r>
              <a:rPr lang="en-US" altLang="zh-CN" sz="2000" b="1" dirty="0">
                <a:ea typeface="楷体" panose="02010609060101010101" pitchFamily="49" charset="-122"/>
              </a:rPr>
              <a:t>4</a:t>
            </a:r>
            <a:r>
              <a:rPr lang="zh-CN" altLang="en-US" sz="2000" b="1" dirty="0">
                <a:ea typeface="楷体" panose="02010609060101010101" pitchFamily="49" charset="-122"/>
              </a:rPr>
              <a:t>、</a:t>
            </a:r>
            <a:r>
              <a:rPr lang="en-US" altLang="zh-CN" sz="2000" b="1" dirty="0">
                <a:ea typeface="楷体" panose="02010609060101010101" pitchFamily="49" charset="-122"/>
              </a:rPr>
              <a:t>3</a:t>
            </a:r>
            <a:r>
              <a:rPr lang="zh-CN" altLang="en-US" sz="2000" b="1" dirty="0">
                <a:ea typeface="楷体" panose="02010609060101010101" pitchFamily="49" charset="-122"/>
              </a:rPr>
              <a:t>、</a:t>
            </a:r>
            <a:r>
              <a:rPr lang="en-US" altLang="zh-CN" sz="2000" b="1" dirty="0">
                <a:ea typeface="楷体" panose="02010609060101010101" pitchFamily="49" charset="-122"/>
              </a:rPr>
              <a:t>5</a:t>
            </a:r>
            <a:r>
              <a:rPr lang="zh-CN" altLang="en-US" sz="2000" b="1" dirty="0">
                <a:ea typeface="楷体" panose="02010609060101010101" pitchFamily="49" charset="-122"/>
              </a:rPr>
              <a:t>、</a:t>
            </a:r>
            <a:r>
              <a:rPr lang="en-US" altLang="zh-CN" sz="2000" b="1" dirty="0">
                <a:ea typeface="楷体" panose="02010609060101010101" pitchFamily="49" charset="-122"/>
              </a:rPr>
              <a:t>4</a:t>
            </a:r>
            <a:r>
              <a:rPr lang="zh-CN" altLang="en-US" sz="2000" b="1" dirty="0">
                <a:ea typeface="楷体" panose="02010609060101010101" pitchFamily="49" charset="-122"/>
              </a:rPr>
              <a:t>、</a:t>
            </a:r>
            <a:r>
              <a:rPr lang="en-US" altLang="zh-CN" sz="2000" b="1" dirty="0">
                <a:ea typeface="楷体" panose="02010609060101010101" pitchFamily="49" charset="-122"/>
              </a:rPr>
              <a:t>3</a:t>
            </a:r>
            <a:r>
              <a:rPr lang="zh-CN" altLang="en-US" sz="2000" b="1" dirty="0">
                <a:ea typeface="楷体" panose="02010609060101010101" pitchFamily="49" charset="-122"/>
              </a:rPr>
              <a:t>、</a:t>
            </a:r>
            <a:r>
              <a:rPr lang="en-US" altLang="zh-CN" sz="2000" b="1" dirty="0">
                <a:ea typeface="楷体" panose="02010609060101010101" pitchFamily="49" charset="-122"/>
              </a:rPr>
              <a:t>2</a:t>
            </a:r>
            <a:r>
              <a:rPr lang="zh-CN" altLang="en-US" sz="2000" b="1" dirty="0">
                <a:ea typeface="楷体" panose="02010609060101010101" pitchFamily="49" charset="-122"/>
              </a:rPr>
              <a:t>、</a:t>
            </a:r>
            <a:r>
              <a:rPr lang="en-US" altLang="zh-CN" sz="2000" b="1" dirty="0">
                <a:ea typeface="楷体" panose="02010609060101010101" pitchFamily="49" charset="-122"/>
              </a:rPr>
              <a:t>1</a:t>
            </a:r>
            <a:r>
              <a:rPr lang="zh-CN" altLang="en-US" sz="2000" b="1" dirty="0">
                <a:ea typeface="楷体" panose="02010609060101010101" pitchFamily="49" charset="-122"/>
              </a:rPr>
              <a:t>、</a:t>
            </a:r>
            <a:r>
              <a:rPr lang="en-US" altLang="zh-CN" sz="2000" b="1" dirty="0">
                <a:ea typeface="楷体" panose="02010609060101010101" pitchFamily="49" charset="-122"/>
              </a:rPr>
              <a:t>5</a:t>
            </a:r>
            <a:r>
              <a:rPr lang="zh-CN" altLang="en-US" sz="2000" b="1" dirty="0">
                <a:ea typeface="楷体" panose="02010609060101010101" pitchFamily="49" charset="-122"/>
              </a:rPr>
              <a:t>，分配给该作业的物理块数为</a:t>
            </a:r>
            <a:r>
              <a:rPr lang="en-US" altLang="zh-CN" sz="2000" b="1" dirty="0">
                <a:ea typeface="楷体" panose="02010609060101010101" pitchFamily="49" charset="-122"/>
              </a:rPr>
              <a:t>3</a:t>
            </a:r>
            <a:r>
              <a:rPr lang="zh-CN" altLang="en-US" sz="2000" b="1" dirty="0">
                <a:ea typeface="楷体" panose="02010609060101010101" pitchFamily="49" charset="-122"/>
              </a:rPr>
              <a:t>，计算采用最佳算法时的缺页率</a:t>
            </a:r>
          </a:p>
        </p:txBody>
      </p:sp>
      <p:sp>
        <p:nvSpPr>
          <p:cNvPr id="14" name="Oval 2"/>
          <p:cNvSpPr>
            <a:spLocks noChangeArrowheads="1"/>
          </p:cNvSpPr>
          <p:nvPr/>
        </p:nvSpPr>
        <p:spPr bwMode="auto">
          <a:xfrm>
            <a:off x="4572000" y="4293418"/>
            <a:ext cx="431800" cy="431800"/>
          </a:xfrm>
          <a:prstGeom prst="ellipse">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5" name="Text Box 7"/>
          <p:cNvSpPr txBox="1">
            <a:spLocks noChangeArrowheads="1"/>
          </p:cNvSpPr>
          <p:nvPr/>
        </p:nvSpPr>
        <p:spPr bwMode="auto">
          <a:xfrm>
            <a:off x="3492500" y="4293418"/>
            <a:ext cx="4679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4    3    2    1    4    3    5    4    3    2    1    5</a:t>
            </a:r>
          </a:p>
        </p:txBody>
      </p:sp>
      <p:sp>
        <p:nvSpPr>
          <p:cNvPr id="16" name="AutoShape 5"/>
          <p:cNvSpPr>
            <a:spLocks noChangeArrowheads="1"/>
          </p:cNvSpPr>
          <p:nvPr/>
        </p:nvSpPr>
        <p:spPr bwMode="auto">
          <a:xfrm>
            <a:off x="1116013" y="3933056"/>
            <a:ext cx="1871662" cy="1296987"/>
          </a:xfrm>
          <a:prstGeom prst="flowChartMagneticDisk">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7" name="Text Box 6"/>
          <p:cNvSpPr txBox="1">
            <a:spLocks noChangeArrowheads="1"/>
          </p:cNvSpPr>
          <p:nvPr/>
        </p:nvSpPr>
        <p:spPr bwMode="auto">
          <a:xfrm>
            <a:off x="1692275" y="5230043"/>
            <a:ext cx="7921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b="1"/>
              <a:t>主存</a:t>
            </a:r>
          </a:p>
        </p:txBody>
      </p:sp>
      <p:sp>
        <p:nvSpPr>
          <p:cNvPr id="18" name="Rectangle 8"/>
          <p:cNvSpPr>
            <a:spLocks noChangeArrowheads="1"/>
          </p:cNvSpPr>
          <p:nvPr/>
        </p:nvSpPr>
        <p:spPr bwMode="auto">
          <a:xfrm>
            <a:off x="1274763" y="4509318"/>
            <a:ext cx="431800" cy="360363"/>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a:t>4</a:t>
            </a:r>
          </a:p>
        </p:txBody>
      </p:sp>
      <p:sp>
        <p:nvSpPr>
          <p:cNvPr id="19" name="Rectangle 9"/>
          <p:cNvSpPr>
            <a:spLocks noChangeArrowheads="1"/>
          </p:cNvSpPr>
          <p:nvPr/>
        </p:nvSpPr>
        <p:spPr bwMode="auto">
          <a:xfrm>
            <a:off x="1820863" y="4517256"/>
            <a:ext cx="431800" cy="36036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a:t>3</a:t>
            </a:r>
          </a:p>
        </p:txBody>
      </p:sp>
      <p:sp>
        <p:nvSpPr>
          <p:cNvPr id="20" name="Rectangle 10"/>
          <p:cNvSpPr>
            <a:spLocks noChangeArrowheads="1"/>
          </p:cNvSpPr>
          <p:nvPr/>
        </p:nvSpPr>
        <p:spPr bwMode="auto">
          <a:xfrm>
            <a:off x="2371725" y="4509318"/>
            <a:ext cx="431800" cy="360363"/>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a:t>2</a:t>
            </a:r>
          </a:p>
        </p:txBody>
      </p:sp>
      <p:sp>
        <p:nvSpPr>
          <p:cNvPr id="21" name="Rectangle 11"/>
          <p:cNvSpPr>
            <a:spLocks noChangeArrowheads="1"/>
          </p:cNvSpPr>
          <p:nvPr/>
        </p:nvSpPr>
        <p:spPr bwMode="auto">
          <a:xfrm>
            <a:off x="2363788" y="4509318"/>
            <a:ext cx="431800" cy="360363"/>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a:t>1</a:t>
            </a:r>
          </a:p>
        </p:txBody>
      </p:sp>
      <p:sp>
        <p:nvSpPr>
          <p:cNvPr id="22" name="Text Box 13"/>
          <p:cNvSpPr txBox="1">
            <a:spLocks noChangeArrowheads="1"/>
          </p:cNvSpPr>
          <p:nvPr/>
        </p:nvSpPr>
        <p:spPr bwMode="auto">
          <a:xfrm>
            <a:off x="3476625" y="4580756"/>
            <a:ext cx="3587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b="1">
                <a:solidFill>
                  <a:srgbClr val="FF3300"/>
                </a:solidFill>
                <a:sym typeface="Symbol" panose="05050102010706020507" pitchFamily="18" charset="2"/>
              </a:rPr>
              <a:t></a:t>
            </a:r>
          </a:p>
        </p:txBody>
      </p:sp>
      <p:sp>
        <p:nvSpPr>
          <p:cNvPr id="23" name="Text Box 14"/>
          <p:cNvSpPr txBox="1">
            <a:spLocks noChangeArrowheads="1"/>
          </p:cNvSpPr>
          <p:nvPr/>
        </p:nvSpPr>
        <p:spPr bwMode="auto">
          <a:xfrm>
            <a:off x="3836988" y="4574406"/>
            <a:ext cx="3587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b="1">
                <a:solidFill>
                  <a:srgbClr val="FF3300"/>
                </a:solidFill>
                <a:sym typeface="Symbol" panose="05050102010706020507" pitchFamily="18" charset="2"/>
              </a:rPr>
              <a:t></a:t>
            </a:r>
          </a:p>
        </p:txBody>
      </p:sp>
      <p:sp>
        <p:nvSpPr>
          <p:cNvPr id="24" name="Text Box 15"/>
          <p:cNvSpPr txBox="1">
            <a:spLocks noChangeArrowheads="1"/>
          </p:cNvSpPr>
          <p:nvPr/>
        </p:nvSpPr>
        <p:spPr bwMode="auto">
          <a:xfrm>
            <a:off x="4221163" y="4580756"/>
            <a:ext cx="3587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b="1">
                <a:solidFill>
                  <a:srgbClr val="FF3300"/>
                </a:solidFill>
                <a:sym typeface="Symbol" panose="05050102010706020507" pitchFamily="18" charset="2"/>
              </a:rPr>
              <a:t></a:t>
            </a:r>
          </a:p>
        </p:txBody>
      </p:sp>
      <p:sp>
        <p:nvSpPr>
          <p:cNvPr id="25" name="Text Box 16"/>
          <p:cNvSpPr txBox="1">
            <a:spLocks noChangeArrowheads="1"/>
          </p:cNvSpPr>
          <p:nvPr/>
        </p:nvSpPr>
        <p:spPr bwMode="auto">
          <a:xfrm>
            <a:off x="4605338" y="4580756"/>
            <a:ext cx="3587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b="1">
                <a:solidFill>
                  <a:srgbClr val="FF3300"/>
                </a:solidFill>
                <a:sym typeface="Symbol" panose="05050102010706020507" pitchFamily="18" charset="2"/>
              </a:rPr>
              <a:t></a:t>
            </a:r>
          </a:p>
        </p:txBody>
      </p:sp>
    </p:spTree>
    <p:extLst>
      <p:ext uri="{BB962C8B-B14F-4D97-AF65-F5344CB8AC3E}">
        <p14:creationId xmlns:p14="http://schemas.microsoft.com/office/powerpoint/2010/main" val="2557746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xit" presetSubtype="4" fill="hold" grpId="0" nodeType="clickEffect">
                                  <p:stCondLst>
                                    <p:cond delay="0"/>
                                  </p:stCondLst>
                                  <p:childTnLst>
                                    <p:anim calcmode="lin" valueType="num">
                                      <p:cBhvr additive="base">
                                        <p:cTn id="10" dur="500"/>
                                        <p:tgtEl>
                                          <p:spTgt spid="20"/>
                                        </p:tgtEl>
                                        <p:attrNameLst>
                                          <p:attrName>ppt_x</p:attrName>
                                        </p:attrNameLst>
                                      </p:cBhvr>
                                      <p:tavLst>
                                        <p:tav tm="0">
                                          <p:val>
                                            <p:strVal val="ppt_x"/>
                                          </p:val>
                                        </p:tav>
                                        <p:tav tm="100000">
                                          <p:val>
                                            <p:strVal val="ppt_x"/>
                                          </p:val>
                                        </p:tav>
                                      </p:tavLst>
                                    </p:anim>
                                    <p:anim calcmode="lin" valueType="num">
                                      <p:cBhvr additive="base">
                                        <p:cTn id="11" dur="500"/>
                                        <p:tgtEl>
                                          <p:spTgt spid="20"/>
                                        </p:tgtEl>
                                        <p:attrNameLst>
                                          <p:attrName>ppt_y</p:attrName>
                                        </p:attrNameLst>
                                      </p:cBhvr>
                                      <p:tavLst>
                                        <p:tav tm="0">
                                          <p:val>
                                            <p:strVal val="ppt_y"/>
                                          </p:val>
                                        </p:tav>
                                        <p:tav tm="100000">
                                          <p:val>
                                            <p:strVal val="1+ppt_h/2"/>
                                          </p:val>
                                        </p:tav>
                                      </p:tavLst>
                                    </p:anim>
                                    <p:set>
                                      <p:cBhvr>
                                        <p:cTn id="12" dur="1" fill="hold">
                                          <p:stCondLst>
                                            <p:cond delay="499"/>
                                          </p:stCondLst>
                                        </p:cTn>
                                        <p:tgtEl>
                                          <p:spTgt spid="20"/>
                                        </p:tgtEl>
                                        <p:attrNameLst>
                                          <p:attrName>style.visibility</p:attrName>
                                        </p:attrNameLst>
                                      </p:cBhvr>
                                      <p:to>
                                        <p:strVal val="hidden"/>
                                      </p:to>
                                    </p:set>
                                  </p:childTnLst>
                                </p:cTn>
                              </p:par>
                            </p:childTnLst>
                          </p:cTn>
                        </p:par>
                        <p:par>
                          <p:cTn id="13" fill="hold">
                            <p:stCondLst>
                              <p:cond delay="500"/>
                            </p:stCondLst>
                            <p:childTnLst>
                              <p:par>
                                <p:cTn id="14" presetID="2" presetClass="entr" presetSubtype="4" fill="hold" grpId="0" nodeType="afterEffect">
                                  <p:stCondLst>
                                    <p:cond delay="0"/>
                                  </p:stCondLst>
                                  <p:childTnLst>
                                    <p:set>
                                      <p:cBhvr>
                                        <p:cTn id="15" dur="1" fill="hold">
                                          <p:stCondLst>
                                            <p:cond delay="0"/>
                                          </p:stCondLst>
                                        </p:cTn>
                                        <p:tgtEl>
                                          <p:spTgt spid="21"/>
                                        </p:tgtEl>
                                        <p:attrNameLst>
                                          <p:attrName>style.visibility</p:attrName>
                                        </p:attrNameLst>
                                      </p:cBhvr>
                                      <p:to>
                                        <p:strVal val="visible"/>
                                      </p:to>
                                    </p:set>
                                    <p:anim calcmode="lin" valueType="num">
                                      <p:cBhvr additive="base">
                                        <p:cTn id="16" dur="500" fill="hold"/>
                                        <p:tgtEl>
                                          <p:spTgt spid="21"/>
                                        </p:tgtEl>
                                        <p:attrNameLst>
                                          <p:attrName>ppt_x</p:attrName>
                                        </p:attrNameLst>
                                      </p:cBhvr>
                                      <p:tavLst>
                                        <p:tav tm="0">
                                          <p:val>
                                            <p:strVal val="#ppt_x"/>
                                          </p:val>
                                        </p:tav>
                                        <p:tav tm="100000">
                                          <p:val>
                                            <p:strVal val="#ppt_x"/>
                                          </p:val>
                                        </p:tav>
                                      </p:tavLst>
                                    </p:anim>
                                    <p:anim calcmode="lin" valueType="num">
                                      <p:cBhvr additive="base">
                                        <p:cTn id="17"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5"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最佳置换算法</a:t>
            </a:r>
          </a:p>
        </p:txBody>
      </p:sp>
      <p:sp>
        <p:nvSpPr>
          <p:cNvPr id="4" name="Date Placeholder 3"/>
          <p:cNvSpPr>
            <a:spLocks noGrp="1"/>
          </p:cNvSpPr>
          <p:nvPr>
            <p:ph type="dt" sz="half" idx="10"/>
          </p:nvPr>
        </p:nvSpPr>
        <p:spPr/>
        <p:txBody>
          <a:bodyPr/>
          <a:lstStyle/>
          <a:p>
            <a:fld id="{CDE96166-8A3F-46F2-AD87-EAE5D04C4EC5}"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104</a:t>
            </a:fld>
            <a:endParaRPr lang="zh-CN" altLang="en-US" dirty="0"/>
          </a:p>
        </p:txBody>
      </p:sp>
      <p:sp>
        <p:nvSpPr>
          <p:cNvPr id="13" name="Rectangle 12"/>
          <p:cNvSpPr/>
          <p:nvPr/>
        </p:nvSpPr>
        <p:spPr>
          <a:xfrm>
            <a:off x="971600" y="1817793"/>
            <a:ext cx="6768752" cy="1107996"/>
          </a:xfrm>
          <a:prstGeom prst="rect">
            <a:avLst/>
          </a:prstGeom>
        </p:spPr>
        <p:txBody>
          <a:bodyPr wrap="square">
            <a:spAutoFit/>
          </a:bodyPr>
          <a:lstStyle/>
          <a:p>
            <a:pPr marL="755650" lvl="2">
              <a:lnSpc>
                <a:spcPct val="110000"/>
              </a:lnSpc>
            </a:pPr>
            <a:r>
              <a:rPr lang="zh-CN" altLang="en-US" sz="2000" b="1" dirty="0">
                <a:ea typeface="楷体" panose="02010609060101010101" pitchFamily="49" charset="-122"/>
              </a:rPr>
              <a:t>一个作业的页面走向为</a:t>
            </a:r>
            <a:r>
              <a:rPr lang="en-US" altLang="zh-CN" sz="2000" b="1" dirty="0">
                <a:ea typeface="楷体" panose="02010609060101010101" pitchFamily="49" charset="-122"/>
              </a:rPr>
              <a:t>4</a:t>
            </a:r>
            <a:r>
              <a:rPr lang="zh-CN" altLang="en-US" sz="2000" b="1" dirty="0">
                <a:ea typeface="楷体" panose="02010609060101010101" pitchFamily="49" charset="-122"/>
              </a:rPr>
              <a:t>、</a:t>
            </a:r>
            <a:r>
              <a:rPr lang="en-US" altLang="zh-CN" sz="2000" b="1" dirty="0">
                <a:ea typeface="楷体" panose="02010609060101010101" pitchFamily="49" charset="-122"/>
              </a:rPr>
              <a:t>3</a:t>
            </a:r>
            <a:r>
              <a:rPr lang="zh-CN" altLang="en-US" sz="2000" b="1" dirty="0">
                <a:ea typeface="楷体" panose="02010609060101010101" pitchFamily="49" charset="-122"/>
              </a:rPr>
              <a:t>、</a:t>
            </a:r>
            <a:r>
              <a:rPr lang="en-US" altLang="zh-CN" sz="2000" b="1" dirty="0">
                <a:ea typeface="楷体" panose="02010609060101010101" pitchFamily="49" charset="-122"/>
              </a:rPr>
              <a:t>2</a:t>
            </a:r>
            <a:r>
              <a:rPr lang="zh-CN" altLang="en-US" sz="2000" b="1" dirty="0">
                <a:ea typeface="楷体" panose="02010609060101010101" pitchFamily="49" charset="-122"/>
              </a:rPr>
              <a:t>、</a:t>
            </a:r>
            <a:r>
              <a:rPr lang="en-US" altLang="zh-CN" sz="2000" b="1" dirty="0">
                <a:ea typeface="楷体" panose="02010609060101010101" pitchFamily="49" charset="-122"/>
              </a:rPr>
              <a:t>1</a:t>
            </a:r>
            <a:r>
              <a:rPr lang="zh-CN" altLang="en-US" sz="2000" b="1" dirty="0">
                <a:ea typeface="楷体" panose="02010609060101010101" pitchFamily="49" charset="-122"/>
              </a:rPr>
              <a:t>、</a:t>
            </a:r>
            <a:r>
              <a:rPr lang="en-US" altLang="zh-CN" sz="2000" b="1" dirty="0">
                <a:ea typeface="楷体" panose="02010609060101010101" pitchFamily="49" charset="-122"/>
              </a:rPr>
              <a:t>4</a:t>
            </a:r>
            <a:r>
              <a:rPr lang="zh-CN" altLang="en-US" sz="2000" b="1" dirty="0">
                <a:ea typeface="楷体" panose="02010609060101010101" pitchFamily="49" charset="-122"/>
              </a:rPr>
              <a:t>、</a:t>
            </a:r>
            <a:r>
              <a:rPr lang="en-US" altLang="zh-CN" sz="2000" b="1" dirty="0">
                <a:ea typeface="楷体" panose="02010609060101010101" pitchFamily="49" charset="-122"/>
              </a:rPr>
              <a:t>3</a:t>
            </a:r>
            <a:r>
              <a:rPr lang="zh-CN" altLang="en-US" sz="2000" b="1" dirty="0">
                <a:ea typeface="楷体" panose="02010609060101010101" pitchFamily="49" charset="-122"/>
              </a:rPr>
              <a:t>、</a:t>
            </a:r>
            <a:r>
              <a:rPr lang="en-US" altLang="zh-CN" sz="2000" b="1" dirty="0">
                <a:ea typeface="楷体" panose="02010609060101010101" pitchFamily="49" charset="-122"/>
              </a:rPr>
              <a:t>5</a:t>
            </a:r>
            <a:r>
              <a:rPr lang="zh-CN" altLang="en-US" sz="2000" b="1" dirty="0">
                <a:ea typeface="楷体" panose="02010609060101010101" pitchFamily="49" charset="-122"/>
              </a:rPr>
              <a:t>、</a:t>
            </a:r>
            <a:r>
              <a:rPr lang="en-US" altLang="zh-CN" sz="2000" b="1" dirty="0">
                <a:ea typeface="楷体" panose="02010609060101010101" pitchFamily="49" charset="-122"/>
              </a:rPr>
              <a:t>4</a:t>
            </a:r>
            <a:r>
              <a:rPr lang="zh-CN" altLang="en-US" sz="2000" b="1" dirty="0">
                <a:ea typeface="楷体" panose="02010609060101010101" pitchFamily="49" charset="-122"/>
              </a:rPr>
              <a:t>、</a:t>
            </a:r>
            <a:r>
              <a:rPr lang="en-US" altLang="zh-CN" sz="2000" b="1" dirty="0">
                <a:ea typeface="楷体" panose="02010609060101010101" pitchFamily="49" charset="-122"/>
              </a:rPr>
              <a:t>3</a:t>
            </a:r>
            <a:r>
              <a:rPr lang="zh-CN" altLang="en-US" sz="2000" b="1" dirty="0">
                <a:ea typeface="楷体" panose="02010609060101010101" pitchFamily="49" charset="-122"/>
              </a:rPr>
              <a:t>、</a:t>
            </a:r>
            <a:r>
              <a:rPr lang="en-US" altLang="zh-CN" sz="2000" b="1" dirty="0">
                <a:ea typeface="楷体" panose="02010609060101010101" pitchFamily="49" charset="-122"/>
              </a:rPr>
              <a:t>2</a:t>
            </a:r>
            <a:r>
              <a:rPr lang="zh-CN" altLang="en-US" sz="2000" b="1" dirty="0">
                <a:ea typeface="楷体" panose="02010609060101010101" pitchFamily="49" charset="-122"/>
              </a:rPr>
              <a:t>、</a:t>
            </a:r>
            <a:r>
              <a:rPr lang="en-US" altLang="zh-CN" sz="2000" b="1" dirty="0">
                <a:ea typeface="楷体" panose="02010609060101010101" pitchFamily="49" charset="-122"/>
              </a:rPr>
              <a:t>1</a:t>
            </a:r>
            <a:r>
              <a:rPr lang="zh-CN" altLang="en-US" sz="2000" b="1" dirty="0">
                <a:ea typeface="楷体" panose="02010609060101010101" pitchFamily="49" charset="-122"/>
              </a:rPr>
              <a:t>、</a:t>
            </a:r>
            <a:r>
              <a:rPr lang="en-US" altLang="zh-CN" sz="2000" b="1" dirty="0">
                <a:ea typeface="楷体" panose="02010609060101010101" pitchFamily="49" charset="-122"/>
              </a:rPr>
              <a:t>5</a:t>
            </a:r>
            <a:r>
              <a:rPr lang="zh-CN" altLang="en-US" sz="2000" b="1" dirty="0">
                <a:ea typeface="楷体" panose="02010609060101010101" pitchFamily="49" charset="-122"/>
              </a:rPr>
              <a:t>，分配给该作业的物理块数为</a:t>
            </a:r>
            <a:r>
              <a:rPr lang="en-US" altLang="zh-CN" sz="2000" b="1" dirty="0">
                <a:ea typeface="楷体" panose="02010609060101010101" pitchFamily="49" charset="-122"/>
              </a:rPr>
              <a:t>3</a:t>
            </a:r>
            <a:r>
              <a:rPr lang="zh-CN" altLang="en-US" sz="2000" b="1" dirty="0">
                <a:ea typeface="楷体" panose="02010609060101010101" pitchFamily="49" charset="-122"/>
              </a:rPr>
              <a:t>，计算采用最佳算法时的缺页率</a:t>
            </a:r>
          </a:p>
        </p:txBody>
      </p:sp>
      <p:sp>
        <p:nvSpPr>
          <p:cNvPr id="14" name="Oval 2"/>
          <p:cNvSpPr>
            <a:spLocks noChangeArrowheads="1"/>
          </p:cNvSpPr>
          <p:nvPr/>
        </p:nvSpPr>
        <p:spPr bwMode="auto">
          <a:xfrm>
            <a:off x="4964113" y="4293418"/>
            <a:ext cx="431800" cy="431800"/>
          </a:xfrm>
          <a:prstGeom prst="ellipse">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5" name="Text Box 5"/>
          <p:cNvSpPr txBox="1">
            <a:spLocks noChangeArrowheads="1"/>
          </p:cNvSpPr>
          <p:nvPr/>
        </p:nvSpPr>
        <p:spPr bwMode="auto">
          <a:xfrm>
            <a:off x="3492500" y="4293418"/>
            <a:ext cx="4679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4    3    2    1    4    3    5    4    3    2    1    5</a:t>
            </a:r>
          </a:p>
        </p:txBody>
      </p:sp>
      <p:sp>
        <p:nvSpPr>
          <p:cNvPr id="16" name="AutoShape 6"/>
          <p:cNvSpPr>
            <a:spLocks noChangeArrowheads="1"/>
          </p:cNvSpPr>
          <p:nvPr/>
        </p:nvSpPr>
        <p:spPr bwMode="auto">
          <a:xfrm>
            <a:off x="1116013" y="3933056"/>
            <a:ext cx="1871662" cy="1296987"/>
          </a:xfrm>
          <a:prstGeom prst="flowChartMagneticDisk">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7" name="Text Box 7"/>
          <p:cNvSpPr txBox="1">
            <a:spLocks noChangeArrowheads="1"/>
          </p:cNvSpPr>
          <p:nvPr/>
        </p:nvSpPr>
        <p:spPr bwMode="auto">
          <a:xfrm>
            <a:off x="1692275" y="5230043"/>
            <a:ext cx="7921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b="1"/>
              <a:t>主存</a:t>
            </a:r>
          </a:p>
        </p:txBody>
      </p:sp>
      <p:sp>
        <p:nvSpPr>
          <p:cNvPr id="18" name="Rectangle 8"/>
          <p:cNvSpPr>
            <a:spLocks noChangeArrowheads="1"/>
          </p:cNvSpPr>
          <p:nvPr/>
        </p:nvSpPr>
        <p:spPr bwMode="auto">
          <a:xfrm>
            <a:off x="1274763" y="4509318"/>
            <a:ext cx="431800" cy="360363"/>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a:t>4</a:t>
            </a:r>
          </a:p>
        </p:txBody>
      </p:sp>
      <p:sp>
        <p:nvSpPr>
          <p:cNvPr id="19" name="Rectangle 9"/>
          <p:cNvSpPr>
            <a:spLocks noChangeArrowheads="1"/>
          </p:cNvSpPr>
          <p:nvPr/>
        </p:nvSpPr>
        <p:spPr bwMode="auto">
          <a:xfrm>
            <a:off x="1820863" y="4517256"/>
            <a:ext cx="431800" cy="36036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a:t>3</a:t>
            </a:r>
          </a:p>
        </p:txBody>
      </p:sp>
      <p:sp>
        <p:nvSpPr>
          <p:cNvPr id="20" name="Rectangle 10"/>
          <p:cNvSpPr>
            <a:spLocks noChangeArrowheads="1"/>
          </p:cNvSpPr>
          <p:nvPr/>
        </p:nvSpPr>
        <p:spPr bwMode="auto">
          <a:xfrm>
            <a:off x="2371725" y="4509318"/>
            <a:ext cx="431800" cy="360363"/>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a:t>1</a:t>
            </a:r>
          </a:p>
        </p:txBody>
      </p:sp>
      <p:sp>
        <p:nvSpPr>
          <p:cNvPr id="21" name="Text Box 12"/>
          <p:cNvSpPr txBox="1">
            <a:spLocks noChangeArrowheads="1"/>
          </p:cNvSpPr>
          <p:nvPr/>
        </p:nvSpPr>
        <p:spPr bwMode="auto">
          <a:xfrm>
            <a:off x="3476625" y="4580756"/>
            <a:ext cx="3587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b="1">
                <a:solidFill>
                  <a:srgbClr val="FF3300"/>
                </a:solidFill>
                <a:sym typeface="Symbol" panose="05050102010706020507" pitchFamily="18" charset="2"/>
              </a:rPr>
              <a:t></a:t>
            </a:r>
          </a:p>
        </p:txBody>
      </p:sp>
      <p:sp>
        <p:nvSpPr>
          <p:cNvPr id="22" name="Text Box 13"/>
          <p:cNvSpPr txBox="1">
            <a:spLocks noChangeArrowheads="1"/>
          </p:cNvSpPr>
          <p:nvPr/>
        </p:nvSpPr>
        <p:spPr bwMode="auto">
          <a:xfrm>
            <a:off x="3836988" y="4574406"/>
            <a:ext cx="3587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b="1">
                <a:solidFill>
                  <a:srgbClr val="FF3300"/>
                </a:solidFill>
                <a:sym typeface="Symbol" panose="05050102010706020507" pitchFamily="18" charset="2"/>
              </a:rPr>
              <a:t></a:t>
            </a:r>
          </a:p>
        </p:txBody>
      </p:sp>
      <p:sp>
        <p:nvSpPr>
          <p:cNvPr id="23" name="Text Box 14"/>
          <p:cNvSpPr txBox="1">
            <a:spLocks noChangeArrowheads="1"/>
          </p:cNvSpPr>
          <p:nvPr/>
        </p:nvSpPr>
        <p:spPr bwMode="auto">
          <a:xfrm>
            <a:off x="4221163" y="4580756"/>
            <a:ext cx="3587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b="1">
                <a:solidFill>
                  <a:srgbClr val="FF3300"/>
                </a:solidFill>
                <a:sym typeface="Symbol" panose="05050102010706020507" pitchFamily="18" charset="2"/>
              </a:rPr>
              <a:t></a:t>
            </a:r>
          </a:p>
        </p:txBody>
      </p:sp>
      <p:sp>
        <p:nvSpPr>
          <p:cNvPr id="24" name="Text Box 15"/>
          <p:cNvSpPr txBox="1">
            <a:spLocks noChangeArrowheads="1"/>
          </p:cNvSpPr>
          <p:nvPr/>
        </p:nvSpPr>
        <p:spPr bwMode="auto">
          <a:xfrm>
            <a:off x="4605338" y="4580756"/>
            <a:ext cx="3587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b="1">
                <a:solidFill>
                  <a:srgbClr val="FF3300"/>
                </a:solidFill>
                <a:sym typeface="Symbol" panose="05050102010706020507" pitchFamily="18" charset="2"/>
              </a:rPr>
              <a:t></a:t>
            </a:r>
          </a:p>
        </p:txBody>
      </p:sp>
    </p:spTree>
    <p:extLst>
      <p:ext uri="{BB962C8B-B14F-4D97-AF65-F5344CB8AC3E}">
        <p14:creationId xmlns:p14="http://schemas.microsoft.com/office/powerpoint/2010/main" val="3677524161"/>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最佳置换算法</a:t>
            </a:r>
          </a:p>
        </p:txBody>
      </p:sp>
      <p:sp>
        <p:nvSpPr>
          <p:cNvPr id="4" name="Date Placeholder 3"/>
          <p:cNvSpPr>
            <a:spLocks noGrp="1"/>
          </p:cNvSpPr>
          <p:nvPr>
            <p:ph type="dt" sz="half" idx="10"/>
          </p:nvPr>
        </p:nvSpPr>
        <p:spPr/>
        <p:txBody>
          <a:bodyPr/>
          <a:lstStyle/>
          <a:p>
            <a:fld id="{64D4FEC9-9C98-4E7C-BD68-4292D6078A50}"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105</a:t>
            </a:fld>
            <a:endParaRPr lang="zh-CN" altLang="en-US" dirty="0"/>
          </a:p>
        </p:txBody>
      </p:sp>
      <p:sp>
        <p:nvSpPr>
          <p:cNvPr id="13" name="Rectangle 12"/>
          <p:cNvSpPr/>
          <p:nvPr/>
        </p:nvSpPr>
        <p:spPr>
          <a:xfrm>
            <a:off x="971600" y="1817793"/>
            <a:ext cx="6768752" cy="1107996"/>
          </a:xfrm>
          <a:prstGeom prst="rect">
            <a:avLst/>
          </a:prstGeom>
        </p:spPr>
        <p:txBody>
          <a:bodyPr wrap="square">
            <a:spAutoFit/>
          </a:bodyPr>
          <a:lstStyle/>
          <a:p>
            <a:pPr marL="755650" lvl="2">
              <a:lnSpc>
                <a:spcPct val="110000"/>
              </a:lnSpc>
            </a:pPr>
            <a:r>
              <a:rPr lang="zh-CN" altLang="en-US" sz="2000" b="1" dirty="0">
                <a:ea typeface="楷体" panose="02010609060101010101" pitchFamily="49" charset="-122"/>
              </a:rPr>
              <a:t>一个作业的页面走向为</a:t>
            </a:r>
            <a:r>
              <a:rPr lang="en-US" altLang="zh-CN" sz="2000" b="1" dirty="0">
                <a:ea typeface="楷体" panose="02010609060101010101" pitchFamily="49" charset="-122"/>
              </a:rPr>
              <a:t>4</a:t>
            </a:r>
            <a:r>
              <a:rPr lang="zh-CN" altLang="en-US" sz="2000" b="1" dirty="0">
                <a:ea typeface="楷体" panose="02010609060101010101" pitchFamily="49" charset="-122"/>
              </a:rPr>
              <a:t>、</a:t>
            </a:r>
            <a:r>
              <a:rPr lang="en-US" altLang="zh-CN" sz="2000" b="1" dirty="0">
                <a:ea typeface="楷体" panose="02010609060101010101" pitchFamily="49" charset="-122"/>
              </a:rPr>
              <a:t>3</a:t>
            </a:r>
            <a:r>
              <a:rPr lang="zh-CN" altLang="en-US" sz="2000" b="1" dirty="0">
                <a:ea typeface="楷体" panose="02010609060101010101" pitchFamily="49" charset="-122"/>
              </a:rPr>
              <a:t>、</a:t>
            </a:r>
            <a:r>
              <a:rPr lang="en-US" altLang="zh-CN" sz="2000" b="1" dirty="0">
                <a:ea typeface="楷体" panose="02010609060101010101" pitchFamily="49" charset="-122"/>
              </a:rPr>
              <a:t>2</a:t>
            </a:r>
            <a:r>
              <a:rPr lang="zh-CN" altLang="en-US" sz="2000" b="1" dirty="0">
                <a:ea typeface="楷体" panose="02010609060101010101" pitchFamily="49" charset="-122"/>
              </a:rPr>
              <a:t>、</a:t>
            </a:r>
            <a:r>
              <a:rPr lang="en-US" altLang="zh-CN" sz="2000" b="1" dirty="0">
                <a:ea typeface="楷体" panose="02010609060101010101" pitchFamily="49" charset="-122"/>
              </a:rPr>
              <a:t>1</a:t>
            </a:r>
            <a:r>
              <a:rPr lang="zh-CN" altLang="en-US" sz="2000" b="1" dirty="0">
                <a:ea typeface="楷体" panose="02010609060101010101" pitchFamily="49" charset="-122"/>
              </a:rPr>
              <a:t>、</a:t>
            </a:r>
            <a:r>
              <a:rPr lang="en-US" altLang="zh-CN" sz="2000" b="1" dirty="0">
                <a:ea typeface="楷体" panose="02010609060101010101" pitchFamily="49" charset="-122"/>
              </a:rPr>
              <a:t>4</a:t>
            </a:r>
            <a:r>
              <a:rPr lang="zh-CN" altLang="en-US" sz="2000" b="1" dirty="0">
                <a:ea typeface="楷体" panose="02010609060101010101" pitchFamily="49" charset="-122"/>
              </a:rPr>
              <a:t>、</a:t>
            </a:r>
            <a:r>
              <a:rPr lang="en-US" altLang="zh-CN" sz="2000" b="1" dirty="0">
                <a:ea typeface="楷体" panose="02010609060101010101" pitchFamily="49" charset="-122"/>
              </a:rPr>
              <a:t>3</a:t>
            </a:r>
            <a:r>
              <a:rPr lang="zh-CN" altLang="en-US" sz="2000" b="1" dirty="0">
                <a:ea typeface="楷体" panose="02010609060101010101" pitchFamily="49" charset="-122"/>
              </a:rPr>
              <a:t>、</a:t>
            </a:r>
            <a:r>
              <a:rPr lang="en-US" altLang="zh-CN" sz="2000" b="1" dirty="0">
                <a:ea typeface="楷体" panose="02010609060101010101" pitchFamily="49" charset="-122"/>
              </a:rPr>
              <a:t>5</a:t>
            </a:r>
            <a:r>
              <a:rPr lang="zh-CN" altLang="en-US" sz="2000" b="1" dirty="0">
                <a:ea typeface="楷体" panose="02010609060101010101" pitchFamily="49" charset="-122"/>
              </a:rPr>
              <a:t>、</a:t>
            </a:r>
            <a:r>
              <a:rPr lang="en-US" altLang="zh-CN" sz="2000" b="1" dirty="0">
                <a:ea typeface="楷体" panose="02010609060101010101" pitchFamily="49" charset="-122"/>
              </a:rPr>
              <a:t>4</a:t>
            </a:r>
            <a:r>
              <a:rPr lang="zh-CN" altLang="en-US" sz="2000" b="1" dirty="0">
                <a:ea typeface="楷体" panose="02010609060101010101" pitchFamily="49" charset="-122"/>
              </a:rPr>
              <a:t>、</a:t>
            </a:r>
            <a:r>
              <a:rPr lang="en-US" altLang="zh-CN" sz="2000" b="1" dirty="0">
                <a:ea typeface="楷体" panose="02010609060101010101" pitchFamily="49" charset="-122"/>
              </a:rPr>
              <a:t>3</a:t>
            </a:r>
            <a:r>
              <a:rPr lang="zh-CN" altLang="en-US" sz="2000" b="1" dirty="0">
                <a:ea typeface="楷体" panose="02010609060101010101" pitchFamily="49" charset="-122"/>
              </a:rPr>
              <a:t>、</a:t>
            </a:r>
            <a:r>
              <a:rPr lang="en-US" altLang="zh-CN" sz="2000" b="1" dirty="0">
                <a:ea typeface="楷体" panose="02010609060101010101" pitchFamily="49" charset="-122"/>
              </a:rPr>
              <a:t>2</a:t>
            </a:r>
            <a:r>
              <a:rPr lang="zh-CN" altLang="en-US" sz="2000" b="1" dirty="0">
                <a:ea typeface="楷体" panose="02010609060101010101" pitchFamily="49" charset="-122"/>
              </a:rPr>
              <a:t>、</a:t>
            </a:r>
            <a:r>
              <a:rPr lang="en-US" altLang="zh-CN" sz="2000" b="1" dirty="0">
                <a:ea typeface="楷体" panose="02010609060101010101" pitchFamily="49" charset="-122"/>
              </a:rPr>
              <a:t>1</a:t>
            </a:r>
            <a:r>
              <a:rPr lang="zh-CN" altLang="en-US" sz="2000" b="1" dirty="0">
                <a:ea typeface="楷体" panose="02010609060101010101" pitchFamily="49" charset="-122"/>
              </a:rPr>
              <a:t>、</a:t>
            </a:r>
            <a:r>
              <a:rPr lang="en-US" altLang="zh-CN" sz="2000" b="1" dirty="0">
                <a:ea typeface="楷体" panose="02010609060101010101" pitchFamily="49" charset="-122"/>
              </a:rPr>
              <a:t>5</a:t>
            </a:r>
            <a:r>
              <a:rPr lang="zh-CN" altLang="en-US" sz="2000" b="1" dirty="0">
                <a:ea typeface="楷体" panose="02010609060101010101" pitchFamily="49" charset="-122"/>
              </a:rPr>
              <a:t>，分配给该作业的物理块数为</a:t>
            </a:r>
            <a:r>
              <a:rPr lang="en-US" altLang="zh-CN" sz="2000" b="1" dirty="0">
                <a:ea typeface="楷体" panose="02010609060101010101" pitchFamily="49" charset="-122"/>
              </a:rPr>
              <a:t>3</a:t>
            </a:r>
            <a:r>
              <a:rPr lang="zh-CN" altLang="en-US" sz="2000" b="1" dirty="0">
                <a:ea typeface="楷体" panose="02010609060101010101" pitchFamily="49" charset="-122"/>
              </a:rPr>
              <a:t>，计算采用最佳算法时的缺页率</a:t>
            </a:r>
          </a:p>
        </p:txBody>
      </p:sp>
      <p:sp>
        <p:nvSpPr>
          <p:cNvPr id="14" name="Oval 2"/>
          <p:cNvSpPr>
            <a:spLocks noChangeArrowheads="1"/>
          </p:cNvSpPr>
          <p:nvPr/>
        </p:nvSpPr>
        <p:spPr bwMode="auto">
          <a:xfrm>
            <a:off x="5324475" y="4293418"/>
            <a:ext cx="431800" cy="431800"/>
          </a:xfrm>
          <a:prstGeom prst="ellipse">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5" name="Text Box 5"/>
          <p:cNvSpPr txBox="1">
            <a:spLocks noChangeArrowheads="1"/>
          </p:cNvSpPr>
          <p:nvPr/>
        </p:nvSpPr>
        <p:spPr bwMode="auto">
          <a:xfrm>
            <a:off x="3492500" y="4293418"/>
            <a:ext cx="4679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4    3    2    1    4    3    5    4    3    2    1    5</a:t>
            </a:r>
          </a:p>
        </p:txBody>
      </p:sp>
      <p:sp>
        <p:nvSpPr>
          <p:cNvPr id="16" name="AutoShape 6"/>
          <p:cNvSpPr>
            <a:spLocks noChangeArrowheads="1"/>
          </p:cNvSpPr>
          <p:nvPr/>
        </p:nvSpPr>
        <p:spPr bwMode="auto">
          <a:xfrm>
            <a:off x="1116013" y="3933056"/>
            <a:ext cx="1871662" cy="1296987"/>
          </a:xfrm>
          <a:prstGeom prst="flowChartMagneticDisk">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7" name="Text Box 7"/>
          <p:cNvSpPr txBox="1">
            <a:spLocks noChangeArrowheads="1"/>
          </p:cNvSpPr>
          <p:nvPr/>
        </p:nvSpPr>
        <p:spPr bwMode="auto">
          <a:xfrm>
            <a:off x="1692275" y="5230043"/>
            <a:ext cx="7921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b="1"/>
              <a:t>主存</a:t>
            </a:r>
          </a:p>
        </p:txBody>
      </p:sp>
      <p:sp>
        <p:nvSpPr>
          <p:cNvPr id="18" name="Rectangle 8"/>
          <p:cNvSpPr>
            <a:spLocks noChangeArrowheads="1"/>
          </p:cNvSpPr>
          <p:nvPr/>
        </p:nvSpPr>
        <p:spPr bwMode="auto">
          <a:xfrm>
            <a:off x="1274763" y="4509318"/>
            <a:ext cx="431800" cy="360363"/>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a:t>4</a:t>
            </a:r>
          </a:p>
        </p:txBody>
      </p:sp>
      <p:sp>
        <p:nvSpPr>
          <p:cNvPr id="19" name="Rectangle 9"/>
          <p:cNvSpPr>
            <a:spLocks noChangeArrowheads="1"/>
          </p:cNvSpPr>
          <p:nvPr/>
        </p:nvSpPr>
        <p:spPr bwMode="auto">
          <a:xfrm>
            <a:off x="1820863" y="4517256"/>
            <a:ext cx="431800" cy="36036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a:t>3</a:t>
            </a:r>
          </a:p>
        </p:txBody>
      </p:sp>
      <p:sp>
        <p:nvSpPr>
          <p:cNvPr id="20" name="Rectangle 10"/>
          <p:cNvSpPr>
            <a:spLocks noChangeArrowheads="1"/>
          </p:cNvSpPr>
          <p:nvPr/>
        </p:nvSpPr>
        <p:spPr bwMode="auto">
          <a:xfrm>
            <a:off x="2371725" y="4509318"/>
            <a:ext cx="431800" cy="360363"/>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a:t>1</a:t>
            </a:r>
          </a:p>
        </p:txBody>
      </p:sp>
      <p:sp>
        <p:nvSpPr>
          <p:cNvPr id="21" name="Text Box 11"/>
          <p:cNvSpPr txBox="1">
            <a:spLocks noChangeArrowheads="1"/>
          </p:cNvSpPr>
          <p:nvPr/>
        </p:nvSpPr>
        <p:spPr bwMode="auto">
          <a:xfrm>
            <a:off x="3476625" y="4580756"/>
            <a:ext cx="3587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b="1">
                <a:solidFill>
                  <a:srgbClr val="FF3300"/>
                </a:solidFill>
                <a:sym typeface="Symbol" panose="05050102010706020507" pitchFamily="18" charset="2"/>
              </a:rPr>
              <a:t></a:t>
            </a:r>
          </a:p>
        </p:txBody>
      </p:sp>
      <p:sp>
        <p:nvSpPr>
          <p:cNvPr id="22" name="Text Box 12"/>
          <p:cNvSpPr txBox="1">
            <a:spLocks noChangeArrowheads="1"/>
          </p:cNvSpPr>
          <p:nvPr/>
        </p:nvSpPr>
        <p:spPr bwMode="auto">
          <a:xfrm>
            <a:off x="3836988" y="4574406"/>
            <a:ext cx="3587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b="1">
                <a:solidFill>
                  <a:srgbClr val="FF3300"/>
                </a:solidFill>
                <a:sym typeface="Symbol" panose="05050102010706020507" pitchFamily="18" charset="2"/>
              </a:rPr>
              <a:t></a:t>
            </a:r>
          </a:p>
        </p:txBody>
      </p:sp>
      <p:sp>
        <p:nvSpPr>
          <p:cNvPr id="23" name="Text Box 13"/>
          <p:cNvSpPr txBox="1">
            <a:spLocks noChangeArrowheads="1"/>
          </p:cNvSpPr>
          <p:nvPr/>
        </p:nvSpPr>
        <p:spPr bwMode="auto">
          <a:xfrm>
            <a:off x="4221163" y="4580756"/>
            <a:ext cx="3587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b="1">
                <a:solidFill>
                  <a:srgbClr val="FF3300"/>
                </a:solidFill>
                <a:sym typeface="Symbol" panose="05050102010706020507" pitchFamily="18" charset="2"/>
              </a:rPr>
              <a:t></a:t>
            </a:r>
          </a:p>
        </p:txBody>
      </p:sp>
      <p:sp>
        <p:nvSpPr>
          <p:cNvPr id="24" name="Text Box 14"/>
          <p:cNvSpPr txBox="1">
            <a:spLocks noChangeArrowheads="1"/>
          </p:cNvSpPr>
          <p:nvPr/>
        </p:nvSpPr>
        <p:spPr bwMode="auto">
          <a:xfrm>
            <a:off x="4605338" y="4580756"/>
            <a:ext cx="3587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b="1">
                <a:solidFill>
                  <a:srgbClr val="FF3300"/>
                </a:solidFill>
                <a:sym typeface="Symbol" panose="05050102010706020507" pitchFamily="18" charset="2"/>
              </a:rPr>
              <a:t></a:t>
            </a:r>
          </a:p>
        </p:txBody>
      </p:sp>
    </p:spTree>
    <p:extLst>
      <p:ext uri="{BB962C8B-B14F-4D97-AF65-F5344CB8AC3E}">
        <p14:creationId xmlns:p14="http://schemas.microsoft.com/office/powerpoint/2010/main" val="2539264202"/>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最佳置换算法</a:t>
            </a:r>
          </a:p>
        </p:txBody>
      </p:sp>
      <p:sp>
        <p:nvSpPr>
          <p:cNvPr id="4" name="Date Placeholder 3"/>
          <p:cNvSpPr>
            <a:spLocks noGrp="1"/>
          </p:cNvSpPr>
          <p:nvPr>
            <p:ph type="dt" sz="half" idx="10"/>
          </p:nvPr>
        </p:nvSpPr>
        <p:spPr/>
        <p:txBody>
          <a:bodyPr/>
          <a:lstStyle/>
          <a:p>
            <a:fld id="{C44FCE40-DF13-432D-A7FE-AD1EA3470625}"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106</a:t>
            </a:fld>
            <a:endParaRPr lang="zh-CN" altLang="en-US" dirty="0"/>
          </a:p>
        </p:txBody>
      </p:sp>
      <p:sp>
        <p:nvSpPr>
          <p:cNvPr id="13" name="Rectangle 12"/>
          <p:cNvSpPr/>
          <p:nvPr/>
        </p:nvSpPr>
        <p:spPr>
          <a:xfrm>
            <a:off x="971600" y="1817793"/>
            <a:ext cx="6768752" cy="1107996"/>
          </a:xfrm>
          <a:prstGeom prst="rect">
            <a:avLst/>
          </a:prstGeom>
        </p:spPr>
        <p:txBody>
          <a:bodyPr wrap="square">
            <a:spAutoFit/>
          </a:bodyPr>
          <a:lstStyle/>
          <a:p>
            <a:pPr marL="755650" lvl="2">
              <a:lnSpc>
                <a:spcPct val="110000"/>
              </a:lnSpc>
            </a:pPr>
            <a:r>
              <a:rPr lang="zh-CN" altLang="en-US" sz="2000" b="1" dirty="0">
                <a:ea typeface="楷体" panose="02010609060101010101" pitchFamily="49" charset="-122"/>
              </a:rPr>
              <a:t>一个作业的页面走向为</a:t>
            </a:r>
            <a:r>
              <a:rPr lang="en-US" altLang="zh-CN" sz="2000" b="1" dirty="0">
                <a:ea typeface="楷体" panose="02010609060101010101" pitchFamily="49" charset="-122"/>
              </a:rPr>
              <a:t>4</a:t>
            </a:r>
            <a:r>
              <a:rPr lang="zh-CN" altLang="en-US" sz="2000" b="1" dirty="0">
                <a:ea typeface="楷体" panose="02010609060101010101" pitchFamily="49" charset="-122"/>
              </a:rPr>
              <a:t>、</a:t>
            </a:r>
            <a:r>
              <a:rPr lang="en-US" altLang="zh-CN" sz="2000" b="1" dirty="0">
                <a:ea typeface="楷体" panose="02010609060101010101" pitchFamily="49" charset="-122"/>
              </a:rPr>
              <a:t>3</a:t>
            </a:r>
            <a:r>
              <a:rPr lang="zh-CN" altLang="en-US" sz="2000" b="1" dirty="0">
                <a:ea typeface="楷体" panose="02010609060101010101" pitchFamily="49" charset="-122"/>
              </a:rPr>
              <a:t>、</a:t>
            </a:r>
            <a:r>
              <a:rPr lang="en-US" altLang="zh-CN" sz="2000" b="1" dirty="0">
                <a:ea typeface="楷体" panose="02010609060101010101" pitchFamily="49" charset="-122"/>
              </a:rPr>
              <a:t>2</a:t>
            </a:r>
            <a:r>
              <a:rPr lang="zh-CN" altLang="en-US" sz="2000" b="1" dirty="0">
                <a:ea typeface="楷体" panose="02010609060101010101" pitchFamily="49" charset="-122"/>
              </a:rPr>
              <a:t>、</a:t>
            </a:r>
            <a:r>
              <a:rPr lang="en-US" altLang="zh-CN" sz="2000" b="1" dirty="0">
                <a:ea typeface="楷体" panose="02010609060101010101" pitchFamily="49" charset="-122"/>
              </a:rPr>
              <a:t>1</a:t>
            </a:r>
            <a:r>
              <a:rPr lang="zh-CN" altLang="en-US" sz="2000" b="1" dirty="0">
                <a:ea typeface="楷体" panose="02010609060101010101" pitchFamily="49" charset="-122"/>
              </a:rPr>
              <a:t>、</a:t>
            </a:r>
            <a:r>
              <a:rPr lang="en-US" altLang="zh-CN" sz="2000" b="1" dirty="0">
                <a:ea typeface="楷体" panose="02010609060101010101" pitchFamily="49" charset="-122"/>
              </a:rPr>
              <a:t>4</a:t>
            </a:r>
            <a:r>
              <a:rPr lang="zh-CN" altLang="en-US" sz="2000" b="1" dirty="0">
                <a:ea typeface="楷体" panose="02010609060101010101" pitchFamily="49" charset="-122"/>
              </a:rPr>
              <a:t>、</a:t>
            </a:r>
            <a:r>
              <a:rPr lang="en-US" altLang="zh-CN" sz="2000" b="1" dirty="0">
                <a:ea typeface="楷体" panose="02010609060101010101" pitchFamily="49" charset="-122"/>
              </a:rPr>
              <a:t>3</a:t>
            </a:r>
            <a:r>
              <a:rPr lang="zh-CN" altLang="en-US" sz="2000" b="1" dirty="0">
                <a:ea typeface="楷体" panose="02010609060101010101" pitchFamily="49" charset="-122"/>
              </a:rPr>
              <a:t>、</a:t>
            </a:r>
            <a:r>
              <a:rPr lang="en-US" altLang="zh-CN" sz="2000" b="1" dirty="0">
                <a:ea typeface="楷体" panose="02010609060101010101" pitchFamily="49" charset="-122"/>
              </a:rPr>
              <a:t>5</a:t>
            </a:r>
            <a:r>
              <a:rPr lang="zh-CN" altLang="en-US" sz="2000" b="1" dirty="0">
                <a:ea typeface="楷体" panose="02010609060101010101" pitchFamily="49" charset="-122"/>
              </a:rPr>
              <a:t>、</a:t>
            </a:r>
            <a:r>
              <a:rPr lang="en-US" altLang="zh-CN" sz="2000" b="1" dirty="0">
                <a:ea typeface="楷体" panose="02010609060101010101" pitchFamily="49" charset="-122"/>
              </a:rPr>
              <a:t>4</a:t>
            </a:r>
            <a:r>
              <a:rPr lang="zh-CN" altLang="en-US" sz="2000" b="1" dirty="0">
                <a:ea typeface="楷体" panose="02010609060101010101" pitchFamily="49" charset="-122"/>
              </a:rPr>
              <a:t>、</a:t>
            </a:r>
            <a:r>
              <a:rPr lang="en-US" altLang="zh-CN" sz="2000" b="1" dirty="0">
                <a:ea typeface="楷体" panose="02010609060101010101" pitchFamily="49" charset="-122"/>
              </a:rPr>
              <a:t>3</a:t>
            </a:r>
            <a:r>
              <a:rPr lang="zh-CN" altLang="en-US" sz="2000" b="1" dirty="0">
                <a:ea typeface="楷体" panose="02010609060101010101" pitchFamily="49" charset="-122"/>
              </a:rPr>
              <a:t>、</a:t>
            </a:r>
            <a:r>
              <a:rPr lang="en-US" altLang="zh-CN" sz="2000" b="1" dirty="0">
                <a:ea typeface="楷体" panose="02010609060101010101" pitchFamily="49" charset="-122"/>
              </a:rPr>
              <a:t>2</a:t>
            </a:r>
            <a:r>
              <a:rPr lang="zh-CN" altLang="en-US" sz="2000" b="1" dirty="0">
                <a:ea typeface="楷体" panose="02010609060101010101" pitchFamily="49" charset="-122"/>
              </a:rPr>
              <a:t>、</a:t>
            </a:r>
            <a:r>
              <a:rPr lang="en-US" altLang="zh-CN" sz="2000" b="1" dirty="0">
                <a:ea typeface="楷体" panose="02010609060101010101" pitchFamily="49" charset="-122"/>
              </a:rPr>
              <a:t>1</a:t>
            </a:r>
            <a:r>
              <a:rPr lang="zh-CN" altLang="en-US" sz="2000" b="1" dirty="0">
                <a:ea typeface="楷体" panose="02010609060101010101" pitchFamily="49" charset="-122"/>
              </a:rPr>
              <a:t>、</a:t>
            </a:r>
            <a:r>
              <a:rPr lang="en-US" altLang="zh-CN" sz="2000" b="1" dirty="0">
                <a:ea typeface="楷体" panose="02010609060101010101" pitchFamily="49" charset="-122"/>
              </a:rPr>
              <a:t>5</a:t>
            </a:r>
            <a:r>
              <a:rPr lang="zh-CN" altLang="en-US" sz="2000" b="1" dirty="0">
                <a:ea typeface="楷体" panose="02010609060101010101" pitchFamily="49" charset="-122"/>
              </a:rPr>
              <a:t>，分配给该作业的物理块数为</a:t>
            </a:r>
            <a:r>
              <a:rPr lang="en-US" altLang="zh-CN" sz="2000" b="1" dirty="0">
                <a:ea typeface="楷体" panose="02010609060101010101" pitchFamily="49" charset="-122"/>
              </a:rPr>
              <a:t>3</a:t>
            </a:r>
            <a:r>
              <a:rPr lang="zh-CN" altLang="en-US" sz="2000" b="1" dirty="0">
                <a:ea typeface="楷体" panose="02010609060101010101" pitchFamily="49" charset="-122"/>
              </a:rPr>
              <a:t>，计算采用最佳算法时的缺页率</a:t>
            </a:r>
          </a:p>
        </p:txBody>
      </p:sp>
      <p:sp>
        <p:nvSpPr>
          <p:cNvPr id="14" name="Oval 2"/>
          <p:cNvSpPr>
            <a:spLocks noChangeArrowheads="1"/>
          </p:cNvSpPr>
          <p:nvPr/>
        </p:nvSpPr>
        <p:spPr bwMode="auto">
          <a:xfrm>
            <a:off x="5708650" y="4365426"/>
            <a:ext cx="431800" cy="431800"/>
          </a:xfrm>
          <a:prstGeom prst="ellipse">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5" name="Text Box 5"/>
          <p:cNvSpPr txBox="1">
            <a:spLocks noChangeArrowheads="1"/>
          </p:cNvSpPr>
          <p:nvPr/>
        </p:nvSpPr>
        <p:spPr bwMode="auto">
          <a:xfrm>
            <a:off x="3492500" y="4365426"/>
            <a:ext cx="4679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4    3    2    1    4    3    5    4    3    2    1    5</a:t>
            </a:r>
          </a:p>
        </p:txBody>
      </p:sp>
      <p:sp>
        <p:nvSpPr>
          <p:cNvPr id="16" name="AutoShape 6"/>
          <p:cNvSpPr>
            <a:spLocks noChangeArrowheads="1"/>
          </p:cNvSpPr>
          <p:nvPr/>
        </p:nvSpPr>
        <p:spPr bwMode="auto">
          <a:xfrm>
            <a:off x="1116013" y="4005064"/>
            <a:ext cx="1871662" cy="1296987"/>
          </a:xfrm>
          <a:prstGeom prst="flowChartMagneticDisk">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7" name="Text Box 7"/>
          <p:cNvSpPr txBox="1">
            <a:spLocks noChangeArrowheads="1"/>
          </p:cNvSpPr>
          <p:nvPr/>
        </p:nvSpPr>
        <p:spPr bwMode="auto">
          <a:xfrm>
            <a:off x="1692275" y="5302051"/>
            <a:ext cx="7921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b="1"/>
              <a:t>主存</a:t>
            </a:r>
          </a:p>
        </p:txBody>
      </p:sp>
      <p:sp>
        <p:nvSpPr>
          <p:cNvPr id="18" name="Rectangle 8"/>
          <p:cNvSpPr>
            <a:spLocks noChangeArrowheads="1"/>
          </p:cNvSpPr>
          <p:nvPr/>
        </p:nvSpPr>
        <p:spPr bwMode="auto">
          <a:xfrm>
            <a:off x="1274763" y="4581326"/>
            <a:ext cx="431800" cy="360363"/>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a:t>4</a:t>
            </a:r>
          </a:p>
        </p:txBody>
      </p:sp>
      <p:sp>
        <p:nvSpPr>
          <p:cNvPr id="19" name="Rectangle 9"/>
          <p:cNvSpPr>
            <a:spLocks noChangeArrowheads="1"/>
          </p:cNvSpPr>
          <p:nvPr/>
        </p:nvSpPr>
        <p:spPr bwMode="auto">
          <a:xfrm>
            <a:off x="1820863" y="4589264"/>
            <a:ext cx="431800" cy="36036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a:t>3</a:t>
            </a:r>
          </a:p>
        </p:txBody>
      </p:sp>
      <p:sp>
        <p:nvSpPr>
          <p:cNvPr id="20" name="Rectangle 10"/>
          <p:cNvSpPr>
            <a:spLocks noChangeArrowheads="1"/>
          </p:cNvSpPr>
          <p:nvPr/>
        </p:nvSpPr>
        <p:spPr bwMode="auto">
          <a:xfrm>
            <a:off x="2371725" y="4581326"/>
            <a:ext cx="431800" cy="360363"/>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a:t>1</a:t>
            </a:r>
          </a:p>
        </p:txBody>
      </p:sp>
      <p:sp>
        <p:nvSpPr>
          <p:cNvPr id="21" name="Text Box 11"/>
          <p:cNvSpPr txBox="1">
            <a:spLocks noChangeArrowheads="1"/>
          </p:cNvSpPr>
          <p:nvPr/>
        </p:nvSpPr>
        <p:spPr bwMode="auto">
          <a:xfrm>
            <a:off x="3476625" y="4652764"/>
            <a:ext cx="3587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b="1">
                <a:solidFill>
                  <a:srgbClr val="FF3300"/>
                </a:solidFill>
                <a:sym typeface="Symbol" panose="05050102010706020507" pitchFamily="18" charset="2"/>
              </a:rPr>
              <a:t></a:t>
            </a:r>
          </a:p>
        </p:txBody>
      </p:sp>
      <p:sp>
        <p:nvSpPr>
          <p:cNvPr id="22" name="Text Box 12"/>
          <p:cNvSpPr txBox="1">
            <a:spLocks noChangeArrowheads="1"/>
          </p:cNvSpPr>
          <p:nvPr/>
        </p:nvSpPr>
        <p:spPr bwMode="auto">
          <a:xfrm>
            <a:off x="3836988" y="4646414"/>
            <a:ext cx="3587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b="1">
                <a:solidFill>
                  <a:srgbClr val="FF3300"/>
                </a:solidFill>
                <a:sym typeface="Symbol" panose="05050102010706020507" pitchFamily="18" charset="2"/>
              </a:rPr>
              <a:t></a:t>
            </a:r>
          </a:p>
        </p:txBody>
      </p:sp>
      <p:sp>
        <p:nvSpPr>
          <p:cNvPr id="23" name="Text Box 13"/>
          <p:cNvSpPr txBox="1">
            <a:spLocks noChangeArrowheads="1"/>
          </p:cNvSpPr>
          <p:nvPr/>
        </p:nvSpPr>
        <p:spPr bwMode="auto">
          <a:xfrm>
            <a:off x="4221163" y="4652764"/>
            <a:ext cx="3587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b="1">
                <a:solidFill>
                  <a:srgbClr val="FF3300"/>
                </a:solidFill>
                <a:sym typeface="Symbol" panose="05050102010706020507" pitchFamily="18" charset="2"/>
              </a:rPr>
              <a:t></a:t>
            </a:r>
          </a:p>
        </p:txBody>
      </p:sp>
      <p:sp>
        <p:nvSpPr>
          <p:cNvPr id="24" name="Text Box 14"/>
          <p:cNvSpPr txBox="1">
            <a:spLocks noChangeArrowheads="1"/>
          </p:cNvSpPr>
          <p:nvPr/>
        </p:nvSpPr>
        <p:spPr bwMode="auto">
          <a:xfrm>
            <a:off x="4605338" y="4652764"/>
            <a:ext cx="3587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b="1">
                <a:solidFill>
                  <a:srgbClr val="FF3300"/>
                </a:solidFill>
                <a:sym typeface="Symbol" panose="05050102010706020507" pitchFamily="18" charset="2"/>
              </a:rPr>
              <a:t></a:t>
            </a:r>
          </a:p>
        </p:txBody>
      </p:sp>
      <p:sp>
        <p:nvSpPr>
          <p:cNvPr id="25" name="Rectangle 15"/>
          <p:cNvSpPr>
            <a:spLocks noChangeArrowheads="1"/>
          </p:cNvSpPr>
          <p:nvPr/>
        </p:nvSpPr>
        <p:spPr bwMode="auto">
          <a:xfrm>
            <a:off x="2363788" y="4581326"/>
            <a:ext cx="431800" cy="360363"/>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a:t>5</a:t>
            </a:r>
          </a:p>
        </p:txBody>
      </p:sp>
      <p:sp>
        <p:nvSpPr>
          <p:cNvPr id="26" name="Text Box 16"/>
          <p:cNvSpPr txBox="1">
            <a:spLocks noChangeArrowheads="1"/>
          </p:cNvSpPr>
          <p:nvPr/>
        </p:nvSpPr>
        <p:spPr bwMode="auto">
          <a:xfrm>
            <a:off x="5765800" y="4628951"/>
            <a:ext cx="3587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b="1">
                <a:solidFill>
                  <a:srgbClr val="FF3300"/>
                </a:solidFill>
                <a:sym typeface="Symbol" panose="05050102010706020507" pitchFamily="18" charset="2"/>
              </a:rPr>
              <a:t></a:t>
            </a:r>
          </a:p>
        </p:txBody>
      </p:sp>
    </p:spTree>
    <p:extLst>
      <p:ext uri="{BB962C8B-B14F-4D97-AF65-F5344CB8AC3E}">
        <p14:creationId xmlns:p14="http://schemas.microsoft.com/office/powerpoint/2010/main" val="1818693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xit" presetSubtype="4" fill="hold" grpId="0" nodeType="clickEffect">
                                  <p:stCondLst>
                                    <p:cond delay="0"/>
                                  </p:stCondLst>
                                  <p:childTnLst>
                                    <p:anim calcmode="lin" valueType="num">
                                      <p:cBhvr additive="base">
                                        <p:cTn id="10" dur="500"/>
                                        <p:tgtEl>
                                          <p:spTgt spid="20"/>
                                        </p:tgtEl>
                                        <p:attrNameLst>
                                          <p:attrName>ppt_x</p:attrName>
                                        </p:attrNameLst>
                                      </p:cBhvr>
                                      <p:tavLst>
                                        <p:tav tm="0">
                                          <p:val>
                                            <p:strVal val="ppt_x"/>
                                          </p:val>
                                        </p:tav>
                                        <p:tav tm="100000">
                                          <p:val>
                                            <p:strVal val="ppt_x"/>
                                          </p:val>
                                        </p:tav>
                                      </p:tavLst>
                                    </p:anim>
                                    <p:anim calcmode="lin" valueType="num">
                                      <p:cBhvr additive="base">
                                        <p:cTn id="11" dur="500"/>
                                        <p:tgtEl>
                                          <p:spTgt spid="20"/>
                                        </p:tgtEl>
                                        <p:attrNameLst>
                                          <p:attrName>ppt_y</p:attrName>
                                        </p:attrNameLst>
                                      </p:cBhvr>
                                      <p:tavLst>
                                        <p:tav tm="0">
                                          <p:val>
                                            <p:strVal val="ppt_y"/>
                                          </p:val>
                                        </p:tav>
                                        <p:tav tm="100000">
                                          <p:val>
                                            <p:strVal val="1+ppt_h/2"/>
                                          </p:val>
                                        </p:tav>
                                      </p:tavLst>
                                    </p:anim>
                                    <p:set>
                                      <p:cBhvr>
                                        <p:cTn id="12" dur="1" fill="hold">
                                          <p:stCondLst>
                                            <p:cond delay="499"/>
                                          </p:stCondLst>
                                        </p:cTn>
                                        <p:tgtEl>
                                          <p:spTgt spid="20"/>
                                        </p:tgtEl>
                                        <p:attrNameLst>
                                          <p:attrName>style.visibility</p:attrName>
                                        </p:attrNameLst>
                                      </p:cBhvr>
                                      <p:to>
                                        <p:strVal val="hidden"/>
                                      </p:to>
                                    </p:set>
                                  </p:childTnLst>
                                </p:cTn>
                              </p:par>
                            </p:childTnLst>
                          </p:cTn>
                        </p:par>
                        <p:par>
                          <p:cTn id="13" fill="hold">
                            <p:stCondLst>
                              <p:cond delay="500"/>
                            </p:stCondLst>
                            <p:childTnLst>
                              <p:par>
                                <p:cTn id="14" presetID="2" presetClass="entr" presetSubtype="4" fill="hold" grpId="0" nodeType="afterEffect">
                                  <p:stCondLst>
                                    <p:cond delay="0"/>
                                  </p:stCondLst>
                                  <p:childTnLst>
                                    <p:set>
                                      <p:cBhvr>
                                        <p:cTn id="15" dur="1" fill="hold">
                                          <p:stCondLst>
                                            <p:cond delay="0"/>
                                          </p:stCondLst>
                                        </p:cTn>
                                        <p:tgtEl>
                                          <p:spTgt spid="25"/>
                                        </p:tgtEl>
                                        <p:attrNameLst>
                                          <p:attrName>style.visibility</p:attrName>
                                        </p:attrNameLst>
                                      </p:cBhvr>
                                      <p:to>
                                        <p:strVal val="visible"/>
                                      </p:to>
                                    </p:set>
                                    <p:anim calcmode="lin" valueType="num">
                                      <p:cBhvr additive="base">
                                        <p:cTn id="16" dur="500" fill="hold"/>
                                        <p:tgtEl>
                                          <p:spTgt spid="25"/>
                                        </p:tgtEl>
                                        <p:attrNameLst>
                                          <p:attrName>ppt_x</p:attrName>
                                        </p:attrNameLst>
                                      </p:cBhvr>
                                      <p:tavLst>
                                        <p:tav tm="0">
                                          <p:val>
                                            <p:strVal val="#ppt_x"/>
                                          </p:val>
                                        </p:tav>
                                        <p:tav tm="100000">
                                          <p:val>
                                            <p:strVal val="#ppt_x"/>
                                          </p:val>
                                        </p:tav>
                                      </p:tavLst>
                                    </p:anim>
                                    <p:anim calcmode="lin" valueType="num">
                                      <p:cBhvr additive="base">
                                        <p:cTn id="17"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5" grpId="0" animBg="1"/>
      <p:bldP spid="26" grpId="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最佳置换算法</a:t>
            </a:r>
          </a:p>
        </p:txBody>
      </p:sp>
      <p:sp>
        <p:nvSpPr>
          <p:cNvPr id="4" name="Date Placeholder 3"/>
          <p:cNvSpPr>
            <a:spLocks noGrp="1"/>
          </p:cNvSpPr>
          <p:nvPr>
            <p:ph type="dt" sz="half" idx="10"/>
          </p:nvPr>
        </p:nvSpPr>
        <p:spPr/>
        <p:txBody>
          <a:bodyPr/>
          <a:lstStyle/>
          <a:p>
            <a:fld id="{D666A999-28EB-450E-B438-DCD569563402}"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107</a:t>
            </a:fld>
            <a:endParaRPr lang="zh-CN" altLang="en-US" dirty="0"/>
          </a:p>
        </p:txBody>
      </p:sp>
      <p:sp>
        <p:nvSpPr>
          <p:cNvPr id="13" name="Rectangle 12"/>
          <p:cNvSpPr/>
          <p:nvPr/>
        </p:nvSpPr>
        <p:spPr>
          <a:xfrm>
            <a:off x="971600" y="1817793"/>
            <a:ext cx="6768752" cy="1107996"/>
          </a:xfrm>
          <a:prstGeom prst="rect">
            <a:avLst/>
          </a:prstGeom>
        </p:spPr>
        <p:txBody>
          <a:bodyPr wrap="square">
            <a:spAutoFit/>
          </a:bodyPr>
          <a:lstStyle/>
          <a:p>
            <a:pPr marL="755650" lvl="2">
              <a:lnSpc>
                <a:spcPct val="110000"/>
              </a:lnSpc>
            </a:pPr>
            <a:r>
              <a:rPr lang="zh-CN" altLang="en-US" sz="2000" b="1" dirty="0">
                <a:ea typeface="楷体" panose="02010609060101010101" pitchFamily="49" charset="-122"/>
              </a:rPr>
              <a:t>一个作业的页面走向为</a:t>
            </a:r>
            <a:r>
              <a:rPr lang="en-US" altLang="zh-CN" sz="2000" b="1" dirty="0">
                <a:ea typeface="楷体" panose="02010609060101010101" pitchFamily="49" charset="-122"/>
              </a:rPr>
              <a:t>4</a:t>
            </a:r>
            <a:r>
              <a:rPr lang="zh-CN" altLang="en-US" sz="2000" b="1" dirty="0">
                <a:ea typeface="楷体" panose="02010609060101010101" pitchFamily="49" charset="-122"/>
              </a:rPr>
              <a:t>、</a:t>
            </a:r>
            <a:r>
              <a:rPr lang="en-US" altLang="zh-CN" sz="2000" b="1" dirty="0">
                <a:ea typeface="楷体" panose="02010609060101010101" pitchFamily="49" charset="-122"/>
              </a:rPr>
              <a:t>3</a:t>
            </a:r>
            <a:r>
              <a:rPr lang="zh-CN" altLang="en-US" sz="2000" b="1" dirty="0">
                <a:ea typeface="楷体" panose="02010609060101010101" pitchFamily="49" charset="-122"/>
              </a:rPr>
              <a:t>、</a:t>
            </a:r>
            <a:r>
              <a:rPr lang="en-US" altLang="zh-CN" sz="2000" b="1" dirty="0">
                <a:ea typeface="楷体" panose="02010609060101010101" pitchFamily="49" charset="-122"/>
              </a:rPr>
              <a:t>2</a:t>
            </a:r>
            <a:r>
              <a:rPr lang="zh-CN" altLang="en-US" sz="2000" b="1" dirty="0">
                <a:ea typeface="楷体" panose="02010609060101010101" pitchFamily="49" charset="-122"/>
              </a:rPr>
              <a:t>、</a:t>
            </a:r>
            <a:r>
              <a:rPr lang="en-US" altLang="zh-CN" sz="2000" b="1" dirty="0">
                <a:ea typeface="楷体" panose="02010609060101010101" pitchFamily="49" charset="-122"/>
              </a:rPr>
              <a:t>1</a:t>
            </a:r>
            <a:r>
              <a:rPr lang="zh-CN" altLang="en-US" sz="2000" b="1" dirty="0">
                <a:ea typeface="楷体" panose="02010609060101010101" pitchFamily="49" charset="-122"/>
              </a:rPr>
              <a:t>、</a:t>
            </a:r>
            <a:r>
              <a:rPr lang="en-US" altLang="zh-CN" sz="2000" b="1" dirty="0">
                <a:ea typeface="楷体" panose="02010609060101010101" pitchFamily="49" charset="-122"/>
              </a:rPr>
              <a:t>4</a:t>
            </a:r>
            <a:r>
              <a:rPr lang="zh-CN" altLang="en-US" sz="2000" b="1" dirty="0">
                <a:ea typeface="楷体" panose="02010609060101010101" pitchFamily="49" charset="-122"/>
              </a:rPr>
              <a:t>、</a:t>
            </a:r>
            <a:r>
              <a:rPr lang="en-US" altLang="zh-CN" sz="2000" b="1" dirty="0">
                <a:ea typeface="楷体" panose="02010609060101010101" pitchFamily="49" charset="-122"/>
              </a:rPr>
              <a:t>3</a:t>
            </a:r>
            <a:r>
              <a:rPr lang="zh-CN" altLang="en-US" sz="2000" b="1" dirty="0">
                <a:ea typeface="楷体" panose="02010609060101010101" pitchFamily="49" charset="-122"/>
              </a:rPr>
              <a:t>、</a:t>
            </a:r>
            <a:r>
              <a:rPr lang="en-US" altLang="zh-CN" sz="2000" b="1" dirty="0">
                <a:ea typeface="楷体" panose="02010609060101010101" pitchFamily="49" charset="-122"/>
              </a:rPr>
              <a:t>5</a:t>
            </a:r>
            <a:r>
              <a:rPr lang="zh-CN" altLang="en-US" sz="2000" b="1" dirty="0">
                <a:ea typeface="楷体" panose="02010609060101010101" pitchFamily="49" charset="-122"/>
              </a:rPr>
              <a:t>、</a:t>
            </a:r>
            <a:r>
              <a:rPr lang="en-US" altLang="zh-CN" sz="2000" b="1" dirty="0">
                <a:ea typeface="楷体" panose="02010609060101010101" pitchFamily="49" charset="-122"/>
              </a:rPr>
              <a:t>4</a:t>
            </a:r>
            <a:r>
              <a:rPr lang="zh-CN" altLang="en-US" sz="2000" b="1" dirty="0">
                <a:ea typeface="楷体" panose="02010609060101010101" pitchFamily="49" charset="-122"/>
              </a:rPr>
              <a:t>、</a:t>
            </a:r>
            <a:r>
              <a:rPr lang="en-US" altLang="zh-CN" sz="2000" b="1" dirty="0">
                <a:ea typeface="楷体" panose="02010609060101010101" pitchFamily="49" charset="-122"/>
              </a:rPr>
              <a:t>3</a:t>
            </a:r>
            <a:r>
              <a:rPr lang="zh-CN" altLang="en-US" sz="2000" b="1" dirty="0">
                <a:ea typeface="楷体" panose="02010609060101010101" pitchFamily="49" charset="-122"/>
              </a:rPr>
              <a:t>、</a:t>
            </a:r>
            <a:r>
              <a:rPr lang="en-US" altLang="zh-CN" sz="2000" b="1" dirty="0">
                <a:ea typeface="楷体" panose="02010609060101010101" pitchFamily="49" charset="-122"/>
              </a:rPr>
              <a:t>2</a:t>
            </a:r>
            <a:r>
              <a:rPr lang="zh-CN" altLang="en-US" sz="2000" b="1" dirty="0">
                <a:ea typeface="楷体" panose="02010609060101010101" pitchFamily="49" charset="-122"/>
              </a:rPr>
              <a:t>、</a:t>
            </a:r>
            <a:r>
              <a:rPr lang="en-US" altLang="zh-CN" sz="2000" b="1" dirty="0">
                <a:ea typeface="楷体" panose="02010609060101010101" pitchFamily="49" charset="-122"/>
              </a:rPr>
              <a:t>1</a:t>
            </a:r>
            <a:r>
              <a:rPr lang="zh-CN" altLang="en-US" sz="2000" b="1" dirty="0">
                <a:ea typeface="楷体" panose="02010609060101010101" pitchFamily="49" charset="-122"/>
              </a:rPr>
              <a:t>、</a:t>
            </a:r>
            <a:r>
              <a:rPr lang="en-US" altLang="zh-CN" sz="2000" b="1" dirty="0">
                <a:ea typeface="楷体" panose="02010609060101010101" pitchFamily="49" charset="-122"/>
              </a:rPr>
              <a:t>5</a:t>
            </a:r>
            <a:r>
              <a:rPr lang="zh-CN" altLang="en-US" sz="2000" b="1" dirty="0">
                <a:ea typeface="楷体" panose="02010609060101010101" pitchFamily="49" charset="-122"/>
              </a:rPr>
              <a:t>，分配给该作业的物理块数为</a:t>
            </a:r>
            <a:r>
              <a:rPr lang="en-US" altLang="zh-CN" sz="2000" b="1" dirty="0">
                <a:ea typeface="楷体" panose="02010609060101010101" pitchFamily="49" charset="-122"/>
              </a:rPr>
              <a:t>3</a:t>
            </a:r>
            <a:r>
              <a:rPr lang="zh-CN" altLang="en-US" sz="2000" b="1" dirty="0">
                <a:ea typeface="楷体" panose="02010609060101010101" pitchFamily="49" charset="-122"/>
              </a:rPr>
              <a:t>，计算采用最佳算法时的缺页率</a:t>
            </a:r>
          </a:p>
        </p:txBody>
      </p:sp>
      <p:sp>
        <p:nvSpPr>
          <p:cNvPr id="14" name="Oval 2"/>
          <p:cNvSpPr>
            <a:spLocks noChangeArrowheads="1"/>
          </p:cNvSpPr>
          <p:nvPr/>
        </p:nvSpPr>
        <p:spPr bwMode="auto">
          <a:xfrm>
            <a:off x="6100763" y="4293418"/>
            <a:ext cx="431800" cy="431800"/>
          </a:xfrm>
          <a:prstGeom prst="ellipse">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5" name="Text Box 5"/>
          <p:cNvSpPr txBox="1">
            <a:spLocks noChangeArrowheads="1"/>
          </p:cNvSpPr>
          <p:nvPr/>
        </p:nvSpPr>
        <p:spPr bwMode="auto">
          <a:xfrm>
            <a:off x="3492500" y="4293418"/>
            <a:ext cx="4679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4    3    2    1    4    3    5    4    3    2    1    5</a:t>
            </a:r>
          </a:p>
        </p:txBody>
      </p:sp>
      <p:sp>
        <p:nvSpPr>
          <p:cNvPr id="16" name="AutoShape 6"/>
          <p:cNvSpPr>
            <a:spLocks noChangeArrowheads="1"/>
          </p:cNvSpPr>
          <p:nvPr/>
        </p:nvSpPr>
        <p:spPr bwMode="auto">
          <a:xfrm>
            <a:off x="1116013" y="3933056"/>
            <a:ext cx="1871662" cy="1296987"/>
          </a:xfrm>
          <a:prstGeom prst="flowChartMagneticDisk">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7" name="Text Box 7"/>
          <p:cNvSpPr txBox="1">
            <a:spLocks noChangeArrowheads="1"/>
          </p:cNvSpPr>
          <p:nvPr/>
        </p:nvSpPr>
        <p:spPr bwMode="auto">
          <a:xfrm>
            <a:off x="1692275" y="5230043"/>
            <a:ext cx="7921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b="1"/>
              <a:t>主存</a:t>
            </a:r>
          </a:p>
        </p:txBody>
      </p:sp>
      <p:sp>
        <p:nvSpPr>
          <p:cNvPr id="18" name="Rectangle 8"/>
          <p:cNvSpPr>
            <a:spLocks noChangeArrowheads="1"/>
          </p:cNvSpPr>
          <p:nvPr/>
        </p:nvSpPr>
        <p:spPr bwMode="auto">
          <a:xfrm>
            <a:off x="1274763" y="4509318"/>
            <a:ext cx="431800" cy="360363"/>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a:t>4</a:t>
            </a:r>
          </a:p>
        </p:txBody>
      </p:sp>
      <p:sp>
        <p:nvSpPr>
          <p:cNvPr id="19" name="Rectangle 9"/>
          <p:cNvSpPr>
            <a:spLocks noChangeArrowheads="1"/>
          </p:cNvSpPr>
          <p:nvPr/>
        </p:nvSpPr>
        <p:spPr bwMode="auto">
          <a:xfrm>
            <a:off x="1820863" y="4517256"/>
            <a:ext cx="431800" cy="36036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a:t>3</a:t>
            </a:r>
          </a:p>
        </p:txBody>
      </p:sp>
      <p:sp>
        <p:nvSpPr>
          <p:cNvPr id="20" name="Text Box 11"/>
          <p:cNvSpPr txBox="1">
            <a:spLocks noChangeArrowheads="1"/>
          </p:cNvSpPr>
          <p:nvPr/>
        </p:nvSpPr>
        <p:spPr bwMode="auto">
          <a:xfrm>
            <a:off x="3476625" y="4580756"/>
            <a:ext cx="3587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b="1">
                <a:solidFill>
                  <a:srgbClr val="FF3300"/>
                </a:solidFill>
                <a:sym typeface="Symbol" panose="05050102010706020507" pitchFamily="18" charset="2"/>
              </a:rPr>
              <a:t></a:t>
            </a:r>
          </a:p>
        </p:txBody>
      </p:sp>
      <p:sp>
        <p:nvSpPr>
          <p:cNvPr id="21" name="Text Box 12"/>
          <p:cNvSpPr txBox="1">
            <a:spLocks noChangeArrowheads="1"/>
          </p:cNvSpPr>
          <p:nvPr/>
        </p:nvSpPr>
        <p:spPr bwMode="auto">
          <a:xfrm>
            <a:off x="3836988" y="4574406"/>
            <a:ext cx="3587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b="1">
                <a:solidFill>
                  <a:srgbClr val="FF3300"/>
                </a:solidFill>
                <a:sym typeface="Symbol" panose="05050102010706020507" pitchFamily="18" charset="2"/>
              </a:rPr>
              <a:t></a:t>
            </a:r>
          </a:p>
        </p:txBody>
      </p:sp>
      <p:sp>
        <p:nvSpPr>
          <p:cNvPr id="22" name="Text Box 13"/>
          <p:cNvSpPr txBox="1">
            <a:spLocks noChangeArrowheads="1"/>
          </p:cNvSpPr>
          <p:nvPr/>
        </p:nvSpPr>
        <p:spPr bwMode="auto">
          <a:xfrm>
            <a:off x="4221163" y="4580756"/>
            <a:ext cx="3587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b="1">
                <a:solidFill>
                  <a:srgbClr val="FF3300"/>
                </a:solidFill>
                <a:sym typeface="Symbol" panose="05050102010706020507" pitchFamily="18" charset="2"/>
              </a:rPr>
              <a:t></a:t>
            </a:r>
          </a:p>
        </p:txBody>
      </p:sp>
      <p:sp>
        <p:nvSpPr>
          <p:cNvPr id="23" name="Text Box 14"/>
          <p:cNvSpPr txBox="1">
            <a:spLocks noChangeArrowheads="1"/>
          </p:cNvSpPr>
          <p:nvPr/>
        </p:nvSpPr>
        <p:spPr bwMode="auto">
          <a:xfrm>
            <a:off x="4605338" y="4580756"/>
            <a:ext cx="3587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b="1">
                <a:solidFill>
                  <a:srgbClr val="FF3300"/>
                </a:solidFill>
                <a:sym typeface="Symbol" panose="05050102010706020507" pitchFamily="18" charset="2"/>
              </a:rPr>
              <a:t></a:t>
            </a:r>
          </a:p>
        </p:txBody>
      </p:sp>
      <p:sp>
        <p:nvSpPr>
          <p:cNvPr id="24" name="Rectangle 15"/>
          <p:cNvSpPr>
            <a:spLocks noChangeArrowheads="1"/>
          </p:cNvSpPr>
          <p:nvPr/>
        </p:nvSpPr>
        <p:spPr bwMode="auto">
          <a:xfrm>
            <a:off x="2379663" y="4509318"/>
            <a:ext cx="431800" cy="360363"/>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a:t>5</a:t>
            </a:r>
          </a:p>
        </p:txBody>
      </p:sp>
      <p:sp>
        <p:nvSpPr>
          <p:cNvPr id="25" name="Text Box 16"/>
          <p:cNvSpPr txBox="1">
            <a:spLocks noChangeArrowheads="1"/>
          </p:cNvSpPr>
          <p:nvPr/>
        </p:nvSpPr>
        <p:spPr bwMode="auto">
          <a:xfrm>
            <a:off x="5765800" y="4556943"/>
            <a:ext cx="3587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b="1">
                <a:solidFill>
                  <a:srgbClr val="FF3300"/>
                </a:solidFill>
                <a:sym typeface="Symbol" panose="05050102010706020507" pitchFamily="18" charset="2"/>
              </a:rPr>
              <a:t></a:t>
            </a:r>
          </a:p>
        </p:txBody>
      </p:sp>
    </p:spTree>
    <p:extLst>
      <p:ext uri="{BB962C8B-B14F-4D97-AF65-F5344CB8AC3E}">
        <p14:creationId xmlns:p14="http://schemas.microsoft.com/office/powerpoint/2010/main" val="1227083670"/>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最佳置换算法</a:t>
            </a:r>
          </a:p>
        </p:txBody>
      </p:sp>
      <p:sp>
        <p:nvSpPr>
          <p:cNvPr id="4" name="Date Placeholder 3"/>
          <p:cNvSpPr>
            <a:spLocks noGrp="1"/>
          </p:cNvSpPr>
          <p:nvPr>
            <p:ph type="dt" sz="half" idx="10"/>
          </p:nvPr>
        </p:nvSpPr>
        <p:spPr/>
        <p:txBody>
          <a:bodyPr/>
          <a:lstStyle/>
          <a:p>
            <a:fld id="{72FA9CB2-DA5B-48E6-91F1-6ED6119C7662}"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108</a:t>
            </a:fld>
            <a:endParaRPr lang="zh-CN" altLang="en-US" dirty="0"/>
          </a:p>
        </p:txBody>
      </p:sp>
      <p:sp>
        <p:nvSpPr>
          <p:cNvPr id="13" name="Rectangle 12"/>
          <p:cNvSpPr/>
          <p:nvPr/>
        </p:nvSpPr>
        <p:spPr>
          <a:xfrm>
            <a:off x="971600" y="1817793"/>
            <a:ext cx="6768752" cy="1107996"/>
          </a:xfrm>
          <a:prstGeom prst="rect">
            <a:avLst/>
          </a:prstGeom>
        </p:spPr>
        <p:txBody>
          <a:bodyPr wrap="square">
            <a:spAutoFit/>
          </a:bodyPr>
          <a:lstStyle/>
          <a:p>
            <a:pPr marL="755650" lvl="2">
              <a:lnSpc>
                <a:spcPct val="110000"/>
              </a:lnSpc>
            </a:pPr>
            <a:r>
              <a:rPr lang="zh-CN" altLang="en-US" sz="2000" b="1" dirty="0">
                <a:ea typeface="楷体" panose="02010609060101010101" pitchFamily="49" charset="-122"/>
              </a:rPr>
              <a:t>一个作业的页面走向为</a:t>
            </a:r>
            <a:r>
              <a:rPr lang="en-US" altLang="zh-CN" sz="2000" b="1" dirty="0">
                <a:ea typeface="楷体" panose="02010609060101010101" pitchFamily="49" charset="-122"/>
              </a:rPr>
              <a:t>4</a:t>
            </a:r>
            <a:r>
              <a:rPr lang="zh-CN" altLang="en-US" sz="2000" b="1" dirty="0">
                <a:ea typeface="楷体" panose="02010609060101010101" pitchFamily="49" charset="-122"/>
              </a:rPr>
              <a:t>、</a:t>
            </a:r>
            <a:r>
              <a:rPr lang="en-US" altLang="zh-CN" sz="2000" b="1" dirty="0">
                <a:ea typeface="楷体" panose="02010609060101010101" pitchFamily="49" charset="-122"/>
              </a:rPr>
              <a:t>3</a:t>
            </a:r>
            <a:r>
              <a:rPr lang="zh-CN" altLang="en-US" sz="2000" b="1" dirty="0">
                <a:ea typeface="楷体" panose="02010609060101010101" pitchFamily="49" charset="-122"/>
              </a:rPr>
              <a:t>、</a:t>
            </a:r>
            <a:r>
              <a:rPr lang="en-US" altLang="zh-CN" sz="2000" b="1" dirty="0">
                <a:ea typeface="楷体" panose="02010609060101010101" pitchFamily="49" charset="-122"/>
              </a:rPr>
              <a:t>2</a:t>
            </a:r>
            <a:r>
              <a:rPr lang="zh-CN" altLang="en-US" sz="2000" b="1" dirty="0">
                <a:ea typeface="楷体" panose="02010609060101010101" pitchFamily="49" charset="-122"/>
              </a:rPr>
              <a:t>、</a:t>
            </a:r>
            <a:r>
              <a:rPr lang="en-US" altLang="zh-CN" sz="2000" b="1" dirty="0">
                <a:ea typeface="楷体" panose="02010609060101010101" pitchFamily="49" charset="-122"/>
              </a:rPr>
              <a:t>1</a:t>
            </a:r>
            <a:r>
              <a:rPr lang="zh-CN" altLang="en-US" sz="2000" b="1" dirty="0">
                <a:ea typeface="楷体" panose="02010609060101010101" pitchFamily="49" charset="-122"/>
              </a:rPr>
              <a:t>、</a:t>
            </a:r>
            <a:r>
              <a:rPr lang="en-US" altLang="zh-CN" sz="2000" b="1" dirty="0">
                <a:ea typeface="楷体" panose="02010609060101010101" pitchFamily="49" charset="-122"/>
              </a:rPr>
              <a:t>4</a:t>
            </a:r>
            <a:r>
              <a:rPr lang="zh-CN" altLang="en-US" sz="2000" b="1" dirty="0">
                <a:ea typeface="楷体" panose="02010609060101010101" pitchFamily="49" charset="-122"/>
              </a:rPr>
              <a:t>、</a:t>
            </a:r>
            <a:r>
              <a:rPr lang="en-US" altLang="zh-CN" sz="2000" b="1" dirty="0">
                <a:ea typeface="楷体" panose="02010609060101010101" pitchFamily="49" charset="-122"/>
              </a:rPr>
              <a:t>3</a:t>
            </a:r>
            <a:r>
              <a:rPr lang="zh-CN" altLang="en-US" sz="2000" b="1" dirty="0">
                <a:ea typeface="楷体" panose="02010609060101010101" pitchFamily="49" charset="-122"/>
              </a:rPr>
              <a:t>、</a:t>
            </a:r>
            <a:r>
              <a:rPr lang="en-US" altLang="zh-CN" sz="2000" b="1" dirty="0">
                <a:ea typeface="楷体" panose="02010609060101010101" pitchFamily="49" charset="-122"/>
              </a:rPr>
              <a:t>5</a:t>
            </a:r>
            <a:r>
              <a:rPr lang="zh-CN" altLang="en-US" sz="2000" b="1" dirty="0">
                <a:ea typeface="楷体" panose="02010609060101010101" pitchFamily="49" charset="-122"/>
              </a:rPr>
              <a:t>、</a:t>
            </a:r>
            <a:r>
              <a:rPr lang="en-US" altLang="zh-CN" sz="2000" b="1" dirty="0">
                <a:ea typeface="楷体" panose="02010609060101010101" pitchFamily="49" charset="-122"/>
              </a:rPr>
              <a:t>4</a:t>
            </a:r>
            <a:r>
              <a:rPr lang="zh-CN" altLang="en-US" sz="2000" b="1" dirty="0">
                <a:ea typeface="楷体" panose="02010609060101010101" pitchFamily="49" charset="-122"/>
              </a:rPr>
              <a:t>、</a:t>
            </a:r>
            <a:r>
              <a:rPr lang="en-US" altLang="zh-CN" sz="2000" b="1" dirty="0">
                <a:ea typeface="楷体" panose="02010609060101010101" pitchFamily="49" charset="-122"/>
              </a:rPr>
              <a:t>3</a:t>
            </a:r>
            <a:r>
              <a:rPr lang="zh-CN" altLang="en-US" sz="2000" b="1" dirty="0">
                <a:ea typeface="楷体" panose="02010609060101010101" pitchFamily="49" charset="-122"/>
              </a:rPr>
              <a:t>、</a:t>
            </a:r>
            <a:r>
              <a:rPr lang="en-US" altLang="zh-CN" sz="2000" b="1" dirty="0">
                <a:ea typeface="楷体" panose="02010609060101010101" pitchFamily="49" charset="-122"/>
              </a:rPr>
              <a:t>2</a:t>
            </a:r>
            <a:r>
              <a:rPr lang="zh-CN" altLang="en-US" sz="2000" b="1" dirty="0">
                <a:ea typeface="楷体" panose="02010609060101010101" pitchFamily="49" charset="-122"/>
              </a:rPr>
              <a:t>、</a:t>
            </a:r>
            <a:r>
              <a:rPr lang="en-US" altLang="zh-CN" sz="2000" b="1" dirty="0">
                <a:ea typeface="楷体" panose="02010609060101010101" pitchFamily="49" charset="-122"/>
              </a:rPr>
              <a:t>1</a:t>
            </a:r>
            <a:r>
              <a:rPr lang="zh-CN" altLang="en-US" sz="2000" b="1" dirty="0">
                <a:ea typeface="楷体" panose="02010609060101010101" pitchFamily="49" charset="-122"/>
              </a:rPr>
              <a:t>、</a:t>
            </a:r>
            <a:r>
              <a:rPr lang="en-US" altLang="zh-CN" sz="2000" b="1" dirty="0">
                <a:ea typeface="楷体" panose="02010609060101010101" pitchFamily="49" charset="-122"/>
              </a:rPr>
              <a:t>5</a:t>
            </a:r>
            <a:r>
              <a:rPr lang="zh-CN" altLang="en-US" sz="2000" b="1" dirty="0">
                <a:ea typeface="楷体" panose="02010609060101010101" pitchFamily="49" charset="-122"/>
              </a:rPr>
              <a:t>，分配给该作业的物理块数为</a:t>
            </a:r>
            <a:r>
              <a:rPr lang="en-US" altLang="zh-CN" sz="2000" b="1" dirty="0">
                <a:ea typeface="楷体" panose="02010609060101010101" pitchFamily="49" charset="-122"/>
              </a:rPr>
              <a:t>3</a:t>
            </a:r>
            <a:r>
              <a:rPr lang="zh-CN" altLang="en-US" sz="2000" b="1" dirty="0">
                <a:ea typeface="楷体" panose="02010609060101010101" pitchFamily="49" charset="-122"/>
              </a:rPr>
              <a:t>，计算采用最佳算法时的缺页率</a:t>
            </a:r>
          </a:p>
        </p:txBody>
      </p:sp>
      <p:sp>
        <p:nvSpPr>
          <p:cNvPr id="7" name="Oval 4"/>
          <p:cNvSpPr>
            <a:spLocks noChangeArrowheads="1"/>
          </p:cNvSpPr>
          <p:nvPr/>
        </p:nvSpPr>
        <p:spPr bwMode="auto">
          <a:xfrm>
            <a:off x="6477000" y="4293418"/>
            <a:ext cx="431800" cy="431800"/>
          </a:xfrm>
          <a:prstGeom prst="ellipse">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8" name="Text Box 5"/>
          <p:cNvSpPr txBox="1">
            <a:spLocks noChangeArrowheads="1"/>
          </p:cNvSpPr>
          <p:nvPr/>
        </p:nvSpPr>
        <p:spPr bwMode="auto">
          <a:xfrm>
            <a:off x="3492500" y="4293418"/>
            <a:ext cx="4679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4    3    2    1    4    3    5    4    3    2    1    5</a:t>
            </a:r>
          </a:p>
        </p:txBody>
      </p:sp>
      <p:sp>
        <p:nvSpPr>
          <p:cNvPr id="9" name="AutoShape 6"/>
          <p:cNvSpPr>
            <a:spLocks noChangeArrowheads="1"/>
          </p:cNvSpPr>
          <p:nvPr/>
        </p:nvSpPr>
        <p:spPr bwMode="auto">
          <a:xfrm>
            <a:off x="1116013" y="3933056"/>
            <a:ext cx="1871662" cy="1296987"/>
          </a:xfrm>
          <a:prstGeom prst="flowChartMagneticDisk">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0" name="Text Box 7"/>
          <p:cNvSpPr txBox="1">
            <a:spLocks noChangeArrowheads="1"/>
          </p:cNvSpPr>
          <p:nvPr/>
        </p:nvSpPr>
        <p:spPr bwMode="auto">
          <a:xfrm>
            <a:off x="1692275" y="5230043"/>
            <a:ext cx="7921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b="1"/>
              <a:t>主存</a:t>
            </a:r>
          </a:p>
        </p:txBody>
      </p:sp>
      <p:sp>
        <p:nvSpPr>
          <p:cNvPr id="11" name="Rectangle 8"/>
          <p:cNvSpPr>
            <a:spLocks noChangeArrowheads="1"/>
          </p:cNvSpPr>
          <p:nvPr/>
        </p:nvSpPr>
        <p:spPr bwMode="auto">
          <a:xfrm>
            <a:off x="1274763" y="4509318"/>
            <a:ext cx="431800" cy="360363"/>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a:t>4</a:t>
            </a:r>
          </a:p>
        </p:txBody>
      </p:sp>
      <p:sp>
        <p:nvSpPr>
          <p:cNvPr id="12" name="Rectangle 9"/>
          <p:cNvSpPr>
            <a:spLocks noChangeArrowheads="1"/>
          </p:cNvSpPr>
          <p:nvPr/>
        </p:nvSpPr>
        <p:spPr bwMode="auto">
          <a:xfrm>
            <a:off x="1820863" y="4517256"/>
            <a:ext cx="431800" cy="36036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a:t>3</a:t>
            </a:r>
          </a:p>
        </p:txBody>
      </p:sp>
      <p:sp>
        <p:nvSpPr>
          <p:cNvPr id="14" name="Text Box 10"/>
          <p:cNvSpPr txBox="1">
            <a:spLocks noChangeArrowheads="1"/>
          </p:cNvSpPr>
          <p:nvPr/>
        </p:nvSpPr>
        <p:spPr bwMode="auto">
          <a:xfrm>
            <a:off x="3476625" y="4580756"/>
            <a:ext cx="3587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b="1">
                <a:solidFill>
                  <a:srgbClr val="FF3300"/>
                </a:solidFill>
                <a:sym typeface="Symbol" panose="05050102010706020507" pitchFamily="18" charset="2"/>
              </a:rPr>
              <a:t></a:t>
            </a:r>
          </a:p>
        </p:txBody>
      </p:sp>
      <p:sp>
        <p:nvSpPr>
          <p:cNvPr id="15" name="Text Box 11"/>
          <p:cNvSpPr txBox="1">
            <a:spLocks noChangeArrowheads="1"/>
          </p:cNvSpPr>
          <p:nvPr/>
        </p:nvSpPr>
        <p:spPr bwMode="auto">
          <a:xfrm>
            <a:off x="3836988" y="4574406"/>
            <a:ext cx="3587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b="1">
                <a:solidFill>
                  <a:srgbClr val="FF3300"/>
                </a:solidFill>
                <a:sym typeface="Symbol" panose="05050102010706020507" pitchFamily="18" charset="2"/>
              </a:rPr>
              <a:t></a:t>
            </a:r>
          </a:p>
        </p:txBody>
      </p:sp>
      <p:sp>
        <p:nvSpPr>
          <p:cNvPr id="16" name="Text Box 12"/>
          <p:cNvSpPr txBox="1">
            <a:spLocks noChangeArrowheads="1"/>
          </p:cNvSpPr>
          <p:nvPr/>
        </p:nvSpPr>
        <p:spPr bwMode="auto">
          <a:xfrm>
            <a:off x="4221163" y="4580756"/>
            <a:ext cx="3587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b="1">
                <a:solidFill>
                  <a:srgbClr val="FF3300"/>
                </a:solidFill>
                <a:sym typeface="Symbol" panose="05050102010706020507" pitchFamily="18" charset="2"/>
              </a:rPr>
              <a:t></a:t>
            </a:r>
          </a:p>
        </p:txBody>
      </p:sp>
      <p:sp>
        <p:nvSpPr>
          <p:cNvPr id="17" name="Text Box 13"/>
          <p:cNvSpPr txBox="1">
            <a:spLocks noChangeArrowheads="1"/>
          </p:cNvSpPr>
          <p:nvPr/>
        </p:nvSpPr>
        <p:spPr bwMode="auto">
          <a:xfrm>
            <a:off x="4605338" y="4580756"/>
            <a:ext cx="3587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b="1">
                <a:solidFill>
                  <a:srgbClr val="FF3300"/>
                </a:solidFill>
                <a:sym typeface="Symbol" panose="05050102010706020507" pitchFamily="18" charset="2"/>
              </a:rPr>
              <a:t></a:t>
            </a:r>
          </a:p>
        </p:txBody>
      </p:sp>
      <p:sp>
        <p:nvSpPr>
          <p:cNvPr id="18" name="Rectangle 14"/>
          <p:cNvSpPr>
            <a:spLocks noChangeArrowheads="1"/>
          </p:cNvSpPr>
          <p:nvPr/>
        </p:nvSpPr>
        <p:spPr bwMode="auto">
          <a:xfrm>
            <a:off x="2379663" y="4509318"/>
            <a:ext cx="431800" cy="360363"/>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a:t>5</a:t>
            </a:r>
          </a:p>
        </p:txBody>
      </p:sp>
      <p:sp>
        <p:nvSpPr>
          <p:cNvPr id="19" name="Text Box 15"/>
          <p:cNvSpPr txBox="1">
            <a:spLocks noChangeArrowheads="1"/>
          </p:cNvSpPr>
          <p:nvPr/>
        </p:nvSpPr>
        <p:spPr bwMode="auto">
          <a:xfrm>
            <a:off x="5765800" y="4556943"/>
            <a:ext cx="3587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b="1">
                <a:solidFill>
                  <a:srgbClr val="FF3300"/>
                </a:solidFill>
                <a:sym typeface="Symbol" panose="05050102010706020507" pitchFamily="18" charset="2"/>
              </a:rPr>
              <a:t></a:t>
            </a:r>
          </a:p>
        </p:txBody>
      </p:sp>
    </p:spTree>
    <p:extLst>
      <p:ext uri="{BB962C8B-B14F-4D97-AF65-F5344CB8AC3E}">
        <p14:creationId xmlns:p14="http://schemas.microsoft.com/office/powerpoint/2010/main" val="3980180027"/>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最佳置换算法</a:t>
            </a:r>
          </a:p>
        </p:txBody>
      </p:sp>
      <p:sp>
        <p:nvSpPr>
          <p:cNvPr id="4" name="Date Placeholder 3"/>
          <p:cNvSpPr>
            <a:spLocks noGrp="1"/>
          </p:cNvSpPr>
          <p:nvPr>
            <p:ph type="dt" sz="half" idx="10"/>
          </p:nvPr>
        </p:nvSpPr>
        <p:spPr/>
        <p:txBody>
          <a:bodyPr/>
          <a:lstStyle/>
          <a:p>
            <a:fld id="{1BDB205B-2079-465A-A5AB-27B93C85D343}"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109</a:t>
            </a:fld>
            <a:endParaRPr lang="zh-CN" altLang="en-US" dirty="0"/>
          </a:p>
        </p:txBody>
      </p:sp>
      <p:sp>
        <p:nvSpPr>
          <p:cNvPr id="13" name="Rectangle 12"/>
          <p:cNvSpPr/>
          <p:nvPr/>
        </p:nvSpPr>
        <p:spPr>
          <a:xfrm>
            <a:off x="971600" y="1817793"/>
            <a:ext cx="6768752" cy="1107996"/>
          </a:xfrm>
          <a:prstGeom prst="rect">
            <a:avLst/>
          </a:prstGeom>
        </p:spPr>
        <p:txBody>
          <a:bodyPr wrap="square">
            <a:spAutoFit/>
          </a:bodyPr>
          <a:lstStyle/>
          <a:p>
            <a:pPr marL="755650" lvl="2">
              <a:lnSpc>
                <a:spcPct val="110000"/>
              </a:lnSpc>
            </a:pPr>
            <a:r>
              <a:rPr lang="zh-CN" altLang="en-US" sz="2000" b="1" dirty="0">
                <a:ea typeface="楷体" panose="02010609060101010101" pitchFamily="49" charset="-122"/>
              </a:rPr>
              <a:t>一个作业的页面走向为</a:t>
            </a:r>
            <a:r>
              <a:rPr lang="en-US" altLang="zh-CN" sz="2000" b="1" dirty="0">
                <a:ea typeface="楷体" panose="02010609060101010101" pitchFamily="49" charset="-122"/>
              </a:rPr>
              <a:t>4</a:t>
            </a:r>
            <a:r>
              <a:rPr lang="zh-CN" altLang="en-US" sz="2000" b="1" dirty="0">
                <a:ea typeface="楷体" panose="02010609060101010101" pitchFamily="49" charset="-122"/>
              </a:rPr>
              <a:t>、</a:t>
            </a:r>
            <a:r>
              <a:rPr lang="en-US" altLang="zh-CN" sz="2000" b="1" dirty="0">
                <a:ea typeface="楷体" panose="02010609060101010101" pitchFamily="49" charset="-122"/>
              </a:rPr>
              <a:t>3</a:t>
            </a:r>
            <a:r>
              <a:rPr lang="zh-CN" altLang="en-US" sz="2000" b="1" dirty="0">
                <a:ea typeface="楷体" panose="02010609060101010101" pitchFamily="49" charset="-122"/>
              </a:rPr>
              <a:t>、</a:t>
            </a:r>
            <a:r>
              <a:rPr lang="en-US" altLang="zh-CN" sz="2000" b="1" dirty="0">
                <a:ea typeface="楷体" panose="02010609060101010101" pitchFamily="49" charset="-122"/>
              </a:rPr>
              <a:t>2</a:t>
            </a:r>
            <a:r>
              <a:rPr lang="zh-CN" altLang="en-US" sz="2000" b="1" dirty="0">
                <a:ea typeface="楷体" panose="02010609060101010101" pitchFamily="49" charset="-122"/>
              </a:rPr>
              <a:t>、</a:t>
            </a:r>
            <a:r>
              <a:rPr lang="en-US" altLang="zh-CN" sz="2000" b="1" dirty="0">
                <a:ea typeface="楷体" panose="02010609060101010101" pitchFamily="49" charset="-122"/>
              </a:rPr>
              <a:t>1</a:t>
            </a:r>
            <a:r>
              <a:rPr lang="zh-CN" altLang="en-US" sz="2000" b="1" dirty="0">
                <a:ea typeface="楷体" panose="02010609060101010101" pitchFamily="49" charset="-122"/>
              </a:rPr>
              <a:t>、</a:t>
            </a:r>
            <a:r>
              <a:rPr lang="en-US" altLang="zh-CN" sz="2000" b="1" dirty="0">
                <a:ea typeface="楷体" panose="02010609060101010101" pitchFamily="49" charset="-122"/>
              </a:rPr>
              <a:t>4</a:t>
            </a:r>
            <a:r>
              <a:rPr lang="zh-CN" altLang="en-US" sz="2000" b="1" dirty="0">
                <a:ea typeface="楷体" panose="02010609060101010101" pitchFamily="49" charset="-122"/>
              </a:rPr>
              <a:t>、</a:t>
            </a:r>
            <a:r>
              <a:rPr lang="en-US" altLang="zh-CN" sz="2000" b="1" dirty="0">
                <a:ea typeface="楷体" panose="02010609060101010101" pitchFamily="49" charset="-122"/>
              </a:rPr>
              <a:t>3</a:t>
            </a:r>
            <a:r>
              <a:rPr lang="zh-CN" altLang="en-US" sz="2000" b="1" dirty="0">
                <a:ea typeface="楷体" panose="02010609060101010101" pitchFamily="49" charset="-122"/>
              </a:rPr>
              <a:t>、</a:t>
            </a:r>
            <a:r>
              <a:rPr lang="en-US" altLang="zh-CN" sz="2000" b="1" dirty="0">
                <a:ea typeface="楷体" panose="02010609060101010101" pitchFamily="49" charset="-122"/>
              </a:rPr>
              <a:t>5</a:t>
            </a:r>
            <a:r>
              <a:rPr lang="zh-CN" altLang="en-US" sz="2000" b="1" dirty="0">
                <a:ea typeface="楷体" panose="02010609060101010101" pitchFamily="49" charset="-122"/>
              </a:rPr>
              <a:t>、</a:t>
            </a:r>
            <a:r>
              <a:rPr lang="en-US" altLang="zh-CN" sz="2000" b="1" dirty="0">
                <a:ea typeface="楷体" panose="02010609060101010101" pitchFamily="49" charset="-122"/>
              </a:rPr>
              <a:t>4</a:t>
            </a:r>
            <a:r>
              <a:rPr lang="zh-CN" altLang="en-US" sz="2000" b="1" dirty="0">
                <a:ea typeface="楷体" panose="02010609060101010101" pitchFamily="49" charset="-122"/>
              </a:rPr>
              <a:t>、</a:t>
            </a:r>
            <a:r>
              <a:rPr lang="en-US" altLang="zh-CN" sz="2000" b="1" dirty="0">
                <a:ea typeface="楷体" panose="02010609060101010101" pitchFamily="49" charset="-122"/>
              </a:rPr>
              <a:t>3</a:t>
            </a:r>
            <a:r>
              <a:rPr lang="zh-CN" altLang="en-US" sz="2000" b="1" dirty="0">
                <a:ea typeface="楷体" panose="02010609060101010101" pitchFamily="49" charset="-122"/>
              </a:rPr>
              <a:t>、</a:t>
            </a:r>
            <a:r>
              <a:rPr lang="en-US" altLang="zh-CN" sz="2000" b="1" dirty="0">
                <a:ea typeface="楷体" panose="02010609060101010101" pitchFamily="49" charset="-122"/>
              </a:rPr>
              <a:t>2</a:t>
            </a:r>
            <a:r>
              <a:rPr lang="zh-CN" altLang="en-US" sz="2000" b="1" dirty="0">
                <a:ea typeface="楷体" panose="02010609060101010101" pitchFamily="49" charset="-122"/>
              </a:rPr>
              <a:t>、</a:t>
            </a:r>
            <a:r>
              <a:rPr lang="en-US" altLang="zh-CN" sz="2000" b="1" dirty="0">
                <a:ea typeface="楷体" panose="02010609060101010101" pitchFamily="49" charset="-122"/>
              </a:rPr>
              <a:t>1</a:t>
            </a:r>
            <a:r>
              <a:rPr lang="zh-CN" altLang="en-US" sz="2000" b="1" dirty="0">
                <a:ea typeface="楷体" panose="02010609060101010101" pitchFamily="49" charset="-122"/>
              </a:rPr>
              <a:t>、</a:t>
            </a:r>
            <a:r>
              <a:rPr lang="en-US" altLang="zh-CN" sz="2000" b="1" dirty="0">
                <a:ea typeface="楷体" panose="02010609060101010101" pitchFamily="49" charset="-122"/>
              </a:rPr>
              <a:t>5</a:t>
            </a:r>
            <a:r>
              <a:rPr lang="zh-CN" altLang="en-US" sz="2000" b="1" dirty="0">
                <a:ea typeface="楷体" panose="02010609060101010101" pitchFamily="49" charset="-122"/>
              </a:rPr>
              <a:t>，分配给该作业的物理块数为</a:t>
            </a:r>
            <a:r>
              <a:rPr lang="en-US" altLang="zh-CN" sz="2000" b="1" dirty="0">
                <a:ea typeface="楷体" panose="02010609060101010101" pitchFamily="49" charset="-122"/>
              </a:rPr>
              <a:t>3</a:t>
            </a:r>
            <a:r>
              <a:rPr lang="zh-CN" altLang="en-US" sz="2000" b="1" dirty="0">
                <a:ea typeface="楷体" panose="02010609060101010101" pitchFamily="49" charset="-122"/>
              </a:rPr>
              <a:t>，计算采用最佳算法时的缺页率</a:t>
            </a:r>
          </a:p>
        </p:txBody>
      </p:sp>
      <p:sp>
        <p:nvSpPr>
          <p:cNvPr id="7" name="Oval 4"/>
          <p:cNvSpPr>
            <a:spLocks noChangeArrowheads="1"/>
          </p:cNvSpPr>
          <p:nvPr/>
        </p:nvSpPr>
        <p:spPr bwMode="auto">
          <a:xfrm>
            <a:off x="6851650" y="4293418"/>
            <a:ext cx="431800" cy="431800"/>
          </a:xfrm>
          <a:prstGeom prst="ellipse">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8" name="Text Box 5"/>
          <p:cNvSpPr txBox="1">
            <a:spLocks noChangeArrowheads="1"/>
          </p:cNvSpPr>
          <p:nvPr/>
        </p:nvSpPr>
        <p:spPr bwMode="auto">
          <a:xfrm>
            <a:off x="3492500" y="4293418"/>
            <a:ext cx="4679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4    3    2    1    4    3    5    4    3    2    1    5</a:t>
            </a:r>
          </a:p>
        </p:txBody>
      </p:sp>
      <p:sp>
        <p:nvSpPr>
          <p:cNvPr id="9" name="AutoShape 6"/>
          <p:cNvSpPr>
            <a:spLocks noChangeArrowheads="1"/>
          </p:cNvSpPr>
          <p:nvPr/>
        </p:nvSpPr>
        <p:spPr bwMode="auto">
          <a:xfrm>
            <a:off x="1116013" y="3933056"/>
            <a:ext cx="1871662" cy="1296987"/>
          </a:xfrm>
          <a:prstGeom prst="flowChartMagneticDisk">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0" name="Text Box 7"/>
          <p:cNvSpPr txBox="1">
            <a:spLocks noChangeArrowheads="1"/>
          </p:cNvSpPr>
          <p:nvPr/>
        </p:nvSpPr>
        <p:spPr bwMode="auto">
          <a:xfrm>
            <a:off x="1692275" y="5230043"/>
            <a:ext cx="7921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b="1"/>
              <a:t>主存</a:t>
            </a:r>
          </a:p>
        </p:txBody>
      </p:sp>
      <p:sp>
        <p:nvSpPr>
          <p:cNvPr id="11" name="Rectangle 8"/>
          <p:cNvSpPr>
            <a:spLocks noChangeArrowheads="1"/>
          </p:cNvSpPr>
          <p:nvPr/>
        </p:nvSpPr>
        <p:spPr bwMode="auto">
          <a:xfrm>
            <a:off x="1274763" y="4509318"/>
            <a:ext cx="431800" cy="360363"/>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a:t>4</a:t>
            </a:r>
          </a:p>
        </p:txBody>
      </p:sp>
      <p:sp>
        <p:nvSpPr>
          <p:cNvPr id="12" name="Rectangle 9"/>
          <p:cNvSpPr>
            <a:spLocks noChangeArrowheads="1"/>
          </p:cNvSpPr>
          <p:nvPr/>
        </p:nvSpPr>
        <p:spPr bwMode="auto">
          <a:xfrm>
            <a:off x="1820863" y="4517256"/>
            <a:ext cx="431800" cy="36036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a:t>3</a:t>
            </a:r>
          </a:p>
        </p:txBody>
      </p:sp>
      <p:sp>
        <p:nvSpPr>
          <p:cNvPr id="14" name="Text Box 10"/>
          <p:cNvSpPr txBox="1">
            <a:spLocks noChangeArrowheads="1"/>
          </p:cNvSpPr>
          <p:nvPr/>
        </p:nvSpPr>
        <p:spPr bwMode="auto">
          <a:xfrm>
            <a:off x="3476625" y="4580756"/>
            <a:ext cx="3587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b="1">
                <a:solidFill>
                  <a:srgbClr val="FF3300"/>
                </a:solidFill>
                <a:sym typeface="Symbol" panose="05050102010706020507" pitchFamily="18" charset="2"/>
              </a:rPr>
              <a:t></a:t>
            </a:r>
          </a:p>
        </p:txBody>
      </p:sp>
      <p:sp>
        <p:nvSpPr>
          <p:cNvPr id="15" name="Text Box 11"/>
          <p:cNvSpPr txBox="1">
            <a:spLocks noChangeArrowheads="1"/>
          </p:cNvSpPr>
          <p:nvPr/>
        </p:nvSpPr>
        <p:spPr bwMode="auto">
          <a:xfrm>
            <a:off x="3836988" y="4574406"/>
            <a:ext cx="3587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b="1">
                <a:solidFill>
                  <a:srgbClr val="FF3300"/>
                </a:solidFill>
                <a:sym typeface="Symbol" panose="05050102010706020507" pitchFamily="18" charset="2"/>
              </a:rPr>
              <a:t></a:t>
            </a:r>
          </a:p>
        </p:txBody>
      </p:sp>
      <p:sp>
        <p:nvSpPr>
          <p:cNvPr id="16" name="Text Box 12"/>
          <p:cNvSpPr txBox="1">
            <a:spLocks noChangeArrowheads="1"/>
          </p:cNvSpPr>
          <p:nvPr/>
        </p:nvSpPr>
        <p:spPr bwMode="auto">
          <a:xfrm>
            <a:off x="4221163" y="4580756"/>
            <a:ext cx="3587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b="1">
                <a:solidFill>
                  <a:srgbClr val="FF3300"/>
                </a:solidFill>
                <a:sym typeface="Symbol" panose="05050102010706020507" pitchFamily="18" charset="2"/>
              </a:rPr>
              <a:t></a:t>
            </a:r>
          </a:p>
        </p:txBody>
      </p:sp>
      <p:sp>
        <p:nvSpPr>
          <p:cNvPr id="17" name="Text Box 13"/>
          <p:cNvSpPr txBox="1">
            <a:spLocks noChangeArrowheads="1"/>
          </p:cNvSpPr>
          <p:nvPr/>
        </p:nvSpPr>
        <p:spPr bwMode="auto">
          <a:xfrm>
            <a:off x="4605338" y="4580756"/>
            <a:ext cx="3587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b="1">
                <a:solidFill>
                  <a:srgbClr val="FF3300"/>
                </a:solidFill>
                <a:sym typeface="Symbol" panose="05050102010706020507" pitchFamily="18" charset="2"/>
              </a:rPr>
              <a:t></a:t>
            </a:r>
          </a:p>
        </p:txBody>
      </p:sp>
      <p:sp>
        <p:nvSpPr>
          <p:cNvPr id="18" name="Rectangle 14"/>
          <p:cNvSpPr>
            <a:spLocks noChangeArrowheads="1"/>
          </p:cNvSpPr>
          <p:nvPr/>
        </p:nvSpPr>
        <p:spPr bwMode="auto">
          <a:xfrm>
            <a:off x="2379663" y="4509318"/>
            <a:ext cx="431800" cy="360363"/>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a:t>5</a:t>
            </a:r>
          </a:p>
        </p:txBody>
      </p:sp>
      <p:sp>
        <p:nvSpPr>
          <p:cNvPr id="19" name="Text Box 15"/>
          <p:cNvSpPr txBox="1">
            <a:spLocks noChangeArrowheads="1"/>
          </p:cNvSpPr>
          <p:nvPr/>
        </p:nvSpPr>
        <p:spPr bwMode="auto">
          <a:xfrm>
            <a:off x="5765800" y="4556943"/>
            <a:ext cx="3587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b="1">
                <a:solidFill>
                  <a:srgbClr val="FF3300"/>
                </a:solidFill>
                <a:sym typeface="Symbol" panose="05050102010706020507" pitchFamily="18" charset="2"/>
              </a:rPr>
              <a:t></a:t>
            </a:r>
          </a:p>
        </p:txBody>
      </p:sp>
      <p:sp>
        <p:nvSpPr>
          <p:cNvPr id="20" name="Text Box 16"/>
          <p:cNvSpPr txBox="1">
            <a:spLocks noChangeArrowheads="1"/>
          </p:cNvSpPr>
          <p:nvPr/>
        </p:nvSpPr>
        <p:spPr bwMode="auto">
          <a:xfrm>
            <a:off x="6924675" y="4564881"/>
            <a:ext cx="3587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b="1">
                <a:solidFill>
                  <a:srgbClr val="FF3300"/>
                </a:solidFill>
                <a:sym typeface="Symbol" panose="05050102010706020507" pitchFamily="18" charset="2"/>
              </a:rPr>
              <a:t></a:t>
            </a:r>
          </a:p>
        </p:txBody>
      </p:sp>
      <p:sp>
        <p:nvSpPr>
          <p:cNvPr id="21" name="Rectangle 17"/>
          <p:cNvSpPr>
            <a:spLocks noChangeArrowheads="1"/>
          </p:cNvSpPr>
          <p:nvPr/>
        </p:nvSpPr>
        <p:spPr bwMode="auto">
          <a:xfrm>
            <a:off x="1274763" y="4509318"/>
            <a:ext cx="431800" cy="360363"/>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a:t>2</a:t>
            </a:r>
          </a:p>
        </p:txBody>
      </p:sp>
    </p:spTree>
    <p:extLst>
      <p:ext uri="{BB962C8B-B14F-4D97-AF65-F5344CB8AC3E}">
        <p14:creationId xmlns:p14="http://schemas.microsoft.com/office/powerpoint/2010/main" val="732369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xit" presetSubtype="4" fill="hold" grpId="0" nodeType="clickEffect">
                                  <p:stCondLst>
                                    <p:cond delay="0"/>
                                  </p:stCondLst>
                                  <p:childTnLst>
                                    <p:anim calcmode="lin" valueType="num">
                                      <p:cBhvr additive="base">
                                        <p:cTn id="10" dur="500"/>
                                        <p:tgtEl>
                                          <p:spTgt spid="11"/>
                                        </p:tgtEl>
                                        <p:attrNameLst>
                                          <p:attrName>ppt_x</p:attrName>
                                        </p:attrNameLst>
                                      </p:cBhvr>
                                      <p:tavLst>
                                        <p:tav tm="0">
                                          <p:val>
                                            <p:strVal val="ppt_x"/>
                                          </p:val>
                                        </p:tav>
                                        <p:tav tm="100000">
                                          <p:val>
                                            <p:strVal val="ppt_x"/>
                                          </p:val>
                                        </p:tav>
                                      </p:tavLst>
                                    </p:anim>
                                    <p:anim calcmode="lin" valueType="num">
                                      <p:cBhvr additive="base">
                                        <p:cTn id="11" dur="500"/>
                                        <p:tgtEl>
                                          <p:spTgt spid="11"/>
                                        </p:tgtEl>
                                        <p:attrNameLst>
                                          <p:attrName>ppt_y</p:attrName>
                                        </p:attrNameLst>
                                      </p:cBhvr>
                                      <p:tavLst>
                                        <p:tav tm="0">
                                          <p:val>
                                            <p:strVal val="ppt_y"/>
                                          </p:val>
                                        </p:tav>
                                        <p:tav tm="100000">
                                          <p:val>
                                            <p:strVal val="1+ppt_h/2"/>
                                          </p:val>
                                        </p:tav>
                                      </p:tavLst>
                                    </p:anim>
                                    <p:set>
                                      <p:cBhvr>
                                        <p:cTn id="12" dur="1" fill="hold">
                                          <p:stCondLst>
                                            <p:cond delay="499"/>
                                          </p:stCondLst>
                                        </p:cTn>
                                        <p:tgtEl>
                                          <p:spTgt spid="11"/>
                                        </p:tgtEl>
                                        <p:attrNameLst>
                                          <p:attrName>style.visibility</p:attrName>
                                        </p:attrNameLst>
                                      </p:cBhvr>
                                      <p:to>
                                        <p:strVal val="hidden"/>
                                      </p:to>
                                    </p:set>
                                  </p:childTnLst>
                                </p:cTn>
                              </p:par>
                            </p:childTnLst>
                          </p:cTn>
                        </p:par>
                        <p:par>
                          <p:cTn id="13" fill="hold">
                            <p:stCondLst>
                              <p:cond delay="500"/>
                            </p:stCondLst>
                            <p:childTnLst>
                              <p:par>
                                <p:cTn id="14" presetID="2" presetClass="entr" presetSubtype="4" fill="hold" grpId="0" nodeType="afterEffect">
                                  <p:stCondLst>
                                    <p:cond delay="0"/>
                                  </p:stCondLst>
                                  <p:childTnLst>
                                    <p:set>
                                      <p:cBhvr>
                                        <p:cTn id="15" dur="1" fill="hold">
                                          <p:stCondLst>
                                            <p:cond delay="0"/>
                                          </p:stCondLst>
                                        </p:cTn>
                                        <p:tgtEl>
                                          <p:spTgt spid="21"/>
                                        </p:tgtEl>
                                        <p:attrNameLst>
                                          <p:attrName>style.visibility</p:attrName>
                                        </p:attrNameLst>
                                      </p:cBhvr>
                                      <p:to>
                                        <p:strVal val="visible"/>
                                      </p:to>
                                    </p:set>
                                    <p:anim calcmode="lin" valueType="num">
                                      <p:cBhvr additive="base">
                                        <p:cTn id="16" dur="500" fill="hold"/>
                                        <p:tgtEl>
                                          <p:spTgt spid="21"/>
                                        </p:tgtEl>
                                        <p:attrNameLst>
                                          <p:attrName>ppt_x</p:attrName>
                                        </p:attrNameLst>
                                      </p:cBhvr>
                                      <p:tavLst>
                                        <p:tav tm="0">
                                          <p:val>
                                            <p:strVal val="#ppt_x"/>
                                          </p:val>
                                        </p:tav>
                                        <p:tav tm="100000">
                                          <p:val>
                                            <p:strVal val="#ppt_x"/>
                                          </p:val>
                                        </p:tav>
                                      </p:tavLst>
                                    </p:anim>
                                    <p:anim calcmode="lin" valueType="num">
                                      <p:cBhvr additive="base">
                                        <p:cTn id="17"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20" grpId="0"/>
      <p:bldP spid="21" grpId="0" animBg="1"/>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最佳置换算法</a:t>
            </a:r>
          </a:p>
        </p:txBody>
      </p:sp>
      <p:sp>
        <p:nvSpPr>
          <p:cNvPr id="4" name="Date Placeholder 3"/>
          <p:cNvSpPr>
            <a:spLocks noGrp="1"/>
          </p:cNvSpPr>
          <p:nvPr>
            <p:ph type="dt" sz="half" idx="10"/>
          </p:nvPr>
        </p:nvSpPr>
        <p:spPr/>
        <p:txBody>
          <a:bodyPr/>
          <a:lstStyle/>
          <a:p>
            <a:fld id="{DF95BB2C-8467-4415-AA47-A55020F62E10}"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110</a:t>
            </a:fld>
            <a:endParaRPr lang="zh-CN" altLang="en-US" dirty="0"/>
          </a:p>
        </p:txBody>
      </p:sp>
      <p:sp>
        <p:nvSpPr>
          <p:cNvPr id="13" name="Rectangle 12"/>
          <p:cNvSpPr/>
          <p:nvPr/>
        </p:nvSpPr>
        <p:spPr>
          <a:xfrm>
            <a:off x="971600" y="1817793"/>
            <a:ext cx="6768752" cy="1107996"/>
          </a:xfrm>
          <a:prstGeom prst="rect">
            <a:avLst/>
          </a:prstGeom>
        </p:spPr>
        <p:txBody>
          <a:bodyPr wrap="square">
            <a:spAutoFit/>
          </a:bodyPr>
          <a:lstStyle/>
          <a:p>
            <a:pPr marL="755650" lvl="2">
              <a:lnSpc>
                <a:spcPct val="110000"/>
              </a:lnSpc>
            </a:pPr>
            <a:r>
              <a:rPr lang="zh-CN" altLang="en-US" sz="2000" b="1" dirty="0">
                <a:ea typeface="楷体" panose="02010609060101010101" pitchFamily="49" charset="-122"/>
              </a:rPr>
              <a:t>一个作业的页面走向为</a:t>
            </a:r>
            <a:r>
              <a:rPr lang="en-US" altLang="zh-CN" sz="2000" b="1" dirty="0">
                <a:ea typeface="楷体" panose="02010609060101010101" pitchFamily="49" charset="-122"/>
              </a:rPr>
              <a:t>4</a:t>
            </a:r>
            <a:r>
              <a:rPr lang="zh-CN" altLang="en-US" sz="2000" b="1" dirty="0">
                <a:ea typeface="楷体" panose="02010609060101010101" pitchFamily="49" charset="-122"/>
              </a:rPr>
              <a:t>、</a:t>
            </a:r>
            <a:r>
              <a:rPr lang="en-US" altLang="zh-CN" sz="2000" b="1" dirty="0">
                <a:ea typeface="楷体" panose="02010609060101010101" pitchFamily="49" charset="-122"/>
              </a:rPr>
              <a:t>3</a:t>
            </a:r>
            <a:r>
              <a:rPr lang="zh-CN" altLang="en-US" sz="2000" b="1" dirty="0">
                <a:ea typeface="楷体" panose="02010609060101010101" pitchFamily="49" charset="-122"/>
              </a:rPr>
              <a:t>、</a:t>
            </a:r>
            <a:r>
              <a:rPr lang="en-US" altLang="zh-CN" sz="2000" b="1" dirty="0">
                <a:ea typeface="楷体" panose="02010609060101010101" pitchFamily="49" charset="-122"/>
              </a:rPr>
              <a:t>2</a:t>
            </a:r>
            <a:r>
              <a:rPr lang="zh-CN" altLang="en-US" sz="2000" b="1" dirty="0">
                <a:ea typeface="楷体" panose="02010609060101010101" pitchFamily="49" charset="-122"/>
              </a:rPr>
              <a:t>、</a:t>
            </a:r>
            <a:r>
              <a:rPr lang="en-US" altLang="zh-CN" sz="2000" b="1" dirty="0">
                <a:ea typeface="楷体" panose="02010609060101010101" pitchFamily="49" charset="-122"/>
              </a:rPr>
              <a:t>1</a:t>
            </a:r>
            <a:r>
              <a:rPr lang="zh-CN" altLang="en-US" sz="2000" b="1" dirty="0">
                <a:ea typeface="楷体" panose="02010609060101010101" pitchFamily="49" charset="-122"/>
              </a:rPr>
              <a:t>、</a:t>
            </a:r>
            <a:r>
              <a:rPr lang="en-US" altLang="zh-CN" sz="2000" b="1" dirty="0">
                <a:ea typeface="楷体" panose="02010609060101010101" pitchFamily="49" charset="-122"/>
              </a:rPr>
              <a:t>4</a:t>
            </a:r>
            <a:r>
              <a:rPr lang="zh-CN" altLang="en-US" sz="2000" b="1" dirty="0">
                <a:ea typeface="楷体" panose="02010609060101010101" pitchFamily="49" charset="-122"/>
              </a:rPr>
              <a:t>、</a:t>
            </a:r>
            <a:r>
              <a:rPr lang="en-US" altLang="zh-CN" sz="2000" b="1" dirty="0">
                <a:ea typeface="楷体" panose="02010609060101010101" pitchFamily="49" charset="-122"/>
              </a:rPr>
              <a:t>3</a:t>
            </a:r>
            <a:r>
              <a:rPr lang="zh-CN" altLang="en-US" sz="2000" b="1" dirty="0">
                <a:ea typeface="楷体" panose="02010609060101010101" pitchFamily="49" charset="-122"/>
              </a:rPr>
              <a:t>、</a:t>
            </a:r>
            <a:r>
              <a:rPr lang="en-US" altLang="zh-CN" sz="2000" b="1" dirty="0">
                <a:ea typeface="楷体" panose="02010609060101010101" pitchFamily="49" charset="-122"/>
              </a:rPr>
              <a:t>5</a:t>
            </a:r>
            <a:r>
              <a:rPr lang="zh-CN" altLang="en-US" sz="2000" b="1" dirty="0">
                <a:ea typeface="楷体" panose="02010609060101010101" pitchFamily="49" charset="-122"/>
              </a:rPr>
              <a:t>、</a:t>
            </a:r>
            <a:r>
              <a:rPr lang="en-US" altLang="zh-CN" sz="2000" b="1" dirty="0">
                <a:ea typeface="楷体" panose="02010609060101010101" pitchFamily="49" charset="-122"/>
              </a:rPr>
              <a:t>4</a:t>
            </a:r>
            <a:r>
              <a:rPr lang="zh-CN" altLang="en-US" sz="2000" b="1" dirty="0">
                <a:ea typeface="楷体" panose="02010609060101010101" pitchFamily="49" charset="-122"/>
              </a:rPr>
              <a:t>、</a:t>
            </a:r>
            <a:r>
              <a:rPr lang="en-US" altLang="zh-CN" sz="2000" b="1" dirty="0">
                <a:ea typeface="楷体" panose="02010609060101010101" pitchFamily="49" charset="-122"/>
              </a:rPr>
              <a:t>3</a:t>
            </a:r>
            <a:r>
              <a:rPr lang="zh-CN" altLang="en-US" sz="2000" b="1" dirty="0">
                <a:ea typeface="楷体" panose="02010609060101010101" pitchFamily="49" charset="-122"/>
              </a:rPr>
              <a:t>、</a:t>
            </a:r>
            <a:r>
              <a:rPr lang="en-US" altLang="zh-CN" sz="2000" b="1" dirty="0">
                <a:ea typeface="楷体" panose="02010609060101010101" pitchFamily="49" charset="-122"/>
              </a:rPr>
              <a:t>2</a:t>
            </a:r>
            <a:r>
              <a:rPr lang="zh-CN" altLang="en-US" sz="2000" b="1" dirty="0">
                <a:ea typeface="楷体" panose="02010609060101010101" pitchFamily="49" charset="-122"/>
              </a:rPr>
              <a:t>、</a:t>
            </a:r>
            <a:r>
              <a:rPr lang="en-US" altLang="zh-CN" sz="2000" b="1" dirty="0">
                <a:ea typeface="楷体" panose="02010609060101010101" pitchFamily="49" charset="-122"/>
              </a:rPr>
              <a:t>1</a:t>
            </a:r>
            <a:r>
              <a:rPr lang="zh-CN" altLang="en-US" sz="2000" b="1" dirty="0">
                <a:ea typeface="楷体" panose="02010609060101010101" pitchFamily="49" charset="-122"/>
              </a:rPr>
              <a:t>、</a:t>
            </a:r>
            <a:r>
              <a:rPr lang="en-US" altLang="zh-CN" sz="2000" b="1" dirty="0">
                <a:ea typeface="楷体" panose="02010609060101010101" pitchFamily="49" charset="-122"/>
              </a:rPr>
              <a:t>5</a:t>
            </a:r>
            <a:r>
              <a:rPr lang="zh-CN" altLang="en-US" sz="2000" b="1" dirty="0">
                <a:ea typeface="楷体" panose="02010609060101010101" pitchFamily="49" charset="-122"/>
              </a:rPr>
              <a:t>，分配给该作业的物理块数为</a:t>
            </a:r>
            <a:r>
              <a:rPr lang="en-US" altLang="zh-CN" sz="2000" b="1" dirty="0">
                <a:ea typeface="楷体" panose="02010609060101010101" pitchFamily="49" charset="-122"/>
              </a:rPr>
              <a:t>3</a:t>
            </a:r>
            <a:r>
              <a:rPr lang="zh-CN" altLang="en-US" sz="2000" b="1" dirty="0">
                <a:ea typeface="楷体" panose="02010609060101010101" pitchFamily="49" charset="-122"/>
              </a:rPr>
              <a:t>，计算采用最佳算法时的缺页率</a:t>
            </a:r>
          </a:p>
        </p:txBody>
      </p:sp>
      <p:sp>
        <p:nvSpPr>
          <p:cNvPr id="7" name="Oval 4"/>
          <p:cNvSpPr>
            <a:spLocks noChangeArrowheads="1"/>
          </p:cNvSpPr>
          <p:nvPr/>
        </p:nvSpPr>
        <p:spPr bwMode="auto">
          <a:xfrm>
            <a:off x="7235825" y="4293418"/>
            <a:ext cx="431800" cy="431800"/>
          </a:xfrm>
          <a:prstGeom prst="ellipse">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8" name="Text Box 5"/>
          <p:cNvSpPr txBox="1">
            <a:spLocks noChangeArrowheads="1"/>
          </p:cNvSpPr>
          <p:nvPr/>
        </p:nvSpPr>
        <p:spPr bwMode="auto">
          <a:xfrm>
            <a:off x="3492500" y="4293418"/>
            <a:ext cx="4679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4    3    2    1    4    3    5    4    3    2    1    5</a:t>
            </a:r>
          </a:p>
        </p:txBody>
      </p:sp>
      <p:sp>
        <p:nvSpPr>
          <p:cNvPr id="9" name="AutoShape 6"/>
          <p:cNvSpPr>
            <a:spLocks noChangeArrowheads="1"/>
          </p:cNvSpPr>
          <p:nvPr/>
        </p:nvSpPr>
        <p:spPr bwMode="auto">
          <a:xfrm>
            <a:off x="1116013" y="3933056"/>
            <a:ext cx="1871662" cy="1296987"/>
          </a:xfrm>
          <a:prstGeom prst="flowChartMagneticDisk">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0" name="Text Box 7"/>
          <p:cNvSpPr txBox="1">
            <a:spLocks noChangeArrowheads="1"/>
          </p:cNvSpPr>
          <p:nvPr/>
        </p:nvSpPr>
        <p:spPr bwMode="auto">
          <a:xfrm>
            <a:off x="1692275" y="5230043"/>
            <a:ext cx="7921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b="1"/>
              <a:t>主存</a:t>
            </a:r>
          </a:p>
        </p:txBody>
      </p:sp>
      <p:sp>
        <p:nvSpPr>
          <p:cNvPr id="11" name="Rectangle 9"/>
          <p:cNvSpPr>
            <a:spLocks noChangeArrowheads="1"/>
          </p:cNvSpPr>
          <p:nvPr/>
        </p:nvSpPr>
        <p:spPr bwMode="auto">
          <a:xfrm>
            <a:off x="1820863" y="4517256"/>
            <a:ext cx="431800" cy="36036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a:t>3</a:t>
            </a:r>
          </a:p>
        </p:txBody>
      </p:sp>
      <p:sp>
        <p:nvSpPr>
          <p:cNvPr id="12" name="Text Box 10"/>
          <p:cNvSpPr txBox="1">
            <a:spLocks noChangeArrowheads="1"/>
          </p:cNvSpPr>
          <p:nvPr/>
        </p:nvSpPr>
        <p:spPr bwMode="auto">
          <a:xfrm>
            <a:off x="3476625" y="4580756"/>
            <a:ext cx="3587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b="1">
                <a:solidFill>
                  <a:srgbClr val="FF3300"/>
                </a:solidFill>
                <a:sym typeface="Symbol" panose="05050102010706020507" pitchFamily="18" charset="2"/>
              </a:rPr>
              <a:t></a:t>
            </a:r>
          </a:p>
        </p:txBody>
      </p:sp>
      <p:sp>
        <p:nvSpPr>
          <p:cNvPr id="14" name="Text Box 11"/>
          <p:cNvSpPr txBox="1">
            <a:spLocks noChangeArrowheads="1"/>
          </p:cNvSpPr>
          <p:nvPr/>
        </p:nvSpPr>
        <p:spPr bwMode="auto">
          <a:xfrm>
            <a:off x="3836988" y="4574406"/>
            <a:ext cx="3587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b="1">
                <a:solidFill>
                  <a:srgbClr val="FF3300"/>
                </a:solidFill>
                <a:sym typeface="Symbol" panose="05050102010706020507" pitchFamily="18" charset="2"/>
              </a:rPr>
              <a:t></a:t>
            </a:r>
          </a:p>
        </p:txBody>
      </p:sp>
      <p:sp>
        <p:nvSpPr>
          <p:cNvPr id="15" name="Text Box 12"/>
          <p:cNvSpPr txBox="1">
            <a:spLocks noChangeArrowheads="1"/>
          </p:cNvSpPr>
          <p:nvPr/>
        </p:nvSpPr>
        <p:spPr bwMode="auto">
          <a:xfrm>
            <a:off x="4221163" y="4580756"/>
            <a:ext cx="3587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b="1">
                <a:solidFill>
                  <a:srgbClr val="FF3300"/>
                </a:solidFill>
                <a:sym typeface="Symbol" panose="05050102010706020507" pitchFamily="18" charset="2"/>
              </a:rPr>
              <a:t></a:t>
            </a:r>
          </a:p>
        </p:txBody>
      </p:sp>
      <p:sp>
        <p:nvSpPr>
          <p:cNvPr id="16" name="Text Box 13"/>
          <p:cNvSpPr txBox="1">
            <a:spLocks noChangeArrowheads="1"/>
          </p:cNvSpPr>
          <p:nvPr/>
        </p:nvSpPr>
        <p:spPr bwMode="auto">
          <a:xfrm>
            <a:off x="4605338" y="4580756"/>
            <a:ext cx="3587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b="1">
                <a:solidFill>
                  <a:srgbClr val="FF3300"/>
                </a:solidFill>
                <a:sym typeface="Symbol" panose="05050102010706020507" pitchFamily="18" charset="2"/>
              </a:rPr>
              <a:t></a:t>
            </a:r>
          </a:p>
        </p:txBody>
      </p:sp>
      <p:sp>
        <p:nvSpPr>
          <p:cNvPr id="17" name="Rectangle 14"/>
          <p:cNvSpPr>
            <a:spLocks noChangeArrowheads="1"/>
          </p:cNvSpPr>
          <p:nvPr/>
        </p:nvSpPr>
        <p:spPr bwMode="auto">
          <a:xfrm>
            <a:off x="2379663" y="4509318"/>
            <a:ext cx="431800" cy="360363"/>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a:t>5</a:t>
            </a:r>
          </a:p>
        </p:txBody>
      </p:sp>
      <p:sp>
        <p:nvSpPr>
          <p:cNvPr id="18" name="Text Box 15"/>
          <p:cNvSpPr txBox="1">
            <a:spLocks noChangeArrowheads="1"/>
          </p:cNvSpPr>
          <p:nvPr/>
        </p:nvSpPr>
        <p:spPr bwMode="auto">
          <a:xfrm>
            <a:off x="5765800" y="4556943"/>
            <a:ext cx="3587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b="1">
                <a:solidFill>
                  <a:srgbClr val="FF3300"/>
                </a:solidFill>
                <a:sym typeface="Symbol" panose="05050102010706020507" pitchFamily="18" charset="2"/>
              </a:rPr>
              <a:t></a:t>
            </a:r>
          </a:p>
        </p:txBody>
      </p:sp>
      <p:sp>
        <p:nvSpPr>
          <p:cNvPr id="19" name="Text Box 16"/>
          <p:cNvSpPr txBox="1">
            <a:spLocks noChangeArrowheads="1"/>
          </p:cNvSpPr>
          <p:nvPr/>
        </p:nvSpPr>
        <p:spPr bwMode="auto">
          <a:xfrm>
            <a:off x="6924675" y="4564881"/>
            <a:ext cx="3587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b="1">
                <a:solidFill>
                  <a:srgbClr val="FF3300"/>
                </a:solidFill>
                <a:sym typeface="Symbol" panose="05050102010706020507" pitchFamily="18" charset="2"/>
              </a:rPr>
              <a:t></a:t>
            </a:r>
          </a:p>
        </p:txBody>
      </p:sp>
      <p:sp>
        <p:nvSpPr>
          <p:cNvPr id="20" name="Rectangle 19"/>
          <p:cNvSpPr>
            <a:spLocks noChangeArrowheads="1"/>
          </p:cNvSpPr>
          <p:nvPr/>
        </p:nvSpPr>
        <p:spPr bwMode="auto">
          <a:xfrm>
            <a:off x="1274763" y="4509318"/>
            <a:ext cx="431800" cy="360363"/>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a:t>2</a:t>
            </a:r>
          </a:p>
        </p:txBody>
      </p:sp>
      <p:sp>
        <p:nvSpPr>
          <p:cNvPr id="21" name="Text Box 20"/>
          <p:cNvSpPr txBox="1">
            <a:spLocks noChangeArrowheads="1"/>
          </p:cNvSpPr>
          <p:nvPr/>
        </p:nvSpPr>
        <p:spPr bwMode="auto">
          <a:xfrm>
            <a:off x="7292975" y="4564881"/>
            <a:ext cx="3587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b="1">
                <a:solidFill>
                  <a:srgbClr val="FF3300"/>
                </a:solidFill>
                <a:sym typeface="Symbol" panose="05050102010706020507" pitchFamily="18" charset="2"/>
              </a:rPr>
              <a:t></a:t>
            </a:r>
          </a:p>
        </p:txBody>
      </p:sp>
      <p:sp>
        <p:nvSpPr>
          <p:cNvPr id="22" name="Rectangle 21"/>
          <p:cNvSpPr>
            <a:spLocks noChangeArrowheads="1"/>
          </p:cNvSpPr>
          <p:nvPr/>
        </p:nvSpPr>
        <p:spPr bwMode="auto">
          <a:xfrm>
            <a:off x="1819275" y="4518843"/>
            <a:ext cx="431800" cy="360363"/>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a:t>1</a:t>
            </a:r>
          </a:p>
        </p:txBody>
      </p:sp>
    </p:spTree>
    <p:extLst>
      <p:ext uri="{BB962C8B-B14F-4D97-AF65-F5344CB8AC3E}">
        <p14:creationId xmlns:p14="http://schemas.microsoft.com/office/powerpoint/2010/main" val="3108251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xit" presetSubtype="4" fill="hold" grpId="0" nodeType="clickEffect">
                                  <p:stCondLst>
                                    <p:cond delay="0"/>
                                  </p:stCondLst>
                                  <p:childTnLst>
                                    <p:anim calcmode="lin" valueType="num">
                                      <p:cBhvr additive="base">
                                        <p:cTn id="10" dur="500"/>
                                        <p:tgtEl>
                                          <p:spTgt spid="11"/>
                                        </p:tgtEl>
                                        <p:attrNameLst>
                                          <p:attrName>ppt_x</p:attrName>
                                        </p:attrNameLst>
                                      </p:cBhvr>
                                      <p:tavLst>
                                        <p:tav tm="0">
                                          <p:val>
                                            <p:strVal val="ppt_x"/>
                                          </p:val>
                                        </p:tav>
                                        <p:tav tm="100000">
                                          <p:val>
                                            <p:strVal val="ppt_x"/>
                                          </p:val>
                                        </p:tav>
                                      </p:tavLst>
                                    </p:anim>
                                    <p:anim calcmode="lin" valueType="num">
                                      <p:cBhvr additive="base">
                                        <p:cTn id="11" dur="500"/>
                                        <p:tgtEl>
                                          <p:spTgt spid="11"/>
                                        </p:tgtEl>
                                        <p:attrNameLst>
                                          <p:attrName>ppt_y</p:attrName>
                                        </p:attrNameLst>
                                      </p:cBhvr>
                                      <p:tavLst>
                                        <p:tav tm="0">
                                          <p:val>
                                            <p:strVal val="ppt_y"/>
                                          </p:val>
                                        </p:tav>
                                        <p:tav tm="100000">
                                          <p:val>
                                            <p:strVal val="1+ppt_h/2"/>
                                          </p:val>
                                        </p:tav>
                                      </p:tavLst>
                                    </p:anim>
                                    <p:set>
                                      <p:cBhvr>
                                        <p:cTn id="12" dur="1" fill="hold">
                                          <p:stCondLst>
                                            <p:cond delay="499"/>
                                          </p:stCondLst>
                                        </p:cTn>
                                        <p:tgtEl>
                                          <p:spTgt spid="11"/>
                                        </p:tgtEl>
                                        <p:attrNameLst>
                                          <p:attrName>style.visibility</p:attrName>
                                        </p:attrNameLst>
                                      </p:cBhvr>
                                      <p:to>
                                        <p:strVal val="hidden"/>
                                      </p:to>
                                    </p:set>
                                  </p:childTnLst>
                                </p:cTn>
                              </p:par>
                            </p:childTnLst>
                          </p:cTn>
                        </p:par>
                        <p:par>
                          <p:cTn id="13" fill="hold">
                            <p:stCondLst>
                              <p:cond delay="500"/>
                            </p:stCondLst>
                            <p:childTnLst>
                              <p:par>
                                <p:cTn id="14" presetID="2" presetClass="entr" presetSubtype="4" fill="hold" grpId="0" nodeType="afterEffect">
                                  <p:stCondLst>
                                    <p:cond delay="0"/>
                                  </p:stCondLst>
                                  <p:childTnLst>
                                    <p:set>
                                      <p:cBhvr>
                                        <p:cTn id="15" dur="1" fill="hold">
                                          <p:stCondLst>
                                            <p:cond delay="0"/>
                                          </p:stCondLst>
                                        </p:cTn>
                                        <p:tgtEl>
                                          <p:spTgt spid="22"/>
                                        </p:tgtEl>
                                        <p:attrNameLst>
                                          <p:attrName>style.visibility</p:attrName>
                                        </p:attrNameLst>
                                      </p:cBhvr>
                                      <p:to>
                                        <p:strVal val="visible"/>
                                      </p:to>
                                    </p:set>
                                    <p:anim calcmode="lin" valueType="num">
                                      <p:cBhvr additive="base">
                                        <p:cTn id="16" dur="500" fill="hold"/>
                                        <p:tgtEl>
                                          <p:spTgt spid="22"/>
                                        </p:tgtEl>
                                        <p:attrNameLst>
                                          <p:attrName>ppt_x</p:attrName>
                                        </p:attrNameLst>
                                      </p:cBhvr>
                                      <p:tavLst>
                                        <p:tav tm="0">
                                          <p:val>
                                            <p:strVal val="#ppt_x"/>
                                          </p:val>
                                        </p:tav>
                                        <p:tav tm="100000">
                                          <p:val>
                                            <p:strVal val="#ppt_x"/>
                                          </p:val>
                                        </p:tav>
                                      </p:tavLst>
                                    </p:anim>
                                    <p:anim calcmode="lin" valueType="num">
                                      <p:cBhvr additive="base">
                                        <p:cTn id="17"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21" grpId="0"/>
      <p:bldP spid="22" grpId="0" animBg="1"/>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最佳置换算法</a:t>
            </a:r>
          </a:p>
        </p:txBody>
      </p:sp>
      <p:sp>
        <p:nvSpPr>
          <p:cNvPr id="4" name="Date Placeholder 3"/>
          <p:cNvSpPr>
            <a:spLocks noGrp="1"/>
          </p:cNvSpPr>
          <p:nvPr>
            <p:ph type="dt" sz="half" idx="10"/>
          </p:nvPr>
        </p:nvSpPr>
        <p:spPr/>
        <p:txBody>
          <a:bodyPr/>
          <a:lstStyle/>
          <a:p>
            <a:fld id="{79235E5B-81BD-4A2A-A805-31B73A31FE8C}"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111</a:t>
            </a:fld>
            <a:endParaRPr lang="zh-CN" altLang="en-US" dirty="0"/>
          </a:p>
        </p:txBody>
      </p:sp>
      <p:sp>
        <p:nvSpPr>
          <p:cNvPr id="13" name="Rectangle 12"/>
          <p:cNvSpPr/>
          <p:nvPr/>
        </p:nvSpPr>
        <p:spPr>
          <a:xfrm>
            <a:off x="971600" y="1817793"/>
            <a:ext cx="6768752" cy="1107996"/>
          </a:xfrm>
          <a:prstGeom prst="rect">
            <a:avLst/>
          </a:prstGeom>
        </p:spPr>
        <p:txBody>
          <a:bodyPr wrap="square">
            <a:spAutoFit/>
          </a:bodyPr>
          <a:lstStyle/>
          <a:p>
            <a:pPr marL="755650" lvl="2">
              <a:lnSpc>
                <a:spcPct val="110000"/>
              </a:lnSpc>
            </a:pPr>
            <a:r>
              <a:rPr lang="zh-CN" altLang="en-US" sz="2000" b="1" dirty="0">
                <a:ea typeface="楷体" panose="02010609060101010101" pitchFamily="49" charset="-122"/>
              </a:rPr>
              <a:t>一个作业的页面走向为</a:t>
            </a:r>
            <a:r>
              <a:rPr lang="en-US" altLang="zh-CN" sz="2000" b="1" dirty="0">
                <a:ea typeface="楷体" panose="02010609060101010101" pitchFamily="49" charset="-122"/>
              </a:rPr>
              <a:t>4</a:t>
            </a:r>
            <a:r>
              <a:rPr lang="zh-CN" altLang="en-US" sz="2000" b="1" dirty="0">
                <a:ea typeface="楷体" panose="02010609060101010101" pitchFamily="49" charset="-122"/>
              </a:rPr>
              <a:t>、</a:t>
            </a:r>
            <a:r>
              <a:rPr lang="en-US" altLang="zh-CN" sz="2000" b="1" dirty="0">
                <a:ea typeface="楷体" panose="02010609060101010101" pitchFamily="49" charset="-122"/>
              </a:rPr>
              <a:t>3</a:t>
            </a:r>
            <a:r>
              <a:rPr lang="zh-CN" altLang="en-US" sz="2000" b="1" dirty="0">
                <a:ea typeface="楷体" panose="02010609060101010101" pitchFamily="49" charset="-122"/>
              </a:rPr>
              <a:t>、</a:t>
            </a:r>
            <a:r>
              <a:rPr lang="en-US" altLang="zh-CN" sz="2000" b="1" dirty="0">
                <a:ea typeface="楷体" panose="02010609060101010101" pitchFamily="49" charset="-122"/>
              </a:rPr>
              <a:t>2</a:t>
            </a:r>
            <a:r>
              <a:rPr lang="zh-CN" altLang="en-US" sz="2000" b="1" dirty="0">
                <a:ea typeface="楷体" panose="02010609060101010101" pitchFamily="49" charset="-122"/>
              </a:rPr>
              <a:t>、</a:t>
            </a:r>
            <a:r>
              <a:rPr lang="en-US" altLang="zh-CN" sz="2000" b="1" dirty="0">
                <a:ea typeface="楷体" panose="02010609060101010101" pitchFamily="49" charset="-122"/>
              </a:rPr>
              <a:t>1</a:t>
            </a:r>
            <a:r>
              <a:rPr lang="zh-CN" altLang="en-US" sz="2000" b="1" dirty="0">
                <a:ea typeface="楷体" panose="02010609060101010101" pitchFamily="49" charset="-122"/>
              </a:rPr>
              <a:t>、</a:t>
            </a:r>
            <a:r>
              <a:rPr lang="en-US" altLang="zh-CN" sz="2000" b="1" dirty="0">
                <a:ea typeface="楷体" panose="02010609060101010101" pitchFamily="49" charset="-122"/>
              </a:rPr>
              <a:t>4</a:t>
            </a:r>
            <a:r>
              <a:rPr lang="zh-CN" altLang="en-US" sz="2000" b="1" dirty="0">
                <a:ea typeface="楷体" panose="02010609060101010101" pitchFamily="49" charset="-122"/>
              </a:rPr>
              <a:t>、</a:t>
            </a:r>
            <a:r>
              <a:rPr lang="en-US" altLang="zh-CN" sz="2000" b="1" dirty="0">
                <a:ea typeface="楷体" panose="02010609060101010101" pitchFamily="49" charset="-122"/>
              </a:rPr>
              <a:t>3</a:t>
            </a:r>
            <a:r>
              <a:rPr lang="zh-CN" altLang="en-US" sz="2000" b="1" dirty="0">
                <a:ea typeface="楷体" panose="02010609060101010101" pitchFamily="49" charset="-122"/>
              </a:rPr>
              <a:t>、</a:t>
            </a:r>
            <a:r>
              <a:rPr lang="en-US" altLang="zh-CN" sz="2000" b="1" dirty="0">
                <a:ea typeface="楷体" panose="02010609060101010101" pitchFamily="49" charset="-122"/>
              </a:rPr>
              <a:t>5</a:t>
            </a:r>
            <a:r>
              <a:rPr lang="zh-CN" altLang="en-US" sz="2000" b="1" dirty="0">
                <a:ea typeface="楷体" panose="02010609060101010101" pitchFamily="49" charset="-122"/>
              </a:rPr>
              <a:t>、</a:t>
            </a:r>
            <a:r>
              <a:rPr lang="en-US" altLang="zh-CN" sz="2000" b="1" dirty="0">
                <a:ea typeface="楷体" panose="02010609060101010101" pitchFamily="49" charset="-122"/>
              </a:rPr>
              <a:t>4</a:t>
            </a:r>
            <a:r>
              <a:rPr lang="zh-CN" altLang="en-US" sz="2000" b="1" dirty="0">
                <a:ea typeface="楷体" panose="02010609060101010101" pitchFamily="49" charset="-122"/>
              </a:rPr>
              <a:t>、</a:t>
            </a:r>
            <a:r>
              <a:rPr lang="en-US" altLang="zh-CN" sz="2000" b="1" dirty="0">
                <a:ea typeface="楷体" panose="02010609060101010101" pitchFamily="49" charset="-122"/>
              </a:rPr>
              <a:t>3</a:t>
            </a:r>
            <a:r>
              <a:rPr lang="zh-CN" altLang="en-US" sz="2000" b="1" dirty="0">
                <a:ea typeface="楷体" panose="02010609060101010101" pitchFamily="49" charset="-122"/>
              </a:rPr>
              <a:t>、</a:t>
            </a:r>
            <a:r>
              <a:rPr lang="en-US" altLang="zh-CN" sz="2000" b="1" dirty="0">
                <a:ea typeface="楷体" panose="02010609060101010101" pitchFamily="49" charset="-122"/>
              </a:rPr>
              <a:t>2</a:t>
            </a:r>
            <a:r>
              <a:rPr lang="zh-CN" altLang="en-US" sz="2000" b="1" dirty="0">
                <a:ea typeface="楷体" panose="02010609060101010101" pitchFamily="49" charset="-122"/>
              </a:rPr>
              <a:t>、</a:t>
            </a:r>
            <a:r>
              <a:rPr lang="en-US" altLang="zh-CN" sz="2000" b="1" dirty="0">
                <a:ea typeface="楷体" panose="02010609060101010101" pitchFamily="49" charset="-122"/>
              </a:rPr>
              <a:t>1</a:t>
            </a:r>
            <a:r>
              <a:rPr lang="zh-CN" altLang="en-US" sz="2000" b="1" dirty="0">
                <a:ea typeface="楷体" panose="02010609060101010101" pitchFamily="49" charset="-122"/>
              </a:rPr>
              <a:t>、</a:t>
            </a:r>
            <a:r>
              <a:rPr lang="en-US" altLang="zh-CN" sz="2000" b="1" dirty="0">
                <a:ea typeface="楷体" panose="02010609060101010101" pitchFamily="49" charset="-122"/>
              </a:rPr>
              <a:t>5</a:t>
            </a:r>
            <a:r>
              <a:rPr lang="zh-CN" altLang="en-US" sz="2000" b="1" dirty="0">
                <a:ea typeface="楷体" panose="02010609060101010101" pitchFamily="49" charset="-122"/>
              </a:rPr>
              <a:t>，分配给该作业的物理块数为</a:t>
            </a:r>
            <a:r>
              <a:rPr lang="en-US" altLang="zh-CN" sz="2000" b="1" dirty="0">
                <a:ea typeface="楷体" panose="02010609060101010101" pitchFamily="49" charset="-122"/>
              </a:rPr>
              <a:t>3</a:t>
            </a:r>
            <a:r>
              <a:rPr lang="zh-CN" altLang="en-US" sz="2000" b="1" dirty="0">
                <a:ea typeface="楷体" panose="02010609060101010101" pitchFamily="49" charset="-122"/>
              </a:rPr>
              <a:t>，计算采用最佳算法时的缺页率</a:t>
            </a:r>
          </a:p>
        </p:txBody>
      </p:sp>
      <p:sp>
        <p:nvSpPr>
          <p:cNvPr id="7" name="Oval 4"/>
          <p:cNvSpPr>
            <a:spLocks noChangeArrowheads="1"/>
          </p:cNvSpPr>
          <p:nvPr/>
        </p:nvSpPr>
        <p:spPr bwMode="auto">
          <a:xfrm>
            <a:off x="7612063" y="4293418"/>
            <a:ext cx="431800" cy="431800"/>
          </a:xfrm>
          <a:prstGeom prst="ellipse">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8" name="Text Box 5"/>
          <p:cNvSpPr txBox="1">
            <a:spLocks noChangeArrowheads="1"/>
          </p:cNvSpPr>
          <p:nvPr/>
        </p:nvSpPr>
        <p:spPr bwMode="auto">
          <a:xfrm>
            <a:off x="3492500" y="4293418"/>
            <a:ext cx="4679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4    3    2    1    4    3    5    4    3    2    1    5</a:t>
            </a:r>
          </a:p>
        </p:txBody>
      </p:sp>
      <p:sp>
        <p:nvSpPr>
          <p:cNvPr id="9" name="AutoShape 6"/>
          <p:cNvSpPr>
            <a:spLocks noChangeArrowheads="1"/>
          </p:cNvSpPr>
          <p:nvPr/>
        </p:nvSpPr>
        <p:spPr bwMode="auto">
          <a:xfrm>
            <a:off x="1116013" y="3933056"/>
            <a:ext cx="1871662" cy="1296987"/>
          </a:xfrm>
          <a:prstGeom prst="flowChartMagneticDisk">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0" name="Text Box 7"/>
          <p:cNvSpPr txBox="1">
            <a:spLocks noChangeArrowheads="1"/>
          </p:cNvSpPr>
          <p:nvPr/>
        </p:nvSpPr>
        <p:spPr bwMode="auto">
          <a:xfrm>
            <a:off x="1692275" y="5230043"/>
            <a:ext cx="7921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b="1"/>
              <a:t>主存</a:t>
            </a:r>
          </a:p>
        </p:txBody>
      </p:sp>
      <p:sp>
        <p:nvSpPr>
          <p:cNvPr id="11" name="Text Box 9"/>
          <p:cNvSpPr txBox="1">
            <a:spLocks noChangeArrowheads="1"/>
          </p:cNvSpPr>
          <p:nvPr/>
        </p:nvSpPr>
        <p:spPr bwMode="auto">
          <a:xfrm>
            <a:off x="3476625" y="4580756"/>
            <a:ext cx="3587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b="1">
                <a:solidFill>
                  <a:srgbClr val="FF3300"/>
                </a:solidFill>
                <a:sym typeface="Symbol" panose="05050102010706020507" pitchFamily="18" charset="2"/>
              </a:rPr>
              <a:t></a:t>
            </a:r>
          </a:p>
        </p:txBody>
      </p:sp>
      <p:sp>
        <p:nvSpPr>
          <p:cNvPr id="12" name="Text Box 10"/>
          <p:cNvSpPr txBox="1">
            <a:spLocks noChangeArrowheads="1"/>
          </p:cNvSpPr>
          <p:nvPr/>
        </p:nvSpPr>
        <p:spPr bwMode="auto">
          <a:xfrm>
            <a:off x="3836988" y="4574406"/>
            <a:ext cx="3587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b="1">
                <a:solidFill>
                  <a:srgbClr val="FF3300"/>
                </a:solidFill>
                <a:sym typeface="Symbol" panose="05050102010706020507" pitchFamily="18" charset="2"/>
              </a:rPr>
              <a:t></a:t>
            </a:r>
          </a:p>
        </p:txBody>
      </p:sp>
      <p:sp>
        <p:nvSpPr>
          <p:cNvPr id="14" name="Text Box 11"/>
          <p:cNvSpPr txBox="1">
            <a:spLocks noChangeArrowheads="1"/>
          </p:cNvSpPr>
          <p:nvPr/>
        </p:nvSpPr>
        <p:spPr bwMode="auto">
          <a:xfrm>
            <a:off x="4221163" y="4580756"/>
            <a:ext cx="3587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b="1">
                <a:solidFill>
                  <a:srgbClr val="FF3300"/>
                </a:solidFill>
                <a:sym typeface="Symbol" panose="05050102010706020507" pitchFamily="18" charset="2"/>
              </a:rPr>
              <a:t></a:t>
            </a:r>
          </a:p>
        </p:txBody>
      </p:sp>
      <p:sp>
        <p:nvSpPr>
          <p:cNvPr id="15" name="Text Box 12"/>
          <p:cNvSpPr txBox="1">
            <a:spLocks noChangeArrowheads="1"/>
          </p:cNvSpPr>
          <p:nvPr/>
        </p:nvSpPr>
        <p:spPr bwMode="auto">
          <a:xfrm>
            <a:off x="4605338" y="4580756"/>
            <a:ext cx="3587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b="1">
                <a:solidFill>
                  <a:srgbClr val="FF3300"/>
                </a:solidFill>
                <a:sym typeface="Symbol" panose="05050102010706020507" pitchFamily="18" charset="2"/>
              </a:rPr>
              <a:t></a:t>
            </a:r>
          </a:p>
        </p:txBody>
      </p:sp>
      <p:sp>
        <p:nvSpPr>
          <p:cNvPr id="16" name="Rectangle 13"/>
          <p:cNvSpPr>
            <a:spLocks noChangeArrowheads="1"/>
          </p:cNvSpPr>
          <p:nvPr/>
        </p:nvSpPr>
        <p:spPr bwMode="auto">
          <a:xfrm>
            <a:off x="2379663" y="4509318"/>
            <a:ext cx="431800" cy="360363"/>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a:t>5</a:t>
            </a:r>
          </a:p>
        </p:txBody>
      </p:sp>
      <p:sp>
        <p:nvSpPr>
          <p:cNvPr id="17" name="Text Box 14"/>
          <p:cNvSpPr txBox="1">
            <a:spLocks noChangeArrowheads="1"/>
          </p:cNvSpPr>
          <p:nvPr/>
        </p:nvSpPr>
        <p:spPr bwMode="auto">
          <a:xfrm>
            <a:off x="5765800" y="4556943"/>
            <a:ext cx="3587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b="1">
                <a:solidFill>
                  <a:srgbClr val="FF3300"/>
                </a:solidFill>
                <a:sym typeface="Symbol" panose="05050102010706020507" pitchFamily="18" charset="2"/>
              </a:rPr>
              <a:t></a:t>
            </a:r>
          </a:p>
        </p:txBody>
      </p:sp>
      <p:sp>
        <p:nvSpPr>
          <p:cNvPr id="18" name="Text Box 15"/>
          <p:cNvSpPr txBox="1">
            <a:spLocks noChangeArrowheads="1"/>
          </p:cNvSpPr>
          <p:nvPr/>
        </p:nvSpPr>
        <p:spPr bwMode="auto">
          <a:xfrm>
            <a:off x="6924675" y="4564881"/>
            <a:ext cx="3587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b="1">
                <a:solidFill>
                  <a:srgbClr val="FF3300"/>
                </a:solidFill>
                <a:sym typeface="Symbol" panose="05050102010706020507" pitchFamily="18" charset="2"/>
              </a:rPr>
              <a:t></a:t>
            </a:r>
          </a:p>
        </p:txBody>
      </p:sp>
      <p:sp>
        <p:nvSpPr>
          <p:cNvPr id="19" name="Rectangle 16"/>
          <p:cNvSpPr>
            <a:spLocks noChangeArrowheads="1"/>
          </p:cNvSpPr>
          <p:nvPr/>
        </p:nvSpPr>
        <p:spPr bwMode="auto">
          <a:xfrm>
            <a:off x="1274763" y="4509318"/>
            <a:ext cx="431800" cy="360363"/>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a:t>2</a:t>
            </a:r>
          </a:p>
        </p:txBody>
      </p:sp>
      <p:sp>
        <p:nvSpPr>
          <p:cNvPr id="20" name="Text Box 17"/>
          <p:cNvSpPr txBox="1">
            <a:spLocks noChangeArrowheads="1"/>
          </p:cNvSpPr>
          <p:nvPr/>
        </p:nvSpPr>
        <p:spPr bwMode="auto">
          <a:xfrm>
            <a:off x="7292975" y="4564881"/>
            <a:ext cx="3587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b="1">
                <a:solidFill>
                  <a:srgbClr val="FF3300"/>
                </a:solidFill>
                <a:sym typeface="Symbol" panose="05050102010706020507" pitchFamily="18" charset="2"/>
              </a:rPr>
              <a:t></a:t>
            </a:r>
          </a:p>
        </p:txBody>
      </p:sp>
      <p:sp>
        <p:nvSpPr>
          <p:cNvPr id="21" name="Rectangle 20"/>
          <p:cNvSpPr>
            <a:spLocks noChangeArrowheads="1"/>
          </p:cNvSpPr>
          <p:nvPr/>
        </p:nvSpPr>
        <p:spPr bwMode="auto">
          <a:xfrm>
            <a:off x="1819275" y="4518843"/>
            <a:ext cx="431800" cy="360363"/>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a:t>1</a:t>
            </a:r>
          </a:p>
        </p:txBody>
      </p:sp>
      <p:sp>
        <p:nvSpPr>
          <p:cNvPr id="22" name="Text Box 21"/>
          <p:cNvSpPr txBox="1">
            <a:spLocks noChangeArrowheads="1"/>
          </p:cNvSpPr>
          <p:nvPr/>
        </p:nvSpPr>
        <p:spPr bwMode="auto">
          <a:xfrm>
            <a:off x="4572000" y="5157018"/>
            <a:ext cx="20875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b="1" dirty="0"/>
              <a:t>缺页率</a:t>
            </a:r>
            <a:r>
              <a:rPr lang="en-US" altLang="zh-CN" sz="2400" b="1" dirty="0"/>
              <a:t>= 7 / 12</a:t>
            </a:r>
          </a:p>
        </p:txBody>
      </p:sp>
    </p:spTree>
    <p:extLst>
      <p:ext uri="{BB962C8B-B14F-4D97-AF65-F5344CB8AC3E}">
        <p14:creationId xmlns:p14="http://schemas.microsoft.com/office/powerpoint/2010/main" val="899975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box(out)">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最近最久未使用算法</a:t>
            </a:r>
          </a:p>
        </p:txBody>
      </p:sp>
      <p:sp>
        <p:nvSpPr>
          <p:cNvPr id="3" name="Content Placeholder 2"/>
          <p:cNvSpPr>
            <a:spLocks noGrp="1"/>
          </p:cNvSpPr>
          <p:nvPr>
            <p:ph idx="1"/>
          </p:nvPr>
        </p:nvSpPr>
        <p:spPr/>
        <p:txBody>
          <a:bodyPr>
            <a:normAutofit/>
          </a:bodyPr>
          <a:lstStyle/>
          <a:p>
            <a:r>
              <a:rPr lang="zh-CN" altLang="en-US" dirty="0"/>
              <a:t>原理</a:t>
            </a:r>
            <a:endParaRPr lang="en-US" altLang="zh-CN" dirty="0"/>
          </a:p>
          <a:p>
            <a:pPr lvl="1"/>
            <a:r>
              <a:rPr lang="zh-CN" altLang="en-US" dirty="0"/>
              <a:t>选择内存中最久</a:t>
            </a:r>
            <a:r>
              <a:rPr lang="zh-CN" altLang="en-US" b="1" dirty="0">
                <a:solidFill>
                  <a:srgbClr val="FF0000"/>
                </a:solidFill>
              </a:rPr>
              <a:t>未使用</a:t>
            </a:r>
            <a:r>
              <a:rPr lang="zh-CN" altLang="en-US" dirty="0"/>
              <a:t>的页面进行置换</a:t>
            </a:r>
            <a:endParaRPr lang="en-US" altLang="zh-CN" dirty="0"/>
          </a:p>
          <a:p>
            <a:pPr lvl="1"/>
            <a:r>
              <a:rPr lang="zh-CN" altLang="en-US" dirty="0"/>
              <a:t>问题是，为记录页面使用情况，硬件开销大</a:t>
            </a:r>
            <a:endParaRPr lang="en-US" altLang="zh-CN" dirty="0"/>
          </a:p>
          <a:p>
            <a:r>
              <a:rPr lang="zh-CN" altLang="en-US" dirty="0"/>
              <a:t>硬件支持（寄存器法）</a:t>
            </a:r>
            <a:endParaRPr lang="en-US" altLang="zh-CN" dirty="0"/>
          </a:p>
          <a:p>
            <a:pPr lvl="1"/>
            <a:r>
              <a:rPr lang="zh-CN" altLang="en-US" dirty="0"/>
              <a:t>为每个内存中的页面配置</a:t>
            </a:r>
            <a:r>
              <a:rPr lang="en-US" altLang="zh-CN" sz="2000" b="1" i="1" dirty="0"/>
              <a:t>R</a:t>
            </a:r>
            <a:r>
              <a:rPr lang="en-US" altLang="zh-CN" sz="2000" b="1" dirty="0"/>
              <a:t>=</a:t>
            </a:r>
            <a:r>
              <a:rPr lang="en-US" altLang="zh-CN" sz="2000" b="1" i="1" dirty="0"/>
              <a:t>R</a:t>
            </a:r>
            <a:r>
              <a:rPr lang="en-US" altLang="zh-CN" sz="2000" b="1" i="1" baseline="-25000" dirty="0"/>
              <a:t>n</a:t>
            </a:r>
            <a:r>
              <a:rPr lang="en-US" altLang="zh-CN" sz="2000" b="1" baseline="-25000" dirty="0"/>
              <a:t>-1</a:t>
            </a:r>
            <a:r>
              <a:rPr lang="en-US" altLang="zh-CN" sz="2000" b="1" i="1" dirty="0"/>
              <a:t>R</a:t>
            </a:r>
            <a:r>
              <a:rPr lang="en-US" altLang="zh-CN" sz="2000" b="1" i="1" baseline="-25000" dirty="0"/>
              <a:t>n</a:t>
            </a:r>
            <a:r>
              <a:rPr lang="en-US" altLang="zh-CN" sz="2000" b="1" baseline="-25000" dirty="0"/>
              <a:t>-2</a:t>
            </a:r>
            <a:r>
              <a:rPr lang="en-US" altLang="zh-CN" sz="2000" b="1" dirty="0"/>
              <a:t>…</a:t>
            </a:r>
            <a:r>
              <a:rPr lang="en-US" altLang="zh-CN" sz="2000" b="1" i="1" dirty="0"/>
              <a:t>R</a:t>
            </a:r>
            <a:r>
              <a:rPr lang="en-US" altLang="zh-CN" sz="2000" b="1" baseline="-25000" dirty="0"/>
              <a:t>1</a:t>
            </a:r>
            <a:r>
              <a:rPr lang="en-US" altLang="zh-CN" sz="2000" b="1" i="1" dirty="0"/>
              <a:t>R</a:t>
            </a:r>
            <a:r>
              <a:rPr lang="en-US" altLang="zh-CN" sz="2000" b="1" baseline="-25000" dirty="0"/>
              <a:t>0</a:t>
            </a:r>
          </a:p>
          <a:p>
            <a:pPr lvl="1"/>
            <a:r>
              <a:rPr lang="zh-CN" altLang="en-US" dirty="0"/>
              <a:t>进程访问某页时，将该页的</a:t>
            </a:r>
            <a:r>
              <a:rPr lang="en-US" altLang="zh-CN" sz="2000" b="1" i="1" dirty="0"/>
              <a:t>R</a:t>
            </a:r>
            <a:r>
              <a:rPr lang="en-US" altLang="zh-CN" sz="2000" b="1" i="1" baseline="-25000" dirty="0"/>
              <a:t>n</a:t>
            </a:r>
            <a:r>
              <a:rPr lang="en-US" altLang="zh-CN" sz="2000" b="1" baseline="-25000" dirty="0"/>
              <a:t>-1</a:t>
            </a:r>
            <a:r>
              <a:rPr lang="zh-CN" altLang="en-US" sz="2000" dirty="0"/>
              <a:t>置</a:t>
            </a:r>
            <a:r>
              <a:rPr lang="en-US" altLang="zh-CN" sz="2000" dirty="0"/>
              <a:t>1</a:t>
            </a:r>
          </a:p>
          <a:p>
            <a:pPr lvl="1"/>
            <a:r>
              <a:rPr lang="zh-CN" altLang="en-US" sz="2000" dirty="0"/>
              <a:t>定时信号每隔一定时间右移一位</a:t>
            </a:r>
            <a:endParaRPr lang="en-US" altLang="zh-CN" sz="2000" dirty="0"/>
          </a:p>
          <a:p>
            <a:pPr lvl="1"/>
            <a:r>
              <a:rPr lang="zh-CN" altLang="en-US" sz="2000" dirty="0"/>
              <a:t>寄存器</a:t>
            </a:r>
            <a:r>
              <a:rPr lang="en-US" altLang="zh-CN" sz="2000" dirty="0"/>
              <a:t>R</a:t>
            </a:r>
            <a:r>
              <a:rPr lang="zh-CN" altLang="en-US" sz="2000" dirty="0"/>
              <a:t>被视为一个整数，置换时，具有最小数值的寄存器对应的页面被淘汰</a:t>
            </a:r>
            <a:endParaRPr lang="en-US" altLang="zh-CN" dirty="0"/>
          </a:p>
          <a:p>
            <a:endParaRPr lang="zh-CN" altLang="en-US" dirty="0"/>
          </a:p>
        </p:txBody>
      </p:sp>
      <p:sp>
        <p:nvSpPr>
          <p:cNvPr id="4" name="Date Placeholder 3"/>
          <p:cNvSpPr>
            <a:spLocks noGrp="1"/>
          </p:cNvSpPr>
          <p:nvPr>
            <p:ph type="dt" sz="half" idx="10"/>
          </p:nvPr>
        </p:nvSpPr>
        <p:spPr/>
        <p:txBody>
          <a:bodyPr/>
          <a:lstStyle/>
          <a:p>
            <a:fld id="{D47E1C27-EC22-4F19-8C61-E1B3EB28368A}"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112</a:t>
            </a:fld>
            <a:endParaRPr lang="zh-CN" altLang="en-US" dirty="0"/>
          </a:p>
        </p:txBody>
      </p:sp>
    </p:spTree>
    <p:extLst>
      <p:ext uri="{BB962C8B-B14F-4D97-AF65-F5344CB8AC3E}">
        <p14:creationId xmlns:p14="http://schemas.microsoft.com/office/powerpoint/2010/main" val="1723116065"/>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最近最久未使用算法</a:t>
            </a:r>
          </a:p>
        </p:txBody>
      </p:sp>
      <p:sp>
        <p:nvSpPr>
          <p:cNvPr id="3" name="Content Placeholder 2"/>
          <p:cNvSpPr>
            <a:spLocks noGrp="1"/>
          </p:cNvSpPr>
          <p:nvPr>
            <p:ph idx="1"/>
          </p:nvPr>
        </p:nvSpPr>
        <p:spPr/>
        <p:txBody>
          <a:bodyPr>
            <a:normAutofit/>
          </a:bodyPr>
          <a:lstStyle/>
          <a:p>
            <a:r>
              <a:rPr lang="zh-CN" altLang="en-US" dirty="0"/>
              <a:t>硬件支持（堆栈法）</a:t>
            </a:r>
            <a:endParaRPr lang="en-US" altLang="zh-CN" dirty="0"/>
          </a:p>
          <a:p>
            <a:pPr lvl="1"/>
            <a:r>
              <a:rPr lang="zh-CN" altLang="en-US" dirty="0"/>
              <a:t>利用一个堆栈保存当前使用的各页面的页面号</a:t>
            </a:r>
            <a:endParaRPr lang="en-US" altLang="zh-CN" dirty="0"/>
          </a:p>
          <a:p>
            <a:pPr lvl="1"/>
            <a:r>
              <a:rPr lang="zh-CN" altLang="en-US" dirty="0"/>
              <a:t>进程访问某页面时，将该页面的页面号从栈中移出，压入栈顶</a:t>
            </a:r>
            <a:endParaRPr lang="en-US" altLang="zh-CN" dirty="0"/>
          </a:p>
          <a:p>
            <a:pPr lvl="1"/>
            <a:r>
              <a:rPr lang="zh-CN" altLang="en-US" dirty="0"/>
              <a:t>置换时，栈底页面被淘汰</a:t>
            </a:r>
            <a:endParaRPr lang="en-US" altLang="zh-CN" dirty="0"/>
          </a:p>
          <a:p>
            <a:pPr lvl="1"/>
            <a:endParaRPr lang="en-US" altLang="zh-CN" dirty="0"/>
          </a:p>
          <a:p>
            <a:pPr lvl="1"/>
            <a:r>
              <a:rPr lang="zh-CN" altLang="en-US" dirty="0"/>
              <a:t>堆栈的深度</a:t>
            </a:r>
            <a:r>
              <a:rPr lang="en-US" altLang="zh-CN" dirty="0"/>
              <a:t>=</a:t>
            </a:r>
            <a:r>
              <a:rPr lang="zh-CN" altLang="en-US" dirty="0"/>
              <a:t>内存页面数量（</a:t>
            </a:r>
            <a:r>
              <a:rPr lang="zh-CN" altLang="en-US" b="1" dirty="0">
                <a:solidFill>
                  <a:srgbClr val="FF0000"/>
                </a:solidFill>
              </a:rPr>
              <a:t>无法真正实现</a:t>
            </a:r>
            <a:r>
              <a:rPr lang="zh-CN" altLang="en-US" dirty="0"/>
              <a:t>）</a:t>
            </a:r>
          </a:p>
        </p:txBody>
      </p:sp>
      <p:sp>
        <p:nvSpPr>
          <p:cNvPr id="4" name="Date Placeholder 3"/>
          <p:cNvSpPr>
            <a:spLocks noGrp="1"/>
          </p:cNvSpPr>
          <p:nvPr>
            <p:ph type="dt" sz="half" idx="10"/>
          </p:nvPr>
        </p:nvSpPr>
        <p:spPr/>
        <p:txBody>
          <a:bodyPr/>
          <a:lstStyle/>
          <a:p>
            <a:fld id="{DCF90034-419F-4151-8EBA-32067E7DF3D7}"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113</a:t>
            </a:fld>
            <a:endParaRPr lang="zh-CN" altLang="en-US" dirty="0"/>
          </a:p>
        </p:txBody>
      </p:sp>
    </p:spTree>
    <p:extLst>
      <p:ext uri="{BB962C8B-B14F-4D97-AF65-F5344CB8AC3E}">
        <p14:creationId xmlns:p14="http://schemas.microsoft.com/office/powerpoint/2010/main" val="1388773408"/>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最近最久未使用算法</a:t>
            </a:r>
          </a:p>
        </p:txBody>
      </p:sp>
      <p:sp>
        <p:nvSpPr>
          <p:cNvPr id="4" name="Date Placeholder 3"/>
          <p:cNvSpPr>
            <a:spLocks noGrp="1"/>
          </p:cNvSpPr>
          <p:nvPr>
            <p:ph type="dt" sz="half" idx="10"/>
          </p:nvPr>
        </p:nvSpPr>
        <p:spPr/>
        <p:txBody>
          <a:bodyPr/>
          <a:lstStyle/>
          <a:p>
            <a:fld id="{38D7353B-23C4-41EA-8E70-A7D63CEA1CE5}"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114</a:t>
            </a:fld>
            <a:endParaRPr lang="zh-CN" altLang="en-US" dirty="0"/>
          </a:p>
        </p:txBody>
      </p:sp>
      <p:sp>
        <p:nvSpPr>
          <p:cNvPr id="7" name="Rectangle 6"/>
          <p:cNvSpPr/>
          <p:nvPr/>
        </p:nvSpPr>
        <p:spPr>
          <a:xfrm>
            <a:off x="1907704" y="1628800"/>
            <a:ext cx="5310336" cy="1015663"/>
          </a:xfrm>
          <a:prstGeom prst="rect">
            <a:avLst/>
          </a:prstGeom>
        </p:spPr>
        <p:txBody>
          <a:bodyPr wrap="square">
            <a:spAutoFit/>
          </a:bodyPr>
          <a:lstStyle/>
          <a:p>
            <a:r>
              <a:rPr lang="zh-CN" altLang="en-US" sz="2000" b="1" dirty="0">
                <a:ea typeface="楷体" panose="02010609060101010101" pitchFamily="49" charset="-122"/>
              </a:rPr>
              <a:t>一个作业的页面走向为</a:t>
            </a:r>
            <a:r>
              <a:rPr lang="en-US" altLang="zh-CN" sz="2000" b="1" dirty="0">
                <a:ea typeface="楷体" panose="02010609060101010101" pitchFamily="49" charset="-122"/>
              </a:rPr>
              <a:t>4</a:t>
            </a:r>
            <a:r>
              <a:rPr lang="zh-CN" altLang="en-US" sz="2000" b="1" dirty="0">
                <a:ea typeface="楷体" panose="02010609060101010101" pitchFamily="49" charset="-122"/>
              </a:rPr>
              <a:t>、</a:t>
            </a:r>
            <a:r>
              <a:rPr lang="en-US" altLang="zh-CN" sz="2000" b="1" dirty="0">
                <a:ea typeface="楷体" panose="02010609060101010101" pitchFamily="49" charset="-122"/>
              </a:rPr>
              <a:t>3</a:t>
            </a:r>
            <a:r>
              <a:rPr lang="zh-CN" altLang="en-US" sz="2000" b="1" dirty="0">
                <a:ea typeface="楷体" panose="02010609060101010101" pitchFamily="49" charset="-122"/>
              </a:rPr>
              <a:t>、</a:t>
            </a:r>
            <a:r>
              <a:rPr lang="en-US" altLang="zh-CN" sz="2000" b="1" dirty="0">
                <a:ea typeface="楷体" panose="02010609060101010101" pitchFamily="49" charset="-122"/>
              </a:rPr>
              <a:t>2</a:t>
            </a:r>
            <a:r>
              <a:rPr lang="zh-CN" altLang="en-US" sz="2000" b="1" dirty="0">
                <a:ea typeface="楷体" panose="02010609060101010101" pitchFamily="49" charset="-122"/>
              </a:rPr>
              <a:t>、</a:t>
            </a:r>
            <a:r>
              <a:rPr lang="en-US" altLang="zh-CN" sz="2000" b="1" dirty="0">
                <a:ea typeface="楷体" panose="02010609060101010101" pitchFamily="49" charset="-122"/>
              </a:rPr>
              <a:t>1</a:t>
            </a:r>
            <a:r>
              <a:rPr lang="zh-CN" altLang="en-US" sz="2000" b="1" dirty="0">
                <a:ea typeface="楷体" panose="02010609060101010101" pitchFamily="49" charset="-122"/>
              </a:rPr>
              <a:t>、</a:t>
            </a:r>
            <a:r>
              <a:rPr lang="en-US" altLang="zh-CN" sz="2000" b="1" dirty="0">
                <a:ea typeface="楷体" panose="02010609060101010101" pitchFamily="49" charset="-122"/>
              </a:rPr>
              <a:t>4</a:t>
            </a:r>
            <a:r>
              <a:rPr lang="zh-CN" altLang="en-US" sz="2000" b="1" dirty="0">
                <a:ea typeface="楷体" panose="02010609060101010101" pitchFamily="49" charset="-122"/>
              </a:rPr>
              <a:t>、</a:t>
            </a:r>
            <a:r>
              <a:rPr lang="en-US" altLang="zh-CN" sz="2000" b="1" dirty="0">
                <a:ea typeface="楷体" panose="02010609060101010101" pitchFamily="49" charset="-122"/>
              </a:rPr>
              <a:t>3</a:t>
            </a:r>
            <a:r>
              <a:rPr lang="zh-CN" altLang="en-US" sz="2000" b="1" dirty="0">
                <a:ea typeface="楷体" panose="02010609060101010101" pitchFamily="49" charset="-122"/>
              </a:rPr>
              <a:t>、</a:t>
            </a:r>
            <a:r>
              <a:rPr lang="en-US" altLang="zh-CN" sz="2000" b="1" dirty="0">
                <a:ea typeface="楷体" panose="02010609060101010101" pitchFamily="49" charset="-122"/>
              </a:rPr>
              <a:t>5</a:t>
            </a:r>
            <a:r>
              <a:rPr lang="zh-CN" altLang="en-US" sz="2000" b="1" dirty="0">
                <a:ea typeface="楷体" panose="02010609060101010101" pitchFamily="49" charset="-122"/>
              </a:rPr>
              <a:t>、</a:t>
            </a:r>
            <a:r>
              <a:rPr lang="en-US" altLang="zh-CN" sz="2000" b="1" dirty="0">
                <a:ea typeface="楷体" panose="02010609060101010101" pitchFamily="49" charset="-122"/>
              </a:rPr>
              <a:t>4</a:t>
            </a:r>
            <a:r>
              <a:rPr lang="zh-CN" altLang="en-US" sz="2000" b="1" dirty="0">
                <a:ea typeface="楷体" panose="02010609060101010101" pitchFamily="49" charset="-122"/>
              </a:rPr>
              <a:t>、</a:t>
            </a:r>
            <a:r>
              <a:rPr lang="en-US" altLang="zh-CN" sz="2000" b="1" dirty="0">
                <a:ea typeface="楷体" panose="02010609060101010101" pitchFamily="49" charset="-122"/>
              </a:rPr>
              <a:t>3</a:t>
            </a:r>
            <a:r>
              <a:rPr lang="zh-CN" altLang="en-US" sz="2000" b="1" dirty="0">
                <a:ea typeface="楷体" panose="02010609060101010101" pitchFamily="49" charset="-122"/>
              </a:rPr>
              <a:t>、</a:t>
            </a:r>
            <a:r>
              <a:rPr lang="en-US" altLang="zh-CN" sz="2000" b="1" dirty="0">
                <a:ea typeface="楷体" panose="02010609060101010101" pitchFamily="49" charset="-122"/>
              </a:rPr>
              <a:t>2</a:t>
            </a:r>
            <a:r>
              <a:rPr lang="zh-CN" altLang="en-US" sz="2000" b="1" dirty="0">
                <a:ea typeface="楷体" panose="02010609060101010101" pitchFamily="49" charset="-122"/>
              </a:rPr>
              <a:t>、</a:t>
            </a:r>
            <a:r>
              <a:rPr lang="en-US" altLang="zh-CN" sz="2000" b="1" dirty="0">
                <a:ea typeface="楷体" panose="02010609060101010101" pitchFamily="49" charset="-122"/>
              </a:rPr>
              <a:t>1</a:t>
            </a:r>
            <a:r>
              <a:rPr lang="zh-CN" altLang="en-US" sz="2000" b="1" dirty="0">
                <a:ea typeface="楷体" panose="02010609060101010101" pitchFamily="49" charset="-122"/>
              </a:rPr>
              <a:t>、</a:t>
            </a:r>
            <a:r>
              <a:rPr lang="en-US" altLang="zh-CN" sz="2000" b="1" dirty="0">
                <a:ea typeface="楷体" panose="02010609060101010101" pitchFamily="49" charset="-122"/>
              </a:rPr>
              <a:t>5</a:t>
            </a:r>
            <a:r>
              <a:rPr lang="zh-CN" altLang="en-US" sz="2000" b="1" dirty="0">
                <a:ea typeface="楷体" panose="02010609060101010101" pitchFamily="49" charset="-122"/>
              </a:rPr>
              <a:t>，分配给该作业的物理块数为</a:t>
            </a:r>
            <a:r>
              <a:rPr lang="en-US" altLang="zh-CN" sz="2000" b="1" dirty="0">
                <a:ea typeface="楷体" panose="02010609060101010101" pitchFamily="49" charset="-122"/>
              </a:rPr>
              <a:t>3</a:t>
            </a:r>
            <a:r>
              <a:rPr lang="zh-CN" altLang="en-US" sz="2000" b="1" dirty="0">
                <a:ea typeface="楷体" panose="02010609060101010101" pitchFamily="49" charset="-122"/>
              </a:rPr>
              <a:t>，计算</a:t>
            </a:r>
            <a:r>
              <a:rPr lang="en-US" altLang="zh-CN" sz="2000" b="1" dirty="0">
                <a:ea typeface="楷体" panose="02010609060101010101" pitchFamily="49" charset="-122"/>
              </a:rPr>
              <a:t>LRU</a:t>
            </a:r>
            <a:r>
              <a:rPr lang="zh-CN" altLang="en-US" sz="2000" b="1" dirty="0">
                <a:ea typeface="楷体" panose="02010609060101010101" pitchFamily="49" charset="-122"/>
              </a:rPr>
              <a:t>算法时的缺页率</a:t>
            </a:r>
            <a:endParaRPr lang="zh-CN" altLang="en-US" sz="2000" dirty="0">
              <a:ea typeface="楷体" panose="02010609060101010101" pitchFamily="49" charset="-122"/>
            </a:endParaRPr>
          </a:p>
        </p:txBody>
      </p:sp>
      <p:sp>
        <p:nvSpPr>
          <p:cNvPr id="56" name="Text Box 113"/>
          <p:cNvSpPr txBox="1">
            <a:spLocks noChangeArrowheads="1"/>
          </p:cNvSpPr>
          <p:nvPr/>
        </p:nvSpPr>
        <p:spPr bwMode="auto">
          <a:xfrm>
            <a:off x="1404938" y="3081759"/>
            <a:ext cx="67691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2000" b="1" dirty="0">
                <a:latin typeface="+mn-lt"/>
                <a:ea typeface="楷体" panose="02010609060101010101" pitchFamily="49" charset="-122"/>
              </a:rPr>
              <a:t>  4       3        2        1        4       3        5        4       3        2        1       5</a:t>
            </a:r>
          </a:p>
        </p:txBody>
      </p:sp>
      <p:sp>
        <p:nvSpPr>
          <p:cNvPr id="57" name="Text Box 114"/>
          <p:cNvSpPr txBox="1">
            <a:spLocks noChangeArrowheads="1"/>
          </p:cNvSpPr>
          <p:nvPr/>
        </p:nvSpPr>
        <p:spPr bwMode="auto">
          <a:xfrm>
            <a:off x="3205163" y="3528293"/>
            <a:ext cx="3603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latin typeface="+mn-lt"/>
                <a:ea typeface="楷体" panose="02010609060101010101" pitchFamily="49" charset="-122"/>
                <a:sym typeface="Symbol" panose="05050102010706020507" pitchFamily="18" charset="2"/>
              </a:rPr>
              <a:t></a:t>
            </a:r>
          </a:p>
        </p:txBody>
      </p:sp>
      <p:sp>
        <p:nvSpPr>
          <p:cNvPr id="58" name="Text Box 115"/>
          <p:cNvSpPr txBox="1">
            <a:spLocks noChangeArrowheads="1"/>
          </p:cNvSpPr>
          <p:nvPr/>
        </p:nvSpPr>
        <p:spPr bwMode="auto">
          <a:xfrm>
            <a:off x="4932363" y="3518768"/>
            <a:ext cx="3603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latin typeface="+mn-lt"/>
                <a:ea typeface="楷体" panose="02010609060101010101" pitchFamily="49" charset="-122"/>
                <a:sym typeface="Symbol" panose="05050102010706020507" pitchFamily="18" charset="2"/>
              </a:rPr>
              <a:t></a:t>
            </a:r>
          </a:p>
        </p:txBody>
      </p:sp>
      <p:sp>
        <p:nvSpPr>
          <p:cNvPr id="59" name="Text Box 116"/>
          <p:cNvSpPr txBox="1">
            <a:spLocks noChangeArrowheads="1"/>
          </p:cNvSpPr>
          <p:nvPr/>
        </p:nvSpPr>
        <p:spPr bwMode="auto">
          <a:xfrm>
            <a:off x="6661150" y="3523530"/>
            <a:ext cx="3603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latin typeface="+mn-lt"/>
                <a:ea typeface="楷体" panose="02010609060101010101" pitchFamily="49" charset="-122"/>
                <a:sym typeface="Symbol" panose="05050102010706020507" pitchFamily="18" charset="2"/>
              </a:rPr>
              <a:t></a:t>
            </a:r>
          </a:p>
        </p:txBody>
      </p:sp>
      <p:sp>
        <p:nvSpPr>
          <p:cNvPr id="60" name="Text Box 117"/>
          <p:cNvSpPr txBox="1">
            <a:spLocks noChangeArrowheads="1"/>
          </p:cNvSpPr>
          <p:nvPr/>
        </p:nvSpPr>
        <p:spPr bwMode="auto">
          <a:xfrm>
            <a:off x="7231063" y="3533055"/>
            <a:ext cx="3603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latin typeface="+mn-lt"/>
                <a:ea typeface="楷体" panose="02010609060101010101" pitchFamily="49" charset="-122"/>
                <a:sym typeface="Symbol" panose="05050102010706020507" pitchFamily="18" charset="2"/>
              </a:rPr>
              <a:t></a:t>
            </a:r>
          </a:p>
        </p:txBody>
      </p:sp>
      <p:sp>
        <p:nvSpPr>
          <p:cNvPr id="61" name="Text Box 118"/>
          <p:cNvSpPr txBox="1">
            <a:spLocks noChangeArrowheads="1"/>
          </p:cNvSpPr>
          <p:nvPr/>
        </p:nvSpPr>
        <p:spPr bwMode="auto">
          <a:xfrm>
            <a:off x="3813175" y="3534643"/>
            <a:ext cx="36036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latin typeface="+mn-lt"/>
                <a:ea typeface="楷体" panose="02010609060101010101" pitchFamily="49" charset="-122"/>
                <a:sym typeface="Symbol" panose="05050102010706020507" pitchFamily="18" charset="2"/>
              </a:rPr>
              <a:t></a:t>
            </a:r>
          </a:p>
        </p:txBody>
      </p:sp>
      <p:sp>
        <p:nvSpPr>
          <p:cNvPr id="62" name="Text Box 119"/>
          <p:cNvSpPr txBox="1">
            <a:spLocks noChangeArrowheads="1"/>
          </p:cNvSpPr>
          <p:nvPr/>
        </p:nvSpPr>
        <p:spPr bwMode="auto">
          <a:xfrm>
            <a:off x="4356100" y="3534643"/>
            <a:ext cx="36036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latin typeface="+mn-lt"/>
                <a:ea typeface="楷体" panose="02010609060101010101" pitchFamily="49" charset="-122"/>
                <a:sym typeface="Symbol" panose="05050102010706020507" pitchFamily="18" charset="2"/>
              </a:rPr>
              <a:t></a:t>
            </a:r>
          </a:p>
        </p:txBody>
      </p:sp>
      <p:sp>
        <p:nvSpPr>
          <p:cNvPr id="63" name="Text Box 120"/>
          <p:cNvSpPr txBox="1">
            <a:spLocks noChangeArrowheads="1"/>
          </p:cNvSpPr>
          <p:nvPr/>
        </p:nvSpPr>
        <p:spPr bwMode="auto">
          <a:xfrm>
            <a:off x="7812088" y="3523530"/>
            <a:ext cx="3603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latin typeface="+mn-lt"/>
                <a:ea typeface="楷体" panose="02010609060101010101" pitchFamily="49" charset="-122"/>
                <a:sym typeface="Symbol" panose="05050102010706020507" pitchFamily="18" charset="2"/>
              </a:rPr>
              <a:t></a:t>
            </a:r>
          </a:p>
        </p:txBody>
      </p:sp>
      <p:sp>
        <p:nvSpPr>
          <p:cNvPr id="64" name="Text Box 121"/>
          <p:cNvSpPr txBox="1">
            <a:spLocks noChangeArrowheads="1"/>
          </p:cNvSpPr>
          <p:nvPr/>
        </p:nvSpPr>
        <p:spPr bwMode="auto">
          <a:xfrm>
            <a:off x="305707" y="3922548"/>
            <a:ext cx="105795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kumimoji="0" lang="zh-CN" altLang="en-US" sz="1800" b="1" dirty="0">
                <a:latin typeface="+mn-lt"/>
                <a:ea typeface="楷体" panose="02010609060101010101" pitchFamily="49" charset="-122"/>
              </a:rPr>
              <a:t>最新 </a:t>
            </a:r>
            <a:r>
              <a:rPr kumimoji="0" lang="en-US" altLang="zh-CN" sz="1800" b="1" dirty="0">
                <a:latin typeface="+mn-lt"/>
                <a:ea typeface="楷体" panose="02010609060101010101" pitchFamily="49" charset="-122"/>
                <a:sym typeface="Wingdings" panose="05000000000000000000" pitchFamily="2" charset="2"/>
              </a:rPr>
              <a:t></a:t>
            </a:r>
            <a:endParaRPr kumimoji="0" lang="zh-CN" altLang="en-US" sz="1800" b="1" dirty="0">
              <a:latin typeface="+mn-lt"/>
              <a:ea typeface="楷体" panose="02010609060101010101" pitchFamily="49" charset="-122"/>
            </a:endParaRPr>
          </a:p>
        </p:txBody>
      </p:sp>
      <p:grpSp>
        <p:nvGrpSpPr>
          <p:cNvPr id="65" name="Group 122"/>
          <p:cNvGrpSpPr>
            <a:grpSpLocks/>
          </p:cNvGrpSpPr>
          <p:nvPr/>
        </p:nvGrpSpPr>
        <p:grpSpPr bwMode="auto">
          <a:xfrm>
            <a:off x="1485900" y="3933105"/>
            <a:ext cx="431800" cy="1008063"/>
            <a:chOff x="476" y="3113"/>
            <a:chExt cx="272" cy="635"/>
          </a:xfrm>
        </p:grpSpPr>
        <p:sp>
          <p:nvSpPr>
            <p:cNvPr id="66" name="Rectangle 123"/>
            <p:cNvSpPr>
              <a:spLocks noChangeArrowheads="1"/>
            </p:cNvSpPr>
            <p:nvPr/>
          </p:nvSpPr>
          <p:spPr bwMode="auto">
            <a:xfrm>
              <a:off x="476" y="3113"/>
              <a:ext cx="272" cy="635"/>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latin typeface="+mn-lt"/>
                  <a:ea typeface="楷体" panose="02010609060101010101" pitchFamily="49" charset="-122"/>
                </a:rPr>
                <a:t> </a:t>
              </a:r>
            </a:p>
            <a:p>
              <a:pPr algn="ctr" eaLnBrk="1" hangingPunct="1">
                <a:lnSpc>
                  <a:spcPct val="120000"/>
                </a:lnSpc>
                <a:spcBef>
                  <a:spcPct val="0"/>
                </a:spcBef>
                <a:buFontTx/>
                <a:buNone/>
              </a:pPr>
              <a:r>
                <a:rPr kumimoji="0" lang="en-US" altLang="zh-CN" sz="1800" b="1">
                  <a:latin typeface="+mn-lt"/>
                  <a:ea typeface="楷体" panose="02010609060101010101" pitchFamily="49" charset="-122"/>
                </a:rPr>
                <a:t> </a:t>
              </a:r>
            </a:p>
            <a:p>
              <a:pPr algn="ctr" eaLnBrk="1" hangingPunct="1">
                <a:lnSpc>
                  <a:spcPct val="120000"/>
                </a:lnSpc>
                <a:spcBef>
                  <a:spcPct val="0"/>
                </a:spcBef>
                <a:buFontTx/>
                <a:buNone/>
              </a:pPr>
              <a:r>
                <a:rPr kumimoji="0" lang="en-US" altLang="zh-CN" sz="1800" b="1">
                  <a:latin typeface="+mn-lt"/>
                  <a:ea typeface="楷体" panose="02010609060101010101" pitchFamily="49" charset="-122"/>
                </a:rPr>
                <a:t>4 </a:t>
              </a:r>
            </a:p>
          </p:txBody>
        </p:sp>
        <p:sp>
          <p:nvSpPr>
            <p:cNvPr id="67" name="Line 124"/>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68" name="Line 125"/>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grpSp>
        <p:nvGrpSpPr>
          <p:cNvPr id="69" name="Group 126"/>
          <p:cNvGrpSpPr>
            <a:grpSpLocks/>
          </p:cNvGrpSpPr>
          <p:nvPr/>
        </p:nvGrpSpPr>
        <p:grpSpPr bwMode="auto">
          <a:xfrm>
            <a:off x="2039938" y="3933105"/>
            <a:ext cx="431800" cy="1008063"/>
            <a:chOff x="476" y="3113"/>
            <a:chExt cx="272" cy="635"/>
          </a:xfrm>
        </p:grpSpPr>
        <p:sp>
          <p:nvSpPr>
            <p:cNvPr id="70" name="Rectangle 127"/>
            <p:cNvSpPr>
              <a:spLocks noChangeArrowheads="1"/>
            </p:cNvSpPr>
            <p:nvPr/>
          </p:nvSpPr>
          <p:spPr bwMode="auto">
            <a:xfrm>
              <a:off x="476" y="3113"/>
              <a:ext cx="272" cy="635"/>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latin typeface="+mn-lt"/>
                  <a:ea typeface="楷体" panose="02010609060101010101" pitchFamily="49" charset="-122"/>
                </a:rPr>
                <a:t> </a:t>
              </a:r>
            </a:p>
            <a:p>
              <a:pPr algn="ctr" eaLnBrk="1" hangingPunct="1">
                <a:lnSpc>
                  <a:spcPct val="120000"/>
                </a:lnSpc>
                <a:spcBef>
                  <a:spcPct val="0"/>
                </a:spcBef>
                <a:buFontTx/>
                <a:buNone/>
              </a:pPr>
              <a:r>
                <a:rPr kumimoji="0" lang="en-US" altLang="zh-CN" sz="1800" b="1">
                  <a:latin typeface="+mn-lt"/>
                  <a:ea typeface="楷体" panose="02010609060101010101" pitchFamily="49" charset="-122"/>
                </a:rPr>
                <a:t>3</a:t>
              </a:r>
            </a:p>
            <a:p>
              <a:pPr algn="ctr" eaLnBrk="1" hangingPunct="1">
                <a:lnSpc>
                  <a:spcPct val="120000"/>
                </a:lnSpc>
                <a:spcBef>
                  <a:spcPct val="0"/>
                </a:spcBef>
                <a:buFontTx/>
                <a:buNone/>
              </a:pPr>
              <a:r>
                <a:rPr kumimoji="0" lang="en-US" altLang="zh-CN" sz="1800" b="1">
                  <a:latin typeface="+mn-lt"/>
                  <a:ea typeface="楷体" panose="02010609060101010101" pitchFamily="49" charset="-122"/>
                </a:rPr>
                <a:t>4</a:t>
              </a:r>
            </a:p>
          </p:txBody>
        </p:sp>
        <p:sp>
          <p:nvSpPr>
            <p:cNvPr id="71" name="Line 128"/>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72" name="Line 129"/>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grpSp>
        <p:nvGrpSpPr>
          <p:cNvPr id="73" name="Group 130"/>
          <p:cNvGrpSpPr>
            <a:grpSpLocks/>
          </p:cNvGrpSpPr>
          <p:nvPr/>
        </p:nvGrpSpPr>
        <p:grpSpPr bwMode="auto">
          <a:xfrm>
            <a:off x="2605088" y="3933105"/>
            <a:ext cx="431800" cy="1008063"/>
            <a:chOff x="476" y="3113"/>
            <a:chExt cx="272" cy="635"/>
          </a:xfrm>
        </p:grpSpPr>
        <p:sp>
          <p:nvSpPr>
            <p:cNvPr id="74" name="Rectangle 131"/>
            <p:cNvSpPr>
              <a:spLocks noChangeArrowheads="1"/>
            </p:cNvSpPr>
            <p:nvPr/>
          </p:nvSpPr>
          <p:spPr bwMode="auto">
            <a:xfrm>
              <a:off x="476" y="3113"/>
              <a:ext cx="272" cy="635"/>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latin typeface="+mn-lt"/>
                  <a:ea typeface="楷体" panose="02010609060101010101" pitchFamily="49" charset="-122"/>
                </a:rPr>
                <a:t>2</a:t>
              </a:r>
            </a:p>
            <a:p>
              <a:pPr algn="ctr" eaLnBrk="1" hangingPunct="1">
                <a:lnSpc>
                  <a:spcPct val="120000"/>
                </a:lnSpc>
                <a:spcBef>
                  <a:spcPct val="0"/>
                </a:spcBef>
                <a:buFontTx/>
                <a:buNone/>
              </a:pPr>
              <a:r>
                <a:rPr kumimoji="0" lang="en-US" altLang="zh-CN" sz="1800" b="1">
                  <a:latin typeface="+mn-lt"/>
                  <a:ea typeface="楷体" panose="02010609060101010101" pitchFamily="49" charset="-122"/>
                </a:rPr>
                <a:t>3</a:t>
              </a:r>
            </a:p>
            <a:p>
              <a:pPr algn="ctr" eaLnBrk="1" hangingPunct="1">
                <a:lnSpc>
                  <a:spcPct val="120000"/>
                </a:lnSpc>
                <a:spcBef>
                  <a:spcPct val="0"/>
                </a:spcBef>
                <a:buFontTx/>
                <a:buNone/>
              </a:pPr>
              <a:r>
                <a:rPr kumimoji="0" lang="en-US" altLang="zh-CN" sz="1800" b="1">
                  <a:latin typeface="+mn-lt"/>
                  <a:ea typeface="楷体" panose="02010609060101010101" pitchFamily="49" charset="-122"/>
                </a:rPr>
                <a:t>4</a:t>
              </a:r>
            </a:p>
          </p:txBody>
        </p:sp>
        <p:sp>
          <p:nvSpPr>
            <p:cNvPr id="75" name="Line 132"/>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76" name="Line 133"/>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grpSp>
        <p:nvGrpSpPr>
          <p:cNvPr id="77" name="Group 134"/>
          <p:cNvGrpSpPr>
            <a:grpSpLocks/>
          </p:cNvGrpSpPr>
          <p:nvPr/>
        </p:nvGrpSpPr>
        <p:grpSpPr bwMode="auto">
          <a:xfrm>
            <a:off x="3181350" y="3933105"/>
            <a:ext cx="431800" cy="1008063"/>
            <a:chOff x="476" y="3113"/>
            <a:chExt cx="272" cy="635"/>
          </a:xfrm>
        </p:grpSpPr>
        <p:sp>
          <p:nvSpPr>
            <p:cNvPr id="78" name="Rectangle 135"/>
            <p:cNvSpPr>
              <a:spLocks noChangeArrowheads="1"/>
            </p:cNvSpPr>
            <p:nvPr/>
          </p:nvSpPr>
          <p:spPr bwMode="auto">
            <a:xfrm>
              <a:off x="476" y="3113"/>
              <a:ext cx="272" cy="635"/>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latin typeface="+mn-lt"/>
                  <a:ea typeface="楷体" panose="02010609060101010101" pitchFamily="49" charset="-122"/>
                </a:rPr>
                <a:t>1</a:t>
              </a:r>
            </a:p>
            <a:p>
              <a:pPr algn="ctr" eaLnBrk="1" hangingPunct="1">
                <a:lnSpc>
                  <a:spcPct val="120000"/>
                </a:lnSpc>
                <a:spcBef>
                  <a:spcPct val="0"/>
                </a:spcBef>
                <a:buFontTx/>
                <a:buNone/>
              </a:pPr>
              <a:r>
                <a:rPr kumimoji="0" lang="en-US" altLang="zh-CN" sz="1800" b="1">
                  <a:latin typeface="+mn-lt"/>
                  <a:ea typeface="楷体" panose="02010609060101010101" pitchFamily="49" charset="-122"/>
                </a:rPr>
                <a:t>2</a:t>
              </a:r>
            </a:p>
            <a:p>
              <a:pPr algn="ctr" eaLnBrk="1" hangingPunct="1">
                <a:lnSpc>
                  <a:spcPct val="120000"/>
                </a:lnSpc>
                <a:spcBef>
                  <a:spcPct val="0"/>
                </a:spcBef>
                <a:buFontTx/>
                <a:buNone/>
              </a:pPr>
              <a:r>
                <a:rPr kumimoji="0" lang="en-US" altLang="zh-CN" sz="1800" b="1">
                  <a:latin typeface="+mn-lt"/>
                  <a:ea typeface="楷体" panose="02010609060101010101" pitchFamily="49" charset="-122"/>
                </a:rPr>
                <a:t>3</a:t>
              </a:r>
            </a:p>
          </p:txBody>
        </p:sp>
        <p:sp>
          <p:nvSpPr>
            <p:cNvPr id="79" name="Line 136"/>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80" name="Line 137"/>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grpSp>
        <p:nvGrpSpPr>
          <p:cNvPr id="81" name="Group 138"/>
          <p:cNvGrpSpPr>
            <a:grpSpLocks/>
          </p:cNvGrpSpPr>
          <p:nvPr/>
        </p:nvGrpSpPr>
        <p:grpSpPr bwMode="auto">
          <a:xfrm>
            <a:off x="3779838" y="3933105"/>
            <a:ext cx="431800" cy="1008063"/>
            <a:chOff x="476" y="3113"/>
            <a:chExt cx="272" cy="635"/>
          </a:xfrm>
        </p:grpSpPr>
        <p:sp>
          <p:nvSpPr>
            <p:cNvPr id="82" name="Rectangle 139"/>
            <p:cNvSpPr>
              <a:spLocks noChangeArrowheads="1"/>
            </p:cNvSpPr>
            <p:nvPr/>
          </p:nvSpPr>
          <p:spPr bwMode="auto">
            <a:xfrm>
              <a:off x="476" y="3113"/>
              <a:ext cx="272" cy="635"/>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latin typeface="+mn-lt"/>
                  <a:ea typeface="楷体" panose="02010609060101010101" pitchFamily="49" charset="-122"/>
                </a:rPr>
                <a:t>4</a:t>
              </a:r>
            </a:p>
            <a:p>
              <a:pPr algn="ctr" eaLnBrk="1" hangingPunct="1">
                <a:lnSpc>
                  <a:spcPct val="120000"/>
                </a:lnSpc>
                <a:spcBef>
                  <a:spcPct val="0"/>
                </a:spcBef>
                <a:buFontTx/>
                <a:buNone/>
              </a:pPr>
              <a:r>
                <a:rPr kumimoji="0" lang="en-US" altLang="zh-CN" sz="1800" b="1">
                  <a:latin typeface="+mn-lt"/>
                  <a:ea typeface="楷体" panose="02010609060101010101" pitchFamily="49" charset="-122"/>
                </a:rPr>
                <a:t>1</a:t>
              </a:r>
            </a:p>
            <a:p>
              <a:pPr algn="ctr" eaLnBrk="1" hangingPunct="1">
                <a:lnSpc>
                  <a:spcPct val="120000"/>
                </a:lnSpc>
                <a:spcBef>
                  <a:spcPct val="0"/>
                </a:spcBef>
                <a:buFontTx/>
                <a:buNone/>
              </a:pPr>
              <a:r>
                <a:rPr kumimoji="0" lang="en-US" altLang="zh-CN" sz="1800" b="1">
                  <a:latin typeface="+mn-lt"/>
                  <a:ea typeface="楷体" panose="02010609060101010101" pitchFamily="49" charset="-122"/>
                </a:rPr>
                <a:t>2</a:t>
              </a:r>
            </a:p>
          </p:txBody>
        </p:sp>
        <p:sp>
          <p:nvSpPr>
            <p:cNvPr id="83" name="Line 140"/>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84" name="Line 141"/>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grpSp>
        <p:nvGrpSpPr>
          <p:cNvPr id="85" name="Group 142"/>
          <p:cNvGrpSpPr>
            <a:grpSpLocks/>
          </p:cNvGrpSpPr>
          <p:nvPr/>
        </p:nvGrpSpPr>
        <p:grpSpPr bwMode="auto">
          <a:xfrm>
            <a:off x="4316413" y="3933105"/>
            <a:ext cx="431800" cy="1008063"/>
            <a:chOff x="476" y="3113"/>
            <a:chExt cx="272" cy="635"/>
          </a:xfrm>
        </p:grpSpPr>
        <p:sp>
          <p:nvSpPr>
            <p:cNvPr id="86" name="Rectangle 143"/>
            <p:cNvSpPr>
              <a:spLocks noChangeArrowheads="1"/>
            </p:cNvSpPr>
            <p:nvPr/>
          </p:nvSpPr>
          <p:spPr bwMode="auto">
            <a:xfrm>
              <a:off x="476" y="3113"/>
              <a:ext cx="272" cy="635"/>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latin typeface="+mn-lt"/>
                  <a:ea typeface="楷体" panose="02010609060101010101" pitchFamily="49" charset="-122"/>
                </a:rPr>
                <a:t>3</a:t>
              </a:r>
            </a:p>
            <a:p>
              <a:pPr algn="ctr" eaLnBrk="1" hangingPunct="1">
                <a:lnSpc>
                  <a:spcPct val="120000"/>
                </a:lnSpc>
                <a:spcBef>
                  <a:spcPct val="0"/>
                </a:spcBef>
                <a:buFontTx/>
                <a:buNone/>
              </a:pPr>
              <a:r>
                <a:rPr kumimoji="0" lang="en-US" altLang="zh-CN" sz="1800" b="1">
                  <a:latin typeface="+mn-lt"/>
                  <a:ea typeface="楷体" panose="02010609060101010101" pitchFamily="49" charset="-122"/>
                </a:rPr>
                <a:t>4</a:t>
              </a:r>
            </a:p>
            <a:p>
              <a:pPr algn="ctr" eaLnBrk="1" hangingPunct="1">
                <a:lnSpc>
                  <a:spcPct val="120000"/>
                </a:lnSpc>
                <a:spcBef>
                  <a:spcPct val="0"/>
                </a:spcBef>
                <a:buFontTx/>
                <a:buNone/>
              </a:pPr>
              <a:r>
                <a:rPr kumimoji="0" lang="en-US" altLang="zh-CN" sz="1800" b="1">
                  <a:latin typeface="+mn-lt"/>
                  <a:ea typeface="楷体" panose="02010609060101010101" pitchFamily="49" charset="-122"/>
                </a:rPr>
                <a:t>1</a:t>
              </a:r>
            </a:p>
          </p:txBody>
        </p:sp>
        <p:sp>
          <p:nvSpPr>
            <p:cNvPr id="87" name="Line 144"/>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88" name="Line 145"/>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grpSp>
        <p:nvGrpSpPr>
          <p:cNvPr id="89" name="Group 146"/>
          <p:cNvGrpSpPr>
            <a:grpSpLocks/>
          </p:cNvGrpSpPr>
          <p:nvPr/>
        </p:nvGrpSpPr>
        <p:grpSpPr bwMode="auto">
          <a:xfrm>
            <a:off x="4903788" y="3933105"/>
            <a:ext cx="431800" cy="1008063"/>
            <a:chOff x="476" y="3113"/>
            <a:chExt cx="272" cy="635"/>
          </a:xfrm>
        </p:grpSpPr>
        <p:sp>
          <p:nvSpPr>
            <p:cNvPr id="90" name="Rectangle 147"/>
            <p:cNvSpPr>
              <a:spLocks noChangeArrowheads="1"/>
            </p:cNvSpPr>
            <p:nvPr/>
          </p:nvSpPr>
          <p:spPr bwMode="auto">
            <a:xfrm>
              <a:off x="476" y="3113"/>
              <a:ext cx="272" cy="635"/>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latin typeface="+mn-lt"/>
                  <a:ea typeface="楷体" panose="02010609060101010101" pitchFamily="49" charset="-122"/>
                </a:rPr>
                <a:t>5</a:t>
              </a:r>
            </a:p>
            <a:p>
              <a:pPr algn="ctr" eaLnBrk="1" hangingPunct="1">
                <a:lnSpc>
                  <a:spcPct val="120000"/>
                </a:lnSpc>
                <a:spcBef>
                  <a:spcPct val="0"/>
                </a:spcBef>
                <a:buFontTx/>
                <a:buNone/>
              </a:pPr>
              <a:r>
                <a:rPr kumimoji="0" lang="en-US" altLang="zh-CN" sz="1800" b="1">
                  <a:latin typeface="+mn-lt"/>
                  <a:ea typeface="楷体" panose="02010609060101010101" pitchFamily="49" charset="-122"/>
                </a:rPr>
                <a:t>3</a:t>
              </a:r>
            </a:p>
            <a:p>
              <a:pPr algn="ctr" eaLnBrk="1" hangingPunct="1">
                <a:lnSpc>
                  <a:spcPct val="120000"/>
                </a:lnSpc>
                <a:spcBef>
                  <a:spcPct val="0"/>
                </a:spcBef>
                <a:buFontTx/>
                <a:buNone/>
              </a:pPr>
              <a:r>
                <a:rPr kumimoji="0" lang="en-US" altLang="zh-CN" sz="1800" b="1">
                  <a:latin typeface="+mn-lt"/>
                  <a:ea typeface="楷体" panose="02010609060101010101" pitchFamily="49" charset="-122"/>
                </a:rPr>
                <a:t>4</a:t>
              </a:r>
            </a:p>
          </p:txBody>
        </p:sp>
        <p:sp>
          <p:nvSpPr>
            <p:cNvPr id="91" name="Line 148"/>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92" name="Line 149"/>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grpSp>
        <p:nvGrpSpPr>
          <p:cNvPr id="93" name="Group 150"/>
          <p:cNvGrpSpPr>
            <a:grpSpLocks/>
          </p:cNvGrpSpPr>
          <p:nvPr/>
        </p:nvGrpSpPr>
        <p:grpSpPr bwMode="auto">
          <a:xfrm>
            <a:off x="5486400" y="3933105"/>
            <a:ext cx="431800" cy="1008063"/>
            <a:chOff x="476" y="3113"/>
            <a:chExt cx="272" cy="635"/>
          </a:xfrm>
        </p:grpSpPr>
        <p:sp>
          <p:nvSpPr>
            <p:cNvPr id="94" name="Rectangle 151"/>
            <p:cNvSpPr>
              <a:spLocks noChangeArrowheads="1"/>
            </p:cNvSpPr>
            <p:nvPr/>
          </p:nvSpPr>
          <p:spPr bwMode="auto">
            <a:xfrm>
              <a:off x="476" y="3113"/>
              <a:ext cx="272" cy="635"/>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latin typeface="+mn-lt"/>
                  <a:ea typeface="楷体" panose="02010609060101010101" pitchFamily="49" charset="-122"/>
                </a:rPr>
                <a:t>4</a:t>
              </a:r>
            </a:p>
            <a:p>
              <a:pPr algn="ctr" eaLnBrk="1" hangingPunct="1">
                <a:lnSpc>
                  <a:spcPct val="120000"/>
                </a:lnSpc>
                <a:spcBef>
                  <a:spcPct val="0"/>
                </a:spcBef>
                <a:buFontTx/>
                <a:buNone/>
              </a:pPr>
              <a:r>
                <a:rPr kumimoji="0" lang="en-US" altLang="zh-CN" sz="1800" b="1">
                  <a:latin typeface="+mn-lt"/>
                  <a:ea typeface="楷体" panose="02010609060101010101" pitchFamily="49" charset="-122"/>
                </a:rPr>
                <a:t>5</a:t>
              </a:r>
            </a:p>
            <a:p>
              <a:pPr algn="ctr" eaLnBrk="1" hangingPunct="1">
                <a:lnSpc>
                  <a:spcPct val="120000"/>
                </a:lnSpc>
                <a:spcBef>
                  <a:spcPct val="0"/>
                </a:spcBef>
                <a:buFontTx/>
                <a:buNone/>
              </a:pPr>
              <a:r>
                <a:rPr kumimoji="0" lang="en-US" altLang="zh-CN" sz="1800" b="1">
                  <a:latin typeface="+mn-lt"/>
                  <a:ea typeface="楷体" panose="02010609060101010101" pitchFamily="49" charset="-122"/>
                </a:rPr>
                <a:t>3</a:t>
              </a:r>
            </a:p>
          </p:txBody>
        </p:sp>
        <p:sp>
          <p:nvSpPr>
            <p:cNvPr id="95" name="Line 152"/>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96" name="Line 153"/>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grpSp>
        <p:nvGrpSpPr>
          <p:cNvPr id="97" name="Group 154"/>
          <p:cNvGrpSpPr>
            <a:grpSpLocks/>
          </p:cNvGrpSpPr>
          <p:nvPr/>
        </p:nvGrpSpPr>
        <p:grpSpPr bwMode="auto">
          <a:xfrm>
            <a:off x="6040438" y="3933105"/>
            <a:ext cx="431800" cy="1008063"/>
            <a:chOff x="476" y="3113"/>
            <a:chExt cx="272" cy="635"/>
          </a:xfrm>
        </p:grpSpPr>
        <p:sp>
          <p:nvSpPr>
            <p:cNvPr id="98" name="Rectangle 155"/>
            <p:cNvSpPr>
              <a:spLocks noChangeArrowheads="1"/>
            </p:cNvSpPr>
            <p:nvPr/>
          </p:nvSpPr>
          <p:spPr bwMode="auto">
            <a:xfrm>
              <a:off x="476" y="3113"/>
              <a:ext cx="272" cy="635"/>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latin typeface="+mn-lt"/>
                  <a:ea typeface="楷体" panose="02010609060101010101" pitchFamily="49" charset="-122"/>
                </a:rPr>
                <a:t>3</a:t>
              </a:r>
            </a:p>
            <a:p>
              <a:pPr algn="ctr" eaLnBrk="1" hangingPunct="1">
                <a:lnSpc>
                  <a:spcPct val="120000"/>
                </a:lnSpc>
                <a:spcBef>
                  <a:spcPct val="0"/>
                </a:spcBef>
                <a:buFontTx/>
                <a:buNone/>
              </a:pPr>
              <a:r>
                <a:rPr kumimoji="0" lang="en-US" altLang="zh-CN" sz="1800" b="1">
                  <a:latin typeface="+mn-lt"/>
                  <a:ea typeface="楷体" panose="02010609060101010101" pitchFamily="49" charset="-122"/>
                </a:rPr>
                <a:t>4</a:t>
              </a:r>
            </a:p>
            <a:p>
              <a:pPr algn="ctr" eaLnBrk="1" hangingPunct="1">
                <a:lnSpc>
                  <a:spcPct val="120000"/>
                </a:lnSpc>
                <a:spcBef>
                  <a:spcPct val="0"/>
                </a:spcBef>
                <a:buFontTx/>
                <a:buNone/>
              </a:pPr>
              <a:r>
                <a:rPr kumimoji="0" lang="en-US" altLang="zh-CN" sz="1800" b="1">
                  <a:latin typeface="+mn-lt"/>
                  <a:ea typeface="楷体" panose="02010609060101010101" pitchFamily="49" charset="-122"/>
                </a:rPr>
                <a:t>5</a:t>
              </a:r>
            </a:p>
          </p:txBody>
        </p:sp>
        <p:sp>
          <p:nvSpPr>
            <p:cNvPr id="99" name="Line 156"/>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100" name="Line 157"/>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grpSp>
        <p:nvGrpSpPr>
          <p:cNvPr id="101" name="Group 158"/>
          <p:cNvGrpSpPr>
            <a:grpSpLocks/>
          </p:cNvGrpSpPr>
          <p:nvPr/>
        </p:nvGrpSpPr>
        <p:grpSpPr bwMode="auto">
          <a:xfrm>
            <a:off x="6605588" y="3933105"/>
            <a:ext cx="431800" cy="1008063"/>
            <a:chOff x="476" y="3113"/>
            <a:chExt cx="272" cy="635"/>
          </a:xfrm>
        </p:grpSpPr>
        <p:sp>
          <p:nvSpPr>
            <p:cNvPr id="102" name="Rectangle 159"/>
            <p:cNvSpPr>
              <a:spLocks noChangeArrowheads="1"/>
            </p:cNvSpPr>
            <p:nvPr/>
          </p:nvSpPr>
          <p:spPr bwMode="auto">
            <a:xfrm>
              <a:off x="476" y="3113"/>
              <a:ext cx="272" cy="635"/>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latin typeface="+mn-lt"/>
                  <a:ea typeface="楷体" panose="02010609060101010101" pitchFamily="49" charset="-122"/>
                </a:rPr>
                <a:t>2</a:t>
              </a:r>
            </a:p>
            <a:p>
              <a:pPr algn="ctr" eaLnBrk="1" hangingPunct="1">
                <a:lnSpc>
                  <a:spcPct val="120000"/>
                </a:lnSpc>
                <a:spcBef>
                  <a:spcPct val="0"/>
                </a:spcBef>
                <a:buFontTx/>
                <a:buNone/>
              </a:pPr>
              <a:r>
                <a:rPr kumimoji="0" lang="en-US" altLang="zh-CN" sz="1800" b="1">
                  <a:latin typeface="+mn-lt"/>
                  <a:ea typeface="楷体" panose="02010609060101010101" pitchFamily="49" charset="-122"/>
                </a:rPr>
                <a:t>3</a:t>
              </a:r>
            </a:p>
            <a:p>
              <a:pPr algn="ctr" eaLnBrk="1" hangingPunct="1">
                <a:lnSpc>
                  <a:spcPct val="120000"/>
                </a:lnSpc>
                <a:spcBef>
                  <a:spcPct val="0"/>
                </a:spcBef>
                <a:buFontTx/>
                <a:buNone/>
              </a:pPr>
              <a:r>
                <a:rPr kumimoji="0" lang="en-US" altLang="zh-CN" sz="1800" b="1">
                  <a:latin typeface="+mn-lt"/>
                  <a:ea typeface="楷体" panose="02010609060101010101" pitchFamily="49" charset="-122"/>
                </a:rPr>
                <a:t>4</a:t>
              </a:r>
            </a:p>
          </p:txBody>
        </p:sp>
        <p:sp>
          <p:nvSpPr>
            <p:cNvPr id="103" name="Line 160"/>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104" name="Line 161"/>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grpSp>
        <p:nvGrpSpPr>
          <p:cNvPr id="105" name="Group 162"/>
          <p:cNvGrpSpPr>
            <a:grpSpLocks/>
          </p:cNvGrpSpPr>
          <p:nvPr/>
        </p:nvGrpSpPr>
        <p:grpSpPr bwMode="auto">
          <a:xfrm>
            <a:off x="7186613" y="3933105"/>
            <a:ext cx="431800" cy="1008063"/>
            <a:chOff x="476" y="3113"/>
            <a:chExt cx="272" cy="635"/>
          </a:xfrm>
        </p:grpSpPr>
        <p:sp>
          <p:nvSpPr>
            <p:cNvPr id="106" name="Rectangle 163"/>
            <p:cNvSpPr>
              <a:spLocks noChangeArrowheads="1"/>
            </p:cNvSpPr>
            <p:nvPr/>
          </p:nvSpPr>
          <p:spPr bwMode="auto">
            <a:xfrm>
              <a:off x="476" y="3113"/>
              <a:ext cx="272" cy="635"/>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latin typeface="+mn-lt"/>
                  <a:ea typeface="楷体" panose="02010609060101010101" pitchFamily="49" charset="-122"/>
                </a:rPr>
                <a:t>1</a:t>
              </a:r>
            </a:p>
            <a:p>
              <a:pPr algn="ctr" eaLnBrk="1" hangingPunct="1">
                <a:lnSpc>
                  <a:spcPct val="120000"/>
                </a:lnSpc>
                <a:spcBef>
                  <a:spcPct val="0"/>
                </a:spcBef>
                <a:buFontTx/>
                <a:buNone/>
              </a:pPr>
              <a:r>
                <a:rPr kumimoji="0" lang="en-US" altLang="zh-CN" sz="1800" b="1">
                  <a:latin typeface="+mn-lt"/>
                  <a:ea typeface="楷体" panose="02010609060101010101" pitchFamily="49" charset="-122"/>
                </a:rPr>
                <a:t>2</a:t>
              </a:r>
            </a:p>
            <a:p>
              <a:pPr algn="ctr" eaLnBrk="1" hangingPunct="1">
                <a:lnSpc>
                  <a:spcPct val="120000"/>
                </a:lnSpc>
                <a:spcBef>
                  <a:spcPct val="0"/>
                </a:spcBef>
                <a:buFontTx/>
                <a:buNone/>
              </a:pPr>
              <a:r>
                <a:rPr kumimoji="0" lang="en-US" altLang="zh-CN" sz="1800" b="1">
                  <a:latin typeface="+mn-lt"/>
                  <a:ea typeface="楷体" panose="02010609060101010101" pitchFamily="49" charset="-122"/>
                </a:rPr>
                <a:t>3</a:t>
              </a:r>
            </a:p>
          </p:txBody>
        </p:sp>
        <p:sp>
          <p:nvSpPr>
            <p:cNvPr id="107" name="Line 164"/>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108" name="Line 165"/>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grpSp>
        <p:nvGrpSpPr>
          <p:cNvPr id="109" name="Group 166"/>
          <p:cNvGrpSpPr>
            <a:grpSpLocks/>
          </p:cNvGrpSpPr>
          <p:nvPr/>
        </p:nvGrpSpPr>
        <p:grpSpPr bwMode="auto">
          <a:xfrm>
            <a:off x="7762875" y="3933105"/>
            <a:ext cx="431800" cy="1008063"/>
            <a:chOff x="476" y="3113"/>
            <a:chExt cx="272" cy="635"/>
          </a:xfrm>
        </p:grpSpPr>
        <p:sp>
          <p:nvSpPr>
            <p:cNvPr id="110" name="Rectangle 167"/>
            <p:cNvSpPr>
              <a:spLocks noChangeArrowheads="1"/>
            </p:cNvSpPr>
            <p:nvPr/>
          </p:nvSpPr>
          <p:spPr bwMode="auto">
            <a:xfrm>
              <a:off x="476" y="3113"/>
              <a:ext cx="272" cy="635"/>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latin typeface="+mn-lt"/>
                  <a:ea typeface="楷体" panose="02010609060101010101" pitchFamily="49" charset="-122"/>
                </a:rPr>
                <a:t>5</a:t>
              </a:r>
            </a:p>
            <a:p>
              <a:pPr algn="ctr" eaLnBrk="1" hangingPunct="1">
                <a:lnSpc>
                  <a:spcPct val="120000"/>
                </a:lnSpc>
                <a:spcBef>
                  <a:spcPct val="0"/>
                </a:spcBef>
                <a:buFontTx/>
                <a:buNone/>
              </a:pPr>
              <a:r>
                <a:rPr kumimoji="0" lang="en-US" altLang="zh-CN" sz="1800" b="1">
                  <a:latin typeface="+mn-lt"/>
                  <a:ea typeface="楷体" panose="02010609060101010101" pitchFamily="49" charset="-122"/>
                </a:rPr>
                <a:t>1</a:t>
              </a:r>
            </a:p>
            <a:p>
              <a:pPr algn="ctr" eaLnBrk="1" hangingPunct="1">
                <a:lnSpc>
                  <a:spcPct val="120000"/>
                </a:lnSpc>
                <a:spcBef>
                  <a:spcPct val="0"/>
                </a:spcBef>
                <a:buFontTx/>
                <a:buNone/>
              </a:pPr>
              <a:r>
                <a:rPr kumimoji="0" lang="en-US" altLang="zh-CN" sz="1800" b="1">
                  <a:latin typeface="+mn-lt"/>
                  <a:ea typeface="楷体" panose="02010609060101010101" pitchFamily="49" charset="-122"/>
                </a:rPr>
                <a:t>2</a:t>
              </a:r>
            </a:p>
          </p:txBody>
        </p:sp>
        <p:sp>
          <p:nvSpPr>
            <p:cNvPr id="111" name="Line 168"/>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112" name="Line 169"/>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
        <p:nvSpPr>
          <p:cNvPr id="113" name="Text Box 170"/>
          <p:cNvSpPr txBox="1">
            <a:spLocks noChangeArrowheads="1"/>
          </p:cNvSpPr>
          <p:nvPr/>
        </p:nvSpPr>
        <p:spPr bwMode="auto">
          <a:xfrm>
            <a:off x="1531938" y="3514005"/>
            <a:ext cx="3603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latin typeface="+mn-lt"/>
                <a:ea typeface="楷体" panose="02010609060101010101" pitchFamily="49" charset="-122"/>
                <a:sym typeface="Symbol" panose="05050102010706020507" pitchFamily="18" charset="2"/>
              </a:rPr>
              <a:t></a:t>
            </a:r>
          </a:p>
        </p:txBody>
      </p:sp>
      <p:sp>
        <p:nvSpPr>
          <p:cNvPr id="114" name="Text Box 171"/>
          <p:cNvSpPr txBox="1">
            <a:spLocks noChangeArrowheads="1"/>
          </p:cNvSpPr>
          <p:nvPr/>
        </p:nvSpPr>
        <p:spPr bwMode="auto">
          <a:xfrm>
            <a:off x="2139950" y="3520355"/>
            <a:ext cx="3603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latin typeface="+mn-lt"/>
                <a:ea typeface="楷体" panose="02010609060101010101" pitchFamily="49" charset="-122"/>
                <a:sym typeface="Symbol" panose="05050102010706020507" pitchFamily="18" charset="2"/>
              </a:rPr>
              <a:t></a:t>
            </a:r>
          </a:p>
        </p:txBody>
      </p:sp>
      <p:sp>
        <p:nvSpPr>
          <p:cNvPr id="115" name="Text Box 172"/>
          <p:cNvSpPr txBox="1">
            <a:spLocks noChangeArrowheads="1"/>
          </p:cNvSpPr>
          <p:nvPr/>
        </p:nvSpPr>
        <p:spPr bwMode="auto">
          <a:xfrm>
            <a:off x="2682875" y="3520355"/>
            <a:ext cx="3603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latin typeface="+mn-lt"/>
                <a:ea typeface="楷体" panose="02010609060101010101" pitchFamily="49" charset="-122"/>
                <a:sym typeface="Symbol" panose="05050102010706020507" pitchFamily="18" charset="2"/>
              </a:rPr>
              <a:t></a:t>
            </a:r>
          </a:p>
        </p:txBody>
      </p:sp>
      <p:sp>
        <p:nvSpPr>
          <p:cNvPr id="116" name="Text Box 121"/>
          <p:cNvSpPr txBox="1">
            <a:spLocks noChangeArrowheads="1"/>
          </p:cNvSpPr>
          <p:nvPr/>
        </p:nvSpPr>
        <p:spPr bwMode="auto">
          <a:xfrm>
            <a:off x="300606" y="4625255"/>
            <a:ext cx="105795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kumimoji="0" lang="zh-CN" altLang="en-US" sz="1800" b="1" dirty="0">
                <a:latin typeface="+mn-lt"/>
                <a:ea typeface="楷体" panose="02010609060101010101" pitchFamily="49" charset="-122"/>
              </a:rPr>
              <a:t>最老 </a:t>
            </a:r>
            <a:r>
              <a:rPr kumimoji="0" lang="en-US" altLang="zh-CN" sz="1800" b="1" dirty="0">
                <a:latin typeface="+mn-lt"/>
                <a:ea typeface="楷体" panose="02010609060101010101" pitchFamily="49" charset="-122"/>
                <a:sym typeface="Wingdings" panose="05000000000000000000" pitchFamily="2" charset="2"/>
              </a:rPr>
              <a:t></a:t>
            </a:r>
            <a:endParaRPr kumimoji="0" lang="zh-CN" altLang="en-US" sz="1800" b="1" dirty="0">
              <a:latin typeface="+mn-lt"/>
              <a:ea typeface="楷体" panose="02010609060101010101" pitchFamily="49" charset="-122"/>
            </a:endParaRPr>
          </a:p>
        </p:txBody>
      </p:sp>
    </p:spTree>
    <p:extLst>
      <p:ext uri="{BB962C8B-B14F-4D97-AF65-F5344CB8AC3E}">
        <p14:creationId xmlns:p14="http://schemas.microsoft.com/office/powerpoint/2010/main" val="1403074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0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0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先进先出算法（</a:t>
            </a:r>
            <a:r>
              <a:rPr lang="en-US" altLang="zh-CN" dirty="0"/>
              <a:t>FIFO</a:t>
            </a:r>
            <a:r>
              <a:rPr lang="zh-CN" altLang="en-US" dirty="0"/>
              <a:t>）</a:t>
            </a:r>
          </a:p>
        </p:txBody>
      </p:sp>
      <p:sp>
        <p:nvSpPr>
          <p:cNvPr id="3" name="Content Placeholder 2"/>
          <p:cNvSpPr>
            <a:spLocks noGrp="1"/>
          </p:cNvSpPr>
          <p:nvPr>
            <p:ph idx="1"/>
          </p:nvPr>
        </p:nvSpPr>
        <p:spPr/>
        <p:txBody>
          <a:bodyPr/>
          <a:lstStyle/>
          <a:p>
            <a:r>
              <a:rPr lang="zh-CN" altLang="en-US" dirty="0"/>
              <a:t>基本原理与特点</a:t>
            </a:r>
            <a:endParaRPr lang="en-US" altLang="zh-CN" dirty="0"/>
          </a:p>
          <a:p>
            <a:pPr lvl="1"/>
            <a:r>
              <a:rPr lang="zh-CN" altLang="en-US" dirty="0"/>
              <a:t>模拟</a:t>
            </a:r>
            <a:r>
              <a:rPr lang="en-US" altLang="zh-CN" dirty="0"/>
              <a:t>LRU</a:t>
            </a:r>
            <a:r>
              <a:rPr lang="zh-CN" altLang="en-US" dirty="0"/>
              <a:t>算法</a:t>
            </a:r>
            <a:endParaRPr lang="en-US" altLang="zh-CN" dirty="0"/>
          </a:p>
          <a:p>
            <a:pPr lvl="1"/>
            <a:r>
              <a:rPr lang="zh-CN" altLang="en-US" dirty="0"/>
              <a:t>选择</a:t>
            </a:r>
            <a:r>
              <a:rPr lang="zh-CN" altLang="en-US" b="1" dirty="0">
                <a:solidFill>
                  <a:srgbClr val="FF0000"/>
                </a:solidFill>
              </a:rPr>
              <a:t>建立最早</a:t>
            </a:r>
            <a:r>
              <a:rPr lang="zh-CN" altLang="en-US" dirty="0"/>
              <a:t>、在内存驻留时间最长的页面被置换</a:t>
            </a:r>
          </a:p>
          <a:p>
            <a:pPr lvl="1"/>
            <a:r>
              <a:rPr lang="zh-CN" altLang="en-US" dirty="0"/>
              <a:t>会出现</a:t>
            </a:r>
            <a:r>
              <a:rPr lang="en-US" altLang="zh-CN" dirty="0" err="1"/>
              <a:t>Belady</a:t>
            </a:r>
            <a:r>
              <a:rPr lang="zh-CN" altLang="en-US" dirty="0"/>
              <a:t>异常现象</a:t>
            </a:r>
            <a:endParaRPr lang="en-US" altLang="zh-CN" dirty="0"/>
          </a:p>
          <a:p>
            <a:pPr lvl="1"/>
            <a:r>
              <a:rPr lang="zh-CN" altLang="en-US" dirty="0"/>
              <a:t>较早调入的页往往是经常被访问的页，这些页在</a:t>
            </a:r>
            <a:r>
              <a:rPr lang="en-US" altLang="zh-CN" dirty="0"/>
              <a:t>FIFO</a:t>
            </a:r>
            <a:r>
              <a:rPr lang="zh-CN" altLang="en-US" dirty="0"/>
              <a:t>算法下被反复调入和调出</a:t>
            </a:r>
            <a:endParaRPr lang="en-US" altLang="zh-CN" dirty="0"/>
          </a:p>
          <a:p>
            <a:endParaRPr lang="en-US" altLang="zh-CN" dirty="0"/>
          </a:p>
          <a:p>
            <a:r>
              <a:rPr lang="zh-CN" altLang="en-US" dirty="0"/>
              <a:t>贝莱迪（</a:t>
            </a:r>
            <a:r>
              <a:rPr lang="en-US" altLang="zh-CN" dirty="0" err="1"/>
              <a:t>Belady</a:t>
            </a:r>
            <a:r>
              <a:rPr lang="zh-CN" altLang="en-US" dirty="0" smtClean="0"/>
              <a:t>）现象</a:t>
            </a:r>
            <a:r>
              <a:rPr lang="zh-CN" altLang="en-US" dirty="0"/>
              <a:t>（异常）</a:t>
            </a:r>
            <a:endParaRPr lang="en-US" altLang="zh-CN" dirty="0"/>
          </a:p>
          <a:p>
            <a:pPr lvl="1"/>
            <a:r>
              <a:rPr lang="zh-CN" altLang="en-US" dirty="0"/>
              <a:t>采用</a:t>
            </a:r>
            <a:r>
              <a:rPr lang="en-US" altLang="zh-CN" dirty="0"/>
              <a:t>FIFO</a:t>
            </a:r>
            <a:r>
              <a:rPr lang="zh-CN" altLang="en-US" dirty="0"/>
              <a:t>算法时，如果对一个进程未分配它所要求的全部页面，如果分配的页面数增多，有可能缺页率反而提高</a:t>
            </a:r>
          </a:p>
          <a:p>
            <a:pPr lvl="1"/>
            <a:endParaRPr lang="zh-CN" altLang="en-US" dirty="0"/>
          </a:p>
        </p:txBody>
      </p:sp>
      <p:sp>
        <p:nvSpPr>
          <p:cNvPr id="4" name="Date Placeholder 3"/>
          <p:cNvSpPr>
            <a:spLocks noGrp="1"/>
          </p:cNvSpPr>
          <p:nvPr>
            <p:ph type="dt" sz="half" idx="10"/>
          </p:nvPr>
        </p:nvSpPr>
        <p:spPr/>
        <p:txBody>
          <a:bodyPr/>
          <a:lstStyle/>
          <a:p>
            <a:fld id="{17252DC6-9358-4412-A938-1EE70DCBC7FC}"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115</a:t>
            </a:fld>
            <a:endParaRPr lang="zh-CN" altLang="en-US" dirty="0"/>
          </a:p>
        </p:txBody>
      </p:sp>
    </p:spTree>
    <p:extLst>
      <p:ext uri="{BB962C8B-B14F-4D97-AF65-F5344CB8AC3E}">
        <p14:creationId xmlns:p14="http://schemas.microsoft.com/office/powerpoint/2010/main" val="491576458"/>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先进先出算法（</a:t>
            </a:r>
            <a:r>
              <a:rPr lang="en-US" altLang="zh-CN" dirty="0"/>
              <a:t>FIFO</a:t>
            </a:r>
            <a:r>
              <a:rPr lang="zh-CN" altLang="en-US" dirty="0"/>
              <a:t>）</a:t>
            </a:r>
          </a:p>
        </p:txBody>
      </p:sp>
      <p:sp>
        <p:nvSpPr>
          <p:cNvPr id="4" name="Date Placeholder 3"/>
          <p:cNvSpPr>
            <a:spLocks noGrp="1"/>
          </p:cNvSpPr>
          <p:nvPr>
            <p:ph type="dt" sz="half" idx="10"/>
          </p:nvPr>
        </p:nvSpPr>
        <p:spPr/>
        <p:txBody>
          <a:bodyPr/>
          <a:lstStyle/>
          <a:p>
            <a:fld id="{2B72E266-75BD-4337-9967-296B84A679E9}"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116</a:t>
            </a:fld>
            <a:endParaRPr lang="zh-CN" altLang="en-US" dirty="0"/>
          </a:p>
        </p:txBody>
      </p:sp>
      <p:sp>
        <p:nvSpPr>
          <p:cNvPr id="7" name="Text Box 4"/>
          <p:cNvSpPr txBox="1">
            <a:spLocks noChangeArrowheads="1"/>
          </p:cNvSpPr>
          <p:nvPr/>
        </p:nvSpPr>
        <p:spPr bwMode="auto">
          <a:xfrm>
            <a:off x="609600" y="1700808"/>
            <a:ext cx="78486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000" b="1" dirty="0">
                <a:latin typeface="+mn-lt"/>
                <a:ea typeface="楷体" panose="02010609060101010101" pitchFamily="49" charset="-122"/>
              </a:rPr>
              <a:t>进程</a:t>
            </a:r>
            <a:r>
              <a:rPr lang="en-US" altLang="zh-CN" sz="2000" b="1" dirty="0">
                <a:latin typeface="+mn-lt"/>
                <a:ea typeface="楷体" panose="02010609060101010101" pitchFamily="49" charset="-122"/>
              </a:rPr>
              <a:t>P</a:t>
            </a:r>
            <a:r>
              <a:rPr lang="zh-CN" altLang="en-US" sz="2000" b="1" dirty="0">
                <a:latin typeface="+mn-lt"/>
                <a:ea typeface="楷体" panose="02010609060101010101" pitchFamily="49" charset="-122"/>
              </a:rPr>
              <a:t>有</a:t>
            </a:r>
            <a:r>
              <a:rPr lang="en-US" altLang="zh-CN" sz="2000" b="1" dirty="0">
                <a:latin typeface="+mn-lt"/>
                <a:ea typeface="楷体" panose="02010609060101010101" pitchFamily="49" charset="-122"/>
              </a:rPr>
              <a:t>5</a:t>
            </a:r>
            <a:r>
              <a:rPr lang="zh-CN" altLang="en-US" sz="2000" b="1" dirty="0">
                <a:latin typeface="+mn-lt"/>
                <a:ea typeface="楷体" panose="02010609060101010101" pitchFamily="49" charset="-122"/>
              </a:rPr>
              <a:t>页程序</a:t>
            </a:r>
            <a:r>
              <a:rPr lang="en-US" altLang="zh-CN" sz="2000" b="1" dirty="0">
                <a:latin typeface="+mn-lt"/>
                <a:ea typeface="楷体" panose="02010609060101010101" pitchFamily="49" charset="-122"/>
              </a:rPr>
              <a:t>,</a:t>
            </a:r>
            <a:r>
              <a:rPr lang="zh-CN" altLang="en-US" sz="2000" b="1" dirty="0">
                <a:latin typeface="+mn-lt"/>
                <a:ea typeface="楷体" panose="02010609060101010101" pitchFamily="49" charset="-122"/>
              </a:rPr>
              <a:t>访问页的顺序为：</a:t>
            </a:r>
            <a:r>
              <a:rPr lang="en-US" altLang="zh-CN" sz="2000" b="1" dirty="0">
                <a:latin typeface="+mn-lt"/>
                <a:ea typeface="楷体" panose="02010609060101010101" pitchFamily="49" charset="-122"/>
              </a:rPr>
              <a:t>1, 2, 3, 4, 1, 2, 5, 1, 2, 3, 4, 5</a:t>
            </a:r>
            <a:r>
              <a:rPr lang="zh-CN" altLang="en-US" sz="2000" b="1" dirty="0">
                <a:latin typeface="+mn-lt"/>
                <a:ea typeface="楷体" panose="02010609060101010101" pitchFamily="49" charset="-122"/>
              </a:rPr>
              <a:t>；如果在内存中分配</a:t>
            </a:r>
            <a:r>
              <a:rPr lang="en-US" altLang="zh-CN" sz="2000" b="1" dirty="0">
                <a:latin typeface="+mn-lt"/>
                <a:ea typeface="楷体" panose="02010609060101010101" pitchFamily="49" charset="-122"/>
              </a:rPr>
              <a:t>3</a:t>
            </a:r>
            <a:r>
              <a:rPr lang="zh-CN" altLang="en-US" sz="2000" b="1" dirty="0">
                <a:latin typeface="+mn-lt"/>
                <a:ea typeface="楷体" panose="02010609060101010101" pitchFamily="49" charset="-122"/>
              </a:rPr>
              <a:t>个页面，则缺页情况如下：</a:t>
            </a:r>
            <a:r>
              <a:rPr lang="en-US" altLang="zh-CN" sz="2000" b="1" dirty="0">
                <a:latin typeface="+mn-lt"/>
                <a:ea typeface="楷体" panose="02010609060101010101" pitchFamily="49" charset="-122"/>
              </a:rPr>
              <a:t>12</a:t>
            </a:r>
            <a:r>
              <a:rPr lang="zh-CN" altLang="en-US" sz="2000" b="1" dirty="0">
                <a:latin typeface="+mn-lt"/>
                <a:ea typeface="楷体" panose="02010609060101010101" pitchFamily="49" charset="-122"/>
              </a:rPr>
              <a:t>次访问中有缺页</a:t>
            </a:r>
            <a:r>
              <a:rPr lang="en-US" altLang="zh-CN" sz="2000" b="1" dirty="0">
                <a:latin typeface="+mn-lt"/>
                <a:ea typeface="楷体" panose="02010609060101010101" pitchFamily="49" charset="-122"/>
              </a:rPr>
              <a:t>9</a:t>
            </a:r>
            <a:r>
              <a:rPr lang="zh-CN" altLang="en-US" sz="2000" b="1" dirty="0">
                <a:latin typeface="+mn-lt"/>
                <a:ea typeface="楷体" panose="02010609060101010101" pitchFamily="49" charset="-122"/>
              </a:rPr>
              <a:t>次；</a:t>
            </a:r>
          </a:p>
        </p:txBody>
      </p:sp>
      <p:sp>
        <p:nvSpPr>
          <p:cNvPr id="8" name="Text Box 64"/>
          <p:cNvSpPr txBox="1">
            <a:spLocks noChangeArrowheads="1"/>
          </p:cNvSpPr>
          <p:nvPr/>
        </p:nvSpPr>
        <p:spPr bwMode="auto">
          <a:xfrm>
            <a:off x="323528" y="3068960"/>
            <a:ext cx="828092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b="1" dirty="0">
                <a:solidFill>
                  <a:srgbClr val="0033CC"/>
                </a:solidFill>
                <a:latin typeface="+mn-lt"/>
                <a:ea typeface="楷体" panose="02010609060101010101" pitchFamily="49" charset="-122"/>
              </a:rPr>
              <a:t>FIFO      1       2       3       4       1      2       5      1       2       3       4      5</a:t>
            </a:r>
          </a:p>
        </p:txBody>
      </p:sp>
      <p:grpSp>
        <p:nvGrpSpPr>
          <p:cNvPr id="9" name="Group 65"/>
          <p:cNvGrpSpPr>
            <a:grpSpLocks/>
          </p:cNvGrpSpPr>
          <p:nvPr/>
        </p:nvGrpSpPr>
        <p:grpSpPr bwMode="auto">
          <a:xfrm>
            <a:off x="1274887" y="3669953"/>
            <a:ext cx="457200" cy="1905000"/>
            <a:chOff x="882" y="2688"/>
            <a:chExt cx="288" cy="1200"/>
          </a:xfrm>
        </p:grpSpPr>
        <p:sp>
          <p:nvSpPr>
            <p:cNvPr id="10" name="Text Box 66"/>
            <p:cNvSpPr txBox="1">
              <a:spLocks noChangeArrowheads="1"/>
            </p:cNvSpPr>
            <p:nvPr/>
          </p:nvSpPr>
          <p:spPr bwMode="auto">
            <a:xfrm>
              <a:off x="882" y="2688"/>
              <a:ext cx="288" cy="98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lang="en-US" altLang="zh-CN" sz="2400" b="1">
                  <a:solidFill>
                    <a:srgbClr val="FF3300"/>
                  </a:solidFill>
                  <a:latin typeface="+mn-lt"/>
                  <a:ea typeface="楷体" panose="02010609060101010101" pitchFamily="49" charset="-122"/>
                </a:rPr>
                <a:t>1</a:t>
              </a:r>
            </a:p>
            <a:p>
              <a:pPr algn="ctr" eaLnBrk="1" hangingPunct="1">
                <a:spcBef>
                  <a:spcPct val="50000"/>
                </a:spcBef>
                <a:buFontTx/>
                <a:buNone/>
              </a:pPr>
              <a:endParaRPr lang="en-US" altLang="zh-CN" sz="2400" b="1">
                <a:latin typeface="+mn-lt"/>
                <a:ea typeface="楷体" panose="02010609060101010101" pitchFamily="49" charset="-122"/>
              </a:endParaRPr>
            </a:p>
            <a:p>
              <a:pPr algn="ctr" eaLnBrk="1" hangingPunct="1">
                <a:spcBef>
                  <a:spcPct val="50000"/>
                </a:spcBef>
                <a:buFontTx/>
                <a:buNone/>
              </a:pPr>
              <a:endParaRPr lang="en-US" altLang="zh-CN" sz="2400" b="1">
                <a:latin typeface="+mn-lt"/>
                <a:ea typeface="楷体" panose="02010609060101010101" pitchFamily="49" charset="-122"/>
              </a:endParaRPr>
            </a:p>
          </p:txBody>
        </p:sp>
        <p:sp>
          <p:nvSpPr>
            <p:cNvPr id="11" name="Line 67"/>
            <p:cNvSpPr>
              <a:spLocks noChangeShapeType="1"/>
            </p:cNvSpPr>
            <p:nvPr/>
          </p:nvSpPr>
          <p:spPr bwMode="auto">
            <a:xfrm>
              <a:off x="882" y="3024"/>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12" name="Line 68"/>
            <p:cNvSpPr>
              <a:spLocks noChangeShapeType="1"/>
            </p:cNvSpPr>
            <p:nvPr/>
          </p:nvSpPr>
          <p:spPr bwMode="auto">
            <a:xfrm>
              <a:off x="882" y="3339"/>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13" name="Oval 69"/>
            <p:cNvSpPr>
              <a:spLocks noChangeArrowheads="1"/>
            </p:cNvSpPr>
            <p:nvPr/>
          </p:nvSpPr>
          <p:spPr bwMode="auto">
            <a:xfrm>
              <a:off x="960" y="3792"/>
              <a:ext cx="96" cy="96"/>
            </a:xfrm>
            <a:prstGeom prst="ellipse">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latin typeface="+mn-lt"/>
                <a:ea typeface="楷体" panose="02010609060101010101" pitchFamily="49" charset="-122"/>
              </a:endParaRPr>
            </a:p>
          </p:txBody>
        </p:sp>
      </p:grpSp>
      <p:grpSp>
        <p:nvGrpSpPr>
          <p:cNvPr id="14" name="Group 70"/>
          <p:cNvGrpSpPr>
            <a:grpSpLocks/>
          </p:cNvGrpSpPr>
          <p:nvPr/>
        </p:nvGrpSpPr>
        <p:grpSpPr bwMode="auto">
          <a:xfrm>
            <a:off x="1889250" y="3669953"/>
            <a:ext cx="457200" cy="1905000"/>
            <a:chOff x="1269" y="2688"/>
            <a:chExt cx="288" cy="1200"/>
          </a:xfrm>
        </p:grpSpPr>
        <p:sp>
          <p:nvSpPr>
            <p:cNvPr id="15" name="Text Box 71"/>
            <p:cNvSpPr txBox="1">
              <a:spLocks noChangeArrowheads="1"/>
            </p:cNvSpPr>
            <p:nvPr/>
          </p:nvSpPr>
          <p:spPr bwMode="auto">
            <a:xfrm>
              <a:off x="1269" y="2688"/>
              <a:ext cx="288" cy="98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lang="en-US" altLang="zh-CN" sz="2400" b="1">
                  <a:solidFill>
                    <a:srgbClr val="FF3300"/>
                  </a:solidFill>
                  <a:latin typeface="+mn-lt"/>
                  <a:ea typeface="楷体" panose="02010609060101010101" pitchFamily="49" charset="-122"/>
                </a:rPr>
                <a:t>1</a:t>
              </a:r>
            </a:p>
            <a:p>
              <a:pPr algn="ctr" eaLnBrk="1" hangingPunct="1">
                <a:spcBef>
                  <a:spcPct val="50000"/>
                </a:spcBef>
                <a:buFontTx/>
                <a:buNone/>
              </a:pPr>
              <a:r>
                <a:rPr lang="en-US" altLang="zh-CN" sz="2400" b="1">
                  <a:solidFill>
                    <a:srgbClr val="FF3300"/>
                  </a:solidFill>
                  <a:latin typeface="+mn-lt"/>
                  <a:ea typeface="楷体" panose="02010609060101010101" pitchFamily="49" charset="-122"/>
                </a:rPr>
                <a:t>2</a:t>
              </a:r>
            </a:p>
            <a:p>
              <a:pPr algn="ctr" eaLnBrk="1" hangingPunct="1">
                <a:spcBef>
                  <a:spcPct val="50000"/>
                </a:spcBef>
                <a:buFontTx/>
                <a:buNone/>
              </a:pPr>
              <a:endParaRPr lang="en-US" altLang="zh-CN" sz="2400" b="1">
                <a:latin typeface="+mn-lt"/>
                <a:ea typeface="楷体" panose="02010609060101010101" pitchFamily="49" charset="-122"/>
              </a:endParaRPr>
            </a:p>
          </p:txBody>
        </p:sp>
        <p:sp>
          <p:nvSpPr>
            <p:cNvPr id="16" name="Line 72"/>
            <p:cNvSpPr>
              <a:spLocks noChangeShapeType="1"/>
            </p:cNvSpPr>
            <p:nvPr/>
          </p:nvSpPr>
          <p:spPr bwMode="auto">
            <a:xfrm>
              <a:off x="1269" y="3024"/>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17" name="Line 73"/>
            <p:cNvSpPr>
              <a:spLocks noChangeShapeType="1"/>
            </p:cNvSpPr>
            <p:nvPr/>
          </p:nvSpPr>
          <p:spPr bwMode="auto">
            <a:xfrm>
              <a:off x="1269" y="3339"/>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18" name="Oval 74"/>
            <p:cNvSpPr>
              <a:spLocks noChangeArrowheads="1"/>
            </p:cNvSpPr>
            <p:nvPr/>
          </p:nvSpPr>
          <p:spPr bwMode="auto">
            <a:xfrm>
              <a:off x="1347" y="3792"/>
              <a:ext cx="96" cy="96"/>
            </a:xfrm>
            <a:prstGeom prst="ellipse">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latin typeface="+mn-lt"/>
                <a:ea typeface="楷体" panose="02010609060101010101" pitchFamily="49" charset="-122"/>
              </a:endParaRPr>
            </a:p>
          </p:txBody>
        </p:sp>
      </p:grpSp>
      <p:grpSp>
        <p:nvGrpSpPr>
          <p:cNvPr id="19" name="Group 75"/>
          <p:cNvGrpSpPr>
            <a:grpSpLocks/>
          </p:cNvGrpSpPr>
          <p:nvPr/>
        </p:nvGrpSpPr>
        <p:grpSpPr bwMode="auto">
          <a:xfrm>
            <a:off x="2494087" y="3669953"/>
            <a:ext cx="457200" cy="1905000"/>
            <a:chOff x="1650" y="2688"/>
            <a:chExt cx="288" cy="1200"/>
          </a:xfrm>
        </p:grpSpPr>
        <p:sp>
          <p:nvSpPr>
            <p:cNvPr id="20" name="Text Box 76"/>
            <p:cNvSpPr txBox="1">
              <a:spLocks noChangeArrowheads="1"/>
            </p:cNvSpPr>
            <p:nvPr/>
          </p:nvSpPr>
          <p:spPr bwMode="auto">
            <a:xfrm>
              <a:off x="1650" y="2688"/>
              <a:ext cx="288" cy="98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lang="en-US" altLang="zh-CN" sz="2400" b="1">
                  <a:solidFill>
                    <a:srgbClr val="FF3300"/>
                  </a:solidFill>
                  <a:latin typeface="+mn-lt"/>
                  <a:ea typeface="楷体" panose="02010609060101010101" pitchFamily="49" charset="-122"/>
                </a:rPr>
                <a:t>1</a:t>
              </a:r>
            </a:p>
            <a:p>
              <a:pPr algn="ctr" eaLnBrk="1" hangingPunct="1">
                <a:spcBef>
                  <a:spcPct val="50000"/>
                </a:spcBef>
                <a:buFontTx/>
                <a:buNone/>
              </a:pPr>
              <a:r>
                <a:rPr lang="en-US" altLang="zh-CN" sz="2400" b="1">
                  <a:solidFill>
                    <a:srgbClr val="FF3300"/>
                  </a:solidFill>
                  <a:latin typeface="+mn-lt"/>
                  <a:ea typeface="楷体" panose="02010609060101010101" pitchFamily="49" charset="-122"/>
                </a:rPr>
                <a:t>2</a:t>
              </a:r>
            </a:p>
            <a:p>
              <a:pPr algn="ctr" eaLnBrk="1" hangingPunct="1">
                <a:spcBef>
                  <a:spcPct val="50000"/>
                </a:spcBef>
                <a:buFontTx/>
                <a:buNone/>
              </a:pPr>
              <a:r>
                <a:rPr lang="en-US" altLang="zh-CN" sz="2400" b="1">
                  <a:solidFill>
                    <a:srgbClr val="FF3300"/>
                  </a:solidFill>
                  <a:latin typeface="+mn-lt"/>
                  <a:ea typeface="楷体" panose="02010609060101010101" pitchFamily="49" charset="-122"/>
                </a:rPr>
                <a:t>3</a:t>
              </a:r>
            </a:p>
          </p:txBody>
        </p:sp>
        <p:sp>
          <p:nvSpPr>
            <p:cNvPr id="21" name="Line 77"/>
            <p:cNvSpPr>
              <a:spLocks noChangeShapeType="1"/>
            </p:cNvSpPr>
            <p:nvPr/>
          </p:nvSpPr>
          <p:spPr bwMode="auto">
            <a:xfrm>
              <a:off x="1650" y="3024"/>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22" name="Line 78"/>
            <p:cNvSpPr>
              <a:spLocks noChangeShapeType="1"/>
            </p:cNvSpPr>
            <p:nvPr/>
          </p:nvSpPr>
          <p:spPr bwMode="auto">
            <a:xfrm>
              <a:off x="1650" y="3339"/>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23" name="Oval 79"/>
            <p:cNvSpPr>
              <a:spLocks noChangeArrowheads="1"/>
            </p:cNvSpPr>
            <p:nvPr/>
          </p:nvSpPr>
          <p:spPr bwMode="auto">
            <a:xfrm>
              <a:off x="1728" y="3792"/>
              <a:ext cx="96" cy="96"/>
            </a:xfrm>
            <a:prstGeom prst="ellipse">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latin typeface="+mn-lt"/>
                <a:ea typeface="楷体" panose="02010609060101010101" pitchFamily="49" charset="-122"/>
              </a:endParaRPr>
            </a:p>
          </p:txBody>
        </p:sp>
      </p:grpSp>
      <p:grpSp>
        <p:nvGrpSpPr>
          <p:cNvPr id="24" name="Group 80"/>
          <p:cNvGrpSpPr>
            <a:grpSpLocks/>
          </p:cNvGrpSpPr>
          <p:nvPr/>
        </p:nvGrpSpPr>
        <p:grpSpPr bwMode="auto">
          <a:xfrm>
            <a:off x="3117975" y="3669953"/>
            <a:ext cx="457200" cy="1905000"/>
            <a:chOff x="2043" y="2688"/>
            <a:chExt cx="288" cy="1200"/>
          </a:xfrm>
        </p:grpSpPr>
        <p:sp>
          <p:nvSpPr>
            <p:cNvPr id="25" name="Text Box 81"/>
            <p:cNvSpPr txBox="1">
              <a:spLocks noChangeArrowheads="1"/>
            </p:cNvSpPr>
            <p:nvPr/>
          </p:nvSpPr>
          <p:spPr bwMode="auto">
            <a:xfrm>
              <a:off x="2043" y="2688"/>
              <a:ext cx="288" cy="98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lang="en-US" altLang="zh-CN" sz="2400" b="1">
                  <a:solidFill>
                    <a:srgbClr val="FF3300"/>
                  </a:solidFill>
                  <a:latin typeface="+mn-lt"/>
                  <a:ea typeface="楷体" panose="02010609060101010101" pitchFamily="49" charset="-122"/>
                </a:rPr>
                <a:t>4</a:t>
              </a:r>
            </a:p>
            <a:p>
              <a:pPr algn="ctr" eaLnBrk="1" hangingPunct="1">
                <a:spcBef>
                  <a:spcPct val="50000"/>
                </a:spcBef>
                <a:buFontTx/>
                <a:buNone/>
              </a:pPr>
              <a:r>
                <a:rPr lang="en-US" altLang="zh-CN" sz="2400" b="1">
                  <a:solidFill>
                    <a:srgbClr val="FF3300"/>
                  </a:solidFill>
                  <a:latin typeface="+mn-lt"/>
                  <a:ea typeface="楷体" panose="02010609060101010101" pitchFamily="49" charset="-122"/>
                </a:rPr>
                <a:t>2</a:t>
              </a:r>
            </a:p>
            <a:p>
              <a:pPr algn="ctr" eaLnBrk="1" hangingPunct="1">
                <a:spcBef>
                  <a:spcPct val="50000"/>
                </a:spcBef>
                <a:buFontTx/>
                <a:buNone/>
              </a:pPr>
              <a:r>
                <a:rPr lang="en-US" altLang="zh-CN" sz="2400" b="1">
                  <a:solidFill>
                    <a:srgbClr val="FF3300"/>
                  </a:solidFill>
                  <a:latin typeface="+mn-lt"/>
                  <a:ea typeface="楷体" panose="02010609060101010101" pitchFamily="49" charset="-122"/>
                </a:rPr>
                <a:t>3</a:t>
              </a:r>
            </a:p>
          </p:txBody>
        </p:sp>
        <p:sp>
          <p:nvSpPr>
            <p:cNvPr id="26" name="Line 82"/>
            <p:cNvSpPr>
              <a:spLocks noChangeShapeType="1"/>
            </p:cNvSpPr>
            <p:nvPr/>
          </p:nvSpPr>
          <p:spPr bwMode="auto">
            <a:xfrm>
              <a:off x="2043" y="3024"/>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27" name="Line 83"/>
            <p:cNvSpPr>
              <a:spLocks noChangeShapeType="1"/>
            </p:cNvSpPr>
            <p:nvPr/>
          </p:nvSpPr>
          <p:spPr bwMode="auto">
            <a:xfrm>
              <a:off x="2043" y="3339"/>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28" name="Oval 84"/>
            <p:cNvSpPr>
              <a:spLocks noChangeArrowheads="1"/>
            </p:cNvSpPr>
            <p:nvPr/>
          </p:nvSpPr>
          <p:spPr bwMode="auto">
            <a:xfrm>
              <a:off x="2121" y="3792"/>
              <a:ext cx="96" cy="96"/>
            </a:xfrm>
            <a:prstGeom prst="ellipse">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latin typeface="+mn-lt"/>
                <a:ea typeface="楷体" panose="02010609060101010101" pitchFamily="49" charset="-122"/>
              </a:endParaRPr>
            </a:p>
          </p:txBody>
        </p:sp>
      </p:grpSp>
      <p:grpSp>
        <p:nvGrpSpPr>
          <p:cNvPr id="29" name="Group 85"/>
          <p:cNvGrpSpPr>
            <a:grpSpLocks/>
          </p:cNvGrpSpPr>
          <p:nvPr/>
        </p:nvGrpSpPr>
        <p:grpSpPr bwMode="auto">
          <a:xfrm>
            <a:off x="3746625" y="3669953"/>
            <a:ext cx="457200" cy="1905000"/>
            <a:chOff x="2439" y="2688"/>
            <a:chExt cx="288" cy="1200"/>
          </a:xfrm>
        </p:grpSpPr>
        <p:sp>
          <p:nvSpPr>
            <p:cNvPr id="30" name="Text Box 86"/>
            <p:cNvSpPr txBox="1">
              <a:spLocks noChangeArrowheads="1"/>
            </p:cNvSpPr>
            <p:nvPr/>
          </p:nvSpPr>
          <p:spPr bwMode="auto">
            <a:xfrm>
              <a:off x="2439" y="2688"/>
              <a:ext cx="288" cy="98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lang="en-US" altLang="zh-CN" sz="2400" b="1">
                  <a:solidFill>
                    <a:srgbClr val="FF3300"/>
                  </a:solidFill>
                  <a:latin typeface="+mn-lt"/>
                  <a:ea typeface="楷体" panose="02010609060101010101" pitchFamily="49" charset="-122"/>
                </a:rPr>
                <a:t>4</a:t>
              </a:r>
            </a:p>
            <a:p>
              <a:pPr algn="ctr" eaLnBrk="1" hangingPunct="1">
                <a:spcBef>
                  <a:spcPct val="50000"/>
                </a:spcBef>
                <a:buFontTx/>
                <a:buNone/>
              </a:pPr>
              <a:r>
                <a:rPr lang="en-US" altLang="zh-CN" sz="2400" b="1">
                  <a:solidFill>
                    <a:srgbClr val="FF3300"/>
                  </a:solidFill>
                  <a:latin typeface="+mn-lt"/>
                  <a:ea typeface="楷体" panose="02010609060101010101" pitchFamily="49" charset="-122"/>
                </a:rPr>
                <a:t>1</a:t>
              </a:r>
            </a:p>
            <a:p>
              <a:pPr algn="ctr" eaLnBrk="1" hangingPunct="1">
                <a:spcBef>
                  <a:spcPct val="50000"/>
                </a:spcBef>
                <a:buFontTx/>
                <a:buNone/>
              </a:pPr>
              <a:r>
                <a:rPr lang="en-US" altLang="zh-CN" sz="2400" b="1">
                  <a:solidFill>
                    <a:srgbClr val="FF3300"/>
                  </a:solidFill>
                  <a:latin typeface="+mn-lt"/>
                  <a:ea typeface="楷体" panose="02010609060101010101" pitchFamily="49" charset="-122"/>
                </a:rPr>
                <a:t>3</a:t>
              </a:r>
            </a:p>
          </p:txBody>
        </p:sp>
        <p:sp>
          <p:nvSpPr>
            <p:cNvPr id="31" name="Line 87"/>
            <p:cNvSpPr>
              <a:spLocks noChangeShapeType="1"/>
            </p:cNvSpPr>
            <p:nvPr/>
          </p:nvSpPr>
          <p:spPr bwMode="auto">
            <a:xfrm>
              <a:off x="2439" y="3024"/>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32" name="Line 88"/>
            <p:cNvSpPr>
              <a:spLocks noChangeShapeType="1"/>
            </p:cNvSpPr>
            <p:nvPr/>
          </p:nvSpPr>
          <p:spPr bwMode="auto">
            <a:xfrm>
              <a:off x="2439" y="3339"/>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33" name="Oval 89"/>
            <p:cNvSpPr>
              <a:spLocks noChangeArrowheads="1"/>
            </p:cNvSpPr>
            <p:nvPr/>
          </p:nvSpPr>
          <p:spPr bwMode="auto">
            <a:xfrm>
              <a:off x="2517" y="3792"/>
              <a:ext cx="96" cy="96"/>
            </a:xfrm>
            <a:prstGeom prst="ellipse">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latin typeface="+mn-lt"/>
                <a:ea typeface="楷体" panose="02010609060101010101" pitchFamily="49" charset="-122"/>
              </a:endParaRPr>
            </a:p>
          </p:txBody>
        </p:sp>
      </p:grpSp>
      <p:grpSp>
        <p:nvGrpSpPr>
          <p:cNvPr id="34" name="Group 90"/>
          <p:cNvGrpSpPr>
            <a:grpSpLocks/>
          </p:cNvGrpSpPr>
          <p:nvPr/>
        </p:nvGrpSpPr>
        <p:grpSpPr bwMode="auto">
          <a:xfrm>
            <a:off x="4356225" y="3669953"/>
            <a:ext cx="457200" cy="1905000"/>
            <a:chOff x="2823" y="2688"/>
            <a:chExt cx="288" cy="1200"/>
          </a:xfrm>
        </p:grpSpPr>
        <p:sp>
          <p:nvSpPr>
            <p:cNvPr id="35" name="Text Box 91"/>
            <p:cNvSpPr txBox="1">
              <a:spLocks noChangeArrowheads="1"/>
            </p:cNvSpPr>
            <p:nvPr/>
          </p:nvSpPr>
          <p:spPr bwMode="auto">
            <a:xfrm>
              <a:off x="2823" y="2688"/>
              <a:ext cx="288" cy="98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lang="en-US" altLang="zh-CN" sz="2400" b="1">
                  <a:solidFill>
                    <a:srgbClr val="FF3300"/>
                  </a:solidFill>
                  <a:latin typeface="+mn-lt"/>
                  <a:ea typeface="楷体" panose="02010609060101010101" pitchFamily="49" charset="-122"/>
                </a:rPr>
                <a:t>4</a:t>
              </a:r>
            </a:p>
            <a:p>
              <a:pPr algn="ctr" eaLnBrk="1" hangingPunct="1">
                <a:spcBef>
                  <a:spcPct val="50000"/>
                </a:spcBef>
                <a:buFontTx/>
                <a:buNone/>
              </a:pPr>
              <a:r>
                <a:rPr lang="en-US" altLang="zh-CN" sz="2400" b="1">
                  <a:solidFill>
                    <a:srgbClr val="FF3300"/>
                  </a:solidFill>
                  <a:latin typeface="+mn-lt"/>
                  <a:ea typeface="楷体" panose="02010609060101010101" pitchFamily="49" charset="-122"/>
                </a:rPr>
                <a:t>1</a:t>
              </a:r>
            </a:p>
            <a:p>
              <a:pPr algn="ctr" eaLnBrk="1" hangingPunct="1">
                <a:spcBef>
                  <a:spcPct val="50000"/>
                </a:spcBef>
                <a:buFontTx/>
                <a:buNone/>
              </a:pPr>
              <a:r>
                <a:rPr lang="en-US" altLang="zh-CN" sz="2400" b="1">
                  <a:solidFill>
                    <a:srgbClr val="FF3300"/>
                  </a:solidFill>
                  <a:latin typeface="+mn-lt"/>
                  <a:ea typeface="楷体" panose="02010609060101010101" pitchFamily="49" charset="-122"/>
                </a:rPr>
                <a:t>2</a:t>
              </a:r>
            </a:p>
          </p:txBody>
        </p:sp>
        <p:sp>
          <p:nvSpPr>
            <p:cNvPr id="36" name="Line 92"/>
            <p:cNvSpPr>
              <a:spLocks noChangeShapeType="1"/>
            </p:cNvSpPr>
            <p:nvPr/>
          </p:nvSpPr>
          <p:spPr bwMode="auto">
            <a:xfrm>
              <a:off x="2823" y="3024"/>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37" name="Line 93"/>
            <p:cNvSpPr>
              <a:spLocks noChangeShapeType="1"/>
            </p:cNvSpPr>
            <p:nvPr/>
          </p:nvSpPr>
          <p:spPr bwMode="auto">
            <a:xfrm>
              <a:off x="2823" y="3339"/>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38" name="Oval 94"/>
            <p:cNvSpPr>
              <a:spLocks noChangeArrowheads="1"/>
            </p:cNvSpPr>
            <p:nvPr/>
          </p:nvSpPr>
          <p:spPr bwMode="auto">
            <a:xfrm>
              <a:off x="2901" y="3792"/>
              <a:ext cx="96" cy="96"/>
            </a:xfrm>
            <a:prstGeom prst="ellipse">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latin typeface="+mn-lt"/>
                <a:ea typeface="楷体" panose="02010609060101010101" pitchFamily="49" charset="-122"/>
              </a:endParaRPr>
            </a:p>
          </p:txBody>
        </p:sp>
      </p:grpSp>
      <p:grpSp>
        <p:nvGrpSpPr>
          <p:cNvPr id="39" name="Group 95"/>
          <p:cNvGrpSpPr>
            <a:grpSpLocks/>
          </p:cNvGrpSpPr>
          <p:nvPr/>
        </p:nvGrpSpPr>
        <p:grpSpPr bwMode="auto">
          <a:xfrm>
            <a:off x="4932487" y="3669953"/>
            <a:ext cx="457200" cy="1905000"/>
            <a:chOff x="3186" y="2688"/>
            <a:chExt cx="288" cy="1200"/>
          </a:xfrm>
        </p:grpSpPr>
        <p:sp>
          <p:nvSpPr>
            <p:cNvPr id="40" name="Text Box 96"/>
            <p:cNvSpPr txBox="1">
              <a:spLocks noChangeArrowheads="1"/>
            </p:cNvSpPr>
            <p:nvPr/>
          </p:nvSpPr>
          <p:spPr bwMode="auto">
            <a:xfrm>
              <a:off x="3186" y="2688"/>
              <a:ext cx="288" cy="98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lang="en-US" altLang="zh-CN" sz="2400" b="1">
                  <a:solidFill>
                    <a:srgbClr val="FF3300"/>
                  </a:solidFill>
                  <a:latin typeface="+mn-lt"/>
                  <a:ea typeface="楷体" panose="02010609060101010101" pitchFamily="49" charset="-122"/>
                </a:rPr>
                <a:t>5</a:t>
              </a:r>
            </a:p>
            <a:p>
              <a:pPr algn="ctr" eaLnBrk="1" hangingPunct="1">
                <a:spcBef>
                  <a:spcPct val="50000"/>
                </a:spcBef>
                <a:buFontTx/>
                <a:buNone/>
              </a:pPr>
              <a:r>
                <a:rPr lang="en-US" altLang="zh-CN" sz="2400" b="1">
                  <a:solidFill>
                    <a:srgbClr val="FF3300"/>
                  </a:solidFill>
                  <a:latin typeface="+mn-lt"/>
                  <a:ea typeface="楷体" panose="02010609060101010101" pitchFamily="49" charset="-122"/>
                </a:rPr>
                <a:t>1</a:t>
              </a:r>
            </a:p>
            <a:p>
              <a:pPr algn="ctr" eaLnBrk="1" hangingPunct="1">
                <a:spcBef>
                  <a:spcPct val="50000"/>
                </a:spcBef>
                <a:buFontTx/>
                <a:buNone/>
              </a:pPr>
              <a:r>
                <a:rPr lang="en-US" altLang="zh-CN" sz="2400" b="1">
                  <a:solidFill>
                    <a:srgbClr val="FF3300"/>
                  </a:solidFill>
                  <a:latin typeface="+mn-lt"/>
                  <a:ea typeface="楷体" panose="02010609060101010101" pitchFamily="49" charset="-122"/>
                </a:rPr>
                <a:t>2</a:t>
              </a:r>
            </a:p>
          </p:txBody>
        </p:sp>
        <p:sp>
          <p:nvSpPr>
            <p:cNvPr id="41" name="Line 97"/>
            <p:cNvSpPr>
              <a:spLocks noChangeShapeType="1"/>
            </p:cNvSpPr>
            <p:nvPr/>
          </p:nvSpPr>
          <p:spPr bwMode="auto">
            <a:xfrm>
              <a:off x="3186" y="3024"/>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42" name="Line 98"/>
            <p:cNvSpPr>
              <a:spLocks noChangeShapeType="1"/>
            </p:cNvSpPr>
            <p:nvPr/>
          </p:nvSpPr>
          <p:spPr bwMode="auto">
            <a:xfrm>
              <a:off x="3186" y="3339"/>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43" name="Oval 99"/>
            <p:cNvSpPr>
              <a:spLocks noChangeArrowheads="1"/>
            </p:cNvSpPr>
            <p:nvPr/>
          </p:nvSpPr>
          <p:spPr bwMode="auto">
            <a:xfrm>
              <a:off x="3264" y="3792"/>
              <a:ext cx="96" cy="96"/>
            </a:xfrm>
            <a:prstGeom prst="ellipse">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latin typeface="+mn-lt"/>
                <a:ea typeface="楷体" panose="02010609060101010101" pitchFamily="49" charset="-122"/>
              </a:endParaRPr>
            </a:p>
          </p:txBody>
        </p:sp>
      </p:grpSp>
      <p:grpSp>
        <p:nvGrpSpPr>
          <p:cNvPr id="44" name="Group 100"/>
          <p:cNvGrpSpPr>
            <a:grpSpLocks/>
          </p:cNvGrpSpPr>
          <p:nvPr/>
        </p:nvGrpSpPr>
        <p:grpSpPr bwMode="auto">
          <a:xfrm>
            <a:off x="5556375" y="3669953"/>
            <a:ext cx="457200" cy="1562100"/>
            <a:chOff x="3579" y="2688"/>
            <a:chExt cx="288" cy="984"/>
          </a:xfrm>
        </p:grpSpPr>
        <p:sp>
          <p:nvSpPr>
            <p:cNvPr id="45" name="Text Box 101"/>
            <p:cNvSpPr txBox="1">
              <a:spLocks noChangeArrowheads="1"/>
            </p:cNvSpPr>
            <p:nvPr/>
          </p:nvSpPr>
          <p:spPr bwMode="auto">
            <a:xfrm>
              <a:off x="3579" y="2688"/>
              <a:ext cx="288" cy="98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lang="en-US" altLang="zh-CN" sz="2400" b="1">
                  <a:solidFill>
                    <a:srgbClr val="FF3300"/>
                  </a:solidFill>
                  <a:latin typeface="+mn-lt"/>
                  <a:ea typeface="楷体" panose="02010609060101010101" pitchFamily="49" charset="-122"/>
                </a:rPr>
                <a:t>5</a:t>
              </a:r>
            </a:p>
            <a:p>
              <a:pPr algn="ctr" eaLnBrk="1" hangingPunct="1">
                <a:spcBef>
                  <a:spcPct val="50000"/>
                </a:spcBef>
                <a:buFontTx/>
                <a:buNone/>
              </a:pPr>
              <a:r>
                <a:rPr lang="en-US" altLang="zh-CN" sz="2400" b="1">
                  <a:solidFill>
                    <a:srgbClr val="FF3300"/>
                  </a:solidFill>
                  <a:latin typeface="+mn-lt"/>
                  <a:ea typeface="楷体" panose="02010609060101010101" pitchFamily="49" charset="-122"/>
                </a:rPr>
                <a:t>1</a:t>
              </a:r>
            </a:p>
            <a:p>
              <a:pPr algn="ctr" eaLnBrk="1" hangingPunct="1">
                <a:spcBef>
                  <a:spcPct val="50000"/>
                </a:spcBef>
                <a:buFontTx/>
                <a:buNone/>
              </a:pPr>
              <a:r>
                <a:rPr lang="en-US" altLang="zh-CN" sz="2400" b="1">
                  <a:solidFill>
                    <a:srgbClr val="FF3300"/>
                  </a:solidFill>
                  <a:latin typeface="+mn-lt"/>
                  <a:ea typeface="楷体" panose="02010609060101010101" pitchFamily="49" charset="-122"/>
                </a:rPr>
                <a:t>2</a:t>
              </a:r>
            </a:p>
          </p:txBody>
        </p:sp>
        <p:sp>
          <p:nvSpPr>
            <p:cNvPr id="46" name="Line 102"/>
            <p:cNvSpPr>
              <a:spLocks noChangeShapeType="1"/>
            </p:cNvSpPr>
            <p:nvPr/>
          </p:nvSpPr>
          <p:spPr bwMode="auto">
            <a:xfrm>
              <a:off x="3579" y="3024"/>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47" name="Line 103"/>
            <p:cNvSpPr>
              <a:spLocks noChangeShapeType="1"/>
            </p:cNvSpPr>
            <p:nvPr/>
          </p:nvSpPr>
          <p:spPr bwMode="auto">
            <a:xfrm>
              <a:off x="3579" y="3339"/>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grpSp>
        <p:nvGrpSpPr>
          <p:cNvPr id="48" name="Group 104"/>
          <p:cNvGrpSpPr>
            <a:grpSpLocks/>
          </p:cNvGrpSpPr>
          <p:nvPr/>
        </p:nvGrpSpPr>
        <p:grpSpPr bwMode="auto">
          <a:xfrm>
            <a:off x="6180262" y="3669953"/>
            <a:ext cx="457200" cy="1562100"/>
            <a:chOff x="3972" y="2688"/>
            <a:chExt cx="288" cy="984"/>
          </a:xfrm>
        </p:grpSpPr>
        <p:sp>
          <p:nvSpPr>
            <p:cNvPr id="49" name="Text Box 105"/>
            <p:cNvSpPr txBox="1">
              <a:spLocks noChangeArrowheads="1"/>
            </p:cNvSpPr>
            <p:nvPr/>
          </p:nvSpPr>
          <p:spPr bwMode="auto">
            <a:xfrm>
              <a:off x="3972" y="2688"/>
              <a:ext cx="288" cy="98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lang="en-US" altLang="zh-CN" sz="2400" b="1">
                  <a:solidFill>
                    <a:srgbClr val="FF3300"/>
                  </a:solidFill>
                  <a:latin typeface="+mn-lt"/>
                  <a:ea typeface="楷体" panose="02010609060101010101" pitchFamily="49" charset="-122"/>
                </a:rPr>
                <a:t>5</a:t>
              </a:r>
            </a:p>
            <a:p>
              <a:pPr algn="ctr" eaLnBrk="1" hangingPunct="1">
                <a:spcBef>
                  <a:spcPct val="50000"/>
                </a:spcBef>
                <a:buFontTx/>
                <a:buNone/>
              </a:pPr>
              <a:r>
                <a:rPr lang="en-US" altLang="zh-CN" sz="2400" b="1">
                  <a:solidFill>
                    <a:srgbClr val="FF3300"/>
                  </a:solidFill>
                  <a:latin typeface="+mn-lt"/>
                  <a:ea typeface="楷体" panose="02010609060101010101" pitchFamily="49" charset="-122"/>
                </a:rPr>
                <a:t>1</a:t>
              </a:r>
            </a:p>
            <a:p>
              <a:pPr algn="ctr" eaLnBrk="1" hangingPunct="1">
                <a:spcBef>
                  <a:spcPct val="50000"/>
                </a:spcBef>
                <a:buFontTx/>
                <a:buNone/>
              </a:pPr>
              <a:r>
                <a:rPr lang="en-US" altLang="zh-CN" sz="2400" b="1">
                  <a:solidFill>
                    <a:srgbClr val="FF3300"/>
                  </a:solidFill>
                  <a:latin typeface="+mn-lt"/>
                  <a:ea typeface="楷体" panose="02010609060101010101" pitchFamily="49" charset="-122"/>
                </a:rPr>
                <a:t>2</a:t>
              </a:r>
            </a:p>
          </p:txBody>
        </p:sp>
        <p:sp>
          <p:nvSpPr>
            <p:cNvPr id="50" name="Line 106"/>
            <p:cNvSpPr>
              <a:spLocks noChangeShapeType="1"/>
            </p:cNvSpPr>
            <p:nvPr/>
          </p:nvSpPr>
          <p:spPr bwMode="auto">
            <a:xfrm>
              <a:off x="3972" y="3024"/>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51" name="Line 107"/>
            <p:cNvSpPr>
              <a:spLocks noChangeShapeType="1"/>
            </p:cNvSpPr>
            <p:nvPr/>
          </p:nvSpPr>
          <p:spPr bwMode="auto">
            <a:xfrm>
              <a:off x="3972" y="3339"/>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grpSp>
        <p:nvGrpSpPr>
          <p:cNvPr id="52" name="Group 108"/>
          <p:cNvGrpSpPr>
            <a:grpSpLocks/>
          </p:cNvGrpSpPr>
          <p:nvPr/>
        </p:nvGrpSpPr>
        <p:grpSpPr bwMode="auto">
          <a:xfrm>
            <a:off x="6808912" y="3684240"/>
            <a:ext cx="457200" cy="1905000"/>
            <a:chOff x="4368" y="2697"/>
            <a:chExt cx="288" cy="1200"/>
          </a:xfrm>
        </p:grpSpPr>
        <p:sp>
          <p:nvSpPr>
            <p:cNvPr id="53" name="Text Box 109"/>
            <p:cNvSpPr txBox="1">
              <a:spLocks noChangeArrowheads="1"/>
            </p:cNvSpPr>
            <p:nvPr/>
          </p:nvSpPr>
          <p:spPr bwMode="auto">
            <a:xfrm>
              <a:off x="4368" y="2697"/>
              <a:ext cx="288" cy="98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lang="en-US" altLang="zh-CN" sz="2400" b="1">
                  <a:solidFill>
                    <a:srgbClr val="FF3300"/>
                  </a:solidFill>
                  <a:latin typeface="+mn-lt"/>
                  <a:ea typeface="楷体" panose="02010609060101010101" pitchFamily="49" charset="-122"/>
                </a:rPr>
                <a:t>5</a:t>
              </a:r>
            </a:p>
            <a:p>
              <a:pPr algn="ctr" eaLnBrk="1" hangingPunct="1">
                <a:spcBef>
                  <a:spcPct val="50000"/>
                </a:spcBef>
                <a:buFontTx/>
                <a:buNone/>
              </a:pPr>
              <a:r>
                <a:rPr lang="en-US" altLang="zh-CN" sz="2400" b="1">
                  <a:solidFill>
                    <a:srgbClr val="FF3300"/>
                  </a:solidFill>
                  <a:latin typeface="+mn-lt"/>
                  <a:ea typeface="楷体" panose="02010609060101010101" pitchFamily="49" charset="-122"/>
                </a:rPr>
                <a:t>3</a:t>
              </a:r>
            </a:p>
            <a:p>
              <a:pPr algn="ctr" eaLnBrk="1" hangingPunct="1">
                <a:spcBef>
                  <a:spcPct val="50000"/>
                </a:spcBef>
                <a:buFontTx/>
                <a:buNone/>
              </a:pPr>
              <a:r>
                <a:rPr lang="en-US" altLang="zh-CN" sz="2400" b="1">
                  <a:solidFill>
                    <a:srgbClr val="FF3300"/>
                  </a:solidFill>
                  <a:latin typeface="+mn-lt"/>
                  <a:ea typeface="楷体" panose="02010609060101010101" pitchFamily="49" charset="-122"/>
                </a:rPr>
                <a:t>2</a:t>
              </a:r>
            </a:p>
          </p:txBody>
        </p:sp>
        <p:sp>
          <p:nvSpPr>
            <p:cNvPr id="54" name="Line 110"/>
            <p:cNvSpPr>
              <a:spLocks noChangeShapeType="1"/>
            </p:cNvSpPr>
            <p:nvPr/>
          </p:nvSpPr>
          <p:spPr bwMode="auto">
            <a:xfrm>
              <a:off x="4368" y="3033"/>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55" name="Line 111"/>
            <p:cNvSpPr>
              <a:spLocks noChangeShapeType="1"/>
            </p:cNvSpPr>
            <p:nvPr/>
          </p:nvSpPr>
          <p:spPr bwMode="auto">
            <a:xfrm>
              <a:off x="4368" y="3348"/>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56" name="Oval 112"/>
            <p:cNvSpPr>
              <a:spLocks noChangeArrowheads="1"/>
            </p:cNvSpPr>
            <p:nvPr/>
          </p:nvSpPr>
          <p:spPr bwMode="auto">
            <a:xfrm>
              <a:off x="4446" y="3801"/>
              <a:ext cx="96" cy="96"/>
            </a:xfrm>
            <a:prstGeom prst="ellipse">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latin typeface="+mn-lt"/>
                <a:ea typeface="楷体" panose="02010609060101010101" pitchFamily="49" charset="-122"/>
              </a:endParaRPr>
            </a:p>
          </p:txBody>
        </p:sp>
      </p:grpSp>
      <p:grpSp>
        <p:nvGrpSpPr>
          <p:cNvPr id="57" name="Group 113"/>
          <p:cNvGrpSpPr>
            <a:grpSpLocks/>
          </p:cNvGrpSpPr>
          <p:nvPr/>
        </p:nvGrpSpPr>
        <p:grpSpPr bwMode="auto">
          <a:xfrm>
            <a:off x="7418512" y="3669953"/>
            <a:ext cx="457200" cy="1905000"/>
            <a:chOff x="4752" y="2688"/>
            <a:chExt cx="288" cy="1200"/>
          </a:xfrm>
        </p:grpSpPr>
        <p:sp>
          <p:nvSpPr>
            <p:cNvPr id="58" name="Text Box 114"/>
            <p:cNvSpPr txBox="1">
              <a:spLocks noChangeArrowheads="1"/>
            </p:cNvSpPr>
            <p:nvPr/>
          </p:nvSpPr>
          <p:spPr bwMode="auto">
            <a:xfrm>
              <a:off x="4752" y="2688"/>
              <a:ext cx="288" cy="98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lang="en-US" altLang="zh-CN" sz="2400" b="1">
                  <a:solidFill>
                    <a:srgbClr val="FF3300"/>
                  </a:solidFill>
                  <a:latin typeface="+mn-lt"/>
                  <a:ea typeface="楷体" panose="02010609060101010101" pitchFamily="49" charset="-122"/>
                </a:rPr>
                <a:t>5</a:t>
              </a:r>
            </a:p>
            <a:p>
              <a:pPr algn="ctr" eaLnBrk="1" hangingPunct="1">
                <a:spcBef>
                  <a:spcPct val="50000"/>
                </a:spcBef>
                <a:buFontTx/>
                <a:buNone/>
              </a:pPr>
              <a:r>
                <a:rPr lang="en-US" altLang="zh-CN" sz="2400" b="1">
                  <a:solidFill>
                    <a:srgbClr val="FF3300"/>
                  </a:solidFill>
                  <a:latin typeface="+mn-lt"/>
                  <a:ea typeface="楷体" panose="02010609060101010101" pitchFamily="49" charset="-122"/>
                </a:rPr>
                <a:t>3</a:t>
              </a:r>
            </a:p>
            <a:p>
              <a:pPr algn="ctr" eaLnBrk="1" hangingPunct="1">
                <a:spcBef>
                  <a:spcPct val="50000"/>
                </a:spcBef>
                <a:buFontTx/>
                <a:buNone/>
              </a:pPr>
              <a:r>
                <a:rPr lang="en-US" altLang="zh-CN" sz="2400" b="1">
                  <a:solidFill>
                    <a:srgbClr val="FF3300"/>
                  </a:solidFill>
                  <a:latin typeface="+mn-lt"/>
                  <a:ea typeface="楷体" panose="02010609060101010101" pitchFamily="49" charset="-122"/>
                </a:rPr>
                <a:t>4</a:t>
              </a:r>
            </a:p>
          </p:txBody>
        </p:sp>
        <p:sp>
          <p:nvSpPr>
            <p:cNvPr id="59" name="Line 115"/>
            <p:cNvSpPr>
              <a:spLocks noChangeShapeType="1"/>
            </p:cNvSpPr>
            <p:nvPr/>
          </p:nvSpPr>
          <p:spPr bwMode="auto">
            <a:xfrm>
              <a:off x="4752" y="3024"/>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60" name="Line 116"/>
            <p:cNvSpPr>
              <a:spLocks noChangeShapeType="1"/>
            </p:cNvSpPr>
            <p:nvPr/>
          </p:nvSpPr>
          <p:spPr bwMode="auto">
            <a:xfrm>
              <a:off x="4752" y="3339"/>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61" name="Oval 117"/>
            <p:cNvSpPr>
              <a:spLocks noChangeArrowheads="1"/>
            </p:cNvSpPr>
            <p:nvPr/>
          </p:nvSpPr>
          <p:spPr bwMode="auto">
            <a:xfrm>
              <a:off x="4830" y="3792"/>
              <a:ext cx="96" cy="96"/>
            </a:xfrm>
            <a:prstGeom prst="ellipse">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latin typeface="+mn-lt"/>
                <a:ea typeface="楷体" panose="02010609060101010101" pitchFamily="49" charset="-122"/>
              </a:endParaRPr>
            </a:p>
          </p:txBody>
        </p:sp>
      </p:grpSp>
      <p:grpSp>
        <p:nvGrpSpPr>
          <p:cNvPr id="62" name="Group 118"/>
          <p:cNvGrpSpPr>
            <a:grpSpLocks/>
          </p:cNvGrpSpPr>
          <p:nvPr/>
        </p:nvGrpSpPr>
        <p:grpSpPr bwMode="auto">
          <a:xfrm>
            <a:off x="8028112" y="3669953"/>
            <a:ext cx="457200" cy="1562100"/>
            <a:chOff x="5136" y="2688"/>
            <a:chExt cx="288" cy="984"/>
          </a:xfrm>
        </p:grpSpPr>
        <p:sp>
          <p:nvSpPr>
            <p:cNvPr id="63" name="Text Box 119"/>
            <p:cNvSpPr txBox="1">
              <a:spLocks noChangeArrowheads="1"/>
            </p:cNvSpPr>
            <p:nvPr/>
          </p:nvSpPr>
          <p:spPr bwMode="auto">
            <a:xfrm>
              <a:off x="5136" y="2688"/>
              <a:ext cx="288" cy="98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lang="en-US" altLang="zh-CN" sz="2400" b="1">
                  <a:solidFill>
                    <a:srgbClr val="FF3300"/>
                  </a:solidFill>
                  <a:latin typeface="+mn-lt"/>
                  <a:ea typeface="楷体" panose="02010609060101010101" pitchFamily="49" charset="-122"/>
                </a:rPr>
                <a:t>5</a:t>
              </a:r>
            </a:p>
            <a:p>
              <a:pPr algn="ctr" eaLnBrk="1" hangingPunct="1">
                <a:spcBef>
                  <a:spcPct val="50000"/>
                </a:spcBef>
                <a:buFontTx/>
                <a:buNone/>
              </a:pPr>
              <a:r>
                <a:rPr lang="en-US" altLang="zh-CN" sz="2400" b="1">
                  <a:solidFill>
                    <a:srgbClr val="FF3300"/>
                  </a:solidFill>
                  <a:latin typeface="+mn-lt"/>
                  <a:ea typeface="楷体" panose="02010609060101010101" pitchFamily="49" charset="-122"/>
                </a:rPr>
                <a:t>3</a:t>
              </a:r>
            </a:p>
            <a:p>
              <a:pPr algn="ctr" eaLnBrk="1" hangingPunct="1">
                <a:spcBef>
                  <a:spcPct val="50000"/>
                </a:spcBef>
                <a:buFontTx/>
                <a:buNone/>
              </a:pPr>
              <a:r>
                <a:rPr lang="en-US" altLang="zh-CN" sz="2400" b="1">
                  <a:solidFill>
                    <a:srgbClr val="FF3300"/>
                  </a:solidFill>
                  <a:latin typeface="+mn-lt"/>
                  <a:ea typeface="楷体" panose="02010609060101010101" pitchFamily="49" charset="-122"/>
                </a:rPr>
                <a:t>4</a:t>
              </a:r>
            </a:p>
          </p:txBody>
        </p:sp>
        <p:sp>
          <p:nvSpPr>
            <p:cNvPr id="64" name="Line 120"/>
            <p:cNvSpPr>
              <a:spLocks noChangeShapeType="1"/>
            </p:cNvSpPr>
            <p:nvPr/>
          </p:nvSpPr>
          <p:spPr bwMode="auto">
            <a:xfrm>
              <a:off x="5136" y="3024"/>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65" name="Line 121"/>
            <p:cNvSpPr>
              <a:spLocks noChangeShapeType="1"/>
            </p:cNvSpPr>
            <p:nvPr/>
          </p:nvSpPr>
          <p:spPr bwMode="auto">
            <a:xfrm>
              <a:off x="5136" y="3339"/>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Tree>
    <p:extLst>
      <p:ext uri="{BB962C8B-B14F-4D97-AF65-F5344CB8AC3E}">
        <p14:creationId xmlns:p14="http://schemas.microsoft.com/office/powerpoint/2010/main" val="2805692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ppt_x</p:attrName>
                                        </p:attrNameLst>
                                      </p:cBhvr>
                                      <p:tavLst>
                                        <p:tav tm="0">
                                          <p:val>
                                            <p:strVal val="#ppt_x-#ppt_w/2"/>
                                          </p:val>
                                        </p:tav>
                                        <p:tav tm="100000">
                                          <p:val>
                                            <p:strVal val="#ppt_x"/>
                                          </p:val>
                                        </p:tav>
                                      </p:tavLst>
                                    </p:anim>
                                    <p:anim calcmode="lin" valueType="num">
                                      <p:cBhvr>
                                        <p:cTn id="8" dur="500" fill="hold"/>
                                        <p:tgtEl>
                                          <p:spTgt spid="8"/>
                                        </p:tgtEl>
                                        <p:attrNameLst>
                                          <p:attrName>ppt_y</p:attrName>
                                        </p:attrNameLst>
                                      </p:cBhvr>
                                      <p:tavLst>
                                        <p:tav tm="0">
                                          <p:val>
                                            <p:strVal val="#ppt_y"/>
                                          </p:val>
                                        </p:tav>
                                        <p:tav tm="100000">
                                          <p:val>
                                            <p:strVal val="#ppt_y"/>
                                          </p:val>
                                        </p:tav>
                                      </p:tavLst>
                                    </p:anim>
                                    <p:anim calcmode="lin" valueType="num">
                                      <p:cBhvr>
                                        <p:cTn id="9" dur="500" fill="hold"/>
                                        <p:tgtEl>
                                          <p:spTgt spid="8"/>
                                        </p:tgtEl>
                                        <p:attrNameLst>
                                          <p:attrName>ppt_w</p:attrName>
                                        </p:attrNameLst>
                                      </p:cBhvr>
                                      <p:tavLst>
                                        <p:tav tm="0">
                                          <p:val>
                                            <p:fltVal val="0"/>
                                          </p:val>
                                        </p:tav>
                                        <p:tav tm="100000">
                                          <p:val>
                                            <p:strVal val="#ppt_w"/>
                                          </p:val>
                                        </p:tav>
                                      </p:tavLst>
                                    </p:anim>
                                    <p:anim calcmode="lin" valueType="num">
                                      <p:cBhvr>
                                        <p:cTn id="10" dur="500" fill="hold"/>
                                        <p:tgtEl>
                                          <p:spTgt spid="8"/>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499"/>
                                          </p:stCondLst>
                                        </p:cTn>
                                        <p:tgtEl>
                                          <p:spTgt spid="2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499"/>
                                          </p:stCondLst>
                                        </p:cTn>
                                        <p:tgtEl>
                                          <p:spTgt spid="2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499"/>
                                          </p:stCondLst>
                                        </p:cTn>
                                        <p:tgtEl>
                                          <p:spTgt spid="3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499"/>
                                          </p:stCondLst>
                                        </p:cTn>
                                        <p:tgtEl>
                                          <p:spTgt spid="3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499"/>
                                          </p:stCondLst>
                                        </p:cTn>
                                        <p:tgtEl>
                                          <p:spTgt spid="4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499"/>
                                          </p:stCondLst>
                                        </p:cTn>
                                        <p:tgtEl>
                                          <p:spTgt spid="4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499"/>
                                          </p:stCondLst>
                                        </p:cTn>
                                        <p:tgtEl>
                                          <p:spTgt spid="5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499"/>
                                          </p:stCondLst>
                                        </p:cTn>
                                        <p:tgtEl>
                                          <p:spTgt spid="5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499"/>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utoUpdateAnimBg="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先进先出算法（</a:t>
            </a:r>
            <a:r>
              <a:rPr lang="en-US" altLang="zh-CN" dirty="0"/>
              <a:t>FIFO</a:t>
            </a:r>
            <a:r>
              <a:rPr lang="zh-CN" altLang="en-US" dirty="0"/>
              <a:t>）</a:t>
            </a:r>
          </a:p>
        </p:txBody>
      </p:sp>
      <p:sp>
        <p:nvSpPr>
          <p:cNvPr id="4" name="Date Placeholder 3"/>
          <p:cNvSpPr>
            <a:spLocks noGrp="1"/>
          </p:cNvSpPr>
          <p:nvPr>
            <p:ph type="dt" sz="half" idx="10"/>
          </p:nvPr>
        </p:nvSpPr>
        <p:spPr/>
        <p:txBody>
          <a:bodyPr/>
          <a:lstStyle/>
          <a:p>
            <a:fld id="{7B6ABF9C-3237-475B-A939-EA0C9537EBF0}"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117</a:t>
            </a:fld>
            <a:endParaRPr lang="zh-CN" altLang="en-US" dirty="0"/>
          </a:p>
        </p:txBody>
      </p:sp>
      <p:sp>
        <p:nvSpPr>
          <p:cNvPr id="7" name="Text Box 4"/>
          <p:cNvSpPr txBox="1">
            <a:spLocks noChangeArrowheads="1"/>
          </p:cNvSpPr>
          <p:nvPr/>
        </p:nvSpPr>
        <p:spPr bwMode="auto">
          <a:xfrm>
            <a:off x="1262844" y="1628800"/>
            <a:ext cx="6618312"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000" b="1" dirty="0">
                <a:latin typeface="+mn-lt"/>
                <a:ea typeface="楷体" panose="02010609060101010101" pitchFamily="49" charset="-122"/>
              </a:rPr>
              <a:t>如果在内存中分配</a:t>
            </a:r>
            <a:r>
              <a:rPr lang="en-US" altLang="zh-CN" sz="2000" b="1" dirty="0">
                <a:latin typeface="+mn-lt"/>
                <a:ea typeface="楷体" panose="02010609060101010101" pitchFamily="49" charset="-122"/>
              </a:rPr>
              <a:t>4</a:t>
            </a:r>
            <a:r>
              <a:rPr lang="zh-CN" altLang="en-US" sz="2000" b="1" dirty="0">
                <a:latin typeface="+mn-lt"/>
                <a:ea typeface="楷体" panose="02010609060101010101" pitchFamily="49" charset="-122"/>
              </a:rPr>
              <a:t>个页面（增加一个），则缺页情况如下：</a:t>
            </a:r>
            <a:r>
              <a:rPr lang="en-US" altLang="zh-CN" sz="2000" b="1" dirty="0">
                <a:latin typeface="+mn-lt"/>
                <a:ea typeface="楷体" panose="02010609060101010101" pitchFamily="49" charset="-122"/>
              </a:rPr>
              <a:t>12</a:t>
            </a:r>
            <a:r>
              <a:rPr lang="zh-CN" altLang="en-US" sz="2000" b="1" dirty="0">
                <a:latin typeface="+mn-lt"/>
                <a:ea typeface="楷体" panose="02010609060101010101" pitchFamily="49" charset="-122"/>
              </a:rPr>
              <a:t>次访问中有缺页</a:t>
            </a:r>
            <a:r>
              <a:rPr lang="en-US" altLang="zh-CN" sz="2000" b="1" dirty="0">
                <a:latin typeface="+mn-lt"/>
                <a:ea typeface="楷体" panose="02010609060101010101" pitchFamily="49" charset="-122"/>
              </a:rPr>
              <a:t>10</a:t>
            </a:r>
            <a:r>
              <a:rPr lang="zh-CN" altLang="en-US" sz="2000" b="1" dirty="0">
                <a:latin typeface="+mn-lt"/>
                <a:ea typeface="楷体" panose="02010609060101010101" pitchFamily="49" charset="-122"/>
              </a:rPr>
              <a:t>次；</a:t>
            </a:r>
          </a:p>
        </p:txBody>
      </p:sp>
      <p:sp>
        <p:nvSpPr>
          <p:cNvPr id="8" name="Text Box 63"/>
          <p:cNvSpPr txBox="1">
            <a:spLocks noChangeArrowheads="1"/>
          </p:cNvSpPr>
          <p:nvPr/>
        </p:nvSpPr>
        <p:spPr bwMode="auto">
          <a:xfrm>
            <a:off x="434280" y="2852936"/>
            <a:ext cx="845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b="1" dirty="0">
                <a:latin typeface="+mn-lt"/>
              </a:rPr>
              <a:t>FIFO      1       2       3      4      1       2       5       1      2       3       4      5</a:t>
            </a:r>
          </a:p>
        </p:txBody>
      </p:sp>
      <p:grpSp>
        <p:nvGrpSpPr>
          <p:cNvPr id="9" name="Group 64"/>
          <p:cNvGrpSpPr>
            <a:grpSpLocks/>
          </p:cNvGrpSpPr>
          <p:nvPr/>
        </p:nvGrpSpPr>
        <p:grpSpPr bwMode="auto">
          <a:xfrm>
            <a:off x="1328738" y="3425577"/>
            <a:ext cx="457200" cy="2362200"/>
            <a:chOff x="885" y="1851"/>
            <a:chExt cx="288" cy="1488"/>
          </a:xfrm>
        </p:grpSpPr>
        <p:sp>
          <p:nvSpPr>
            <p:cNvPr id="10" name="Text Box 65"/>
            <p:cNvSpPr txBox="1">
              <a:spLocks noChangeArrowheads="1"/>
            </p:cNvSpPr>
            <p:nvPr/>
          </p:nvSpPr>
          <p:spPr bwMode="auto">
            <a:xfrm>
              <a:off x="885" y="1851"/>
              <a:ext cx="288" cy="132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lang="en-US" altLang="zh-CN" sz="2400" b="1">
                  <a:latin typeface="+mn-lt"/>
                </a:rPr>
                <a:t>1</a:t>
              </a:r>
            </a:p>
            <a:p>
              <a:pPr algn="ctr" eaLnBrk="1" hangingPunct="1">
                <a:spcBef>
                  <a:spcPct val="50000"/>
                </a:spcBef>
                <a:buFontTx/>
                <a:buNone/>
              </a:pPr>
              <a:endParaRPr lang="en-US" altLang="zh-CN" sz="2400" b="1">
                <a:latin typeface="+mn-lt"/>
              </a:endParaRPr>
            </a:p>
            <a:p>
              <a:pPr algn="ctr" eaLnBrk="1" hangingPunct="1">
                <a:spcBef>
                  <a:spcPct val="50000"/>
                </a:spcBef>
                <a:buFontTx/>
                <a:buNone/>
              </a:pPr>
              <a:endParaRPr lang="en-US" altLang="zh-CN" sz="2400" b="1">
                <a:latin typeface="+mn-lt"/>
              </a:endParaRPr>
            </a:p>
            <a:p>
              <a:pPr algn="ctr" eaLnBrk="1" hangingPunct="1">
                <a:spcBef>
                  <a:spcPct val="50000"/>
                </a:spcBef>
                <a:buFontTx/>
                <a:buNone/>
              </a:pPr>
              <a:endParaRPr lang="en-US" altLang="zh-CN" sz="2400" b="1">
                <a:latin typeface="+mn-lt"/>
              </a:endParaRPr>
            </a:p>
          </p:txBody>
        </p:sp>
        <p:sp>
          <p:nvSpPr>
            <p:cNvPr id="11" name="Line 66"/>
            <p:cNvSpPr>
              <a:spLocks noChangeShapeType="1"/>
            </p:cNvSpPr>
            <p:nvPr/>
          </p:nvSpPr>
          <p:spPr bwMode="auto">
            <a:xfrm>
              <a:off x="885" y="2523"/>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 name="Line 67"/>
            <p:cNvSpPr>
              <a:spLocks noChangeShapeType="1"/>
            </p:cNvSpPr>
            <p:nvPr/>
          </p:nvSpPr>
          <p:spPr bwMode="auto">
            <a:xfrm>
              <a:off x="885" y="2178"/>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 name="Line 68"/>
            <p:cNvSpPr>
              <a:spLocks noChangeShapeType="1"/>
            </p:cNvSpPr>
            <p:nvPr/>
          </p:nvSpPr>
          <p:spPr bwMode="auto">
            <a:xfrm>
              <a:off x="885" y="2850"/>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Oval 69"/>
            <p:cNvSpPr>
              <a:spLocks noChangeArrowheads="1"/>
            </p:cNvSpPr>
            <p:nvPr/>
          </p:nvSpPr>
          <p:spPr bwMode="auto">
            <a:xfrm>
              <a:off x="981" y="3243"/>
              <a:ext cx="96" cy="96"/>
            </a:xfrm>
            <a:prstGeom prst="ellipse">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latin typeface="+mn-lt"/>
              </a:endParaRPr>
            </a:p>
          </p:txBody>
        </p:sp>
      </p:grpSp>
      <p:grpSp>
        <p:nvGrpSpPr>
          <p:cNvPr id="15" name="Group 70"/>
          <p:cNvGrpSpPr>
            <a:grpSpLocks/>
          </p:cNvGrpSpPr>
          <p:nvPr/>
        </p:nvGrpSpPr>
        <p:grpSpPr bwMode="auto">
          <a:xfrm>
            <a:off x="1947863" y="3425577"/>
            <a:ext cx="457200" cy="2362200"/>
            <a:chOff x="1275" y="1851"/>
            <a:chExt cx="288" cy="1488"/>
          </a:xfrm>
        </p:grpSpPr>
        <p:sp>
          <p:nvSpPr>
            <p:cNvPr id="16" name="Text Box 71"/>
            <p:cNvSpPr txBox="1">
              <a:spLocks noChangeArrowheads="1"/>
            </p:cNvSpPr>
            <p:nvPr/>
          </p:nvSpPr>
          <p:spPr bwMode="auto">
            <a:xfrm>
              <a:off x="1275" y="1851"/>
              <a:ext cx="288" cy="132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lang="en-US" altLang="zh-CN" sz="2400" b="1">
                  <a:latin typeface="+mn-lt"/>
                </a:rPr>
                <a:t>1</a:t>
              </a:r>
            </a:p>
            <a:p>
              <a:pPr algn="ctr" eaLnBrk="1" hangingPunct="1">
                <a:spcBef>
                  <a:spcPct val="50000"/>
                </a:spcBef>
                <a:buFontTx/>
                <a:buNone/>
              </a:pPr>
              <a:r>
                <a:rPr lang="en-US" altLang="zh-CN" sz="2400" b="1">
                  <a:latin typeface="+mn-lt"/>
                </a:rPr>
                <a:t>2</a:t>
              </a:r>
            </a:p>
            <a:p>
              <a:pPr algn="ctr" eaLnBrk="1" hangingPunct="1">
                <a:spcBef>
                  <a:spcPct val="50000"/>
                </a:spcBef>
                <a:buFontTx/>
                <a:buNone/>
              </a:pPr>
              <a:endParaRPr lang="en-US" altLang="zh-CN" sz="2400" b="1">
                <a:latin typeface="+mn-lt"/>
              </a:endParaRPr>
            </a:p>
            <a:p>
              <a:pPr algn="ctr" eaLnBrk="1" hangingPunct="1">
                <a:spcBef>
                  <a:spcPct val="50000"/>
                </a:spcBef>
                <a:buFontTx/>
                <a:buNone/>
              </a:pPr>
              <a:endParaRPr lang="en-US" altLang="zh-CN" sz="2400" b="1">
                <a:latin typeface="+mn-lt"/>
              </a:endParaRPr>
            </a:p>
          </p:txBody>
        </p:sp>
        <p:sp>
          <p:nvSpPr>
            <p:cNvPr id="17" name="Line 72"/>
            <p:cNvSpPr>
              <a:spLocks noChangeShapeType="1"/>
            </p:cNvSpPr>
            <p:nvPr/>
          </p:nvSpPr>
          <p:spPr bwMode="auto">
            <a:xfrm>
              <a:off x="1275" y="2523"/>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 name="Line 73"/>
            <p:cNvSpPr>
              <a:spLocks noChangeShapeType="1"/>
            </p:cNvSpPr>
            <p:nvPr/>
          </p:nvSpPr>
          <p:spPr bwMode="auto">
            <a:xfrm>
              <a:off x="1275" y="2178"/>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 name="Line 74"/>
            <p:cNvSpPr>
              <a:spLocks noChangeShapeType="1"/>
            </p:cNvSpPr>
            <p:nvPr/>
          </p:nvSpPr>
          <p:spPr bwMode="auto">
            <a:xfrm>
              <a:off x="1275" y="2850"/>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 name="Oval 75"/>
            <p:cNvSpPr>
              <a:spLocks noChangeArrowheads="1"/>
            </p:cNvSpPr>
            <p:nvPr/>
          </p:nvSpPr>
          <p:spPr bwMode="auto">
            <a:xfrm>
              <a:off x="1371" y="3243"/>
              <a:ext cx="96" cy="96"/>
            </a:xfrm>
            <a:prstGeom prst="ellipse">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latin typeface="+mn-lt"/>
              </a:endParaRPr>
            </a:p>
          </p:txBody>
        </p:sp>
      </p:grpSp>
      <p:grpSp>
        <p:nvGrpSpPr>
          <p:cNvPr id="21" name="Group 76"/>
          <p:cNvGrpSpPr>
            <a:grpSpLocks/>
          </p:cNvGrpSpPr>
          <p:nvPr/>
        </p:nvGrpSpPr>
        <p:grpSpPr bwMode="auto">
          <a:xfrm>
            <a:off x="2562225" y="3420815"/>
            <a:ext cx="457200" cy="2362200"/>
            <a:chOff x="1662" y="1848"/>
            <a:chExt cx="288" cy="1488"/>
          </a:xfrm>
        </p:grpSpPr>
        <p:sp>
          <p:nvSpPr>
            <p:cNvPr id="22" name="Text Box 77"/>
            <p:cNvSpPr txBox="1">
              <a:spLocks noChangeArrowheads="1"/>
            </p:cNvSpPr>
            <p:nvPr/>
          </p:nvSpPr>
          <p:spPr bwMode="auto">
            <a:xfrm>
              <a:off x="1662" y="1848"/>
              <a:ext cx="288" cy="132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lang="en-US" altLang="zh-CN" sz="2400" b="1">
                  <a:latin typeface="+mn-lt"/>
                </a:rPr>
                <a:t>1</a:t>
              </a:r>
            </a:p>
            <a:p>
              <a:pPr algn="ctr" eaLnBrk="1" hangingPunct="1">
                <a:spcBef>
                  <a:spcPct val="50000"/>
                </a:spcBef>
                <a:buFontTx/>
                <a:buNone/>
              </a:pPr>
              <a:r>
                <a:rPr lang="en-US" altLang="zh-CN" sz="2400" b="1">
                  <a:latin typeface="+mn-lt"/>
                </a:rPr>
                <a:t>2</a:t>
              </a:r>
            </a:p>
            <a:p>
              <a:pPr algn="ctr" eaLnBrk="1" hangingPunct="1">
                <a:spcBef>
                  <a:spcPct val="50000"/>
                </a:spcBef>
                <a:buFontTx/>
                <a:buNone/>
              </a:pPr>
              <a:r>
                <a:rPr lang="en-US" altLang="zh-CN" sz="2400" b="1">
                  <a:latin typeface="+mn-lt"/>
                </a:rPr>
                <a:t>3</a:t>
              </a:r>
            </a:p>
            <a:p>
              <a:pPr algn="ctr" eaLnBrk="1" hangingPunct="1">
                <a:spcBef>
                  <a:spcPct val="50000"/>
                </a:spcBef>
                <a:buFontTx/>
                <a:buNone/>
              </a:pPr>
              <a:endParaRPr lang="en-US" altLang="zh-CN" sz="2400" b="1">
                <a:latin typeface="+mn-lt"/>
              </a:endParaRPr>
            </a:p>
          </p:txBody>
        </p:sp>
        <p:sp>
          <p:nvSpPr>
            <p:cNvPr id="23" name="Line 78"/>
            <p:cNvSpPr>
              <a:spLocks noChangeShapeType="1"/>
            </p:cNvSpPr>
            <p:nvPr/>
          </p:nvSpPr>
          <p:spPr bwMode="auto">
            <a:xfrm>
              <a:off x="1662" y="2520"/>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 name="Line 79"/>
            <p:cNvSpPr>
              <a:spLocks noChangeShapeType="1"/>
            </p:cNvSpPr>
            <p:nvPr/>
          </p:nvSpPr>
          <p:spPr bwMode="auto">
            <a:xfrm>
              <a:off x="1662" y="2175"/>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 name="Line 80"/>
            <p:cNvSpPr>
              <a:spLocks noChangeShapeType="1"/>
            </p:cNvSpPr>
            <p:nvPr/>
          </p:nvSpPr>
          <p:spPr bwMode="auto">
            <a:xfrm>
              <a:off x="1662" y="2847"/>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 name="Oval 81"/>
            <p:cNvSpPr>
              <a:spLocks noChangeArrowheads="1"/>
            </p:cNvSpPr>
            <p:nvPr/>
          </p:nvSpPr>
          <p:spPr bwMode="auto">
            <a:xfrm>
              <a:off x="1758" y="3240"/>
              <a:ext cx="96" cy="96"/>
            </a:xfrm>
            <a:prstGeom prst="ellipse">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latin typeface="+mn-lt"/>
              </a:endParaRPr>
            </a:p>
          </p:txBody>
        </p:sp>
      </p:grpSp>
      <p:grpSp>
        <p:nvGrpSpPr>
          <p:cNvPr id="27" name="Group 82"/>
          <p:cNvGrpSpPr>
            <a:grpSpLocks/>
          </p:cNvGrpSpPr>
          <p:nvPr/>
        </p:nvGrpSpPr>
        <p:grpSpPr bwMode="auto">
          <a:xfrm>
            <a:off x="3171825" y="3435102"/>
            <a:ext cx="457200" cy="2362200"/>
            <a:chOff x="2046" y="1857"/>
            <a:chExt cx="288" cy="1488"/>
          </a:xfrm>
        </p:grpSpPr>
        <p:sp>
          <p:nvSpPr>
            <p:cNvPr id="28" name="Text Box 83"/>
            <p:cNvSpPr txBox="1">
              <a:spLocks noChangeArrowheads="1"/>
            </p:cNvSpPr>
            <p:nvPr/>
          </p:nvSpPr>
          <p:spPr bwMode="auto">
            <a:xfrm>
              <a:off x="2046" y="1857"/>
              <a:ext cx="288" cy="132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lang="en-US" altLang="zh-CN" sz="2400" b="1">
                  <a:latin typeface="+mn-lt"/>
                </a:rPr>
                <a:t>1</a:t>
              </a:r>
            </a:p>
            <a:p>
              <a:pPr algn="ctr" eaLnBrk="1" hangingPunct="1">
                <a:spcBef>
                  <a:spcPct val="50000"/>
                </a:spcBef>
                <a:buFontTx/>
                <a:buNone/>
              </a:pPr>
              <a:r>
                <a:rPr lang="en-US" altLang="zh-CN" sz="2400" b="1">
                  <a:latin typeface="+mn-lt"/>
                </a:rPr>
                <a:t>2</a:t>
              </a:r>
            </a:p>
            <a:p>
              <a:pPr algn="ctr" eaLnBrk="1" hangingPunct="1">
                <a:spcBef>
                  <a:spcPct val="50000"/>
                </a:spcBef>
                <a:buFontTx/>
                <a:buNone/>
              </a:pPr>
              <a:r>
                <a:rPr lang="en-US" altLang="zh-CN" sz="2400" b="1">
                  <a:latin typeface="+mn-lt"/>
                </a:rPr>
                <a:t>3</a:t>
              </a:r>
            </a:p>
            <a:p>
              <a:pPr algn="ctr" eaLnBrk="1" hangingPunct="1">
                <a:spcBef>
                  <a:spcPct val="50000"/>
                </a:spcBef>
                <a:buFontTx/>
                <a:buNone/>
              </a:pPr>
              <a:r>
                <a:rPr lang="en-US" altLang="zh-CN" sz="2400" b="1">
                  <a:latin typeface="+mn-lt"/>
                </a:rPr>
                <a:t>4</a:t>
              </a:r>
            </a:p>
          </p:txBody>
        </p:sp>
        <p:sp>
          <p:nvSpPr>
            <p:cNvPr id="29" name="Line 84"/>
            <p:cNvSpPr>
              <a:spLocks noChangeShapeType="1"/>
            </p:cNvSpPr>
            <p:nvPr/>
          </p:nvSpPr>
          <p:spPr bwMode="auto">
            <a:xfrm>
              <a:off x="2046" y="2529"/>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 name="Line 85"/>
            <p:cNvSpPr>
              <a:spLocks noChangeShapeType="1"/>
            </p:cNvSpPr>
            <p:nvPr/>
          </p:nvSpPr>
          <p:spPr bwMode="auto">
            <a:xfrm>
              <a:off x="2046" y="2184"/>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 name="Line 86"/>
            <p:cNvSpPr>
              <a:spLocks noChangeShapeType="1"/>
            </p:cNvSpPr>
            <p:nvPr/>
          </p:nvSpPr>
          <p:spPr bwMode="auto">
            <a:xfrm>
              <a:off x="2046" y="2856"/>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 name="Oval 87"/>
            <p:cNvSpPr>
              <a:spLocks noChangeArrowheads="1"/>
            </p:cNvSpPr>
            <p:nvPr/>
          </p:nvSpPr>
          <p:spPr bwMode="auto">
            <a:xfrm>
              <a:off x="2142" y="3249"/>
              <a:ext cx="96" cy="96"/>
            </a:xfrm>
            <a:prstGeom prst="ellipse">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latin typeface="+mn-lt"/>
              </a:endParaRPr>
            </a:p>
          </p:txBody>
        </p:sp>
      </p:grpSp>
      <p:grpSp>
        <p:nvGrpSpPr>
          <p:cNvPr id="33" name="Group 88"/>
          <p:cNvGrpSpPr>
            <a:grpSpLocks/>
          </p:cNvGrpSpPr>
          <p:nvPr/>
        </p:nvGrpSpPr>
        <p:grpSpPr bwMode="auto">
          <a:xfrm>
            <a:off x="3776663" y="3435102"/>
            <a:ext cx="457200" cy="2109788"/>
            <a:chOff x="2427" y="1857"/>
            <a:chExt cx="288" cy="1329"/>
          </a:xfrm>
        </p:grpSpPr>
        <p:sp>
          <p:nvSpPr>
            <p:cNvPr id="34" name="Text Box 89"/>
            <p:cNvSpPr txBox="1">
              <a:spLocks noChangeArrowheads="1"/>
            </p:cNvSpPr>
            <p:nvPr/>
          </p:nvSpPr>
          <p:spPr bwMode="auto">
            <a:xfrm>
              <a:off x="2427" y="1857"/>
              <a:ext cx="288" cy="132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lang="en-US" altLang="zh-CN" sz="2400" b="1">
                  <a:latin typeface="+mn-lt"/>
                </a:rPr>
                <a:t>1</a:t>
              </a:r>
            </a:p>
            <a:p>
              <a:pPr algn="ctr" eaLnBrk="1" hangingPunct="1">
                <a:spcBef>
                  <a:spcPct val="50000"/>
                </a:spcBef>
                <a:buFontTx/>
                <a:buNone/>
              </a:pPr>
              <a:r>
                <a:rPr lang="en-US" altLang="zh-CN" sz="2400" b="1">
                  <a:latin typeface="+mn-lt"/>
                </a:rPr>
                <a:t>2</a:t>
              </a:r>
            </a:p>
            <a:p>
              <a:pPr algn="ctr" eaLnBrk="1" hangingPunct="1">
                <a:spcBef>
                  <a:spcPct val="50000"/>
                </a:spcBef>
                <a:buFontTx/>
                <a:buNone/>
              </a:pPr>
              <a:r>
                <a:rPr lang="en-US" altLang="zh-CN" sz="2400" b="1">
                  <a:latin typeface="+mn-lt"/>
                </a:rPr>
                <a:t>3</a:t>
              </a:r>
            </a:p>
            <a:p>
              <a:pPr algn="ctr" eaLnBrk="1" hangingPunct="1">
                <a:spcBef>
                  <a:spcPct val="50000"/>
                </a:spcBef>
                <a:buFontTx/>
                <a:buNone/>
              </a:pPr>
              <a:r>
                <a:rPr lang="en-US" altLang="zh-CN" sz="2400" b="1">
                  <a:latin typeface="+mn-lt"/>
                </a:rPr>
                <a:t>4</a:t>
              </a:r>
            </a:p>
          </p:txBody>
        </p:sp>
        <p:sp>
          <p:nvSpPr>
            <p:cNvPr id="35" name="Line 90"/>
            <p:cNvSpPr>
              <a:spLocks noChangeShapeType="1"/>
            </p:cNvSpPr>
            <p:nvPr/>
          </p:nvSpPr>
          <p:spPr bwMode="auto">
            <a:xfrm>
              <a:off x="2427" y="2529"/>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 name="Line 91"/>
            <p:cNvSpPr>
              <a:spLocks noChangeShapeType="1"/>
            </p:cNvSpPr>
            <p:nvPr/>
          </p:nvSpPr>
          <p:spPr bwMode="auto">
            <a:xfrm>
              <a:off x="2427" y="2184"/>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 name="Line 92"/>
            <p:cNvSpPr>
              <a:spLocks noChangeShapeType="1"/>
            </p:cNvSpPr>
            <p:nvPr/>
          </p:nvSpPr>
          <p:spPr bwMode="auto">
            <a:xfrm>
              <a:off x="2427" y="2856"/>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8" name="Group 93"/>
          <p:cNvGrpSpPr>
            <a:grpSpLocks/>
          </p:cNvGrpSpPr>
          <p:nvPr/>
        </p:nvGrpSpPr>
        <p:grpSpPr bwMode="auto">
          <a:xfrm>
            <a:off x="4386263" y="3435102"/>
            <a:ext cx="457200" cy="2109788"/>
            <a:chOff x="2811" y="1857"/>
            <a:chExt cx="288" cy="1329"/>
          </a:xfrm>
        </p:grpSpPr>
        <p:sp>
          <p:nvSpPr>
            <p:cNvPr id="39" name="Text Box 94"/>
            <p:cNvSpPr txBox="1">
              <a:spLocks noChangeArrowheads="1"/>
            </p:cNvSpPr>
            <p:nvPr/>
          </p:nvSpPr>
          <p:spPr bwMode="auto">
            <a:xfrm>
              <a:off x="2811" y="1857"/>
              <a:ext cx="288" cy="132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lang="en-US" altLang="zh-CN" sz="2400" b="1">
                  <a:latin typeface="+mn-lt"/>
                </a:rPr>
                <a:t>1</a:t>
              </a:r>
            </a:p>
            <a:p>
              <a:pPr algn="ctr" eaLnBrk="1" hangingPunct="1">
                <a:spcBef>
                  <a:spcPct val="50000"/>
                </a:spcBef>
                <a:buFontTx/>
                <a:buNone/>
              </a:pPr>
              <a:r>
                <a:rPr lang="en-US" altLang="zh-CN" sz="2400" b="1">
                  <a:latin typeface="+mn-lt"/>
                </a:rPr>
                <a:t>2</a:t>
              </a:r>
            </a:p>
            <a:p>
              <a:pPr algn="ctr" eaLnBrk="1" hangingPunct="1">
                <a:spcBef>
                  <a:spcPct val="50000"/>
                </a:spcBef>
                <a:buFontTx/>
                <a:buNone/>
              </a:pPr>
              <a:r>
                <a:rPr lang="en-US" altLang="zh-CN" sz="2400" b="1">
                  <a:latin typeface="+mn-lt"/>
                </a:rPr>
                <a:t>3</a:t>
              </a:r>
            </a:p>
            <a:p>
              <a:pPr algn="ctr" eaLnBrk="1" hangingPunct="1">
                <a:spcBef>
                  <a:spcPct val="50000"/>
                </a:spcBef>
                <a:buFontTx/>
                <a:buNone/>
              </a:pPr>
              <a:r>
                <a:rPr lang="en-US" altLang="zh-CN" sz="2400" b="1">
                  <a:latin typeface="+mn-lt"/>
                </a:rPr>
                <a:t>4</a:t>
              </a:r>
            </a:p>
          </p:txBody>
        </p:sp>
        <p:sp>
          <p:nvSpPr>
            <p:cNvPr id="40" name="Line 95"/>
            <p:cNvSpPr>
              <a:spLocks noChangeShapeType="1"/>
            </p:cNvSpPr>
            <p:nvPr/>
          </p:nvSpPr>
          <p:spPr bwMode="auto">
            <a:xfrm>
              <a:off x="2811" y="2529"/>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 name="Line 96"/>
            <p:cNvSpPr>
              <a:spLocks noChangeShapeType="1"/>
            </p:cNvSpPr>
            <p:nvPr/>
          </p:nvSpPr>
          <p:spPr bwMode="auto">
            <a:xfrm>
              <a:off x="2811" y="2184"/>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 name="Line 97"/>
            <p:cNvSpPr>
              <a:spLocks noChangeShapeType="1"/>
            </p:cNvSpPr>
            <p:nvPr/>
          </p:nvSpPr>
          <p:spPr bwMode="auto">
            <a:xfrm>
              <a:off x="2811" y="2856"/>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3" name="Group 98"/>
          <p:cNvGrpSpPr>
            <a:grpSpLocks/>
          </p:cNvGrpSpPr>
          <p:nvPr/>
        </p:nvGrpSpPr>
        <p:grpSpPr bwMode="auto">
          <a:xfrm>
            <a:off x="4986338" y="3439865"/>
            <a:ext cx="457200" cy="2362200"/>
            <a:chOff x="3189" y="1860"/>
            <a:chExt cx="288" cy="1488"/>
          </a:xfrm>
        </p:grpSpPr>
        <p:sp>
          <p:nvSpPr>
            <p:cNvPr id="44" name="Text Box 99"/>
            <p:cNvSpPr txBox="1">
              <a:spLocks noChangeArrowheads="1"/>
            </p:cNvSpPr>
            <p:nvPr/>
          </p:nvSpPr>
          <p:spPr bwMode="auto">
            <a:xfrm>
              <a:off x="3189" y="1860"/>
              <a:ext cx="288" cy="132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lang="en-US" altLang="zh-CN" sz="2400" b="1">
                  <a:latin typeface="+mn-lt"/>
                </a:rPr>
                <a:t>5</a:t>
              </a:r>
            </a:p>
            <a:p>
              <a:pPr algn="ctr" eaLnBrk="1" hangingPunct="1">
                <a:spcBef>
                  <a:spcPct val="50000"/>
                </a:spcBef>
                <a:buFontTx/>
                <a:buNone/>
              </a:pPr>
              <a:r>
                <a:rPr lang="en-US" altLang="zh-CN" sz="2400" b="1">
                  <a:latin typeface="+mn-lt"/>
                </a:rPr>
                <a:t>2</a:t>
              </a:r>
            </a:p>
            <a:p>
              <a:pPr algn="ctr" eaLnBrk="1" hangingPunct="1">
                <a:spcBef>
                  <a:spcPct val="50000"/>
                </a:spcBef>
                <a:buFontTx/>
                <a:buNone/>
              </a:pPr>
              <a:r>
                <a:rPr lang="en-US" altLang="zh-CN" sz="2400" b="1">
                  <a:latin typeface="+mn-lt"/>
                </a:rPr>
                <a:t>3</a:t>
              </a:r>
            </a:p>
            <a:p>
              <a:pPr algn="ctr" eaLnBrk="1" hangingPunct="1">
                <a:spcBef>
                  <a:spcPct val="50000"/>
                </a:spcBef>
                <a:buFontTx/>
                <a:buNone/>
              </a:pPr>
              <a:r>
                <a:rPr lang="en-US" altLang="zh-CN" sz="2400" b="1">
                  <a:latin typeface="+mn-lt"/>
                </a:rPr>
                <a:t>4</a:t>
              </a:r>
            </a:p>
          </p:txBody>
        </p:sp>
        <p:sp>
          <p:nvSpPr>
            <p:cNvPr id="45" name="Line 100"/>
            <p:cNvSpPr>
              <a:spLocks noChangeShapeType="1"/>
            </p:cNvSpPr>
            <p:nvPr/>
          </p:nvSpPr>
          <p:spPr bwMode="auto">
            <a:xfrm>
              <a:off x="3189" y="2532"/>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 name="Line 101"/>
            <p:cNvSpPr>
              <a:spLocks noChangeShapeType="1"/>
            </p:cNvSpPr>
            <p:nvPr/>
          </p:nvSpPr>
          <p:spPr bwMode="auto">
            <a:xfrm>
              <a:off x="3189" y="2187"/>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 name="Line 102"/>
            <p:cNvSpPr>
              <a:spLocks noChangeShapeType="1"/>
            </p:cNvSpPr>
            <p:nvPr/>
          </p:nvSpPr>
          <p:spPr bwMode="auto">
            <a:xfrm>
              <a:off x="3189" y="2859"/>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 name="Oval 103"/>
            <p:cNvSpPr>
              <a:spLocks noChangeArrowheads="1"/>
            </p:cNvSpPr>
            <p:nvPr/>
          </p:nvSpPr>
          <p:spPr bwMode="auto">
            <a:xfrm>
              <a:off x="3285" y="3252"/>
              <a:ext cx="96" cy="96"/>
            </a:xfrm>
            <a:prstGeom prst="ellipse">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latin typeface="+mn-lt"/>
              </a:endParaRPr>
            </a:p>
          </p:txBody>
        </p:sp>
      </p:grpSp>
      <p:grpSp>
        <p:nvGrpSpPr>
          <p:cNvPr id="49" name="Group 104"/>
          <p:cNvGrpSpPr>
            <a:grpSpLocks/>
          </p:cNvGrpSpPr>
          <p:nvPr/>
        </p:nvGrpSpPr>
        <p:grpSpPr bwMode="auto">
          <a:xfrm>
            <a:off x="5634038" y="3454152"/>
            <a:ext cx="457200" cy="2362200"/>
            <a:chOff x="3597" y="1869"/>
            <a:chExt cx="288" cy="1488"/>
          </a:xfrm>
        </p:grpSpPr>
        <p:sp>
          <p:nvSpPr>
            <p:cNvPr id="50" name="Text Box 105"/>
            <p:cNvSpPr txBox="1">
              <a:spLocks noChangeArrowheads="1"/>
            </p:cNvSpPr>
            <p:nvPr/>
          </p:nvSpPr>
          <p:spPr bwMode="auto">
            <a:xfrm>
              <a:off x="3597" y="1869"/>
              <a:ext cx="288" cy="132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lang="en-US" altLang="zh-CN" sz="2400" b="1">
                  <a:latin typeface="+mn-lt"/>
                </a:rPr>
                <a:t>5</a:t>
              </a:r>
            </a:p>
            <a:p>
              <a:pPr algn="ctr" eaLnBrk="1" hangingPunct="1">
                <a:spcBef>
                  <a:spcPct val="50000"/>
                </a:spcBef>
                <a:buFontTx/>
                <a:buNone/>
              </a:pPr>
              <a:r>
                <a:rPr lang="en-US" altLang="zh-CN" sz="2400" b="1">
                  <a:latin typeface="+mn-lt"/>
                </a:rPr>
                <a:t>1</a:t>
              </a:r>
            </a:p>
            <a:p>
              <a:pPr algn="ctr" eaLnBrk="1" hangingPunct="1">
                <a:spcBef>
                  <a:spcPct val="50000"/>
                </a:spcBef>
                <a:buFontTx/>
                <a:buNone/>
              </a:pPr>
              <a:r>
                <a:rPr lang="en-US" altLang="zh-CN" sz="2400" b="1">
                  <a:latin typeface="+mn-lt"/>
                </a:rPr>
                <a:t>3</a:t>
              </a:r>
            </a:p>
            <a:p>
              <a:pPr algn="ctr" eaLnBrk="1" hangingPunct="1">
                <a:spcBef>
                  <a:spcPct val="50000"/>
                </a:spcBef>
                <a:buFontTx/>
                <a:buNone/>
              </a:pPr>
              <a:r>
                <a:rPr lang="en-US" altLang="zh-CN" sz="2400" b="1">
                  <a:latin typeface="+mn-lt"/>
                </a:rPr>
                <a:t>4</a:t>
              </a:r>
            </a:p>
          </p:txBody>
        </p:sp>
        <p:sp>
          <p:nvSpPr>
            <p:cNvPr id="51" name="Line 106"/>
            <p:cNvSpPr>
              <a:spLocks noChangeShapeType="1"/>
            </p:cNvSpPr>
            <p:nvPr/>
          </p:nvSpPr>
          <p:spPr bwMode="auto">
            <a:xfrm>
              <a:off x="3597" y="2541"/>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 name="Line 107"/>
            <p:cNvSpPr>
              <a:spLocks noChangeShapeType="1"/>
            </p:cNvSpPr>
            <p:nvPr/>
          </p:nvSpPr>
          <p:spPr bwMode="auto">
            <a:xfrm>
              <a:off x="3597" y="2196"/>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 name="Line 108"/>
            <p:cNvSpPr>
              <a:spLocks noChangeShapeType="1"/>
            </p:cNvSpPr>
            <p:nvPr/>
          </p:nvSpPr>
          <p:spPr bwMode="auto">
            <a:xfrm>
              <a:off x="3597" y="2868"/>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 name="Oval 109"/>
            <p:cNvSpPr>
              <a:spLocks noChangeArrowheads="1"/>
            </p:cNvSpPr>
            <p:nvPr/>
          </p:nvSpPr>
          <p:spPr bwMode="auto">
            <a:xfrm>
              <a:off x="3693" y="3261"/>
              <a:ext cx="96" cy="96"/>
            </a:xfrm>
            <a:prstGeom prst="ellipse">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latin typeface="+mn-lt"/>
              </a:endParaRPr>
            </a:p>
          </p:txBody>
        </p:sp>
      </p:grpSp>
      <p:grpSp>
        <p:nvGrpSpPr>
          <p:cNvPr id="55" name="Group 110"/>
          <p:cNvGrpSpPr>
            <a:grpSpLocks/>
          </p:cNvGrpSpPr>
          <p:nvPr/>
        </p:nvGrpSpPr>
        <p:grpSpPr bwMode="auto">
          <a:xfrm>
            <a:off x="6243638" y="3458915"/>
            <a:ext cx="457200" cy="2362200"/>
            <a:chOff x="3981" y="1872"/>
            <a:chExt cx="288" cy="1488"/>
          </a:xfrm>
        </p:grpSpPr>
        <p:sp>
          <p:nvSpPr>
            <p:cNvPr id="56" name="Text Box 111"/>
            <p:cNvSpPr txBox="1">
              <a:spLocks noChangeArrowheads="1"/>
            </p:cNvSpPr>
            <p:nvPr/>
          </p:nvSpPr>
          <p:spPr bwMode="auto">
            <a:xfrm>
              <a:off x="3981" y="1872"/>
              <a:ext cx="288" cy="132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lang="en-US" altLang="zh-CN" sz="2400" b="1">
                  <a:latin typeface="+mn-lt"/>
                </a:rPr>
                <a:t>5</a:t>
              </a:r>
            </a:p>
            <a:p>
              <a:pPr algn="ctr" eaLnBrk="1" hangingPunct="1">
                <a:spcBef>
                  <a:spcPct val="50000"/>
                </a:spcBef>
                <a:buFontTx/>
                <a:buNone/>
              </a:pPr>
              <a:r>
                <a:rPr lang="en-US" altLang="zh-CN" sz="2400" b="1">
                  <a:latin typeface="+mn-lt"/>
                </a:rPr>
                <a:t>1</a:t>
              </a:r>
            </a:p>
            <a:p>
              <a:pPr algn="ctr" eaLnBrk="1" hangingPunct="1">
                <a:spcBef>
                  <a:spcPct val="50000"/>
                </a:spcBef>
                <a:buFontTx/>
                <a:buNone/>
              </a:pPr>
              <a:r>
                <a:rPr lang="en-US" altLang="zh-CN" sz="2400" b="1">
                  <a:latin typeface="+mn-lt"/>
                </a:rPr>
                <a:t>2</a:t>
              </a:r>
            </a:p>
            <a:p>
              <a:pPr algn="ctr" eaLnBrk="1" hangingPunct="1">
                <a:spcBef>
                  <a:spcPct val="50000"/>
                </a:spcBef>
                <a:buFontTx/>
                <a:buNone/>
              </a:pPr>
              <a:r>
                <a:rPr lang="en-US" altLang="zh-CN" sz="2400" b="1">
                  <a:latin typeface="+mn-lt"/>
                </a:rPr>
                <a:t>4</a:t>
              </a:r>
            </a:p>
          </p:txBody>
        </p:sp>
        <p:sp>
          <p:nvSpPr>
            <p:cNvPr id="57" name="Line 112"/>
            <p:cNvSpPr>
              <a:spLocks noChangeShapeType="1"/>
            </p:cNvSpPr>
            <p:nvPr/>
          </p:nvSpPr>
          <p:spPr bwMode="auto">
            <a:xfrm>
              <a:off x="3981" y="2544"/>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 name="Line 113"/>
            <p:cNvSpPr>
              <a:spLocks noChangeShapeType="1"/>
            </p:cNvSpPr>
            <p:nvPr/>
          </p:nvSpPr>
          <p:spPr bwMode="auto">
            <a:xfrm>
              <a:off x="3981" y="2199"/>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 name="Line 114"/>
            <p:cNvSpPr>
              <a:spLocks noChangeShapeType="1"/>
            </p:cNvSpPr>
            <p:nvPr/>
          </p:nvSpPr>
          <p:spPr bwMode="auto">
            <a:xfrm>
              <a:off x="3981" y="2871"/>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 name="Oval 115"/>
            <p:cNvSpPr>
              <a:spLocks noChangeArrowheads="1"/>
            </p:cNvSpPr>
            <p:nvPr/>
          </p:nvSpPr>
          <p:spPr bwMode="auto">
            <a:xfrm>
              <a:off x="4077" y="3264"/>
              <a:ext cx="96" cy="96"/>
            </a:xfrm>
            <a:prstGeom prst="ellipse">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latin typeface="+mn-lt"/>
              </a:endParaRPr>
            </a:p>
          </p:txBody>
        </p:sp>
      </p:grpSp>
      <p:grpSp>
        <p:nvGrpSpPr>
          <p:cNvPr id="61" name="Group 116"/>
          <p:cNvGrpSpPr>
            <a:grpSpLocks/>
          </p:cNvGrpSpPr>
          <p:nvPr/>
        </p:nvGrpSpPr>
        <p:grpSpPr bwMode="auto">
          <a:xfrm>
            <a:off x="6829425" y="3439865"/>
            <a:ext cx="457200" cy="2362200"/>
            <a:chOff x="4350" y="1860"/>
            <a:chExt cx="288" cy="1488"/>
          </a:xfrm>
        </p:grpSpPr>
        <p:sp>
          <p:nvSpPr>
            <p:cNvPr id="62" name="Text Box 117"/>
            <p:cNvSpPr txBox="1">
              <a:spLocks noChangeArrowheads="1"/>
            </p:cNvSpPr>
            <p:nvPr/>
          </p:nvSpPr>
          <p:spPr bwMode="auto">
            <a:xfrm>
              <a:off x="4350" y="1860"/>
              <a:ext cx="288" cy="132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lang="en-US" altLang="zh-CN" sz="2400" b="1">
                  <a:latin typeface="+mn-lt"/>
                </a:rPr>
                <a:t>5</a:t>
              </a:r>
            </a:p>
            <a:p>
              <a:pPr algn="ctr" eaLnBrk="1" hangingPunct="1">
                <a:spcBef>
                  <a:spcPct val="50000"/>
                </a:spcBef>
                <a:buFontTx/>
                <a:buNone/>
              </a:pPr>
              <a:r>
                <a:rPr lang="en-US" altLang="zh-CN" sz="2400" b="1">
                  <a:latin typeface="+mn-lt"/>
                </a:rPr>
                <a:t>1</a:t>
              </a:r>
            </a:p>
            <a:p>
              <a:pPr algn="ctr" eaLnBrk="1" hangingPunct="1">
                <a:spcBef>
                  <a:spcPct val="50000"/>
                </a:spcBef>
                <a:buFontTx/>
                <a:buNone/>
              </a:pPr>
              <a:r>
                <a:rPr lang="en-US" altLang="zh-CN" sz="2400" b="1">
                  <a:latin typeface="+mn-lt"/>
                </a:rPr>
                <a:t>2</a:t>
              </a:r>
            </a:p>
            <a:p>
              <a:pPr algn="ctr" eaLnBrk="1" hangingPunct="1">
                <a:spcBef>
                  <a:spcPct val="50000"/>
                </a:spcBef>
                <a:buFontTx/>
                <a:buNone/>
              </a:pPr>
              <a:r>
                <a:rPr lang="en-US" altLang="zh-CN" sz="2400" b="1">
                  <a:latin typeface="+mn-lt"/>
                </a:rPr>
                <a:t>3</a:t>
              </a:r>
            </a:p>
          </p:txBody>
        </p:sp>
        <p:sp>
          <p:nvSpPr>
            <p:cNvPr id="63" name="Line 118"/>
            <p:cNvSpPr>
              <a:spLocks noChangeShapeType="1"/>
            </p:cNvSpPr>
            <p:nvPr/>
          </p:nvSpPr>
          <p:spPr bwMode="auto">
            <a:xfrm>
              <a:off x="4350" y="2532"/>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 name="Line 119"/>
            <p:cNvSpPr>
              <a:spLocks noChangeShapeType="1"/>
            </p:cNvSpPr>
            <p:nvPr/>
          </p:nvSpPr>
          <p:spPr bwMode="auto">
            <a:xfrm>
              <a:off x="4350" y="2187"/>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 name="Line 120"/>
            <p:cNvSpPr>
              <a:spLocks noChangeShapeType="1"/>
            </p:cNvSpPr>
            <p:nvPr/>
          </p:nvSpPr>
          <p:spPr bwMode="auto">
            <a:xfrm>
              <a:off x="4350" y="2859"/>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 name="Oval 121"/>
            <p:cNvSpPr>
              <a:spLocks noChangeArrowheads="1"/>
            </p:cNvSpPr>
            <p:nvPr/>
          </p:nvSpPr>
          <p:spPr bwMode="auto">
            <a:xfrm>
              <a:off x="4446" y="3252"/>
              <a:ext cx="96" cy="96"/>
            </a:xfrm>
            <a:prstGeom prst="ellipse">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latin typeface="+mn-lt"/>
              </a:endParaRPr>
            </a:p>
          </p:txBody>
        </p:sp>
      </p:grpSp>
      <p:grpSp>
        <p:nvGrpSpPr>
          <p:cNvPr id="67" name="Group 122"/>
          <p:cNvGrpSpPr>
            <a:grpSpLocks/>
          </p:cNvGrpSpPr>
          <p:nvPr/>
        </p:nvGrpSpPr>
        <p:grpSpPr bwMode="auto">
          <a:xfrm>
            <a:off x="7453313" y="3454152"/>
            <a:ext cx="457200" cy="2362200"/>
            <a:chOff x="4743" y="1869"/>
            <a:chExt cx="288" cy="1488"/>
          </a:xfrm>
        </p:grpSpPr>
        <p:sp>
          <p:nvSpPr>
            <p:cNvPr id="68" name="Text Box 123"/>
            <p:cNvSpPr txBox="1">
              <a:spLocks noChangeArrowheads="1"/>
            </p:cNvSpPr>
            <p:nvPr/>
          </p:nvSpPr>
          <p:spPr bwMode="auto">
            <a:xfrm>
              <a:off x="4743" y="1869"/>
              <a:ext cx="288" cy="132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lang="en-US" altLang="zh-CN" sz="2400" b="1">
                  <a:latin typeface="+mn-lt"/>
                </a:rPr>
                <a:t>4</a:t>
              </a:r>
            </a:p>
            <a:p>
              <a:pPr algn="ctr" eaLnBrk="1" hangingPunct="1">
                <a:spcBef>
                  <a:spcPct val="50000"/>
                </a:spcBef>
                <a:buFontTx/>
                <a:buNone/>
              </a:pPr>
              <a:r>
                <a:rPr lang="en-US" altLang="zh-CN" sz="2400" b="1">
                  <a:latin typeface="+mn-lt"/>
                </a:rPr>
                <a:t>1</a:t>
              </a:r>
            </a:p>
            <a:p>
              <a:pPr algn="ctr" eaLnBrk="1" hangingPunct="1">
                <a:spcBef>
                  <a:spcPct val="50000"/>
                </a:spcBef>
                <a:buFontTx/>
                <a:buNone/>
              </a:pPr>
              <a:r>
                <a:rPr lang="en-US" altLang="zh-CN" sz="2400" b="1">
                  <a:latin typeface="+mn-lt"/>
                </a:rPr>
                <a:t>2</a:t>
              </a:r>
            </a:p>
            <a:p>
              <a:pPr algn="ctr" eaLnBrk="1" hangingPunct="1">
                <a:spcBef>
                  <a:spcPct val="50000"/>
                </a:spcBef>
                <a:buFontTx/>
                <a:buNone/>
              </a:pPr>
              <a:r>
                <a:rPr lang="en-US" altLang="zh-CN" sz="2400" b="1">
                  <a:latin typeface="+mn-lt"/>
                </a:rPr>
                <a:t>3</a:t>
              </a:r>
            </a:p>
          </p:txBody>
        </p:sp>
        <p:sp>
          <p:nvSpPr>
            <p:cNvPr id="69" name="Line 124"/>
            <p:cNvSpPr>
              <a:spLocks noChangeShapeType="1"/>
            </p:cNvSpPr>
            <p:nvPr/>
          </p:nvSpPr>
          <p:spPr bwMode="auto">
            <a:xfrm>
              <a:off x="4743" y="2541"/>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 name="Line 125"/>
            <p:cNvSpPr>
              <a:spLocks noChangeShapeType="1"/>
            </p:cNvSpPr>
            <p:nvPr/>
          </p:nvSpPr>
          <p:spPr bwMode="auto">
            <a:xfrm>
              <a:off x="4743" y="2196"/>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 name="Line 126"/>
            <p:cNvSpPr>
              <a:spLocks noChangeShapeType="1"/>
            </p:cNvSpPr>
            <p:nvPr/>
          </p:nvSpPr>
          <p:spPr bwMode="auto">
            <a:xfrm>
              <a:off x="4743" y="2868"/>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 name="Oval 127"/>
            <p:cNvSpPr>
              <a:spLocks noChangeArrowheads="1"/>
            </p:cNvSpPr>
            <p:nvPr/>
          </p:nvSpPr>
          <p:spPr bwMode="auto">
            <a:xfrm>
              <a:off x="4839" y="3261"/>
              <a:ext cx="96" cy="96"/>
            </a:xfrm>
            <a:prstGeom prst="ellipse">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latin typeface="+mn-lt"/>
              </a:endParaRPr>
            </a:p>
          </p:txBody>
        </p:sp>
      </p:grpSp>
      <p:grpSp>
        <p:nvGrpSpPr>
          <p:cNvPr id="73" name="Group 128"/>
          <p:cNvGrpSpPr>
            <a:grpSpLocks/>
          </p:cNvGrpSpPr>
          <p:nvPr/>
        </p:nvGrpSpPr>
        <p:grpSpPr bwMode="auto">
          <a:xfrm>
            <a:off x="8043863" y="3454152"/>
            <a:ext cx="457200" cy="2362200"/>
            <a:chOff x="5115" y="1869"/>
            <a:chExt cx="288" cy="1488"/>
          </a:xfrm>
        </p:grpSpPr>
        <p:sp>
          <p:nvSpPr>
            <p:cNvPr id="74" name="Text Box 129"/>
            <p:cNvSpPr txBox="1">
              <a:spLocks noChangeArrowheads="1"/>
            </p:cNvSpPr>
            <p:nvPr/>
          </p:nvSpPr>
          <p:spPr bwMode="auto">
            <a:xfrm>
              <a:off x="5115" y="1869"/>
              <a:ext cx="288" cy="132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lang="en-US" altLang="zh-CN" sz="2400" b="1">
                  <a:latin typeface="+mn-lt"/>
                </a:rPr>
                <a:t>4</a:t>
              </a:r>
            </a:p>
            <a:p>
              <a:pPr algn="ctr" eaLnBrk="1" hangingPunct="1">
                <a:spcBef>
                  <a:spcPct val="50000"/>
                </a:spcBef>
                <a:buFontTx/>
                <a:buNone/>
              </a:pPr>
              <a:r>
                <a:rPr lang="en-US" altLang="zh-CN" sz="2400" b="1">
                  <a:latin typeface="+mn-lt"/>
                </a:rPr>
                <a:t>5</a:t>
              </a:r>
            </a:p>
            <a:p>
              <a:pPr algn="ctr" eaLnBrk="1" hangingPunct="1">
                <a:spcBef>
                  <a:spcPct val="50000"/>
                </a:spcBef>
                <a:buFontTx/>
                <a:buNone/>
              </a:pPr>
              <a:r>
                <a:rPr lang="en-US" altLang="zh-CN" sz="2400" b="1">
                  <a:latin typeface="+mn-lt"/>
                </a:rPr>
                <a:t>2</a:t>
              </a:r>
            </a:p>
            <a:p>
              <a:pPr algn="ctr" eaLnBrk="1" hangingPunct="1">
                <a:spcBef>
                  <a:spcPct val="50000"/>
                </a:spcBef>
                <a:buFontTx/>
                <a:buNone/>
              </a:pPr>
              <a:r>
                <a:rPr lang="en-US" altLang="zh-CN" sz="2400" b="1">
                  <a:latin typeface="+mn-lt"/>
                </a:rPr>
                <a:t>3</a:t>
              </a:r>
            </a:p>
          </p:txBody>
        </p:sp>
        <p:sp>
          <p:nvSpPr>
            <p:cNvPr id="75" name="Line 130"/>
            <p:cNvSpPr>
              <a:spLocks noChangeShapeType="1"/>
            </p:cNvSpPr>
            <p:nvPr/>
          </p:nvSpPr>
          <p:spPr bwMode="auto">
            <a:xfrm>
              <a:off x="5115" y="2541"/>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 name="Line 131"/>
            <p:cNvSpPr>
              <a:spLocks noChangeShapeType="1"/>
            </p:cNvSpPr>
            <p:nvPr/>
          </p:nvSpPr>
          <p:spPr bwMode="auto">
            <a:xfrm>
              <a:off x="5115" y="2196"/>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 name="Line 132"/>
            <p:cNvSpPr>
              <a:spLocks noChangeShapeType="1"/>
            </p:cNvSpPr>
            <p:nvPr/>
          </p:nvSpPr>
          <p:spPr bwMode="auto">
            <a:xfrm>
              <a:off x="5115" y="2868"/>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 name="Oval 133"/>
            <p:cNvSpPr>
              <a:spLocks noChangeArrowheads="1"/>
            </p:cNvSpPr>
            <p:nvPr/>
          </p:nvSpPr>
          <p:spPr bwMode="auto">
            <a:xfrm>
              <a:off x="5211" y="3261"/>
              <a:ext cx="96" cy="96"/>
            </a:xfrm>
            <a:prstGeom prst="ellipse">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latin typeface="+mn-lt"/>
              </a:endParaRPr>
            </a:p>
          </p:txBody>
        </p:sp>
      </p:grpSp>
    </p:spTree>
    <p:extLst>
      <p:ext uri="{BB962C8B-B14F-4D97-AF65-F5344CB8AC3E}">
        <p14:creationId xmlns:p14="http://schemas.microsoft.com/office/powerpoint/2010/main" val="4239455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ppt_x</p:attrName>
                                        </p:attrNameLst>
                                      </p:cBhvr>
                                      <p:tavLst>
                                        <p:tav tm="0">
                                          <p:val>
                                            <p:strVal val="#ppt_x-#ppt_w/2"/>
                                          </p:val>
                                        </p:tav>
                                        <p:tav tm="100000">
                                          <p:val>
                                            <p:strVal val="#ppt_x"/>
                                          </p:val>
                                        </p:tav>
                                      </p:tavLst>
                                    </p:anim>
                                    <p:anim calcmode="lin" valueType="num">
                                      <p:cBhvr>
                                        <p:cTn id="8" dur="500" fill="hold"/>
                                        <p:tgtEl>
                                          <p:spTgt spid="8"/>
                                        </p:tgtEl>
                                        <p:attrNameLst>
                                          <p:attrName>ppt_y</p:attrName>
                                        </p:attrNameLst>
                                      </p:cBhvr>
                                      <p:tavLst>
                                        <p:tav tm="0">
                                          <p:val>
                                            <p:strVal val="#ppt_y"/>
                                          </p:val>
                                        </p:tav>
                                        <p:tav tm="100000">
                                          <p:val>
                                            <p:strVal val="#ppt_y"/>
                                          </p:val>
                                        </p:tav>
                                      </p:tavLst>
                                    </p:anim>
                                    <p:anim calcmode="lin" valueType="num">
                                      <p:cBhvr>
                                        <p:cTn id="9" dur="500" fill="hold"/>
                                        <p:tgtEl>
                                          <p:spTgt spid="8"/>
                                        </p:tgtEl>
                                        <p:attrNameLst>
                                          <p:attrName>ppt_w</p:attrName>
                                        </p:attrNameLst>
                                      </p:cBhvr>
                                      <p:tavLst>
                                        <p:tav tm="0">
                                          <p:val>
                                            <p:fltVal val="0"/>
                                          </p:val>
                                        </p:tav>
                                        <p:tav tm="100000">
                                          <p:val>
                                            <p:strVal val="#ppt_w"/>
                                          </p:val>
                                        </p:tav>
                                      </p:tavLst>
                                    </p:anim>
                                    <p:anim calcmode="lin" valueType="num">
                                      <p:cBhvr>
                                        <p:cTn id="10" dur="500" fill="hold"/>
                                        <p:tgtEl>
                                          <p:spTgt spid="8"/>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499"/>
                                          </p:stCondLst>
                                        </p:cTn>
                                        <p:tgtEl>
                                          <p:spTgt spid="2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499"/>
                                          </p:stCondLst>
                                        </p:cTn>
                                        <p:tgtEl>
                                          <p:spTgt spid="3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499"/>
                                          </p:stCondLst>
                                        </p:cTn>
                                        <p:tgtEl>
                                          <p:spTgt spid="3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499"/>
                                          </p:stCondLst>
                                        </p:cTn>
                                        <p:tgtEl>
                                          <p:spTgt spid="4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499"/>
                                          </p:stCondLst>
                                        </p:cTn>
                                        <p:tgtEl>
                                          <p:spTgt spid="4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499"/>
                                          </p:stCondLst>
                                        </p:cTn>
                                        <p:tgtEl>
                                          <p:spTgt spid="5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499"/>
                                          </p:stCondLst>
                                        </p:cTn>
                                        <p:tgtEl>
                                          <p:spTgt spid="6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499"/>
                                          </p:stCondLst>
                                        </p:cTn>
                                        <p:tgtEl>
                                          <p:spTgt spid="6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499"/>
                                          </p:stCondLst>
                                        </p:cTn>
                                        <p:tgtEl>
                                          <p:spTgt spid="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utoUpdateAnimBg="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时钟置换算法</a:t>
            </a:r>
          </a:p>
        </p:txBody>
      </p:sp>
      <p:sp>
        <p:nvSpPr>
          <p:cNvPr id="3" name="Content Placeholder 2"/>
          <p:cNvSpPr>
            <a:spLocks noGrp="1"/>
          </p:cNvSpPr>
          <p:nvPr>
            <p:ph idx="1"/>
          </p:nvPr>
        </p:nvSpPr>
        <p:spPr/>
        <p:txBody>
          <a:bodyPr>
            <a:normAutofit/>
          </a:bodyPr>
          <a:lstStyle/>
          <a:p>
            <a:r>
              <a:rPr lang="zh-CN" altLang="en-US" dirty="0"/>
              <a:t>基本原理</a:t>
            </a:r>
            <a:endParaRPr lang="en-US" altLang="zh-CN" dirty="0"/>
          </a:p>
          <a:p>
            <a:pPr lvl="1"/>
            <a:r>
              <a:rPr lang="zh-CN" altLang="en-US" dirty="0"/>
              <a:t>是</a:t>
            </a:r>
            <a:r>
              <a:rPr lang="en-US" altLang="zh-CN" dirty="0"/>
              <a:t>LRU</a:t>
            </a:r>
            <a:r>
              <a:rPr lang="zh-CN" altLang="en-US" dirty="0"/>
              <a:t>的一种近似算法</a:t>
            </a:r>
            <a:endParaRPr lang="en-US" altLang="zh-CN" dirty="0"/>
          </a:p>
          <a:p>
            <a:pPr lvl="1"/>
            <a:r>
              <a:rPr lang="zh-CN" altLang="en-US" dirty="0"/>
              <a:t>为每页设置一个访问位，将内存中所有页面链接成一个循环</a:t>
            </a:r>
            <a:r>
              <a:rPr lang="zh-CN" altLang="en-US" dirty="0" smtClean="0"/>
              <a:t>队列</a:t>
            </a:r>
            <a:endParaRPr lang="en-US" altLang="zh-CN" dirty="0" smtClean="0"/>
          </a:p>
          <a:p>
            <a:pPr lvl="1"/>
            <a:r>
              <a:rPr lang="zh-CN" altLang="en-US" dirty="0" smtClean="0"/>
              <a:t>某</a:t>
            </a:r>
            <a:r>
              <a:rPr lang="zh-CN" altLang="en-US" dirty="0"/>
              <a:t>页被访问时，其访问位被置</a:t>
            </a:r>
            <a:r>
              <a:rPr lang="en-US" altLang="zh-CN" dirty="0"/>
              <a:t>1</a:t>
            </a:r>
          </a:p>
          <a:p>
            <a:pPr lvl="1"/>
            <a:r>
              <a:rPr lang="zh-CN" altLang="en-US" dirty="0"/>
              <a:t>置换时，检查各页的访问位，</a:t>
            </a:r>
            <a:r>
              <a:rPr lang="en-US" altLang="zh-CN" dirty="0"/>
              <a:t>0</a:t>
            </a:r>
            <a:r>
              <a:rPr lang="zh-CN" altLang="en-US" dirty="0"/>
              <a:t>可被置换，</a:t>
            </a:r>
            <a:r>
              <a:rPr lang="en-US" altLang="zh-CN" dirty="0"/>
              <a:t>1</a:t>
            </a:r>
            <a:r>
              <a:rPr lang="zh-CN" altLang="en-US" dirty="0"/>
              <a:t>则将其置</a:t>
            </a:r>
            <a:r>
              <a:rPr lang="en-US" altLang="zh-CN" dirty="0"/>
              <a:t>0</a:t>
            </a:r>
          </a:p>
          <a:p>
            <a:pPr lvl="1"/>
            <a:r>
              <a:rPr lang="zh-CN" altLang="en-US" dirty="0"/>
              <a:t>按照固定顺序检查各页面</a:t>
            </a:r>
          </a:p>
        </p:txBody>
      </p:sp>
      <p:sp>
        <p:nvSpPr>
          <p:cNvPr id="4" name="Date Placeholder 3"/>
          <p:cNvSpPr>
            <a:spLocks noGrp="1"/>
          </p:cNvSpPr>
          <p:nvPr>
            <p:ph type="dt" sz="half" idx="10"/>
          </p:nvPr>
        </p:nvSpPr>
        <p:spPr/>
        <p:txBody>
          <a:bodyPr/>
          <a:lstStyle/>
          <a:p>
            <a:fld id="{1715F2C6-E4B9-4C14-A9F8-90AC361DE062}"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118</a:t>
            </a:fld>
            <a:endParaRPr lang="zh-CN" altLang="en-US" dirty="0"/>
          </a:p>
        </p:txBody>
      </p:sp>
    </p:spTree>
    <p:extLst>
      <p:ext uri="{BB962C8B-B14F-4D97-AF65-F5344CB8AC3E}">
        <p14:creationId xmlns:p14="http://schemas.microsoft.com/office/powerpoint/2010/main" val="1458306113"/>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442" name="Rectangle 2"/>
          <p:cNvSpPr>
            <a:spLocks noGrp="1" noChangeArrowheads="1"/>
          </p:cNvSpPr>
          <p:nvPr>
            <p:ph type="title"/>
          </p:nvPr>
        </p:nvSpPr>
        <p:spPr/>
        <p:txBody>
          <a:bodyPr/>
          <a:lstStyle/>
          <a:p>
            <a:pPr>
              <a:defRPr/>
            </a:pPr>
            <a:r>
              <a:rPr lang="zh-CN" altLang="en-US" dirty="0"/>
              <a:t>时钟置换算法</a:t>
            </a:r>
            <a:endParaRPr lang="zh-CN" altLang="en-US" dirty="0">
              <a:ea typeface="黑体" panose="02010609060101010101" pitchFamily="49" charset="-122"/>
            </a:endParaRPr>
          </a:p>
        </p:txBody>
      </p:sp>
      <p:grpSp>
        <p:nvGrpSpPr>
          <p:cNvPr id="445444" name="Group 4"/>
          <p:cNvGrpSpPr>
            <a:grpSpLocks/>
          </p:cNvGrpSpPr>
          <p:nvPr/>
        </p:nvGrpSpPr>
        <p:grpSpPr bwMode="auto">
          <a:xfrm>
            <a:off x="1341834" y="2565227"/>
            <a:ext cx="431800" cy="1008062"/>
            <a:chOff x="476" y="3113"/>
            <a:chExt cx="272" cy="635"/>
          </a:xfrm>
        </p:grpSpPr>
        <p:sp>
          <p:nvSpPr>
            <p:cNvPr id="325655" name="Rectangle 5"/>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4</a:t>
              </a:r>
            </a:p>
            <a:p>
              <a:pPr algn="ctr" eaLnBrk="1" hangingPunct="1">
                <a:lnSpc>
                  <a:spcPct val="120000"/>
                </a:lnSpc>
                <a:spcBef>
                  <a:spcPct val="0"/>
                </a:spcBef>
                <a:buFontTx/>
                <a:buNone/>
              </a:pPr>
              <a:r>
                <a:rPr kumimoji="0" lang="en-US" altLang="zh-CN" sz="1800" b="1"/>
                <a:t> </a:t>
              </a:r>
            </a:p>
            <a:p>
              <a:pPr algn="ctr" eaLnBrk="1" hangingPunct="1">
                <a:lnSpc>
                  <a:spcPct val="120000"/>
                </a:lnSpc>
                <a:spcBef>
                  <a:spcPct val="0"/>
                </a:spcBef>
                <a:buFontTx/>
                <a:buNone/>
              </a:pPr>
              <a:r>
                <a:rPr kumimoji="0" lang="en-US" altLang="zh-CN" sz="1800" b="1"/>
                <a:t> </a:t>
              </a:r>
            </a:p>
          </p:txBody>
        </p:sp>
        <p:sp>
          <p:nvSpPr>
            <p:cNvPr id="325656" name="Line 6"/>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5657" name="Line 7"/>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25638" name="Text Box 8"/>
          <p:cNvSpPr txBox="1">
            <a:spLocks noChangeArrowheads="1"/>
          </p:cNvSpPr>
          <p:nvPr/>
        </p:nvSpPr>
        <p:spPr bwMode="auto">
          <a:xfrm>
            <a:off x="1259284" y="2204864"/>
            <a:ext cx="67691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2000" b="1"/>
              <a:t>  4       3       2       1       4       3       5       4       3       2       1       5</a:t>
            </a:r>
          </a:p>
        </p:txBody>
      </p:sp>
      <p:sp>
        <p:nvSpPr>
          <p:cNvPr id="445449" name="Text Box 9"/>
          <p:cNvSpPr txBox="1">
            <a:spLocks noChangeArrowheads="1"/>
          </p:cNvSpPr>
          <p:nvPr/>
        </p:nvSpPr>
        <p:spPr bwMode="auto">
          <a:xfrm>
            <a:off x="1386284" y="3597102"/>
            <a:ext cx="3603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sym typeface="Symbol" panose="05050102010706020507" pitchFamily="18" charset="2"/>
              </a:rPr>
              <a:t></a:t>
            </a:r>
          </a:p>
        </p:txBody>
      </p:sp>
      <p:grpSp>
        <p:nvGrpSpPr>
          <p:cNvPr id="325640" name="Group 18"/>
          <p:cNvGrpSpPr>
            <a:grpSpLocks/>
          </p:cNvGrpSpPr>
          <p:nvPr/>
        </p:nvGrpSpPr>
        <p:grpSpPr bwMode="auto">
          <a:xfrm>
            <a:off x="3778646" y="4292427"/>
            <a:ext cx="2232025" cy="1152525"/>
            <a:chOff x="2699" y="3158"/>
            <a:chExt cx="1406" cy="726"/>
          </a:xfrm>
        </p:grpSpPr>
        <p:grpSp>
          <p:nvGrpSpPr>
            <p:cNvPr id="325648" name="Group 19"/>
            <p:cNvGrpSpPr>
              <a:grpSpLocks/>
            </p:cNvGrpSpPr>
            <p:nvPr/>
          </p:nvGrpSpPr>
          <p:grpSpPr bwMode="auto">
            <a:xfrm>
              <a:off x="2699" y="3158"/>
              <a:ext cx="725" cy="272"/>
              <a:chOff x="2699" y="3203"/>
              <a:chExt cx="725" cy="272"/>
            </a:xfrm>
          </p:grpSpPr>
          <p:sp>
            <p:nvSpPr>
              <p:cNvPr id="325653" name="Rectangle 20"/>
              <p:cNvSpPr>
                <a:spLocks noChangeArrowheads="1"/>
              </p:cNvSpPr>
              <p:nvPr/>
            </p:nvSpPr>
            <p:spPr bwMode="auto">
              <a:xfrm>
                <a:off x="2699" y="3203"/>
                <a:ext cx="725" cy="27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zh-CN" sz="2000" b="1"/>
              </a:p>
            </p:txBody>
          </p:sp>
          <p:sp>
            <p:nvSpPr>
              <p:cNvPr id="325654" name="Line 21"/>
              <p:cNvSpPr>
                <a:spLocks noChangeShapeType="1"/>
              </p:cNvSpPr>
              <p:nvPr/>
            </p:nvSpPr>
            <p:spPr bwMode="auto">
              <a:xfrm>
                <a:off x="3075" y="3203"/>
                <a:ext cx="0"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25649" name="Group 22"/>
            <p:cNvGrpSpPr>
              <a:grpSpLocks/>
            </p:cNvGrpSpPr>
            <p:nvPr/>
          </p:nvGrpSpPr>
          <p:grpSpPr bwMode="auto">
            <a:xfrm>
              <a:off x="3380" y="3612"/>
              <a:ext cx="725" cy="272"/>
              <a:chOff x="2699" y="3203"/>
              <a:chExt cx="725" cy="272"/>
            </a:xfrm>
          </p:grpSpPr>
          <p:sp>
            <p:nvSpPr>
              <p:cNvPr id="325651" name="Rectangle 23"/>
              <p:cNvSpPr>
                <a:spLocks noChangeArrowheads="1"/>
              </p:cNvSpPr>
              <p:nvPr/>
            </p:nvSpPr>
            <p:spPr bwMode="auto">
              <a:xfrm>
                <a:off x="2699" y="3203"/>
                <a:ext cx="725" cy="27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zh-CN" sz="2000" b="1"/>
              </a:p>
            </p:txBody>
          </p:sp>
          <p:sp>
            <p:nvSpPr>
              <p:cNvPr id="325652" name="Line 24"/>
              <p:cNvSpPr>
                <a:spLocks noChangeShapeType="1"/>
              </p:cNvSpPr>
              <p:nvPr/>
            </p:nvSpPr>
            <p:spPr bwMode="auto">
              <a:xfrm>
                <a:off x="3075" y="3203"/>
                <a:ext cx="0"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25650" name="Line 25"/>
            <p:cNvSpPr>
              <a:spLocks noChangeShapeType="1"/>
            </p:cNvSpPr>
            <p:nvPr/>
          </p:nvSpPr>
          <p:spPr bwMode="auto">
            <a:xfrm>
              <a:off x="3424" y="3294"/>
              <a:ext cx="318" cy="31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25641" name="Group 26"/>
          <p:cNvGrpSpPr>
            <a:grpSpLocks/>
          </p:cNvGrpSpPr>
          <p:nvPr/>
        </p:nvGrpSpPr>
        <p:grpSpPr bwMode="auto">
          <a:xfrm>
            <a:off x="2842021" y="5013152"/>
            <a:ext cx="1150938" cy="431800"/>
            <a:chOff x="2699" y="3203"/>
            <a:chExt cx="725" cy="272"/>
          </a:xfrm>
        </p:grpSpPr>
        <p:sp>
          <p:nvSpPr>
            <p:cNvPr id="325646" name="Rectangle 27"/>
            <p:cNvSpPr>
              <a:spLocks noChangeArrowheads="1"/>
            </p:cNvSpPr>
            <p:nvPr/>
          </p:nvSpPr>
          <p:spPr bwMode="auto">
            <a:xfrm>
              <a:off x="2699" y="3203"/>
              <a:ext cx="725" cy="27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zh-CN" sz="2000" b="1"/>
            </a:p>
          </p:txBody>
        </p:sp>
        <p:sp>
          <p:nvSpPr>
            <p:cNvPr id="325647" name="Line 28"/>
            <p:cNvSpPr>
              <a:spLocks noChangeShapeType="1"/>
            </p:cNvSpPr>
            <p:nvPr/>
          </p:nvSpPr>
          <p:spPr bwMode="auto">
            <a:xfrm>
              <a:off x="3075" y="3203"/>
              <a:ext cx="0"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25642" name="Line 29"/>
          <p:cNvSpPr>
            <a:spLocks noChangeShapeType="1"/>
          </p:cNvSpPr>
          <p:nvPr/>
        </p:nvSpPr>
        <p:spPr bwMode="auto">
          <a:xfrm flipH="1">
            <a:off x="3994546" y="5229052"/>
            <a:ext cx="863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5643" name="Line 30"/>
          <p:cNvSpPr>
            <a:spLocks noChangeShapeType="1"/>
          </p:cNvSpPr>
          <p:nvPr/>
        </p:nvSpPr>
        <p:spPr bwMode="auto">
          <a:xfrm flipV="1">
            <a:off x="3202384" y="4508327"/>
            <a:ext cx="576262" cy="5048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5471" name="Oval 31"/>
          <p:cNvSpPr>
            <a:spLocks noChangeArrowheads="1"/>
          </p:cNvSpPr>
          <p:nvPr/>
        </p:nvSpPr>
        <p:spPr bwMode="auto">
          <a:xfrm>
            <a:off x="3562746" y="4436889"/>
            <a:ext cx="144463" cy="144463"/>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445472" name="Text Box 32"/>
          <p:cNvSpPr txBox="1">
            <a:spLocks noChangeArrowheads="1"/>
          </p:cNvSpPr>
          <p:nvPr/>
        </p:nvSpPr>
        <p:spPr bwMode="auto">
          <a:xfrm>
            <a:off x="3965971" y="4292427"/>
            <a:ext cx="863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4      1</a:t>
            </a:r>
          </a:p>
        </p:txBody>
      </p:sp>
      <p:sp>
        <p:nvSpPr>
          <p:cNvPr id="3" name="Date Placeholder 2"/>
          <p:cNvSpPr>
            <a:spLocks noGrp="1"/>
          </p:cNvSpPr>
          <p:nvPr>
            <p:ph type="dt" sz="half" idx="10"/>
          </p:nvPr>
        </p:nvSpPr>
        <p:spPr/>
        <p:txBody>
          <a:bodyPr/>
          <a:lstStyle/>
          <a:p>
            <a:fld id="{8F996B1B-02E4-4BCD-8652-38BFA4BEA9E8}" type="datetime1">
              <a:rPr lang="zh-CN" altLang="en-US" smtClean="0"/>
              <a:pPr/>
              <a:t>2018/8/3</a:t>
            </a:fld>
            <a:endParaRPr lang="zh-CN" altLang="en-US" dirty="0"/>
          </a:p>
        </p:txBody>
      </p:sp>
      <p:sp>
        <p:nvSpPr>
          <p:cNvPr id="4" name="Footer Placeholder 3"/>
          <p:cNvSpPr>
            <a:spLocks noGrp="1"/>
          </p:cNvSpPr>
          <p:nvPr>
            <p:ph type="ftr" sz="quarter" idx="11"/>
          </p:nvPr>
        </p:nvSpPr>
        <p:spPr/>
        <p:txBody>
          <a:bodyPr/>
          <a:lstStyle/>
          <a:p>
            <a:r>
              <a:rPr lang="en-US" altLang="zh-CN"/>
              <a:t>CH07 Memory Management</a:t>
            </a:r>
            <a:endParaRPr lang="zh-CN" altLang="en-US" dirty="0"/>
          </a:p>
        </p:txBody>
      </p:sp>
      <p:sp>
        <p:nvSpPr>
          <p:cNvPr id="29" name="Slide Number Placeholder 5"/>
          <p:cNvSpPr>
            <a:spLocks noGrp="1"/>
          </p:cNvSpPr>
          <p:nvPr>
            <p:ph type="sldNum" sz="quarter" idx="12"/>
          </p:nvPr>
        </p:nvSpPr>
        <p:spPr>
          <a:xfrm>
            <a:off x="6119832" y="6669360"/>
            <a:ext cx="3009936" cy="187200"/>
          </a:xfrm>
        </p:spPr>
        <p:txBody>
          <a:bodyPr/>
          <a:lstStyle/>
          <a:p>
            <a:r>
              <a:rPr lang="en-US" altLang="zh-CN" dirty="0"/>
              <a:t>119</a:t>
            </a:r>
            <a:endParaRPr lang="zh-CN" altLang="en-US" dirty="0"/>
          </a:p>
        </p:txBody>
      </p:sp>
    </p:spTree>
    <p:extLst>
      <p:ext uri="{BB962C8B-B14F-4D97-AF65-F5344CB8AC3E}">
        <p14:creationId xmlns:p14="http://schemas.microsoft.com/office/powerpoint/2010/main" val="36802622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544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4544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4547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0" presetClass="path" presetSubtype="0" accel="50000" decel="50000" fill="hold" grpId="0" nodeType="clickEffect">
                                  <p:stCondLst>
                                    <p:cond delay="0"/>
                                  </p:stCondLst>
                                  <p:childTnLst>
                                    <p:animMotion origin="layout" path="M 1.11111E-6 -7.03053E-6 L 0.12604 0.09458 " pathEditMode="relative" ptsTypes="AA">
                                      <p:cBhvr>
                                        <p:cTn id="18" dur="500" fill="hold"/>
                                        <p:tgtEl>
                                          <p:spTgt spid="445471"/>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5449" grpId="0"/>
      <p:bldP spid="445471" grpId="0" animBg="1"/>
      <p:bldP spid="445472" grpId="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5010" name="Rectangle 2"/>
          <p:cNvSpPr>
            <a:spLocks noGrp="1" noChangeArrowheads="1"/>
          </p:cNvSpPr>
          <p:nvPr>
            <p:ph type="title"/>
          </p:nvPr>
        </p:nvSpPr>
        <p:spPr/>
        <p:txBody>
          <a:bodyPr/>
          <a:lstStyle/>
          <a:p>
            <a:pPr>
              <a:defRPr/>
            </a:pPr>
            <a:r>
              <a:rPr lang="zh-CN" altLang="en-US" dirty="0"/>
              <a:t>时钟置换算法</a:t>
            </a:r>
            <a:endParaRPr lang="zh-CN" altLang="en-US" dirty="0">
              <a:ea typeface="黑体" panose="02010609060101010101" pitchFamily="49" charset="-122"/>
            </a:endParaRPr>
          </a:p>
        </p:txBody>
      </p:sp>
      <p:grpSp>
        <p:nvGrpSpPr>
          <p:cNvPr id="327685" name="Group 4"/>
          <p:cNvGrpSpPr>
            <a:grpSpLocks/>
          </p:cNvGrpSpPr>
          <p:nvPr/>
        </p:nvGrpSpPr>
        <p:grpSpPr bwMode="auto">
          <a:xfrm>
            <a:off x="1341834" y="2565227"/>
            <a:ext cx="431800" cy="1008062"/>
            <a:chOff x="476" y="3113"/>
            <a:chExt cx="272" cy="635"/>
          </a:xfrm>
        </p:grpSpPr>
        <p:sp>
          <p:nvSpPr>
            <p:cNvPr id="327711" name="Rectangle 5"/>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4</a:t>
              </a:r>
            </a:p>
            <a:p>
              <a:pPr algn="ctr" eaLnBrk="1" hangingPunct="1">
                <a:lnSpc>
                  <a:spcPct val="120000"/>
                </a:lnSpc>
                <a:spcBef>
                  <a:spcPct val="0"/>
                </a:spcBef>
                <a:buFontTx/>
                <a:buNone/>
              </a:pPr>
              <a:r>
                <a:rPr kumimoji="0" lang="en-US" altLang="zh-CN" sz="1800" b="1"/>
                <a:t> </a:t>
              </a:r>
            </a:p>
            <a:p>
              <a:pPr algn="ctr" eaLnBrk="1" hangingPunct="1">
                <a:lnSpc>
                  <a:spcPct val="120000"/>
                </a:lnSpc>
                <a:spcBef>
                  <a:spcPct val="0"/>
                </a:spcBef>
                <a:buFontTx/>
                <a:buNone/>
              </a:pPr>
              <a:r>
                <a:rPr kumimoji="0" lang="en-US" altLang="zh-CN" sz="1800" b="1"/>
                <a:t> </a:t>
              </a:r>
            </a:p>
          </p:txBody>
        </p:sp>
        <p:sp>
          <p:nvSpPr>
            <p:cNvPr id="327712" name="Line 6"/>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713" name="Line 7"/>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27686" name="Text Box 8"/>
          <p:cNvSpPr txBox="1">
            <a:spLocks noChangeArrowheads="1"/>
          </p:cNvSpPr>
          <p:nvPr/>
        </p:nvSpPr>
        <p:spPr bwMode="auto">
          <a:xfrm>
            <a:off x="1259284" y="2204864"/>
            <a:ext cx="67691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2000" b="1"/>
              <a:t>  4       3       2       1       4       3       5       4       3       2       1       5</a:t>
            </a:r>
          </a:p>
        </p:txBody>
      </p:sp>
      <p:sp>
        <p:nvSpPr>
          <p:cNvPr id="327687" name="Text Box 9"/>
          <p:cNvSpPr txBox="1">
            <a:spLocks noChangeArrowheads="1"/>
          </p:cNvSpPr>
          <p:nvPr/>
        </p:nvSpPr>
        <p:spPr bwMode="auto">
          <a:xfrm>
            <a:off x="1386284" y="3597102"/>
            <a:ext cx="3603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sym typeface="Symbol" panose="05050102010706020507" pitchFamily="18" charset="2"/>
              </a:rPr>
              <a:t></a:t>
            </a:r>
          </a:p>
        </p:txBody>
      </p:sp>
      <p:grpSp>
        <p:nvGrpSpPr>
          <p:cNvPr id="327688" name="Group 11"/>
          <p:cNvGrpSpPr>
            <a:grpSpLocks/>
          </p:cNvGrpSpPr>
          <p:nvPr/>
        </p:nvGrpSpPr>
        <p:grpSpPr bwMode="auto">
          <a:xfrm>
            <a:off x="3778646" y="4292427"/>
            <a:ext cx="2232025" cy="1152525"/>
            <a:chOff x="2699" y="3158"/>
            <a:chExt cx="1406" cy="726"/>
          </a:xfrm>
        </p:grpSpPr>
        <p:grpSp>
          <p:nvGrpSpPr>
            <p:cNvPr id="327704" name="Group 12"/>
            <p:cNvGrpSpPr>
              <a:grpSpLocks/>
            </p:cNvGrpSpPr>
            <p:nvPr/>
          </p:nvGrpSpPr>
          <p:grpSpPr bwMode="auto">
            <a:xfrm>
              <a:off x="2699" y="3158"/>
              <a:ext cx="725" cy="272"/>
              <a:chOff x="2699" y="3203"/>
              <a:chExt cx="725" cy="272"/>
            </a:xfrm>
          </p:grpSpPr>
          <p:sp>
            <p:nvSpPr>
              <p:cNvPr id="327709" name="Rectangle 13"/>
              <p:cNvSpPr>
                <a:spLocks noChangeArrowheads="1"/>
              </p:cNvSpPr>
              <p:nvPr/>
            </p:nvSpPr>
            <p:spPr bwMode="auto">
              <a:xfrm>
                <a:off x="2699" y="3203"/>
                <a:ext cx="725" cy="27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zh-CN" sz="2000" b="1"/>
              </a:p>
            </p:txBody>
          </p:sp>
          <p:sp>
            <p:nvSpPr>
              <p:cNvPr id="327710" name="Line 14"/>
              <p:cNvSpPr>
                <a:spLocks noChangeShapeType="1"/>
              </p:cNvSpPr>
              <p:nvPr/>
            </p:nvSpPr>
            <p:spPr bwMode="auto">
              <a:xfrm>
                <a:off x="3075" y="3203"/>
                <a:ext cx="0"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27705" name="Group 15"/>
            <p:cNvGrpSpPr>
              <a:grpSpLocks/>
            </p:cNvGrpSpPr>
            <p:nvPr/>
          </p:nvGrpSpPr>
          <p:grpSpPr bwMode="auto">
            <a:xfrm>
              <a:off x="3380" y="3612"/>
              <a:ext cx="725" cy="272"/>
              <a:chOff x="2699" y="3203"/>
              <a:chExt cx="725" cy="272"/>
            </a:xfrm>
          </p:grpSpPr>
          <p:sp>
            <p:nvSpPr>
              <p:cNvPr id="327707" name="Rectangle 16"/>
              <p:cNvSpPr>
                <a:spLocks noChangeArrowheads="1"/>
              </p:cNvSpPr>
              <p:nvPr/>
            </p:nvSpPr>
            <p:spPr bwMode="auto">
              <a:xfrm>
                <a:off x="2699" y="3203"/>
                <a:ext cx="725" cy="27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zh-CN" sz="2000" b="1"/>
              </a:p>
            </p:txBody>
          </p:sp>
          <p:sp>
            <p:nvSpPr>
              <p:cNvPr id="327708" name="Line 17"/>
              <p:cNvSpPr>
                <a:spLocks noChangeShapeType="1"/>
              </p:cNvSpPr>
              <p:nvPr/>
            </p:nvSpPr>
            <p:spPr bwMode="auto">
              <a:xfrm>
                <a:off x="3075" y="3203"/>
                <a:ext cx="0"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27706" name="Line 18"/>
            <p:cNvSpPr>
              <a:spLocks noChangeShapeType="1"/>
            </p:cNvSpPr>
            <p:nvPr/>
          </p:nvSpPr>
          <p:spPr bwMode="auto">
            <a:xfrm>
              <a:off x="3424" y="3294"/>
              <a:ext cx="318" cy="31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27689" name="Group 19"/>
          <p:cNvGrpSpPr>
            <a:grpSpLocks/>
          </p:cNvGrpSpPr>
          <p:nvPr/>
        </p:nvGrpSpPr>
        <p:grpSpPr bwMode="auto">
          <a:xfrm>
            <a:off x="2842021" y="5013152"/>
            <a:ext cx="1150938" cy="431800"/>
            <a:chOff x="2699" y="3203"/>
            <a:chExt cx="725" cy="272"/>
          </a:xfrm>
        </p:grpSpPr>
        <p:sp>
          <p:nvSpPr>
            <p:cNvPr id="327702" name="Rectangle 20"/>
            <p:cNvSpPr>
              <a:spLocks noChangeArrowheads="1"/>
            </p:cNvSpPr>
            <p:nvPr/>
          </p:nvSpPr>
          <p:spPr bwMode="auto">
            <a:xfrm>
              <a:off x="2699" y="3203"/>
              <a:ext cx="725" cy="27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zh-CN" sz="2000" b="1"/>
            </a:p>
          </p:txBody>
        </p:sp>
        <p:sp>
          <p:nvSpPr>
            <p:cNvPr id="327703" name="Line 21"/>
            <p:cNvSpPr>
              <a:spLocks noChangeShapeType="1"/>
            </p:cNvSpPr>
            <p:nvPr/>
          </p:nvSpPr>
          <p:spPr bwMode="auto">
            <a:xfrm>
              <a:off x="3075" y="3203"/>
              <a:ext cx="0"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27690" name="Line 22"/>
          <p:cNvSpPr>
            <a:spLocks noChangeShapeType="1"/>
          </p:cNvSpPr>
          <p:nvPr/>
        </p:nvSpPr>
        <p:spPr bwMode="auto">
          <a:xfrm flipH="1">
            <a:off x="3994546" y="5229052"/>
            <a:ext cx="863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691" name="Line 23"/>
          <p:cNvSpPr>
            <a:spLocks noChangeShapeType="1"/>
          </p:cNvSpPr>
          <p:nvPr/>
        </p:nvSpPr>
        <p:spPr bwMode="auto">
          <a:xfrm flipV="1">
            <a:off x="3202384" y="4508327"/>
            <a:ext cx="576262" cy="5048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5032" name="Oval 24"/>
          <p:cNvSpPr>
            <a:spLocks noChangeArrowheads="1"/>
          </p:cNvSpPr>
          <p:nvPr/>
        </p:nvSpPr>
        <p:spPr bwMode="auto">
          <a:xfrm>
            <a:off x="4715271" y="5157614"/>
            <a:ext cx="144463" cy="144463"/>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327693" name="Text Box 25"/>
          <p:cNvSpPr txBox="1">
            <a:spLocks noChangeArrowheads="1"/>
          </p:cNvSpPr>
          <p:nvPr/>
        </p:nvSpPr>
        <p:spPr bwMode="auto">
          <a:xfrm>
            <a:off x="3965971" y="4292427"/>
            <a:ext cx="863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4      1</a:t>
            </a:r>
          </a:p>
        </p:txBody>
      </p:sp>
      <p:sp>
        <p:nvSpPr>
          <p:cNvPr id="555034" name="Text Box 26"/>
          <p:cNvSpPr txBox="1">
            <a:spLocks noChangeArrowheads="1"/>
          </p:cNvSpPr>
          <p:nvPr/>
        </p:nvSpPr>
        <p:spPr bwMode="auto">
          <a:xfrm>
            <a:off x="1938734" y="3603452"/>
            <a:ext cx="3603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sym typeface="Symbol" panose="05050102010706020507" pitchFamily="18" charset="2"/>
              </a:rPr>
              <a:t></a:t>
            </a:r>
          </a:p>
        </p:txBody>
      </p:sp>
      <p:grpSp>
        <p:nvGrpSpPr>
          <p:cNvPr id="555035" name="Group 27"/>
          <p:cNvGrpSpPr>
            <a:grpSpLocks/>
          </p:cNvGrpSpPr>
          <p:nvPr/>
        </p:nvGrpSpPr>
        <p:grpSpPr bwMode="auto">
          <a:xfrm>
            <a:off x="1906984" y="2565227"/>
            <a:ext cx="431800" cy="1008062"/>
            <a:chOff x="476" y="3113"/>
            <a:chExt cx="272" cy="635"/>
          </a:xfrm>
        </p:grpSpPr>
        <p:sp>
          <p:nvSpPr>
            <p:cNvPr id="327699" name="Rectangle 28"/>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4</a:t>
              </a:r>
            </a:p>
            <a:p>
              <a:pPr algn="ctr" eaLnBrk="1" hangingPunct="1">
                <a:lnSpc>
                  <a:spcPct val="120000"/>
                </a:lnSpc>
                <a:spcBef>
                  <a:spcPct val="0"/>
                </a:spcBef>
                <a:buFontTx/>
                <a:buNone/>
              </a:pPr>
              <a:r>
                <a:rPr kumimoji="0" lang="en-US" altLang="zh-CN" sz="1800" b="1"/>
                <a:t>3</a:t>
              </a:r>
            </a:p>
            <a:p>
              <a:pPr algn="ctr" eaLnBrk="1" hangingPunct="1">
                <a:lnSpc>
                  <a:spcPct val="120000"/>
                </a:lnSpc>
                <a:spcBef>
                  <a:spcPct val="0"/>
                </a:spcBef>
                <a:buFontTx/>
                <a:buNone/>
              </a:pPr>
              <a:r>
                <a:rPr kumimoji="0" lang="en-US" altLang="zh-CN" sz="1800" b="1"/>
                <a:t> </a:t>
              </a:r>
            </a:p>
          </p:txBody>
        </p:sp>
        <p:sp>
          <p:nvSpPr>
            <p:cNvPr id="327700" name="Line 29"/>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701" name="Line 30"/>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55039" name="Group 31"/>
          <p:cNvGrpSpPr>
            <a:grpSpLocks/>
          </p:cNvGrpSpPr>
          <p:nvPr/>
        </p:nvGrpSpPr>
        <p:grpSpPr bwMode="auto">
          <a:xfrm>
            <a:off x="5018484" y="5040139"/>
            <a:ext cx="863600" cy="396875"/>
            <a:chOff x="2726" y="3203"/>
            <a:chExt cx="544" cy="250"/>
          </a:xfrm>
        </p:grpSpPr>
        <p:sp>
          <p:nvSpPr>
            <p:cNvPr id="327697" name="Text Box 32"/>
            <p:cNvSpPr txBox="1">
              <a:spLocks noChangeArrowheads="1"/>
            </p:cNvSpPr>
            <p:nvPr/>
          </p:nvSpPr>
          <p:spPr bwMode="auto">
            <a:xfrm>
              <a:off x="2726" y="3203"/>
              <a:ext cx="544" cy="25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3      1</a:t>
              </a:r>
            </a:p>
          </p:txBody>
        </p:sp>
        <p:sp>
          <p:nvSpPr>
            <p:cNvPr id="327698" name="Line 33"/>
            <p:cNvSpPr>
              <a:spLocks noChangeShapeType="1"/>
            </p:cNvSpPr>
            <p:nvPr/>
          </p:nvSpPr>
          <p:spPr bwMode="auto">
            <a:xfrm flipH="1">
              <a:off x="3001" y="3210"/>
              <a:ext cx="2" cy="23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 name="Date Placeholder 2"/>
          <p:cNvSpPr>
            <a:spLocks noGrp="1"/>
          </p:cNvSpPr>
          <p:nvPr>
            <p:ph type="dt" sz="half" idx="10"/>
          </p:nvPr>
        </p:nvSpPr>
        <p:spPr/>
        <p:txBody>
          <a:bodyPr/>
          <a:lstStyle/>
          <a:p>
            <a:fld id="{4DDA75FE-5D13-40F3-9E75-3FF224041C2C}" type="datetime1">
              <a:rPr lang="zh-CN" altLang="en-US" smtClean="0"/>
              <a:pPr/>
              <a:t>2018/8/3</a:t>
            </a:fld>
            <a:endParaRPr lang="zh-CN" altLang="en-US" dirty="0"/>
          </a:p>
        </p:txBody>
      </p:sp>
      <p:sp>
        <p:nvSpPr>
          <p:cNvPr id="4" name="Footer Placeholder 3"/>
          <p:cNvSpPr>
            <a:spLocks noGrp="1"/>
          </p:cNvSpPr>
          <p:nvPr>
            <p:ph type="ftr" sz="quarter" idx="11"/>
          </p:nvPr>
        </p:nvSpPr>
        <p:spPr/>
        <p:txBody>
          <a:bodyPr/>
          <a:lstStyle/>
          <a:p>
            <a:r>
              <a:rPr lang="en-US" altLang="zh-CN"/>
              <a:t>CH07 Memory Management</a:t>
            </a:r>
            <a:endParaRPr lang="zh-CN" altLang="en-US" dirty="0"/>
          </a:p>
        </p:txBody>
      </p:sp>
      <p:sp>
        <p:nvSpPr>
          <p:cNvPr id="37" name="Slide Number Placeholder 5"/>
          <p:cNvSpPr>
            <a:spLocks noGrp="1"/>
          </p:cNvSpPr>
          <p:nvPr>
            <p:ph type="sldNum" sz="quarter" idx="12"/>
          </p:nvPr>
        </p:nvSpPr>
        <p:spPr>
          <a:xfrm>
            <a:off x="6119832" y="6669360"/>
            <a:ext cx="3009936" cy="187200"/>
          </a:xfrm>
        </p:spPr>
        <p:txBody>
          <a:bodyPr/>
          <a:lstStyle/>
          <a:p>
            <a:r>
              <a:rPr lang="en-US" altLang="zh-CN" dirty="0"/>
              <a:t>120</a:t>
            </a:r>
            <a:endParaRPr lang="zh-CN" altLang="en-US" dirty="0"/>
          </a:p>
        </p:txBody>
      </p:sp>
    </p:spTree>
    <p:extLst>
      <p:ext uri="{BB962C8B-B14F-4D97-AF65-F5344CB8AC3E}">
        <p14:creationId xmlns:p14="http://schemas.microsoft.com/office/powerpoint/2010/main" val="35354485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55503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5503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5503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0" presetClass="path" presetSubtype="0" accel="50000" decel="50000" fill="hold" grpId="0" nodeType="clickEffect">
                                  <p:stCondLst>
                                    <p:cond delay="0"/>
                                  </p:stCondLst>
                                  <p:childTnLst>
                                    <p:animMotion origin="layout" path="M -8.33333E-7 -2.96159E-6 L -0.22049 -2.96159E-6 " pathEditMode="relative" ptsTypes="AA">
                                      <p:cBhvr>
                                        <p:cTn id="18" dur="1000" fill="hold"/>
                                        <p:tgtEl>
                                          <p:spTgt spid="555032"/>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5032" grpId="0" animBg="1"/>
      <p:bldP spid="555034" grpId="0"/>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7058" name="Rectangle 2"/>
          <p:cNvSpPr>
            <a:spLocks noGrp="1" noChangeArrowheads="1"/>
          </p:cNvSpPr>
          <p:nvPr>
            <p:ph type="title"/>
          </p:nvPr>
        </p:nvSpPr>
        <p:spPr/>
        <p:txBody>
          <a:bodyPr/>
          <a:lstStyle/>
          <a:p>
            <a:pPr>
              <a:defRPr/>
            </a:pPr>
            <a:r>
              <a:rPr lang="zh-CN" altLang="en-US" dirty="0"/>
              <a:t>时钟置换算法</a:t>
            </a:r>
            <a:endParaRPr lang="zh-CN" altLang="en-US" dirty="0">
              <a:ea typeface="黑体" panose="02010609060101010101" pitchFamily="49" charset="-122"/>
            </a:endParaRPr>
          </a:p>
        </p:txBody>
      </p:sp>
      <p:grpSp>
        <p:nvGrpSpPr>
          <p:cNvPr id="329733" name="Group 4"/>
          <p:cNvGrpSpPr>
            <a:grpSpLocks/>
          </p:cNvGrpSpPr>
          <p:nvPr/>
        </p:nvGrpSpPr>
        <p:grpSpPr bwMode="auto">
          <a:xfrm>
            <a:off x="1342182" y="2565227"/>
            <a:ext cx="431800" cy="1008062"/>
            <a:chOff x="476" y="3113"/>
            <a:chExt cx="272" cy="635"/>
          </a:xfrm>
        </p:grpSpPr>
        <p:sp>
          <p:nvSpPr>
            <p:cNvPr id="329767" name="Rectangle 5"/>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4</a:t>
              </a:r>
            </a:p>
            <a:p>
              <a:pPr algn="ctr" eaLnBrk="1" hangingPunct="1">
                <a:lnSpc>
                  <a:spcPct val="120000"/>
                </a:lnSpc>
                <a:spcBef>
                  <a:spcPct val="0"/>
                </a:spcBef>
                <a:buFontTx/>
                <a:buNone/>
              </a:pPr>
              <a:r>
                <a:rPr kumimoji="0" lang="en-US" altLang="zh-CN" sz="1800" b="1"/>
                <a:t> </a:t>
              </a:r>
            </a:p>
            <a:p>
              <a:pPr algn="ctr" eaLnBrk="1" hangingPunct="1">
                <a:lnSpc>
                  <a:spcPct val="120000"/>
                </a:lnSpc>
                <a:spcBef>
                  <a:spcPct val="0"/>
                </a:spcBef>
                <a:buFontTx/>
                <a:buNone/>
              </a:pPr>
              <a:r>
                <a:rPr kumimoji="0" lang="en-US" altLang="zh-CN" sz="1800" b="1"/>
                <a:t> </a:t>
              </a:r>
            </a:p>
          </p:txBody>
        </p:sp>
        <p:sp>
          <p:nvSpPr>
            <p:cNvPr id="329768" name="Line 6"/>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9769" name="Line 7"/>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29734" name="Text Box 8"/>
          <p:cNvSpPr txBox="1">
            <a:spLocks noChangeArrowheads="1"/>
          </p:cNvSpPr>
          <p:nvPr/>
        </p:nvSpPr>
        <p:spPr bwMode="auto">
          <a:xfrm>
            <a:off x="1259632" y="2204864"/>
            <a:ext cx="67691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2000" b="1"/>
              <a:t>  4       3       2       1       4       3       5       4       3       2       1       5</a:t>
            </a:r>
          </a:p>
        </p:txBody>
      </p:sp>
      <p:sp>
        <p:nvSpPr>
          <p:cNvPr id="329735" name="Text Box 9"/>
          <p:cNvSpPr txBox="1">
            <a:spLocks noChangeArrowheads="1"/>
          </p:cNvSpPr>
          <p:nvPr/>
        </p:nvSpPr>
        <p:spPr bwMode="auto">
          <a:xfrm>
            <a:off x="1386632" y="3597102"/>
            <a:ext cx="3603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sym typeface="Symbol" panose="05050102010706020507" pitchFamily="18" charset="2"/>
              </a:rPr>
              <a:t></a:t>
            </a:r>
          </a:p>
        </p:txBody>
      </p:sp>
      <p:grpSp>
        <p:nvGrpSpPr>
          <p:cNvPr id="329736" name="Group 10"/>
          <p:cNvGrpSpPr>
            <a:grpSpLocks/>
          </p:cNvGrpSpPr>
          <p:nvPr/>
        </p:nvGrpSpPr>
        <p:grpSpPr bwMode="auto">
          <a:xfrm>
            <a:off x="3778994" y="4292427"/>
            <a:ext cx="2232025" cy="1152525"/>
            <a:chOff x="2699" y="3158"/>
            <a:chExt cx="1406" cy="726"/>
          </a:xfrm>
        </p:grpSpPr>
        <p:grpSp>
          <p:nvGrpSpPr>
            <p:cNvPr id="329760" name="Group 11"/>
            <p:cNvGrpSpPr>
              <a:grpSpLocks/>
            </p:cNvGrpSpPr>
            <p:nvPr/>
          </p:nvGrpSpPr>
          <p:grpSpPr bwMode="auto">
            <a:xfrm>
              <a:off x="2699" y="3158"/>
              <a:ext cx="725" cy="272"/>
              <a:chOff x="2699" y="3203"/>
              <a:chExt cx="725" cy="272"/>
            </a:xfrm>
          </p:grpSpPr>
          <p:sp>
            <p:nvSpPr>
              <p:cNvPr id="329765" name="Rectangle 12"/>
              <p:cNvSpPr>
                <a:spLocks noChangeArrowheads="1"/>
              </p:cNvSpPr>
              <p:nvPr/>
            </p:nvSpPr>
            <p:spPr bwMode="auto">
              <a:xfrm>
                <a:off x="2699" y="3203"/>
                <a:ext cx="725" cy="27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zh-CN" sz="2000" b="1"/>
              </a:p>
            </p:txBody>
          </p:sp>
          <p:sp>
            <p:nvSpPr>
              <p:cNvPr id="329766" name="Line 13"/>
              <p:cNvSpPr>
                <a:spLocks noChangeShapeType="1"/>
              </p:cNvSpPr>
              <p:nvPr/>
            </p:nvSpPr>
            <p:spPr bwMode="auto">
              <a:xfrm>
                <a:off x="3075" y="3203"/>
                <a:ext cx="0"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29761" name="Group 14"/>
            <p:cNvGrpSpPr>
              <a:grpSpLocks/>
            </p:cNvGrpSpPr>
            <p:nvPr/>
          </p:nvGrpSpPr>
          <p:grpSpPr bwMode="auto">
            <a:xfrm>
              <a:off x="3380" y="3612"/>
              <a:ext cx="725" cy="272"/>
              <a:chOff x="2699" y="3203"/>
              <a:chExt cx="725" cy="272"/>
            </a:xfrm>
          </p:grpSpPr>
          <p:sp>
            <p:nvSpPr>
              <p:cNvPr id="329763" name="Rectangle 15"/>
              <p:cNvSpPr>
                <a:spLocks noChangeArrowheads="1"/>
              </p:cNvSpPr>
              <p:nvPr/>
            </p:nvSpPr>
            <p:spPr bwMode="auto">
              <a:xfrm>
                <a:off x="2699" y="3203"/>
                <a:ext cx="725" cy="27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zh-CN" sz="2000" b="1"/>
              </a:p>
            </p:txBody>
          </p:sp>
          <p:sp>
            <p:nvSpPr>
              <p:cNvPr id="329764" name="Line 16"/>
              <p:cNvSpPr>
                <a:spLocks noChangeShapeType="1"/>
              </p:cNvSpPr>
              <p:nvPr/>
            </p:nvSpPr>
            <p:spPr bwMode="auto">
              <a:xfrm>
                <a:off x="3075" y="3203"/>
                <a:ext cx="0"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29762" name="Line 17"/>
            <p:cNvSpPr>
              <a:spLocks noChangeShapeType="1"/>
            </p:cNvSpPr>
            <p:nvPr/>
          </p:nvSpPr>
          <p:spPr bwMode="auto">
            <a:xfrm>
              <a:off x="3424" y="3294"/>
              <a:ext cx="318" cy="31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29737" name="Group 18"/>
          <p:cNvGrpSpPr>
            <a:grpSpLocks/>
          </p:cNvGrpSpPr>
          <p:nvPr/>
        </p:nvGrpSpPr>
        <p:grpSpPr bwMode="auto">
          <a:xfrm>
            <a:off x="2842369" y="5013152"/>
            <a:ext cx="1150938" cy="431800"/>
            <a:chOff x="2699" y="3203"/>
            <a:chExt cx="725" cy="272"/>
          </a:xfrm>
        </p:grpSpPr>
        <p:sp>
          <p:nvSpPr>
            <p:cNvPr id="329758" name="Rectangle 19"/>
            <p:cNvSpPr>
              <a:spLocks noChangeArrowheads="1"/>
            </p:cNvSpPr>
            <p:nvPr/>
          </p:nvSpPr>
          <p:spPr bwMode="auto">
            <a:xfrm>
              <a:off x="2699" y="3203"/>
              <a:ext cx="725" cy="27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zh-CN" sz="2000" b="1"/>
            </a:p>
          </p:txBody>
        </p:sp>
        <p:sp>
          <p:nvSpPr>
            <p:cNvPr id="329759" name="Line 20"/>
            <p:cNvSpPr>
              <a:spLocks noChangeShapeType="1"/>
            </p:cNvSpPr>
            <p:nvPr/>
          </p:nvSpPr>
          <p:spPr bwMode="auto">
            <a:xfrm>
              <a:off x="3075" y="3203"/>
              <a:ext cx="0"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29738" name="Line 21"/>
          <p:cNvSpPr>
            <a:spLocks noChangeShapeType="1"/>
          </p:cNvSpPr>
          <p:nvPr/>
        </p:nvSpPr>
        <p:spPr bwMode="auto">
          <a:xfrm flipH="1">
            <a:off x="3994894" y="5229052"/>
            <a:ext cx="863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9739" name="Line 22"/>
          <p:cNvSpPr>
            <a:spLocks noChangeShapeType="1"/>
          </p:cNvSpPr>
          <p:nvPr/>
        </p:nvSpPr>
        <p:spPr bwMode="auto">
          <a:xfrm flipV="1">
            <a:off x="3202732" y="4508327"/>
            <a:ext cx="576262" cy="5048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7079" name="Oval 23"/>
          <p:cNvSpPr>
            <a:spLocks noChangeArrowheads="1"/>
          </p:cNvSpPr>
          <p:nvPr/>
        </p:nvSpPr>
        <p:spPr bwMode="auto">
          <a:xfrm>
            <a:off x="2697907" y="5157614"/>
            <a:ext cx="144462" cy="144463"/>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329741" name="Text Box 24"/>
          <p:cNvSpPr txBox="1">
            <a:spLocks noChangeArrowheads="1"/>
          </p:cNvSpPr>
          <p:nvPr/>
        </p:nvSpPr>
        <p:spPr bwMode="auto">
          <a:xfrm>
            <a:off x="3966319" y="4292427"/>
            <a:ext cx="863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4      1</a:t>
            </a:r>
          </a:p>
        </p:txBody>
      </p:sp>
      <p:sp>
        <p:nvSpPr>
          <p:cNvPr id="329742" name="Text Box 25"/>
          <p:cNvSpPr txBox="1">
            <a:spLocks noChangeArrowheads="1"/>
          </p:cNvSpPr>
          <p:nvPr/>
        </p:nvSpPr>
        <p:spPr bwMode="auto">
          <a:xfrm>
            <a:off x="1939082" y="3603452"/>
            <a:ext cx="3603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sym typeface="Symbol" panose="05050102010706020507" pitchFamily="18" charset="2"/>
              </a:rPr>
              <a:t></a:t>
            </a:r>
          </a:p>
        </p:txBody>
      </p:sp>
      <p:grpSp>
        <p:nvGrpSpPr>
          <p:cNvPr id="329743" name="Group 26"/>
          <p:cNvGrpSpPr>
            <a:grpSpLocks/>
          </p:cNvGrpSpPr>
          <p:nvPr/>
        </p:nvGrpSpPr>
        <p:grpSpPr bwMode="auto">
          <a:xfrm>
            <a:off x="1907332" y="2565227"/>
            <a:ext cx="431800" cy="1008062"/>
            <a:chOff x="476" y="3113"/>
            <a:chExt cx="272" cy="635"/>
          </a:xfrm>
        </p:grpSpPr>
        <p:sp>
          <p:nvSpPr>
            <p:cNvPr id="329755" name="Rectangle 27"/>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4</a:t>
              </a:r>
            </a:p>
            <a:p>
              <a:pPr algn="ctr" eaLnBrk="1" hangingPunct="1">
                <a:lnSpc>
                  <a:spcPct val="120000"/>
                </a:lnSpc>
                <a:spcBef>
                  <a:spcPct val="0"/>
                </a:spcBef>
                <a:buFontTx/>
                <a:buNone/>
              </a:pPr>
              <a:r>
                <a:rPr kumimoji="0" lang="en-US" altLang="zh-CN" sz="1800" b="1"/>
                <a:t>3</a:t>
              </a:r>
            </a:p>
            <a:p>
              <a:pPr algn="ctr" eaLnBrk="1" hangingPunct="1">
                <a:lnSpc>
                  <a:spcPct val="120000"/>
                </a:lnSpc>
                <a:spcBef>
                  <a:spcPct val="0"/>
                </a:spcBef>
                <a:buFontTx/>
                <a:buNone/>
              </a:pPr>
              <a:r>
                <a:rPr kumimoji="0" lang="en-US" altLang="zh-CN" sz="1800" b="1"/>
                <a:t> </a:t>
              </a:r>
            </a:p>
          </p:txBody>
        </p:sp>
        <p:sp>
          <p:nvSpPr>
            <p:cNvPr id="329756" name="Line 28"/>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9757" name="Line 29"/>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29744" name="Group 30"/>
          <p:cNvGrpSpPr>
            <a:grpSpLocks/>
          </p:cNvGrpSpPr>
          <p:nvPr/>
        </p:nvGrpSpPr>
        <p:grpSpPr bwMode="auto">
          <a:xfrm>
            <a:off x="5018832" y="5040139"/>
            <a:ext cx="863600" cy="396875"/>
            <a:chOff x="2726" y="3203"/>
            <a:chExt cx="544" cy="250"/>
          </a:xfrm>
        </p:grpSpPr>
        <p:sp>
          <p:nvSpPr>
            <p:cNvPr id="329753" name="Text Box 31"/>
            <p:cNvSpPr txBox="1">
              <a:spLocks noChangeArrowheads="1"/>
            </p:cNvSpPr>
            <p:nvPr/>
          </p:nvSpPr>
          <p:spPr bwMode="auto">
            <a:xfrm>
              <a:off x="2726" y="3203"/>
              <a:ext cx="544" cy="25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3      1</a:t>
              </a:r>
            </a:p>
          </p:txBody>
        </p:sp>
        <p:sp>
          <p:nvSpPr>
            <p:cNvPr id="329754" name="Line 32"/>
            <p:cNvSpPr>
              <a:spLocks noChangeShapeType="1"/>
            </p:cNvSpPr>
            <p:nvPr/>
          </p:nvSpPr>
          <p:spPr bwMode="auto">
            <a:xfrm flipH="1">
              <a:off x="3001" y="3210"/>
              <a:ext cx="2" cy="23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57089" name="Text Box 33"/>
          <p:cNvSpPr txBox="1">
            <a:spLocks noChangeArrowheads="1"/>
          </p:cNvSpPr>
          <p:nvPr/>
        </p:nvSpPr>
        <p:spPr bwMode="auto">
          <a:xfrm>
            <a:off x="2518519" y="3606627"/>
            <a:ext cx="36036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sym typeface="Symbol" panose="05050102010706020507" pitchFamily="18" charset="2"/>
              </a:rPr>
              <a:t></a:t>
            </a:r>
          </a:p>
        </p:txBody>
      </p:sp>
      <p:grpSp>
        <p:nvGrpSpPr>
          <p:cNvPr id="557090" name="Group 34"/>
          <p:cNvGrpSpPr>
            <a:grpSpLocks/>
          </p:cNvGrpSpPr>
          <p:nvPr/>
        </p:nvGrpSpPr>
        <p:grpSpPr bwMode="auto">
          <a:xfrm>
            <a:off x="2482007" y="2565227"/>
            <a:ext cx="431800" cy="1008062"/>
            <a:chOff x="476" y="3113"/>
            <a:chExt cx="272" cy="635"/>
          </a:xfrm>
        </p:grpSpPr>
        <p:sp>
          <p:nvSpPr>
            <p:cNvPr id="329750" name="Rectangle 35"/>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4</a:t>
              </a:r>
            </a:p>
            <a:p>
              <a:pPr algn="ctr" eaLnBrk="1" hangingPunct="1">
                <a:lnSpc>
                  <a:spcPct val="120000"/>
                </a:lnSpc>
                <a:spcBef>
                  <a:spcPct val="0"/>
                </a:spcBef>
                <a:buFontTx/>
                <a:buNone/>
              </a:pPr>
              <a:r>
                <a:rPr kumimoji="0" lang="en-US" altLang="zh-CN" sz="1800" b="1"/>
                <a:t>3</a:t>
              </a:r>
            </a:p>
            <a:p>
              <a:pPr algn="ctr" eaLnBrk="1" hangingPunct="1">
                <a:lnSpc>
                  <a:spcPct val="120000"/>
                </a:lnSpc>
                <a:spcBef>
                  <a:spcPct val="0"/>
                </a:spcBef>
                <a:buFontTx/>
                <a:buNone/>
              </a:pPr>
              <a:r>
                <a:rPr kumimoji="0" lang="en-US" altLang="zh-CN" sz="1800" b="1"/>
                <a:t>2</a:t>
              </a:r>
            </a:p>
          </p:txBody>
        </p:sp>
        <p:sp>
          <p:nvSpPr>
            <p:cNvPr id="329751" name="Line 36"/>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9752" name="Line 37"/>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57094" name="Group 38"/>
          <p:cNvGrpSpPr>
            <a:grpSpLocks/>
          </p:cNvGrpSpPr>
          <p:nvPr/>
        </p:nvGrpSpPr>
        <p:grpSpPr bwMode="auto">
          <a:xfrm>
            <a:off x="3002707" y="5024264"/>
            <a:ext cx="863600" cy="396875"/>
            <a:chOff x="2726" y="3203"/>
            <a:chExt cx="544" cy="250"/>
          </a:xfrm>
        </p:grpSpPr>
        <p:sp>
          <p:nvSpPr>
            <p:cNvPr id="329748" name="Text Box 39"/>
            <p:cNvSpPr txBox="1">
              <a:spLocks noChangeArrowheads="1"/>
            </p:cNvSpPr>
            <p:nvPr/>
          </p:nvSpPr>
          <p:spPr bwMode="auto">
            <a:xfrm>
              <a:off x="2726" y="3203"/>
              <a:ext cx="544" cy="25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2      1</a:t>
              </a:r>
            </a:p>
          </p:txBody>
        </p:sp>
        <p:sp>
          <p:nvSpPr>
            <p:cNvPr id="329749" name="Line 40"/>
            <p:cNvSpPr>
              <a:spLocks noChangeShapeType="1"/>
            </p:cNvSpPr>
            <p:nvPr/>
          </p:nvSpPr>
          <p:spPr bwMode="auto">
            <a:xfrm flipH="1">
              <a:off x="3001" y="3210"/>
              <a:ext cx="2" cy="23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 name="Date Placeholder 2"/>
          <p:cNvSpPr>
            <a:spLocks noGrp="1"/>
          </p:cNvSpPr>
          <p:nvPr>
            <p:ph type="dt" sz="half" idx="10"/>
          </p:nvPr>
        </p:nvSpPr>
        <p:spPr/>
        <p:txBody>
          <a:bodyPr/>
          <a:lstStyle/>
          <a:p>
            <a:fld id="{95CA33A9-FFC8-44A9-9DA1-B046870CCD07}" type="datetime1">
              <a:rPr lang="zh-CN" altLang="en-US" smtClean="0"/>
              <a:pPr/>
              <a:t>2018/8/3</a:t>
            </a:fld>
            <a:endParaRPr lang="zh-CN" altLang="en-US" dirty="0"/>
          </a:p>
        </p:txBody>
      </p:sp>
      <p:sp>
        <p:nvSpPr>
          <p:cNvPr id="4" name="Footer Placeholder 3"/>
          <p:cNvSpPr>
            <a:spLocks noGrp="1"/>
          </p:cNvSpPr>
          <p:nvPr>
            <p:ph type="ftr" sz="quarter" idx="11"/>
          </p:nvPr>
        </p:nvSpPr>
        <p:spPr/>
        <p:txBody>
          <a:bodyPr/>
          <a:lstStyle/>
          <a:p>
            <a:r>
              <a:rPr lang="en-US" altLang="zh-CN"/>
              <a:t>CH07 Memory Management</a:t>
            </a:r>
            <a:endParaRPr lang="zh-CN" altLang="en-US" dirty="0"/>
          </a:p>
        </p:txBody>
      </p:sp>
      <p:sp>
        <p:nvSpPr>
          <p:cNvPr id="45" name="Slide Number Placeholder 5"/>
          <p:cNvSpPr>
            <a:spLocks noGrp="1"/>
          </p:cNvSpPr>
          <p:nvPr>
            <p:ph type="sldNum" sz="quarter" idx="12"/>
          </p:nvPr>
        </p:nvSpPr>
        <p:spPr>
          <a:xfrm>
            <a:off x="6119832" y="6669360"/>
            <a:ext cx="3009936" cy="187200"/>
          </a:xfrm>
        </p:spPr>
        <p:txBody>
          <a:bodyPr/>
          <a:lstStyle/>
          <a:p>
            <a:r>
              <a:rPr lang="en-US" altLang="zh-CN" dirty="0"/>
              <a:t>121</a:t>
            </a:r>
            <a:endParaRPr lang="zh-CN" altLang="en-US" dirty="0"/>
          </a:p>
        </p:txBody>
      </p:sp>
    </p:spTree>
    <p:extLst>
      <p:ext uri="{BB962C8B-B14F-4D97-AF65-F5344CB8AC3E}">
        <p14:creationId xmlns:p14="http://schemas.microsoft.com/office/powerpoint/2010/main" val="369525007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55708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5709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5709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0" presetClass="path" presetSubtype="0" accel="50000" decel="50000" fill="hold" grpId="0" nodeType="clickEffect">
                                  <p:stCondLst>
                                    <p:cond delay="0"/>
                                  </p:stCondLst>
                                  <p:childTnLst>
                                    <p:animMotion origin="layout" path="M 0.00017 -2.96159E-6 L 0.11042 -0.10504 " pathEditMode="relative" ptsTypes="AA">
                                      <p:cBhvr>
                                        <p:cTn id="18" dur="1000" fill="hold"/>
                                        <p:tgtEl>
                                          <p:spTgt spid="557079"/>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7079" grpId="0" animBg="1"/>
      <p:bldP spid="557089" grpId="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42" name="Rectangle 2"/>
          <p:cNvSpPr>
            <a:spLocks noGrp="1" noChangeArrowheads="1"/>
          </p:cNvSpPr>
          <p:nvPr>
            <p:ph type="title"/>
          </p:nvPr>
        </p:nvSpPr>
        <p:spPr/>
        <p:txBody>
          <a:bodyPr/>
          <a:lstStyle/>
          <a:p>
            <a:pPr>
              <a:defRPr/>
            </a:pPr>
            <a:r>
              <a:rPr lang="zh-CN" altLang="en-US" dirty="0"/>
              <a:t>时钟置换算法</a:t>
            </a:r>
            <a:endParaRPr lang="zh-CN" altLang="en-US" dirty="0">
              <a:ea typeface="黑体" panose="02010609060101010101" pitchFamily="49" charset="-122"/>
            </a:endParaRPr>
          </a:p>
        </p:txBody>
      </p:sp>
      <p:grpSp>
        <p:nvGrpSpPr>
          <p:cNvPr id="331781" name="Group 4"/>
          <p:cNvGrpSpPr>
            <a:grpSpLocks/>
          </p:cNvGrpSpPr>
          <p:nvPr/>
        </p:nvGrpSpPr>
        <p:grpSpPr bwMode="auto">
          <a:xfrm>
            <a:off x="1342182" y="2565227"/>
            <a:ext cx="431800" cy="1008062"/>
            <a:chOff x="476" y="3113"/>
            <a:chExt cx="272" cy="635"/>
          </a:xfrm>
        </p:grpSpPr>
        <p:sp>
          <p:nvSpPr>
            <p:cNvPr id="331819" name="Rectangle 5"/>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4</a:t>
              </a:r>
            </a:p>
            <a:p>
              <a:pPr algn="ctr" eaLnBrk="1" hangingPunct="1">
                <a:lnSpc>
                  <a:spcPct val="120000"/>
                </a:lnSpc>
                <a:spcBef>
                  <a:spcPct val="0"/>
                </a:spcBef>
                <a:buFontTx/>
                <a:buNone/>
              </a:pPr>
              <a:r>
                <a:rPr kumimoji="0" lang="en-US" altLang="zh-CN" sz="1800" b="1"/>
                <a:t> </a:t>
              </a:r>
            </a:p>
            <a:p>
              <a:pPr algn="ctr" eaLnBrk="1" hangingPunct="1">
                <a:lnSpc>
                  <a:spcPct val="120000"/>
                </a:lnSpc>
                <a:spcBef>
                  <a:spcPct val="0"/>
                </a:spcBef>
                <a:buFontTx/>
                <a:buNone/>
              </a:pPr>
              <a:r>
                <a:rPr kumimoji="0" lang="en-US" altLang="zh-CN" sz="1800" b="1"/>
                <a:t> </a:t>
              </a:r>
            </a:p>
          </p:txBody>
        </p:sp>
        <p:sp>
          <p:nvSpPr>
            <p:cNvPr id="331820" name="Line 6"/>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1821" name="Line 7"/>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31782" name="Text Box 8"/>
          <p:cNvSpPr txBox="1">
            <a:spLocks noChangeArrowheads="1"/>
          </p:cNvSpPr>
          <p:nvPr/>
        </p:nvSpPr>
        <p:spPr bwMode="auto">
          <a:xfrm>
            <a:off x="1259632" y="2204864"/>
            <a:ext cx="67691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2000" b="1"/>
              <a:t>  4       3       2       1       4       3       5       4       3       2       1       5</a:t>
            </a:r>
          </a:p>
        </p:txBody>
      </p:sp>
      <p:sp>
        <p:nvSpPr>
          <p:cNvPr id="331783" name="Text Box 9"/>
          <p:cNvSpPr txBox="1">
            <a:spLocks noChangeArrowheads="1"/>
          </p:cNvSpPr>
          <p:nvPr/>
        </p:nvSpPr>
        <p:spPr bwMode="auto">
          <a:xfrm>
            <a:off x="1386632" y="3597102"/>
            <a:ext cx="3603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sym typeface="Symbol" panose="05050102010706020507" pitchFamily="18" charset="2"/>
              </a:rPr>
              <a:t></a:t>
            </a:r>
          </a:p>
        </p:txBody>
      </p:sp>
      <p:grpSp>
        <p:nvGrpSpPr>
          <p:cNvPr id="331784" name="Group 10"/>
          <p:cNvGrpSpPr>
            <a:grpSpLocks/>
          </p:cNvGrpSpPr>
          <p:nvPr/>
        </p:nvGrpSpPr>
        <p:grpSpPr bwMode="auto">
          <a:xfrm>
            <a:off x="3778994" y="4292427"/>
            <a:ext cx="2232025" cy="1152525"/>
            <a:chOff x="2699" y="3158"/>
            <a:chExt cx="1406" cy="726"/>
          </a:xfrm>
        </p:grpSpPr>
        <p:grpSp>
          <p:nvGrpSpPr>
            <p:cNvPr id="331812" name="Group 11"/>
            <p:cNvGrpSpPr>
              <a:grpSpLocks/>
            </p:cNvGrpSpPr>
            <p:nvPr/>
          </p:nvGrpSpPr>
          <p:grpSpPr bwMode="auto">
            <a:xfrm>
              <a:off x="2699" y="3158"/>
              <a:ext cx="725" cy="272"/>
              <a:chOff x="2699" y="3203"/>
              <a:chExt cx="725" cy="272"/>
            </a:xfrm>
          </p:grpSpPr>
          <p:sp>
            <p:nvSpPr>
              <p:cNvPr id="331817" name="Rectangle 12"/>
              <p:cNvSpPr>
                <a:spLocks noChangeArrowheads="1"/>
              </p:cNvSpPr>
              <p:nvPr/>
            </p:nvSpPr>
            <p:spPr bwMode="auto">
              <a:xfrm>
                <a:off x="2699" y="3203"/>
                <a:ext cx="725" cy="27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zh-CN" sz="2000" b="1"/>
              </a:p>
            </p:txBody>
          </p:sp>
          <p:sp>
            <p:nvSpPr>
              <p:cNvPr id="331818" name="Line 13"/>
              <p:cNvSpPr>
                <a:spLocks noChangeShapeType="1"/>
              </p:cNvSpPr>
              <p:nvPr/>
            </p:nvSpPr>
            <p:spPr bwMode="auto">
              <a:xfrm>
                <a:off x="3075" y="3203"/>
                <a:ext cx="0"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31813" name="Group 14"/>
            <p:cNvGrpSpPr>
              <a:grpSpLocks/>
            </p:cNvGrpSpPr>
            <p:nvPr/>
          </p:nvGrpSpPr>
          <p:grpSpPr bwMode="auto">
            <a:xfrm>
              <a:off x="3380" y="3612"/>
              <a:ext cx="725" cy="272"/>
              <a:chOff x="2699" y="3203"/>
              <a:chExt cx="725" cy="272"/>
            </a:xfrm>
          </p:grpSpPr>
          <p:sp>
            <p:nvSpPr>
              <p:cNvPr id="331815" name="Rectangle 15"/>
              <p:cNvSpPr>
                <a:spLocks noChangeArrowheads="1"/>
              </p:cNvSpPr>
              <p:nvPr/>
            </p:nvSpPr>
            <p:spPr bwMode="auto">
              <a:xfrm>
                <a:off x="2699" y="3203"/>
                <a:ext cx="725" cy="27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zh-CN" sz="2000" b="1"/>
              </a:p>
            </p:txBody>
          </p:sp>
          <p:sp>
            <p:nvSpPr>
              <p:cNvPr id="331816" name="Line 16"/>
              <p:cNvSpPr>
                <a:spLocks noChangeShapeType="1"/>
              </p:cNvSpPr>
              <p:nvPr/>
            </p:nvSpPr>
            <p:spPr bwMode="auto">
              <a:xfrm>
                <a:off x="3075" y="3203"/>
                <a:ext cx="0"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31814" name="Line 17"/>
            <p:cNvSpPr>
              <a:spLocks noChangeShapeType="1"/>
            </p:cNvSpPr>
            <p:nvPr/>
          </p:nvSpPr>
          <p:spPr bwMode="auto">
            <a:xfrm>
              <a:off x="3424" y="3294"/>
              <a:ext cx="318" cy="31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31785" name="Group 18"/>
          <p:cNvGrpSpPr>
            <a:grpSpLocks/>
          </p:cNvGrpSpPr>
          <p:nvPr/>
        </p:nvGrpSpPr>
        <p:grpSpPr bwMode="auto">
          <a:xfrm>
            <a:off x="2842369" y="5013152"/>
            <a:ext cx="1150938" cy="431800"/>
            <a:chOff x="2699" y="3203"/>
            <a:chExt cx="725" cy="272"/>
          </a:xfrm>
        </p:grpSpPr>
        <p:sp>
          <p:nvSpPr>
            <p:cNvPr id="331810" name="Rectangle 19"/>
            <p:cNvSpPr>
              <a:spLocks noChangeArrowheads="1"/>
            </p:cNvSpPr>
            <p:nvPr/>
          </p:nvSpPr>
          <p:spPr bwMode="auto">
            <a:xfrm>
              <a:off x="2699" y="3203"/>
              <a:ext cx="725" cy="27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zh-CN" sz="2000" b="1"/>
            </a:p>
          </p:txBody>
        </p:sp>
        <p:sp>
          <p:nvSpPr>
            <p:cNvPr id="331811" name="Line 20"/>
            <p:cNvSpPr>
              <a:spLocks noChangeShapeType="1"/>
            </p:cNvSpPr>
            <p:nvPr/>
          </p:nvSpPr>
          <p:spPr bwMode="auto">
            <a:xfrm>
              <a:off x="3075" y="3203"/>
              <a:ext cx="0"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31786" name="Line 21"/>
          <p:cNvSpPr>
            <a:spLocks noChangeShapeType="1"/>
          </p:cNvSpPr>
          <p:nvPr/>
        </p:nvSpPr>
        <p:spPr bwMode="auto">
          <a:xfrm flipH="1">
            <a:off x="3994894" y="5229052"/>
            <a:ext cx="863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1787" name="Line 22"/>
          <p:cNvSpPr>
            <a:spLocks noChangeShapeType="1"/>
          </p:cNvSpPr>
          <p:nvPr/>
        </p:nvSpPr>
        <p:spPr bwMode="auto">
          <a:xfrm flipV="1">
            <a:off x="3202732" y="4508327"/>
            <a:ext cx="576262" cy="5048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463" name="Oval 23"/>
          <p:cNvSpPr>
            <a:spLocks noChangeArrowheads="1"/>
          </p:cNvSpPr>
          <p:nvPr/>
        </p:nvSpPr>
        <p:spPr bwMode="auto">
          <a:xfrm>
            <a:off x="3634532" y="4436889"/>
            <a:ext cx="144462" cy="144463"/>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331789" name="Text Box 24"/>
          <p:cNvSpPr txBox="1">
            <a:spLocks noChangeArrowheads="1"/>
          </p:cNvSpPr>
          <p:nvPr/>
        </p:nvSpPr>
        <p:spPr bwMode="auto">
          <a:xfrm>
            <a:off x="3966319" y="4292427"/>
            <a:ext cx="863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4      1</a:t>
            </a:r>
          </a:p>
        </p:txBody>
      </p:sp>
      <p:sp>
        <p:nvSpPr>
          <p:cNvPr id="331790" name="Text Box 25"/>
          <p:cNvSpPr txBox="1">
            <a:spLocks noChangeArrowheads="1"/>
          </p:cNvSpPr>
          <p:nvPr/>
        </p:nvSpPr>
        <p:spPr bwMode="auto">
          <a:xfrm>
            <a:off x="1939082" y="3603452"/>
            <a:ext cx="3603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sym typeface="Symbol" panose="05050102010706020507" pitchFamily="18" charset="2"/>
              </a:rPr>
              <a:t></a:t>
            </a:r>
          </a:p>
        </p:txBody>
      </p:sp>
      <p:grpSp>
        <p:nvGrpSpPr>
          <p:cNvPr id="331791" name="Group 26"/>
          <p:cNvGrpSpPr>
            <a:grpSpLocks/>
          </p:cNvGrpSpPr>
          <p:nvPr/>
        </p:nvGrpSpPr>
        <p:grpSpPr bwMode="auto">
          <a:xfrm>
            <a:off x="1907332" y="2565227"/>
            <a:ext cx="431800" cy="1008062"/>
            <a:chOff x="476" y="3113"/>
            <a:chExt cx="272" cy="635"/>
          </a:xfrm>
        </p:grpSpPr>
        <p:sp>
          <p:nvSpPr>
            <p:cNvPr id="331807" name="Rectangle 27"/>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4</a:t>
              </a:r>
            </a:p>
            <a:p>
              <a:pPr algn="ctr" eaLnBrk="1" hangingPunct="1">
                <a:lnSpc>
                  <a:spcPct val="120000"/>
                </a:lnSpc>
                <a:spcBef>
                  <a:spcPct val="0"/>
                </a:spcBef>
                <a:buFontTx/>
                <a:buNone/>
              </a:pPr>
              <a:r>
                <a:rPr kumimoji="0" lang="en-US" altLang="zh-CN" sz="1800" b="1"/>
                <a:t>3</a:t>
              </a:r>
            </a:p>
            <a:p>
              <a:pPr algn="ctr" eaLnBrk="1" hangingPunct="1">
                <a:lnSpc>
                  <a:spcPct val="120000"/>
                </a:lnSpc>
                <a:spcBef>
                  <a:spcPct val="0"/>
                </a:spcBef>
                <a:buFontTx/>
                <a:buNone/>
              </a:pPr>
              <a:r>
                <a:rPr kumimoji="0" lang="en-US" altLang="zh-CN" sz="1800" b="1"/>
                <a:t> </a:t>
              </a:r>
            </a:p>
          </p:txBody>
        </p:sp>
        <p:sp>
          <p:nvSpPr>
            <p:cNvPr id="331808" name="Line 28"/>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1809" name="Line 29"/>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31792" name="Group 30"/>
          <p:cNvGrpSpPr>
            <a:grpSpLocks/>
          </p:cNvGrpSpPr>
          <p:nvPr/>
        </p:nvGrpSpPr>
        <p:grpSpPr bwMode="auto">
          <a:xfrm>
            <a:off x="5018832" y="5040139"/>
            <a:ext cx="863600" cy="396875"/>
            <a:chOff x="2726" y="3203"/>
            <a:chExt cx="544" cy="250"/>
          </a:xfrm>
        </p:grpSpPr>
        <p:sp>
          <p:nvSpPr>
            <p:cNvPr id="331805" name="Text Box 31"/>
            <p:cNvSpPr txBox="1">
              <a:spLocks noChangeArrowheads="1"/>
            </p:cNvSpPr>
            <p:nvPr/>
          </p:nvSpPr>
          <p:spPr bwMode="auto">
            <a:xfrm>
              <a:off x="2726" y="3203"/>
              <a:ext cx="544" cy="25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3      1</a:t>
              </a:r>
            </a:p>
          </p:txBody>
        </p:sp>
        <p:sp>
          <p:nvSpPr>
            <p:cNvPr id="331806" name="Line 32"/>
            <p:cNvSpPr>
              <a:spLocks noChangeShapeType="1"/>
            </p:cNvSpPr>
            <p:nvPr/>
          </p:nvSpPr>
          <p:spPr bwMode="auto">
            <a:xfrm flipH="1">
              <a:off x="3001" y="3210"/>
              <a:ext cx="2" cy="23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31793" name="Text Box 33"/>
          <p:cNvSpPr txBox="1">
            <a:spLocks noChangeArrowheads="1"/>
          </p:cNvSpPr>
          <p:nvPr/>
        </p:nvSpPr>
        <p:spPr bwMode="auto">
          <a:xfrm>
            <a:off x="2518519" y="3606627"/>
            <a:ext cx="36036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sym typeface="Symbol" panose="05050102010706020507" pitchFamily="18" charset="2"/>
              </a:rPr>
              <a:t></a:t>
            </a:r>
          </a:p>
        </p:txBody>
      </p:sp>
      <p:grpSp>
        <p:nvGrpSpPr>
          <p:cNvPr id="331794" name="Group 34"/>
          <p:cNvGrpSpPr>
            <a:grpSpLocks/>
          </p:cNvGrpSpPr>
          <p:nvPr/>
        </p:nvGrpSpPr>
        <p:grpSpPr bwMode="auto">
          <a:xfrm>
            <a:off x="2482007" y="2565227"/>
            <a:ext cx="431800" cy="1008062"/>
            <a:chOff x="476" y="3113"/>
            <a:chExt cx="272" cy="635"/>
          </a:xfrm>
        </p:grpSpPr>
        <p:sp>
          <p:nvSpPr>
            <p:cNvPr id="331802" name="Rectangle 35"/>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4</a:t>
              </a:r>
            </a:p>
            <a:p>
              <a:pPr algn="ctr" eaLnBrk="1" hangingPunct="1">
                <a:lnSpc>
                  <a:spcPct val="120000"/>
                </a:lnSpc>
                <a:spcBef>
                  <a:spcPct val="0"/>
                </a:spcBef>
                <a:buFontTx/>
                <a:buNone/>
              </a:pPr>
              <a:r>
                <a:rPr kumimoji="0" lang="en-US" altLang="zh-CN" sz="1800" b="1"/>
                <a:t>3</a:t>
              </a:r>
            </a:p>
            <a:p>
              <a:pPr algn="ctr" eaLnBrk="1" hangingPunct="1">
                <a:lnSpc>
                  <a:spcPct val="120000"/>
                </a:lnSpc>
                <a:spcBef>
                  <a:spcPct val="0"/>
                </a:spcBef>
                <a:buFontTx/>
                <a:buNone/>
              </a:pPr>
              <a:r>
                <a:rPr kumimoji="0" lang="en-US" altLang="zh-CN" sz="1800" b="1"/>
                <a:t>2</a:t>
              </a:r>
            </a:p>
          </p:txBody>
        </p:sp>
        <p:sp>
          <p:nvSpPr>
            <p:cNvPr id="331803" name="Line 36"/>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1804" name="Line 37"/>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31795" name="Group 38"/>
          <p:cNvGrpSpPr>
            <a:grpSpLocks/>
          </p:cNvGrpSpPr>
          <p:nvPr/>
        </p:nvGrpSpPr>
        <p:grpSpPr bwMode="auto">
          <a:xfrm>
            <a:off x="3002707" y="5024264"/>
            <a:ext cx="863600" cy="396875"/>
            <a:chOff x="2726" y="3203"/>
            <a:chExt cx="544" cy="250"/>
          </a:xfrm>
        </p:grpSpPr>
        <p:sp>
          <p:nvSpPr>
            <p:cNvPr id="331800" name="Text Box 39"/>
            <p:cNvSpPr txBox="1">
              <a:spLocks noChangeArrowheads="1"/>
            </p:cNvSpPr>
            <p:nvPr/>
          </p:nvSpPr>
          <p:spPr bwMode="auto">
            <a:xfrm>
              <a:off x="2726" y="3203"/>
              <a:ext cx="544" cy="25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2      1</a:t>
              </a:r>
            </a:p>
          </p:txBody>
        </p:sp>
        <p:sp>
          <p:nvSpPr>
            <p:cNvPr id="331801" name="Line 40"/>
            <p:cNvSpPr>
              <a:spLocks noChangeShapeType="1"/>
            </p:cNvSpPr>
            <p:nvPr/>
          </p:nvSpPr>
          <p:spPr bwMode="auto">
            <a:xfrm flipH="1">
              <a:off x="3001" y="3210"/>
              <a:ext cx="2" cy="23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73481" name="Text Box 41"/>
          <p:cNvSpPr txBox="1">
            <a:spLocks noChangeArrowheads="1"/>
          </p:cNvSpPr>
          <p:nvPr/>
        </p:nvSpPr>
        <p:spPr bwMode="auto">
          <a:xfrm>
            <a:off x="3080494" y="3614564"/>
            <a:ext cx="3603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sym typeface="Symbol" panose="05050102010706020507" pitchFamily="18" charset="2"/>
              </a:rPr>
              <a:t></a:t>
            </a:r>
          </a:p>
        </p:txBody>
      </p:sp>
      <p:sp>
        <p:nvSpPr>
          <p:cNvPr id="573482" name="Text Box 42"/>
          <p:cNvSpPr txBox="1">
            <a:spLocks noChangeArrowheads="1"/>
          </p:cNvSpPr>
          <p:nvPr/>
        </p:nvSpPr>
        <p:spPr bwMode="auto">
          <a:xfrm>
            <a:off x="4450507" y="4292427"/>
            <a:ext cx="431800" cy="396875"/>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0</a:t>
            </a:r>
          </a:p>
        </p:txBody>
      </p:sp>
      <p:sp>
        <p:nvSpPr>
          <p:cNvPr id="573483" name="Text Box 43"/>
          <p:cNvSpPr txBox="1">
            <a:spLocks noChangeArrowheads="1"/>
          </p:cNvSpPr>
          <p:nvPr/>
        </p:nvSpPr>
        <p:spPr bwMode="auto">
          <a:xfrm>
            <a:off x="5506194" y="5021089"/>
            <a:ext cx="431800" cy="396875"/>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0</a:t>
            </a:r>
          </a:p>
        </p:txBody>
      </p:sp>
      <p:sp>
        <p:nvSpPr>
          <p:cNvPr id="573484" name="Text Box 44"/>
          <p:cNvSpPr txBox="1">
            <a:spLocks noChangeArrowheads="1"/>
          </p:cNvSpPr>
          <p:nvPr/>
        </p:nvSpPr>
        <p:spPr bwMode="auto">
          <a:xfrm>
            <a:off x="3507532" y="5013152"/>
            <a:ext cx="431800" cy="396875"/>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0</a:t>
            </a:r>
          </a:p>
        </p:txBody>
      </p:sp>
      <p:sp>
        <p:nvSpPr>
          <p:cNvPr id="3" name="Date Placeholder 2"/>
          <p:cNvSpPr>
            <a:spLocks noGrp="1"/>
          </p:cNvSpPr>
          <p:nvPr>
            <p:ph type="dt" sz="half" idx="10"/>
          </p:nvPr>
        </p:nvSpPr>
        <p:spPr/>
        <p:txBody>
          <a:bodyPr/>
          <a:lstStyle/>
          <a:p>
            <a:fld id="{9AF4851F-C750-4AA6-B950-1D7F6FFF4365}" type="datetime1">
              <a:rPr lang="zh-CN" altLang="en-US" smtClean="0"/>
              <a:pPr/>
              <a:t>2018/8/3</a:t>
            </a:fld>
            <a:endParaRPr lang="zh-CN" altLang="en-US" dirty="0"/>
          </a:p>
        </p:txBody>
      </p:sp>
      <p:sp>
        <p:nvSpPr>
          <p:cNvPr id="4" name="Footer Placeholder 3"/>
          <p:cNvSpPr>
            <a:spLocks noGrp="1"/>
          </p:cNvSpPr>
          <p:nvPr>
            <p:ph type="ftr" sz="quarter" idx="11"/>
          </p:nvPr>
        </p:nvSpPr>
        <p:spPr/>
        <p:txBody>
          <a:bodyPr/>
          <a:lstStyle/>
          <a:p>
            <a:r>
              <a:rPr lang="en-US" altLang="zh-CN"/>
              <a:t>CH07 Memory Management</a:t>
            </a:r>
            <a:endParaRPr lang="zh-CN" altLang="en-US" dirty="0"/>
          </a:p>
        </p:txBody>
      </p:sp>
      <p:sp>
        <p:nvSpPr>
          <p:cNvPr id="49" name="Slide Number Placeholder 5"/>
          <p:cNvSpPr>
            <a:spLocks noGrp="1"/>
          </p:cNvSpPr>
          <p:nvPr>
            <p:ph type="sldNum" sz="quarter" idx="12"/>
          </p:nvPr>
        </p:nvSpPr>
        <p:spPr>
          <a:xfrm>
            <a:off x="6119832" y="6669360"/>
            <a:ext cx="3009936" cy="187200"/>
          </a:xfrm>
        </p:spPr>
        <p:txBody>
          <a:bodyPr/>
          <a:lstStyle/>
          <a:p>
            <a:r>
              <a:rPr lang="en-US" altLang="zh-CN" dirty="0"/>
              <a:t>122</a:t>
            </a:r>
            <a:endParaRPr lang="zh-CN" altLang="en-US" dirty="0"/>
          </a:p>
        </p:txBody>
      </p:sp>
    </p:spTree>
    <p:extLst>
      <p:ext uri="{BB962C8B-B14F-4D97-AF65-F5344CB8AC3E}">
        <p14:creationId xmlns:p14="http://schemas.microsoft.com/office/powerpoint/2010/main" val="354140577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57348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7348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0" presetClass="path" presetSubtype="0" accel="50000" decel="50000" fill="hold" grpId="0" nodeType="clickEffect">
                                  <p:stCondLst>
                                    <p:cond delay="0"/>
                                  </p:stCondLst>
                                  <p:childTnLst>
                                    <p:animMotion origin="layout" path="M -1.66667E-6 9.99537E-7 L 0.12604 0.10504 " pathEditMode="relative" ptsTypes="AA">
                                      <p:cBhvr>
                                        <p:cTn id="14" dur="1000" fill="hold"/>
                                        <p:tgtEl>
                                          <p:spTgt spid="573463"/>
                                        </p:tgtEl>
                                        <p:attrNameLst>
                                          <p:attrName>ppt_x</p:attrName>
                                          <p:attrName>ppt_y</p:attrName>
                                        </p:attrNameLst>
                                      </p:cBhvr>
                                    </p:animMotion>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73483"/>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0" presetClass="path" presetSubtype="0" accel="50000" decel="50000" fill="hold" grpId="1" nodeType="clickEffect">
                                  <p:stCondLst>
                                    <p:cond delay="0"/>
                                  </p:stCondLst>
                                  <p:childTnLst>
                                    <p:animMotion origin="layout" path="M 0.12604 0.10504 L -0.09445 0.10504 " pathEditMode="relative" ptsTypes="AA">
                                      <p:cBhvr>
                                        <p:cTn id="22" dur="1000" fill="hold"/>
                                        <p:tgtEl>
                                          <p:spTgt spid="573463"/>
                                        </p:tgtEl>
                                        <p:attrNameLst>
                                          <p:attrName>ppt_x</p:attrName>
                                          <p:attrName>ppt_y</p:attrName>
                                        </p:attrNameLst>
                                      </p:cBhvr>
                                    </p:animMotion>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73484"/>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0" presetClass="path" presetSubtype="0" accel="50000" decel="50000" fill="hold" grpId="2" nodeType="clickEffect">
                                  <p:stCondLst>
                                    <p:cond delay="0"/>
                                  </p:stCondLst>
                                  <p:childTnLst>
                                    <p:animMotion origin="layout" path="M -0.09444 0.10504 L -1.66667E-6 9.99537E-7 " pathEditMode="relative" ptsTypes="AA">
                                      <p:cBhvr>
                                        <p:cTn id="30" dur="1000" fill="hold"/>
                                        <p:tgtEl>
                                          <p:spTgt spid="573463"/>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63" grpId="0" animBg="1"/>
      <p:bldP spid="573463" grpId="1" animBg="1"/>
      <p:bldP spid="573463" grpId="2" animBg="1"/>
      <p:bldP spid="573481" grpId="0"/>
      <p:bldP spid="573482" grpId="0" animBg="1"/>
      <p:bldP spid="573483" grpId="0" animBg="1"/>
      <p:bldP spid="573484" grpId="0" animBg="1"/>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9586" name="Rectangle 2"/>
          <p:cNvSpPr>
            <a:spLocks noGrp="1" noChangeArrowheads="1"/>
          </p:cNvSpPr>
          <p:nvPr>
            <p:ph type="title"/>
          </p:nvPr>
        </p:nvSpPr>
        <p:spPr/>
        <p:txBody>
          <a:bodyPr/>
          <a:lstStyle/>
          <a:p>
            <a:pPr>
              <a:defRPr/>
            </a:pPr>
            <a:r>
              <a:rPr lang="zh-CN" altLang="en-US" dirty="0"/>
              <a:t>时钟置换算法</a:t>
            </a:r>
            <a:endParaRPr lang="zh-CN" altLang="en-US" dirty="0">
              <a:ea typeface="黑体" panose="02010609060101010101" pitchFamily="49" charset="-122"/>
            </a:endParaRPr>
          </a:p>
        </p:txBody>
      </p:sp>
      <p:grpSp>
        <p:nvGrpSpPr>
          <p:cNvPr id="333829" name="Group 4"/>
          <p:cNvGrpSpPr>
            <a:grpSpLocks/>
          </p:cNvGrpSpPr>
          <p:nvPr/>
        </p:nvGrpSpPr>
        <p:grpSpPr bwMode="auto">
          <a:xfrm>
            <a:off x="1342182" y="2565227"/>
            <a:ext cx="431800" cy="1008062"/>
            <a:chOff x="476" y="3113"/>
            <a:chExt cx="272" cy="635"/>
          </a:xfrm>
        </p:grpSpPr>
        <p:sp>
          <p:nvSpPr>
            <p:cNvPr id="333874" name="Rectangle 5"/>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4</a:t>
              </a:r>
            </a:p>
            <a:p>
              <a:pPr algn="ctr" eaLnBrk="1" hangingPunct="1">
                <a:lnSpc>
                  <a:spcPct val="120000"/>
                </a:lnSpc>
                <a:spcBef>
                  <a:spcPct val="0"/>
                </a:spcBef>
                <a:buFontTx/>
                <a:buNone/>
              </a:pPr>
              <a:r>
                <a:rPr kumimoji="0" lang="en-US" altLang="zh-CN" sz="1800" b="1"/>
                <a:t> </a:t>
              </a:r>
            </a:p>
            <a:p>
              <a:pPr algn="ctr" eaLnBrk="1" hangingPunct="1">
                <a:lnSpc>
                  <a:spcPct val="120000"/>
                </a:lnSpc>
                <a:spcBef>
                  <a:spcPct val="0"/>
                </a:spcBef>
                <a:buFontTx/>
                <a:buNone/>
              </a:pPr>
              <a:r>
                <a:rPr kumimoji="0" lang="en-US" altLang="zh-CN" sz="1800" b="1"/>
                <a:t> </a:t>
              </a:r>
            </a:p>
          </p:txBody>
        </p:sp>
        <p:sp>
          <p:nvSpPr>
            <p:cNvPr id="333875" name="Line 6"/>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3876" name="Line 7"/>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33830" name="Text Box 8"/>
          <p:cNvSpPr txBox="1">
            <a:spLocks noChangeArrowheads="1"/>
          </p:cNvSpPr>
          <p:nvPr/>
        </p:nvSpPr>
        <p:spPr bwMode="auto">
          <a:xfrm>
            <a:off x="1259632" y="2204864"/>
            <a:ext cx="67691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2000" b="1"/>
              <a:t>  4       3       2       1       4       3       5       4       3       2       1       5</a:t>
            </a:r>
          </a:p>
        </p:txBody>
      </p:sp>
      <p:sp>
        <p:nvSpPr>
          <p:cNvPr id="333831" name="Text Box 9"/>
          <p:cNvSpPr txBox="1">
            <a:spLocks noChangeArrowheads="1"/>
          </p:cNvSpPr>
          <p:nvPr/>
        </p:nvSpPr>
        <p:spPr bwMode="auto">
          <a:xfrm>
            <a:off x="1386632" y="3597102"/>
            <a:ext cx="3603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sym typeface="Symbol" panose="05050102010706020507" pitchFamily="18" charset="2"/>
              </a:rPr>
              <a:t></a:t>
            </a:r>
          </a:p>
        </p:txBody>
      </p:sp>
      <p:grpSp>
        <p:nvGrpSpPr>
          <p:cNvPr id="333832" name="Group 10"/>
          <p:cNvGrpSpPr>
            <a:grpSpLocks/>
          </p:cNvGrpSpPr>
          <p:nvPr/>
        </p:nvGrpSpPr>
        <p:grpSpPr bwMode="auto">
          <a:xfrm>
            <a:off x="3778994" y="4292427"/>
            <a:ext cx="2232025" cy="1152525"/>
            <a:chOff x="2699" y="3158"/>
            <a:chExt cx="1406" cy="726"/>
          </a:xfrm>
        </p:grpSpPr>
        <p:grpSp>
          <p:nvGrpSpPr>
            <p:cNvPr id="333867" name="Group 11"/>
            <p:cNvGrpSpPr>
              <a:grpSpLocks/>
            </p:cNvGrpSpPr>
            <p:nvPr/>
          </p:nvGrpSpPr>
          <p:grpSpPr bwMode="auto">
            <a:xfrm>
              <a:off x="2699" y="3158"/>
              <a:ext cx="725" cy="272"/>
              <a:chOff x="2699" y="3203"/>
              <a:chExt cx="725" cy="272"/>
            </a:xfrm>
          </p:grpSpPr>
          <p:sp>
            <p:nvSpPr>
              <p:cNvPr id="333872" name="Rectangle 12"/>
              <p:cNvSpPr>
                <a:spLocks noChangeArrowheads="1"/>
              </p:cNvSpPr>
              <p:nvPr/>
            </p:nvSpPr>
            <p:spPr bwMode="auto">
              <a:xfrm>
                <a:off x="2699" y="3203"/>
                <a:ext cx="725" cy="27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zh-CN" sz="2000" b="1"/>
              </a:p>
            </p:txBody>
          </p:sp>
          <p:sp>
            <p:nvSpPr>
              <p:cNvPr id="333873" name="Line 13"/>
              <p:cNvSpPr>
                <a:spLocks noChangeShapeType="1"/>
              </p:cNvSpPr>
              <p:nvPr/>
            </p:nvSpPr>
            <p:spPr bwMode="auto">
              <a:xfrm>
                <a:off x="3075" y="3203"/>
                <a:ext cx="0"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33868" name="Group 14"/>
            <p:cNvGrpSpPr>
              <a:grpSpLocks/>
            </p:cNvGrpSpPr>
            <p:nvPr/>
          </p:nvGrpSpPr>
          <p:grpSpPr bwMode="auto">
            <a:xfrm>
              <a:off x="3380" y="3612"/>
              <a:ext cx="725" cy="272"/>
              <a:chOff x="2699" y="3203"/>
              <a:chExt cx="725" cy="272"/>
            </a:xfrm>
          </p:grpSpPr>
          <p:sp>
            <p:nvSpPr>
              <p:cNvPr id="333870" name="Rectangle 15"/>
              <p:cNvSpPr>
                <a:spLocks noChangeArrowheads="1"/>
              </p:cNvSpPr>
              <p:nvPr/>
            </p:nvSpPr>
            <p:spPr bwMode="auto">
              <a:xfrm>
                <a:off x="2699" y="3203"/>
                <a:ext cx="725" cy="27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zh-CN" sz="2000" b="1"/>
              </a:p>
            </p:txBody>
          </p:sp>
          <p:sp>
            <p:nvSpPr>
              <p:cNvPr id="333871" name="Line 16"/>
              <p:cNvSpPr>
                <a:spLocks noChangeShapeType="1"/>
              </p:cNvSpPr>
              <p:nvPr/>
            </p:nvSpPr>
            <p:spPr bwMode="auto">
              <a:xfrm>
                <a:off x="3075" y="3203"/>
                <a:ext cx="0"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33869" name="Line 17"/>
            <p:cNvSpPr>
              <a:spLocks noChangeShapeType="1"/>
            </p:cNvSpPr>
            <p:nvPr/>
          </p:nvSpPr>
          <p:spPr bwMode="auto">
            <a:xfrm>
              <a:off x="3424" y="3294"/>
              <a:ext cx="318" cy="31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33833" name="Group 18"/>
          <p:cNvGrpSpPr>
            <a:grpSpLocks/>
          </p:cNvGrpSpPr>
          <p:nvPr/>
        </p:nvGrpSpPr>
        <p:grpSpPr bwMode="auto">
          <a:xfrm>
            <a:off x="2842369" y="5013152"/>
            <a:ext cx="1150938" cy="431800"/>
            <a:chOff x="2699" y="3203"/>
            <a:chExt cx="725" cy="272"/>
          </a:xfrm>
        </p:grpSpPr>
        <p:sp>
          <p:nvSpPr>
            <p:cNvPr id="333865" name="Rectangle 19"/>
            <p:cNvSpPr>
              <a:spLocks noChangeArrowheads="1"/>
            </p:cNvSpPr>
            <p:nvPr/>
          </p:nvSpPr>
          <p:spPr bwMode="auto">
            <a:xfrm>
              <a:off x="2699" y="3203"/>
              <a:ext cx="725" cy="27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zh-CN" sz="2000" b="1"/>
            </a:p>
          </p:txBody>
        </p:sp>
        <p:sp>
          <p:nvSpPr>
            <p:cNvPr id="333866" name="Line 20"/>
            <p:cNvSpPr>
              <a:spLocks noChangeShapeType="1"/>
            </p:cNvSpPr>
            <p:nvPr/>
          </p:nvSpPr>
          <p:spPr bwMode="auto">
            <a:xfrm>
              <a:off x="3075" y="3203"/>
              <a:ext cx="0"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33834" name="Line 21"/>
          <p:cNvSpPr>
            <a:spLocks noChangeShapeType="1"/>
          </p:cNvSpPr>
          <p:nvPr/>
        </p:nvSpPr>
        <p:spPr bwMode="auto">
          <a:xfrm flipH="1">
            <a:off x="3994894" y="5229052"/>
            <a:ext cx="863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3835" name="Line 22"/>
          <p:cNvSpPr>
            <a:spLocks noChangeShapeType="1"/>
          </p:cNvSpPr>
          <p:nvPr/>
        </p:nvSpPr>
        <p:spPr bwMode="auto">
          <a:xfrm flipV="1">
            <a:off x="3202732" y="4508327"/>
            <a:ext cx="576262" cy="5048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9607" name="Oval 23"/>
          <p:cNvSpPr>
            <a:spLocks noChangeArrowheads="1"/>
          </p:cNvSpPr>
          <p:nvPr/>
        </p:nvSpPr>
        <p:spPr bwMode="auto">
          <a:xfrm>
            <a:off x="3634532" y="4436889"/>
            <a:ext cx="144462" cy="144463"/>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333837" name="Text Box 24"/>
          <p:cNvSpPr txBox="1">
            <a:spLocks noChangeArrowheads="1"/>
          </p:cNvSpPr>
          <p:nvPr/>
        </p:nvSpPr>
        <p:spPr bwMode="auto">
          <a:xfrm>
            <a:off x="3966319" y="4292427"/>
            <a:ext cx="863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4      1</a:t>
            </a:r>
          </a:p>
        </p:txBody>
      </p:sp>
      <p:sp>
        <p:nvSpPr>
          <p:cNvPr id="333838" name="Text Box 25"/>
          <p:cNvSpPr txBox="1">
            <a:spLocks noChangeArrowheads="1"/>
          </p:cNvSpPr>
          <p:nvPr/>
        </p:nvSpPr>
        <p:spPr bwMode="auto">
          <a:xfrm>
            <a:off x="1939082" y="3603452"/>
            <a:ext cx="3603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sym typeface="Symbol" panose="05050102010706020507" pitchFamily="18" charset="2"/>
              </a:rPr>
              <a:t></a:t>
            </a:r>
          </a:p>
        </p:txBody>
      </p:sp>
      <p:grpSp>
        <p:nvGrpSpPr>
          <p:cNvPr id="333839" name="Group 26"/>
          <p:cNvGrpSpPr>
            <a:grpSpLocks/>
          </p:cNvGrpSpPr>
          <p:nvPr/>
        </p:nvGrpSpPr>
        <p:grpSpPr bwMode="auto">
          <a:xfrm>
            <a:off x="1907332" y="2565227"/>
            <a:ext cx="431800" cy="1008062"/>
            <a:chOff x="476" y="3113"/>
            <a:chExt cx="272" cy="635"/>
          </a:xfrm>
        </p:grpSpPr>
        <p:sp>
          <p:nvSpPr>
            <p:cNvPr id="333862" name="Rectangle 27"/>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4</a:t>
              </a:r>
            </a:p>
            <a:p>
              <a:pPr algn="ctr" eaLnBrk="1" hangingPunct="1">
                <a:lnSpc>
                  <a:spcPct val="120000"/>
                </a:lnSpc>
                <a:spcBef>
                  <a:spcPct val="0"/>
                </a:spcBef>
                <a:buFontTx/>
                <a:buNone/>
              </a:pPr>
              <a:r>
                <a:rPr kumimoji="0" lang="en-US" altLang="zh-CN" sz="1800" b="1"/>
                <a:t>3</a:t>
              </a:r>
            </a:p>
            <a:p>
              <a:pPr algn="ctr" eaLnBrk="1" hangingPunct="1">
                <a:lnSpc>
                  <a:spcPct val="120000"/>
                </a:lnSpc>
                <a:spcBef>
                  <a:spcPct val="0"/>
                </a:spcBef>
                <a:buFontTx/>
                <a:buNone/>
              </a:pPr>
              <a:r>
                <a:rPr kumimoji="0" lang="en-US" altLang="zh-CN" sz="1800" b="1"/>
                <a:t> </a:t>
              </a:r>
            </a:p>
          </p:txBody>
        </p:sp>
        <p:sp>
          <p:nvSpPr>
            <p:cNvPr id="333863" name="Line 28"/>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3864" name="Line 29"/>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33840" name="Group 30"/>
          <p:cNvGrpSpPr>
            <a:grpSpLocks/>
          </p:cNvGrpSpPr>
          <p:nvPr/>
        </p:nvGrpSpPr>
        <p:grpSpPr bwMode="auto">
          <a:xfrm>
            <a:off x="5018832" y="5040139"/>
            <a:ext cx="863600" cy="396875"/>
            <a:chOff x="2726" y="3203"/>
            <a:chExt cx="544" cy="250"/>
          </a:xfrm>
        </p:grpSpPr>
        <p:sp>
          <p:nvSpPr>
            <p:cNvPr id="333860" name="Text Box 31"/>
            <p:cNvSpPr txBox="1">
              <a:spLocks noChangeArrowheads="1"/>
            </p:cNvSpPr>
            <p:nvPr/>
          </p:nvSpPr>
          <p:spPr bwMode="auto">
            <a:xfrm>
              <a:off x="2726" y="3203"/>
              <a:ext cx="544" cy="25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3      1</a:t>
              </a:r>
            </a:p>
          </p:txBody>
        </p:sp>
        <p:sp>
          <p:nvSpPr>
            <p:cNvPr id="333861" name="Line 32"/>
            <p:cNvSpPr>
              <a:spLocks noChangeShapeType="1"/>
            </p:cNvSpPr>
            <p:nvPr/>
          </p:nvSpPr>
          <p:spPr bwMode="auto">
            <a:xfrm flipH="1">
              <a:off x="3001" y="3210"/>
              <a:ext cx="2" cy="23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33841" name="Text Box 33"/>
          <p:cNvSpPr txBox="1">
            <a:spLocks noChangeArrowheads="1"/>
          </p:cNvSpPr>
          <p:nvPr/>
        </p:nvSpPr>
        <p:spPr bwMode="auto">
          <a:xfrm>
            <a:off x="2518519" y="3606627"/>
            <a:ext cx="36036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sym typeface="Symbol" panose="05050102010706020507" pitchFamily="18" charset="2"/>
              </a:rPr>
              <a:t></a:t>
            </a:r>
          </a:p>
        </p:txBody>
      </p:sp>
      <p:grpSp>
        <p:nvGrpSpPr>
          <p:cNvPr id="333842" name="Group 34"/>
          <p:cNvGrpSpPr>
            <a:grpSpLocks/>
          </p:cNvGrpSpPr>
          <p:nvPr/>
        </p:nvGrpSpPr>
        <p:grpSpPr bwMode="auto">
          <a:xfrm>
            <a:off x="2482007" y="2565227"/>
            <a:ext cx="431800" cy="1008062"/>
            <a:chOff x="476" y="3113"/>
            <a:chExt cx="272" cy="635"/>
          </a:xfrm>
        </p:grpSpPr>
        <p:sp>
          <p:nvSpPr>
            <p:cNvPr id="333857" name="Rectangle 35"/>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4</a:t>
              </a:r>
            </a:p>
            <a:p>
              <a:pPr algn="ctr" eaLnBrk="1" hangingPunct="1">
                <a:lnSpc>
                  <a:spcPct val="120000"/>
                </a:lnSpc>
                <a:spcBef>
                  <a:spcPct val="0"/>
                </a:spcBef>
                <a:buFontTx/>
                <a:buNone/>
              </a:pPr>
              <a:r>
                <a:rPr kumimoji="0" lang="en-US" altLang="zh-CN" sz="1800" b="1"/>
                <a:t>3</a:t>
              </a:r>
            </a:p>
            <a:p>
              <a:pPr algn="ctr" eaLnBrk="1" hangingPunct="1">
                <a:lnSpc>
                  <a:spcPct val="120000"/>
                </a:lnSpc>
                <a:spcBef>
                  <a:spcPct val="0"/>
                </a:spcBef>
                <a:buFontTx/>
                <a:buNone/>
              </a:pPr>
              <a:r>
                <a:rPr kumimoji="0" lang="en-US" altLang="zh-CN" sz="1800" b="1"/>
                <a:t>2</a:t>
              </a:r>
            </a:p>
          </p:txBody>
        </p:sp>
        <p:sp>
          <p:nvSpPr>
            <p:cNvPr id="333858" name="Line 36"/>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3859" name="Line 37"/>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33843" name="Group 38"/>
          <p:cNvGrpSpPr>
            <a:grpSpLocks/>
          </p:cNvGrpSpPr>
          <p:nvPr/>
        </p:nvGrpSpPr>
        <p:grpSpPr bwMode="auto">
          <a:xfrm>
            <a:off x="3002707" y="5024264"/>
            <a:ext cx="863600" cy="396875"/>
            <a:chOff x="2726" y="3203"/>
            <a:chExt cx="544" cy="250"/>
          </a:xfrm>
        </p:grpSpPr>
        <p:sp>
          <p:nvSpPr>
            <p:cNvPr id="333855" name="Text Box 39"/>
            <p:cNvSpPr txBox="1">
              <a:spLocks noChangeArrowheads="1"/>
            </p:cNvSpPr>
            <p:nvPr/>
          </p:nvSpPr>
          <p:spPr bwMode="auto">
            <a:xfrm>
              <a:off x="2726" y="3203"/>
              <a:ext cx="544" cy="25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2      1</a:t>
              </a:r>
            </a:p>
          </p:txBody>
        </p:sp>
        <p:sp>
          <p:nvSpPr>
            <p:cNvPr id="333856" name="Line 40"/>
            <p:cNvSpPr>
              <a:spLocks noChangeShapeType="1"/>
            </p:cNvSpPr>
            <p:nvPr/>
          </p:nvSpPr>
          <p:spPr bwMode="auto">
            <a:xfrm flipH="1">
              <a:off x="3001" y="3210"/>
              <a:ext cx="2" cy="23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33844" name="Text Box 41"/>
          <p:cNvSpPr txBox="1">
            <a:spLocks noChangeArrowheads="1"/>
          </p:cNvSpPr>
          <p:nvPr/>
        </p:nvSpPr>
        <p:spPr bwMode="auto">
          <a:xfrm>
            <a:off x="3080494" y="3614564"/>
            <a:ext cx="3603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sym typeface="Symbol" panose="05050102010706020507" pitchFamily="18" charset="2"/>
              </a:rPr>
              <a:t></a:t>
            </a:r>
          </a:p>
        </p:txBody>
      </p:sp>
      <p:sp>
        <p:nvSpPr>
          <p:cNvPr id="333845" name="Text Box 42"/>
          <p:cNvSpPr txBox="1">
            <a:spLocks noChangeArrowheads="1"/>
          </p:cNvSpPr>
          <p:nvPr/>
        </p:nvSpPr>
        <p:spPr bwMode="auto">
          <a:xfrm>
            <a:off x="4450507" y="4292427"/>
            <a:ext cx="431800" cy="396875"/>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0</a:t>
            </a:r>
          </a:p>
        </p:txBody>
      </p:sp>
      <p:sp>
        <p:nvSpPr>
          <p:cNvPr id="333846" name="Text Box 43"/>
          <p:cNvSpPr txBox="1">
            <a:spLocks noChangeArrowheads="1"/>
          </p:cNvSpPr>
          <p:nvPr/>
        </p:nvSpPr>
        <p:spPr bwMode="auto">
          <a:xfrm>
            <a:off x="5514132" y="5021089"/>
            <a:ext cx="431800" cy="396875"/>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0</a:t>
            </a:r>
          </a:p>
        </p:txBody>
      </p:sp>
      <p:sp>
        <p:nvSpPr>
          <p:cNvPr id="333847" name="Text Box 44"/>
          <p:cNvSpPr txBox="1">
            <a:spLocks noChangeArrowheads="1"/>
          </p:cNvSpPr>
          <p:nvPr/>
        </p:nvSpPr>
        <p:spPr bwMode="auto">
          <a:xfrm>
            <a:off x="3490069" y="5013152"/>
            <a:ext cx="431800" cy="396875"/>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0</a:t>
            </a:r>
          </a:p>
        </p:txBody>
      </p:sp>
      <p:grpSp>
        <p:nvGrpSpPr>
          <p:cNvPr id="579629" name="Group 45"/>
          <p:cNvGrpSpPr>
            <a:grpSpLocks/>
          </p:cNvGrpSpPr>
          <p:nvPr/>
        </p:nvGrpSpPr>
        <p:grpSpPr bwMode="auto">
          <a:xfrm>
            <a:off x="3058269" y="2565227"/>
            <a:ext cx="431800" cy="1008062"/>
            <a:chOff x="476" y="3113"/>
            <a:chExt cx="272" cy="635"/>
          </a:xfrm>
        </p:grpSpPr>
        <p:sp>
          <p:nvSpPr>
            <p:cNvPr id="333852" name="Rectangle 46"/>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1</a:t>
              </a:r>
            </a:p>
            <a:p>
              <a:pPr algn="ctr" eaLnBrk="1" hangingPunct="1">
                <a:lnSpc>
                  <a:spcPct val="120000"/>
                </a:lnSpc>
                <a:spcBef>
                  <a:spcPct val="0"/>
                </a:spcBef>
                <a:buFontTx/>
                <a:buNone/>
              </a:pPr>
              <a:r>
                <a:rPr kumimoji="0" lang="en-US" altLang="zh-CN" sz="1800" b="1"/>
                <a:t>3</a:t>
              </a:r>
            </a:p>
            <a:p>
              <a:pPr algn="ctr" eaLnBrk="1" hangingPunct="1">
                <a:lnSpc>
                  <a:spcPct val="120000"/>
                </a:lnSpc>
                <a:spcBef>
                  <a:spcPct val="0"/>
                </a:spcBef>
                <a:buFontTx/>
                <a:buNone/>
              </a:pPr>
              <a:r>
                <a:rPr kumimoji="0" lang="en-US" altLang="zh-CN" sz="1800" b="1"/>
                <a:t>2</a:t>
              </a:r>
            </a:p>
          </p:txBody>
        </p:sp>
        <p:sp>
          <p:nvSpPr>
            <p:cNvPr id="333853" name="Line 47"/>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3854" name="Line 48"/>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79633" name="Group 49"/>
          <p:cNvGrpSpPr>
            <a:grpSpLocks/>
          </p:cNvGrpSpPr>
          <p:nvPr/>
        </p:nvGrpSpPr>
        <p:grpSpPr bwMode="auto">
          <a:xfrm>
            <a:off x="3939332" y="4292427"/>
            <a:ext cx="863600" cy="396875"/>
            <a:chOff x="2726" y="3203"/>
            <a:chExt cx="544" cy="250"/>
          </a:xfrm>
        </p:grpSpPr>
        <p:sp>
          <p:nvSpPr>
            <p:cNvPr id="333850" name="Text Box 50"/>
            <p:cNvSpPr txBox="1">
              <a:spLocks noChangeArrowheads="1"/>
            </p:cNvSpPr>
            <p:nvPr/>
          </p:nvSpPr>
          <p:spPr bwMode="auto">
            <a:xfrm>
              <a:off x="2726" y="3203"/>
              <a:ext cx="544" cy="25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1      1</a:t>
              </a:r>
            </a:p>
          </p:txBody>
        </p:sp>
        <p:sp>
          <p:nvSpPr>
            <p:cNvPr id="333851" name="Line 51"/>
            <p:cNvSpPr>
              <a:spLocks noChangeShapeType="1"/>
            </p:cNvSpPr>
            <p:nvPr/>
          </p:nvSpPr>
          <p:spPr bwMode="auto">
            <a:xfrm flipH="1">
              <a:off x="3001" y="3210"/>
              <a:ext cx="2" cy="23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 name="Date Placeholder 2"/>
          <p:cNvSpPr>
            <a:spLocks noGrp="1"/>
          </p:cNvSpPr>
          <p:nvPr>
            <p:ph type="dt" sz="half" idx="10"/>
          </p:nvPr>
        </p:nvSpPr>
        <p:spPr/>
        <p:txBody>
          <a:bodyPr/>
          <a:lstStyle/>
          <a:p>
            <a:fld id="{D070EBB4-3CB3-480C-BA7B-F4EA7C1941D2}" type="datetime1">
              <a:rPr lang="zh-CN" altLang="en-US" smtClean="0"/>
              <a:pPr/>
              <a:t>2018/8/3</a:t>
            </a:fld>
            <a:endParaRPr lang="zh-CN" altLang="en-US" dirty="0"/>
          </a:p>
        </p:txBody>
      </p:sp>
      <p:sp>
        <p:nvSpPr>
          <p:cNvPr id="4" name="Footer Placeholder 3"/>
          <p:cNvSpPr>
            <a:spLocks noGrp="1"/>
          </p:cNvSpPr>
          <p:nvPr>
            <p:ph type="ftr" sz="quarter" idx="11"/>
          </p:nvPr>
        </p:nvSpPr>
        <p:spPr/>
        <p:txBody>
          <a:bodyPr/>
          <a:lstStyle/>
          <a:p>
            <a:r>
              <a:rPr lang="en-US" altLang="zh-CN"/>
              <a:t>CH07 Memory Management</a:t>
            </a:r>
            <a:endParaRPr lang="zh-CN" altLang="en-US" dirty="0"/>
          </a:p>
        </p:txBody>
      </p:sp>
      <p:sp>
        <p:nvSpPr>
          <p:cNvPr id="56" name="Slide Number Placeholder 5"/>
          <p:cNvSpPr>
            <a:spLocks noGrp="1"/>
          </p:cNvSpPr>
          <p:nvPr>
            <p:ph type="sldNum" sz="quarter" idx="12"/>
          </p:nvPr>
        </p:nvSpPr>
        <p:spPr>
          <a:xfrm>
            <a:off x="6119832" y="6669360"/>
            <a:ext cx="3009936" cy="187200"/>
          </a:xfrm>
        </p:spPr>
        <p:txBody>
          <a:bodyPr/>
          <a:lstStyle/>
          <a:p>
            <a:r>
              <a:rPr lang="en-US" altLang="zh-CN" dirty="0"/>
              <a:t>123</a:t>
            </a:r>
            <a:endParaRPr lang="zh-CN" altLang="en-US" dirty="0"/>
          </a:p>
        </p:txBody>
      </p:sp>
    </p:spTree>
    <p:extLst>
      <p:ext uri="{BB962C8B-B14F-4D97-AF65-F5344CB8AC3E}">
        <p14:creationId xmlns:p14="http://schemas.microsoft.com/office/powerpoint/2010/main" val="6973185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0"/>
                                  </p:stCondLst>
                                  <p:childTnLst>
                                    <p:set>
                                      <p:cBhvr>
                                        <p:cTn id="6" dur="1" fill="hold">
                                          <p:stCondLst>
                                            <p:cond delay="0"/>
                                          </p:stCondLst>
                                        </p:cTn>
                                        <p:tgtEl>
                                          <p:spTgt spid="57962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7963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0" presetClass="path" presetSubtype="0" accel="50000" decel="50000" fill="hold" grpId="0" nodeType="clickEffect">
                                  <p:stCondLst>
                                    <p:cond delay="0"/>
                                  </p:stCondLst>
                                  <p:childTnLst>
                                    <p:animMotion origin="layout" path="M -1.66667E-6 9.99537E-7 L 0.12604 0.10504 " pathEditMode="relative" ptsTypes="AA">
                                      <p:cBhvr>
                                        <p:cTn id="14" dur="1000" fill="hold"/>
                                        <p:tgtEl>
                                          <p:spTgt spid="579607"/>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9607" grpId="0" animBg="1"/>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1154" name="Rectangle 2"/>
          <p:cNvSpPr>
            <a:spLocks noGrp="1" noChangeArrowheads="1"/>
          </p:cNvSpPr>
          <p:nvPr>
            <p:ph type="title"/>
          </p:nvPr>
        </p:nvSpPr>
        <p:spPr/>
        <p:txBody>
          <a:bodyPr/>
          <a:lstStyle/>
          <a:p>
            <a:pPr>
              <a:defRPr/>
            </a:pPr>
            <a:r>
              <a:rPr lang="zh-CN" altLang="en-US" dirty="0"/>
              <a:t>时钟置换算法</a:t>
            </a:r>
            <a:endParaRPr lang="zh-CN" altLang="en-US" dirty="0">
              <a:ea typeface="黑体" panose="02010609060101010101" pitchFamily="49" charset="-122"/>
            </a:endParaRPr>
          </a:p>
        </p:txBody>
      </p:sp>
      <p:grpSp>
        <p:nvGrpSpPr>
          <p:cNvPr id="335877" name="Group 4"/>
          <p:cNvGrpSpPr>
            <a:grpSpLocks/>
          </p:cNvGrpSpPr>
          <p:nvPr/>
        </p:nvGrpSpPr>
        <p:grpSpPr bwMode="auto">
          <a:xfrm>
            <a:off x="1342182" y="2565227"/>
            <a:ext cx="431800" cy="1008062"/>
            <a:chOff x="476" y="3113"/>
            <a:chExt cx="272" cy="635"/>
          </a:xfrm>
        </p:grpSpPr>
        <p:sp>
          <p:nvSpPr>
            <p:cNvPr id="335930" name="Rectangle 5"/>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4</a:t>
              </a:r>
            </a:p>
            <a:p>
              <a:pPr algn="ctr" eaLnBrk="1" hangingPunct="1">
                <a:lnSpc>
                  <a:spcPct val="120000"/>
                </a:lnSpc>
                <a:spcBef>
                  <a:spcPct val="0"/>
                </a:spcBef>
                <a:buFontTx/>
                <a:buNone/>
              </a:pPr>
              <a:r>
                <a:rPr kumimoji="0" lang="en-US" altLang="zh-CN" sz="1800" b="1"/>
                <a:t> </a:t>
              </a:r>
            </a:p>
            <a:p>
              <a:pPr algn="ctr" eaLnBrk="1" hangingPunct="1">
                <a:lnSpc>
                  <a:spcPct val="120000"/>
                </a:lnSpc>
                <a:spcBef>
                  <a:spcPct val="0"/>
                </a:spcBef>
                <a:buFontTx/>
                <a:buNone/>
              </a:pPr>
              <a:r>
                <a:rPr kumimoji="0" lang="en-US" altLang="zh-CN" sz="1800" b="1"/>
                <a:t> </a:t>
              </a:r>
            </a:p>
          </p:txBody>
        </p:sp>
        <p:sp>
          <p:nvSpPr>
            <p:cNvPr id="335931" name="Line 6"/>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5932" name="Line 7"/>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35878" name="Text Box 8"/>
          <p:cNvSpPr txBox="1">
            <a:spLocks noChangeArrowheads="1"/>
          </p:cNvSpPr>
          <p:nvPr/>
        </p:nvSpPr>
        <p:spPr bwMode="auto">
          <a:xfrm>
            <a:off x="1259632" y="2204864"/>
            <a:ext cx="67691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2000" b="1"/>
              <a:t>  4       3       2       1       4       3       5       4       3       2       1       5</a:t>
            </a:r>
          </a:p>
        </p:txBody>
      </p:sp>
      <p:sp>
        <p:nvSpPr>
          <p:cNvPr id="335879" name="Text Box 9"/>
          <p:cNvSpPr txBox="1">
            <a:spLocks noChangeArrowheads="1"/>
          </p:cNvSpPr>
          <p:nvPr/>
        </p:nvSpPr>
        <p:spPr bwMode="auto">
          <a:xfrm>
            <a:off x="1386632" y="3597102"/>
            <a:ext cx="3603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sym typeface="Symbol" panose="05050102010706020507" pitchFamily="18" charset="2"/>
              </a:rPr>
              <a:t></a:t>
            </a:r>
          </a:p>
        </p:txBody>
      </p:sp>
      <p:grpSp>
        <p:nvGrpSpPr>
          <p:cNvPr id="335880" name="Group 10"/>
          <p:cNvGrpSpPr>
            <a:grpSpLocks/>
          </p:cNvGrpSpPr>
          <p:nvPr/>
        </p:nvGrpSpPr>
        <p:grpSpPr bwMode="auto">
          <a:xfrm>
            <a:off x="3778994" y="4292427"/>
            <a:ext cx="2232025" cy="1152525"/>
            <a:chOff x="2699" y="3158"/>
            <a:chExt cx="1406" cy="726"/>
          </a:xfrm>
        </p:grpSpPr>
        <p:grpSp>
          <p:nvGrpSpPr>
            <p:cNvPr id="335923" name="Group 11"/>
            <p:cNvGrpSpPr>
              <a:grpSpLocks/>
            </p:cNvGrpSpPr>
            <p:nvPr/>
          </p:nvGrpSpPr>
          <p:grpSpPr bwMode="auto">
            <a:xfrm>
              <a:off x="2699" y="3158"/>
              <a:ext cx="725" cy="272"/>
              <a:chOff x="2699" y="3203"/>
              <a:chExt cx="725" cy="272"/>
            </a:xfrm>
          </p:grpSpPr>
          <p:sp>
            <p:nvSpPr>
              <p:cNvPr id="335928" name="Rectangle 12"/>
              <p:cNvSpPr>
                <a:spLocks noChangeArrowheads="1"/>
              </p:cNvSpPr>
              <p:nvPr/>
            </p:nvSpPr>
            <p:spPr bwMode="auto">
              <a:xfrm>
                <a:off x="2699" y="3203"/>
                <a:ext cx="725" cy="27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zh-CN" sz="2000" b="1"/>
              </a:p>
            </p:txBody>
          </p:sp>
          <p:sp>
            <p:nvSpPr>
              <p:cNvPr id="335929" name="Line 13"/>
              <p:cNvSpPr>
                <a:spLocks noChangeShapeType="1"/>
              </p:cNvSpPr>
              <p:nvPr/>
            </p:nvSpPr>
            <p:spPr bwMode="auto">
              <a:xfrm>
                <a:off x="3075" y="3203"/>
                <a:ext cx="0"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35924" name="Group 14"/>
            <p:cNvGrpSpPr>
              <a:grpSpLocks/>
            </p:cNvGrpSpPr>
            <p:nvPr/>
          </p:nvGrpSpPr>
          <p:grpSpPr bwMode="auto">
            <a:xfrm>
              <a:off x="3380" y="3612"/>
              <a:ext cx="725" cy="272"/>
              <a:chOff x="2699" y="3203"/>
              <a:chExt cx="725" cy="272"/>
            </a:xfrm>
          </p:grpSpPr>
          <p:sp>
            <p:nvSpPr>
              <p:cNvPr id="335926" name="Rectangle 15"/>
              <p:cNvSpPr>
                <a:spLocks noChangeArrowheads="1"/>
              </p:cNvSpPr>
              <p:nvPr/>
            </p:nvSpPr>
            <p:spPr bwMode="auto">
              <a:xfrm>
                <a:off x="2699" y="3203"/>
                <a:ext cx="725" cy="27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zh-CN" sz="2000" b="1"/>
              </a:p>
            </p:txBody>
          </p:sp>
          <p:sp>
            <p:nvSpPr>
              <p:cNvPr id="335927" name="Line 16"/>
              <p:cNvSpPr>
                <a:spLocks noChangeShapeType="1"/>
              </p:cNvSpPr>
              <p:nvPr/>
            </p:nvSpPr>
            <p:spPr bwMode="auto">
              <a:xfrm>
                <a:off x="3075" y="3203"/>
                <a:ext cx="0"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35925" name="Line 17"/>
            <p:cNvSpPr>
              <a:spLocks noChangeShapeType="1"/>
            </p:cNvSpPr>
            <p:nvPr/>
          </p:nvSpPr>
          <p:spPr bwMode="auto">
            <a:xfrm>
              <a:off x="3424" y="3294"/>
              <a:ext cx="318" cy="31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35881" name="Group 18"/>
          <p:cNvGrpSpPr>
            <a:grpSpLocks/>
          </p:cNvGrpSpPr>
          <p:nvPr/>
        </p:nvGrpSpPr>
        <p:grpSpPr bwMode="auto">
          <a:xfrm>
            <a:off x="2842369" y="5013152"/>
            <a:ext cx="1150938" cy="431800"/>
            <a:chOff x="2699" y="3203"/>
            <a:chExt cx="725" cy="272"/>
          </a:xfrm>
        </p:grpSpPr>
        <p:sp>
          <p:nvSpPr>
            <p:cNvPr id="335921" name="Rectangle 19"/>
            <p:cNvSpPr>
              <a:spLocks noChangeArrowheads="1"/>
            </p:cNvSpPr>
            <p:nvPr/>
          </p:nvSpPr>
          <p:spPr bwMode="auto">
            <a:xfrm>
              <a:off x="2699" y="3203"/>
              <a:ext cx="725" cy="27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zh-CN" sz="2000" b="1"/>
            </a:p>
          </p:txBody>
        </p:sp>
        <p:sp>
          <p:nvSpPr>
            <p:cNvPr id="335922" name="Line 20"/>
            <p:cNvSpPr>
              <a:spLocks noChangeShapeType="1"/>
            </p:cNvSpPr>
            <p:nvPr/>
          </p:nvSpPr>
          <p:spPr bwMode="auto">
            <a:xfrm>
              <a:off x="3075" y="3203"/>
              <a:ext cx="0"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35882" name="Line 21"/>
          <p:cNvSpPr>
            <a:spLocks noChangeShapeType="1"/>
          </p:cNvSpPr>
          <p:nvPr/>
        </p:nvSpPr>
        <p:spPr bwMode="auto">
          <a:xfrm flipH="1">
            <a:off x="3994894" y="5229052"/>
            <a:ext cx="863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5883" name="Line 22"/>
          <p:cNvSpPr>
            <a:spLocks noChangeShapeType="1"/>
          </p:cNvSpPr>
          <p:nvPr/>
        </p:nvSpPr>
        <p:spPr bwMode="auto">
          <a:xfrm flipV="1">
            <a:off x="3202732" y="4508327"/>
            <a:ext cx="576262" cy="5048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1175" name="Oval 23"/>
          <p:cNvSpPr>
            <a:spLocks noChangeArrowheads="1"/>
          </p:cNvSpPr>
          <p:nvPr/>
        </p:nvSpPr>
        <p:spPr bwMode="auto">
          <a:xfrm>
            <a:off x="4715619" y="5157614"/>
            <a:ext cx="144463" cy="144463"/>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335885" name="Text Box 24"/>
          <p:cNvSpPr txBox="1">
            <a:spLocks noChangeArrowheads="1"/>
          </p:cNvSpPr>
          <p:nvPr/>
        </p:nvSpPr>
        <p:spPr bwMode="auto">
          <a:xfrm>
            <a:off x="3966319" y="4292427"/>
            <a:ext cx="863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4      1</a:t>
            </a:r>
          </a:p>
        </p:txBody>
      </p:sp>
      <p:sp>
        <p:nvSpPr>
          <p:cNvPr id="335886" name="Text Box 25"/>
          <p:cNvSpPr txBox="1">
            <a:spLocks noChangeArrowheads="1"/>
          </p:cNvSpPr>
          <p:nvPr/>
        </p:nvSpPr>
        <p:spPr bwMode="auto">
          <a:xfrm>
            <a:off x="1939082" y="3603452"/>
            <a:ext cx="3603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sym typeface="Symbol" panose="05050102010706020507" pitchFamily="18" charset="2"/>
              </a:rPr>
              <a:t></a:t>
            </a:r>
          </a:p>
        </p:txBody>
      </p:sp>
      <p:grpSp>
        <p:nvGrpSpPr>
          <p:cNvPr id="335887" name="Group 26"/>
          <p:cNvGrpSpPr>
            <a:grpSpLocks/>
          </p:cNvGrpSpPr>
          <p:nvPr/>
        </p:nvGrpSpPr>
        <p:grpSpPr bwMode="auto">
          <a:xfrm>
            <a:off x="1907332" y="2565227"/>
            <a:ext cx="431800" cy="1008062"/>
            <a:chOff x="476" y="3113"/>
            <a:chExt cx="272" cy="635"/>
          </a:xfrm>
        </p:grpSpPr>
        <p:sp>
          <p:nvSpPr>
            <p:cNvPr id="335918" name="Rectangle 27"/>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4</a:t>
              </a:r>
            </a:p>
            <a:p>
              <a:pPr algn="ctr" eaLnBrk="1" hangingPunct="1">
                <a:lnSpc>
                  <a:spcPct val="120000"/>
                </a:lnSpc>
                <a:spcBef>
                  <a:spcPct val="0"/>
                </a:spcBef>
                <a:buFontTx/>
                <a:buNone/>
              </a:pPr>
              <a:r>
                <a:rPr kumimoji="0" lang="en-US" altLang="zh-CN" sz="1800" b="1"/>
                <a:t>3</a:t>
              </a:r>
            </a:p>
            <a:p>
              <a:pPr algn="ctr" eaLnBrk="1" hangingPunct="1">
                <a:lnSpc>
                  <a:spcPct val="120000"/>
                </a:lnSpc>
                <a:spcBef>
                  <a:spcPct val="0"/>
                </a:spcBef>
                <a:buFontTx/>
                <a:buNone/>
              </a:pPr>
              <a:r>
                <a:rPr kumimoji="0" lang="en-US" altLang="zh-CN" sz="1800" b="1"/>
                <a:t> </a:t>
              </a:r>
            </a:p>
          </p:txBody>
        </p:sp>
        <p:sp>
          <p:nvSpPr>
            <p:cNvPr id="335919" name="Line 28"/>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5920" name="Line 29"/>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35888" name="Group 30"/>
          <p:cNvGrpSpPr>
            <a:grpSpLocks/>
          </p:cNvGrpSpPr>
          <p:nvPr/>
        </p:nvGrpSpPr>
        <p:grpSpPr bwMode="auto">
          <a:xfrm>
            <a:off x="5018832" y="5040139"/>
            <a:ext cx="863600" cy="396875"/>
            <a:chOff x="2726" y="3203"/>
            <a:chExt cx="544" cy="250"/>
          </a:xfrm>
        </p:grpSpPr>
        <p:sp>
          <p:nvSpPr>
            <p:cNvPr id="335916" name="Text Box 31"/>
            <p:cNvSpPr txBox="1">
              <a:spLocks noChangeArrowheads="1"/>
            </p:cNvSpPr>
            <p:nvPr/>
          </p:nvSpPr>
          <p:spPr bwMode="auto">
            <a:xfrm>
              <a:off x="2726" y="3203"/>
              <a:ext cx="544" cy="25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3      1</a:t>
              </a:r>
            </a:p>
          </p:txBody>
        </p:sp>
        <p:sp>
          <p:nvSpPr>
            <p:cNvPr id="335917" name="Line 32"/>
            <p:cNvSpPr>
              <a:spLocks noChangeShapeType="1"/>
            </p:cNvSpPr>
            <p:nvPr/>
          </p:nvSpPr>
          <p:spPr bwMode="auto">
            <a:xfrm flipH="1">
              <a:off x="3001" y="3210"/>
              <a:ext cx="2" cy="23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35889" name="Text Box 33"/>
          <p:cNvSpPr txBox="1">
            <a:spLocks noChangeArrowheads="1"/>
          </p:cNvSpPr>
          <p:nvPr/>
        </p:nvSpPr>
        <p:spPr bwMode="auto">
          <a:xfrm>
            <a:off x="2518519" y="3606627"/>
            <a:ext cx="36036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sym typeface="Symbol" panose="05050102010706020507" pitchFamily="18" charset="2"/>
              </a:rPr>
              <a:t></a:t>
            </a:r>
          </a:p>
        </p:txBody>
      </p:sp>
      <p:grpSp>
        <p:nvGrpSpPr>
          <p:cNvPr id="335890" name="Group 34"/>
          <p:cNvGrpSpPr>
            <a:grpSpLocks/>
          </p:cNvGrpSpPr>
          <p:nvPr/>
        </p:nvGrpSpPr>
        <p:grpSpPr bwMode="auto">
          <a:xfrm>
            <a:off x="2482007" y="2565227"/>
            <a:ext cx="431800" cy="1008062"/>
            <a:chOff x="476" y="3113"/>
            <a:chExt cx="272" cy="635"/>
          </a:xfrm>
        </p:grpSpPr>
        <p:sp>
          <p:nvSpPr>
            <p:cNvPr id="335913" name="Rectangle 35"/>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4</a:t>
              </a:r>
            </a:p>
            <a:p>
              <a:pPr algn="ctr" eaLnBrk="1" hangingPunct="1">
                <a:lnSpc>
                  <a:spcPct val="120000"/>
                </a:lnSpc>
                <a:spcBef>
                  <a:spcPct val="0"/>
                </a:spcBef>
                <a:buFontTx/>
                <a:buNone/>
              </a:pPr>
              <a:r>
                <a:rPr kumimoji="0" lang="en-US" altLang="zh-CN" sz="1800" b="1"/>
                <a:t>3</a:t>
              </a:r>
            </a:p>
            <a:p>
              <a:pPr algn="ctr" eaLnBrk="1" hangingPunct="1">
                <a:lnSpc>
                  <a:spcPct val="120000"/>
                </a:lnSpc>
                <a:spcBef>
                  <a:spcPct val="0"/>
                </a:spcBef>
                <a:buFontTx/>
                <a:buNone/>
              </a:pPr>
              <a:r>
                <a:rPr kumimoji="0" lang="en-US" altLang="zh-CN" sz="1800" b="1"/>
                <a:t>2</a:t>
              </a:r>
            </a:p>
          </p:txBody>
        </p:sp>
        <p:sp>
          <p:nvSpPr>
            <p:cNvPr id="335914" name="Line 36"/>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5915" name="Line 37"/>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35891" name="Group 38"/>
          <p:cNvGrpSpPr>
            <a:grpSpLocks/>
          </p:cNvGrpSpPr>
          <p:nvPr/>
        </p:nvGrpSpPr>
        <p:grpSpPr bwMode="auto">
          <a:xfrm>
            <a:off x="3002707" y="5024264"/>
            <a:ext cx="863600" cy="396875"/>
            <a:chOff x="2726" y="3203"/>
            <a:chExt cx="544" cy="250"/>
          </a:xfrm>
        </p:grpSpPr>
        <p:sp>
          <p:nvSpPr>
            <p:cNvPr id="335911" name="Text Box 39"/>
            <p:cNvSpPr txBox="1">
              <a:spLocks noChangeArrowheads="1"/>
            </p:cNvSpPr>
            <p:nvPr/>
          </p:nvSpPr>
          <p:spPr bwMode="auto">
            <a:xfrm>
              <a:off x="2726" y="3203"/>
              <a:ext cx="544" cy="25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2      1</a:t>
              </a:r>
            </a:p>
          </p:txBody>
        </p:sp>
        <p:sp>
          <p:nvSpPr>
            <p:cNvPr id="335912" name="Line 40"/>
            <p:cNvSpPr>
              <a:spLocks noChangeShapeType="1"/>
            </p:cNvSpPr>
            <p:nvPr/>
          </p:nvSpPr>
          <p:spPr bwMode="auto">
            <a:xfrm flipH="1">
              <a:off x="3001" y="3210"/>
              <a:ext cx="2" cy="23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35892" name="Text Box 41"/>
          <p:cNvSpPr txBox="1">
            <a:spLocks noChangeArrowheads="1"/>
          </p:cNvSpPr>
          <p:nvPr/>
        </p:nvSpPr>
        <p:spPr bwMode="auto">
          <a:xfrm>
            <a:off x="3080494" y="3614564"/>
            <a:ext cx="3603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sym typeface="Symbol" panose="05050102010706020507" pitchFamily="18" charset="2"/>
              </a:rPr>
              <a:t></a:t>
            </a:r>
          </a:p>
        </p:txBody>
      </p:sp>
      <p:sp>
        <p:nvSpPr>
          <p:cNvPr id="335893" name="Text Box 42"/>
          <p:cNvSpPr txBox="1">
            <a:spLocks noChangeArrowheads="1"/>
          </p:cNvSpPr>
          <p:nvPr/>
        </p:nvSpPr>
        <p:spPr bwMode="auto">
          <a:xfrm>
            <a:off x="4426694" y="4292427"/>
            <a:ext cx="431800" cy="396875"/>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0</a:t>
            </a:r>
          </a:p>
        </p:txBody>
      </p:sp>
      <p:sp>
        <p:nvSpPr>
          <p:cNvPr id="335894" name="Text Box 43"/>
          <p:cNvSpPr txBox="1">
            <a:spLocks noChangeArrowheads="1"/>
          </p:cNvSpPr>
          <p:nvPr/>
        </p:nvSpPr>
        <p:spPr bwMode="auto">
          <a:xfrm>
            <a:off x="5514132" y="5021089"/>
            <a:ext cx="431800" cy="396875"/>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0</a:t>
            </a:r>
          </a:p>
        </p:txBody>
      </p:sp>
      <p:sp>
        <p:nvSpPr>
          <p:cNvPr id="335895" name="Text Box 44"/>
          <p:cNvSpPr txBox="1">
            <a:spLocks noChangeArrowheads="1"/>
          </p:cNvSpPr>
          <p:nvPr/>
        </p:nvSpPr>
        <p:spPr bwMode="auto">
          <a:xfrm>
            <a:off x="3490069" y="5013152"/>
            <a:ext cx="431800" cy="396875"/>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0</a:t>
            </a:r>
          </a:p>
        </p:txBody>
      </p:sp>
      <p:grpSp>
        <p:nvGrpSpPr>
          <p:cNvPr id="335896" name="Group 45"/>
          <p:cNvGrpSpPr>
            <a:grpSpLocks/>
          </p:cNvGrpSpPr>
          <p:nvPr/>
        </p:nvGrpSpPr>
        <p:grpSpPr bwMode="auto">
          <a:xfrm>
            <a:off x="3058269" y="2565227"/>
            <a:ext cx="431800" cy="1008062"/>
            <a:chOff x="476" y="3113"/>
            <a:chExt cx="272" cy="635"/>
          </a:xfrm>
        </p:grpSpPr>
        <p:sp>
          <p:nvSpPr>
            <p:cNvPr id="335908" name="Rectangle 46"/>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1</a:t>
              </a:r>
            </a:p>
            <a:p>
              <a:pPr algn="ctr" eaLnBrk="1" hangingPunct="1">
                <a:lnSpc>
                  <a:spcPct val="120000"/>
                </a:lnSpc>
                <a:spcBef>
                  <a:spcPct val="0"/>
                </a:spcBef>
                <a:buFontTx/>
                <a:buNone/>
              </a:pPr>
              <a:r>
                <a:rPr kumimoji="0" lang="en-US" altLang="zh-CN" sz="1800" b="1"/>
                <a:t>3</a:t>
              </a:r>
            </a:p>
            <a:p>
              <a:pPr algn="ctr" eaLnBrk="1" hangingPunct="1">
                <a:lnSpc>
                  <a:spcPct val="120000"/>
                </a:lnSpc>
                <a:spcBef>
                  <a:spcPct val="0"/>
                </a:spcBef>
                <a:buFontTx/>
                <a:buNone/>
              </a:pPr>
              <a:r>
                <a:rPr kumimoji="0" lang="en-US" altLang="zh-CN" sz="1800" b="1"/>
                <a:t>2</a:t>
              </a:r>
            </a:p>
          </p:txBody>
        </p:sp>
        <p:sp>
          <p:nvSpPr>
            <p:cNvPr id="335909" name="Line 47"/>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5910" name="Line 48"/>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35897" name="Group 49"/>
          <p:cNvGrpSpPr>
            <a:grpSpLocks/>
          </p:cNvGrpSpPr>
          <p:nvPr/>
        </p:nvGrpSpPr>
        <p:grpSpPr bwMode="auto">
          <a:xfrm>
            <a:off x="3939332" y="4292427"/>
            <a:ext cx="863600" cy="396875"/>
            <a:chOff x="2726" y="3203"/>
            <a:chExt cx="544" cy="250"/>
          </a:xfrm>
        </p:grpSpPr>
        <p:sp>
          <p:nvSpPr>
            <p:cNvPr id="335906" name="Text Box 50"/>
            <p:cNvSpPr txBox="1">
              <a:spLocks noChangeArrowheads="1"/>
            </p:cNvSpPr>
            <p:nvPr/>
          </p:nvSpPr>
          <p:spPr bwMode="auto">
            <a:xfrm>
              <a:off x="2726" y="3203"/>
              <a:ext cx="544" cy="25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1      1</a:t>
              </a:r>
            </a:p>
          </p:txBody>
        </p:sp>
        <p:sp>
          <p:nvSpPr>
            <p:cNvPr id="335907" name="Line 51"/>
            <p:cNvSpPr>
              <a:spLocks noChangeShapeType="1"/>
            </p:cNvSpPr>
            <p:nvPr/>
          </p:nvSpPr>
          <p:spPr bwMode="auto">
            <a:xfrm flipH="1">
              <a:off x="3001" y="3210"/>
              <a:ext cx="2" cy="23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61204" name="Text Box 52"/>
          <p:cNvSpPr txBox="1">
            <a:spLocks noChangeArrowheads="1"/>
          </p:cNvSpPr>
          <p:nvPr/>
        </p:nvSpPr>
        <p:spPr bwMode="auto">
          <a:xfrm>
            <a:off x="3656757" y="3612977"/>
            <a:ext cx="3603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sym typeface="Symbol" panose="05050102010706020507" pitchFamily="18" charset="2"/>
              </a:rPr>
              <a:t></a:t>
            </a:r>
          </a:p>
        </p:txBody>
      </p:sp>
      <p:grpSp>
        <p:nvGrpSpPr>
          <p:cNvPr id="561205" name="Group 53"/>
          <p:cNvGrpSpPr>
            <a:grpSpLocks/>
          </p:cNvGrpSpPr>
          <p:nvPr/>
        </p:nvGrpSpPr>
        <p:grpSpPr bwMode="auto">
          <a:xfrm>
            <a:off x="3634532" y="2565227"/>
            <a:ext cx="431800" cy="1008062"/>
            <a:chOff x="476" y="3113"/>
            <a:chExt cx="272" cy="635"/>
          </a:xfrm>
        </p:grpSpPr>
        <p:sp>
          <p:nvSpPr>
            <p:cNvPr id="335903" name="Rectangle 54"/>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1</a:t>
              </a:r>
            </a:p>
            <a:p>
              <a:pPr algn="ctr" eaLnBrk="1" hangingPunct="1">
                <a:lnSpc>
                  <a:spcPct val="120000"/>
                </a:lnSpc>
                <a:spcBef>
                  <a:spcPct val="0"/>
                </a:spcBef>
                <a:buFontTx/>
                <a:buNone/>
              </a:pPr>
              <a:r>
                <a:rPr kumimoji="0" lang="en-US" altLang="zh-CN" sz="1800" b="1"/>
                <a:t>4</a:t>
              </a:r>
            </a:p>
            <a:p>
              <a:pPr algn="ctr" eaLnBrk="1" hangingPunct="1">
                <a:lnSpc>
                  <a:spcPct val="120000"/>
                </a:lnSpc>
                <a:spcBef>
                  <a:spcPct val="0"/>
                </a:spcBef>
                <a:buFontTx/>
                <a:buNone/>
              </a:pPr>
              <a:r>
                <a:rPr kumimoji="0" lang="en-US" altLang="zh-CN" sz="1800" b="1"/>
                <a:t>2</a:t>
              </a:r>
            </a:p>
          </p:txBody>
        </p:sp>
        <p:sp>
          <p:nvSpPr>
            <p:cNvPr id="335904" name="Line 55"/>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5905" name="Line 56"/>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61209" name="Group 57"/>
          <p:cNvGrpSpPr>
            <a:grpSpLocks/>
          </p:cNvGrpSpPr>
          <p:nvPr/>
        </p:nvGrpSpPr>
        <p:grpSpPr bwMode="auto">
          <a:xfrm>
            <a:off x="5018832" y="5040139"/>
            <a:ext cx="863600" cy="396875"/>
            <a:chOff x="2726" y="3203"/>
            <a:chExt cx="544" cy="250"/>
          </a:xfrm>
        </p:grpSpPr>
        <p:sp>
          <p:nvSpPr>
            <p:cNvPr id="335901" name="Text Box 58"/>
            <p:cNvSpPr txBox="1">
              <a:spLocks noChangeArrowheads="1"/>
            </p:cNvSpPr>
            <p:nvPr/>
          </p:nvSpPr>
          <p:spPr bwMode="auto">
            <a:xfrm>
              <a:off x="2726" y="3203"/>
              <a:ext cx="544" cy="25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4      1</a:t>
              </a:r>
            </a:p>
          </p:txBody>
        </p:sp>
        <p:sp>
          <p:nvSpPr>
            <p:cNvPr id="335902" name="Line 59"/>
            <p:cNvSpPr>
              <a:spLocks noChangeShapeType="1"/>
            </p:cNvSpPr>
            <p:nvPr/>
          </p:nvSpPr>
          <p:spPr bwMode="auto">
            <a:xfrm flipH="1">
              <a:off x="3001" y="3210"/>
              <a:ext cx="2" cy="23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 name="Date Placeholder 2"/>
          <p:cNvSpPr>
            <a:spLocks noGrp="1"/>
          </p:cNvSpPr>
          <p:nvPr>
            <p:ph type="dt" sz="half" idx="10"/>
          </p:nvPr>
        </p:nvSpPr>
        <p:spPr/>
        <p:txBody>
          <a:bodyPr/>
          <a:lstStyle/>
          <a:p>
            <a:fld id="{BC719C17-827C-42EE-B38E-F84A0BD83BC7}" type="datetime1">
              <a:rPr lang="zh-CN" altLang="en-US" smtClean="0"/>
              <a:pPr/>
              <a:t>2018/8/3</a:t>
            </a:fld>
            <a:endParaRPr lang="zh-CN" altLang="en-US" dirty="0"/>
          </a:p>
        </p:txBody>
      </p:sp>
      <p:sp>
        <p:nvSpPr>
          <p:cNvPr id="4" name="Footer Placeholder 3"/>
          <p:cNvSpPr>
            <a:spLocks noGrp="1"/>
          </p:cNvSpPr>
          <p:nvPr>
            <p:ph type="ftr" sz="quarter" idx="11"/>
          </p:nvPr>
        </p:nvSpPr>
        <p:spPr/>
        <p:txBody>
          <a:bodyPr/>
          <a:lstStyle/>
          <a:p>
            <a:r>
              <a:rPr lang="en-US" altLang="zh-CN"/>
              <a:t>CH07 Memory Management</a:t>
            </a:r>
            <a:endParaRPr lang="zh-CN" altLang="en-US" dirty="0"/>
          </a:p>
        </p:txBody>
      </p:sp>
      <p:sp>
        <p:nvSpPr>
          <p:cNvPr id="64" name="Slide Number Placeholder 5"/>
          <p:cNvSpPr>
            <a:spLocks noGrp="1"/>
          </p:cNvSpPr>
          <p:nvPr>
            <p:ph type="sldNum" sz="quarter" idx="12"/>
          </p:nvPr>
        </p:nvSpPr>
        <p:spPr>
          <a:xfrm>
            <a:off x="6119832" y="6669360"/>
            <a:ext cx="3009936" cy="187200"/>
          </a:xfrm>
        </p:spPr>
        <p:txBody>
          <a:bodyPr/>
          <a:lstStyle/>
          <a:p>
            <a:r>
              <a:rPr lang="en-US" altLang="zh-CN" dirty="0"/>
              <a:t>124</a:t>
            </a:r>
            <a:endParaRPr lang="zh-CN" altLang="en-US" dirty="0"/>
          </a:p>
        </p:txBody>
      </p:sp>
    </p:spTree>
    <p:extLst>
      <p:ext uri="{BB962C8B-B14F-4D97-AF65-F5344CB8AC3E}">
        <p14:creationId xmlns:p14="http://schemas.microsoft.com/office/powerpoint/2010/main" val="25155267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56120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6120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6120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0" presetClass="path" presetSubtype="0" accel="50000" decel="50000" fill="hold" grpId="0" nodeType="clickEffect">
                                  <p:stCondLst>
                                    <p:cond delay="0"/>
                                  </p:stCondLst>
                                  <p:childTnLst>
                                    <p:animMotion origin="layout" path="M -8.33333E-7 -2.96159E-6 L -0.22049 -2.96159E-6 " pathEditMode="relative" ptsTypes="AA">
                                      <p:cBhvr>
                                        <p:cTn id="18" dur="1000" fill="hold"/>
                                        <p:tgtEl>
                                          <p:spTgt spid="56117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1175" grpId="0" animBg="1"/>
      <p:bldP spid="561204" grpId="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02" name="Rectangle 2"/>
          <p:cNvSpPr>
            <a:spLocks noGrp="1" noChangeArrowheads="1"/>
          </p:cNvSpPr>
          <p:nvPr>
            <p:ph type="title"/>
          </p:nvPr>
        </p:nvSpPr>
        <p:spPr/>
        <p:txBody>
          <a:bodyPr/>
          <a:lstStyle/>
          <a:p>
            <a:pPr>
              <a:defRPr/>
            </a:pPr>
            <a:r>
              <a:rPr lang="zh-CN" altLang="en-US" dirty="0"/>
              <a:t>时钟置换算法</a:t>
            </a:r>
            <a:endParaRPr lang="zh-CN" altLang="en-US" dirty="0">
              <a:ea typeface="黑体" panose="02010609060101010101" pitchFamily="49" charset="-122"/>
            </a:endParaRPr>
          </a:p>
        </p:txBody>
      </p:sp>
      <p:grpSp>
        <p:nvGrpSpPr>
          <p:cNvPr id="337925" name="Group 4"/>
          <p:cNvGrpSpPr>
            <a:grpSpLocks/>
          </p:cNvGrpSpPr>
          <p:nvPr/>
        </p:nvGrpSpPr>
        <p:grpSpPr bwMode="auto">
          <a:xfrm>
            <a:off x="1342182" y="2565227"/>
            <a:ext cx="431800" cy="1008062"/>
            <a:chOff x="476" y="3113"/>
            <a:chExt cx="272" cy="635"/>
          </a:xfrm>
        </p:grpSpPr>
        <p:sp>
          <p:nvSpPr>
            <p:cNvPr id="337986" name="Rectangle 5"/>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4</a:t>
              </a:r>
            </a:p>
            <a:p>
              <a:pPr algn="ctr" eaLnBrk="1" hangingPunct="1">
                <a:lnSpc>
                  <a:spcPct val="120000"/>
                </a:lnSpc>
                <a:spcBef>
                  <a:spcPct val="0"/>
                </a:spcBef>
                <a:buFontTx/>
                <a:buNone/>
              </a:pPr>
              <a:r>
                <a:rPr kumimoji="0" lang="en-US" altLang="zh-CN" sz="1800" b="1"/>
                <a:t> </a:t>
              </a:r>
            </a:p>
            <a:p>
              <a:pPr algn="ctr" eaLnBrk="1" hangingPunct="1">
                <a:lnSpc>
                  <a:spcPct val="120000"/>
                </a:lnSpc>
                <a:spcBef>
                  <a:spcPct val="0"/>
                </a:spcBef>
                <a:buFontTx/>
                <a:buNone/>
              </a:pPr>
              <a:r>
                <a:rPr kumimoji="0" lang="en-US" altLang="zh-CN" sz="1800" b="1"/>
                <a:t> </a:t>
              </a:r>
            </a:p>
          </p:txBody>
        </p:sp>
        <p:sp>
          <p:nvSpPr>
            <p:cNvPr id="337987" name="Line 6"/>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7988" name="Line 7"/>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37926" name="Text Box 8"/>
          <p:cNvSpPr txBox="1">
            <a:spLocks noChangeArrowheads="1"/>
          </p:cNvSpPr>
          <p:nvPr/>
        </p:nvSpPr>
        <p:spPr bwMode="auto">
          <a:xfrm>
            <a:off x="1259632" y="2204864"/>
            <a:ext cx="67691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2000" b="1"/>
              <a:t>  4       3       2       1       4       3       5       4       3       2       1       5</a:t>
            </a:r>
          </a:p>
        </p:txBody>
      </p:sp>
      <p:sp>
        <p:nvSpPr>
          <p:cNvPr id="337927" name="Text Box 9"/>
          <p:cNvSpPr txBox="1">
            <a:spLocks noChangeArrowheads="1"/>
          </p:cNvSpPr>
          <p:nvPr/>
        </p:nvSpPr>
        <p:spPr bwMode="auto">
          <a:xfrm>
            <a:off x="1386632" y="3597102"/>
            <a:ext cx="3603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sym typeface="Symbol" panose="05050102010706020507" pitchFamily="18" charset="2"/>
              </a:rPr>
              <a:t></a:t>
            </a:r>
          </a:p>
        </p:txBody>
      </p:sp>
      <p:grpSp>
        <p:nvGrpSpPr>
          <p:cNvPr id="337928" name="Group 10"/>
          <p:cNvGrpSpPr>
            <a:grpSpLocks/>
          </p:cNvGrpSpPr>
          <p:nvPr/>
        </p:nvGrpSpPr>
        <p:grpSpPr bwMode="auto">
          <a:xfrm>
            <a:off x="3778994" y="4292427"/>
            <a:ext cx="2232025" cy="1152525"/>
            <a:chOff x="2699" y="3158"/>
            <a:chExt cx="1406" cy="726"/>
          </a:xfrm>
        </p:grpSpPr>
        <p:grpSp>
          <p:nvGrpSpPr>
            <p:cNvPr id="337979" name="Group 11"/>
            <p:cNvGrpSpPr>
              <a:grpSpLocks/>
            </p:cNvGrpSpPr>
            <p:nvPr/>
          </p:nvGrpSpPr>
          <p:grpSpPr bwMode="auto">
            <a:xfrm>
              <a:off x="2699" y="3158"/>
              <a:ext cx="725" cy="272"/>
              <a:chOff x="2699" y="3203"/>
              <a:chExt cx="725" cy="272"/>
            </a:xfrm>
          </p:grpSpPr>
          <p:sp>
            <p:nvSpPr>
              <p:cNvPr id="337984" name="Rectangle 12"/>
              <p:cNvSpPr>
                <a:spLocks noChangeArrowheads="1"/>
              </p:cNvSpPr>
              <p:nvPr/>
            </p:nvSpPr>
            <p:spPr bwMode="auto">
              <a:xfrm>
                <a:off x="2699" y="3203"/>
                <a:ext cx="725" cy="27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zh-CN" sz="2000" b="1"/>
              </a:p>
            </p:txBody>
          </p:sp>
          <p:sp>
            <p:nvSpPr>
              <p:cNvPr id="337985" name="Line 13"/>
              <p:cNvSpPr>
                <a:spLocks noChangeShapeType="1"/>
              </p:cNvSpPr>
              <p:nvPr/>
            </p:nvSpPr>
            <p:spPr bwMode="auto">
              <a:xfrm>
                <a:off x="3075" y="3203"/>
                <a:ext cx="0"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37980" name="Group 14"/>
            <p:cNvGrpSpPr>
              <a:grpSpLocks/>
            </p:cNvGrpSpPr>
            <p:nvPr/>
          </p:nvGrpSpPr>
          <p:grpSpPr bwMode="auto">
            <a:xfrm>
              <a:off x="3380" y="3612"/>
              <a:ext cx="725" cy="272"/>
              <a:chOff x="2699" y="3203"/>
              <a:chExt cx="725" cy="272"/>
            </a:xfrm>
          </p:grpSpPr>
          <p:sp>
            <p:nvSpPr>
              <p:cNvPr id="337982" name="Rectangle 15"/>
              <p:cNvSpPr>
                <a:spLocks noChangeArrowheads="1"/>
              </p:cNvSpPr>
              <p:nvPr/>
            </p:nvSpPr>
            <p:spPr bwMode="auto">
              <a:xfrm>
                <a:off x="2699" y="3203"/>
                <a:ext cx="725" cy="27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zh-CN" sz="2000" b="1"/>
              </a:p>
            </p:txBody>
          </p:sp>
          <p:sp>
            <p:nvSpPr>
              <p:cNvPr id="337983" name="Line 16"/>
              <p:cNvSpPr>
                <a:spLocks noChangeShapeType="1"/>
              </p:cNvSpPr>
              <p:nvPr/>
            </p:nvSpPr>
            <p:spPr bwMode="auto">
              <a:xfrm>
                <a:off x="3075" y="3203"/>
                <a:ext cx="0"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37981" name="Line 17"/>
            <p:cNvSpPr>
              <a:spLocks noChangeShapeType="1"/>
            </p:cNvSpPr>
            <p:nvPr/>
          </p:nvSpPr>
          <p:spPr bwMode="auto">
            <a:xfrm>
              <a:off x="3424" y="3294"/>
              <a:ext cx="318" cy="31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37929" name="Group 18"/>
          <p:cNvGrpSpPr>
            <a:grpSpLocks/>
          </p:cNvGrpSpPr>
          <p:nvPr/>
        </p:nvGrpSpPr>
        <p:grpSpPr bwMode="auto">
          <a:xfrm>
            <a:off x="2842369" y="5013152"/>
            <a:ext cx="1150938" cy="431800"/>
            <a:chOff x="2699" y="3203"/>
            <a:chExt cx="725" cy="272"/>
          </a:xfrm>
        </p:grpSpPr>
        <p:sp>
          <p:nvSpPr>
            <p:cNvPr id="337977" name="Rectangle 19"/>
            <p:cNvSpPr>
              <a:spLocks noChangeArrowheads="1"/>
            </p:cNvSpPr>
            <p:nvPr/>
          </p:nvSpPr>
          <p:spPr bwMode="auto">
            <a:xfrm>
              <a:off x="2699" y="3203"/>
              <a:ext cx="725" cy="27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zh-CN" sz="2000" b="1"/>
            </a:p>
          </p:txBody>
        </p:sp>
        <p:sp>
          <p:nvSpPr>
            <p:cNvPr id="337978" name="Line 20"/>
            <p:cNvSpPr>
              <a:spLocks noChangeShapeType="1"/>
            </p:cNvSpPr>
            <p:nvPr/>
          </p:nvSpPr>
          <p:spPr bwMode="auto">
            <a:xfrm>
              <a:off x="3075" y="3203"/>
              <a:ext cx="0"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37930" name="Line 21"/>
          <p:cNvSpPr>
            <a:spLocks noChangeShapeType="1"/>
          </p:cNvSpPr>
          <p:nvPr/>
        </p:nvSpPr>
        <p:spPr bwMode="auto">
          <a:xfrm flipH="1">
            <a:off x="3994894" y="5229052"/>
            <a:ext cx="863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7931" name="Line 22"/>
          <p:cNvSpPr>
            <a:spLocks noChangeShapeType="1"/>
          </p:cNvSpPr>
          <p:nvPr/>
        </p:nvSpPr>
        <p:spPr bwMode="auto">
          <a:xfrm flipV="1">
            <a:off x="3202732" y="4508327"/>
            <a:ext cx="576262" cy="5048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223" name="Oval 23"/>
          <p:cNvSpPr>
            <a:spLocks noChangeArrowheads="1"/>
          </p:cNvSpPr>
          <p:nvPr/>
        </p:nvSpPr>
        <p:spPr bwMode="auto">
          <a:xfrm>
            <a:off x="2697907" y="5157614"/>
            <a:ext cx="144462" cy="144463"/>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337933" name="Text Box 24"/>
          <p:cNvSpPr txBox="1">
            <a:spLocks noChangeArrowheads="1"/>
          </p:cNvSpPr>
          <p:nvPr/>
        </p:nvSpPr>
        <p:spPr bwMode="auto">
          <a:xfrm>
            <a:off x="3966319" y="4292427"/>
            <a:ext cx="863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4      1</a:t>
            </a:r>
          </a:p>
        </p:txBody>
      </p:sp>
      <p:sp>
        <p:nvSpPr>
          <p:cNvPr id="337934" name="Text Box 25"/>
          <p:cNvSpPr txBox="1">
            <a:spLocks noChangeArrowheads="1"/>
          </p:cNvSpPr>
          <p:nvPr/>
        </p:nvSpPr>
        <p:spPr bwMode="auto">
          <a:xfrm>
            <a:off x="1939082" y="3603452"/>
            <a:ext cx="3603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sym typeface="Symbol" panose="05050102010706020507" pitchFamily="18" charset="2"/>
              </a:rPr>
              <a:t></a:t>
            </a:r>
          </a:p>
        </p:txBody>
      </p:sp>
      <p:grpSp>
        <p:nvGrpSpPr>
          <p:cNvPr id="337935" name="Group 26"/>
          <p:cNvGrpSpPr>
            <a:grpSpLocks/>
          </p:cNvGrpSpPr>
          <p:nvPr/>
        </p:nvGrpSpPr>
        <p:grpSpPr bwMode="auto">
          <a:xfrm>
            <a:off x="1907332" y="2565227"/>
            <a:ext cx="431800" cy="1008062"/>
            <a:chOff x="476" y="3113"/>
            <a:chExt cx="272" cy="635"/>
          </a:xfrm>
        </p:grpSpPr>
        <p:sp>
          <p:nvSpPr>
            <p:cNvPr id="337974" name="Rectangle 27"/>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4</a:t>
              </a:r>
            </a:p>
            <a:p>
              <a:pPr algn="ctr" eaLnBrk="1" hangingPunct="1">
                <a:lnSpc>
                  <a:spcPct val="120000"/>
                </a:lnSpc>
                <a:spcBef>
                  <a:spcPct val="0"/>
                </a:spcBef>
                <a:buFontTx/>
                <a:buNone/>
              </a:pPr>
              <a:r>
                <a:rPr kumimoji="0" lang="en-US" altLang="zh-CN" sz="1800" b="1"/>
                <a:t>3</a:t>
              </a:r>
            </a:p>
            <a:p>
              <a:pPr algn="ctr" eaLnBrk="1" hangingPunct="1">
                <a:lnSpc>
                  <a:spcPct val="120000"/>
                </a:lnSpc>
                <a:spcBef>
                  <a:spcPct val="0"/>
                </a:spcBef>
                <a:buFontTx/>
                <a:buNone/>
              </a:pPr>
              <a:r>
                <a:rPr kumimoji="0" lang="en-US" altLang="zh-CN" sz="1800" b="1"/>
                <a:t> </a:t>
              </a:r>
            </a:p>
          </p:txBody>
        </p:sp>
        <p:sp>
          <p:nvSpPr>
            <p:cNvPr id="337975" name="Line 28"/>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7976" name="Line 29"/>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37936" name="Group 30"/>
          <p:cNvGrpSpPr>
            <a:grpSpLocks/>
          </p:cNvGrpSpPr>
          <p:nvPr/>
        </p:nvGrpSpPr>
        <p:grpSpPr bwMode="auto">
          <a:xfrm>
            <a:off x="5018832" y="5040139"/>
            <a:ext cx="863600" cy="396875"/>
            <a:chOff x="2726" y="3203"/>
            <a:chExt cx="544" cy="250"/>
          </a:xfrm>
        </p:grpSpPr>
        <p:sp>
          <p:nvSpPr>
            <p:cNvPr id="337972" name="Text Box 31"/>
            <p:cNvSpPr txBox="1">
              <a:spLocks noChangeArrowheads="1"/>
            </p:cNvSpPr>
            <p:nvPr/>
          </p:nvSpPr>
          <p:spPr bwMode="auto">
            <a:xfrm>
              <a:off x="2726" y="3203"/>
              <a:ext cx="544" cy="25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3      1</a:t>
              </a:r>
            </a:p>
          </p:txBody>
        </p:sp>
        <p:sp>
          <p:nvSpPr>
            <p:cNvPr id="337973" name="Line 32"/>
            <p:cNvSpPr>
              <a:spLocks noChangeShapeType="1"/>
            </p:cNvSpPr>
            <p:nvPr/>
          </p:nvSpPr>
          <p:spPr bwMode="auto">
            <a:xfrm flipH="1">
              <a:off x="3001" y="3210"/>
              <a:ext cx="2" cy="23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37937" name="Text Box 33"/>
          <p:cNvSpPr txBox="1">
            <a:spLocks noChangeArrowheads="1"/>
          </p:cNvSpPr>
          <p:nvPr/>
        </p:nvSpPr>
        <p:spPr bwMode="auto">
          <a:xfrm>
            <a:off x="2518519" y="3606627"/>
            <a:ext cx="36036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sym typeface="Symbol" panose="05050102010706020507" pitchFamily="18" charset="2"/>
              </a:rPr>
              <a:t></a:t>
            </a:r>
          </a:p>
        </p:txBody>
      </p:sp>
      <p:grpSp>
        <p:nvGrpSpPr>
          <p:cNvPr id="337938" name="Group 34"/>
          <p:cNvGrpSpPr>
            <a:grpSpLocks/>
          </p:cNvGrpSpPr>
          <p:nvPr/>
        </p:nvGrpSpPr>
        <p:grpSpPr bwMode="auto">
          <a:xfrm>
            <a:off x="2482007" y="2565227"/>
            <a:ext cx="431800" cy="1008062"/>
            <a:chOff x="476" y="3113"/>
            <a:chExt cx="272" cy="635"/>
          </a:xfrm>
        </p:grpSpPr>
        <p:sp>
          <p:nvSpPr>
            <p:cNvPr id="337969" name="Rectangle 35"/>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4</a:t>
              </a:r>
            </a:p>
            <a:p>
              <a:pPr algn="ctr" eaLnBrk="1" hangingPunct="1">
                <a:lnSpc>
                  <a:spcPct val="120000"/>
                </a:lnSpc>
                <a:spcBef>
                  <a:spcPct val="0"/>
                </a:spcBef>
                <a:buFontTx/>
                <a:buNone/>
              </a:pPr>
              <a:r>
                <a:rPr kumimoji="0" lang="en-US" altLang="zh-CN" sz="1800" b="1"/>
                <a:t>3</a:t>
              </a:r>
            </a:p>
            <a:p>
              <a:pPr algn="ctr" eaLnBrk="1" hangingPunct="1">
                <a:lnSpc>
                  <a:spcPct val="120000"/>
                </a:lnSpc>
                <a:spcBef>
                  <a:spcPct val="0"/>
                </a:spcBef>
                <a:buFontTx/>
                <a:buNone/>
              </a:pPr>
              <a:r>
                <a:rPr kumimoji="0" lang="en-US" altLang="zh-CN" sz="1800" b="1"/>
                <a:t>2</a:t>
              </a:r>
            </a:p>
          </p:txBody>
        </p:sp>
        <p:sp>
          <p:nvSpPr>
            <p:cNvPr id="337970" name="Line 36"/>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7971" name="Line 37"/>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37939" name="Group 38"/>
          <p:cNvGrpSpPr>
            <a:grpSpLocks/>
          </p:cNvGrpSpPr>
          <p:nvPr/>
        </p:nvGrpSpPr>
        <p:grpSpPr bwMode="auto">
          <a:xfrm>
            <a:off x="3002707" y="5024264"/>
            <a:ext cx="863600" cy="396875"/>
            <a:chOff x="2726" y="3203"/>
            <a:chExt cx="544" cy="250"/>
          </a:xfrm>
        </p:grpSpPr>
        <p:sp>
          <p:nvSpPr>
            <p:cNvPr id="337967" name="Text Box 39"/>
            <p:cNvSpPr txBox="1">
              <a:spLocks noChangeArrowheads="1"/>
            </p:cNvSpPr>
            <p:nvPr/>
          </p:nvSpPr>
          <p:spPr bwMode="auto">
            <a:xfrm>
              <a:off x="2726" y="3203"/>
              <a:ext cx="544" cy="25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2      1</a:t>
              </a:r>
            </a:p>
          </p:txBody>
        </p:sp>
        <p:sp>
          <p:nvSpPr>
            <p:cNvPr id="337968" name="Line 40"/>
            <p:cNvSpPr>
              <a:spLocks noChangeShapeType="1"/>
            </p:cNvSpPr>
            <p:nvPr/>
          </p:nvSpPr>
          <p:spPr bwMode="auto">
            <a:xfrm flipH="1">
              <a:off x="3001" y="3210"/>
              <a:ext cx="2" cy="23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37940" name="Text Box 41"/>
          <p:cNvSpPr txBox="1">
            <a:spLocks noChangeArrowheads="1"/>
          </p:cNvSpPr>
          <p:nvPr/>
        </p:nvSpPr>
        <p:spPr bwMode="auto">
          <a:xfrm>
            <a:off x="3080494" y="3614564"/>
            <a:ext cx="3603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sym typeface="Symbol" panose="05050102010706020507" pitchFamily="18" charset="2"/>
              </a:rPr>
              <a:t></a:t>
            </a:r>
          </a:p>
        </p:txBody>
      </p:sp>
      <p:sp>
        <p:nvSpPr>
          <p:cNvPr id="337941" name="Text Box 42"/>
          <p:cNvSpPr txBox="1">
            <a:spLocks noChangeArrowheads="1"/>
          </p:cNvSpPr>
          <p:nvPr/>
        </p:nvSpPr>
        <p:spPr bwMode="auto">
          <a:xfrm>
            <a:off x="4426694" y="4292427"/>
            <a:ext cx="431800" cy="396875"/>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0</a:t>
            </a:r>
          </a:p>
        </p:txBody>
      </p:sp>
      <p:sp>
        <p:nvSpPr>
          <p:cNvPr id="337942" name="Text Box 43"/>
          <p:cNvSpPr txBox="1">
            <a:spLocks noChangeArrowheads="1"/>
          </p:cNvSpPr>
          <p:nvPr/>
        </p:nvSpPr>
        <p:spPr bwMode="auto">
          <a:xfrm>
            <a:off x="5514132" y="5021089"/>
            <a:ext cx="431800" cy="396875"/>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0</a:t>
            </a:r>
          </a:p>
        </p:txBody>
      </p:sp>
      <p:sp>
        <p:nvSpPr>
          <p:cNvPr id="337943" name="Text Box 44"/>
          <p:cNvSpPr txBox="1">
            <a:spLocks noChangeArrowheads="1"/>
          </p:cNvSpPr>
          <p:nvPr/>
        </p:nvSpPr>
        <p:spPr bwMode="auto">
          <a:xfrm>
            <a:off x="3490069" y="5013152"/>
            <a:ext cx="431800" cy="396875"/>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0</a:t>
            </a:r>
          </a:p>
        </p:txBody>
      </p:sp>
      <p:grpSp>
        <p:nvGrpSpPr>
          <p:cNvPr id="337944" name="Group 45"/>
          <p:cNvGrpSpPr>
            <a:grpSpLocks/>
          </p:cNvGrpSpPr>
          <p:nvPr/>
        </p:nvGrpSpPr>
        <p:grpSpPr bwMode="auto">
          <a:xfrm>
            <a:off x="3058269" y="2565227"/>
            <a:ext cx="431800" cy="1008062"/>
            <a:chOff x="476" y="3113"/>
            <a:chExt cx="272" cy="635"/>
          </a:xfrm>
        </p:grpSpPr>
        <p:sp>
          <p:nvSpPr>
            <p:cNvPr id="337964" name="Rectangle 46"/>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1</a:t>
              </a:r>
            </a:p>
            <a:p>
              <a:pPr algn="ctr" eaLnBrk="1" hangingPunct="1">
                <a:lnSpc>
                  <a:spcPct val="120000"/>
                </a:lnSpc>
                <a:spcBef>
                  <a:spcPct val="0"/>
                </a:spcBef>
                <a:buFontTx/>
                <a:buNone/>
              </a:pPr>
              <a:r>
                <a:rPr kumimoji="0" lang="en-US" altLang="zh-CN" sz="1800" b="1"/>
                <a:t>3</a:t>
              </a:r>
            </a:p>
            <a:p>
              <a:pPr algn="ctr" eaLnBrk="1" hangingPunct="1">
                <a:lnSpc>
                  <a:spcPct val="120000"/>
                </a:lnSpc>
                <a:spcBef>
                  <a:spcPct val="0"/>
                </a:spcBef>
                <a:buFontTx/>
                <a:buNone/>
              </a:pPr>
              <a:r>
                <a:rPr kumimoji="0" lang="en-US" altLang="zh-CN" sz="1800" b="1"/>
                <a:t>2</a:t>
              </a:r>
            </a:p>
          </p:txBody>
        </p:sp>
        <p:sp>
          <p:nvSpPr>
            <p:cNvPr id="337965" name="Line 47"/>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7966" name="Line 48"/>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37945" name="Group 49"/>
          <p:cNvGrpSpPr>
            <a:grpSpLocks/>
          </p:cNvGrpSpPr>
          <p:nvPr/>
        </p:nvGrpSpPr>
        <p:grpSpPr bwMode="auto">
          <a:xfrm>
            <a:off x="3939332" y="4292427"/>
            <a:ext cx="863600" cy="396875"/>
            <a:chOff x="2726" y="3203"/>
            <a:chExt cx="544" cy="250"/>
          </a:xfrm>
        </p:grpSpPr>
        <p:sp>
          <p:nvSpPr>
            <p:cNvPr id="337962" name="Text Box 50"/>
            <p:cNvSpPr txBox="1">
              <a:spLocks noChangeArrowheads="1"/>
            </p:cNvSpPr>
            <p:nvPr/>
          </p:nvSpPr>
          <p:spPr bwMode="auto">
            <a:xfrm>
              <a:off x="2726" y="3203"/>
              <a:ext cx="544" cy="25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1      1</a:t>
              </a:r>
            </a:p>
          </p:txBody>
        </p:sp>
        <p:sp>
          <p:nvSpPr>
            <p:cNvPr id="337963" name="Line 51"/>
            <p:cNvSpPr>
              <a:spLocks noChangeShapeType="1"/>
            </p:cNvSpPr>
            <p:nvPr/>
          </p:nvSpPr>
          <p:spPr bwMode="auto">
            <a:xfrm flipH="1">
              <a:off x="3001" y="3210"/>
              <a:ext cx="2" cy="23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37946" name="Text Box 52"/>
          <p:cNvSpPr txBox="1">
            <a:spLocks noChangeArrowheads="1"/>
          </p:cNvSpPr>
          <p:nvPr/>
        </p:nvSpPr>
        <p:spPr bwMode="auto">
          <a:xfrm>
            <a:off x="3656757" y="3612977"/>
            <a:ext cx="3603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sym typeface="Symbol" panose="05050102010706020507" pitchFamily="18" charset="2"/>
              </a:rPr>
              <a:t></a:t>
            </a:r>
          </a:p>
        </p:txBody>
      </p:sp>
      <p:grpSp>
        <p:nvGrpSpPr>
          <p:cNvPr id="337947" name="Group 53"/>
          <p:cNvGrpSpPr>
            <a:grpSpLocks/>
          </p:cNvGrpSpPr>
          <p:nvPr/>
        </p:nvGrpSpPr>
        <p:grpSpPr bwMode="auto">
          <a:xfrm>
            <a:off x="3634532" y="2565227"/>
            <a:ext cx="431800" cy="1008062"/>
            <a:chOff x="476" y="3113"/>
            <a:chExt cx="272" cy="635"/>
          </a:xfrm>
        </p:grpSpPr>
        <p:sp>
          <p:nvSpPr>
            <p:cNvPr id="337959" name="Rectangle 54"/>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1</a:t>
              </a:r>
            </a:p>
            <a:p>
              <a:pPr algn="ctr" eaLnBrk="1" hangingPunct="1">
                <a:lnSpc>
                  <a:spcPct val="120000"/>
                </a:lnSpc>
                <a:spcBef>
                  <a:spcPct val="0"/>
                </a:spcBef>
                <a:buFontTx/>
                <a:buNone/>
              </a:pPr>
              <a:r>
                <a:rPr kumimoji="0" lang="en-US" altLang="zh-CN" sz="1800" b="1"/>
                <a:t>4</a:t>
              </a:r>
            </a:p>
            <a:p>
              <a:pPr algn="ctr" eaLnBrk="1" hangingPunct="1">
                <a:lnSpc>
                  <a:spcPct val="120000"/>
                </a:lnSpc>
                <a:spcBef>
                  <a:spcPct val="0"/>
                </a:spcBef>
                <a:buFontTx/>
                <a:buNone/>
              </a:pPr>
              <a:r>
                <a:rPr kumimoji="0" lang="en-US" altLang="zh-CN" sz="1800" b="1"/>
                <a:t>2</a:t>
              </a:r>
            </a:p>
          </p:txBody>
        </p:sp>
        <p:sp>
          <p:nvSpPr>
            <p:cNvPr id="337960" name="Line 55"/>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7961" name="Line 56"/>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37948" name="Group 57"/>
          <p:cNvGrpSpPr>
            <a:grpSpLocks/>
          </p:cNvGrpSpPr>
          <p:nvPr/>
        </p:nvGrpSpPr>
        <p:grpSpPr bwMode="auto">
          <a:xfrm>
            <a:off x="5018832" y="5040139"/>
            <a:ext cx="863600" cy="396875"/>
            <a:chOff x="2726" y="3203"/>
            <a:chExt cx="544" cy="250"/>
          </a:xfrm>
        </p:grpSpPr>
        <p:sp>
          <p:nvSpPr>
            <p:cNvPr id="337957" name="Text Box 58"/>
            <p:cNvSpPr txBox="1">
              <a:spLocks noChangeArrowheads="1"/>
            </p:cNvSpPr>
            <p:nvPr/>
          </p:nvSpPr>
          <p:spPr bwMode="auto">
            <a:xfrm>
              <a:off x="2726" y="3203"/>
              <a:ext cx="544" cy="25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4      1</a:t>
              </a:r>
            </a:p>
          </p:txBody>
        </p:sp>
        <p:sp>
          <p:nvSpPr>
            <p:cNvPr id="337958" name="Line 59"/>
            <p:cNvSpPr>
              <a:spLocks noChangeShapeType="1"/>
            </p:cNvSpPr>
            <p:nvPr/>
          </p:nvSpPr>
          <p:spPr bwMode="auto">
            <a:xfrm flipH="1">
              <a:off x="3001" y="3210"/>
              <a:ext cx="2" cy="23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63260" name="Text Box 60"/>
          <p:cNvSpPr txBox="1">
            <a:spLocks noChangeArrowheads="1"/>
          </p:cNvSpPr>
          <p:nvPr/>
        </p:nvSpPr>
        <p:spPr bwMode="auto">
          <a:xfrm>
            <a:off x="4233019" y="3589164"/>
            <a:ext cx="3603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sym typeface="Symbol" panose="05050102010706020507" pitchFamily="18" charset="2"/>
              </a:rPr>
              <a:t></a:t>
            </a:r>
          </a:p>
        </p:txBody>
      </p:sp>
      <p:grpSp>
        <p:nvGrpSpPr>
          <p:cNvPr id="563261" name="Group 61"/>
          <p:cNvGrpSpPr>
            <a:grpSpLocks/>
          </p:cNvGrpSpPr>
          <p:nvPr/>
        </p:nvGrpSpPr>
        <p:grpSpPr bwMode="auto">
          <a:xfrm>
            <a:off x="4194919" y="2565227"/>
            <a:ext cx="431800" cy="1008062"/>
            <a:chOff x="476" y="3113"/>
            <a:chExt cx="272" cy="635"/>
          </a:xfrm>
        </p:grpSpPr>
        <p:sp>
          <p:nvSpPr>
            <p:cNvPr id="337954" name="Rectangle 62"/>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1</a:t>
              </a:r>
            </a:p>
            <a:p>
              <a:pPr algn="ctr" eaLnBrk="1" hangingPunct="1">
                <a:lnSpc>
                  <a:spcPct val="120000"/>
                </a:lnSpc>
                <a:spcBef>
                  <a:spcPct val="0"/>
                </a:spcBef>
                <a:buFontTx/>
                <a:buNone/>
              </a:pPr>
              <a:r>
                <a:rPr kumimoji="0" lang="en-US" altLang="zh-CN" sz="1800" b="1"/>
                <a:t>4</a:t>
              </a:r>
            </a:p>
            <a:p>
              <a:pPr algn="ctr" eaLnBrk="1" hangingPunct="1">
                <a:lnSpc>
                  <a:spcPct val="120000"/>
                </a:lnSpc>
                <a:spcBef>
                  <a:spcPct val="0"/>
                </a:spcBef>
                <a:buFontTx/>
                <a:buNone/>
              </a:pPr>
              <a:r>
                <a:rPr kumimoji="0" lang="en-US" altLang="zh-CN" sz="1800" b="1"/>
                <a:t>3</a:t>
              </a:r>
            </a:p>
          </p:txBody>
        </p:sp>
        <p:sp>
          <p:nvSpPr>
            <p:cNvPr id="337955" name="Line 63"/>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7956" name="Line 64"/>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63265" name="Group 65"/>
          <p:cNvGrpSpPr>
            <a:grpSpLocks/>
          </p:cNvGrpSpPr>
          <p:nvPr/>
        </p:nvGrpSpPr>
        <p:grpSpPr bwMode="auto">
          <a:xfrm>
            <a:off x="3002707" y="5032202"/>
            <a:ext cx="863600" cy="396875"/>
            <a:chOff x="2726" y="3203"/>
            <a:chExt cx="544" cy="250"/>
          </a:xfrm>
        </p:grpSpPr>
        <p:sp>
          <p:nvSpPr>
            <p:cNvPr id="337952" name="Text Box 66"/>
            <p:cNvSpPr txBox="1">
              <a:spLocks noChangeArrowheads="1"/>
            </p:cNvSpPr>
            <p:nvPr/>
          </p:nvSpPr>
          <p:spPr bwMode="auto">
            <a:xfrm>
              <a:off x="2726" y="3203"/>
              <a:ext cx="544" cy="25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3      1</a:t>
              </a:r>
            </a:p>
          </p:txBody>
        </p:sp>
        <p:sp>
          <p:nvSpPr>
            <p:cNvPr id="337953" name="Line 67"/>
            <p:cNvSpPr>
              <a:spLocks noChangeShapeType="1"/>
            </p:cNvSpPr>
            <p:nvPr/>
          </p:nvSpPr>
          <p:spPr bwMode="auto">
            <a:xfrm flipH="1">
              <a:off x="3001" y="3210"/>
              <a:ext cx="2" cy="23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 name="Date Placeholder 2"/>
          <p:cNvSpPr>
            <a:spLocks noGrp="1"/>
          </p:cNvSpPr>
          <p:nvPr>
            <p:ph type="dt" sz="half" idx="10"/>
          </p:nvPr>
        </p:nvSpPr>
        <p:spPr/>
        <p:txBody>
          <a:bodyPr/>
          <a:lstStyle/>
          <a:p>
            <a:fld id="{C413B3D0-7AD6-4ED3-B96A-C0ACC6323F6B}" type="datetime1">
              <a:rPr lang="zh-CN" altLang="en-US" smtClean="0"/>
              <a:pPr/>
              <a:t>2018/8/3</a:t>
            </a:fld>
            <a:endParaRPr lang="zh-CN" altLang="en-US" dirty="0"/>
          </a:p>
        </p:txBody>
      </p:sp>
      <p:sp>
        <p:nvSpPr>
          <p:cNvPr id="4" name="Footer Placeholder 3"/>
          <p:cNvSpPr>
            <a:spLocks noGrp="1"/>
          </p:cNvSpPr>
          <p:nvPr>
            <p:ph type="ftr" sz="quarter" idx="11"/>
          </p:nvPr>
        </p:nvSpPr>
        <p:spPr/>
        <p:txBody>
          <a:bodyPr/>
          <a:lstStyle/>
          <a:p>
            <a:r>
              <a:rPr lang="en-US" altLang="zh-CN"/>
              <a:t>CH07 Memory Management</a:t>
            </a:r>
            <a:endParaRPr lang="zh-CN" altLang="en-US" dirty="0"/>
          </a:p>
        </p:txBody>
      </p:sp>
      <p:sp>
        <p:nvSpPr>
          <p:cNvPr id="72" name="Slide Number Placeholder 5"/>
          <p:cNvSpPr>
            <a:spLocks noGrp="1"/>
          </p:cNvSpPr>
          <p:nvPr>
            <p:ph type="sldNum" sz="quarter" idx="12"/>
          </p:nvPr>
        </p:nvSpPr>
        <p:spPr>
          <a:xfrm>
            <a:off x="6119832" y="6669360"/>
            <a:ext cx="3009936" cy="187200"/>
          </a:xfrm>
        </p:spPr>
        <p:txBody>
          <a:bodyPr/>
          <a:lstStyle/>
          <a:p>
            <a:r>
              <a:rPr lang="en-US" altLang="zh-CN" dirty="0"/>
              <a:t>125</a:t>
            </a:r>
            <a:endParaRPr lang="zh-CN" altLang="en-US" dirty="0"/>
          </a:p>
        </p:txBody>
      </p:sp>
    </p:spTree>
    <p:extLst>
      <p:ext uri="{BB962C8B-B14F-4D97-AF65-F5344CB8AC3E}">
        <p14:creationId xmlns:p14="http://schemas.microsoft.com/office/powerpoint/2010/main" val="22166109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56326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6326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6326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0" presetClass="path" presetSubtype="0" accel="50000" decel="50000" fill="hold" grpId="0" nodeType="clickEffect">
                                  <p:stCondLst>
                                    <p:cond delay="0"/>
                                  </p:stCondLst>
                                  <p:childTnLst>
                                    <p:animMotion origin="layout" path="M 0.00017 -2.96159E-6 L 0.10729 -0.10527 " pathEditMode="relative" ptsTypes="AA">
                                      <p:cBhvr>
                                        <p:cTn id="18" dur="1000" fill="hold"/>
                                        <p:tgtEl>
                                          <p:spTgt spid="563223"/>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23" grpId="0" animBg="1"/>
      <p:bldP spid="563260" grpId="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5250" name="Rectangle 2"/>
          <p:cNvSpPr>
            <a:spLocks noGrp="1" noChangeArrowheads="1"/>
          </p:cNvSpPr>
          <p:nvPr>
            <p:ph type="title"/>
          </p:nvPr>
        </p:nvSpPr>
        <p:spPr/>
        <p:txBody>
          <a:bodyPr/>
          <a:lstStyle/>
          <a:p>
            <a:pPr>
              <a:defRPr/>
            </a:pPr>
            <a:r>
              <a:rPr lang="zh-CN" altLang="en-US" dirty="0"/>
              <a:t>时钟置换算法</a:t>
            </a:r>
            <a:endParaRPr lang="zh-CN" altLang="en-US" dirty="0">
              <a:ea typeface="黑体" panose="02010609060101010101" pitchFamily="49" charset="-122"/>
            </a:endParaRPr>
          </a:p>
        </p:txBody>
      </p:sp>
      <p:grpSp>
        <p:nvGrpSpPr>
          <p:cNvPr id="339973" name="Group 4"/>
          <p:cNvGrpSpPr>
            <a:grpSpLocks/>
          </p:cNvGrpSpPr>
          <p:nvPr/>
        </p:nvGrpSpPr>
        <p:grpSpPr bwMode="auto">
          <a:xfrm>
            <a:off x="1342182" y="2565227"/>
            <a:ext cx="431800" cy="1008062"/>
            <a:chOff x="476" y="3113"/>
            <a:chExt cx="272" cy="635"/>
          </a:xfrm>
        </p:grpSpPr>
        <p:sp>
          <p:nvSpPr>
            <p:cNvPr id="340045" name="Rectangle 5"/>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4</a:t>
              </a:r>
            </a:p>
            <a:p>
              <a:pPr algn="ctr" eaLnBrk="1" hangingPunct="1">
                <a:lnSpc>
                  <a:spcPct val="120000"/>
                </a:lnSpc>
                <a:spcBef>
                  <a:spcPct val="0"/>
                </a:spcBef>
                <a:buFontTx/>
                <a:buNone/>
              </a:pPr>
              <a:r>
                <a:rPr kumimoji="0" lang="en-US" altLang="zh-CN" sz="1800" b="1"/>
                <a:t> </a:t>
              </a:r>
            </a:p>
            <a:p>
              <a:pPr algn="ctr" eaLnBrk="1" hangingPunct="1">
                <a:lnSpc>
                  <a:spcPct val="120000"/>
                </a:lnSpc>
                <a:spcBef>
                  <a:spcPct val="0"/>
                </a:spcBef>
                <a:buFontTx/>
                <a:buNone/>
              </a:pPr>
              <a:r>
                <a:rPr kumimoji="0" lang="en-US" altLang="zh-CN" sz="1800" b="1"/>
                <a:t> </a:t>
              </a:r>
            </a:p>
          </p:txBody>
        </p:sp>
        <p:sp>
          <p:nvSpPr>
            <p:cNvPr id="340046" name="Line 6"/>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0047" name="Line 7"/>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39974" name="Text Box 8"/>
          <p:cNvSpPr txBox="1">
            <a:spLocks noChangeArrowheads="1"/>
          </p:cNvSpPr>
          <p:nvPr/>
        </p:nvSpPr>
        <p:spPr bwMode="auto">
          <a:xfrm>
            <a:off x="1259632" y="2204864"/>
            <a:ext cx="67691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2000" b="1"/>
              <a:t>  4       3       2       1       4       3       5       4       3       2       1       5</a:t>
            </a:r>
          </a:p>
        </p:txBody>
      </p:sp>
      <p:sp>
        <p:nvSpPr>
          <p:cNvPr id="339975" name="Text Box 9"/>
          <p:cNvSpPr txBox="1">
            <a:spLocks noChangeArrowheads="1"/>
          </p:cNvSpPr>
          <p:nvPr/>
        </p:nvSpPr>
        <p:spPr bwMode="auto">
          <a:xfrm>
            <a:off x="1386632" y="3597102"/>
            <a:ext cx="3603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sym typeface="Symbol" panose="05050102010706020507" pitchFamily="18" charset="2"/>
              </a:rPr>
              <a:t></a:t>
            </a:r>
          </a:p>
        </p:txBody>
      </p:sp>
      <p:grpSp>
        <p:nvGrpSpPr>
          <p:cNvPr id="339976" name="Group 10"/>
          <p:cNvGrpSpPr>
            <a:grpSpLocks/>
          </p:cNvGrpSpPr>
          <p:nvPr/>
        </p:nvGrpSpPr>
        <p:grpSpPr bwMode="auto">
          <a:xfrm>
            <a:off x="3778994" y="4292427"/>
            <a:ext cx="2232025" cy="1152525"/>
            <a:chOff x="2699" y="3158"/>
            <a:chExt cx="1406" cy="726"/>
          </a:xfrm>
        </p:grpSpPr>
        <p:grpSp>
          <p:nvGrpSpPr>
            <p:cNvPr id="340038" name="Group 11"/>
            <p:cNvGrpSpPr>
              <a:grpSpLocks/>
            </p:cNvGrpSpPr>
            <p:nvPr/>
          </p:nvGrpSpPr>
          <p:grpSpPr bwMode="auto">
            <a:xfrm>
              <a:off x="2699" y="3158"/>
              <a:ext cx="725" cy="272"/>
              <a:chOff x="2699" y="3203"/>
              <a:chExt cx="725" cy="272"/>
            </a:xfrm>
          </p:grpSpPr>
          <p:sp>
            <p:nvSpPr>
              <p:cNvPr id="340043" name="Rectangle 12"/>
              <p:cNvSpPr>
                <a:spLocks noChangeArrowheads="1"/>
              </p:cNvSpPr>
              <p:nvPr/>
            </p:nvSpPr>
            <p:spPr bwMode="auto">
              <a:xfrm>
                <a:off x="2699" y="3203"/>
                <a:ext cx="725" cy="27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zh-CN" sz="2000" b="1"/>
              </a:p>
            </p:txBody>
          </p:sp>
          <p:sp>
            <p:nvSpPr>
              <p:cNvPr id="340044" name="Line 13"/>
              <p:cNvSpPr>
                <a:spLocks noChangeShapeType="1"/>
              </p:cNvSpPr>
              <p:nvPr/>
            </p:nvSpPr>
            <p:spPr bwMode="auto">
              <a:xfrm>
                <a:off x="3075" y="3203"/>
                <a:ext cx="0"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40039" name="Group 14"/>
            <p:cNvGrpSpPr>
              <a:grpSpLocks/>
            </p:cNvGrpSpPr>
            <p:nvPr/>
          </p:nvGrpSpPr>
          <p:grpSpPr bwMode="auto">
            <a:xfrm>
              <a:off x="3380" y="3612"/>
              <a:ext cx="725" cy="272"/>
              <a:chOff x="2699" y="3203"/>
              <a:chExt cx="725" cy="272"/>
            </a:xfrm>
          </p:grpSpPr>
          <p:sp>
            <p:nvSpPr>
              <p:cNvPr id="340041" name="Rectangle 15"/>
              <p:cNvSpPr>
                <a:spLocks noChangeArrowheads="1"/>
              </p:cNvSpPr>
              <p:nvPr/>
            </p:nvSpPr>
            <p:spPr bwMode="auto">
              <a:xfrm>
                <a:off x="2699" y="3203"/>
                <a:ext cx="725" cy="27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zh-CN" sz="2000" b="1"/>
              </a:p>
            </p:txBody>
          </p:sp>
          <p:sp>
            <p:nvSpPr>
              <p:cNvPr id="340042" name="Line 16"/>
              <p:cNvSpPr>
                <a:spLocks noChangeShapeType="1"/>
              </p:cNvSpPr>
              <p:nvPr/>
            </p:nvSpPr>
            <p:spPr bwMode="auto">
              <a:xfrm>
                <a:off x="3075" y="3203"/>
                <a:ext cx="0"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40040" name="Line 17"/>
            <p:cNvSpPr>
              <a:spLocks noChangeShapeType="1"/>
            </p:cNvSpPr>
            <p:nvPr/>
          </p:nvSpPr>
          <p:spPr bwMode="auto">
            <a:xfrm>
              <a:off x="3424" y="3294"/>
              <a:ext cx="318" cy="31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39977" name="Group 18"/>
          <p:cNvGrpSpPr>
            <a:grpSpLocks/>
          </p:cNvGrpSpPr>
          <p:nvPr/>
        </p:nvGrpSpPr>
        <p:grpSpPr bwMode="auto">
          <a:xfrm>
            <a:off x="2842369" y="5013152"/>
            <a:ext cx="1150938" cy="431800"/>
            <a:chOff x="2699" y="3203"/>
            <a:chExt cx="725" cy="272"/>
          </a:xfrm>
        </p:grpSpPr>
        <p:sp>
          <p:nvSpPr>
            <p:cNvPr id="340036" name="Rectangle 19"/>
            <p:cNvSpPr>
              <a:spLocks noChangeArrowheads="1"/>
            </p:cNvSpPr>
            <p:nvPr/>
          </p:nvSpPr>
          <p:spPr bwMode="auto">
            <a:xfrm>
              <a:off x="2699" y="3203"/>
              <a:ext cx="725" cy="27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zh-CN" sz="2000" b="1"/>
            </a:p>
          </p:txBody>
        </p:sp>
        <p:sp>
          <p:nvSpPr>
            <p:cNvPr id="340037" name="Line 20"/>
            <p:cNvSpPr>
              <a:spLocks noChangeShapeType="1"/>
            </p:cNvSpPr>
            <p:nvPr/>
          </p:nvSpPr>
          <p:spPr bwMode="auto">
            <a:xfrm>
              <a:off x="3075" y="3203"/>
              <a:ext cx="0"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39978" name="Line 21"/>
          <p:cNvSpPr>
            <a:spLocks noChangeShapeType="1"/>
          </p:cNvSpPr>
          <p:nvPr/>
        </p:nvSpPr>
        <p:spPr bwMode="auto">
          <a:xfrm flipH="1">
            <a:off x="3994894" y="5229052"/>
            <a:ext cx="863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9979" name="Line 22"/>
          <p:cNvSpPr>
            <a:spLocks noChangeShapeType="1"/>
          </p:cNvSpPr>
          <p:nvPr/>
        </p:nvSpPr>
        <p:spPr bwMode="auto">
          <a:xfrm flipV="1">
            <a:off x="3202732" y="4508327"/>
            <a:ext cx="576262" cy="5048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5271" name="Oval 23"/>
          <p:cNvSpPr>
            <a:spLocks noChangeArrowheads="1"/>
          </p:cNvSpPr>
          <p:nvPr/>
        </p:nvSpPr>
        <p:spPr bwMode="auto">
          <a:xfrm>
            <a:off x="3634532" y="4436889"/>
            <a:ext cx="144462" cy="144463"/>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339981" name="Text Box 24"/>
          <p:cNvSpPr txBox="1">
            <a:spLocks noChangeArrowheads="1"/>
          </p:cNvSpPr>
          <p:nvPr/>
        </p:nvSpPr>
        <p:spPr bwMode="auto">
          <a:xfrm>
            <a:off x="3966319" y="4292427"/>
            <a:ext cx="863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4      1</a:t>
            </a:r>
          </a:p>
        </p:txBody>
      </p:sp>
      <p:sp>
        <p:nvSpPr>
          <p:cNvPr id="339982" name="Text Box 25"/>
          <p:cNvSpPr txBox="1">
            <a:spLocks noChangeArrowheads="1"/>
          </p:cNvSpPr>
          <p:nvPr/>
        </p:nvSpPr>
        <p:spPr bwMode="auto">
          <a:xfrm>
            <a:off x="1939082" y="3603452"/>
            <a:ext cx="3603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sym typeface="Symbol" panose="05050102010706020507" pitchFamily="18" charset="2"/>
              </a:rPr>
              <a:t></a:t>
            </a:r>
          </a:p>
        </p:txBody>
      </p:sp>
      <p:grpSp>
        <p:nvGrpSpPr>
          <p:cNvPr id="339983" name="Group 26"/>
          <p:cNvGrpSpPr>
            <a:grpSpLocks/>
          </p:cNvGrpSpPr>
          <p:nvPr/>
        </p:nvGrpSpPr>
        <p:grpSpPr bwMode="auto">
          <a:xfrm>
            <a:off x="1907332" y="2565227"/>
            <a:ext cx="431800" cy="1008062"/>
            <a:chOff x="476" y="3113"/>
            <a:chExt cx="272" cy="635"/>
          </a:xfrm>
        </p:grpSpPr>
        <p:sp>
          <p:nvSpPr>
            <p:cNvPr id="340033" name="Rectangle 27"/>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4</a:t>
              </a:r>
            </a:p>
            <a:p>
              <a:pPr algn="ctr" eaLnBrk="1" hangingPunct="1">
                <a:lnSpc>
                  <a:spcPct val="120000"/>
                </a:lnSpc>
                <a:spcBef>
                  <a:spcPct val="0"/>
                </a:spcBef>
                <a:buFontTx/>
                <a:buNone/>
              </a:pPr>
              <a:r>
                <a:rPr kumimoji="0" lang="en-US" altLang="zh-CN" sz="1800" b="1"/>
                <a:t>3</a:t>
              </a:r>
            </a:p>
            <a:p>
              <a:pPr algn="ctr" eaLnBrk="1" hangingPunct="1">
                <a:lnSpc>
                  <a:spcPct val="120000"/>
                </a:lnSpc>
                <a:spcBef>
                  <a:spcPct val="0"/>
                </a:spcBef>
                <a:buFontTx/>
                <a:buNone/>
              </a:pPr>
              <a:r>
                <a:rPr kumimoji="0" lang="en-US" altLang="zh-CN" sz="1800" b="1"/>
                <a:t> </a:t>
              </a:r>
            </a:p>
          </p:txBody>
        </p:sp>
        <p:sp>
          <p:nvSpPr>
            <p:cNvPr id="340034" name="Line 28"/>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0035" name="Line 29"/>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39984" name="Group 30"/>
          <p:cNvGrpSpPr>
            <a:grpSpLocks/>
          </p:cNvGrpSpPr>
          <p:nvPr/>
        </p:nvGrpSpPr>
        <p:grpSpPr bwMode="auto">
          <a:xfrm>
            <a:off x="5018832" y="5040139"/>
            <a:ext cx="863600" cy="396875"/>
            <a:chOff x="2726" y="3203"/>
            <a:chExt cx="544" cy="250"/>
          </a:xfrm>
        </p:grpSpPr>
        <p:sp>
          <p:nvSpPr>
            <p:cNvPr id="340031" name="Text Box 31"/>
            <p:cNvSpPr txBox="1">
              <a:spLocks noChangeArrowheads="1"/>
            </p:cNvSpPr>
            <p:nvPr/>
          </p:nvSpPr>
          <p:spPr bwMode="auto">
            <a:xfrm>
              <a:off x="2726" y="3203"/>
              <a:ext cx="544" cy="25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3      1</a:t>
              </a:r>
            </a:p>
          </p:txBody>
        </p:sp>
        <p:sp>
          <p:nvSpPr>
            <p:cNvPr id="340032" name="Line 32"/>
            <p:cNvSpPr>
              <a:spLocks noChangeShapeType="1"/>
            </p:cNvSpPr>
            <p:nvPr/>
          </p:nvSpPr>
          <p:spPr bwMode="auto">
            <a:xfrm flipH="1">
              <a:off x="3001" y="3210"/>
              <a:ext cx="2" cy="23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39985" name="Text Box 33"/>
          <p:cNvSpPr txBox="1">
            <a:spLocks noChangeArrowheads="1"/>
          </p:cNvSpPr>
          <p:nvPr/>
        </p:nvSpPr>
        <p:spPr bwMode="auto">
          <a:xfrm>
            <a:off x="2518519" y="3606627"/>
            <a:ext cx="36036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sym typeface="Symbol" panose="05050102010706020507" pitchFamily="18" charset="2"/>
              </a:rPr>
              <a:t></a:t>
            </a:r>
          </a:p>
        </p:txBody>
      </p:sp>
      <p:grpSp>
        <p:nvGrpSpPr>
          <p:cNvPr id="339986" name="Group 34"/>
          <p:cNvGrpSpPr>
            <a:grpSpLocks/>
          </p:cNvGrpSpPr>
          <p:nvPr/>
        </p:nvGrpSpPr>
        <p:grpSpPr bwMode="auto">
          <a:xfrm>
            <a:off x="2482007" y="2565227"/>
            <a:ext cx="431800" cy="1008062"/>
            <a:chOff x="476" y="3113"/>
            <a:chExt cx="272" cy="635"/>
          </a:xfrm>
        </p:grpSpPr>
        <p:sp>
          <p:nvSpPr>
            <p:cNvPr id="340028" name="Rectangle 35"/>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4</a:t>
              </a:r>
            </a:p>
            <a:p>
              <a:pPr algn="ctr" eaLnBrk="1" hangingPunct="1">
                <a:lnSpc>
                  <a:spcPct val="120000"/>
                </a:lnSpc>
                <a:spcBef>
                  <a:spcPct val="0"/>
                </a:spcBef>
                <a:buFontTx/>
                <a:buNone/>
              </a:pPr>
              <a:r>
                <a:rPr kumimoji="0" lang="en-US" altLang="zh-CN" sz="1800" b="1"/>
                <a:t>3</a:t>
              </a:r>
            </a:p>
            <a:p>
              <a:pPr algn="ctr" eaLnBrk="1" hangingPunct="1">
                <a:lnSpc>
                  <a:spcPct val="120000"/>
                </a:lnSpc>
                <a:spcBef>
                  <a:spcPct val="0"/>
                </a:spcBef>
                <a:buFontTx/>
                <a:buNone/>
              </a:pPr>
              <a:r>
                <a:rPr kumimoji="0" lang="en-US" altLang="zh-CN" sz="1800" b="1"/>
                <a:t>2</a:t>
              </a:r>
            </a:p>
          </p:txBody>
        </p:sp>
        <p:sp>
          <p:nvSpPr>
            <p:cNvPr id="340029" name="Line 36"/>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0030" name="Line 37"/>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39987" name="Group 38"/>
          <p:cNvGrpSpPr>
            <a:grpSpLocks/>
          </p:cNvGrpSpPr>
          <p:nvPr/>
        </p:nvGrpSpPr>
        <p:grpSpPr bwMode="auto">
          <a:xfrm>
            <a:off x="3002707" y="5024264"/>
            <a:ext cx="863600" cy="396875"/>
            <a:chOff x="2726" y="3203"/>
            <a:chExt cx="544" cy="250"/>
          </a:xfrm>
        </p:grpSpPr>
        <p:sp>
          <p:nvSpPr>
            <p:cNvPr id="340026" name="Text Box 39"/>
            <p:cNvSpPr txBox="1">
              <a:spLocks noChangeArrowheads="1"/>
            </p:cNvSpPr>
            <p:nvPr/>
          </p:nvSpPr>
          <p:spPr bwMode="auto">
            <a:xfrm>
              <a:off x="2726" y="3203"/>
              <a:ext cx="544" cy="25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2      1</a:t>
              </a:r>
            </a:p>
          </p:txBody>
        </p:sp>
        <p:sp>
          <p:nvSpPr>
            <p:cNvPr id="340027" name="Line 40"/>
            <p:cNvSpPr>
              <a:spLocks noChangeShapeType="1"/>
            </p:cNvSpPr>
            <p:nvPr/>
          </p:nvSpPr>
          <p:spPr bwMode="auto">
            <a:xfrm flipH="1">
              <a:off x="3001" y="3210"/>
              <a:ext cx="2" cy="23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39988" name="Text Box 41"/>
          <p:cNvSpPr txBox="1">
            <a:spLocks noChangeArrowheads="1"/>
          </p:cNvSpPr>
          <p:nvPr/>
        </p:nvSpPr>
        <p:spPr bwMode="auto">
          <a:xfrm>
            <a:off x="3080494" y="3614564"/>
            <a:ext cx="3603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sym typeface="Symbol" panose="05050102010706020507" pitchFamily="18" charset="2"/>
              </a:rPr>
              <a:t></a:t>
            </a:r>
          </a:p>
        </p:txBody>
      </p:sp>
      <p:sp>
        <p:nvSpPr>
          <p:cNvPr id="339989" name="Text Box 42"/>
          <p:cNvSpPr txBox="1">
            <a:spLocks noChangeArrowheads="1"/>
          </p:cNvSpPr>
          <p:nvPr/>
        </p:nvSpPr>
        <p:spPr bwMode="auto">
          <a:xfrm>
            <a:off x="4426694" y="4292427"/>
            <a:ext cx="431800" cy="396875"/>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0</a:t>
            </a:r>
          </a:p>
        </p:txBody>
      </p:sp>
      <p:sp>
        <p:nvSpPr>
          <p:cNvPr id="339990" name="Text Box 43"/>
          <p:cNvSpPr txBox="1">
            <a:spLocks noChangeArrowheads="1"/>
          </p:cNvSpPr>
          <p:nvPr/>
        </p:nvSpPr>
        <p:spPr bwMode="auto">
          <a:xfrm>
            <a:off x="5514132" y="5021089"/>
            <a:ext cx="431800" cy="396875"/>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0</a:t>
            </a:r>
          </a:p>
        </p:txBody>
      </p:sp>
      <p:sp>
        <p:nvSpPr>
          <p:cNvPr id="339991" name="Text Box 44"/>
          <p:cNvSpPr txBox="1">
            <a:spLocks noChangeArrowheads="1"/>
          </p:cNvSpPr>
          <p:nvPr/>
        </p:nvSpPr>
        <p:spPr bwMode="auto">
          <a:xfrm>
            <a:off x="3490069" y="5013152"/>
            <a:ext cx="431800" cy="396875"/>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0</a:t>
            </a:r>
          </a:p>
        </p:txBody>
      </p:sp>
      <p:grpSp>
        <p:nvGrpSpPr>
          <p:cNvPr id="339992" name="Group 45"/>
          <p:cNvGrpSpPr>
            <a:grpSpLocks/>
          </p:cNvGrpSpPr>
          <p:nvPr/>
        </p:nvGrpSpPr>
        <p:grpSpPr bwMode="auto">
          <a:xfrm>
            <a:off x="3058269" y="2565227"/>
            <a:ext cx="431800" cy="1008062"/>
            <a:chOff x="476" y="3113"/>
            <a:chExt cx="272" cy="635"/>
          </a:xfrm>
        </p:grpSpPr>
        <p:sp>
          <p:nvSpPr>
            <p:cNvPr id="340023" name="Rectangle 46"/>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1</a:t>
              </a:r>
            </a:p>
            <a:p>
              <a:pPr algn="ctr" eaLnBrk="1" hangingPunct="1">
                <a:lnSpc>
                  <a:spcPct val="120000"/>
                </a:lnSpc>
                <a:spcBef>
                  <a:spcPct val="0"/>
                </a:spcBef>
                <a:buFontTx/>
                <a:buNone/>
              </a:pPr>
              <a:r>
                <a:rPr kumimoji="0" lang="en-US" altLang="zh-CN" sz="1800" b="1"/>
                <a:t>3</a:t>
              </a:r>
            </a:p>
            <a:p>
              <a:pPr algn="ctr" eaLnBrk="1" hangingPunct="1">
                <a:lnSpc>
                  <a:spcPct val="120000"/>
                </a:lnSpc>
                <a:spcBef>
                  <a:spcPct val="0"/>
                </a:spcBef>
                <a:buFontTx/>
                <a:buNone/>
              </a:pPr>
              <a:r>
                <a:rPr kumimoji="0" lang="en-US" altLang="zh-CN" sz="1800" b="1"/>
                <a:t>2</a:t>
              </a:r>
            </a:p>
          </p:txBody>
        </p:sp>
        <p:sp>
          <p:nvSpPr>
            <p:cNvPr id="340024" name="Line 47"/>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0025" name="Line 48"/>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39993" name="Group 49"/>
          <p:cNvGrpSpPr>
            <a:grpSpLocks/>
          </p:cNvGrpSpPr>
          <p:nvPr/>
        </p:nvGrpSpPr>
        <p:grpSpPr bwMode="auto">
          <a:xfrm>
            <a:off x="3939332" y="4292427"/>
            <a:ext cx="863600" cy="396875"/>
            <a:chOff x="2726" y="3203"/>
            <a:chExt cx="544" cy="250"/>
          </a:xfrm>
        </p:grpSpPr>
        <p:sp>
          <p:nvSpPr>
            <p:cNvPr id="340021" name="Text Box 50"/>
            <p:cNvSpPr txBox="1">
              <a:spLocks noChangeArrowheads="1"/>
            </p:cNvSpPr>
            <p:nvPr/>
          </p:nvSpPr>
          <p:spPr bwMode="auto">
            <a:xfrm>
              <a:off x="2726" y="3203"/>
              <a:ext cx="544" cy="25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1      1</a:t>
              </a:r>
            </a:p>
          </p:txBody>
        </p:sp>
        <p:sp>
          <p:nvSpPr>
            <p:cNvPr id="340022" name="Line 51"/>
            <p:cNvSpPr>
              <a:spLocks noChangeShapeType="1"/>
            </p:cNvSpPr>
            <p:nvPr/>
          </p:nvSpPr>
          <p:spPr bwMode="auto">
            <a:xfrm flipH="1">
              <a:off x="3001" y="3210"/>
              <a:ext cx="2" cy="23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39994" name="Text Box 52"/>
          <p:cNvSpPr txBox="1">
            <a:spLocks noChangeArrowheads="1"/>
          </p:cNvSpPr>
          <p:nvPr/>
        </p:nvSpPr>
        <p:spPr bwMode="auto">
          <a:xfrm>
            <a:off x="3656757" y="3612977"/>
            <a:ext cx="3603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sym typeface="Symbol" panose="05050102010706020507" pitchFamily="18" charset="2"/>
              </a:rPr>
              <a:t></a:t>
            </a:r>
          </a:p>
        </p:txBody>
      </p:sp>
      <p:grpSp>
        <p:nvGrpSpPr>
          <p:cNvPr id="339995" name="Group 53"/>
          <p:cNvGrpSpPr>
            <a:grpSpLocks/>
          </p:cNvGrpSpPr>
          <p:nvPr/>
        </p:nvGrpSpPr>
        <p:grpSpPr bwMode="auto">
          <a:xfrm>
            <a:off x="3634532" y="2565227"/>
            <a:ext cx="431800" cy="1008062"/>
            <a:chOff x="476" y="3113"/>
            <a:chExt cx="272" cy="635"/>
          </a:xfrm>
        </p:grpSpPr>
        <p:sp>
          <p:nvSpPr>
            <p:cNvPr id="340018" name="Rectangle 54"/>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1</a:t>
              </a:r>
            </a:p>
            <a:p>
              <a:pPr algn="ctr" eaLnBrk="1" hangingPunct="1">
                <a:lnSpc>
                  <a:spcPct val="120000"/>
                </a:lnSpc>
                <a:spcBef>
                  <a:spcPct val="0"/>
                </a:spcBef>
                <a:buFontTx/>
                <a:buNone/>
              </a:pPr>
              <a:r>
                <a:rPr kumimoji="0" lang="en-US" altLang="zh-CN" sz="1800" b="1"/>
                <a:t>4</a:t>
              </a:r>
            </a:p>
            <a:p>
              <a:pPr algn="ctr" eaLnBrk="1" hangingPunct="1">
                <a:lnSpc>
                  <a:spcPct val="120000"/>
                </a:lnSpc>
                <a:spcBef>
                  <a:spcPct val="0"/>
                </a:spcBef>
                <a:buFontTx/>
                <a:buNone/>
              </a:pPr>
              <a:r>
                <a:rPr kumimoji="0" lang="en-US" altLang="zh-CN" sz="1800" b="1"/>
                <a:t>2</a:t>
              </a:r>
            </a:p>
          </p:txBody>
        </p:sp>
        <p:sp>
          <p:nvSpPr>
            <p:cNvPr id="340019" name="Line 55"/>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0020" name="Line 56"/>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39996" name="Group 57"/>
          <p:cNvGrpSpPr>
            <a:grpSpLocks/>
          </p:cNvGrpSpPr>
          <p:nvPr/>
        </p:nvGrpSpPr>
        <p:grpSpPr bwMode="auto">
          <a:xfrm>
            <a:off x="5018832" y="5040139"/>
            <a:ext cx="863600" cy="396875"/>
            <a:chOff x="2726" y="3203"/>
            <a:chExt cx="544" cy="250"/>
          </a:xfrm>
        </p:grpSpPr>
        <p:sp>
          <p:nvSpPr>
            <p:cNvPr id="340016" name="Text Box 58"/>
            <p:cNvSpPr txBox="1">
              <a:spLocks noChangeArrowheads="1"/>
            </p:cNvSpPr>
            <p:nvPr/>
          </p:nvSpPr>
          <p:spPr bwMode="auto">
            <a:xfrm>
              <a:off x="2726" y="3203"/>
              <a:ext cx="544" cy="25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4      1</a:t>
              </a:r>
            </a:p>
          </p:txBody>
        </p:sp>
        <p:sp>
          <p:nvSpPr>
            <p:cNvPr id="340017" name="Line 59"/>
            <p:cNvSpPr>
              <a:spLocks noChangeShapeType="1"/>
            </p:cNvSpPr>
            <p:nvPr/>
          </p:nvSpPr>
          <p:spPr bwMode="auto">
            <a:xfrm flipH="1">
              <a:off x="3001" y="3210"/>
              <a:ext cx="2" cy="23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39997" name="Text Box 60"/>
          <p:cNvSpPr txBox="1">
            <a:spLocks noChangeArrowheads="1"/>
          </p:cNvSpPr>
          <p:nvPr/>
        </p:nvSpPr>
        <p:spPr bwMode="auto">
          <a:xfrm>
            <a:off x="4233019" y="3589164"/>
            <a:ext cx="3603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sym typeface="Symbol" panose="05050102010706020507" pitchFamily="18" charset="2"/>
              </a:rPr>
              <a:t></a:t>
            </a:r>
          </a:p>
        </p:txBody>
      </p:sp>
      <p:grpSp>
        <p:nvGrpSpPr>
          <p:cNvPr id="339998" name="Group 61"/>
          <p:cNvGrpSpPr>
            <a:grpSpLocks/>
          </p:cNvGrpSpPr>
          <p:nvPr/>
        </p:nvGrpSpPr>
        <p:grpSpPr bwMode="auto">
          <a:xfrm>
            <a:off x="4194919" y="2565227"/>
            <a:ext cx="431800" cy="1008062"/>
            <a:chOff x="476" y="3113"/>
            <a:chExt cx="272" cy="635"/>
          </a:xfrm>
        </p:grpSpPr>
        <p:sp>
          <p:nvSpPr>
            <p:cNvPr id="340013" name="Rectangle 62"/>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1</a:t>
              </a:r>
            </a:p>
            <a:p>
              <a:pPr algn="ctr" eaLnBrk="1" hangingPunct="1">
                <a:lnSpc>
                  <a:spcPct val="120000"/>
                </a:lnSpc>
                <a:spcBef>
                  <a:spcPct val="0"/>
                </a:spcBef>
                <a:buFontTx/>
                <a:buNone/>
              </a:pPr>
              <a:r>
                <a:rPr kumimoji="0" lang="en-US" altLang="zh-CN" sz="1800" b="1"/>
                <a:t>4</a:t>
              </a:r>
            </a:p>
            <a:p>
              <a:pPr algn="ctr" eaLnBrk="1" hangingPunct="1">
                <a:lnSpc>
                  <a:spcPct val="120000"/>
                </a:lnSpc>
                <a:spcBef>
                  <a:spcPct val="0"/>
                </a:spcBef>
                <a:buFontTx/>
                <a:buNone/>
              </a:pPr>
              <a:r>
                <a:rPr kumimoji="0" lang="en-US" altLang="zh-CN" sz="1800" b="1"/>
                <a:t>3</a:t>
              </a:r>
            </a:p>
          </p:txBody>
        </p:sp>
        <p:sp>
          <p:nvSpPr>
            <p:cNvPr id="340014" name="Line 63"/>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0015" name="Line 64"/>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39999" name="Group 65"/>
          <p:cNvGrpSpPr>
            <a:grpSpLocks/>
          </p:cNvGrpSpPr>
          <p:nvPr/>
        </p:nvGrpSpPr>
        <p:grpSpPr bwMode="auto">
          <a:xfrm>
            <a:off x="3002707" y="5032202"/>
            <a:ext cx="863600" cy="396875"/>
            <a:chOff x="2726" y="3203"/>
            <a:chExt cx="544" cy="250"/>
          </a:xfrm>
        </p:grpSpPr>
        <p:sp>
          <p:nvSpPr>
            <p:cNvPr id="340011" name="Text Box 66"/>
            <p:cNvSpPr txBox="1">
              <a:spLocks noChangeArrowheads="1"/>
            </p:cNvSpPr>
            <p:nvPr/>
          </p:nvSpPr>
          <p:spPr bwMode="auto">
            <a:xfrm>
              <a:off x="2726" y="3203"/>
              <a:ext cx="544" cy="25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3      1</a:t>
              </a:r>
            </a:p>
          </p:txBody>
        </p:sp>
        <p:sp>
          <p:nvSpPr>
            <p:cNvPr id="340012" name="Line 67"/>
            <p:cNvSpPr>
              <a:spLocks noChangeShapeType="1"/>
            </p:cNvSpPr>
            <p:nvPr/>
          </p:nvSpPr>
          <p:spPr bwMode="auto">
            <a:xfrm flipH="1">
              <a:off x="3001" y="3210"/>
              <a:ext cx="2" cy="23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65316" name="Text Box 68"/>
          <p:cNvSpPr txBox="1">
            <a:spLocks noChangeArrowheads="1"/>
          </p:cNvSpPr>
          <p:nvPr/>
        </p:nvSpPr>
        <p:spPr bwMode="auto">
          <a:xfrm>
            <a:off x="4802932" y="3573289"/>
            <a:ext cx="3603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sym typeface="Symbol" panose="05050102010706020507" pitchFamily="18" charset="2"/>
              </a:rPr>
              <a:t></a:t>
            </a:r>
          </a:p>
        </p:txBody>
      </p:sp>
      <p:sp>
        <p:nvSpPr>
          <p:cNvPr id="565317" name="Text Box 69"/>
          <p:cNvSpPr txBox="1">
            <a:spLocks noChangeArrowheads="1"/>
          </p:cNvSpPr>
          <p:nvPr/>
        </p:nvSpPr>
        <p:spPr bwMode="auto">
          <a:xfrm>
            <a:off x="4402882" y="4292427"/>
            <a:ext cx="431800" cy="396875"/>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0</a:t>
            </a:r>
          </a:p>
        </p:txBody>
      </p:sp>
      <p:sp>
        <p:nvSpPr>
          <p:cNvPr id="565318" name="Text Box 70"/>
          <p:cNvSpPr txBox="1">
            <a:spLocks noChangeArrowheads="1"/>
          </p:cNvSpPr>
          <p:nvPr/>
        </p:nvSpPr>
        <p:spPr bwMode="auto">
          <a:xfrm>
            <a:off x="5514132" y="5048077"/>
            <a:ext cx="431800" cy="396875"/>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0</a:t>
            </a:r>
          </a:p>
        </p:txBody>
      </p:sp>
      <p:sp>
        <p:nvSpPr>
          <p:cNvPr id="565319" name="Text Box 71"/>
          <p:cNvSpPr txBox="1">
            <a:spLocks noChangeArrowheads="1"/>
          </p:cNvSpPr>
          <p:nvPr/>
        </p:nvSpPr>
        <p:spPr bwMode="auto">
          <a:xfrm>
            <a:off x="3498007" y="5013152"/>
            <a:ext cx="431800" cy="396875"/>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0</a:t>
            </a:r>
          </a:p>
        </p:txBody>
      </p:sp>
      <p:grpSp>
        <p:nvGrpSpPr>
          <p:cNvPr id="565320" name="Group 72"/>
          <p:cNvGrpSpPr>
            <a:grpSpLocks/>
          </p:cNvGrpSpPr>
          <p:nvPr/>
        </p:nvGrpSpPr>
        <p:grpSpPr bwMode="auto">
          <a:xfrm>
            <a:off x="4760069" y="2565227"/>
            <a:ext cx="431800" cy="1008062"/>
            <a:chOff x="476" y="3113"/>
            <a:chExt cx="272" cy="635"/>
          </a:xfrm>
        </p:grpSpPr>
        <p:sp>
          <p:nvSpPr>
            <p:cNvPr id="340008" name="Rectangle 73"/>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5</a:t>
              </a:r>
            </a:p>
            <a:p>
              <a:pPr algn="ctr" eaLnBrk="1" hangingPunct="1">
                <a:lnSpc>
                  <a:spcPct val="120000"/>
                </a:lnSpc>
                <a:spcBef>
                  <a:spcPct val="0"/>
                </a:spcBef>
                <a:buFontTx/>
                <a:buNone/>
              </a:pPr>
              <a:r>
                <a:rPr kumimoji="0" lang="en-US" altLang="zh-CN" sz="1800" b="1"/>
                <a:t>4</a:t>
              </a:r>
            </a:p>
            <a:p>
              <a:pPr algn="ctr" eaLnBrk="1" hangingPunct="1">
                <a:lnSpc>
                  <a:spcPct val="120000"/>
                </a:lnSpc>
                <a:spcBef>
                  <a:spcPct val="0"/>
                </a:spcBef>
                <a:buFontTx/>
                <a:buNone/>
              </a:pPr>
              <a:r>
                <a:rPr kumimoji="0" lang="en-US" altLang="zh-CN" sz="1800" b="1"/>
                <a:t>3</a:t>
              </a:r>
            </a:p>
          </p:txBody>
        </p:sp>
        <p:sp>
          <p:nvSpPr>
            <p:cNvPr id="340009" name="Line 74"/>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0010" name="Line 75"/>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65324" name="Group 76"/>
          <p:cNvGrpSpPr>
            <a:grpSpLocks/>
          </p:cNvGrpSpPr>
          <p:nvPr/>
        </p:nvGrpSpPr>
        <p:grpSpPr bwMode="auto">
          <a:xfrm>
            <a:off x="3923457" y="4308302"/>
            <a:ext cx="863600" cy="396875"/>
            <a:chOff x="2726" y="3203"/>
            <a:chExt cx="544" cy="250"/>
          </a:xfrm>
        </p:grpSpPr>
        <p:sp>
          <p:nvSpPr>
            <p:cNvPr id="340006" name="Text Box 77"/>
            <p:cNvSpPr txBox="1">
              <a:spLocks noChangeArrowheads="1"/>
            </p:cNvSpPr>
            <p:nvPr/>
          </p:nvSpPr>
          <p:spPr bwMode="auto">
            <a:xfrm>
              <a:off x="2726" y="3203"/>
              <a:ext cx="544" cy="25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5      1</a:t>
              </a:r>
            </a:p>
          </p:txBody>
        </p:sp>
        <p:sp>
          <p:nvSpPr>
            <p:cNvPr id="340007" name="Line 78"/>
            <p:cNvSpPr>
              <a:spLocks noChangeShapeType="1"/>
            </p:cNvSpPr>
            <p:nvPr/>
          </p:nvSpPr>
          <p:spPr bwMode="auto">
            <a:xfrm flipH="1">
              <a:off x="3001" y="3210"/>
              <a:ext cx="2" cy="23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 name="Date Placeholder 2"/>
          <p:cNvSpPr>
            <a:spLocks noGrp="1"/>
          </p:cNvSpPr>
          <p:nvPr>
            <p:ph type="dt" sz="half" idx="10"/>
          </p:nvPr>
        </p:nvSpPr>
        <p:spPr/>
        <p:txBody>
          <a:bodyPr/>
          <a:lstStyle/>
          <a:p>
            <a:fld id="{856AA1F5-13FC-4FB7-8C70-BDA0E14E74EC}" type="datetime1">
              <a:rPr lang="zh-CN" altLang="en-US" smtClean="0"/>
              <a:pPr/>
              <a:t>2018/8/3</a:t>
            </a:fld>
            <a:endParaRPr lang="zh-CN" altLang="en-US" dirty="0"/>
          </a:p>
        </p:txBody>
      </p:sp>
      <p:sp>
        <p:nvSpPr>
          <p:cNvPr id="4" name="Footer Placeholder 3"/>
          <p:cNvSpPr>
            <a:spLocks noGrp="1"/>
          </p:cNvSpPr>
          <p:nvPr>
            <p:ph type="ftr" sz="quarter" idx="11"/>
          </p:nvPr>
        </p:nvSpPr>
        <p:spPr/>
        <p:txBody>
          <a:bodyPr/>
          <a:lstStyle/>
          <a:p>
            <a:r>
              <a:rPr lang="en-US" altLang="zh-CN"/>
              <a:t>CH07 Memory Management</a:t>
            </a:r>
            <a:endParaRPr lang="zh-CN" altLang="en-US" dirty="0"/>
          </a:p>
        </p:txBody>
      </p:sp>
      <p:sp>
        <p:nvSpPr>
          <p:cNvPr id="83" name="Slide Number Placeholder 5"/>
          <p:cNvSpPr>
            <a:spLocks noGrp="1"/>
          </p:cNvSpPr>
          <p:nvPr>
            <p:ph type="sldNum" sz="quarter" idx="12"/>
          </p:nvPr>
        </p:nvSpPr>
        <p:spPr>
          <a:xfrm>
            <a:off x="6119832" y="6669360"/>
            <a:ext cx="3009936" cy="187200"/>
          </a:xfrm>
        </p:spPr>
        <p:txBody>
          <a:bodyPr/>
          <a:lstStyle/>
          <a:p>
            <a:r>
              <a:rPr lang="en-US" altLang="zh-CN" dirty="0"/>
              <a:t>126</a:t>
            </a:r>
            <a:endParaRPr lang="zh-CN" altLang="en-US" dirty="0"/>
          </a:p>
        </p:txBody>
      </p:sp>
    </p:spTree>
    <p:extLst>
      <p:ext uri="{BB962C8B-B14F-4D97-AF65-F5344CB8AC3E}">
        <p14:creationId xmlns:p14="http://schemas.microsoft.com/office/powerpoint/2010/main" val="34826439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56531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6531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0" presetClass="path" presetSubtype="0" accel="50000" decel="50000" fill="hold" grpId="0" nodeType="clickEffect">
                                  <p:stCondLst>
                                    <p:cond delay="0"/>
                                  </p:stCondLst>
                                  <p:childTnLst>
                                    <p:animMotion origin="layout" path="M -1.66667E-6 9.99537E-7 L 0.12604 0.10504 " pathEditMode="relative" ptsTypes="AA">
                                      <p:cBhvr>
                                        <p:cTn id="14" dur="1000" fill="hold"/>
                                        <p:tgtEl>
                                          <p:spTgt spid="565271"/>
                                        </p:tgtEl>
                                        <p:attrNameLst>
                                          <p:attrName>ppt_x</p:attrName>
                                          <p:attrName>ppt_y</p:attrName>
                                        </p:attrNameLst>
                                      </p:cBhvr>
                                    </p:animMotion>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65318"/>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0" presetClass="path" presetSubtype="0" accel="50000" decel="50000" fill="hold" grpId="1" nodeType="clickEffect">
                                  <p:stCondLst>
                                    <p:cond delay="0"/>
                                  </p:stCondLst>
                                  <p:childTnLst>
                                    <p:animMotion origin="layout" path="M 0.12604 0.10504 L -0.09445 0.10504 " pathEditMode="relative" ptsTypes="AA">
                                      <p:cBhvr>
                                        <p:cTn id="22" dur="1000" fill="hold"/>
                                        <p:tgtEl>
                                          <p:spTgt spid="565271"/>
                                        </p:tgtEl>
                                        <p:attrNameLst>
                                          <p:attrName>ppt_x</p:attrName>
                                          <p:attrName>ppt_y</p:attrName>
                                        </p:attrNameLst>
                                      </p:cBhvr>
                                    </p:animMotion>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65319"/>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0" presetClass="path" presetSubtype="0" accel="50000" decel="50000" fill="hold" grpId="2" nodeType="clickEffect">
                                  <p:stCondLst>
                                    <p:cond delay="0"/>
                                  </p:stCondLst>
                                  <p:childTnLst>
                                    <p:animMotion origin="layout" path="M -0.09444 0.10504 L -1.66667E-6 9.99537E-7 " pathEditMode="relative" ptsTypes="AA">
                                      <p:cBhvr>
                                        <p:cTn id="30" dur="1000" fill="hold"/>
                                        <p:tgtEl>
                                          <p:spTgt spid="565271"/>
                                        </p:tgtEl>
                                        <p:attrNameLst>
                                          <p:attrName>ppt_x</p:attrName>
                                          <p:attrName>ppt_y</p:attrName>
                                        </p:attrNameLst>
                                      </p:cBhvr>
                                    </p:animMotion>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565320"/>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565324"/>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0" presetClass="path" presetSubtype="0" accel="50000" decel="50000" fill="hold" grpId="3" nodeType="clickEffect">
                                  <p:stCondLst>
                                    <p:cond delay="0"/>
                                  </p:stCondLst>
                                  <p:childTnLst>
                                    <p:animMotion origin="layout" path="M -1.66667E-6 9.99537E-7 L 0.12604 0.10504 " pathEditMode="relative" ptsTypes="AA">
                                      <p:cBhvr>
                                        <p:cTn id="42" dur="1000" fill="hold"/>
                                        <p:tgtEl>
                                          <p:spTgt spid="565271"/>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5271" grpId="0" animBg="1"/>
      <p:bldP spid="565271" grpId="1" animBg="1"/>
      <p:bldP spid="565271" grpId="2" animBg="1"/>
      <p:bldP spid="565271" grpId="3" animBg="1"/>
      <p:bldP spid="565316" grpId="0"/>
      <p:bldP spid="565317" grpId="0" animBg="1"/>
      <p:bldP spid="565318" grpId="0" animBg="1"/>
      <p:bldP spid="565319" grpId="0" animBg="1"/>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1634" name="Rectangle 2"/>
          <p:cNvSpPr>
            <a:spLocks noGrp="1" noChangeArrowheads="1"/>
          </p:cNvSpPr>
          <p:nvPr>
            <p:ph type="title"/>
          </p:nvPr>
        </p:nvSpPr>
        <p:spPr/>
        <p:txBody>
          <a:bodyPr/>
          <a:lstStyle/>
          <a:p>
            <a:pPr>
              <a:defRPr/>
            </a:pPr>
            <a:r>
              <a:rPr lang="zh-CN" altLang="en-US" dirty="0"/>
              <a:t>时钟置换算法</a:t>
            </a:r>
            <a:endParaRPr lang="zh-CN" altLang="en-US" dirty="0">
              <a:ea typeface="黑体" panose="02010609060101010101" pitchFamily="49" charset="-122"/>
            </a:endParaRPr>
          </a:p>
        </p:txBody>
      </p:sp>
      <p:grpSp>
        <p:nvGrpSpPr>
          <p:cNvPr id="342021" name="Group 4"/>
          <p:cNvGrpSpPr>
            <a:grpSpLocks/>
          </p:cNvGrpSpPr>
          <p:nvPr/>
        </p:nvGrpSpPr>
        <p:grpSpPr bwMode="auto">
          <a:xfrm>
            <a:off x="1342182" y="2565227"/>
            <a:ext cx="431800" cy="1008062"/>
            <a:chOff x="476" y="3113"/>
            <a:chExt cx="272" cy="635"/>
          </a:xfrm>
        </p:grpSpPr>
        <p:sp>
          <p:nvSpPr>
            <p:cNvPr id="342103" name="Rectangle 5"/>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4</a:t>
              </a:r>
            </a:p>
            <a:p>
              <a:pPr algn="ctr" eaLnBrk="1" hangingPunct="1">
                <a:lnSpc>
                  <a:spcPct val="120000"/>
                </a:lnSpc>
                <a:spcBef>
                  <a:spcPct val="0"/>
                </a:spcBef>
                <a:buFontTx/>
                <a:buNone/>
              </a:pPr>
              <a:r>
                <a:rPr kumimoji="0" lang="en-US" altLang="zh-CN" sz="1800" b="1"/>
                <a:t> </a:t>
              </a:r>
            </a:p>
            <a:p>
              <a:pPr algn="ctr" eaLnBrk="1" hangingPunct="1">
                <a:lnSpc>
                  <a:spcPct val="120000"/>
                </a:lnSpc>
                <a:spcBef>
                  <a:spcPct val="0"/>
                </a:spcBef>
                <a:buFontTx/>
                <a:buNone/>
              </a:pPr>
              <a:r>
                <a:rPr kumimoji="0" lang="en-US" altLang="zh-CN" sz="1800" b="1"/>
                <a:t> </a:t>
              </a:r>
            </a:p>
          </p:txBody>
        </p:sp>
        <p:sp>
          <p:nvSpPr>
            <p:cNvPr id="342104" name="Line 6"/>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2105" name="Line 7"/>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42022" name="Text Box 8"/>
          <p:cNvSpPr txBox="1">
            <a:spLocks noChangeArrowheads="1"/>
          </p:cNvSpPr>
          <p:nvPr/>
        </p:nvSpPr>
        <p:spPr bwMode="auto">
          <a:xfrm>
            <a:off x="1259632" y="2204864"/>
            <a:ext cx="67691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2000" b="1"/>
              <a:t>  4       3       2       1       4       3       5       4       3       2       1       5</a:t>
            </a:r>
          </a:p>
        </p:txBody>
      </p:sp>
      <p:sp>
        <p:nvSpPr>
          <p:cNvPr id="342023" name="Text Box 9"/>
          <p:cNvSpPr txBox="1">
            <a:spLocks noChangeArrowheads="1"/>
          </p:cNvSpPr>
          <p:nvPr/>
        </p:nvSpPr>
        <p:spPr bwMode="auto">
          <a:xfrm>
            <a:off x="1386632" y="3597102"/>
            <a:ext cx="3603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sym typeface="Symbol" panose="05050102010706020507" pitchFamily="18" charset="2"/>
              </a:rPr>
              <a:t></a:t>
            </a:r>
          </a:p>
        </p:txBody>
      </p:sp>
      <p:grpSp>
        <p:nvGrpSpPr>
          <p:cNvPr id="342024" name="Group 10"/>
          <p:cNvGrpSpPr>
            <a:grpSpLocks/>
          </p:cNvGrpSpPr>
          <p:nvPr/>
        </p:nvGrpSpPr>
        <p:grpSpPr bwMode="auto">
          <a:xfrm>
            <a:off x="3778994" y="4292427"/>
            <a:ext cx="2232025" cy="1152525"/>
            <a:chOff x="2699" y="3158"/>
            <a:chExt cx="1406" cy="726"/>
          </a:xfrm>
        </p:grpSpPr>
        <p:grpSp>
          <p:nvGrpSpPr>
            <p:cNvPr id="342096" name="Group 11"/>
            <p:cNvGrpSpPr>
              <a:grpSpLocks/>
            </p:cNvGrpSpPr>
            <p:nvPr/>
          </p:nvGrpSpPr>
          <p:grpSpPr bwMode="auto">
            <a:xfrm>
              <a:off x="2699" y="3158"/>
              <a:ext cx="725" cy="272"/>
              <a:chOff x="2699" y="3203"/>
              <a:chExt cx="725" cy="272"/>
            </a:xfrm>
          </p:grpSpPr>
          <p:sp>
            <p:nvSpPr>
              <p:cNvPr id="342101" name="Rectangle 12"/>
              <p:cNvSpPr>
                <a:spLocks noChangeArrowheads="1"/>
              </p:cNvSpPr>
              <p:nvPr/>
            </p:nvSpPr>
            <p:spPr bwMode="auto">
              <a:xfrm>
                <a:off x="2699" y="3203"/>
                <a:ext cx="725" cy="27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zh-CN" sz="2000" b="1"/>
              </a:p>
            </p:txBody>
          </p:sp>
          <p:sp>
            <p:nvSpPr>
              <p:cNvPr id="342102" name="Line 13"/>
              <p:cNvSpPr>
                <a:spLocks noChangeShapeType="1"/>
              </p:cNvSpPr>
              <p:nvPr/>
            </p:nvSpPr>
            <p:spPr bwMode="auto">
              <a:xfrm>
                <a:off x="3075" y="3203"/>
                <a:ext cx="0"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42097" name="Group 14"/>
            <p:cNvGrpSpPr>
              <a:grpSpLocks/>
            </p:cNvGrpSpPr>
            <p:nvPr/>
          </p:nvGrpSpPr>
          <p:grpSpPr bwMode="auto">
            <a:xfrm>
              <a:off x="3380" y="3612"/>
              <a:ext cx="725" cy="272"/>
              <a:chOff x="2699" y="3203"/>
              <a:chExt cx="725" cy="272"/>
            </a:xfrm>
          </p:grpSpPr>
          <p:sp>
            <p:nvSpPr>
              <p:cNvPr id="342099" name="Rectangle 15"/>
              <p:cNvSpPr>
                <a:spLocks noChangeArrowheads="1"/>
              </p:cNvSpPr>
              <p:nvPr/>
            </p:nvSpPr>
            <p:spPr bwMode="auto">
              <a:xfrm>
                <a:off x="2699" y="3203"/>
                <a:ext cx="725" cy="27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zh-CN" sz="2000" b="1"/>
              </a:p>
            </p:txBody>
          </p:sp>
          <p:sp>
            <p:nvSpPr>
              <p:cNvPr id="342100" name="Line 16"/>
              <p:cNvSpPr>
                <a:spLocks noChangeShapeType="1"/>
              </p:cNvSpPr>
              <p:nvPr/>
            </p:nvSpPr>
            <p:spPr bwMode="auto">
              <a:xfrm>
                <a:off x="3075" y="3203"/>
                <a:ext cx="0"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42098" name="Line 17"/>
            <p:cNvSpPr>
              <a:spLocks noChangeShapeType="1"/>
            </p:cNvSpPr>
            <p:nvPr/>
          </p:nvSpPr>
          <p:spPr bwMode="auto">
            <a:xfrm>
              <a:off x="3424" y="3294"/>
              <a:ext cx="318" cy="31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42025" name="Group 18"/>
          <p:cNvGrpSpPr>
            <a:grpSpLocks/>
          </p:cNvGrpSpPr>
          <p:nvPr/>
        </p:nvGrpSpPr>
        <p:grpSpPr bwMode="auto">
          <a:xfrm>
            <a:off x="2842369" y="5013152"/>
            <a:ext cx="1150938" cy="431800"/>
            <a:chOff x="2699" y="3203"/>
            <a:chExt cx="725" cy="272"/>
          </a:xfrm>
        </p:grpSpPr>
        <p:sp>
          <p:nvSpPr>
            <p:cNvPr id="342094" name="Rectangle 19"/>
            <p:cNvSpPr>
              <a:spLocks noChangeArrowheads="1"/>
            </p:cNvSpPr>
            <p:nvPr/>
          </p:nvSpPr>
          <p:spPr bwMode="auto">
            <a:xfrm>
              <a:off x="2699" y="3203"/>
              <a:ext cx="725" cy="27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zh-CN" sz="2000" b="1"/>
            </a:p>
          </p:txBody>
        </p:sp>
        <p:sp>
          <p:nvSpPr>
            <p:cNvPr id="342095" name="Line 20"/>
            <p:cNvSpPr>
              <a:spLocks noChangeShapeType="1"/>
            </p:cNvSpPr>
            <p:nvPr/>
          </p:nvSpPr>
          <p:spPr bwMode="auto">
            <a:xfrm>
              <a:off x="3075" y="3203"/>
              <a:ext cx="0"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42026" name="Line 21"/>
          <p:cNvSpPr>
            <a:spLocks noChangeShapeType="1"/>
          </p:cNvSpPr>
          <p:nvPr/>
        </p:nvSpPr>
        <p:spPr bwMode="auto">
          <a:xfrm flipH="1">
            <a:off x="3994894" y="5229052"/>
            <a:ext cx="863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2027" name="Line 22"/>
          <p:cNvSpPr>
            <a:spLocks noChangeShapeType="1"/>
          </p:cNvSpPr>
          <p:nvPr/>
        </p:nvSpPr>
        <p:spPr bwMode="auto">
          <a:xfrm flipV="1">
            <a:off x="3202732" y="4508327"/>
            <a:ext cx="576262" cy="5048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2028" name="Oval 23"/>
          <p:cNvSpPr>
            <a:spLocks noChangeArrowheads="1"/>
          </p:cNvSpPr>
          <p:nvPr/>
        </p:nvSpPr>
        <p:spPr bwMode="auto">
          <a:xfrm>
            <a:off x="4715619" y="5157614"/>
            <a:ext cx="144463" cy="144463"/>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342029" name="Text Box 24"/>
          <p:cNvSpPr txBox="1">
            <a:spLocks noChangeArrowheads="1"/>
          </p:cNvSpPr>
          <p:nvPr/>
        </p:nvSpPr>
        <p:spPr bwMode="auto">
          <a:xfrm>
            <a:off x="3966319" y="4292427"/>
            <a:ext cx="863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4      1</a:t>
            </a:r>
          </a:p>
        </p:txBody>
      </p:sp>
      <p:sp>
        <p:nvSpPr>
          <p:cNvPr id="342030" name="Text Box 25"/>
          <p:cNvSpPr txBox="1">
            <a:spLocks noChangeArrowheads="1"/>
          </p:cNvSpPr>
          <p:nvPr/>
        </p:nvSpPr>
        <p:spPr bwMode="auto">
          <a:xfrm>
            <a:off x="1939082" y="3603452"/>
            <a:ext cx="3603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sym typeface="Symbol" panose="05050102010706020507" pitchFamily="18" charset="2"/>
              </a:rPr>
              <a:t></a:t>
            </a:r>
          </a:p>
        </p:txBody>
      </p:sp>
      <p:grpSp>
        <p:nvGrpSpPr>
          <p:cNvPr id="342031" name="Group 26"/>
          <p:cNvGrpSpPr>
            <a:grpSpLocks/>
          </p:cNvGrpSpPr>
          <p:nvPr/>
        </p:nvGrpSpPr>
        <p:grpSpPr bwMode="auto">
          <a:xfrm>
            <a:off x="1907332" y="2565227"/>
            <a:ext cx="431800" cy="1008062"/>
            <a:chOff x="476" y="3113"/>
            <a:chExt cx="272" cy="635"/>
          </a:xfrm>
        </p:grpSpPr>
        <p:sp>
          <p:nvSpPr>
            <p:cNvPr id="342091" name="Rectangle 27"/>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4</a:t>
              </a:r>
            </a:p>
            <a:p>
              <a:pPr algn="ctr" eaLnBrk="1" hangingPunct="1">
                <a:lnSpc>
                  <a:spcPct val="120000"/>
                </a:lnSpc>
                <a:spcBef>
                  <a:spcPct val="0"/>
                </a:spcBef>
                <a:buFontTx/>
                <a:buNone/>
              </a:pPr>
              <a:r>
                <a:rPr kumimoji="0" lang="en-US" altLang="zh-CN" sz="1800" b="1"/>
                <a:t>3</a:t>
              </a:r>
            </a:p>
            <a:p>
              <a:pPr algn="ctr" eaLnBrk="1" hangingPunct="1">
                <a:lnSpc>
                  <a:spcPct val="120000"/>
                </a:lnSpc>
                <a:spcBef>
                  <a:spcPct val="0"/>
                </a:spcBef>
                <a:buFontTx/>
                <a:buNone/>
              </a:pPr>
              <a:r>
                <a:rPr kumimoji="0" lang="en-US" altLang="zh-CN" sz="1800" b="1"/>
                <a:t> </a:t>
              </a:r>
            </a:p>
          </p:txBody>
        </p:sp>
        <p:sp>
          <p:nvSpPr>
            <p:cNvPr id="342092" name="Line 28"/>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2093" name="Line 29"/>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42032" name="Group 30"/>
          <p:cNvGrpSpPr>
            <a:grpSpLocks/>
          </p:cNvGrpSpPr>
          <p:nvPr/>
        </p:nvGrpSpPr>
        <p:grpSpPr bwMode="auto">
          <a:xfrm>
            <a:off x="5018832" y="5040139"/>
            <a:ext cx="863600" cy="396875"/>
            <a:chOff x="2726" y="3203"/>
            <a:chExt cx="544" cy="250"/>
          </a:xfrm>
        </p:grpSpPr>
        <p:sp>
          <p:nvSpPr>
            <p:cNvPr id="342089" name="Text Box 31"/>
            <p:cNvSpPr txBox="1">
              <a:spLocks noChangeArrowheads="1"/>
            </p:cNvSpPr>
            <p:nvPr/>
          </p:nvSpPr>
          <p:spPr bwMode="auto">
            <a:xfrm>
              <a:off x="2726" y="3203"/>
              <a:ext cx="544" cy="25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3      1</a:t>
              </a:r>
            </a:p>
          </p:txBody>
        </p:sp>
        <p:sp>
          <p:nvSpPr>
            <p:cNvPr id="342090" name="Line 32"/>
            <p:cNvSpPr>
              <a:spLocks noChangeShapeType="1"/>
            </p:cNvSpPr>
            <p:nvPr/>
          </p:nvSpPr>
          <p:spPr bwMode="auto">
            <a:xfrm flipH="1">
              <a:off x="3001" y="3210"/>
              <a:ext cx="2" cy="23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42033" name="Text Box 33"/>
          <p:cNvSpPr txBox="1">
            <a:spLocks noChangeArrowheads="1"/>
          </p:cNvSpPr>
          <p:nvPr/>
        </p:nvSpPr>
        <p:spPr bwMode="auto">
          <a:xfrm>
            <a:off x="2518519" y="3606627"/>
            <a:ext cx="36036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sym typeface="Symbol" panose="05050102010706020507" pitchFamily="18" charset="2"/>
              </a:rPr>
              <a:t></a:t>
            </a:r>
          </a:p>
        </p:txBody>
      </p:sp>
      <p:grpSp>
        <p:nvGrpSpPr>
          <p:cNvPr id="342034" name="Group 34"/>
          <p:cNvGrpSpPr>
            <a:grpSpLocks/>
          </p:cNvGrpSpPr>
          <p:nvPr/>
        </p:nvGrpSpPr>
        <p:grpSpPr bwMode="auto">
          <a:xfrm>
            <a:off x="2482007" y="2565227"/>
            <a:ext cx="431800" cy="1008062"/>
            <a:chOff x="476" y="3113"/>
            <a:chExt cx="272" cy="635"/>
          </a:xfrm>
        </p:grpSpPr>
        <p:sp>
          <p:nvSpPr>
            <p:cNvPr id="342086" name="Rectangle 35"/>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4</a:t>
              </a:r>
            </a:p>
            <a:p>
              <a:pPr algn="ctr" eaLnBrk="1" hangingPunct="1">
                <a:lnSpc>
                  <a:spcPct val="120000"/>
                </a:lnSpc>
                <a:spcBef>
                  <a:spcPct val="0"/>
                </a:spcBef>
                <a:buFontTx/>
                <a:buNone/>
              </a:pPr>
              <a:r>
                <a:rPr kumimoji="0" lang="en-US" altLang="zh-CN" sz="1800" b="1"/>
                <a:t>3</a:t>
              </a:r>
            </a:p>
            <a:p>
              <a:pPr algn="ctr" eaLnBrk="1" hangingPunct="1">
                <a:lnSpc>
                  <a:spcPct val="120000"/>
                </a:lnSpc>
                <a:spcBef>
                  <a:spcPct val="0"/>
                </a:spcBef>
                <a:buFontTx/>
                <a:buNone/>
              </a:pPr>
              <a:r>
                <a:rPr kumimoji="0" lang="en-US" altLang="zh-CN" sz="1800" b="1"/>
                <a:t>2</a:t>
              </a:r>
            </a:p>
          </p:txBody>
        </p:sp>
        <p:sp>
          <p:nvSpPr>
            <p:cNvPr id="342087" name="Line 36"/>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2088" name="Line 37"/>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42035" name="Group 38"/>
          <p:cNvGrpSpPr>
            <a:grpSpLocks/>
          </p:cNvGrpSpPr>
          <p:nvPr/>
        </p:nvGrpSpPr>
        <p:grpSpPr bwMode="auto">
          <a:xfrm>
            <a:off x="3002707" y="5024264"/>
            <a:ext cx="863600" cy="396875"/>
            <a:chOff x="2726" y="3203"/>
            <a:chExt cx="544" cy="250"/>
          </a:xfrm>
        </p:grpSpPr>
        <p:sp>
          <p:nvSpPr>
            <p:cNvPr id="342084" name="Text Box 39"/>
            <p:cNvSpPr txBox="1">
              <a:spLocks noChangeArrowheads="1"/>
            </p:cNvSpPr>
            <p:nvPr/>
          </p:nvSpPr>
          <p:spPr bwMode="auto">
            <a:xfrm>
              <a:off x="2726" y="3203"/>
              <a:ext cx="544" cy="25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2      1</a:t>
              </a:r>
            </a:p>
          </p:txBody>
        </p:sp>
        <p:sp>
          <p:nvSpPr>
            <p:cNvPr id="342085" name="Line 40"/>
            <p:cNvSpPr>
              <a:spLocks noChangeShapeType="1"/>
            </p:cNvSpPr>
            <p:nvPr/>
          </p:nvSpPr>
          <p:spPr bwMode="auto">
            <a:xfrm flipH="1">
              <a:off x="3001" y="3210"/>
              <a:ext cx="2" cy="23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42036" name="Text Box 41"/>
          <p:cNvSpPr txBox="1">
            <a:spLocks noChangeArrowheads="1"/>
          </p:cNvSpPr>
          <p:nvPr/>
        </p:nvSpPr>
        <p:spPr bwMode="auto">
          <a:xfrm>
            <a:off x="3080494" y="3614564"/>
            <a:ext cx="3603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sym typeface="Symbol" panose="05050102010706020507" pitchFamily="18" charset="2"/>
              </a:rPr>
              <a:t></a:t>
            </a:r>
          </a:p>
        </p:txBody>
      </p:sp>
      <p:sp>
        <p:nvSpPr>
          <p:cNvPr id="342037" name="Text Box 42"/>
          <p:cNvSpPr txBox="1">
            <a:spLocks noChangeArrowheads="1"/>
          </p:cNvSpPr>
          <p:nvPr/>
        </p:nvSpPr>
        <p:spPr bwMode="auto">
          <a:xfrm>
            <a:off x="4426694" y="4292427"/>
            <a:ext cx="431800" cy="396875"/>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0</a:t>
            </a:r>
          </a:p>
        </p:txBody>
      </p:sp>
      <p:sp>
        <p:nvSpPr>
          <p:cNvPr id="342038" name="Text Box 43"/>
          <p:cNvSpPr txBox="1">
            <a:spLocks noChangeArrowheads="1"/>
          </p:cNvSpPr>
          <p:nvPr/>
        </p:nvSpPr>
        <p:spPr bwMode="auto">
          <a:xfrm>
            <a:off x="5514132" y="5021089"/>
            <a:ext cx="431800" cy="396875"/>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0</a:t>
            </a:r>
          </a:p>
        </p:txBody>
      </p:sp>
      <p:sp>
        <p:nvSpPr>
          <p:cNvPr id="342039" name="Text Box 44"/>
          <p:cNvSpPr txBox="1">
            <a:spLocks noChangeArrowheads="1"/>
          </p:cNvSpPr>
          <p:nvPr/>
        </p:nvSpPr>
        <p:spPr bwMode="auto">
          <a:xfrm>
            <a:off x="3490069" y="5013152"/>
            <a:ext cx="431800" cy="396875"/>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0</a:t>
            </a:r>
          </a:p>
        </p:txBody>
      </p:sp>
      <p:grpSp>
        <p:nvGrpSpPr>
          <p:cNvPr id="342040" name="Group 45"/>
          <p:cNvGrpSpPr>
            <a:grpSpLocks/>
          </p:cNvGrpSpPr>
          <p:nvPr/>
        </p:nvGrpSpPr>
        <p:grpSpPr bwMode="auto">
          <a:xfrm>
            <a:off x="3058269" y="2565227"/>
            <a:ext cx="431800" cy="1008062"/>
            <a:chOff x="476" y="3113"/>
            <a:chExt cx="272" cy="635"/>
          </a:xfrm>
        </p:grpSpPr>
        <p:sp>
          <p:nvSpPr>
            <p:cNvPr id="342081" name="Rectangle 46"/>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1</a:t>
              </a:r>
            </a:p>
            <a:p>
              <a:pPr algn="ctr" eaLnBrk="1" hangingPunct="1">
                <a:lnSpc>
                  <a:spcPct val="120000"/>
                </a:lnSpc>
                <a:spcBef>
                  <a:spcPct val="0"/>
                </a:spcBef>
                <a:buFontTx/>
                <a:buNone/>
              </a:pPr>
              <a:r>
                <a:rPr kumimoji="0" lang="en-US" altLang="zh-CN" sz="1800" b="1"/>
                <a:t>3</a:t>
              </a:r>
            </a:p>
            <a:p>
              <a:pPr algn="ctr" eaLnBrk="1" hangingPunct="1">
                <a:lnSpc>
                  <a:spcPct val="120000"/>
                </a:lnSpc>
                <a:spcBef>
                  <a:spcPct val="0"/>
                </a:spcBef>
                <a:buFontTx/>
                <a:buNone/>
              </a:pPr>
              <a:r>
                <a:rPr kumimoji="0" lang="en-US" altLang="zh-CN" sz="1800" b="1"/>
                <a:t>2</a:t>
              </a:r>
            </a:p>
          </p:txBody>
        </p:sp>
        <p:sp>
          <p:nvSpPr>
            <p:cNvPr id="342082" name="Line 47"/>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2083" name="Line 48"/>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42041" name="Group 49"/>
          <p:cNvGrpSpPr>
            <a:grpSpLocks/>
          </p:cNvGrpSpPr>
          <p:nvPr/>
        </p:nvGrpSpPr>
        <p:grpSpPr bwMode="auto">
          <a:xfrm>
            <a:off x="3939332" y="4292427"/>
            <a:ext cx="863600" cy="396875"/>
            <a:chOff x="2726" y="3203"/>
            <a:chExt cx="544" cy="250"/>
          </a:xfrm>
        </p:grpSpPr>
        <p:sp>
          <p:nvSpPr>
            <p:cNvPr id="342079" name="Text Box 50"/>
            <p:cNvSpPr txBox="1">
              <a:spLocks noChangeArrowheads="1"/>
            </p:cNvSpPr>
            <p:nvPr/>
          </p:nvSpPr>
          <p:spPr bwMode="auto">
            <a:xfrm>
              <a:off x="2726" y="3203"/>
              <a:ext cx="544" cy="25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1      1</a:t>
              </a:r>
            </a:p>
          </p:txBody>
        </p:sp>
        <p:sp>
          <p:nvSpPr>
            <p:cNvPr id="342080" name="Line 51"/>
            <p:cNvSpPr>
              <a:spLocks noChangeShapeType="1"/>
            </p:cNvSpPr>
            <p:nvPr/>
          </p:nvSpPr>
          <p:spPr bwMode="auto">
            <a:xfrm flipH="1">
              <a:off x="3001" y="3210"/>
              <a:ext cx="2" cy="23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42042" name="Text Box 52"/>
          <p:cNvSpPr txBox="1">
            <a:spLocks noChangeArrowheads="1"/>
          </p:cNvSpPr>
          <p:nvPr/>
        </p:nvSpPr>
        <p:spPr bwMode="auto">
          <a:xfrm>
            <a:off x="3656757" y="3612977"/>
            <a:ext cx="3603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sym typeface="Symbol" panose="05050102010706020507" pitchFamily="18" charset="2"/>
              </a:rPr>
              <a:t></a:t>
            </a:r>
          </a:p>
        </p:txBody>
      </p:sp>
      <p:grpSp>
        <p:nvGrpSpPr>
          <p:cNvPr id="342043" name="Group 53"/>
          <p:cNvGrpSpPr>
            <a:grpSpLocks/>
          </p:cNvGrpSpPr>
          <p:nvPr/>
        </p:nvGrpSpPr>
        <p:grpSpPr bwMode="auto">
          <a:xfrm>
            <a:off x="3634532" y="2565227"/>
            <a:ext cx="431800" cy="1008062"/>
            <a:chOff x="476" y="3113"/>
            <a:chExt cx="272" cy="635"/>
          </a:xfrm>
        </p:grpSpPr>
        <p:sp>
          <p:nvSpPr>
            <p:cNvPr id="342076" name="Rectangle 54"/>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1</a:t>
              </a:r>
            </a:p>
            <a:p>
              <a:pPr algn="ctr" eaLnBrk="1" hangingPunct="1">
                <a:lnSpc>
                  <a:spcPct val="120000"/>
                </a:lnSpc>
                <a:spcBef>
                  <a:spcPct val="0"/>
                </a:spcBef>
                <a:buFontTx/>
                <a:buNone/>
              </a:pPr>
              <a:r>
                <a:rPr kumimoji="0" lang="en-US" altLang="zh-CN" sz="1800" b="1"/>
                <a:t>4</a:t>
              </a:r>
            </a:p>
            <a:p>
              <a:pPr algn="ctr" eaLnBrk="1" hangingPunct="1">
                <a:lnSpc>
                  <a:spcPct val="120000"/>
                </a:lnSpc>
                <a:spcBef>
                  <a:spcPct val="0"/>
                </a:spcBef>
                <a:buFontTx/>
                <a:buNone/>
              </a:pPr>
              <a:r>
                <a:rPr kumimoji="0" lang="en-US" altLang="zh-CN" sz="1800" b="1"/>
                <a:t>2</a:t>
              </a:r>
            </a:p>
          </p:txBody>
        </p:sp>
        <p:sp>
          <p:nvSpPr>
            <p:cNvPr id="342077" name="Line 55"/>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2078" name="Line 56"/>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42044" name="Group 57"/>
          <p:cNvGrpSpPr>
            <a:grpSpLocks/>
          </p:cNvGrpSpPr>
          <p:nvPr/>
        </p:nvGrpSpPr>
        <p:grpSpPr bwMode="auto">
          <a:xfrm>
            <a:off x="5018832" y="5040139"/>
            <a:ext cx="863600" cy="396875"/>
            <a:chOff x="2726" y="3203"/>
            <a:chExt cx="544" cy="250"/>
          </a:xfrm>
        </p:grpSpPr>
        <p:sp>
          <p:nvSpPr>
            <p:cNvPr id="342074" name="Text Box 58"/>
            <p:cNvSpPr txBox="1">
              <a:spLocks noChangeArrowheads="1"/>
            </p:cNvSpPr>
            <p:nvPr/>
          </p:nvSpPr>
          <p:spPr bwMode="auto">
            <a:xfrm>
              <a:off x="2726" y="3203"/>
              <a:ext cx="544" cy="25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4      1</a:t>
              </a:r>
            </a:p>
          </p:txBody>
        </p:sp>
        <p:sp>
          <p:nvSpPr>
            <p:cNvPr id="342075" name="Line 59"/>
            <p:cNvSpPr>
              <a:spLocks noChangeShapeType="1"/>
            </p:cNvSpPr>
            <p:nvPr/>
          </p:nvSpPr>
          <p:spPr bwMode="auto">
            <a:xfrm flipH="1">
              <a:off x="3001" y="3210"/>
              <a:ext cx="2" cy="23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42045" name="Text Box 60"/>
          <p:cNvSpPr txBox="1">
            <a:spLocks noChangeArrowheads="1"/>
          </p:cNvSpPr>
          <p:nvPr/>
        </p:nvSpPr>
        <p:spPr bwMode="auto">
          <a:xfrm>
            <a:off x="4233019" y="3589164"/>
            <a:ext cx="3603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sym typeface="Symbol" panose="05050102010706020507" pitchFamily="18" charset="2"/>
              </a:rPr>
              <a:t></a:t>
            </a:r>
          </a:p>
        </p:txBody>
      </p:sp>
      <p:grpSp>
        <p:nvGrpSpPr>
          <p:cNvPr id="342046" name="Group 61"/>
          <p:cNvGrpSpPr>
            <a:grpSpLocks/>
          </p:cNvGrpSpPr>
          <p:nvPr/>
        </p:nvGrpSpPr>
        <p:grpSpPr bwMode="auto">
          <a:xfrm>
            <a:off x="4194919" y="2565227"/>
            <a:ext cx="431800" cy="1008062"/>
            <a:chOff x="476" y="3113"/>
            <a:chExt cx="272" cy="635"/>
          </a:xfrm>
        </p:grpSpPr>
        <p:sp>
          <p:nvSpPr>
            <p:cNvPr id="342071" name="Rectangle 62"/>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1</a:t>
              </a:r>
            </a:p>
            <a:p>
              <a:pPr algn="ctr" eaLnBrk="1" hangingPunct="1">
                <a:lnSpc>
                  <a:spcPct val="120000"/>
                </a:lnSpc>
                <a:spcBef>
                  <a:spcPct val="0"/>
                </a:spcBef>
                <a:buFontTx/>
                <a:buNone/>
              </a:pPr>
              <a:r>
                <a:rPr kumimoji="0" lang="en-US" altLang="zh-CN" sz="1800" b="1"/>
                <a:t>4</a:t>
              </a:r>
            </a:p>
            <a:p>
              <a:pPr algn="ctr" eaLnBrk="1" hangingPunct="1">
                <a:lnSpc>
                  <a:spcPct val="120000"/>
                </a:lnSpc>
                <a:spcBef>
                  <a:spcPct val="0"/>
                </a:spcBef>
                <a:buFontTx/>
                <a:buNone/>
              </a:pPr>
              <a:r>
                <a:rPr kumimoji="0" lang="en-US" altLang="zh-CN" sz="1800" b="1"/>
                <a:t>3</a:t>
              </a:r>
            </a:p>
          </p:txBody>
        </p:sp>
        <p:sp>
          <p:nvSpPr>
            <p:cNvPr id="342072" name="Line 63"/>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2073" name="Line 64"/>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42047" name="Group 65"/>
          <p:cNvGrpSpPr>
            <a:grpSpLocks/>
          </p:cNvGrpSpPr>
          <p:nvPr/>
        </p:nvGrpSpPr>
        <p:grpSpPr bwMode="auto">
          <a:xfrm>
            <a:off x="3002707" y="5032202"/>
            <a:ext cx="863600" cy="396875"/>
            <a:chOff x="2726" y="3203"/>
            <a:chExt cx="544" cy="250"/>
          </a:xfrm>
        </p:grpSpPr>
        <p:sp>
          <p:nvSpPr>
            <p:cNvPr id="342069" name="Text Box 66"/>
            <p:cNvSpPr txBox="1">
              <a:spLocks noChangeArrowheads="1"/>
            </p:cNvSpPr>
            <p:nvPr/>
          </p:nvSpPr>
          <p:spPr bwMode="auto">
            <a:xfrm>
              <a:off x="2726" y="3203"/>
              <a:ext cx="544" cy="25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3      1</a:t>
              </a:r>
            </a:p>
          </p:txBody>
        </p:sp>
        <p:sp>
          <p:nvSpPr>
            <p:cNvPr id="342070" name="Line 67"/>
            <p:cNvSpPr>
              <a:spLocks noChangeShapeType="1"/>
            </p:cNvSpPr>
            <p:nvPr/>
          </p:nvSpPr>
          <p:spPr bwMode="auto">
            <a:xfrm flipH="1">
              <a:off x="3001" y="3210"/>
              <a:ext cx="2" cy="23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42048" name="Text Box 68"/>
          <p:cNvSpPr txBox="1">
            <a:spLocks noChangeArrowheads="1"/>
          </p:cNvSpPr>
          <p:nvPr/>
        </p:nvSpPr>
        <p:spPr bwMode="auto">
          <a:xfrm>
            <a:off x="4802932" y="3573289"/>
            <a:ext cx="3603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sym typeface="Symbol" panose="05050102010706020507" pitchFamily="18" charset="2"/>
              </a:rPr>
              <a:t></a:t>
            </a:r>
          </a:p>
        </p:txBody>
      </p:sp>
      <p:sp>
        <p:nvSpPr>
          <p:cNvPr id="342049" name="Text Box 69"/>
          <p:cNvSpPr txBox="1">
            <a:spLocks noChangeArrowheads="1"/>
          </p:cNvSpPr>
          <p:nvPr/>
        </p:nvSpPr>
        <p:spPr bwMode="auto">
          <a:xfrm>
            <a:off x="4402882" y="4292427"/>
            <a:ext cx="431800" cy="396875"/>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0</a:t>
            </a:r>
          </a:p>
        </p:txBody>
      </p:sp>
      <p:sp>
        <p:nvSpPr>
          <p:cNvPr id="342050" name="Text Box 70"/>
          <p:cNvSpPr txBox="1">
            <a:spLocks noChangeArrowheads="1"/>
          </p:cNvSpPr>
          <p:nvPr/>
        </p:nvSpPr>
        <p:spPr bwMode="auto">
          <a:xfrm>
            <a:off x="5514132" y="5048077"/>
            <a:ext cx="431800" cy="396875"/>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0</a:t>
            </a:r>
          </a:p>
        </p:txBody>
      </p:sp>
      <p:sp>
        <p:nvSpPr>
          <p:cNvPr id="342051" name="Text Box 71"/>
          <p:cNvSpPr txBox="1">
            <a:spLocks noChangeArrowheads="1"/>
          </p:cNvSpPr>
          <p:nvPr/>
        </p:nvSpPr>
        <p:spPr bwMode="auto">
          <a:xfrm>
            <a:off x="3498007" y="5013152"/>
            <a:ext cx="431800" cy="396875"/>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0</a:t>
            </a:r>
          </a:p>
        </p:txBody>
      </p:sp>
      <p:grpSp>
        <p:nvGrpSpPr>
          <p:cNvPr id="342052" name="Group 72"/>
          <p:cNvGrpSpPr>
            <a:grpSpLocks/>
          </p:cNvGrpSpPr>
          <p:nvPr/>
        </p:nvGrpSpPr>
        <p:grpSpPr bwMode="auto">
          <a:xfrm>
            <a:off x="4760069" y="2565227"/>
            <a:ext cx="431800" cy="1008062"/>
            <a:chOff x="476" y="3113"/>
            <a:chExt cx="272" cy="635"/>
          </a:xfrm>
        </p:grpSpPr>
        <p:sp>
          <p:nvSpPr>
            <p:cNvPr id="342066" name="Rectangle 73"/>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5</a:t>
              </a:r>
            </a:p>
            <a:p>
              <a:pPr algn="ctr" eaLnBrk="1" hangingPunct="1">
                <a:lnSpc>
                  <a:spcPct val="120000"/>
                </a:lnSpc>
                <a:spcBef>
                  <a:spcPct val="0"/>
                </a:spcBef>
                <a:buFontTx/>
                <a:buNone/>
              </a:pPr>
              <a:r>
                <a:rPr kumimoji="0" lang="en-US" altLang="zh-CN" sz="1800" b="1"/>
                <a:t>4</a:t>
              </a:r>
            </a:p>
            <a:p>
              <a:pPr algn="ctr" eaLnBrk="1" hangingPunct="1">
                <a:lnSpc>
                  <a:spcPct val="120000"/>
                </a:lnSpc>
                <a:spcBef>
                  <a:spcPct val="0"/>
                </a:spcBef>
                <a:buFontTx/>
                <a:buNone/>
              </a:pPr>
              <a:r>
                <a:rPr kumimoji="0" lang="en-US" altLang="zh-CN" sz="1800" b="1"/>
                <a:t>3</a:t>
              </a:r>
            </a:p>
          </p:txBody>
        </p:sp>
        <p:sp>
          <p:nvSpPr>
            <p:cNvPr id="342067" name="Line 74"/>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2068" name="Line 75"/>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42053" name="Group 76"/>
          <p:cNvGrpSpPr>
            <a:grpSpLocks/>
          </p:cNvGrpSpPr>
          <p:nvPr/>
        </p:nvGrpSpPr>
        <p:grpSpPr bwMode="auto">
          <a:xfrm>
            <a:off x="3923457" y="4308302"/>
            <a:ext cx="863600" cy="396875"/>
            <a:chOff x="2726" y="3203"/>
            <a:chExt cx="544" cy="250"/>
          </a:xfrm>
        </p:grpSpPr>
        <p:sp>
          <p:nvSpPr>
            <p:cNvPr id="342064" name="Text Box 77"/>
            <p:cNvSpPr txBox="1">
              <a:spLocks noChangeArrowheads="1"/>
            </p:cNvSpPr>
            <p:nvPr/>
          </p:nvSpPr>
          <p:spPr bwMode="auto">
            <a:xfrm>
              <a:off x="2726" y="3203"/>
              <a:ext cx="544" cy="25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5      1</a:t>
              </a:r>
            </a:p>
          </p:txBody>
        </p:sp>
        <p:sp>
          <p:nvSpPr>
            <p:cNvPr id="342065" name="Line 78"/>
            <p:cNvSpPr>
              <a:spLocks noChangeShapeType="1"/>
            </p:cNvSpPr>
            <p:nvPr/>
          </p:nvSpPr>
          <p:spPr bwMode="auto">
            <a:xfrm flipH="1">
              <a:off x="3001" y="3210"/>
              <a:ext cx="2" cy="23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81711" name="Group 79"/>
          <p:cNvGrpSpPr>
            <a:grpSpLocks/>
          </p:cNvGrpSpPr>
          <p:nvPr/>
        </p:nvGrpSpPr>
        <p:grpSpPr bwMode="auto">
          <a:xfrm>
            <a:off x="5363319" y="2565227"/>
            <a:ext cx="431800" cy="1008062"/>
            <a:chOff x="476" y="3113"/>
            <a:chExt cx="272" cy="635"/>
          </a:xfrm>
        </p:grpSpPr>
        <p:sp>
          <p:nvSpPr>
            <p:cNvPr id="342061" name="Rectangle 80"/>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5</a:t>
              </a:r>
            </a:p>
            <a:p>
              <a:pPr algn="ctr" eaLnBrk="1" hangingPunct="1">
                <a:lnSpc>
                  <a:spcPct val="120000"/>
                </a:lnSpc>
                <a:spcBef>
                  <a:spcPct val="0"/>
                </a:spcBef>
                <a:buFontTx/>
                <a:buNone/>
              </a:pPr>
              <a:r>
                <a:rPr kumimoji="0" lang="en-US" altLang="zh-CN" sz="1800" b="1"/>
                <a:t>4</a:t>
              </a:r>
            </a:p>
            <a:p>
              <a:pPr algn="ctr" eaLnBrk="1" hangingPunct="1">
                <a:lnSpc>
                  <a:spcPct val="120000"/>
                </a:lnSpc>
                <a:spcBef>
                  <a:spcPct val="0"/>
                </a:spcBef>
                <a:buFontTx/>
                <a:buNone/>
              </a:pPr>
              <a:r>
                <a:rPr kumimoji="0" lang="en-US" altLang="zh-CN" sz="1800" b="1"/>
                <a:t>3</a:t>
              </a:r>
            </a:p>
          </p:txBody>
        </p:sp>
        <p:sp>
          <p:nvSpPr>
            <p:cNvPr id="342062" name="Line 81"/>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2063" name="Line 82"/>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81715" name="Text Box 83"/>
          <p:cNvSpPr txBox="1">
            <a:spLocks noChangeArrowheads="1"/>
          </p:cNvSpPr>
          <p:nvPr/>
        </p:nvSpPr>
        <p:spPr bwMode="auto">
          <a:xfrm>
            <a:off x="5555407" y="5013152"/>
            <a:ext cx="431800" cy="396875"/>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1</a:t>
            </a:r>
          </a:p>
        </p:txBody>
      </p:sp>
      <p:grpSp>
        <p:nvGrpSpPr>
          <p:cNvPr id="581716" name="Group 84"/>
          <p:cNvGrpSpPr>
            <a:grpSpLocks/>
          </p:cNvGrpSpPr>
          <p:nvPr/>
        </p:nvGrpSpPr>
        <p:grpSpPr bwMode="auto">
          <a:xfrm>
            <a:off x="5922119" y="2565227"/>
            <a:ext cx="431800" cy="1008062"/>
            <a:chOff x="476" y="3113"/>
            <a:chExt cx="272" cy="635"/>
          </a:xfrm>
        </p:grpSpPr>
        <p:sp>
          <p:nvSpPr>
            <p:cNvPr id="342058" name="Rectangle 85"/>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5</a:t>
              </a:r>
            </a:p>
            <a:p>
              <a:pPr algn="ctr" eaLnBrk="1" hangingPunct="1">
                <a:lnSpc>
                  <a:spcPct val="120000"/>
                </a:lnSpc>
                <a:spcBef>
                  <a:spcPct val="0"/>
                </a:spcBef>
                <a:buFontTx/>
                <a:buNone/>
              </a:pPr>
              <a:r>
                <a:rPr kumimoji="0" lang="en-US" altLang="zh-CN" sz="1800" b="1"/>
                <a:t>4</a:t>
              </a:r>
            </a:p>
            <a:p>
              <a:pPr algn="ctr" eaLnBrk="1" hangingPunct="1">
                <a:lnSpc>
                  <a:spcPct val="120000"/>
                </a:lnSpc>
                <a:spcBef>
                  <a:spcPct val="0"/>
                </a:spcBef>
                <a:buFontTx/>
                <a:buNone/>
              </a:pPr>
              <a:r>
                <a:rPr kumimoji="0" lang="en-US" altLang="zh-CN" sz="1800" b="1"/>
                <a:t>3</a:t>
              </a:r>
            </a:p>
          </p:txBody>
        </p:sp>
        <p:sp>
          <p:nvSpPr>
            <p:cNvPr id="342059" name="Line 86"/>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2060" name="Line 87"/>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81720" name="Text Box 88"/>
          <p:cNvSpPr txBox="1">
            <a:spLocks noChangeArrowheads="1"/>
          </p:cNvSpPr>
          <p:nvPr/>
        </p:nvSpPr>
        <p:spPr bwMode="auto">
          <a:xfrm>
            <a:off x="3499594" y="5013152"/>
            <a:ext cx="431800" cy="396875"/>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1</a:t>
            </a:r>
          </a:p>
        </p:txBody>
      </p:sp>
      <p:sp>
        <p:nvSpPr>
          <p:cNvPr id="3" name="Date Placeholder 2"/>
          <p:cNvSpPr>
            <a:spLocks noGrp="1"/>
          </p:cNvSpPr>
          <p:nvPr>
            <p:ph type="dt" sz="half" idx="10"/>
          </p:nvPr>
        </p:nvSpPr>
        <p:spPr/>
        <p:txBody>
          <a:bodyPr/>
          <a:lstStyle/>
          <a:p>
            <a:fld id="{869BE24F-1BD2-47F4-B25C-AEF8D4981C6F}" type="datetime1">
              <a:rPr lang="zh-CN" altLang="en-US" smtClean="0"/>
              <a:pPr/>
              <a:t>2018/8/3</a:t>
            </a:fld>
            <a:endParaRPr lang="zh-CN" altLang="en-US" dirty="0"/>
          </a:p>
        </p:txBody>
      </p:sp>
      <p:sp>
        <p:nvSpPr>
          <p:cNvPr id="4" name="Footer Placeholder 3"/>
          <p:cNvSpPr>
            <a:spLocks noGrp="1"/>
          </p:cNvSpPr>
          <p:nvPr>
            <p:ph type="ftr" sz="quarter" idx="11"/>
          </p:nvPr>
        </p:nvSpPr>
        <p:spPr/>
        <p:txBody>
          <a:bodyPr/>
          <a:lstStyle/>
          <a:p>
            <a:r>
              <a:rPr lang="en-US" altLang="zh-CN"/>
              <a:t>CH07 Memory Management</a:t>
            </a:r>
            <a:endParaRPr lang="zh-CN" altLang="en-US" dirty="0"/>
          </a:p>
        </p:txBody>
      </p:sp>
      <p:sp>
        <p:nvSpPr>
          <p:cNvPr id="93" name="Slide Number Placeholder 5"/>
          <p:cNvSpPr>
            <a:spLocks noGrp="1"/>
          </p:cNvSpPr>
          <p:nvPr>
            <p:ph type="sldNum" sz="quarter" idx="12"/>
          </p:nvPr>
        </p:nvSpPr>
        <p:spPr>
          <a:xfrm>
            <a:off x="6119832" y="6669360"/>
            <a:ext cx="3009936" cy="187200"/>
          </a:xfrm>
        </p:spPr>
        <p:txBody>
          <a:bodyPr/>
          <a:lstStyle/>
          <a:p>
            <a:r>
              <a:rPr lang="en-US" altLang="zh-CN" dirty="0"/>
              <a:t>127</a:t>
            </a:r>
            <a:endParaRPr lang="zh-CN" altLang="en-US" dirty="0"/>
          </a:p>
        </p:txBody>
      </p:sp>
    </p:spTree>
    <p:extLst>
      <p:ext uri="{BB962C8B-B14F-4D97-AF65-F5344CB8AC3E}">
        <p14:creationId xmlns:p14="http://schemas.microsoft.com/office/powerpoint/2010/main" val="372466260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0"/>
                                  </p:stCondLst>
                                  <p:childTnLst>
                                    <p:set>
                                      <p:cBhvr>
                                        <p:cTn id="6" dur="1" fill="hold">
                                          <p:stCondLst>
                                            <p:cond delay="0"/>
                                          </p:stCondLst>
                                        </p:cTn>
                                        <p:tgtEl>
                                          <p:spTgt spid="58171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8171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8171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817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1715" grpId="0" animBg="1"/>
      <p:bldP spid="581720" grpId="0" animBg="1"/>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706" name="Rectangle 2"/>
          <p:cNvSpPr>
            <a:spLocks noGrp="1" noChangeArrowheads="1"/>
          </p:cNvSpPr>
          <p:nvPr>
            <p:ph type="title"/>
          </p:nvPr>
        </p:nvSpPr>
        <p:spPr/>
        <p:txBody>
          <a:bodyPr/>
          <a:lstStyle/>
          <a:p>
            <a:pPr>
              <a:defRPr/>
            </a:pPr>
            <a:r>
              <a:rPr lang="zh-CN" altLang="en-US" dirty="0"/>
              <a:t>时钟置换算法</a:t>
            </a:r>
            <a:endParaRPr lang="zh-CN" altLang="en-US" dirty="0">
              <a:ea typeface="黑体" panose="02010609060101010101" pitchFamily="49" charset="-122"/>
            </a:endParaRPr>
          </a:p>
        </p:txBody>
      </p:sp>
      <p:grpSp>
        <p:nvGrpSpPr>
          <p:cNvPr id="344069" name="Group 4"/>
          <p:cNvGrpSpPr>
            <a:grpSpLocks/>
          </p:cNvGrpSpPr>
          <p:nvPr/>
        </p:nvGrpSpPr>
        <p:grpSpPr bwMode="auto">
          <a:xfrm>
            <a:off x="1342182" y="2565227"/>
            <a:ext cx="431800" cy="1008062"/>
            <a:chOff x="476" y="3113"/>
            <a:chExt cx="272" cy="635"/>
          </a:xfrm>
        </p:grpSpPr>
        <p:sp>
          <p:nvSpPr>
            <p:cNvPr id="344155" name="Rectangle 5"/>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4</a:t>
              </a:r>
            </a:p>
            <a:p>
              <a:pPr algn="ctr" eaLnBrk="1" hangingPunct="1">
                <a:lnSpc>
                  <a:spcPct val="120000"/>
                </a:lnSpc>
                <a:spcBef>
                  <a:spcPct val="0"/>
                </a:spcBef>
                <a:buFontTx/>
                <a:buNone/>
              </a:pPr>
              <a:r>
                <a:rPr kumimoji="0" lang="en-US" altLang="zh-CN" sz="1800" b="1"/>
                <a:t> </a:t>
              </a:r>
            </a:p>
            <a:p>
              <a:pPr algn="ctr" eaLnBrk="1" hangingPunct="1">
                <a:lnSpc>
                  <a:spcPct val="120000"/>
                </a:lnSpc>
                <a:spcBef>
                  <a:spcPct val="0"/>
                </a:spcBef>
                <a:buFontTx/>
                <a:buNone/>
              </a:pPr>
              <a:r>
                <a:rPr kumimoji="0" lang="en-US" altLang="zh-CN" sz="1800" b="1"/>
                <a:t> </a:t>
              </a:r>
            </a:p>
          </p:txBody>
        </p:sp>
        <p:sp>
          <p:nvSpPr>
            <p:cNvPr id="344156" name="Line 6"/>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4157" name="Line 7"/>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44070" name="Text Box 8"/>
          <p:cNvSpPr txBox="1">
            <a:spLocks noChangeArrowheads="1"/>
          </p:cNvSpPr>
          <p:nvPr/>
        </p:nvSpPr>
        <p:spPr bwMode="auto">
          <a:xfrm>
            <a:off x="1259632" y="2204864"/>
            <a:ext cx="67691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2000" b="1"/>
              <a:t>  4       3       2       1       4       3       5       4       3       2       1       5</a:t>
            </a:r>
          </a:p>
        </p:txBody>
      </p:sp>
      <p:sp>
        <p:nvSpPr>
          <p:cNvPr id="344071" name="Text Box 9"/>
          <p:cNvSpPr txBox="1">
            <a:spLocks noChangeArrowheads="1"/>
          </p:cNvSpPr>
          <p:nvPr/>
        </p:nvSpPr>
        <p:spPr bwMode="auto">
          <a:xfrm>
            <a:off x="1386632" y="3597102"/>
            <a:ext cx="3603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sym typeface="Symbol" panose="05050102010706020507" pitchFamily="18" charset="2"/>
              </a:rPr>
              <a:t></a:t>
            </a:r>
          </a:p>
        </p:txBody>
      </p:sp>
      <p:grpSp>
        <p:nvGrpSpPr>
          <p:cNvPr id="344072" name="Group 10"/>
          <p:cNvGrpSpPr>
            <a:grpSpLocks/>
          </p:cNvGrpSpPr>
          <p:nvPr/>
        </p:nvGrpSpPr>
        <p:grpSpPr bwMode="auto">
          <a:xfrm>
            <a:off x="3778994" y="4292427"/>
            <a:ext cx="2232025" cy="1152525"/>
            <a:chOff x="2699" y="3158"/>
            <a:chExt cx="1406" cy="726"/>
          </a:xfrm>
        </p:grpSpPr>
        <p:grpSp>
          <p:nvGrpSpPr>
            <p:cNvPr id="344148" name="Group 11"/>
            <p:cNvGrpSpPr>
              <a:grpSpLocks/>
            </p:cNvGrpSpPr>
            <p:nvPr/>
          </p:nvGrpSpPr>
          <p:grpSpPr bwMode="auto">
            <a:xfrm>
              <a:off x="2699" y="3158"/>
              <a:ext cx="725" cy="272"/>
              <a:chOff x="2699" y="3203"/>
              <a:chExt cx="725" cy="272"/>
            </a:xfrm>
          </p:grpSpPr>
          <p:sp>
            <p:nvSpPr>
              <p:cNvPr id="344153" name="Rectangle 12"/>
              <p:cNvSpPr>
                <a:spLocks noChangeArrowheads="1"/>
              </p:cNvSpPr>
              <p:nvPr/>
            </p:nvSpPr>
            <p:spPr bwMode="auto">
              <a:xfrm>
                <a:off x="2699" y="3203"/>
                <a:ext cx="725" cy="27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zh-CN" sz="2000" b="1"/>
              </a:p>
            </p:txBody>
          </p:sp>
          <p:sp>
            <p:nvSpPr>
              <p:cNvPr id="344154" name="Line 13"/>
              <p:cNvSpPr>
                <a:spLocks noChangeShapeType="1"/>
              </p:cNvSpPr>
              <p:nvPr/>
            </p:nvSpPr>
            <p:spPr bwMode="auto">
              <a:xfrm>
                <a:off x="3075" y="3203"/>
                <a:ext cx="0"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44149" name="Group 14"/>
            <p:cNvGrpSpPr>
              <a:grpSpLocks/>
            </p:cNvGrpSpPr>
            <p:nvPr/>
          </p:nvGrpSpPr>
          <p:grpSpPr bwMode="auto">
            <a:xfrm>
              <a:off x="3380" y="3612"/>
              <a:ext cx="725" cy="272"/>
              <a:chOff x="2699" y="3203"/>
              <a:chExt cx="725" cy="272"/>
            </a:xfrm>
          </p:grpSpPr>
          <p:sp>
            <p:nvSpPr>
              <p:cNvPr id="344151" name="Rectangle 15"/>
              <p:cNvSpPr>
                <a:spLocks noChangeArrowheads="1"/>
              </p:cNvSpPr>
              <p:nvPr/>
            </p:nvSpPr>
            <p:spPr bwMode="auto">
              <a:xfrm>
                <a:off x="2699" y="3203"/>
                <a:ext cx="725" cy="27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zh-CN" sz="2000" b="1"/>
              </a:p>
            </p:txBody>
          </p:sp>
          <p:sp>
            <p:nvSpPr>
              <p:cNvPr id="344152" name="Line 16"/>
              <p:cNvSpPr>
                <a:spLocks noChangeShapeType="1"/>
              </p:cNvSpPr>
              <p:nvPr/>
            </p:nvSpPr>
            <p:spPr bwMode="auto">
              <a:xfrm>
                <a:off x="3075" y="3203"/>
                <a:ext cx="0"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44150" name="Line 17"/>
            <p:cNvSpPr>
              <a:spLocks noChangeShapeType="1"/>
            </p:cNvSpPr>
            <p:nvPr/>
          </p:nvSpPr>
          <p:spPr bwMode="auto">
            <a:xfrm>
              <a:off x="3424" y="3294"/>
              <a:ext cx="318" cy="31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44073" name="Group 18"/>
          <p:cNvGrpSpPr>
            <a:grpSpLocks/>
          </p:cNvGrpSpPr>
          <p:nvPr/>
        </p:nvGrpSpPr>
        <p:grpSpPr bwMode="auto">
          <a:xfrm>
            <a:off x="2842369" y="5013152"/>
            <a:ext cx="1150938" cy="431800"/>
            <a:chOff x="2699" y="3203"/>
            <a:chExt cx="725" cy="272"/>
          </a:xfrm>
        </p:grpSpPr>
        <p:sp>
          <p:nvSpPr>
            <p:cNvPr id="344146" name="Rectangle 19"/>
            <p:cNvSpPr>
              <a:spLocks noChangeArrowheads="1"/>
            </p:cNvSpPr>
            <p:nvPr/>
          </p:nvSpPr>
          <p:spPr bwMode="auto">
            <a:xfrm>
              <a:off x="2699" y="3203"/>
              <a:ext cx="725" cy="27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zh-CN" sz="2000" b="1"/>
            </a:p>
          </p:txBody>
        </p:sp>
        <p:sp>
          <p:nvSpPr>
            <p:cNvPr id="344147" name="Line 20"/>
            <p:cNvSpPr>
              <a:spLocks noChangeShapeType="1"/>
            </p:cNvSpPr>
            <p:nvPr/>
          </p:nvSpPr>
          <p:spPr bwMode="auto">
            <a:xfrm>
              <a:off x="3075" y="3203"/>
              <a:ext cx="0"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44074" name="Line 21"/>
          <p:cNvSpPr>
            <a:spLocks noChangeShapeType="1"/>
          </p:cNvSpPr>
          <p:nvPr/>
        </p:nvSpPr>
        <p:spPr bwMode="auto">
          <a:xfrm flipH="1">
            <a:off x="3994894" y="5229052"/>
            <a:ext cx="863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4075" name="Line 22"/>
          <p:cNvSpPr>
            <a:spLocks noChangeShapeType="1"/>
          </p:cNvSpPr>
          <p:nvPr/>
        </p:nvSpPr>
        <p:spPr bwMode="auto">
          <a:xfrm flipV="1">
            <a:off x="3202732" y="4508327"/>
            <a:ext cx="576262" cy="5048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727" name="Oval 23"/>
          <p:cNvSpPr>
            <a:spLocks noChangeArrowheads="1"/>
          </p:cNvSpPr>
          <p:nvPr/>
        </p:nvSpPr>
        <p:spPr bwMode="auto">
          <a:xfrm>
            <a:off x="4715619" y="5157614"/>
            <a:ext cx="144463" cy="144463"/>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344077" name="Text Box 24"/>
          <p:cNvSpPr txBox="1">
            <a:spLocks noChangeArrowheads="1"/>
          </p:cNvSpPr>
          <p:nvPr/>
        </p:nvSpPr>
        <p:spPr bwMode="auto">
          <a:xfrm>
            <a:off x="3966319" y="4292427"/>
            <a:ext cx="863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4      1</a:t>
            </a:r>
          </a:p>
        </p:txBody>
      </p:sp>
      <p:sp>
        <p:nvSpPr>
          <p:cNvPr id="344078" name="Text Box 25"/>
          <p:cNvSpPr txBox="1">
            <a:spLocks noChangeArrowheads="1"/>
          </p:cNvSpPr>
          <p:nvPr/>
        </p:nvSpPr>
        <p:spPr bwMode="auto">
          <a:xfrm>
            <a:off x="1939082" y="3603452"/>
            <a:ext cx="3603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sym typeface="Symbol" panose="05050102010706020507" pitchFamily="18" charset="2"/>
              </a:rPr>
              <a:t></a:t>
            </a:r>
          </a:p>
        </p:txBody>
      </p:sp>
      <p:grpSp>
        <p:nvGrpSpPr>
          <p:cNvPr id="344079" name="Group 26"/>
          <p:cNvGrpSpPr>
            <a:grpSpLocks/>
          </p:cNvGrpSpPr>
          <p:nvPr/>
        </p:nvGrpSpPr>
        <p:grpSpPr bwMode="auto">
          <a:xfrm>
            <a:off x="1907332" y="2565227"/>
            <a:ext cx="431800" cy="1008062"/>
            <a:chOff x="476" y="3113"/>
            <a:chExt cx="272" cy="635"/>
          </a:xfrm>
        </p:grpSpPr>
        <p:sp>
          <p:nvSpPr>
            <p:cNvPr id="344143" name="Rectangle 27"/>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4</a:t>
              </a:r>
            </a:p>
            <a:p>
              <a:pPr algn="ctr" eaLnBrk="1" hangingPunct="1">
                <a:lnSpc>
                  <a:spcPct val="120000"/>
                </a:lnSpc>
                <a:spcBef>
                  <a:spcPct val="0"/>
                </a:spcBef>
                <a:buFontTx/>
                <a:buNone/>
              </a:pPr>
              <a:r>
                <a:rPr kumimoji="0" lang="en-US" altLang="zh-CN" sz="1800" b="1"/>
                <a:t>3</a:t>
              </a:r>
            </a:p>
            <a:p>
              <a:pPr algn="ctr" eaLnBrk="1" hangingPunct="1">
                <a:lnSpc>
                  <a:spcPct val="120000"/>
                </a:lnSpc>
                <a:spcBef>
                  <a:spcPct val="0"/>
                </a:spcBef>
                <a:buFontTx/>
                <a:buNone/>
              </a:pPr>
              <a:r>
                <a:rPr kumimoji="0" lang="en-US" altLang="zh-CN" sz="1800" b="1"/>
                <a:t> </a:t>
              </a:r>
            </a:p>
          </p:txBody>
        </p:sp>
        <p:sp>
          <p:nvSpPr>
            <p:cNvPr id="344144" name="Line 28"/>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4145" name="Line 29"/>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44080" name="Group 30"/>
          <p:cNvGrpSpPr>
            <a:grpSpLocks/>
          </p:cNvGrpSpPr>
          <p:nvPr/>
        </p:nvGrpSpPr>
        <p:grpSpPr bwMode="auto">
          <a:xfrm>
            <a:off x="5018832" y="5040139"/>
            <a:ext cx="863600" cy="396875"/>
            <a:chOff x="2726" y="3203"/>
            <a:chExt cx="544" cy="250"/>
          </a:xfrm>
        </p:grpSpPr>
        <p:sp>
          <p:nvSpPr>
            <p:cNvPr id="344141" name="Text Box 31"/>
            <p:cNvSpPr txBox="1">
              <a:spLocks noChangeArrowheads="1"/>
            </p:cNvSpPr>
            <p:nvPr/>
          </p:nvSpPr>
          <p:spPr bwMode="auto">
            <a:xfrm>
              <a:off x="2726" y="3203"/>
              <a:ext cx="544" cy="25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3      1</a:t>
              </a:r>
            </a:p>
          </p:txBody>
        </p:sp>
        <p:sp>
          <p:nvSpPr>
            <p:cNvPr id="344142" name="Line 32"/>
            <p:cNvSpPr>
              <a:spLocks noChangeShapeType="1"/>
            </p:cNvSpPr>
            <p:nvPr/>
          </p:nvSpPr>
          <p:spPr bwMode="auto">
            <a:xfrm flipH="1">
              <a:off x="3001" y="3210"/>
              <a:ext cx="2" cy="23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44081" name="Text Box 33"/>
          <p:cNvSpPr txBox="1">
            <a:spLocks noChangeArrowheads="1"/>
          </p:cNvSpPr>
          <p:nvPr/>
        </p:nvSpPr>
        <p:spPr bwMode="auto">
          <a:xfrm>
            <a:off x="2518519" y="3606627"/>
            <a:ext cx="36036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sym typeface="Symbol" panose="05050102010706020507" pitchFamily="18" charset="2"/>
              </a:rPr>
              <a:t></a:t>
            </a:r>
          </a:p>
        </p:txBody>
      </p:sp>
      <p:grpSp>
        <p:nvGrpSpPr>
          <p:cNvPr id="344082" name="Group 34"/>
          <p:cNvGrpSpPr>
            <a:grpSpLocks/>
          </p:cNvGrpSpPr>
          <p:nvPr/>
        </p:nvGrpSpPr>
        <p:grpSpPr bwMode="auto">
          <a:xfrm>
            <a:off x="2482007" y="2565227"/>
            <a:ext cx="431800" cy="1008062"/>
            <a:chOff x="476" y="3113"/>
            <a:chExt cx="272" cy="635"/>
          </a:xfrm>
        </p:grpSpPr>
        <p:sp>
          <p:nvSpPr>
            <p:cNvPr id="344138" name="Rectangle 35"/>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4</a:t>
              </a:r>
            </a:p>
            <a:p>
              <a:pPr algn="ctr" eaLnBrk="1" hangingPunct="1">
                <a:lnSpc>
                  <a:spcPct val="120000"/>
                </a:lnSpc>
                <a:spcBef>
                  <a:spcPct val="0"/>
                </a:spcBef>
                <a:buFontTx/>
                <a:buNone/>
              </a:pPr>
              <a:r>
                <a:rPr kumimoji="0" lang="en-US" altLang="zh-CN" sz="1800" b="1"/>
                <a:t>3</a:t>
              </a:r>
            </a:p>
            <a:p>
              <a:pPr algn="ctr" eaLnBrk="1" hangingPunct="1">
                <a:lnSpc>
                  <a:spcPct val="120000"/>
                </a:lnSpc>
                <a:spcBef>
                  <a:spcPct val="0"/>
                </a:spcBef>
                <a:buFontTx/>
                <a:buNone/>
              </a:pPr>
              <a:r>
                <a:rPr kumimoji="0" lang="en-US" altLang="zh-CN" sz="1800" b="1"/>
                <a:t>2</a:t>
              </a:r>
            </a:p>
          </p:txBody>
        </p:sp>
        <p:sp>
          <p:nvSpPr>
            <p:cNvPr id="344139" name="Line 36"/>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4140" name="Line 37"/>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44083" name="Group 38"/>
          <p:cNvGrpSpPr>
            <a:grpSpLocks/>
          </p:cNvGrpSpPr>
          <p:nvPr/>
        </p:nvGrpSpPr>
        <p:grpSpPr bwMode="auto">
          <a:xfrm>
            <a:off x="3002707" y="5024264"/>
            <a:ext cx="863600" cy="396875"/>
            <a:chOff x="2726" y="3203"/>
            <a:chExt cx="544" cy="250"/>
          </a:xfrm>
        </p:grpSpPr>
        <p:sp>
          <p:nvSpPr>
            <p:cNvPr id="344136" name="Text Box 39"/>
            <p:cNvSpPr txBox="1">
              <a:spLocks noChangeArrowheads="1"/>
            </p:cNvSpPr>
            <p:nvPr/>
          </p:nvSpPr>
          <p:spPr bwMode="auto">
            <a:xfrm>
              <a:off x="2726" y="3203"/>
              <a:ext cx="544" cy="25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2      1</a:t>
              </a:r>
            </a:p>
          </p:txBody>
        </p:sp>
        <p:sp>
          <p:nvSpPr>
            <p:cNvPr id="344137" name="Line 40"/>
            <p:cNvSpPr>
              <a:spLocks noChangeShapeType="1"/>
            </p:cNvSpPr>
            <p:nvPr/>
          </p:nvSpPr>
          <p:spPr bwMode="auto">
            <a:xfrm flipH="1">
              <a:off x="3001" y="3210"/>
              <a:ext cx="2" cy="23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44084" name="Text Box 41"/>
          <p:cNvSpPr txBox="1">
            <a:spLocks noChangeArrowheads="1"/>
          </p:cNvSpPr>
          <p:nvPr/>
        </p:nvSpPr>
        <p:spPr bwMode="auto">
          <a:xfrm>
            <a:off x="3080494" y="3614564"/>
            <a:ext cx="3603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sym typeface="Symbol" panose="05050102010706020507" pitchFamily="18" charset="2"/>
              </a:rPr>
              <a:t></a:t>
            </a:r>
          </a:p>
        </p:txBody>
      </p:sp>
      <p:sp>
        <p:nvSpPr>
          <p:cNvPr id="344085" name="Text Box 42"/>
          <p:cNvSpPr txBox="1">
            <a:spLocks noChangeArrowheads="1"/>
          </p:cNvSpPr>
          <p:nvPr/>
        </p:nvSpPr>
        <p:spPr bwMode="auto">
          <a:xfrm>
            <a:off x="4426694" y="4292427"/>
            <a:ext cx="431800" cy="396875"/>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0</a:t>
            </a:r>
          </a:p>
        </p:txBody>
      </p:sp>
      <p:sp>
        <p:nvSpPr>
          <p:cNvPr id="344086" name="Text Box 43"/>
          <p:cNvSpPr txBox="1">
            <a:spLocks noChangeArrowheads="1"/>
          </p:cNvSpPr>
          <p:nvPr/>
        </p:nvSpPr>
        <p:spPr bwMode="auto">
          <a:xfrm>
            <a:off x="5514132" y="5021089"/>
            <a:ext cx="431800" cy="396875"/>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0</a:t>
            </a:r>
          </a:p>
        </p:txBody>
      </p:sp>
      <p:sp>
        <p:nvSpPr>
          <p:cNvPr id="344087" name="Text Box 44"/>
          <p:cNvSpPr txBox="1">
            <a:spLocks noChangeArrowheads="1"/>
          </p:cNvSpPr>
          <p:nvPr/>
        </p:nvSpPr>
        <p:spPr bwMode="auto">
          <a:xfrm>
            <a:off x="3490069" y="5013152"/>
            <a:ext cx="431800" cy="396875"/>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0</a:t>
            </a:r>
          </a:p>
        </p:txBody>
      </p:sp>
      <p:grpSp>
        <p:nvGrpSpPr>
          <p:cNvPr id="344088" name="Group 45"/>
          <p:cNvGrpSpPr>
            <a:grpSpLocks/>
          </p:cNvGrpSpPr>
          <p:nvPr/>
        </p:nvGrpSpPr>
        <p:grpSpPr bwMode="auto">
          <a:xfrm>
            <a:off x="3058269" y="2565227"/>
            <a:ext cx="431800" cy="1008062"/>
            <a:chOff x="476" y="3113"/>
            <a:chExt cx="272" cy="635"/>
          </a:xfrm>
        </p:grpSpPr>
        <p:sp>
          <p:nvSpPr>
            <p:cNvPr id="344133" name="Rectangle 46"/>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1</a:t>
              </a:r>
            </a:p>
            <a:p>
              <a:pPr algn="ctr" eaLnBrk="1" hangingPunct="1">
                <a:lnSpc>
                  <a:spcPct val="120000"/>
                </a:lnSpc>
                <a:spcBef>
                  <a:spcPct val="0"/>
                </a:spcBef>
                <a:buFontTx/>
                <a:buNone/>
              </a:pPr>
              <a:r>
                <a:rPr kumimoji="0" lang="en-US" altLang="zh-CN" sz="1800" b="1"/>
                <a:t>3</a:t>
              </a:r>
            </a:p>
            <a:p>
              <a:pPr algn="ctr" eaLnBrk="1" hangingPunct="1">
                <a:lnSpc>
                  <a:spcPct val="120000"/>
                </a:lnSpc>
                <a:spcBef>
                  <a:spcPct val="0"/>
                </a:spcBef>
                <a:buFontTx/>
                <a:buNone/>
              </a:pPr>
              <a:r>
                <a:rPr kumimoji="0" lang="en-US" altLang="zh-CN" sz="1800" b="1"/>
                <a:t>2</a:t>
              </a:r>
            </a:p>
          </p:txBody>
        </p:sp>
        <p:sp>
          <p:nvSpPr>
            <p:cNvPr id="344134" name="Line 47"/>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4135" name="Line 48"/>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44089" name="Group 49"/>
          <p:cNvGrpSpPr>
            <a:grpSpLocks/>
          </p:cNvGrpSpPr>
          <p:nvPr/>
        </p:nvGrpSpPr>
        <p:grpSpPr bwMode="auto">
          <a:xfrm>
            <a:off x="3939332" y="4292427"/>
            <a:ext cx="863600" cy="396875"/>
            <a:chOff x="2726" y="3203"/>
            <a:chExt cx="544" cy="250"/>
          </a:xfrm>
        </p:grpSpPr>
        <p:sp>
          <p:nvSpPr>
            <p:cNvPr id="344131" name="Text Box 50"/>
            <p:cNvSpPr txBox="1">
              <a:spLocks noChangeArrowheads="1"/>
            </p:cNvSpPr>
            <p:nvPr/>
          </p:nvSpPr>
          <p:spPr bwMode="auto">
            <a:xfrm>
              <a:off x="2726" y="3203"/>
              <a:ext cx="544" cy="25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1      1</a:t>
              </a:r>
            </a:p>
          </p:txBody>
        </p:sp>
        <p:sp>
          <p:nvSpPr>
            <p:cNvPr id="344132" name="Line 51"/>
            <p:cNvSpPr>
              <a:spLocks noChangeShapeType="1"/>
            </p:cNvSpPr>
            <p:nvPr/>
          </p:nvSpPr>
          <p:spPr bwMode="auto">
            <a:xfrm flipH="1">
              <a:off x="3001" y="3210"/>
              <a:ext cx="2" cy="23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44090" name="Text Box 52"/>
          <p:cNvSpPr txBox="1">
            <a:spLocks noChangeArrowheads="1"/>
          </p:cNvSpPr>
          <p:nvPr/>
        </p:nvSpPr>
        <p:spPr bwMode="auto">
          <a:xfrm>
            <a:off x="3656757" y="3612977"/>
            <a:ext cx="3603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sym typeface="Symbol" panose="05050102010706020507" pitchFamily="18" charset="2"/>
              </a:rPr>
              <a:t></a:t>
            </a:r>
          </a:p>
        </p:txBody>
      </p:sp>
      <p:grpSp>
        <p:nvGrpSpPr>
          <p:cNvPr id="344091" name="Group 53"/>
          <p:cNvGrpSpPr>
            <a:grpSpLocks/>
          </p:cNvGrpSpPr>
          <p:nvPr/>
        </p:nvGrpSpPr>
        <p:grpSpPr bwMode="auto">
          <a:xfrm>
            <a:off x="3634532" y="2565227"/>
            <a:ext cx="431800" cy="1008062"/>
            <a:chOff x="476" y="3113"/>
            <a:chExt cx="272" cy="635"/>
          </a:xfrm>
        </p:grpSpPr>
        <p:sp>
          <p:nvSpPr>
            <p:cNvPr id="344128" name="Rectangle 54"/>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1</a:t>
              </a:r>
            </a:p>
            <a:p>
              <a:pPr algn="ctr" eaLnBrk="1" hangingPunct="1">
                <a:lnSpc>
                  <a:spcPct val="120000"/>
                </a:lnSpc>
                <a:spcBef>
                  <a:spcPct val="0"/>
                </a:spcBef>
                <a:buFontTx/>
                <a:buNone/>
              </a:pPr>
              <a:r>
                <a:rPr kumimoji="0" lang="en-US" altLang="zh-CN" sz="1800" b="1"/>
                <a:t>4</a:t>
              </a:r>
            </a:p>
            <a:p>
              <a:pPr algn="ctr" eaLnBrk="1" hangingPunct="1">
                <a:lnSpc>
                  <a:spcPct val="120000"/>
                </a:lnSpc>
                <a:spcBef>
                  <a:spcPct val="0"/>
                </a:spcBef>
                <a:buFontTx/>
                <a:buNone/>
              </a:pPr>
              <a:r>
                <a:rPr kumimoji="0" lang="en-US" altLang="zh-CN" sz="1800" b="1"/>
                <a:t>2</a:t>
              </a:r>
            </a:p>
          </p:txBody>
        </p:sp>
        <p:sp>
          <p:nvSpPr>
            <p:cNvPr id="344129" name="Line 55"/>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4130" name="Line 56"/>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44092" name="Group 57"/>
          <p:cNvGrpSpPr>
            <a:grpSpLocks/>
          </p:cNvGrpSpPr>
          <p:nvPr/>
        </p:nvGrpSpPr>
        <p:grpSpPr bwMode="auto">
          <a:xfrm>
            <a:off x="5018832" y="5040139"/>
            <a:ext cx="863600" cy="396875"/>
            <a:chOff x="2726" y="3203"/>
            <a:chExt cx="544" cy="250"/>
          </a:xfrm>
        </p:grpSpPr>
        <p:sp>
          <p:nvSpPr>
            <p:cNvPr id="344126" name="Text Box 58"/>
            <p:cNvSpPr txBox="1">
              <a:spLocks noChangeArrowheads="1"/>
            </p:cNvSpPr>
            <p:nvPr/>
          </p:nvSpPr>
          <p:spPr bwMode="auto">
            <a:xfrm>
              <a:off x="2726" y="3203"/>
              <a:ext cx="544" cy="25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4      1</a:t>
              </a:r>
            </a:p>
          </p:txBody>
        </p:sp>
        <p:sp>
          <p:nvSpPr>
            <p:cNvPr id="344127" name="Line 59"/>
            <p:cNvSpPr>
              <a:spLocks noChangeShapeType="1"/>
            </p:cNvSpPr>
            <p:nvPr/>
          </p:nvSpPr>
          <p:spPr bwMode="auto">
            <a:xfrm flipH="1">
              <a:off x="3001" y="3210"/>
              <a:ext cx="2" cy="23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44093" name="Text Box 60"/>
          <p:cNvSpPr txBox="1">
            <a:spLocks noChangeArrowheads="1"/>
          </p:cNvSpPr>
          <p:nvPr/>
        </p:nvSpPr>
        <p:spPr bwMode="auto">
          <a:xfrm>
            <a:off x="4233019" y="3589164"/>
            <a:ext cx="3603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sym typeface="Symbol" panose="05050102010706020507" pitchFamily="18" charset="2"/>
              </a:rPr>
              <a:t></a:t>
            </a:r>
          </a:p>
        </p:txBody>
      </p:sp>
      <p:grpSp>
        <p:nvGrpSpPr>
          <p:cNvPr id="344094" name="Group 61"/>
          <p:cNvGrpSpPr>
            <a:grpSpLocks/>
          </p:cNvGrpSpPr>
          <p:nvPr/>
        </p:nvGrpSpPr>
        <p:grpSpPr bwMode="auto">
          <a:xfrm>
            <a:off x="4194919" y="2565227"/>
            <a:ext cx="431800" cy="1008062"/>
            <a:chOff x="476" y="3113"/>
            <a:chExt cx="272" cy="635"/>
          </a:xfrm>
        </p:grpSpPr>
        <p:sp>
          <p:nvSpPr>
            <p:cNvPr id="344123" name="Rectangle 62"/>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1</a:t>
              </a:r>
            </a:p>
            <a:p>
              <a:pPr algn="ctr" eaLnBrk="1" hangingPunct="1">
                <a:lnSpc>
                  <a:spcPct val="120000"/>
                </a:lnSpc>
                <a:spcBef>
                  <a:spcPct val="0"/>
                </a:spcBef>
                <a:buFontTx/>
                <a:buNone/>
              </a:pPr>
              <a:r>
                <a:rPr kumimoji="0" lang="en-US" altLang="zh-CN" sz="1800" b="1"/>
                <a:t>4</a:t>
              </a:r>
            </a:p>
            <a:p>
              <a:pPr algn="ctr" eaLnBrk="1" hangingPunct="1">
                <a:lnSpc>
                  <a:spcPct val="120000"/>
                </a:lnSpc>
                <a:spcBef>
                  <a:spcPct val="0"/>
                </a:spcBef>
                <a:buFontTx/>
                <a:buNone/>
              </a:pPr>
              <a:r>
                <a:rPr kumimoji="0" lang="en-US" altLang="zh-CN" sz="1800" b="1"/>
                <a:t>3</a:t>
              </a:r>
            </a:p>
          </p:txBody>
        </p:sp>
        <p:sp>
          <p:nvSpPr>
            <p:cNvPr id="344124" name="Line 63"/>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4125" name="Line 64"/>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44095" name="Group 65"/>
          <p:cNvGrpSpPr>
            <a:grpSpLocks/>
          </p:cNvGrpSpPr>
          <p:nvPr/>
        </p:nvGrpSpPr>
        <p:grpSpPr bwMode="auto">
          <a:xfrm>
            <a:off x="3002707" y="5032202"/>
            <a:ext cx="863600" cy="396875"/>
            <a:chOff x="2726" y="3203"/>
            <a:chExt cx="544" cy="250"/>
          </a:xfrm>
        </p:grpSpPr>
        <p:sp>
          <p:nvSpPr>
            <p:cNvPr id="344121" name="Text Box 66"/>
            <p:cNvSpPr txBox="1">
              <a:spLocks noChangeArrowheads="1"/>
            </p:cNvSpPr>
            <p:nvPr/>
          </p:nvSpPr>
          <p:spPr bwMode="auto">
            <a:xfrm>
              <a:off x="2726" y="3203"/>
              <a:ext cx="544" cy="25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3      1</a:t>
              </a:r>
            </a:p>
          </p:txBody>
        </p:sp>
        <p:sp>
          <p:nvSpPr>
            <p:cNvPr id="344122" name="Line 67"/>
            <p:cNvSpPr>
              <a:spLocks noChangeShapeType="1"/>
            </p:cNvSpPr>
            <p:nvPr/>
          </p:nvSpPr>
          <p:spPr bwMode="auto">
            <a:xfrm flipH="1">
              <a:off x="3001" y="3210"/>
              <a:ext cx="2" cy="23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44096" name="Text Box 68"/>
          <p:cNvSpPr txBox="1">
            <a:spLocks noChangeArrowheads="1"/>
          </p:cNvSpPr>
          <p:nvPr/>
        </p:nvSpPr>
        <p:spPr bwMode="auto">
          <a:xfrm>
            <a:off x="4802932" y="3573289"/>
            <a:ext cx="3603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sym typeface="Symbol" panose="05050102010706020507" pitchFamily="18" charset="2"/>
              </a:rPr>
              <a:t></a:t>
            </a:r>
          </a:p>
        </p:txBody>
      </p:sp>
      <p:sp>
        <p:nvSpPr>
          <p:cNvPr id="344097" name="Text Box 69"/>
          <p:cNvSpPr txBox="1">
            <a:spLocks noChangeArrowheads="1"/>
          </p:cNvSpPr>
          <p:nvPr/>
        </p:nvSpPr>
        <p:spPr bwMode="auto">
          <a:xfrm>
            <a:off x="4402882" y="4292427"/>
            <a:ext cx="431800" cy="396875"/>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0</a:t>
            </a:r>
          </a:p>
        </p:txBody>
      </p:sp>
      <p:sp>
        <p:nvSpPr>
          <p:cNvPr id="344098" name="Text Box 70"/>
          <p:cNvSpPr txBox="1">
            <a:spLocks noChangeArrowheads="1"/>
          </p:cNvSpPr>
          <p:nvPr/>
        </p:nvSpPr>
        <p:spPr bwMode="auto">
          <a:xfrm>
            <a:off x="5514132" y="5048077"/>
            <a:ext cx="431800" cy="396875"/>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0</a:t>
            </a:r>
          </a:p>
        </p:txBody>
      </p:sp>
      <p:sp>
        <p:nvSpPr>
          <p:cNvPr id="344099" name="Text Box 71"/>
          <p:cNvSpPr txBox="1">
            <a:spLocks noChangeArrowheads="1"/>
          </p:cNvSpPr>
          <p:nvPr/>
        </p:nvSpPr>
        <p:spPr bwMode="auto">
          <a:xfrm>
            <a:off x="3498007" y="5013152"/>
            <a:ext cx="431800" cy="396875"/>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0</a:t>
            </a:r>
          </a:p>
        </p:txBody>
      </p:sp>
      <p:grpSp>
        <p:nvGrpSpPr>
          <p:cNvPr id="344100" name="Group 72"/>
          <p:cNvGrpSpPr>
            <a:grpSpLocks/>
          </p:cNvGrpSpPr>
          <p:nvPr/>
        </p:nvGrpSpPr>
        <p:grpSpPr bwMode="auto">
          <a:xfrm>
            <a:off x="4760069" y="2565227"/>
            <a:ext cx="431800" cy="1008062"/>
            <a:chOff x="476" y="3113"/>
            <a:chExt cx="272" cy="635"/>
          </a:xfrm>
        </p:grpSpPr>
        <p:sp>
          <p:nvSpPr>
            <p:cNvPr id="344118" name="Rectangle 73"/>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5</a:t>
              </a:r>
            </a:p>
            <a:p>
              <a:pPr algn="ctr" eaLnBrk="1" hangingPunct="1">
                <a:lnSpc>
                  <a:spcPct val="120000"/>
                </a:lnSpc>
                <a:spcBef>
                  <a:spcPct val="0"/>
                </a:spcBef>
                <a:buFontTx/>
                <a:buNone/>
              </a:pPr>
              <a:r>
                <a:rPr kumimoji="0" lang="en-US" altLang="zh-CN" sz="1800" b="1"/>
                <a:t>4</a:t>
              </a:r>
            </a:p>
            <a:p>
              <a:pPr algn="ctr" eaLnBrk="1" hangingPunct="1">
                <a:lnSpc>
                  <a:spcPct val="120000"/>
                </a:lnSpc>
                <a:spcBef>
                  <a:spcPct val="0"/>
                </a:spcBef>
                <a:buFontTx/>
                <a:buNone/>
              </a:pPr>
              <a:r>
                <a:rPr kumimoji="0" lang="en-US" altLang="zh-CN" sz="1800" b="1"/>
                <a:t>3</a:t>
              </a:r>
            </a:p>
          </p:txBody>
        </p:sp>
        <p:sp>
          <p:nvSpPr>
            <p:cNvPr id="344119" name="Line 74"/>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4120" name="Line 75"/>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44101" name="Group 76"/>
          <p:cNvGrpSpPr>
            <a:grpSpLocks/>
          </p:cNvGrpSpPr>
          <p:nvPr/>
        </p:nvGrpSpPr>
        <p:grpSpPr bwMode="auto">
          <a:xfrm>
            <a:off x="3923457" y="4308302"/>
            <a:ext cx="863600" cy="396875"/>
            <a:chOff x="2726" y="3203"/>
            <a:chExt cx="544" cy="250"/>
          </a:xfrm>
        </p:grpSpPr>
        <p:sp>
          <p:nvSpPr>
            <p:cNvPr id="344116" name="Text Box 77"/>
            <p:cNvSpPr txBox="1">
              <a:spLocks noChangeArrowheads="1"/>
            </p:cNvSpPr>
            <p:nvPr/>
          </p:nvSpPr>
          <p:spPr bwMode="auto">
            <a:xfrm>
              <a:off x="2726" y="3203"/>
              <a:ext cx="544" cy="25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5      1</a:t>
              </a:r>
            </a:p>
          </p:txBody>
        </p:sp>
        <p:sp>
          <p:nvSpPr>
            <p:cNvPr id="344117" name="Line 78"/>
            <p:cNvSpPr>
              <a:spLocks noChangeShapeType="1"/>
            </p:cNvSpPr>
            <p:nvPr/>
          </p:nvSpPr>
          <p:spPr bwMode="auto">
            <a:xfrm flipH="1">
              <a:off x="3001" y="3210"/>
              <a:ext cx="2" cy="23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44102" name="Group 79"/>
          <p:cNvGrpSpPr>
            <a:grpSpLocks/>
          </p:cNvGrpSpPr>
          <p:nvPr/>
        </p:nvGrpSpPr>
        <p:grpSpPr bwMode="auto">
          <a:xfrm>
            <a:off x="5363319" y="2565227"/>
            <a:ext cx="431800" cy="1008062"/>
            <a:chOff x="476" y="3113"/>
            <a:chExt cx="272" cy="635"/>
          </a:xfrm>
        </p:grpSpPr>
        <p:sp>
          <p:nvSpPr>
            <p:cNvPr id="344113" name="Rectangle 80"/>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5</a:t>
              </a:r>
            </a:p>
            <a:p>
              <a:pPr algn="ctr" eaLnBrk="1" hangingPunct="1">
                <a:lnSpc>
                  <a:spcPct val="120000"/>
                </a:lnSpc>
                <a:spcBef>
                  <a:spcPct val="0"/>
                </a:spcBef>
                <a:buFontTx/>
                <a:buNone/>
              </a:pPr>
              <a:r>
                <a:rPr kumimoji="0" lang="en-US" altLang="zh-CN" sz="1800" b="1"/>
                <a:t>4</a:t>
              </a:r>
            </a:p>
            <a:p>
              <a:pPr algn="ctr" eaLnBrk="1" hangingPunct="1">
                <a:lnSpc>
                  <a:spcPct val="120000"/>
                </a:lnSpc>
                <a:spcBef>
                  <a:spcPct val="0"/>
                </a:spcBef>
                <a:buFontTx/>
                <a:buNone/>
              </a:pPr>
              <a:r>
                <a:rPr kumimoji="0" lang="en-US" altLang="zh-CN" sz="1800" b="1"/>
                <a:t>3</a:t>
              </a:r>
            </a:p>
          </p:txBody>
        </p:sp>
        <p:sp>
          <p:nvSpPr>
            <p:cNvPr id="344114" name="Line 81"/>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4115" name="Line 82"/>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44103" name="Text Box 83"/>
          <p:cNvSpPr txBox="1">
            <a:spLocks noChangeArrowheads="1"/>
          </p:cNvSpPr>
          <p:nvPr/>
        </p:nvSpPr>
        <p:spPr bwMode="auto">
          <a:xfrm>
            <a:off x="5555407" y="5013152"/>
            <a:ext cx="431800" cy="396875"/>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1</a:t>
            </a:r>
          </a:p>
        </p:txBody>
      </p:sp>
      <p:grpSp>
        <p:nvGrpSpPr>
          <p:cNvPr id="344104" name="Group 84"/>
          <p:cNvGrpSpPr>
            <a:grpSpLocks/>
          </p:cNvGrpSpPr>
          <p:nvPr/>
        </p:nvGrpSpPr>
        <p:grpSpPr bwMode="auto">
          <a:xfrm>
            <a:off x="5922119" y="2565227"/>
            <a:ext cx="431800" cy="1008062"/>
            <a:chOff x="476" y="3113"/>
            <a:chExt cx="272" cy="635"/>
          </a:xfrm>
        </p:grpSpPr>
        <p:sp>
          <p:nvSpPr>
            <p:cNvPr id="344110" name="Rectangle 85"/>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5</a:t>
              </a:r>
            </a:p>
            <a:p>
              <a:pPr algn="ctr" eaLnBrk="1" hangingPunct="1">
                <a:lnSpc>
                  <a:spcPct val="120000"/>
                </a:lnSpc>
                <a:spcBef>
                  <a:spcPct val="0"/>
                </a:spcBef>
                <a:buFontTx/>
                <a:buNone/>
              </a:pPr>
              <a:r>
                <a:rPr kumimoji="0" lang="en-US" altLang="zh-CN" sz="1800" b="1"/>
                <a:t>4</a:t>
              </a:r>
            </a:p>
            <a:p>
              <a:pPr algn="ctr" eaLnBrk="1" hangingPunct="1">
                <a:lnSpc>
                  <a:spcPct val="120000"/>
                </a:lnSpc>
                <a:spcBef>
                  <a:spcPct val="0"/>
                </a:spcBef>
                <a:buFontTx/>
                <a:buNone/>
              </a:pPr>
              <a:r>
                <a:rPr kumimoji="0" lang="en-US" altLang="zh-CN" sz="1800" b="1"/>
                <a:t>3</a:t>
              </a:r>
            </a:p>
          </p:txBody>
        </p:sp>
        <p:sp>
          <p:nvSpPr>
            <p:cNvPr id="344111" name="Line 86"/>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4112" name="Line 87"/>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44105" name="Text Box 88"/>
          <p:cNvSpPr txBox="1">
            <a:spLocks noChangeArrowheads="1"/>
          </p:cNvSpPr>
          <p:nvPr/>
        </p:nvSpPr>
        <p:spPr bwMode="auto">
          <a:xfrm>
            <a:off x="3499594" y="5013152"/>
            <a:ext cx="431800" cy="396875"/>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1</a:t>
            </a:r>
          </a:p>
        </p:txBody>
      </p:sp>
      <p:sp>
        <p:nvSpPr>
          <p:cNvPr id="584793" name="Text Box 89"/>
          <p:cNvSpPr txBox="1">
            <a:spLocks noChangeArrowheads="1"/>
          </p:cNvSpPr>
          <p:nvPr/>
        </p:nvSpPr>
        <p:spPr bwMode="auto">
          <a:xfrm>
            <a:off x="6498382" y="3589164"/>
            <a:ext cx="3603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sym typeface="Symbol" panose="05050102010706020507" pitchFamily="18" charset="2"/>
              </a:rPr>
              <a:t></a:t>
            </a:r>
          </a:p>
        </p:txBody>
      </p:sp>
      <p:sp>
        <p:nvSpPr>
          <p:cNvPr id="584794" name="Text Box 90"/>
          <p:cNvSpPr txBox="1">
            <a:spLocks noChangeArrowheads="1"/>
          </p:cNvSpPr>
          <p:nvPr/>
        </p:nvSpPr>
        <p:spPr bwMode="auto">
          <a:xfrm>
            <a:off x="5506194" y="5021089"/>
            <a:ext cx="431800" cy="396875"/>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0</a:t>
            </a:r>
          </a:p>
        </p:txBody>
      </p:sp>
      <p:sp>
        <p:nvSpPr>
          <p:cNvPr id="584795" name="Text Box 91"/>
          <p:cNvSpPr txBox="1">
            <a:spLocks noChangeArrowheads="1"/>
          </p:cNvSpPr>
          <p:nvPr/>
        </p:nvSpPr>
        <p:spPr bwMode="auto">
          <a:xfrm>
            <a:off x="3490069" y="5013152"/>
            <a:ext cx="431800" cy="396875"/>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0</a:t>
            </a:r>
          </a:p>
        </p:txBody>
      </p:sp>
      <p:sp>
        <p:nvSpPr>
          <p:cNvPr id="584796" name="Text Box 92"/>
          <p:cNvSpPr txBox="1">
            <a:spLocks noChangeArrowheads="1"/>
          </p:cNvSpPr>
          <p:nvPr/>
        </p:nvSpPr>
        <p:spPr bwMode="auto">
          <a:xfrm>
            <a:off x="4426694" y="4292427"/>
            <a:ext cx="431800" cy="396875"/>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0</a:t>
            </a:r>
          </a:p>
        </p:txBody>
      </p:sp>
      <p:sp>
        <p:nvSpPr>
          <p:cNvPr id="3" name="Date Placeholder 2"/>
          <p:cNvSpPr>
            <a:spLocks noGrp="1"/>
          </p:cNvSpPr>
          <p:nvPr>
            <p:ph type="dt" sz="half" idx="10"/>
          </p:nvPr>
        </p:nvSpPr>
        <p:spPr/>
        <p:txBody>
          <a:bodyPr/>
          <a:lstStyle/>
          <a:p>
            <a:fld id="{4B61A9A8-791B-4EE9-B69C-959B8A69ED21}" type="datetime1">
              <a:rPr lang="zh-CN" altLang="en-US" smtClean="0"/>
              <a:pPr/>
              <a:t>2018/8/3</a:t>
            </a:fld>
            <a:endParaRPr lang="zh-CN" altLang="en-US" dirty="0"/>
          </a:p>
        </p:txBody>
      </p:sp>
      <p:sp>
        <p:nvSpPr>
          <p:cNvPr id="4" name="Footer Placeholder 3"/>
          <p:cNvSpPr>
            <a:spLocks noGrp="1"/>
          </p:cNvSpPr>
          <p:nvPr>
            <p:ph type="ftr" sz="quarter" idx="11"/>
          </p:nvPr>
        </p:nvSpPr>
        <p:spPr/>
        <p:txBody>
          <a:bodyPr/>
          <a:lstStyle/>
          <a:p>
            <a:r>
              <a:rPr lang="en-US" altLang="zh-CN"/>
              <a:t>CH07 Memory Management</a:t>
            </a:r>
            <a:endParaRPr lang="zh-CN" altLang="en-US" dirty="0"/>
          </a:p>
        </p:txBody>
      </p:sp>
      <p:sp>
        <p:nvSpPr>
          <p:cNvPr id="97" name="Slide Number Placeholder 5"/>
          <p:cNvSpPr>
            <a:spLocks noGrp="1"/>
          </p:cNvSpPr>
          <p:nvPr>
            <p:ph type="sldNum" sz="quarter" idx="12"/>
          </p:nvPr>
        </p:nvSpPr>
        <p:spPr>
          <a:xfrm>
            <a:off x="6119832" y="6669360"/>
            <a:ext cx="3009936" cy="187200"/>
          </a:xfrm>
        </p:spPr>
        <p:txBody>
          <a:bodyPr/>
          <a:lstStyle/>
          <a:p>
            <a:r>
              <a:rPr lang="en-US" altLang="zh-CN" dirty="0"/>
              <a:t>128</a:t>
            </a:r>
            <a:endParaRPr lang="zh-CN" altLang="en-US" dirty="0"/>
          </a:p>
        </p:txBody>
      </p:sp>
    </p:spTree>
    <p:extLst>
      <p:ext uri="{BB962C8B-B14F-4D97-AF65-F5344CB8AC3E}">
        <p14:creationId xmlns:p14="http://schemas.microsoft.com/office/powerpoint/2010/main" val="162060681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58479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8479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0" presetClass="path" presetSubtype="0" accel="50000" decel="50000" fill="hold" grpId="0" nodeType="clickEffect">
                                  <p:stCondLst>
                                    <p:cond delay="0"/>
                                  </p:stCondLst>
                                  <p:childTnLst>
                                    <p:animMotion origin="layout" path="M -8.33333E-7 -2.96159E-6 L -0.22049 -2.96159E-6 " pathEditMode="relative" ptsTypes="AA">
                                      <p:cBhvr>
                                        <p:cTn id="14" dur="1000" fill="hold"/>
                                        <p:tgtEl>
                                          <p:spTgt spid="584727"/>
                                        </p:tgtEl>
                                        <p:attrNameLst>
                                          <p:attrName>ppt_x</p:attrName>
                                          <p:attrName>ppt_y</p:attrName>
                                        </p:attrNameLst>
                                      </p:cBhvr>
                                    </p:animMotion>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8479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0" presetClass="path" presetSubtype="0" accel="50000" decel="50000" fill="hold" grpId="1" nodeType="clickEffect">
                                  <p:stCondLst>
                                    <p:cond delay="0"/>
                                  </p:stCondLst>
                                  <p:childTnLst>
                                    <p:animMotion origin="layout" path="M -0.22049 -2.96159E-6 L -0.11024 -0.10504 " pathEditMode="relative" ptsTypes="AA">
                                      <p:cBhvr>
                                        <p:cTn id="22" dur="1000" fill="hold"/>
                                        <p:tgtEl>
                                          <p:spTgt spid="584727"/>
                                        </p:tgtEl>
                                        <p:attrNameLst>
                                          <p:attrName>ppt_x</p:attrName>
                                          <p:attrName>ppt_y</p:attrName>
                                        </p:attrNameLst>
                                      </p:cBhvr>
                                    </p:animMotion>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84796"/>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0" presetClass="path" presetSubtype="0" accel="50000" decel="50000" fill="hold" grpId="2" nodeType="clickEffect">
                                  <p:stCondLst>
                                    <p:cond delay="0"/>
                                  </p:stCondLst>
                                  <p:childTnLst>
                                    <p:animMotion origin="layout" path="M -0.11024 -0.10504 L 0.00799 -2.96159E-6 " pathEditMode="relative" ptsTypes="AA">
                                      <p:cBhvr>
                                        <p:cTn id="30" dur="1000" fill="hold"/>
                                        <p:tgtEl>
                                          <p:spTgt spid="584727"/>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4727" grpId="0" animBg="1"/>
      <p:bldP spid="584727" grpId="1" animBg="1"/>
      <p:bldP spid="584727" grpId="2" animBg="1"/>
      <p:bldP spid="584793" grpId="0"/>
      <p:bldP spid="584794" grpId="0" animBg="1"/>
      <p:bldP spid="584795" grpId="0" animBg="1"/>
      <p:bldP spid="584796" grpId="0" animBg="1"/>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6754" name="Rectangle 2"/>
          <p:cNvSpPr>
            <a:spLocks noGrp="1" noChangeArrowheads="1"/>
          </p:cNvSpPr>
          <p:nvPr>
            <p:ph type="title"/>
          </p:nvPr>
        </p:nvSpPr>
        <p:spPr/>
        <p:txBody>
          <a:bodyPr/>
          <a:lstStyle/>
          <a:p>
            <a:pPr>
              <a:defRPr/>
            </a:pPr>
            <a:r>
              <a:rPr lang="zh-CN" altLang="en-US" dirty="0"/>
              <a:t>时钟置换算法</a:t>
            </a:r>
            <a:endParaRPr lang="zh-CN" altLang="en-US" dirty="0">
              <a:ea typeface="黑体" panose="02010609060101010101" pitchFamily="49" charset="-122"/>
            </a:endParaRPr>
          </a:p>
        </p:txBody>
      </p:sp>
      <p:grpSp>
        <p:nvGrpSpPr>
          <p:cNvPr id="346117" name="Group 4"/>
          <p:cNvGrpSpPr>
            <a:grpSpLocks/>
          </p:cNvGrpSpPr>
          <p:nvPr/>
        </p:nvGrpSpPr>
        <p:grpSpPr bwMode="auto">
          <a:xfrm>
            <a:off x="1341834" y="2565227"/>
            <a:ext cx="431800" cy="1008062"/>
            <a:chOff x="476" y="3113"/>
            <a:chExt cx="272" cy="635"/>
          </a:xfrm>
        </p:grpSpPr>
        <p:sp>
          <p:nvSpPr>
            <p:cNvPr id="346210" name="Rectangle 5"/>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4</a:t>
              </a:r>
            </a:p>
            <a:p>
              <a:pPr algn="ctr" eaLnBrk="1" hangingPunct="1">
                <a:lnSpc>
                  <a:spcPct val="120000"/>
                </a:lnSpc>
                <a:spcBef>
                  <a:spcPct val="0"/>
                </a:spcBef>
                <a:buFontTx/>
                <a:buNone/>
              </a:pPr>
              <a:r>
                <a:rPr kumimoji="0" lang="en-US" altLang="zh-CN" sz="1800" b="1"/>
                <a:t> </a:t>
              </a:r>
            </a:p>
            <a:p>
              <a:pPr algn="ctr" eaLnBrk="1" hangingPunct="1">
                <a:lnSpc>
                  <a:spcPct val="120000"/>
                </a:lnSpc>
                <a:spcBef>
                  <a:spcPct val="0"/>
                </a:spcBef>
                <a:buFontTx/>
                <a:buNone/>
              </a:pPr>
              <a:r>
                <a:rPr kumimoji="0" lang="en-US" altLang="zh-CN" sz="1800" b="1"/>
                <a:t> </a:t>
              </a:r>
            </a:p>
          </p:txBody>
        </p:sp>
        <p:sp>
          <p:nvSpPr>
            <p:cNvPr id="346211" name="Line 6"/>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6212" name="Line 7"/>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46118" name="Text Box 8"/>
          <p:cNvSpPr txBox="1">
            <a:spLocks noChangeArrowheads="1"/>
          </p:cNvSpPr>
          <p:nvPr/>
        </p:nvSpPr>
        <p:spPr bwMode="auto">
          <a:xfrm>
            <a:off x="1259284" y="2204864"/>
            <a:ext cx="67691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2000" b="1"/>
              <a:t>  4       3       2       1       4       3       5       4       3       2       1       5</a:t>
            </a:r>
          </a:p>
        </p:txBody>
      </p:sp>
      <p:sp>
        <p:nvSpPr>
          <p:cNvPr id="346119" name="Text Box 9"/>
          <p:cNvSpPr txBox="1">
            <a:spLocks noChangeArrowheads="1"/>
          </p:cNvSpPr>
          <p:nvPr/>
        </p:nvSpPr>
        <p:spPr bwMode="auto">
          <a:xfrm>
            <a:off x="1386284" y="3597102"/>
            <a:ext cx="3603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sym typeface="Symbol" panose="05050102010706020507" pitchFamily="18" charset="2"/>
              </a:rPr>
              <a:t></a:t>
            </a:r>
          </a:p>
        </p:txBody>
      </p:sp>
      <p:grpSp>
        <p:nvGrpSpPr>
          <p:cNvPr id="346120" name="Group 10"/>
          <p:cNvGrpSpPr>
            <a:grpSpLocks/>
          </p:cNvGrpSpPr>
          <p:nvPr/>
        </p:nvGrpSpPr>
        <p:grpSpPr bwMode="auto">
          <a:xfrm>
            <a:off x="3778646" y="4292427"/>
            <a:ext cx="2232025" cy="1152525"/>
            <a:chOff x="2699" y="3158"/>
            <a:chExt cx="1406" cy="726"/>
          </a:xfrm>
        </p:grpSpPr>
        <p:grpSp>
          <p:nvGrpSpPr>
            <p:cNvPr id="346203" name="Group 11"/>
            <p:cNvGrpSpPr>
              <a:grpSpLocks/>
            </p:cNvGrpSpPr>
            <p:nvPr/>
          </p:nvGrpSpPr>
          <p:grpSpPr bwMode="auto">
            <a:xfrm>
              <a:off x="2699" y="3158"/>
              <a:ext cx="725" cy="272"/>
              <a:chOff x="2699" y="3203"/>
              <a:chExt cx="725" cy="272"/>
            </a:xfrm>
          </p:grpSpPr>
          <p:sp>
            <p:nvSpPr>
              <p:cNvPr id="346208" name="Rectangle 12"/>
              <p:cNvSpPr>
                <a:spLocks noChangeArrowheads="1"/>
              </p:cNvSpPr>
              <p:nvPr/>
            </p:nvSpPr>
            <p:spPr bwMode="auto">
              <a:xfrm>
                <a:off x="2699" y="3203"/>
                <a:ext cx="725" cy="27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zh-CN" sz="2000" b="1"/>
              </a:p>
            </p:txBody>
          </p:sp>
          <p:sp>
            <p:nvSpPr>
              <p:cNvPr id="346209" name="Line 13"/>
              <p:cNvSpPr>
                <a:spLocks noChangeShapeType="1"/>
              </p:cNvSpPr>
              <p:nvPr/>
            </p:nvSpPr>
            <p:spPr bwMode="auto">
              <a:xfrm>
                <a:off x="3075" y="3203"/>
                <a:ext cx="0"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46204" name="Group 14"/>
            <p:cNvGrpSpPr>
              <a:grpSpLocks/>
            </p:cNvGrpSpPr>
            <p:nvPr/>
          </p:nvGrpSpPr>
          <p:grpSpPr bwMode="auto">
            <a:xfrm>
              <a:off x="3380" y="3612"/>
              <a:ext cx="725" cy="272"/>
              <a:chOff x="2699" y="3203"/>
              <a:chExt cx="725" cy="272"/>
            </a:xfrm>
          </p:grpSpPr>
          <p:sp>
            <p:nvSpPr>
              <p:cNvPr id="346206" name="Rectangle 15"/>
              <p:cNvSpPr>
                <a:spLocks noChangeArrowheads="1"/>
              </p:cNvSpPr>
              <p:nvPr/>
            </p:nvSpPr>
            <p:spPr bwMode="auto">
              <a:xfrm>
                <a:off x="2699" y="3203"/>
                <a:ext cx="725" cy="27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zh-CN" sz="2000" b="1"/>
              </a:p>
            </p:txBody>
          </p:sp>
          <p:sp>
            <p:nvSpPr>
              <p:cNvPr id="346207" name="Line 16"/>
              <p:cNvSpPr>
                <a:spLocks noChangeShapeType="1"/>
              </p:cNvSpPr>
              <p:nvPr/>
            </p:nvSpPr>
            <p:spPr bwMode="auto">
              <a:xfrm>
                <a:off x="3075" y="3203"/>
                <a:ext cx="0"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46205" name="Line 17"/>
            <p:cNvSpPr>
              <a:spLocks noChangeShapeType="1"/>
            </p:cNvSpPr>
            <p:nvPr/>
          </p:nvSpPr>
          <p:spPr bwMode="auto">
            <a:xfrm>
              <a:off x="3424" y="3294"/>
              <a:ext cx="318" cy="31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46121" name="Group 18"/>
          <p:cNvGrpSpPr>
            <a:grpSpLocks/>
          </p:cNvGrpSpPr>
          <p:nvPr/>
        </p:nvGrpSpPr>
        <p:grpSpPr bwMode="auto">
          <a:xfrm>
            <a:off x="2842021" y="5013152"/>
            <a:ext cx="1150938" cy="431800"/>
            <a:chOff x="2699" y="3203"/>
            <a:chExt cx="725" cy="272"/>
          </a:xfrm>
        </p:grpSpPr>
        <p:sp>
          <p:nvSpPr>
            <p:cNvPr id="346201" name="Rectangle 19"/>
            <p:cNvSpPr>
              <a:spLocks noChangeArrowheads="1"/>
            </p:cNvSpPr>
            <p:nvPr/>
          </p:nvSpPr>
          <p:spPr bwMode="auto">
            <a:xfrm>
              <a:off x="2699" y="3203"/>
              <a:ext cx="725" cy="27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zh-CN" sz="2000" b="1"/>
            </a:p>
          </p:txBody>
        </p:sp>
        <p:sp>
          <p:nvSpPr>
            <p:cNvPr id="346202" name="Line 20"/>
            <p:cNvSpPr>
              <a:spLocks noChangeShapeType="1"/>
            </p:cNvSpPr>
            <p:nvPr/>
          </p:nvSpPr>
          <p:spPr bwMode="auto">
            <a:xfrm>
              <a:off x="3075" y="3203"/>
              <a:ext cx="0"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46122" name="Line 21"/>
          <p:cNvSpPr>
            <a:spLocks noChangeShapeType="1"/>
          </p:cNvSpPr>
          <p:nvPr/>
        </p:nvSpPr>
        <p:spPr bwMode="auto">
          <a:xfrm flipH="1">
            <a:off x="3994546" y="5229052"/>
            <a:ext cx="863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6123" name="Line 22"/>
          <p:cNvSpPr>
            <a:spLocks noChangeShapeType="1"/>
          </p:cNvSpPr>
          <p:nvPr/>
        </p:nvSpPr>
        <p:spPr bwMode="auto">
          <a:xfrm flipV="1">
            <a:off x="3202384" y="4508327"/>
            <a:ext cx="576262" cy="5048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6775" name="Oval 23"/>
          <p:cNvSpPr>
            <a:spLocks noChangeArrowheads="1"/>
          </p:cNvSpPr>
          <p:nvPr/>
        </p:nvSpPr>
        <p:spPr bwMode="auto">
          <a:xfrm>
            <a:off x="4715271" y="5157614"/>
            <a:ext cx="144463" cy="144463"/>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346125" name="Text Box 24"/>
          <p:cNvSpPr txBox="1">
            <a:spLocks noChangeArrowheads="1"/>
          </p:cNvSpPr>
          <p:nvPr/>
        </p:nvSpPr>
        <p:spPr bwMode="auto">
          <a:xfrm>
            <a:off x="3965971" y="4292427"/>
            <a:ext cx="863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4      1</a:t>
            </a:r>
          </a:p>
        </p:txBody>
      </p:sp>
      <p:sp>
        <p:nvSpPr>
          <p:cNvPr id="346126" name="Text Box 25"/>
          <p:cNvSpPr txBox="1">
            <a:spLocks noChangeArrowheads="1"/>
          </p:cNvSpPr>
          <p:nvPr/>
        </p:nvSpPr>
        <p:spPr bwMode="auto">
          <a:xfrm>
            <a:off x="1938734" y="3603452"/>
            <a:ext cx="3603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sym typeface="Symbol" panose="05050102010706020507" pitchFamily="18" charset="2"/>
              </a:rPr>
              <a:t></a:t>
            </a:r>
          </a:p>
        </p:txBody>
      </p:sp>
      <p:grpSp>
        <p:nvGrpSpPr>
          <p:cNvPr id="346127" name="Group 26"/>
          <p:cNvGrpSpPr>
            <a:grpSpLocks/>
          </p:cNvGrpSpPr>
          <p:nvPr/>
        </p:nvGrpSpPr>
        <p:grpSpPr bwMode="auto">
          <a:xfrm>
            <a:off x="1906984" y="2565227"/>
            <a:ext cx="431800" cy="1008062"/>
            <a:chOff x="476" y="3113"/>
            <a:chExt cx="272" cy="635"/>
          </a:xfrm>
        </p:grpSpPr>
        <p:sp>
          <p:nvSpPr>
            <p:cNvPr id="346198" name="Rectangle 27"/>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4</a:t>
              </a:r>
            </a:p>
            <a:p>
              <a:pPr algn="ctr" eaLnBrk="1" hangingPunct="1">
                <a:lnSpc>
                  <a:spcPct val="120000"/>
                </a:lnSpc>
                <a:spcBef>
                  <a:spcPct val="0"/>
                </a:spcBef>
                <a:buFontTx/>
                <a:buNone/>
              </a:pPr>
              <a:r>
                <a:rPr kumimoji="0" lang="en-US" altLang="zh-CN" sz="1800" b="1"/>
                <a:t>3</a:t>
              </a:r>
            </a:p>
            <a:p>
              <a:pPr algn="ctr" eaLnBrk="1" hangingPunct="1">
                <a:lnSpc>
                  <a:spcPct val="120000"/>
                </a:lnSpc>
                <a:spcBef>
                  <a:spcPct val="0"/>
                </a:spcBef>
                <a:buFontTx/>
                <a:buNone/>
              </a:pPr>
              <a:r>
                <a:rPr kumimoji="0" lang="en-US" altLang="zh-CN" sz="1800" b="1"/>
                <a:t> </a:t>
              </a:r>
            </a:p>
          </p:txBody>
        </p:sp>
        <p:sp>
          <p:nvSpPr>
            <p:cNvPr id="346199" name="Line 28"/>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6200" name="Line 29"/>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46128" name="Group 30"/>
          <p:cNvGrpSpPr>
            <a:grpSpLocks/>
          </p:cNvGrpSpPr>
          <p:nvPr/>
        </p:nvGrpSpPr>
        <p:grpSpPr bwMode="auto">
          <a:xfrm>
            <a:off x="5018484" y="5040139"/>
            <a:ext cx="863600" cy="396875"/>
            <a:chOff x="2726" y="3203"/>
            <a:chExt cx="544" cy="250"/>
          </a:xfrm>
        </p:grpSpPr>
        <p:sp>
          <p:nvSpPr>
            <p:cNvPr id="346196" name="Text Box 31"/>
            <p:cNvSpPr txBox="1">
              <a:spLocks noChangeArrowheads="1"/>
            </p:cNvSpPr>
            <p:nvPr/>
          </p:nvSpPr>
          <p:spPr bwMode="auto">
            <a:xfrm>
              <a:off x="2726" y="3203"/>
              <a:ext cx="544" cy="25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3      1</a:t>
              </a:r>
            </a:p>
          </p:txBody>
        </p:sp>
        <p:sp>
          <p:nvSpPr>
            <p:cNvPr id="346197" name="Line 32"/>
            <p:cNvSpPr>
              <a:spLocks noChangeShapeType="1"/>
            </p:cNvSpPr>
            <p:nvPr/>
          </p:nvSpPr>
          <p:spPr bwMode="auto">
            <a:xfrm flipH="1">
              <a:off x="3001" y="3210"/>
              <a:ext cx="2" cy="23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46129" name="Text Box 33"/>
          <p:cNvSpPr txBox="1">
            <a:spLocks noChangeArrowheads="1"/>
          </p:cNvSpPr>
          <p:nvPr/>
        </p:nvSpPr>
        <p:spPr bwMode="auto">
          <a:xfrm>
            <a:off x="2518171" y="3606627"/>
            <a:ext cx="36036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sym typeface="Symbol" panose="05050102010706020507" pitchFamily="18" charset="2"/>
              </a:rPr>
              <a:t></a:t>
            </a:r>
          </a:p>
        </p:txBody>
      </p:sp>
      <p:grpSp>
        <p:nvGrpSpPr>
          <p:cNvPr id="346130" name="Group 34"/>
          <p:cNvGrpSpPr>
            <a:grpSpLocks/>
          </p:cNvGrpSpPr>
          <p:nvPr/>
        </p:nvGrpSpPr>
        <p:grpSpPr bwMode="auto">
          <a:xfrm>
            <a:off x="2481659" y="2565227"/>
            <a:ext cx="431800" cy="1008062"/>
            <a:chOff x="476" y="3113"/>
            <a:chExt cx="272" cy="635"/>
          </a:xfrm>
        </p:grpSpPr>
        <p:sp>
          <p:nvSpPr>
            <p:cNvPr id="346193" name="Rectangle 35"/>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4</a:t>
              </a:r>
            </a:p>
            <a:p>
              <a:pPr algn="ctr" eaLnBrk="1" hangingPunct="1">
                <a:lnSpc>
                  <a:spcPct val="120000"/>
                </a:lnSpc>
                <a:spcBef>
                  <a:spcPct val="0"/>
                </a:spcBef>
                <a:buFontTx/>
                <a:buNone/>
              </a:pPr>
              <a:r>
                <a:rPr kumimoji="0" lang="en-US" altLang="zh-CN" sz="1800" b="1"/>
                <a:t>3</a:t>
              </a:r>
            </a:p>
            <a:p>
              <a:pPr algn="ctr" eaLnBrk="1" hangingPunct="1">
                <a:lnSpc>
                  <a:spcPct val="120000"/>
                </a:lnSpc>
                <a:spcBef>
                  <a:spcPct val="0"/>
                </a:spcBef>
                <a:buFontTx/>
                <a:buNone/>
              </a:pPr>
              <a:r>
                <a:rPr kumimoji="0" lang="en-US" altLang="zh-CN" sz="1800" b="1"/>
                <a:t>2</a:t>
              </a:r>
            </a:p>
          </p:txBody>
        </p:sp>
        <p:sp>
          <p:nvSpPr>
            <p:cNvPr id="346194" name="Line 36"/>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6195" name="Line 37"/>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46131" name="Group 38"/>
          <p:cNvGrpSpPr>
            <a:grpSpLocks/>
          </p:cNvGrpSpPr>
          <p:nvPr/>
        </p:nvGrpSpPr>
        <p:grpSpPr bwMode="auto">
          <a:xfrm>
            <a:off x="3002359" y="5024264"/>
            <a:ext cx="863600" cy="396875"/>
            <a:chOff x="2726" y="3203"/>
            <a:chExt cx="544" cy="250"/>
          </a:xfrm>
        </p:grpSpPr>
        <p:sp>
          <p:nvSpPr>
            <p:cNvPr id="346191" name="Text Box 39"/>
            <p:cNvSpPr txBox="1">
              <a:spLocks noChangeArrowheads="1"/>
            </p:cNvSpPr>
            <p:nvPr/>
          </p:nvSpPr>
          <p:spPr bwMode="auto">
            <a:xfrm>
              <a:off x="2726" y="3203"/>
              <a:ext cx="544" cy="25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2      1</a:t>
              </a:r>
            </a:p>
          </p:txBody>
        </p:sp>
        <p:sp>
          <p:nvSpPr>
            <p:cNvPr id="346192" name="Line 40"/>
            <p:cNvSpPr>
              <a:spLocks noChangeShapeType="1"/>
            </p:cNvSpPr>
            <p:nvPr/>
          </p:nvSpPr>
          <p:spPr bwMode="auto">
            <a:xfrm flipH="1">
              <a:off x="3001" y="3210"/>
              <a:ext cx="2" cy="23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46132" name="Text Box 41"/>
          <p:cNvSpPr txBox="1">
            <a:spLocks noChangeArrowheads="1"/>
          </p:cNvSpPr>
          <p:nvPr/>
        </p:nvSpPr>
        <p:spPr bwMode="auto">
          <a:xfrm>
            <a:off x="3080146" y="3614564"/>
            <a:ext cx="3603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sym typeface="Symbol" panose="05050102010706020507" pitchFamily="18" charset="2"/>
              </a:rPr>
              <a:t></a:t>
            </a:r>
          </a:p>
        </p:txBody>
      </p:sp>
      <p:sp>
        <p:nvSpPr>
          <p:cNvPr id="346133" name="Text Box 42"/>
          <p:cNvSpPr txBox="1">
            <a:spLocks noChangeArrowheads="1"/>
          </p:cNvSpPr>
          <p:nvPr/>
        </p:nvSpPr>
        <p:spPr bwMode="auto">
          <a:xfrm>
            <a:off x="4426346" y="4292427"/>
            <a:ext cx="431800" cy="396875"/>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0</a:t>
            </a:r>
          </a:p>
        </p:txBody>
      </p:sp>
      <p:sp>
        <p:nvSpPr>
          <p:cNvPr id="346134" name="Text Box 43"/>
          <p:cNvSpPr txBox="1">
            <a:spLocks noChangeArrowheads="1"/>
          </p:cNvSpPr>
          <p:nvPr/>
        </p:nvSpPr>
        <p:spPr bwMode="auto">
          <a:xfrm>
            <a:off x="5513784" y="5021089"/>
            <a:ext cx="431800" cy="396875"/>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0</a:t>
            </a:r>
          </a:p>
        </p:txBody>
      </p:sp>
      <p:sp>
        <p:nvSpPr>
          <p:cNvPr id="346135" name="Text Box 44"/>
          <p:cNvSpPr txBox="1">
            <a:spLocks noChangeArrowheads="1"/>
          </p:cNvSpPr>
          <p:nvPr/>
        </p:nvSpPr>
        <p:spPr bwMode="auto">
          <a:xfrm>
            <a:off x="3489721" y="5013152"/>
            <a:ext cx="431800" cy="396875"/>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0</a:t>
            </a:r>
          </a:p>
        </p:txBody>
      </p:sp>
      <p:grpSp>
        <p:nvGrpSpPr>
          <p:cNvPr id="346136" name="Group 45"/>
          <p:cNvGrpSpPr>
            <a:grpSpLocks/>
          </p:cNvGrpSpPr>
          <p:nvPr/>
        </p:nvGrpSpPr>
        <p:grpSpPr bwMode="auto">
          <a:xfrm>
            <a:off x="3057921" y="2565227"/>
            <a:ext cx="431800" cy="1008062"/>
            <a:chOff x="476" y="3113"/>
            <a:chExt cx="272" cy="635"/>
          </a:xfrm>
        </p:grpSpPr>
        <p:sp>
          <p:nvSpPr>
            <p:cNvPr id="346188" name="Rectangle 46"/>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1</a:t>
              </a:r>
            </a:p>
            <a:p>
              <a:pPr algn="ctr" eaLnBrk="1" hangingPunct="1">
                <a:lnSpc>
                  <a:spcPct val="120000"/>
                </a:lnSpc>
                <a:spcBef>
                  <a:spcPct val="0"/>
                </a:spcBef>
                <a:buFontTx/>
                <a:buNone/>
              </a:pPr>
              <a:r>
                <a:rPr kumimoji="0" lang="en-US" altLang="zh-CN" sz="1800" b="1"/>
                <a:t>3</a:t>
              </a:r>
            </a:p>
            <a:p>
              <a:pPr algn="ctr" eaLnBrk="1" hangingPunct="1">
                <a:lnSpc>
                  <a:spcPct val="120000"/>
                </a:lnSpc>
                <a:spcBef>
                  <a:spcPct val="0"/>
                </a:spcBef>
                <a:buFontTx/>
                <a:buNone/>
              </a:pPr>
              <a:r>
                <a:rPr kumimoji="0" lang="en-US" altLang="zh-CN" sz="1800" b="1"/>
                <a:t>2</a:t>
              </a:r>
            </a:p>
          </p:txBody>
        </p:sp>
        <p:sp>
          <p:nvSpPr>
            <p:cNvPr id="346189" name="Line 47"/>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6190" name="Line 48"/>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46137" name="Group 49"/>
          <p:cNvGrpSpPr>
            <a:grpSpLocks/>
          </p:cNvGrpSpPr>
          <p:nvPr/>
        </p:nvGrpSpPr>
        <p:grpSpPr bwMode="auto">
          <a:xfrm>
            <a:off x="3938984" y="4292427"/>
            <a:ext cx="863600" cy="396875"/>
            <a:chOff x="2726" y="3203"/>
            <a:chExt cx="544" cy="250"/>
          </a:xfrm>
        </p:grpSpPr>
        <p:sp>
          <p:nvSpPr>
            <p:cNvPr id="346186" name="Text Box 50"/>
            <p:cNvSpPr txBox="1">
              <a:spLocks noChangeArrowheads="1"/>
            </p:cNvSpPr>
            <p:nvPr/>
          </p:nvSpPr>
          <p:spPr bwMode="auto">
            <a:xfrm>
              <a:off x="2726" y="3203"/>
              <a:ext cx="544" cy="25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1      1</a:t>
              </a:r>
            </a:p>
          </p:txBody>
        </p:sp>
        <p:sp>
          <p:nvSpPr>
            <p:cNvPr id="346187" name="Line 51"/>
            <p:cNvSpPr>
              <a:spLocks noChangeShapeType="1"/>
            </p:cNvSpPr>
            <p:nvPr/>
          </p:nvSpPr>
          <p:spPr bwMode="auto">
            <a:xfrm flipH="1">
              <a:off x="3001" y="3210"/>
              <a:ext cx="2" cy="23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46138" name="Text Box 52"/>
          <p:cNvSpPr txBox="1">
            <a:spLocks noChangeArrowheads="1"/>
          </p:cNvSpPr>
          <p:nvPr/>
        </p:nvSpPr>
        <p:spPr bwMode="auto">
          <a:xfrm>
            <a:off x="3656409" y="3612977"/>
            <a:ext cx="3603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sym typeface="Symbol" panose="05050102010706020507" pitchFamily="18" charset="2"/>
              </a:rPr>
              <a:t></a:t>
            </a:r>
          </a:p>
        </p:txBody>
      </p:sp>
      <p:grpSp>
        <p:nvGrpSpPr>
          <p:cNvPr id="346139" name="Group 53"/>
          <p:cNvGrpSpPr>
            <a:grpSpLocks/>
          </p:cNvGrpSpPr>
          <p:nvPr/>
        </p:nvGrpSpPr>
        <p:grpSpPr bwMode="auto">
          <a:xfrm>
            <a:off x="3634184" y="2565227"/>
            <a:ext cx="431800" cy="1008062"/>
            <a:chOff x="476" y="3113"/>
            <a:chExt cx="272" cy="635"/>
          </a:xfrm>
        </p:grpSpPr>
        <p:sp>
          <p:nvSpPr>
            <p:cNvPr id="346183" name="Rectangle 54"/>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1</a:t>
              </a:r>
            </a:p>
            <a:p>
              <a:pPr algn="ctr" eaLnBrk="1" hangingPunct="1">
                <a:lnSpc>
                  <a:spcPct val="120000"/>
                </a:lnSpc>
                <a:spcBef>
                  <a:spcPct val="0"/>
                </a:spcBef>
                <a:buFontTx/>
                <a:buNone/>
              </a:pPr>
              <a:r>
                <a:rPr kumimoji="0" lang="en-US" altLang="zh-CN" sz="1800" b="1"/>
                <a:t>4</a:t>
              </a:r>
            </a:p>
            <a:p>
              <a:pPr algn="ctr" eaLnBrk="1" hangingPunct="1">
                <a:lnSpc>
                  <a:spcPct val="120000"/>
                </a:lnSpc>
                <a:spcBef>
                  <a:spcPct val="0"/>
                </a:spcBef>
                <a:buFontTx/>
                <a:buNone/>
              </a:pPr>
              <a:r>
                <a:rPr kumimoji="0" lang="en-US" altLang="zh-CN" sz="1800" b="1"/>
                <a:t>2</a:t>
              </a:r>
            </a:p>
          </p:txBody>
        </p:sp>
        <p:sp>
          <p:nvSpPr>
            <p:cNvPr id="346184" name="Line 55"/>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6185" name="Line 56"/>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46140" name="Group 57"/>
          <p:cNvGrpSpPr>
            <a:grpSpLocks/>
          </p:cNvGrpSpPr>
          <p:nvPr/>
        </p:nvGrpSpPr>
        <p:grpSpPr bwMode="auto">
          <a:xfrm>
            <a:off x="5018484" y="5040139"/>
            <a:ext cx="863600" cy="396875"/>
            <a:chOff x="2726" y="3203"/>
            <a:chExt cx="544" cy="250"/>
          </a:xfrm>
        </p:grpSpPr>
        <p:sp>
          <p:nvSpPr>
            <p:cNvPr id="346181" name="Text Box 58"/>
            <p:cNvSpPr txBox="1">
              <a:spLocks noChangeArrowheads="1"/>
            </p:cNvSpPr>
            <p:nvPr/>
          </p:nvSpPr>
          <p:spPr bwMode="auto">
            <a:xfrm>
              <a:off x="2726" y="3203"/>
              <a:ext cx="544" cy="25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4      1</a:t>
              </a:r>
            </a:p>
          </p:txBody>
        </p:sp>
        <p:sp>
          <p:nvSpPr>
            <p:cNvPr id="346182" name="Line 59"/>
            <p:cNvSpPr>
              <a:spLocks noChangeShapeType="1"/>
            </p:cNvSpPr>
            <p:nvPr/>
          </p:nvSpPr>
          <p:spPr bwMode="auto">
            <a:xfrm flipH="1">
              <a:off x="3001" y="3210"/>
              <a:ext cx="2" cy="23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46141" name="Text Box 60"/>
          <p:cNvSpPr txBox="1">
            <a:spLocks noChangeArrowheads="1"/>
          </p:cNvSpPr>
          <p:nvPr/>
        </p:nvSpPr>
        <p:spPr bwMode="auto">
          <a:xfrm>
            <a:off x="4232671" y="3589164"/>
            <a:ext cx="3603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sym typeface="Symbol" panose="05050102010706020507" pitchFamily="18" charset="2"/>
              </a:rPr>
              <a:t></a:t>
            </a:r>
          </a:p>
        </p:txBody>
      </p:sp>
      <p:grpSp>
        <p:nvGrpSpPr>
          <p:cNvPr id="346142" name="Group 61"/>
          <p:cNvGrpSpPr>
            <a:grpSpLocks/>
          </p:cNvGrpSpPr>
          <p:nvPr/>
        </p:nvGrpSpPr>
        <p:grpSpPr bwMode="auto">
          <a:xfrm>
            <a:off x="4194571" y="2565227"/>
            <a:ext cx="431800" cy="1008062"/>
            <a:chOff x="476" y="3113"/>
            <a:chExt cx="272" cy="635"/>
          </a:xfrm>
        </p:grpSpPr>
        <p:sp>
          <p:nvSpPr>
            <p:cNvPr id="346178" name="Rectangle 62"/>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1</a:t>
              </a:r>
            </a:p>
            <a:p>
              <a:pPr algn="ctr" eaLnBrk="1" hangingPunct="1">
                <a:lnSpc>
                  <a:spcPct val="120000"/>
                </a:lnSpc>
                <a:spcBef>
                  <a:spcPct val="0"/>
                </a:spcBef>
                <a:buFontTx/>
                <a:buNone/>
              </a:pPr>
              <a:r>
                <a:rPr kumimoji="0" lang="en-US" altLang="zh-CN" sz="1800" b="1"/>
                <a:t>4</a:t>
              </a:r>
            </a:p>
            <a:p>
              <a:pPr algn="ctr" eaLnBrk="1" hangingPunct="1">
                <a:lnSpc>
                  <a:spcPct val="120000"/>
                </a:lnSpc>
                <a:spcBef>
                  <a:spcPct val="0"/>
                </a:spcBef>
                <a:buFontTx/>
                <a:buNone/>
              </a:pPr>
              <a:r>
                <a:rPr kumimoji="0" lang="en-US" altLang="zh-CN" sz="1800" b="1"/>
                <a:t>3</a:t>
              </a:r>
            </a:p>
          </p:txBody>
        </p:sp>
        <p:sp>
          <p:nvSpPr>
            <p:cNvPr id="346179" name="Line 63"/>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6180" name="Line 64"/>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46143" name="Group 65"/>
          <p:cNvGrpSpPr>
            <a:grpSpLocks/>
          </p:cNvGrpSpPr>
          <p:nvPr/>
        </p:nvGrpSpPr>
        <p:grpSpPr bwMode="auto">
          <a:xfrm>
            <a:off x="3002359" y="5032202"/>
            <a:ext cx="863600" cy="396875"/>
            <a:chOff x="2726" y="3203"/>
            <a:chExt cx="544" cy="250"/>
          </a:xfrm>
        </p:grpSpPr>
        <p:sp>
          <p:nvSpPr>
            <p:cNvPr id="346176" name="Text Box 66"/>
            <p:cNvSpPr txBox="1">
              <a:spLocks noChangeArrowheads="1"/>
            </p:cNvSpPr>
            <p:nvPr/>
          </p:nvSpPr>
          <p:spPr bwMode="auto">
            <a:xfrm>
              <a:off x="2726" y="3203"/>
              <a:ext cx="544" cy="25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3      1</a:t>
              </a:r>
            </a:p>
          </p:txBody>
        </p:sp>
        <p:sp>
          <p:nvSpPr>
            <p:cNvPr id="346177" name="Line 67"/>
            <p:cNvSpPr>
              <a:spLocks noChangeShapeType="1"/>
            </p:cNvSpPr>
            <p:nvPr/>
          </p:nvSpPr>
          <p:spPr bwMode="auto">
            <a:xfrm flipH="1">
              <a:off x="3001" y="3210"/>
              <a:ext cx="2" cy="23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46144" name="Text Box 68"/>
          <p:cNvSpPr txBox="1">
            <a:spLocks noChangeArrowheads="1"/>
          </p:cNvSpPr>
          <p:nvPr/>
        </p:nvSpPr>
        <p:spPr bwMode="auto">
          <a:xfrm>
            <a:off x="4802584" y="3573289"/>
            <a:ext cx="3603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sym typeface="Symbol" panose="05050102010706020507" pitchFamily="18" charset="2"/>
              </a:rPr>
              <a:t></a:t>
            </a:r>
          </a:p>
        </p:txBody>
      </p:sp>
      <p:sp>
        <p:nvSpPr>
          <p:cNvPr id="346145" name="Text Box 69"/>
          <p:cNvSpPr txBox="1">
            <a:spLocks noChangeArrowheads="1"/>
          </p:cNvSpPr>
          <p:nvPr/>
        </p:nvSpPr>
        <p:spPr bwMode="auto">
          <a:xfrm>
            <a:off x="4402534" y="4292427"/>
            <a:ext cx="431800" cy="396875"/>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0</a:t>
            </a:r>
          </a:p>
        </p:txBody>
      </p:sp>
      <p:sp>
        <p:nvSpPr>
          <p:cNvPr id="346146" name="Text Box 70"/>
          <p:cNvSpPr txBox="1">
            <a:spLocks noChangeArrowheads="1"/>
          </p:cNvSpPr>
          <p:nvPr/>
        </p:nvSpPr>
        <p:spPr bwMode="auto">
          <a:xfrm>
            <a:off x="5513784" y="5048077"/>
            <a:ext cx="431800" cy="396875"/>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0</a:t>
            </a:r>
          </a:p>
        </p:txBody>
      </p:sp>
      <p:sp>
        <p:nvSpPr>
          <p:cNvPr id="346147" name="Text Box 71"/>
          <p:cNvSpPr txBox="1">
            <a:spLocks noChangeArrowheads="1"/>
          </p:cNvSpPr>
          <p:nvPr/>
        </p:nvSpPr>
        <p:spPr bwMode="auto">
          <a:xfrm>
            <a:off x="3497659" y="5013152"/>
            <a:ext cx="431800" cy="396875"/>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0</a:t>
            </a:r>
          </a:p>
        </p:txBody>
      </p:sp>
      <p:grpSp>
        <p:nvGrpSpPr>
          <p:cNvPr id="346148" name="Group 72"/>
          <p:cNvGrpSpPr>
            <a:grpSpLocks/>
          </p:cNvGrpSpPr>
          <p:nvPr/>
        </p:nvGrpSpPr>
        <p:grpSpPr bwMode="auto">
          <a:xfrm>
            <a:off x="4759721" y="2565227"/>
            <a:ext cx="431800" cy="1008062"/>
            <a:chOff x="476" y="3113"/>
            <a:chExt cx="272" cy="635"/>
          </a:xfrm>
        </p:grpSpPr>
        <p:sp>
          <p:nvSpPr>
            <p:cNvPr id="346173" name="Rectangle 73"/>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5</a:t>
              </a:r>
            </a:p>
            <a:p>
              <a:pPr algn="ctr" eaLnBrk="1" hangingPunct="1">
                <a:lnSpc>
                  <a:spcPct val="120000"/>
                </a:lnSpc>
                <a:spcBef>
                  <a:spcPct val="0"/>
                </a:spcBef>
                <a:buFontTx/>
                <a:buNone/>
              </a:pPr>
              <a:r>
                <a:rPr kumimoji="0" lang="en-US" altLang="zh-CN" sz="1800" b="1"/>
                <a:t>4</a:t>
              </a:r>
            </a:p>
            <a:p>
              <a:pPr algn="ctr" eaLnBrk="1" hangingPunct="1">
                <a:lnSpc>
                  <a:spcPct val="120000"/>
                </a:lnSpc>
                <a:spcBef>
                  <a:spcPct val="0"/>
                </a:spcBef>
                <a:buFontTx/>
                <a:buNone/>
              </a:pPr>
              <a:r>
                <a:rPr kumimoji="0" lang="en-US" altLang="zh-CN" sz="1800" b="1"/>
                <a:t>3</a:t>
              </a:r>
            </a:p>
          </p:txBody>
        </p:sp>
        <p:sp>
          <p:nvSpPr>
            <p:cNvPr id="346174" name="Line 74"/>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6175" name="Line 75"/>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46149" name="Group 76"/>
          <p:cNvGrpSpPr>
            <a:grpSpLocks/>
          </p:cNvGrpSpPr>
          <p:nvPr/>
        </p:nvGrpSpPr>
        <p:grpSpPr bwMode="auto">
          <a:xfrm>
            <a:off x="3923109" y="4308302"/>
            <a:ext cx="863600" cy="396875"/>
            <a:chOff x="2726" y="3203"/>
            <a:chExt cx="544" cy="250"/>
          </a:xfrm>
        </p:grpSpPr>
        <p:sp>
          <p:nvSpPr>
            <p:cNvPr id="346171" name="Text Box 77"/>
            <p:cNvSpPr txBox="1">
              <a:spLocks noChangeArrowheads="1"/>
            </p:cNvSpPr>
            <p:nvPr/>
          </p:nvSpPr>
          <p:spPr bwMode="auto">
            <a:xfrm>
              <a:off x="2726" y="3203"/>
              <a:ext cx="544" cy="25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5      1</a:t>
              </a:r>
            </a:p>
          </p:txBody>
        </p:sp>
        <p:sp>
          <p:nvSpPr>
            <p:cNvPr id="346172" name="Line 78"/>
            <p:cNvSpPr>
              <a:spLocks noChangeShapeType="1"/>
            </p:cNvSpPr>
            <p:nvPr/>
          </p:nvSpPr>
          <p:spPr bwMode="auto">
            <a:xfrm flipH="1">
              <a:off x="3001" y="3210"/>
              <a:ext cx="2" cy="23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46150" name="Group 79"/>
          <p:cNvGrpSpPr>
            <a:grpSpLocks/>
          </p:cNvGrpSpPr>
          <p:nvPr/>
        </p:nvGrpSpPr>
        <p:grpSpPr bwMode="auto">
          <a:xfrm>
            <a:off x="5362971" y="2565227"/>
            <a:ext cx="431800" cy="1008062"/>
            <a:chOff x="476" y="3113"/>
            <a:chExt cx="272" cy="635"/>
          </a:xfrm>
        </p:grpSpPr>
        <p:sp>
          <p:nvSpPr>
            <p:cNvPr id="346168" name="Rectangle 80"/>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5</a:t>
              </a:r>
            </a:p>
            <a:p>
              <a:pPr algn="ctr" eaLnBrk="1" hangingPunct="1">
                <a:lnSpc>
                  <a:spcPct val="120000"/>
                </a:lnSpc>
                <a:spcBef>
                  <a:spcPct val="0"/>
                </a:spcBef>
                <a:buFontTx/>
                <a:buNone/>
              </a:pPr>
              <a:r>
                <a:rPr kumimoji="0" lang="en-US" altLang="zh-CN" sz="1800" b="1"/>
                <a:t>4</a:t>
              </a:r>
            </a:p>
            <a:p>
              <a:pPr algn="ctr" eaLnBrk="1" hangingPunct="1">
                <a:lnSpc>
                  <a:spcPct val="120000"/>
                </a:lnSpc>
                <a:spcBef>
                  <a:spcPct val="0"/>
                </a:spcBef>
                <a:buFontTx/>
                <a:buNone/>
              </a:pPr>
              <a:r>
                <a:rPr kumimoji="0" lang="en-US" altLang="zh-CN" sz="1800" b="1"/>
                <a:t>3</a:t>
              </a:r>
            </a:p>
          </p:txBody>
        </p:sp>
        <p:sp>
          <p:nvSpPr>
            <p:cNvPr id="346169" name="Line 81"/>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6170" name="Line 82"/>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46151" name="Text Box 83"/>
          <p:cNvSpPr txBox="1">
            <a:spLocks noChangeArrowheads="1"/>
          </p:cNvSpPr>
          <p:nvPr/>
        </p:nvSpPr>
        <p:spPr bwMode="auto">
          <a:xfrm>
            <a:off x="5555059" y="5013152"/>
            <a:ext cx="431800" cy="396875"/>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1</a:t>
            </a:r>
          </a:p>
        </p:txBody>
      </p:sp>
      <p:grpSp>
        <p:nvGrpSpPr>
          <p:cNvPr id="346152" name="Group 84"/>
          <p:cNvGrpSpPr>
            <a:grpSpLocks/>
          </p:cNvGrpSpPr>
          <p:nvPr/>
        </p:nvGrpSpPr>
        <p:grpSpPr bwMode="auto">
          <a:xfrm>
            <a:off x="5921771" y="2565227"/>
            <a:ext cx="431800" cy="1008062"/>
            <a:chOff x="476" y="3113"/>
            <a:chExt cx="272" cy="635"/>
          </a:xfrm>
        </p:grpSpPr>
        <p:sp>
          <p:nvSpPr>
            <p:cNvPr id="346165" name="Rectangle 85"/>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5</a:t>
              </a:r>
            </a:p>
            <a:p>
              <a:pPr algn="ctr" eaLnBrk="1" hangingPunct="1">
                <a:lnSpc>
                  <a:spcPct val="120000"/>
                </a:lnSpc>
                <a:spcBef>
                  <a:spcPct val="0"/>
                </a:spcBef>
                <a:buFontTx/>
                <a:buNone/>
              </a:pPr>
              <a:r>
                <a:rPr kumimoji="0" lang="en-US" altLang="zh-CN" sz="1800" b="1"/>
                <a:t>4</a:t>
              </a:r>
            </a:p>
            <a:p>
              <a:pPr algn="ctr" eaLnBrk="1" hangingPunct="1">
                <a:lnSpc>
                  <a:spcPct val="120000"/>
                </a:lnSpc>
                <a:spcBef>
                  <a:spcPct val="0"/>
                </a:spcBef>
                <a:buFontTx/>
                <a:buNone/>
              </a:pPr>
              <a:r>
                <a:rPr kumimoji="0" lang="en-US" altLang="zh-CN" sz="1800" b="1"/>
                <a:t>3</a:t>
              </a:r>
            </a:p>
          </p:txBody>
        </p:sp>
        <p:sp>
          <p:nvSpPr>
            <p:cNvPr id="346166" name="Line 86"/>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6167" name="Line 87"/>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46153" name="Text Box 88"/>
          <p:cNvSpPr txBox="1">
            <a:spLocks noChangeArrowheads="1"/>
          </p:cNvSpPr>
          <p:nvPr/>
        </p:nvSpPr>
        <p:spPr bwMode="auto">
          <a:xfrm>
            <a:off x="3499246" y="5013152"/>
            <a:ext cx="431800" cy="396875"/>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1</a:t>
            </a:r>
          </a:p>
        </p:txBody>
      </p:sp>
      <p:sp>
        <p:nvSpPr>
          <p:cNvPr id="346154" name="Text Box 89"/>
          <p:cNvSpPr txBox="1">
            <a:spLocks noChangeArrowheads="1"/>
          </p:cNvSpPr>
          <p:nvPr/>
        </p:nvSpPr>
        <p:spPr bwMode="auto">
          <a:xfrm>
            <a:off x="6498034" y="3589164"/>
            <a:ext cx="3603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sym typeface="Symbol" panose="05050102010706020507" pitchFamily="18" charset="2"/>
              </a:rPr>
              <a:t></a:t>
            </a:r>
          </a:p>
        </p:txBody>
      </p:sp>
      <p:sp>
        <p:nvSpPr>
          <p:cNvPr id="346155" name="Text Box 90"/>
          <p:cNvSpPr txBox="1">
            <a:spLocks noChangeArrowheads="1"/>
          </p:cNvSpPr>
          <p:nvPr/>
        </p:nvSpPr>
        <p:spPr bwMode="auto">
          <a:xfrm>
            <a:off x="5505846" y="5021089"/>
            <a:ext cx="431800" cy="396875"/>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0</a:t>
            </a:r>
          </a:p>
        </p:txBody>
      </p:sp>
      <p:sp>
        <p:nvSpPr>
          <p:cNvPr id="346156" name="Text Box 91"/>
          <p:cNvSpPr txBox="1">
            <a:spLocks noChangeArrowheads="1"/>
          </p:cNvSpPr>
          <p:nvPr/>
        </p:nvSpPr>
        <p:spPr bwMode="auto">
          <a:xfrm>
            <a:off x="3489721" y="5013152"/>
            <a:ext cx="431800" cy="396875"/>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0</a:t>
            </a:r>
          </a:p>
        </p:txBody>
      </p:sp>
      <p:sp>
        <p:nvSpPr>
          <p:cNvPr id="346157" name="Text Box 92"/>
          <p:cNvSpPr txBox="1">
            <a:spLocks noChangeArrowheads="1"/>
          </p:cNvSpPr>
          <p:nvPr/>
        </p:nvSpPr>
        <p:spPr bwMode="auto">
          <a:xfrm>
            <a:off x="4426346" y="4292427"/>
            <a:ext cx="431800" cy="396875"/>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0</a:t>
            </a:r>
          </a:p>
        </p:txBody>
      </p:sp>
      <p:grpSp>
        <p:nvGrpSpPr>
          <p:cNvPr id="586845" name="Group 93"/>
          <p:cNvGrpSpPr>
            <a:grpSpLocks/>
          </p:cNvGrpSpPr>
          <p:nvPr/>
        </p:nvGrpSpPr>
        <p:grpSpPr bwMode="auto">
          <a:xfrm>
            <a:off x="6466284" y="2581102"/>
            <a:ext cx="431800" cy="1008062"/>
            <a:chOff x="476" y="3113"/>
            <a:chExt cx="272" cy="635"/>
          </a:xfrm>
        </p:grpSpPr>
        <p:sp>
          <p:nvSpPr>
            <p:cNvPr id="346162" name="Rectangle 94"/>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5</a:t>
              </a:r>
            </a:p>
            <a:p>
              <a:pPr algn="ctr" eaLnBrk="1" hangingPunct="1">
                <a:lnSpc>
                  <a:spcPct val="120000"/>
                </a:lnSpc>
                <a:spcBef>
                  <a:spcPct val="0"/>
                </a:spcBef>
                <a:buFontTx/>
                <a:buNone/>
              </a:pPr>
              <a:r>
                <a:rPr kumimoji="0" lang="en-US" altLang="zh-CN" sz="1800" b="1"/>
                <a:t>2</a:t>
              </a:r>
            </a:p>
            <a:p>
              <a:pPr algn="ctr" eaLnBrk="1" hangingPunct="1">
                <a:lnSpc>
                  <a:spcPct val="120000"/>
                </a:lnSpc>
                <a:spcBef>
                  <a:spcPct val="0"/>
                </a:spcBef>
                <a:buFontTx/>
                <a:buNone/>
              </a:pPr>
              <a:r>
                <a:rPr kumimoji="0" lang="en-US" altLang="zh-CN" sz="1800" b="1"/>
                <a:t>3</a:t>
              </a:r>
            </a:p>
          </p:txBody>
        </p:sp>
        <p:sp>
          <p:nvSpPr>
            <p:cNvPr id="346163" name="Line 95"/>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6164" name="Line 96"/>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86849" name="Group 97"/>
          <p:cNvGrpSpPr>
            <a:grpSpLocks/>
          </p:cNvGrpSpPr>
          <p:nvPr/>
        </p:nvGrpSpPr>
        <p:grpSpPr bwMode="auto">
          <a:xfrm>
            <a:off x="5010546" y="5029027"/>
            <a:ext cx="863600" cy="396875"/>
            <a:chOff x="2726" y="3203"/>
            <a:chExt cx="544" cy="250"/>
          </a:xfrm>
        </p:grpSpPr>
        <p:sp>
          <p:nvSpPr>
            <p:cNvPr id="346160" name="Text Box 98"/>
            <p:cNvSpPr txBox="1">
              <a:spLocks noChangeArrowheads="1"/>
            </p:cNvSpPr>
            <p:nvPr/>
          </p:nvSpPr>
          <p:spPr bwMode="auto">
            <a:xfrm>
              <a:off x="2726" y="3203"/>
              <a:ext cx="544" cy="25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2      1</a:t>
              </a:r>
            </a:p>
          </p:txBody>
        </p:sp>
        <p:sp>
          <p:nvSpPr>
            <p:cNvPr id="346161" name="Line 99"/>
            <p:cNvSpPr>
              <a:spLocks noChangeShapeType="1"/>
            </p:cNvSpPr>
            <p:nvPr/>
          </p:nvSpPr>
          <p:spPr bwMode="auto">
            <a:xfrm flipH="1">
              <a:off x="3001" y="3210"/>
              <a:ext cx="2" cy="23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 name="Date Placeholder 2"/>
          <p:cNvSpPr>
            <a:spLocks noGrp="1"/>
          </p:cNvSpPr>
          <p:nvPr>
            <p:ph type="dt" sz="half" idx="10"/>
          </p:nvPr>
        </p:nvSpPr>
        <p:spPr/>
        <p:txBody>
          <a:bodyPr/>
          <a:lstStyle/>
          <a:p>
            <a:fld id="{77785F1F-AA6D-43CC-8D9D-0AF6AC288DE3}" type="datetime1">
              <a:rPr lang="zh-CN" altLang="en-US" smtClean="0"/>
              <a:pPr/>
              <a:t>2018/8/3</a:t>
            </a:fld>
            <a:endParaRPr lang="zh-CN" altLang="en-US" dirty="0"/>
          </a:p>
        </p:txBody>
      </p:sp>
      <p:sp>
        <p:nvSpPr>
          <p:cNvPr id="4" name="Footer Placeholder 3"/>
          <p:cNvSpPr>
            <a:spLocks noGrp="1"/>
          </p:cNvSpPr>
          <p:nvPr>
            <p:ph type="ftr" sz="quarter" idx="11"/>
          </p:nvPr>
        </p:nvSpPr>
        <p:spPr/>
        <p:txBody>
          <a:bodyPr/>
          <a:lstStyle/>
          <a:p>
            <a:r>
              <a:rPr lang="en-US" altLang="zh-CN"/>
              <a:t>CH07 Memory Management</a:t>
            </a:r>
            <a:endParaRPr lang="zh-CN" altLang="en-US" dirty="0"/>
          </a:p>
        </p:txBody>
      </p:sp>
      <p:sp>
        <p:nvSpPr>
          <p:cNvPr id="104" name="Slide Number Placeholder 5"/>
          <p:cNvSpPr>
            <a:spLocks noGrp="1"/>
          </p:cNvSpPr>
          <p:nvPr>
            <p:ph type="sldNum" sz="quarter" idx="12"/>
          </p:nvPr>
        </p:nvSpPr>
        <p:spPr>
          <a:xfrm>
            <a:off x="6119832" y="6669360"/>
            <a:ext cx="3009936" cy="187200"/>
          </a:xfrm>
        </p:spPr>
        <p:txBody>
          <a:bodyPr/>
          <a:lstStyle/>
          <a:p>
            <a:r>
              <a:rPr lang="en-US" altLang="zh-CN" dirty="0"/>
              <a:t>129</a:t>
            </a:r>
            <a:endParaRPr lang="zh-CN" altLang="en-US" dirty="0"/>
          </a:p>
        </p:txBody>
      </p:sp>
    </p:spTree>
    <p:extLst>
      <p:ext uri="{BB962C8B-B14F-4D97-AF65-F5344CB8AC3E}">
        <p14:creationId xmlns:p14="http://schemas.microsoft.com/office/powerpoint/2010/main" val="40269665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0"/>
                                  </p:stCondLst>
                                  <p:childTnLst>
                                    <p:set>
                                      <p:cBhvr>
                                        <p:cTn id="6" dur="1" fill="hold">
                                          <p:stCondLst>
                                            <p:cond delay="0"/>
                                          </p:stCondLst>
                                        </p:cTn>
                                        <p:tgtEl>
                                          <p:spTgt spid="58684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8684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0" presetClass="path" presetSubtype="0" accel="50000" decel="50000" fill="hold" grpId="0" nodeType="clickEffect">
                                  <p:stCondLst>
                                    <p:cond delay="0"/>
                                  </p:stCondLst>
                                  <p:childTnLst>
                                    <p:animMotion origin="layout" path="M -8.33333E-7 -2.96159E-6 L -0.22049 -2.96159E-6 " pathEditMode="relative" ptsTypes="AA">
                                      <p:cBhvr>
                                        <p:cTn id="14" dur="1000" fill="hold"/>
                                        <p:tgtEl>
                                          <p:spTgt spid="58677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6775" grpId="0" animBg="1"/>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8802" name="Rectangle 2"/>
          <p:cNvSpPr>
            <a:spLocks noGrp="1" noChangeArrowheads="1"/>
          </p:cNvSpPr>
          <p:nvPr>
            <p:ph type="title"/>
          </p:nvPr>
        </p:nvSpPr>
        <p:spPr/>
        <p:txBody>
          <a:bodyPr/>
          <a:lstStyle/>
          <a:p>
            <a:pPr>
              <a:defRPr/>
            </a:pPr>
            <a:r>
              <a:rPr lang="zh-CN" altLang="en-US" dirty="0"/>
              <a:t>时钟置换算法</a:t>
            </a:r>
            <a:endParaRPr lang="zh-CN" altLang="en-US" dirty="0">
              <a:ea typeface="黑体" panose="02010609060101010101" pitchFamily="49" charset="-122"/>
            </a:endParaRPr>
          </a:p>
        </p:txBody>
      </p:sp>
      <p:grpSp>
        <p:nvGrpSpPr>
          <p:cNvPr id="348165" name="Group 4"/>
          <p:cNvGrpSpPr>
            <a:grpSpLocks/>
          </p:cNvGrpSpPr>
          <p:nvPr/>
        </p:nvGrpSpPr>
        <p:grpSpPr bwMode="auto">
          <a:xfrm>
            <a:off x="1332309" y="2565227"/>
            <a:ext cx="431800" cy="1008062"/>
            <a:chOff x="476" y="3113"/>
            <a:chExt cx="272" cy="635"/>
          </a:xfrm>
        </p:grpSpPr>
        <p:sp>
          <p:nvSpPr>
            <p:cNvPr id="348271" name="Rectangle 5"/>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4</a:t>
              </a:r>
            </a:p>
            <a:p>
              <a:pPr algn="ctr" eaLnBrk="1" hangingPunct="1">
                <a:lnSpc>
                  <a:spcPct val="120000"/>
                </a:lnSpc>
                <a:spcBef>
                  <a:spcPct val="0"/>
                </a:spcBef>
                <a:buFontTx/>
                <a:buNone/>
              </a:pPr>
              <a:r>
                <a:rPr kumimoji="0" lang="en-US" altLang="zh-CN" sz="1800" b="1"/>
                <a:t> </a:t>
              </a:r>
            </a:p>
            <a:p>
              <a:pPr algn="ctr" eaLnBrk="1" hangingPunct="1">
                <a:lnSpc>
                  <a:spcPct val="120000"/>
                </a:lnSpc>
                <a:spcBef>
                  <a:spcPct val="0"/>
                </a:spcBef>
                <a:buFontTx/>
                <a:buNone/>
              </a:pPr>
              <a:r>
                <a:rPr kumimoji="0" lang="en-US" altLang="zh-CN" sz="1800" b="1"/>
                <a:t> </a:t>
              </a:r>
            </a:p>
          </p:txBody>
        </p:sp>
        <p:sp>
          <p:nvSpPr>
            <p:cNvPr id="348272" name="Line 6"/>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273" name="Line 7"/>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48166" name="Text Box 8"/>
          <p:cNvSpPr txBox="1">
            <a:spLocks noChangeArrowheads="1"/>
          </p:cNvSpPr>
          <p:nvPr/>
        </p:nvSpPr>
        <p:spPr bwMode="auto">
          <a:xfrm>
            <a:off x="1249759" y="2204864"/>
            <a:ext cx="67691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2000" b="1"/>
              <a:t>  4       3       2       1       4       3       5       4       3       2       1       5</a:t>
            </a:r>
          </a:p>
        </p:txBody>
      </p:sp>
      <p:sp>
        <p:nvSpPr>
          <p:cNvPr id="348167" name="Text Box 9"/>
          <p:cNvSpPr txBox="1">
            <a:spLocks noChangeArrowheads="1"/>
          </p:cNvSpPr>
          <p:nvPr/>
        </p:nvSpPr>
        <p:spPr bwMode="auto">
          <a:xfrm>
            <a:off x="1376759" y="3597102"/>
            <a:ext cx="3603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sym typeface="Symbol" panose="05050102010706020507" pitchFamily="18" charset="2"/>
              </a:rPr>
              <a:t></a:t>
            </a:r>
          </a:p>
        </p:txBody>
      </p:sp>
      <p:grpSp>
        <p:nvGrpSpPr>
          <p:cNvPr id="348168" name="Group 10"/>
          <p:cNvGrpSpPr>
            <a:grpSpLocks/>
          </p:cNvGrpSpPr>
          <p:nvPr/>
        </p:nvGrpSpPr>
        <p:grpSpPr bwMode="auto">
          <a:xfrm>
            <a:off x="3769121" y="4292427"/>
            <a:ext cx="2232025" cy="1152525"/>
            <a:chOff x="2699" y="3158"/>
            <a:chExt cx="1406" cy="726"/>
          </a:xfrm>
        </p:grpSpPr>
        <p:grpSp>
          <p:nvGrpSpPr>
            <p:cNvPr id="348264" name="Group 11"/>
            <p:cNvGrpSpPr>
              <a:grpSpLocks/>
            </p:cNvGrpSpPr>
            <p:nvPr/>
          </p:nvGrpSpPr>
          <p:grpSpPr bwMode="auto">
            <a:xfrm>
              <a:off x="2699" y="3158"/>
              <a:ext cx="725" cy="272"/>
              <a:chOff x="2699" y="3203"/>
              <a:chExt cx="725" cy="272"/>
            </a:xfrm>
          </p:grpSpPr>
          <p:sp>
            <p:nvSpPr>
              <p:cNvPr id="348269" name="Rectangle 12"/>
              <p:cNvSpPr>
                <a:spLocks noChangeArrowheads="1"/>
              </p:cNvSpPr>
              <p:nvPr/>
            </p:nvSpPr>
            <p:spPr bwMode="auto">
              <a:xfrm>
                <a:off x="2699" y="3203"/>
                <a:ext cx="725" cy="27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zh-CN" sz="2000" b="1"/>
              </a:p>
            </p:txBody>
          </p:sp>
          <p:sp>
            <p:nvSpPr>
              <p:cNvPr id="348270" name="Line 13"/>
              <p:cNvSpPr>
                <a:spLocks noChangeShapeType="1"/>
              </p:cNvSpPr>
              <p:nvPr/>
            </p:nvSpPr>
            <p:spPr bwMode="auto">
              <a:xfrm>
                <a:off x="3075" y="3203"/>
                <a:ext cx="0"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48265" name="Group 14"/>
            <p:cNvGrpSpPr>
              <a:grpSpLocks/>
            </p:cNvGrpSpPr>
            <p:nvPr/>
          </p:nvGrpSpPr>
          <p:grpSpPr bwMode="auto">
            <a:xfrm>
              <a:off x="3380" y="3612"/>
              <a:ext cx="725" cy="272"/>
              <a:chOff x="2699" y="3203"/>
              <a:chExt cx="725" cy="272"/>
            </a:xfrm>
          </p:grpSpPr>
          <p:sp>
            <p:nvSpPr>
              <p:cNvPr id="348267" name="Rectangle 15"/>
              <p:cNvSpPr>
                <a:spLocks noChangeArrowheads="1"/>
              </p:cNvSpPr>
              <p:nvPr/>
            </p:nvSpPr>
            <p:spPr bwMode="auto">
              <a:xfrm>
                <a:off x="2699" y="3203"/>
                <a:ext cx="725" cy="27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zh-CN" sz="2000" b="1"/>
              </a:p>
            </p:txBody>
          </p:sp>
          <p:sp>
            <p:nvSpPr>
              <p:cNvPr id="348268" name="Line 16"/>
              <p:cNvSpPr>
                <a:spLocks noChangeShapeType="1"/>
              </p:cNvSpPr>
              <p:nvPr/>
            </p:nvSpPr>
            <p:spPr bwMode="auto">
              <a:xfrm>
                <a:off x="3075" y="3203"/>
                <a:ext cx="0"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48266" name="Line 17"/>
            <p:cNvSpPr>
              <a:spLocks noChangeShapeType="1"/>
            </p:cNvSpPr>
            <p:nvPr/>
          </p:nvSpPr>
          <p:spPr bwMode="auto">
            <a:xfrm>
              <a:off x="3424" y="3294"/>
              <a:ext cx="318" cy="31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48169" name="Group 18"/>
          <p:cNvGrpSpPr>
            <a:grpSpLocks/>
          </p:cNvGrpSpPr>
          <p:nvPr/>
        </p:nvGrpSpPr>
        <p:grpSpPr bwMode="auto">
          <a:xfrm>
            <a:off x="2832496" y="5013152"/>
            <a:ext cx="1150938" cy="431800"/>
            <a:chOff x="2699" y="3203"/>
            <a:chExt cx="725" cy="272"/>
          </a:xfrm>
        </p:grpSpPr>
        <p:sp>
          <p:nvSpPr>
            <p:cNvPr id="348262" name="Rectangle 19"/>
            <p:cNvSpPr>
              <a:spLocks noChangeArrowheads="1"/>
            </p:cNvSpPr>
            <p:nvPr/>
          </p:nvSpPr>
          <p:spPr bwMode="auto">
            <a:xfrm>
              <a:off x="2699" y="3203"/>
              <a:ext cx="725" cy="27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zh-CN" sz="2000" b="1"/>
            </a:p>
          </p:txBody>
        </p:sp>
        <p:sp>
          <p:nvSpPr>
            <p:cNvPr id="348263" name="Line 20"/>
            <p:cNvSpPr>
              <a:spLocks noChangeShapeType="1"/>
            </p:cNvSpPr>
            <p:nvPr/>
          </p:nvSpPr>
          <p:spPr bwMode="auto">
            <a:xfrm>
              <a:off x="3075" y="3203"/>
              <a:ext cx="0"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48170" name="Line 21"/>
          <p:cNvSpPr>
            <a:spLocks noChangeShapeType="1"/>
          </p:cNvSpPr>
          <p:nvPr/>
        </p:nvSpPr>
        <p:spPr bwMode="auto">
          <a:xfrm flipH="1">
            <a:off x="3985021" y="5229052"/>
            <a:ext cx="863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171" name="Line 22"/>
          <p:cNvSpPr>
            <a:spLocks noChangeShapeType="1"/>
          </p:cNvSpPr>
          <p:nvPr/>
        </p:nvSpPr>
        <p:spPr bwMode="auto">
          <a:xfrm flipV="1">
            <a:off x="3192859" y="4508327"/>
            <a:ext cx="576262" cy="5048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8823" name="Oval 23"/>
          <p:cNvSpPr>
            <a:spLocks noChangeArrowheads="1"/>
          </p:cNvSpPr>
          <p:nvPr/>
        </p:nvSpPr>
        <p:spPr bwMode="auto">
          <a:xfrm>
            <a:off x="2688034" y="5157614"/>
            <a:ext cx="144462" cy="144463"/>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348173" name="Text Box 24"/>
          <p:cNvSpPr txBox="1">
            <a:spLocks noChangeArrowheads="1"/>
          </p:cNvSpPr>
          <p:nvPr/>
        </p:nvSpPr>
        <p:spPr bwMode="auto">
          <a:xfrm>
            <a:off x="3956446" y="4292427"/>
            <a:ext cx="863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4      1</a:t>
            </a:r>
          </a:p>
        </p:txBody>
      </p:sp>
      <p:sp>
        <p:nvSpPr>
          <p:cNvPr id="348174" name="Text Box 25"/>
          <p:cNvSpPr txBox="1">
            <a:spLocks noChangeArrowheads="1"/>
          </p:cNvSpPr>
          <p:nvPr/>
        </p:nvSpPr>
        <p:spPr bwMode="auto">
          <a:xfrm>
            <a:off x="1929209" y="3603452"/>
            <a:ext cx="3603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sym typeface="Symbol" panose="05050102010706020507" pitchFamily="18" charset="2"/>
              </a:rPr>
              <a:t></a:t>
            </a:r>
          </a:p>
        </p:txBody>
      </p:sp>
      <p:grpSp>
        <p:nvGrpSpPr>
          <p:cNvPr id="348175" name="Group 26"/>
          <p:cNvGrpSpPr>
            <a:grpSpLocks/>
          </p:cNvGrpSpPr>
          <p:nvPr/>
        </p:nvGrpSpPr>
        <p:grpSpPr bwMode="auto">
          <a:xfrm>
            <a:off x="1897459" y="2565227"/>
            <a:ext cx="431800" cy="1008062"/>
            <a:chOff x="476" y="3113"/>
            <a:chExt cx="272" cy="635"/>
          </a:xfrm>
        </p:grpSpPr>
        <p:sp>
          <p:nvSpPr>
            <p:cNvPr id="348259" name="Rectangle 27"/>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4</a:t>
              </a:r>
            </a:p>
            <a:p>
              <a:pPr algn="ctr" eaLnBrk="1" hangingPunct="1">
                <a:lnSpc>
                  <a:spcPct val="120000"/>
                </a:lnSpc>
                <a:spcBef>
                  <a:spcPct val="0"/>
                </a:spcBef>
                <a:buFontTx/>
                <a:buNone/>
              </a:pPr>
              <a:r>
                <a:rPr kumimoji="0" lang="en-US" altLang="zh-CN" sz="1800" b="1"/>
                <a:t>3</a:t>
              </a:r>
            </a:p>
            <a:p>
              <a:pPr algn="ctr" eaLnBrk="1" hangingPunct="1">
                <a:lnSpc>
                  <a:spcPct val="120000"/>
                </a:lnSpc>
                <a:spcBef>
                  <a:spcPct val="0"/>
                </a:spcBef>
                <a:buFontTx/>
                <a:buNone/>
              </a:pPr>
              <a:r>
                <a:rPr kumimoji="0" lang="en-US" altLang="zh-CN" sz="1800" b="1"/>
                <a:t> </a:t>
              </a:r>
            </a:p>
          </p:txBody>
        </p:sp>
        <p:sp>
          <p:nvSpPr>
            <p:cNvPr id="348260" name="Line 28"/>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261" name="Line 29"/>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48176" name="Group 30"/>
          <p:cNvGrpSpPr>
            <a:grpSpLocks/>
          </p:cNvGrpSpPr>
          <p:nvPr/>
        </p:nvGrpSpPr>
        <p:grpSpPr bwMode="auto">
          <a:xfrm>
            <a:off x="5008959" y="5040139"/>
            <a:ext cx="863600" cy="396875"/>
            <a:chOff x="2726" y="3203"/>
            <a:chExt cx="544" cy="250"/>
          </a:xfrm>
        </p:grpSpPr>
        <p:sp>
          <p:nvSpPr>
            <p:cNvPr id="348257" name="Text Box 31"/>
            <p:cNvSpPr txBox="1">
              <a:spLocks noChangeArrowheads="1"/>
            </p:cNvSpPr>
            <p:nvPr/>
          </p:nvSpPr>
          <p:spPr bwMode="auto">
            <a:xfrm>
              <a:off x="2726" y="3203"/>
              <a:ext cx="544" cy="25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3      1</a:t>
              </a:r>
            </a:p>
          </p:txBody>
        </p:sp>
        <p:sp>
          <p:nvSpPr>
            <p:cNvPr id="348258" name="Line 32"/>
            <p:cNvSpPr>
              <a:spLocks noChangeShapeType="1"/>
            </p:cNvSpPr>
            <p:nvPr/>
          </p:nvSpPr>
          <p:spPr bwMode="auto">
            <a:xfrm flipH="1">
              <a:off x="3001" y="3210"/>
              <a:ext cx="2" cy="23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48177" name="Text Box 33"/>
          <p:cNvSpPr txBox="1">
            <a:spLocks noChangeArrowheads="1"/>
          </p:cNvSpPr>
          <p:nvPr/>
        </p:nvSpPr>
        <p:spPr bwMode="auto">
          <a:xfrm>
            <a:off x="2508646" y="3606627"/>
            <a:ext cx="36036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sym typeface="Symbol" panose="05050102010706020507" pitchFamily="18" charset="2"/>
              </a:rPr>
              <a:t></a:t>
            </a:r>
          </a:p>
        </p:txBody>
      </p:sp>
      <p:grpSp>
        <p:nvGrpSpPr>
          <p:cNvPr id="348178" name="Group 34"/>
          <p:cNvGrpSpPr>
            <a:grpSpLocks/>
          </p:cNvGrpSpPr>
          <p:nvPr/>
        </p:nvGrpSpPr>
        <p:grpSpPr bwMode="auto">
          <a:xfrm>
            <a:off x="2472134" y="2565227"/>
            <a:ext cx="431800" cy="1008062"/>
            <a:chOff x="476" y="3113"/>
            <a:chExt cx="272" cy="635"/>
          </a:xfrm>
        </p:grpSpPr>
        <p:sp>
          <p:nvSpPr>
            <p:cNvPr id="348254" name="Rectangle 35"/>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4</a:t>
              </a:r>
            </a:p>
            <a:p>
              <a:pPr algn="ctr" eaLnBrk="1" hangingPunct="1">
                <a:lnSpc>
                  <a:spcPct val="120000"/>
                </a:lnSpc>
                <a:spcBef>
                  <a:spcPct val="0"/>
                </a:spcBef>
                <a:buFontTx/>
                <a:buNone/>
              </a:pPr>
              <a:r>
                <a:rPr kumimoji="0" lang="en-US" altLang="zh-CN" sz="1800" b="1"/>
                <a:t>3</a:t>
              </a:r>
            </a:p>
            <a:p>
              <a:pPr algn="ctr" eaLnBrk="1" hangingPunct="1">
                <a:lnSpc>
                  <a:spcPct val="120000"/>
                </a:lnSpc>
                <a:spcBef>
                  <a:spcPct val="0"/>
                </a:spcBef>
                <a:buFontTx/>
                <a:buNone/>
              </a:pPr>
              <a:r>
                <a:rPr kumimoji="0" lang="en-US" altLang="zh-CN" sz="1800" b="1"/>
                <a:t>2</a:t>
              </a:r>
            </a:p>
          </p:txBody>
        </p:sp>
        <p:sp>
          <p:nvSpPr>
            <p:cNvPr id="348255" name="Line 36"/>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256" name="Line 37"/>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48179" name="Group 38"/>
          <p:cNvGrpSpPr>
            <a:grpSpLocks/>
          </p:cNvGrpSpPr>
          <p:nvPr/>
        </p:nvGrpSpPr>
        <p:grpSpPr bwMode="auto">
          <a:xfrm>
            <a:off x="2992834" y="5024264"/>
            <a:ext cx="863600" cy="396875"/>
            <a:chOff x="2726" y="3203"/>
            <a:chExt cx="544" cy="250"/>
          </a:xfrm>
        </p:grpSpPr>
        <p:sp>
          <p:nvSpPr>
            <p:cNvPr id="348252" name="Text Box 39"/>
            <p:cNvSpPr txBox="1">
              <a:spLocks noChangeArrowheads="1"/>
            </p:cNvSpPr>
            <p:nvPr/>
          </p:nvSpPr>
          <p:spPr bwMode="auto">
            <a:xfrm>
              <a:off x="2726" y="3203"/>
              <a:ext cx="544" cy="25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2      1</a:t>
              </a:r>
            </a:p>
          </p:txBody>
        </p:sp>
        <p:sp>
          <p:nvSpPr>
            <p:cNvPr id="348253" name="Line 40"/>
            <p:cNvSpPr>
              <a:spLocks noChangeShapeType="1"/>
            </p:cNvSpPr>
            <p:nvPr/>
          </p:nvSpPr>
          <p:spPr bwMode="auto">
            <a:xfrm flipH="1">
              <a:off x="3001" y="3210"/>
              <a:ext cx="2" cy="23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48180" name="Text Box 41"/>
          <p:cNvSpPr txBox="1">
            <a:spLocks noChangeArrowheads="1"/>
          </p:cNvSpPr>
          <p:nvPr/>
        </p:nvSpPr>
        <p:spPr bwMode="auto">
          <a:xfrm>
            <a:off x="3070621" y="3614564"/>
            <a:ext cx="3603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sym typeface="Symbol" panose="05050102010706020507" pitchFamily="18" charset="2"/>
              </a:rPr>
              <a:t></a:t>
            </a:r>
          </a:p>
        </p:txBody>
      </p:sp>
      <p:sp>
        <p:nvSpPr>
          <p:cNvPr id="348181" name="Text Box 42"/>
          <p:cNvSpPr txBox="1">
            <a:spLocks noChangeArrowheads="1"/>
          </p:cNvSpPr>
          <p:nvPr/>
        </p:nvSpPr>
        <p:spPr bwMode="auto">
          <a:xfrm>
            <a:off x="4416821" y="4292427"/>
            <a:ext cx="431800" cy="396875"/>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0</a:t>
            </a:r>
          </a:p>
        </p:txBody>
      </p:sp>
      <p:sp>
        <p:nvSpPr>
          <p:cNvPr id="348182" name="Text Box 43"/>
          <p:cNvSpPr txBox="1">
            <a:spLocks noChangeArrowheads="1"/>
          </p:cNvSpPr>
          <p:nvPr/>
        </p:nvSpPr>
        <p:spPr bwMode="auto">
          <a:xfrm>
            <a:off x="5504259" y="5021089"/>
            <a:ext cx="431800" cy="396875"/>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0</a:t>
            </a:r>
          </a:p>
        </p:txBody>
      </p:sp>
      <p:sp>
        <p:nvSpPr>
          <p:cNvPr id="348183" name="Text Box 44"/>
          <p:cNvSpPr txBox="1">
            <a:spLocks noChangeArrowheads="1"/>
          </p:cNvSpPr>
          <p:nvPr/>
        </p:nvSpPr>
        <p:spPr bwMode="auto">
          <a:xfrm>
            <a:off x="3480196" y="5013152"/>
            <a:ext cx="431800" cy="396875"/>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0</a:t>
            </a:r>
          </a:p>
        </p:txBody>
      </p:sp>
      <p:grpSp>
        <p:nvGrpSpPr>
          <p:cNvPr id="348184" name="Group 45"/>
          <p:cNvGrpSpPr>
            <a:grpSpLocks/>
          </p:cNvGrpSpPr>
          <p:nvPr/>
        </p:nvGrpSpPr>
        <p:grpSpPr bwMode="auto">
          <a:xfrm>
            <a:off x="3048396" y="2565227"/>
            <a:ext cx="431800" cy="1008062"/>
            <a:chOff x="476" y="3113"/>
            <a:chExt cx="272" cy="635"/>
          </a:xfrm>
        </p:grpSpPr>
        <p:sp>
          <p:nvSpPr>
            <p:cNvPr id="348249" name="Rectangle 46"/>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1</a:t>
              </a:r>
            </a:p>
            <a:p>
              <a:pPr algn="ctr" eaLnBrk="1" hangingPunct="1">
                <a:lnSpc>
                  <a:spcPct val="120000"/>
                </a:lnSpc>
                <a:spcBef>
                  <a:spcPct val="0"/>
                </a:spcBef>
                <a:buFontTx/>
                <a:buNone/>
              </a:pPr>
              <a:r>
                <a:rPr kumimoji="0" lang="en-US" altLang="zh-CN" sz="1800" b="1"/>
                <a:t>3</a:t>
              </a:r>
            </a:p>
            <a:p>
              <a:pPr algn="ctr" eaLnBrk="1" hangingPunct="1">
                <a:lnSpc>
                  <a:spcPct val="120000"/>
                </a:lnSpc>
                <a:spcBef>
                  <a:spcPct val="0"/>
                </a:spcBef>
                <a:buFontTx/>
                <a:buNone/>
              </a:pPr>
              <a:r>
                <a:rPr kumimoji="0" lang="en-US" altLang="zh-CN" sz="1800" b="1"/>
                <a:t>2</a:t>
              </a:r>
            </a:p>
          </p:txBody>
        </p:sp>
        <p:sp>
          <p:nvSpPr>
            <p:cNvPr id="348250" name="Line 47"/>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251" name="Line 48"/>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48185" name="Group 49"/>
          <p:cNvGrpSpPr>
            <a:grpSpLocks/>
          </p:cNvGrpSpPr>
          <p:nvPr/>
        </p:nvGrpSpPr>
        <p:grpSpPr bwMode="auto">
          <a:xfrm>
            <a:off x="3929459" y="4292427"/>
            <a:ext cx="863600" cy="396875"/>
            <a:chOff x="2726" y="3203"/>
            <a:chExt cx="544" cy="250"/>
          </a:xfrm>
        </p:grpSpPr>
        <p:sp>
          <p:nvSpPr>
            <p:cNvPr id="348247" name="Text Box 50"/>
            <p:cNvSpPr txBox="1">
              <a:spLocks noChangeArrowheads="1"/>
            </p:cNvSpPr>
            <p:nvPr/>
          </p:nvSpPr>
          <p:spPr bwMode="auto">
            <a:xfrm>
              <a:off x="2726" y="3203"/>
              <a:ext cx="544" cy="25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1      1</a:t>
              </a:r>
            </a:p>
          </p:txBody>
        </p:sp>
        <p:sp>
          <p:nvSpPr>
            <p:cNvPr id="348248" name="Line 51"/>
            <p:cNvSpPr>
              <a:spLocks noChangeShapeType="1"/>
            </p:cNvSpPr>
            <p:nvPr/>
          </p:nvSpPr>
          <p:spPr bwMode="auto">
            <a:xfrm flipH="1">
              <a:off x="3001" y="3210"/>
              <a:ext cx="2" cy="23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48186" name="Text Box 52"/>
          <p:cNvSpPr txBox="1">
            <a:spLocks noChangeArrowheads="1"/>
          </p:cNvSpPr>
          <p:nvPr/>
        </p:nvSpPr>
        <p:spPr bwMode="auto">
          <a:xfrm>
            <a:off x="3646884" y="3612977"/>
            <a:ext cx="3603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sym typeface="Symbol" panose="05050102010706020507" pitchFamily="18" charset="2"/>
              </a:rPr>
              <a:t></a:t>
            </a:r>
          </a:p>
        </p:txBody>
      </p:sp>
      <p:grpSp>
        <p:nvGrpSpPr>
          <p:cNvPr id="348187" name="Group 53"/>
          <p:cNvGrpSpPr>
            <a:grpSpLocks/>
          </p:cNvGrpSpPr>
          <p:nvPr/>
        </p:nvGrpSpPr>
        <p:grpSpPr bwMode="auto">
          <a:xfrm>
            <a:off x="3624659" y="2565227"/>
            <a:ext cx="431800" cy="1008062"/>
            <a:chOff x="476" y="3113"/>
            <a:chExt cx="272" cy="635"/>
          </a:xfrm>
        </p:grpSpPr>
        <p:sp>
          <p:nvSpPr>
            <p:cNvPr id="348244" name="Rectangle 54"/>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1</a:t>
              </a:r>
            </a:p>
            <a:p>
              <a:pPr algn="ctr" eaLnBrk="1" hangingPunct="1">
                <a:lnSpc>
                  <a:spcPct val="120000"/>
                </a:lnSpc>
                <a:spcBef>
                  <a:spcPct val="0"/>
                </a:spcBef>
                <a:buFontTx/>
                <a:buNone/>
              </a:pPr>
              <a:r>
                <a:rPr kumimoji="0" lang="en-US" altLang="zh-CN" sz="1800" b="1"/>
                <a:t>4</a:t>
              </a:r>
            </a:p>
            <a:p>
              <a:pPr algn="ctr" eaLnBrk="1" hangingPunct="1">
                <a:lnSpc>
                  <a:spcPct val="120000"/>
                </a:lnSpc>
                <a:spcBef>
                  <a:spcPct val="0"/>
                </a:spcBef>
                <a:buFontTx/>
                <a:buNone/>
              </a:pPr>
              <a:r>
                <a:rPr kumimoji="0" lang="en-US" altLang="zh-CN" sz="1800" b="1"/>
                <a:t>2</a:t>
              </a:r>
            </a:p>
          </p:txBody>
        </p:sp>
        <p:sp>
          <p:nvSpPr>
            <p:cNvPr id="348245" name="Line 55"/>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246" name="Line 56"/>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48188" name="Group 57"/>
          <p:cNvGrpSpPr>
            <a:grpSpLocks/>
          </p:cNvGrpSpPr>
          <p:nvPr/>
        </p:nvGrpSpPr>
        <p:grpSpPr bwMode="auto">
          <a:xfrm>
            <a:off x="5008959" y="5040139"/>
            <a:ext cx="863600" cy="396875"/>
            <a:chOff x="2726" y="3203"/>
            <a:chExt cx="544" cy="250"/>
          </a:xfrm>
        </p:grpSpPr>
        <p:sp>
          <p:nvSpPr>
            <p:cNvPr id="348242" name="Text Box 58"/>
            <p:cNvSpPr txBox="1">
              <a:spLocks noChangeArrowheads="1"/>
            </p:cNvSpPr>
            <p:nvPr/>
          </p:nvSpPr>
          <p:spPr bwMode="auto">
            <a:xfrm>
              <a:off x="2726" y="3203"/>
              <a:ext cx="544" cy="25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4      1</a:t>
              </a:r>
            </a:p>
          </p:txBody>
        </p:sp>
        <p:sp>
          <p:nvSpPr>
            <p:cNvPr id="348243" name="Line 59"/>
            <p:cNvSpPr>
              <a:spLocks noChangeShapeType="1"/>
            </p:cNvSpPr>
            <p:nvPr/>
          </p:nvSpPr>
          <p:spPr bwMode="auto">
            <a:xfrm flipH="1">
              <a:off x="3001" y="3210"/>
              <a:ext cx="2" cy="23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48189" name="Text Box 60"/>
          <p:cNvSpPr txBox="1">
            <a:spLocks noChangeArrowheads="1"/>
          </p:cNvSpPr>
          <p:nvPr/>
        </p:nvSpPr>
        <p:spPr bwMode="auto">
          <a:xfrm>
            <a:off x="4223146" y="3589164"/>
            <a:ext cx="3603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sym typeface="Symbol" panose="05050102010706020507" pitchFamily="18" charset="2"/>
              </a:rPr>
              <a:t></a:t>
            </a:r>
          </a:p>
        </p:txBody>
      </p:sp>
      <p:grpSp>
        <p:nvGrpSpPr>
          <p:cNvPr id="348190" name="Group 61"/>
          <p:cNvGrpSpPr>
            <a:grpSpLocks/>
          </p:cNvGrpSpPr>
          <p:nvPr/>
        </p:nvGrpSpPr>
        <p:grpSpPr bwMode="auto">
          <a:xfrm>
            <a:off x="4185046" y="2565227"/>
            <a:ext cx="431800" cy="1008062"/>
            <a:chOff x="476" y="3113"/>
            <a:chExt cx="272" cy="635"/>
          </a:xfrm>
        </p:grpSpPr>
        <p:sp>
          <p:nvSpPr>
            <p:cNvPr id="348239" name="Rectangle 62"/>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1</a:t>
              </a:r>
            </a:p>
            <a:p>
              <a:pPr algn="ctr" eaLnBrk="1" hangingPunct="1">
                <a:lnSpc>
                  <a:spcPct val="120000"/>
                </a:lnSpc>
                <a:spcBef>
                  <a:spcPct val="0"/>
                </a:spcBef>
                <a:buFontTx/>
                <a:buNone/>
              </a:pPr>
              <a:r>
                <a:rPr kumimoji="0" lang="en-US" altLang="zh-CN" sz="1800" b="1"/>
                <a:t>4</a:t>
              </a:r>
            </a:p>
            <a:p>
              <a:pPr algn="ctr" eaLnBrk="1" hangingPunct="1">
                <a:lnSpc>
                  <a:spcPct val="120000"/>
                </a:lnSpc>
                <a:spcBef>
                  <a:spcPct val="0"/>
                </a:spcBef>
                <a:buFontTx/>
                <a:buNone/>
              </a:pPr>
              <a:r>
                <a:rPr kumimoji="0" lang="en-US" altLang="zh-CN" sz="1800" b="1"/>
                <a:t>3</a:t>
              </a:r>
            </a:p>
          </p:txBody>
        </p:sp>
        <p:sp>
          <p:nvSpPr>
            <p:cNvPr id="348240" name="Line 63"/>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241" name="Line 64"/>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48191" name="Group 65"/>
          <p:cNvGrpSpPr>
            <a:grpSpLocks/>
          </p:cNvGrpSpPr>
          <p:nvPr/>
        </p:nvGrpSpPr>
        <p:grpSpPr bwMode="auto">
          <a:xfrm>
            <a:off x="2992834" y="5032202"/>
            <a:ext cx="863600" cy="396875"/>
            <a:chOff x="2726" y="3203"/>
            <a:chExt cx="544" cy="250"/>
          </a:xfrm>
        </p:grpSpPr>
        <p:sp>
          <p:nvSpPr>
            <p:cNvPr id="348237" name="Text Box 66"/>
            <p:cNvSpPr txBox="1">
              <a:spLocks noChangeArrowheads="1"/>
            </p:cNvSpPr>
            <p:nvPr/>
          </p:nvSpPr>
          <p:spPr bwMode="auto">
            <a:xfrm>
              <a:off x="2726" y="3203"/>
              <a:ext cx="544" cy="25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3      1</a:t>
              </a:r>
            </a:p>
          </p:txBody>
        </p:sp>
        <p:sp>
          <p:nvSpPr>
            <p:cNvPr id="348238" name="Line 67"/>
            <p:cNvSpPr>
              <a:spLocks noChangeShapeType="1"/>
            </p:cNvSpPr>
            <p:nvPr/>
          </p:nvSpPr>
          <p:spPr bwMode="auto">
            <a:xfrm flipH="1">
              <a:off x="3001" y="3210"/>
              <a:ext cx="2" cy="23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48192" name="Text Box 68"/>
          <p:cNvSpPr txBox="1">
            <a:spLocks noChangeArrowheads="1"/>
          </p:cNvSpPr>
          <p:nvPr/>
        </p:nvSpPr>
        <p:spPr bwMode="auto">
          <a:xfrm>
            <a:off x="4793059" y="3573289"/>
            <a:ext cx="3603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sym typeface="Symbol" panose="05050102010706020507" pitchFamily="18" charset="2"/>
              </a:rPr>
              <a:t></a:t>
            </a:r>
          </a:p>
        </p:txBody>
      </p:sp>
      <p:sp>
        <p:nvSpPr>
          <p:cNvPr id="348193" name="Text Box 69"/>
          <p:cNvSpPr txBox="1">
            <a:spLocks noChangeArrowheads="1"/>
          </p:cNvSpPr>
          <p:nvPr/>
        </p:nvSpPr>
        <p:spPr bwMode="auto">
          <a:xfrm>
            <a:off x="4393009" y="4292427"/>
            <a:ext cx="431800" cy="396875"/>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0</a:t>
            </a:r>
          </a:p>
        </p:txBody>
      </p:sp>
      <p:sp>
        <p:nvSpPr>
          <p:cNvPr id="348194" name="Text Box 70"/>
          <p:cNvSpPr txBox="1">
            <a:spLocks noChangeArrowheads="1"/>
          </p:cNvSpPr>
          <p:nvPr/>
        </p:nvSpPr>
        <p:spPr bwMode="auto">
          <a:xfrm>
            <a:off x="5504259" y="5048077"/>
            <a:ext cx="431800" cy="396875"/>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0</a:t>
            </a:r>
          </a:p>
        </p:txBody>
      </p:sp>
      <p:sp>
        <p:nvSpPr>
          <p:cNvPr id="348195" name="Text Box 71"/>
          <p:cNvSpPr txBox="1">
            <a:spLocks noChangeArrowheads="1"/>
          </p:cNvSpPr>
          <p:nvPr/>
        </p:nvSpPr>
        <p:spPr bwMode="auto">
          <a:xfrm>
            <a:off x="3488134" y="5013152"/>
            <a:ext cx="431800" cy="396875"/>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0</a:t>
            </a:r>
          </a:p>
        </p:txBody>
      </p:sp>
      <p:grpSp>
        <p:nvGrpSpPr>
          <p:cNvPr id="348196" name="Group 72"/>
          <p:cNvGrpSpPr>
            <a:grpSpLocks/>
          </p:cNvGrpSpPr>
          <p:nvPr/>
        </p:nvGrpSpPr>
        <p:grpSpPr bwMode="auto">
          <a:xfrm>
            <a:off x="4750196" y="2565227"/>
            <a:ext cx="431800" cy="1008062"/>
            <a:chOff x="476" y="3113"/>
            <a:chExt cx="272" cy="635"/>
          </a:xfrm>
        </p:grpSpPr>
        <p:sp>
          <p:nvSpPr>
            <p:cNvPr id="348234" name="Rectangle 73"/>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5</a:t>
              </a:r>
            </a:p>
            <a:p>
              <a:pPr algn="ctr" eaLnBrk="1" hangingPunct="1">
                <a:lnSpc>
                  <a:spcPct val="120000"/>
                </a:lnSpc>
                <a:spcBef>
                  <a:spcPct val="0"/>
                </a:spcBef>
                <a:buFontTx/>
                <a:buNone/>
              </a:pPr>
              <a:r>
                <a:rPr kumimoji="0" lang="en-US" altLang="zh-CN" sz="1800" b="1"/>
                <a:t>4</a:t>
              </a:r>
            </a:p>
            <a:p>
              <a:pPr algn="ctr" eaLnBrk="1" hangingPunct="1">
                <a:lnSpc>
                  <a:spcPct val="120000"/>
                </a:lnSpc>
                <a:spcBef>
                  <a:spcPct val="0"/>
                </a:spcBef>
                <a:buFontTx/>
                <a:buNone/>
              </a:pPr>
              <a:r>
                <a:rPr kumimoji="0" lang="en-US" altLang="zh-CN" sz="1800" b="1"/>
                <a:t>3</a:t>
              </a:r>
            </a:p>
          </p:txBody>
        </p:sp>
        <p:sp>
          <p:nvSpPr>
            <p:cNvPr id="348235" name="Line 74"/>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236" name="Line 75"/>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48197" name="Group 76"/>
          <p:cNvGrpSpPr>
            <a:grpSpLocks/>
          </p:cNvGrpSpPr>
          <p:nvPr/>
        </p:nvGrpSpPr>
        <p:grpSpPr bwMode="auto">
          <a:xfrm>
            <a:off x="3913584" y="4308302"/>
            <a:ext cx="863600" cy="396875"/>
            <a:chOff x="2726" y="3203"/>
            <a:chExt cx="544" cy="250"/>
          </a:xfrm>
        </p:grpSpPr>
        <p:sp>
          <p:nvSpPr>
            <p:cNvPr id="348232" name="Text Box 77"/>
            <p:cNvSpPr txBox="1">
              <a:spLocks noChangeArrowheads="1"/>
            </p:cNvSpPr>
            <p:nvPr/>
          </p:nvSpPr>
          <p:spPr bwMode="auto">
            <a:xfrm>
              <a:off x="2726" y="3203"/>
              <a:ext cx="544" cy="25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5      1</a:t>
              </a:r>
            </a:p>
          </p:txBody>
        </p:sp>
        <p:sp>
          <p:nvSpPr>
            <p:cNvPr id="348233" name="Line 78"/>
            <p:cNvSpPr>
              <a:spLocks noChangeShapeType="1"/>
            </p:cNvSpPr>
            <p:nvPr/>
          </p:nvSpPr>
          <p:spPr bwMode="auto">
            <a:xfrm flipH="1">
              <a:off x="3001" y="3210"/>
              <a:ext cx="2" cy="23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48198" name="Group 79"/>
          <p:cNvGrpSpPr>
            <a:grpSpLocks/>
          </p:cNvGrpSpPr>
          <p:nvPr/>
        </p:nvGrpSpPr>
        <p:grpSpPr bwMode="auto">
          <a:xfrm>
            <a:off x="5353446" y="2565227"/>
            <a:ext cx="431800" cy="1008062"/>
            <a:chOff x="476" y="3113"/>
            <a:chExt cx="272" cy="635"/>
          </a:xfrm>
        </p:grpSpPr>
        <p:sp>
          <p:nvSpPr>
            <p:cNvPr id="348229" name="Rectangle 80"/>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5</a:t>
              </a:r>
            </a:p>
            <a:p>
              <a:pPr algn="ctr" eaLnBrk="1" hangingPunct="1">
                <a:lnSpc>
                  <a:spcPct val="120000"/>
                </a:lnSpc>
                <a:spcBef>
                  <a:spcPct val="0"/>
                </a:spcBef>
                <a:buFontTx/>
                <a:buNone/>
              </a:pPr>
              <a:r>
                <a:rPr kumimoji="0" lang="en-US" altLang="zh-CN" sz="1800" b="1"/>
                <a:t>4</a:t>
              </a:r>
            </a:p>
            <a:p>
              <a:pPr algn="ctr" eaLnBrk="1" hangingPunct="1">
                <a:lnSpc>
                  <a:spcPct val="120000"/>
                </a:lnSpc>
                <a:spcBef>
                  <a:spcPct val="0"/>
                </a:spcBef>
                <a:buFontTx/>
                <a:buNone/>
              </a:pPr>
              <a:r>
                <a:rPr kumimoji="0" lang="en-US" altLang="zh-CN" sz="1800" b="1"/>
                <a:t>3</a:t>
              </a:r>
            </a:p>
          </p:txBody>
        </p:sp>
        <p:sp>
          <p:nvSpPr>
            <p:cNvPr id="348230" name="Line 81"/>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231" name="Line 82"/>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48199" name="Text Box 83"/>
          <p:cNvSpPr txBox="1">
            <a:spLocks noChangeArrowheads="1"/>
          </p:cNvSpPr>
          <p:nvPr/>
        </p:nvSpPr>
        <p:spPr bwMode="auto">
          <a:xfrm>
            <a:off x="5545534" y="5013152"/>
            <a:ext cx="431800" cy="396875"/>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1</a:t>
            </a:r>
          </a:p>
        </p:txBody>
      </p:sp>
      <p:grpSp>
        <p:nvGrpSpPr>
          <p:cNvPr id="348200" name="Group 84"/>
          <p:cNvGrpSpPr>
            <a:grpSpLocks/>
          </p:cNvGrpSpPr>
          <p:nvPr/>
        </p:nvGrpSpPr>
        <p:grpSpPr bwMode="auto">
          <a:xfrm>
            <a:off x="5912246" y="2565227"/>
            <a:ext cx="431800" cy="1008062"/>
            <a:chOff x="476" y="3113"/>
            <a:chExt cx="272" cy="635"/>
          </a:xfrm>
        </p:grpSpPr>
        <p:sp>
          <p:nvSpPr>
            <p:cNvPr id="348226" name="Rectangle 85"/>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5</a:t>
              </a:r>
            </a:p>
            <a:p>
              <a:pPr algn="ctr" eaLnBrk="1" hangingPunct="1">
                <a:lnSpc>
                  <a:spcPct val="120000"/>
                </a:lnSpc>
                <a:spcBef>
                  <a:spcPct val="0"/>
                </a:spcBef>
                <a:buFontTx/>
                <a:buNone/>
              </a:pPr>
              <a:r>
                <a:rPr kumimoji="0" lang="en-US" altLang="zh-CN" sz="1800" b="1"/>
                <a:t>4</a:t>
              </a:r>
            </a:p>
            <a:p>
              <a:pPr algn="ctr" eaLnBrk="1" hangingPunct="1">
                <a:lnSpc>
                  <a:spcPct val="120000"/>
                </a:lnSpc>
                <a:spcBef>
                  <a:spcPct val="0"/>
                </a:spcBef>
                <a:buFontTx/>
                <a:buNone/>
              </a:pPr>
              <a:r>
                <a:rPr kumimoji="0" lang="en-US" altLang="zh-CN" sz="1800" b="1"/>
                <a:t>3</a:t>
              </a:r>
            </a:p>
          </p:txBody>
        </p:sp>
        <p:sp>
          <p:nvSpPr>
            <p:cNvPr id="348227" name="Line 86"/>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228" name="Line 87"/>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48201" name="Text Box 88"/>
          <p:cNvSpPr txBox="1">
            <a:spLocks noChangeArrowheads="1"/>
          </p:cNvSpPr>
          <p:nvPr/>
        </p:nvSpPr>
        <p:spPr bwMode="auto">
          <a:xfrm>
            <a:off x="3489721" y="5013152"/>
            <a:ext cx="431800" cy="396875"/>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1</a:t>
            </a:r>
          </a:p>
        </p:txBody>
      </p:sp>
      <p:sp>
        <p:nvSpPr>
          <p:cNvPr id="348202" name="Text Box 89"/>
          <p:cNvSpPr txBox="1">
            <a:spLocks noChangeArrowheads="1"/>
          </p:cNvSpPr>
          <p:nvPr/>
        </p:nvSpPr>
        <p:spPr bwMode="auto">
          <a:xfrm>
            <a:off x="6488509" y="3589164"/>
            <a:ext cx="3603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sym typeface="Symbol" panose="05050102010706020507" pitchFamily="18" charset="2"/>
              </a:rPr>
              <a:t></a:t>
            </a:r>
          </a:p>
        </p:txBody>
      </p:sp>
      <p:sp>
        <p:nvSpPr>
          <p:cNvPr id="348203" name="Text Box 90"/>
          <p:cNvSpPr txBox="1">
            <a:spLocks noChangeArrowheads="1"/>
          </p:cNvSpPr>
          <p:nvPr/>
        </p:nvSpPr>
        <p:spPr bwMode="auto">
          <a:xfrm>
            <a:off x="5496321" y="5021089"/>
            <a:ext cx="431800" cy="396875"/>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0</a:t>
            </a:r>
          </a:p>
        </p:txBody>
      </p:sp>
      <p:sp>
        <p:nvSpPr>
          <p:cNvPr id="348204" name="Text Box 91"/>
          <p:cNvSpPr txBox="1">
            <a:spLocks noChangeArrowheads="1"/>
          </p:cNvSpPr>
          <p:nvPr/>
        </p:nvSpPr>
        <p:spPr bwMode="auto">
          <a:xfrm>
            <a:off x="3480196" y="5013152"/>
            <a:ext cx="431800" cy="396875"/>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0</a:t>
            </a:r>
          </a:p>
        </p:txBody>
      </p:sp>
      <p:sp>
        <p:nvSpPr>
          <p:cNvPr id="348205" name="Text Box 92"/>
          <p:cNvSpPr txBox="1">
            <a:spLocks noChangeArrowheads="1"/>
          </p:cNvSpPr>
          <p:nvPr/>
        </p:nvSpPr>
        <p:spPr bwMode="auto">
          <a:xfrm>
            <a:off x="4416821" y="4292427"/>
            <a:ext cx="431800" cy="396875"/>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0</a:t>
            </a:r>
          </a:p>
        </p:txBody>
      </p:sp>
      <p:grpSp>
        <p:nvGrpSpPr>
          <p:cNvPr id="348206" name="Group 93"/>
          <p:cNvGrpSpPr>
            <a:grpSpLocks/>
          </p:cNvGrpSpPr>
          <p:nvPr/>
        </p:nvGrpSpPr>
        <p:grpSpPr bwMode="auto">
          <a:xfrm>
            <a:off x="6456759" y="2581102"/>
            <a:ext cx="431800" cy="1008062"/>
            <a:chOff x="476" y="3113"/>
            <a:chExt cx="272" cy="635"/>
          </a:xfrm>
        </p:grpSpPr>
        <p:sp>
          <p:nvSpPr>
            <p:cNvPr id="348223" name="Rectangle 94"/>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5</a:t>
              </a:r>
            </a:p>
            <a:p>
              <a:pPr algn="ctr" eaLnBrk="1" hangingPunct="1">
                <a:lnSpc>
                  <a:spcPct val="120000"/>
                </a:lnSpc>
                <a:spcBef>
                  <a:spcPct val="0"/>
                </a:spcBef>
                <a:buFontTx/>
                <a:buNone/>
              </a:pPr>
              <a:r>
                <a:rPr kumimoji="0" lang="en-US" altLang="zh-CN" sz="1800" b="1"/>
                <a:t>2</a:t>
              </a:r>
            </a:p>
            <a:p>
              <a:pPr algn="ctr" eaLnBrk="1" hangingPunct="1">
                <a:lnSpc>
                  <a:spcPct val="120000"/>
                </a:lnSpc>
                <a:spcBef>
                  <a:spcPct val="0"/>
                </a:spcBef>
                <a:buFontTx/>
                <a:buNone/>
              </a:pPr>
              <a:r>
                <a:rPr kumimoji="0" lang="en-US" altLang="zh-CN" sz="1800" b="1"/>
                <a:t>3</a:t>
              </a:r>
            </a:p>
          </p:txBody>
        </p:sp>
        <p:sp>
          <p:nvSpPr>
            <p:cNvPr id="348224" name="Line 95"/>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225" name="Line 96"/>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48207" name="Group 97"/>
          <p:cNvGrpSpPr>
            <a:grpSpLocks/>
          </p:cNvGrpSpPr>
          <p:nvPr/>
        </p:nvGrpSpPr>
        <p:grpSpPr bwMode="auto">
          <a:xfrm>
            <a:off x="5001021" y="5029027"/>
            <a:ext cx="863600" cy="396875"/>
            <a:chOff x="2726" y="3203"/>
            <a:chExt cx="544" cy="250"/>
          </a:xfrm>
        </p:grpSpPr>
        <p:sp>
          <p:nvSpPr>
            <p:cNvPr id="348221" name="Text Box 98"/>
            <p:cNvSpPr txBox="1">
              <a:spLocks noChangeArrowheads="1"/>
            </p:cNvSpPr>
            <p:nvPr/>
          </p:nvSpPr>
          <p:spPr bwMode="auto">
            <a:xfrm>
              <a:off x="2726" y="3203"/>
              <a:ext cx="544" cy="25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2      1</a:t>
              </a:r>
            </a:p>
          </p:txBody>
        </p:sp>
        <p:sp>
          <p:nvSpPr>
            <p:cNvPr id="348222" name="Line 99"/>
            <p:cNvSpPr>
              <a:spLocks noChangeShapeType="1"/>
            </p:cNvSpPr>
            <p:nvPr/>
          </p:nvSpPr>
          <p:spPr bwMode="auto">
            <a:xfrm flipH="1">
              <a:off x="3001" y="3210"/>
              <a:ext cx="2" cy="23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88900" name="Text Box 100"/>
          <p:cNvSpPr txBox="1">
            <a:spLocks noChangeArrowheads="1"/>
          </p:cNvSpPr>
          <p:nvPr/>
        </p:nvSpPr>
        <p:spPr bwMode="auto">
          <a:xfrm>
            <a:off x="7039371" y="3589164"/>
            <a:ext cx="3603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b="1">
                <a:solidFill>
                  <a:srgbClr val="FF3300"/>
                </a:solidFill>
                <a:sym typeface="Symbol" panose="05050102010706020507" pitchFamily="18" charset="2"/>
              </a:rPr>
              <a:t></a:t>
            </a:r>
          </a:p>
        </p:txBody>
      </p:sp>
      <p:grpSp>
        <p:nvGrpSpPr>
          <p:cNvPr id="588901" name="Group 101"/>
          <p:cNvGrpSpPr>
            <a:grpSpLocks/>
          </p:cNvGrpSpPr>
          <p:nvPr/>
        </p:nvGrpSpPr>
        <p:grpSpPr bwMode="auto">
          <a:xfrm>
            <a:off x="7031434" y="2565227"/>
            <a:ext cx="431800" cy="1008062"/>
            <a:chOff x="476" y="3113"/>
            <a:chExt cx="272" cy="635"/>
          </a:xfrm>
        </p:grpSpPr>
        <p:sp>
          <p:nvSpPr>
            <p:cNvPr id="348218" name="Rectangle 102"/>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5</a:t>
              </a:r>
            </a:p>
            <a:p>
              <a:pPr algn="ctr" eaLnBrk="1" hangingPunct="1">
                <a:lnSpc>
                  <a:spcPct val="120000"/>
                </a:lnSpc>
                <a:spcBef>
                  <a:spcPct val="0"/>
                </a:spcBef>
                <a:buFontTx/>
                <a:buNone/>
              </a:pPr>
              <a:r>
                <a:rPr kumimoji="0" lang="en-US" altLang="zh-CN" sz="1800" b="1"/>
                <a:t>2</a:t>
              </a:r>
            </a:p>
            <a:p>
              <a:pPr algn="ctr" eaLnBrk="1" hangingPunct="1">
                <a:lnSpc>
                  <a:spcPct val="120000"/>
                </a:lnSpc>
                <a:spcBef>
                  <a:spcPct val="0"/>
                </a:spcBef>
                <a:buFontTx/>
                <a:buNone/>
              </a:pPr>
              <a:r>
                <a:rPr kumimoji="0" lang="en-US" altLang="zh-CN" sz="1800" b="1"/>
                <a:t>1</a:t>
              </a:r>
            </a:p>
          </p:txBody>
        </p:sp>
        <p:sp>
          <p:nvSpPr>
            <p:cNvPr id="348219" name="Line 103"/>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220" name="Line 104"/>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88905" name="Group 105"/>
          <p:cNvGrpSpPr>
            <a:grpSpLocks/>
          </p:cNvGrpSpPr>
          <p:nvPr/>
        </p:nvGrpSpPr>
        <p:grpSpPr bwMode="auto">
          <a:xfrm>
            <a:off x="2992834" y="5021089"/>
            <a:ext cx="863600" cy="396875"/>
            <a:chOff x="2726" y="3203"/>
            <a:chExt cx="544" cy="250"/>
          </a:xfrm>
        </p:grpSpPr>
        <p:sp>
          <p:nvSpPr>
            <p:cNvPr id="348216" name="Text Box 106"/>
            <p:cNvSpPr txBox="1">
              <a:spLocks noChangeArrowheads="1"/>
            </p:cNvSpPr>
            <p:nvPr/>
          </p:nvSpPr>
          <p:spPr bwMode="auto">
            <a:xfrm>
              <a:off x="2726" y="3203"/>
              <a:ext cx="544" cy="25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1      1</a:t>
              </a:r>
            </a:p>
          </p:txBody>
        </p:sp>
        <p:sp>
          <p:nvSpPr>
            <p:cNvPr id="348217" name="Line 107"/>
            <p:cNvSpPr>
              <a:spLocks noChangeShapeType="1"/>
            </p:cNvSpPr>
            <p:nvPr/>
          </p:nvSpPr>
          <p:spPr bwMode="auto">
            <a:xfrm flipH="1">
              <a:off x="3001" y="3210"/>
              <a:ext cx="2" cy="23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88908" name="Group 108"/>
          <p:cNvGrpSpPr>
            <a:grpSpLocks/>
          </p:cNvGrpSpPr>
          <p:nvPr/>
        </p:nvGrpSpPr>
        <p:grpSpPr bwMode="auto">
          <a:xfrm>
            <a:off x="7596584" y="2565227"/>
            <a:ext cx="431800" cy="1008062"/>
            <a:chOff x="476" y="3113"/>
            <a:chExt cx="272" cy="635"/>
          </a:xfrm>
        </p:grpSpPr>
        <p:sp>
          <p:nvSpPr>
            <p:cNvPr id="348213" name="Rectangle 109"/>
            <p:cNvSpPr>
              <a:spLocks noChangeArrowheads="1"/>
            </p:cNvSpPr>
            <p:nvPr/>
          </p:nvSpPr>
          <p:spPr bwMode="auto">
            <a:xfrm>
              <a:off x="476" y="3113"/>
              <a:ext cx="272" cy="63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en-US" altLang="zh-CN" sz="1800" b="1"/>
                <a:t>5</a:t>
              </a:r>
            </a:p>
            <a:p>
              <a:pPr algn="ctr" eaLnBrk="1" hangingPunct="1">
                <a:lnSpc>
                  <a:spcPct val="120000"/>
                </a:lnSpc>
                <a:spcBef>
                  <a:spcPct val="0"/>
                </a:spcBef>
                <a:buFontTx/>
                <a:buNone/>
              </a:pPr>
              <a:r>
                <a:rPr kumimoji="0" lang="en-US" altLang="zh-CN" sz="1800" b="1"/>
                <a:t>2</a:t>
              </a:r>
            </a:p>
            <a:p>
              <a:pPr algn="ctr" eaLnBrk="1" hangingPunct="1">
                <a:lnSpc>
                  <a:spcPct val="120000"/>
                </a:lnSpc>
                <a:spcBef>
                  <a:spcPct val="0"/>
                </a:spcBef>
                <a:buFontTx/>
                <a:buNone/>
              </a:pPr>
              <a:r>
                <a:rPr kumimoji="0" lang="en-US" altLang="zh-CN" sz="1800" b="1"/>
                <a:t>1</a:t>
              </a:r>
            </a:p>
          </p:txBody>
        </p:sp>
        <p:sp>
          <p:nvSpPr>
            <p:cNvPr id="348214" name="Line 110"/>
            <p:cNvSpPr>
              <a:spLocks noChangeShapeType="1"/>
            </p:cNvSpPr>
            <p:nvPr/>
          </p:nvSpPr>
          <p:spPr bwMode="auto">
            <a:xfrm>
              <a:off x="476" y="333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215" name="Line 111"/>
            <p:cNvSpPr>
              <a:spLocks noChangeShapeType="1"/>
            </p:cNvSpPr>
            <p:nvPr/>
          </p:nvSpPr>
          <p:spPr bwMode="auto">
            <a:xfrm>
              <a:off x="476" y="354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88912" name="Text Box 112"/>
          <p:cNvSpPr txBox="1">
            <a:spLocks noChangeArrowheads="1"/>
          </p:cNvSpPr>
          <p:nvPr/>
        </p:nvSpPr>
        <p:spPr bwMode="auto">
          <a:xfrm>
            <a:off x="4385071" y="4292427"/>
            <a:ext cx="431800" cy="396875"/>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1</a:t>
            </a:r>
          </a:p>
        </p:txBody>
      </p:sp>
      <p:sp>
        <p:nvSpPr>
          <p:cNvPr id="3" name="Date Placeholder 2"/>
          <p:cNvSpPr>
            <a:spLocks noGrp="1"/>
          </p:cNvSpPr>
          <p:nvPr>
            <p:ph type="dt" sz="half" idx="10"/>
          </p:nvPr>
        </p:nvSpPr>
        <p:spPr/>
        <p:txBody>
          <a:bodyPr/>
          <a:lstStyle/>
          <a:p>
            <a:fld id="{A4F1A5F7-F1CF-4414-B85C-2CF7E49C7CF0}" type="datetime1">
              <a:rPr lang="zh-CN" altLang="en-US" smtClean="0"/>
              <a:pPr/>
              <a:t>2018/8/3</a:t>
            </a:fld>
            <a:endParaRPr lang="zh-CN" altLang="en-US" dirty="0"/>
          </a:p>
        </p:txBody>
      </p:sp>
      <p:sp>
        <p:nvSpPr>
          <p:cNvPr id="4" name="Footer Placeholder 3"/>
          <p:cNvSpPr>
            <a:spLocks noGrp="1"/>
          </p:cNvSpPr>
          <p:nvPr>
            <p:ph type="ftr" sz="quarter" idx="11"/>
          </p:nvPr>
        </p:nvSpPr>
        <p:spPr/>
        <p:txBody>
          <a:bodyPr/>
          <a:lstStyle/>
          <a:p>
            <a:r>
              <a:rPr lang="en-US" altLang="zh-CN"/>
              <a:t>CH07 Memory Management</a:t>
            </a:r>
            <a:endParaRPr lang="zh-CN" altLang="en-US" dirty="0"/>
          </a:p>
        </p:txBody>
      </p:sp>
      <p:sp>
        <p:nvSpPr>
          <p:cNvPr id="117" name="Slide Number Placeholder 5"/>
          <p:cNvSpPr>
            <a:spLocks noGrp="1"/>
          </p:cNvSpPr>
          <p:nvPr>
            <p:ph type="sldNum" sz="quarter" idx="12"/>
          </p:nvPr>
        </p:nvSpPr>
        <p:spPr>
          <a:xfrm>
            <a:off x="6119832" y="6669360"/>
            <a:ext cx="3009936" cy="187200"/>
          </a:xfrm>
        </p:spPr>
        <p:txBody>
          <a:bodyPr/>
          <a:lstStyle/>
          <a:p>
            <a:r>
              <a:rPr lang="en-US" altLang="zh-CN" dirty="0"/>
              <a:t>130</a:t>
            </a:r>
            <a:endParaRPr lang="zh-CN" altLang="en-US" dirty="0"/>
          </a:p>
        </p:txBody>
      </p:sp>
    </p:spTree>
    <p:extLst>
      <p:ext uri="{BB962C8B-B14F-4D97-AF65-F5344CB8AC3E}">
        <p14:creationId xmlns:p14="http://schemas.microsoft.com/office/powerpoint/2010/main" val="291964988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58890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8890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8890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0" presetClass="path" presetSubtype="0" accel="50000" decel="50000" fill="hold" grpId="0" nodeType="clickEffect">
                                  <p:stCondLst>
                                    <p:cond delay="0"/>
                                  </p:stCondLst>
                                  <p:childTnLst>
                                    <p:animMotion origin="layout" path="M 0.00017 -2.96159E-6 L 0.11042 -0.10504 " pathEditMode="relative" ptsTypes="AA">
                                      <p:cBhvr>
                                        <p:cTn id="18" dur="1000" fill="hold"/>
                                        <p:tgtEl>
                                          <p:spTgt spid="588823"/>
                                        </p:tgtEl>
                                        <p:attrNameLst>
                                          <p:attrName>ppt_x</p:attrName>
                                          <p:attrName>ppt_y</p:attrName>
                                        </p:attrNameLst>
                                      </p:cBhvr>
                                    </p:animMotion>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588908"/>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889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8823" grpId="0" animBg="1"/>
      <p:bldP spid="588900" grpId="0"/>
      <p:bldP spid="588912" grpId="0" animBg="1"/>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时钟置换算法与</a:t>
            </a:r>
            <a:r>
              <a:rPr lang="en-US" altLang="zh-CN" dirty="0"/>
              <a:t>LRU</a:t>
            </a:r>
            <a:r>
              <a:rPr lang="zh-CN" altLang="en-US" dirty="0"/>
              <a:t>代价对比</a:t>
            </a:r>
          </a:p>
        </p:txBody>
      </p:sp>
      <p:sp>
        <p:nvSpPr>
          <p:cNvPr id="3" name="Content Placeholder 2"/>
          <p:cNvSpPr>
            <a:spLocks noGrp="1"/>
          </p:cNvSpPr>
          <p:nvPr>
            <p:ph idx="1"/>
          </p:nvPr>
        </p:nvSpPr>
        <p:spPr/>
        <p:txBody>
          <a:bodyPr>
            <a:normAutofit fontScale="92500" lnSpcReduction="20000"/>
          </a:bodyPr>
          <a:lstStyle/>
          <a:p>
            <a:r>
              <a:rPr lang="zh-CN" altLang="en-US" dirty="0"/>
              <a:t>共同点</a:t>
            </a:r>
            <a:endParaRPr lang="en-US" altLang="zh-CN" dirty="0"/>
          </a:p>
          <a:p>
            <a:pPr lvl="1"/>
            <a:r>
              <a:rPr lang="zh-CN" altLang="en-US" dirty="0"/>
              <a:t>为每个内存块开辟空间，记录访问信息</a:t>
            </a:r>
            <a:endParaRPr lang="en-US" altLang="zh-CN" dirty="0"/>
          </a:p>
          <a:p>
            <a:pPr lvl="1"/>
            <a:r>
              <a:rPr lang="zh-CN" altLang="en-US" dirty="0"/>
              <a:t>额外开销</a:t>
            </a:r>
            <a:endParaRPr lang="en-US" altLang="zh-CN" dirty="0"/>
          </a:p>
          <a:p>
            <a:pPr lvl="1"/>
            <a:endParaRPr lang="en-US" altLang="zh-CN" dirty="0"/>
          </a:p>
          <a:p>
            <a:r>
              <a:rPr lang="en-US" altLang="zh-CN" dirty="0"/>
              <a:t>LRU</a:t>
            </a:r>
          </a:p>
          <a:p>
            <a:pPr lvl="1"/>
            <a:r>
              <a:rPr lang="zh-CN" altLang="en-US" dirty="0"/>
              <a:t>为严格记录对内存块的访问次序，需要将所有内存块排序</a:t>
            </a:r>
            <a:endParaRPr lang="en-US" altLang="zh-CN" dirty="0"/>
          </a:p>
          <a:p>
            <a:pPr lvl="1"/>
            <a:r>
              <a:rPr lang="zh-CN" altLang="en-US" dirty="0"/>
              <a:t>如果内存块数量很大，用来记录信息的空间就大</a:t>
            </a:r>
            <a:endParaRPr lang="en-US" altLang="zh-CN" dirty="0"/>
          </a:p>
          <a:p>
            <a:pPr lvl="1"/>
            <a:r>
              <a:rPr lang="zh-CN" altLang="en-US" dirty="0"/>
              <a:t>访问一次内存，理论上所有内存块的信息都改变</a:t>
            </a:r>
            <a:endParaRPr lang="en-US" altLang="zh-CN" dirty="0"/>
          </a:p>
          <a:p>
            <a:r>
              <a:rPr lang="zh-CN" altLang="en-US" dirty="0"/>
              <a:t>时钟置换算法</a:t>
            </a:r>
            <a:endParaRPr lang="en-US" altLang="zh-CN" dirty="0"/>
          </a:p>
          <a:p>
            <a:pPr lvl="1"/>
            <a:r>
              <a:rPr lang="zh-CN" altLang="en-US" dirty="0"/>
              <a:t>实现中可以不对所有内存块排序</a:t>
            </a:r>
            <a:endParaRPr lang="en-US" altLang="zh-CN" dirty="0"/>
          </a:p>
          <a:p>
            <a:pPr lvl="1"/>
            <a:r>
              <a:rPr lang="zh-CN" altLang="en-US" dirty="0"/>
              <a:t>所以每个内存块固定耗费</a:t>
            </a:r>
            <a:r>
              <a:rPr lang="en-US" altLang="zh-CN" dirty="0"/>
              <a:t>1bit</a:t>
            </a:r>
            <a:r>
              <a:rPr lang="zh-CN" altLang="en-US" dirty="0"/>
              <a:t>的空间记录信息</a:t>
            </a:r>
            <a:endParaRPr lang="en-US" altLang="zh-CN" dirty="0"/>
          </a:p>
          <a:p>
            <a:pPr lvl="1"/>
            <a:r>
              <a:rPr lang="zh-CN" altLang="en-US" dirty="0"/>
              <a:t>访问一次内存，大多数时候仅改变一个内存块的信息</a:t>
            </a:r>
          </a:p>
        </p:txBody>
      </p:sp>
      <p:sp>
        <p:nvSpPr>
          <p:cNvPr id="4" name="Date Placeholder 3"/>
          <p:cNvSpPr>
            <a:spLocks noGrp="1"/>
          </p:cNvSpPr>
          <p:nvPr>
            <p:ph type="dt" sz="half" idx="10"/>
          </p:nvPr>
        </p:nvSpPr>
        <p:spPr/>
        <p:txBody>
          <a:bodyPr/>
          <a:lstStyle/>
          <a:p>
            <a:fld id="{751D5CF5-44FE-4E97-A03C-9890536635AE}"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131</a:t>
            </a:fld>
            <a:endParaRPr lang="zh-CN" altLang="en-US" dirty="0"/>
          </a:p>
        </p:txBody>
      </p:sp>
    </p:spTree>
    <p:extLst>
      <p:ext uri="{BB962C8B-B14F-4D97-AF65-F5344CB8AC3E}">
        <p14:creationId xmlns:p14="http://schemas.microsoft.com/office/powerpoint/2010/main" val="1075881204"/>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最不常用算法</a:t>
            </a:r>
          </a:p>
        </p:txBody>
      </p:sp>
      <p:sp>
        <p:nvSpPr>
          <p:cNvPr id="3" name="Content Placeholder 2"/>
          <p:cNvSpPr>
            <a:spLocks noGrp="1"/>
          </p:cNvSpPr>
          <p:nvPr>
            <p:ph idx="1"/>
          </p:nvPr>
        </p:nvSpPr>
        <p:spPr/>
        <p:txBody>
          <a:bodyPr/>
          <a:lstStyle/>
          <a:p>
            <a:r>
              <a:rPr lang="zh-CN" altLang="en-US" dirty="0"/>
              <a:t>基本思想</a:t>
            </a:r>
            <a:endParaRPr lang="en-US" altLang="zh-CN" dirty="0"/>
          </a:p>
          <a:p>
            <a:pPr lvl="1"/>
            <a:r>
              <a:rPr lang="zh-CN" altLang="en-US" dirty="0"/>
              <a:t>选择到目前为止被访问次数最少的页面进行置换</a:t>
            </a:r>
            <a:endParaRPr lang="en-US" altLang="zh-CN" dirty="0"/>
          </a:p>
          <a:p>
            <a:pPr lvl="1"/>
            <a:r>
              <a:rPr lang="zh-CN" altLang="en-US" dirty="0"/>
              <a:t>每页设置访问计数器，当每页被访问时，计数器加</a:t>
            </a:r>
            <a:r>
              <a:rPr lang="en-US" altLang="zh-CN" dirty="0"/>
              <a:t>1</a:t>
            </a:r>
          </a:p>
          <a:p>
            <a:pPr lvl="1"/>
            <a:r>
              <a:rPr lang="zh-CN" altLang="en-US" dirty="0"/>
              <a:t>发生缺页中断时，淘汰计数器值最小的页面，并将所有计数器清零</a:t>
            </a:r>
          </a:p>
        </p:txBody>
      </p:sp>
      <p:sp>
        <p:nvSpPr>
          <p:cNvPr id="4" name="Date Placeholder 3"/>
          <p:cNvSpPr>
            <a:spLocks noGrp="1"/>
          </p:cNvSpPr>
          <p:nvPr>
            <p:ph type="dt" sz="half" idx="10"/>
          </p:nvPr>
        </p:nvSpPr>
        <p:spPr/>
        <p:txBody>
          <a:bodyPr/>
          <a:lstStyle/>
          <a:p>
            <a:fld id="{FCC02C98-09ED-4C48-8539-3AA9FDD96003}"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132</a:t>
            </a:fld>
            <a:endParaRPr lang="zh-CN" altLang="en-US" dirty="0"/>
          </a:p>
        </p:txBody>
      </p:sp>
    </p:spTree>
    <p:extLst>
      <p:ext uri="{BB962C8B-B14F-4D97-AF65-F5344CB8AC3E}">
        <p14:creationId xmlns:p14="http://schemas.microsoft.com/office/powerpoint/2010/main" val="3221242452"/>
      </p:ext>
    </p:extLst>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回顾</a:t>
            </a:r>
            <a:endParaRPr lang="zh-CN" altLang="en-US" dirty="0"/>
          </a:p>
        </p:txBody>
      </p:sp>
      <p:sp>
        <p:nvSpPr>
          <p:cNvPr id="4" name="Date Placeholder 3"/>
          <p:cNvSpPr>
            <a:spLocks noGrp="1"/>
          </p:cNvSpPr>
          <p:nvPr>
            <p:ph type="dt" sz="half" idx="10"/>
          </p:nvPr>
        </p:nvSpPr>
        <p:spPr/>
        <p:txBody>
          <a:bodyPr/>
          <a:lstStyle/>
          <a:p>
            <a:fld id="{2A0E0D94-9E81-4510-9C16-295EB8014F30}"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133</a:t>
            </a:fld>
            <a:endParaRPr lang="zh-CN" altLang="en-US" dirty="0"/>
          </a:p>
        </p:txBody>
      </p:sp>
      <p:sp>
        <p:nvSpPr>
          <p:cNvPr id="7" name="Rectangle 3"/>
          <p:cNvSpPr txBox="1">
            <a:spLocks noChangeArrowheads="1"/>
          </p:cNvSpPr>
          <p:nvPr/>
        </p:nvSpPr>
        <p:spPr>
          <a:xfrm>
            <a:off x="533401" y="1268537"/>
            <a:ext cx="8071048" cy="504279"/>
          </a:xfrm>
          <a:prstGeom prst="rect">
            <a:avLst/>
          </a:prstGeom>
        </p:spPr>
        <p:txBody>
          <a:bodyPr vert="horz" lIns="91440" tIns="45720" rIns="91440" bIns="45720" rtlCol="0">
            <a:normAutofit/>
          </a:bodyPr>
          <a:lstStyle>
            <a:lvl1pPr marL="342900" indent="-342900" algn="l" defTabSz="914400" rtl="0" eaLnBrk="1" latinLnBrk="0" hangingPunct="1">
              <a:spcBef>
                <a:spcPts val="1200"/>
              </a:spcBef>
              <a:buFont typeface="Arial" pitchFamily="34" charset="0"/>
              <a:buChar char="•"/>
              <a:defRPr sz="2400" b="1" kern="1200">
                <a:solidFill>
                  <a:schemeClr val="tx1"/>
                </a:solidFill>
                <a:latin typeface="Times New Roman" pitchFamily="18" charset="0"/>
                <a:ea typeface="楷体" pitchFamily="49" charset="-122"/>
                <a:cs typeface="Times New Roman" pitchFamily="18" charset="0"/>
              </a:defRPr>
            </a:lvl1pPr>
            <a:lvl2pPr marL="742950" indent="-285750" algn="l" defTabSz="914400" rtl="0" eaLnBrk="1" latinLnBrk="0" hangingPunct="1">
              <a:spcBef>
                <a:spcPct val="20000"/>
              </a:spcBef>
              <a:buFont typeface="Arial" pitchFamily="34" charset="0"/>
              <a:buChar char="–"/>
              <a:defRPr sz="2200" kern="1200">
                <a:solidFill>
                  <a:schemeClr val="tx1"/>
                </a:solidFill>
                <a:latin typeface="Times New Roman" pitchFamily="18" charset="0"/>
                <a:ea typeface="楷体" pitchFamily="49" charset="-122"/>
                <a:cs typeface="Times New Roman" pitchFamily="18" charset="0"/>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楷体" pitchFamily="49" charset="-122"/>
                <a:cs typeface="Times New Roman" pitchFamily="18"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楷体" pitchFamily="49" charset="-122"/>
                <a:cs typeface="Times New Roman" pitchFamily="18"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楷体" pitchFamily="49" charset="-122"/>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65113" indent="-265113">
              <a:lnSpc>
                <a:spcPct val="110000"/>
              </a:lnSpc>
              <a:buFontTx/>
              <a:buNone/>
            </a:pPr>
            <a:r>
              <a:rPr lang="zh-CN" altLang="en-US" sz="2000" dirty="0"/>
              <a:t>请求分页管理系统中，假设某进程的页表内容如下表所示：</a:t>
            </a:r>
            <a:endParaRPr lang="zh-CN" altLang="en-US" sz="2000" dirty="0">
              <a:solidFill>
                <a:srgbClr val="FF3300"/>
              </a:solidFill>
            </a:endParaRPr>
          </a:p>
        </p:txBody>
      </p:sp>
      <p:graphicFrame>
        <p:nvGraphicFramePr>
          <p:cNvPr id="8" name="Group 47"/>
          <p:cNvGraphicFramePr>
            <a:graphicFrameLocks noGrp="1"/>
          </p:cNvGraphicFramePr>
          <p:nvPr>
            <p:extLst/>
          </p:nvPr>
        </p:nvGraphicFramePr>
        <p:xfrm>
          <a:off x="1907704" y="1844824"/>
          <a:ext cx="4895850" cy="1341436"/>
        </p:xfrm>
        <a:graphic>
          <a:graphicData uri="http://schemas.openxmlformats.org/drawingml/2006/table">
            <a:tbl>
              <a:tblPr/>
              <a:tblGrid>
                <a:gridCol w="720725">
                  <a:extLst>
                    <a:ext uri="{9D8B030D-6E8A-4147-A177-3AD203B41FA5}">
                      <a16:colId xmlns:a16="http://schemas.microsoft.com/office/drawing/2014/main" xmlns="" val="20000"/>
                    </a:ext>
                  </a:extLst>
                </a:gridCol>
                <a:gridCol w="2303463">
                  <a:extLst>
                    <a:ext uri="{9D8B030D-6E8A-4147-A177-3AD203B41FA5}">
                      <a16:colId xmlns:a16="http://schemas.microsoft.com/office/drawing/2014/main" xmlns="" val="20001"/>
                    </a:ext>
                  </a:extLst>
                </a:gridCol>
                <a:gridCol w="1871662">
                  <a:extLst>
                    <a:ext uri="{9D8B030D-6E8A-4147-A177-3AD203B41FA5}">
                      <a16:colId xmlns:a16="http://schemas.microsoft.com/office/drawing/2014/main" xmlns="" val="20002"/>
                    </a:ext>
                  </a:extLst>
                </a:gridCol>
              </a:tblGrid>
              <a:tr h="335359">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1" i="0" u="none" strike="noStrike" cap="none" normalizeH="0" baseline="0">
                          <a:ln>
                            <a:noFill/>
                          </a:ln>
                          <a:solidFill>
                            <a:schemeClr val="tx1"/>
                          </a:solidFill>
                          <a:effectLst/>
                          <a:latin typeface="+mn-lt"/>
                          <a:ea typeface="楷体" panose="02010609060101010101" pitchFamily="49" charset="-122"/>
                        </a:rPr>
                        <a:t>页号</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1" i="0" u="none" strike="noStrike" cap="none" normalizeH="0" baseline="0">
                          <a:ln>
                            <a:noFill/>
                          </a:ln>
                          <a:solidFill>
                            <a:schemeClr val="tx1"/>
                          </a:solidFill>
                          <a:effectLst/>
                          <a:latin typeface="+mn-lt"/>
                          <a:ea typeface="楷体" panose="02010609060101010101" pitchFamily="49" charset="-122"/>
                        </a:rPr>
                        <a:t>页框</a:t>
                      </a:r>
                      <a:r>
                        <a:rPr kumimoji="1" lang="en-US" altLang="zh-CN" sz="1600" b="1" i="0" u="none" strike="noStrike" cap="none" normalizeH="0" baseline="0">
                          <a:ln>
                            <a:noFill/>
                          </a:ln>
                          <a:solidFill>
                            <a:schemeClr val="tx1"/>
                          </a:solidFill>
                          <a:effectLst/>
                          <a:latin typeface="+mn-lt"/>
                          <a:ea typeface="楷体" panose="02010609060101010101" pitchFamily="49" charset="-122"/>
                        </a:rPr>
                        <a:t>(page frame)</a:t>
                      </a:r>
                      <a:r>
                        <a:rPr kumimoji="1" lang="zh-CN" altLang="en-US" sz="1600" b="1" i="0" u="none" strike="noStrike" cap="none" normalizeH="0" baseline="0">
                          <a:ln>
                            <a:noFill/>
                          </a:ln>
                          <a:solidFill>
                            <a:schemeClr val="tx1"/>
                          </a:solidFill>
                          <a:effectLst/>
                          <a:latin typeface="+mn-lt"/>
                          <a:ea typeface="楷体" panose="02010609060101010101" pitchFamily="49" charset="-122"/>
                        </a:rPr>
                        <a:t>号</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1" i="0" u="none" strike="noStrike" cap="none" normalizeH="0" baseline="0">
                          <a:ln>
                            <a:noFill/>
                          </a:ln>
                          <a:solidFill>
                            <a:schemeClr val="tx1"/>
                          </a:solidFill>
                          <a:effectLst/>
                          <a:latin typeface="+mn-lt"/>
                          <a:ea typeface="楷体" panose="02010609060101010101" pitchFamily="49" charset="-122"/>
                        </a:rPr>
                        <a:t>有效位</a:t>
                      </a:r>
                      <a:r>
                        <a:rPr kumimoji="1" lang="en-US" altLang="zh-CN" sz="1600" b="1" i="0" u="none" strike="noStrike" cap="none" normalizeH="0" baseline="0">
                          <a:ln>
                            <a:noFill/>
                          </a:ln>
                          <a:solidFill>
                            <a:schemeClr val="tx1"/>
                          </a:solidFill>
                          <a:effectLst/>
                          <a:latin typeface="+mn-lt"/>
                          <a:ea typeface="楷体" panose="02010609060101010101" pitchFamily="49" charset="-122"/>
                        </a:rPr>
                        <a:t>(</a:t>
                      </a:r>
                      <a:r>
                        <a:rPr kumimoji="1" lang="zh-CN" altLang="en-US" sz="1600" b="1" i="0" u="none" strike="noStrike" cap="none" normalizeH="0" baseline="0">
                          <a:ln>
                            <a:noFill/>
                          </a:ln>
                          <a:solidFill>
                            <a:schemeClr val="tx1"/>
                          </a:solidFill>
                          <a:effectLst/>
                          <a:latin typeface="+mn-lt"/>
                          <a:ea typeface="楷体" panose="02010609060101010101" pitchFamily="49" charset="-122"/>
                        </a:rPr>
                        <a:t>存在位</a:t>
                      </a:r>
                      <a:r>
                        <a:rPr kumimoji="1" lang="en-US" altLang="zh-CN" sz="1600" b="1" i="0" u="none" strike="noStrike" cap="none" normalizeH="0" baseline="0">
                          <a:ln>
                            <a:noFill/>
                          </a:ln>
                          <a:solidFill>
                            <a:schemeClr val="tx1"/>
                          </a:solidFill>
                          <a:effectLst/>
                          <a:latin typeface="+mn-lt"/>
                          <a:ea typeface="楷体" panose="02010609060101010101" pitchFamily="49" charset="-122"/>
                        </a:rPr>
                        <a:t>)</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40000"/>
                        <a:lumOff val="60000"/>
                      </a:schemeClr>
                    </a:solidFill>
                  </a:tcPr>
                </a:tc>
                <a:extLst>
                  <a:ext uri="{0D108BD9-81ED-4DB2-BD59-A6C34878D82A}">
                    <a16:rowId xmlns:a16="http://schemas.microsoft.com/office/drawing/2014/main" xmlns="" val="10000"/>
                  </a:ext>
                </a:extLst>
              </a:tr>
              <a:tr h="335359">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1" i="0" u="none" strike="noStrike" cap="none" normalizeH="0" baseline="0">
                          <a:ln>
                            <a:noFill/>
                          </a:ln>
                          <a:solidFill>
                            <a:schemeClr val="tx1"/>
                          </a:solidFill>
                          <a:effectLst/>
                          <a:latin typeface="+mn-lt"/>
                          <a:ea typeface="楷体" panose="02010609060101010101" pitchFamily="49" charset="-122"/>
                        </a:rPr>
                        <a:t>0</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1" i="0" u="none" strike="noStrike" cap="none" normalizeH="0" baseline="0">
                          <a:ln>
                            <a:noFill/>
                          </a:ln>
                          <a:solidFill>
                            <a:schemeClr val="tx1"/>
                          </a:solidFill>
                          <a:effectLst/>
                          <a:latin typeface="+mn-lt"/>
                          <a:ea typeface="楷体" panose="02010609060101010101" pitchFamily="49" charset="-122"/>
                        </a:rPr>
                        <a:t>101H</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1" i="0" u="none" strike="noStrike" cap="none" normalizeH="0" baseline="0">
                          <a:ln>
                            <a:noFill/>
                          </a:ln>
                          <a:solidFill>
                            <a:schemeClr val="tx1"/>
                          </a:solidFill>
                          <a:effectLst/>
                          <a:latin typeface="+mn-lt"/>
                          <a:ea typeface="楷体" panose="02010609060101010101" pitchFamily="49" charset="-122"/>
                        </a:rPr>
                        <a:t>1</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40000"/>
                        <a:lumOff val="60000"/>
                      </a:schemeClr>
                    </a:solidFill>
                  </a:tcPr>
                </a:tc>
                <a:extLst>
                  <a:ext uri="{0D108BD9-81ED-4DB2-BD59-A6C34878D82A}">
                    <a16:rowId xmlns:a16="http://schemas.microsoft.com/office/drawing/2014/main" xmlns="" val="10001"/>
                  </a:ext>
                </a:extLst>
              </a:tr>
              <a:tr h="335359">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1" i="0" u="none" strike="noStrike" cap="none" normalizeH="0" baseline="0">
                          <a:ln>
                            <a:noFill/>
                          </a:ln>
                          <a:solidFill>
                            <a:schemeClr val="tx1"/>
                          </a:solidFill>
                          <a:effectLst/>
                          <a:latin typeface="+mn-lt"/>
                          <a:ea typeface="楷体" panose="02010609060101010101" pitchFamily="49" charset="-122"/>
                        </a:rPr>
                        <a:t>1</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1" i="0" u="none" strike="noStrike" cap="none" normalizeH="0" baseline="0">
                          <a:ln>
                            <a:noFill/>
                          </a:ln>
                          <a:solidFill>
                            <a:schemeClr val="tx1"/>
                          </a:solidFill>
                          <a:effectLst/>
                          <a:latin typeface="+mn-lt"/>
                          <a:ea typeface="楷体" panose="02010609060101010101" pitchFamily="49" charset="-122"/>
                        </a:rPr>
                        <a:t>-</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1" i="0" u="none" strike="noStrike" cap="none" normalizeH="0" baseline="0">
                          <a:ln>
                            <a:noFill/>
                          </a:ln>
                          <a:solidFill>
                            <a:schemeClr val="tx1"/>
                          </a:solidFill>
                          <a:effectLst/>
                          <a:latin typeface="+mn-lt"/>
                          <a:ea typeface="楷体" panose="02010609060101010101" pitchFamily="49" charset="-122"/>
                        </a:rPr>
                        <a:t>0</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40000"/>
                        <a:lumOff val="60000"/>
                      </a:schemeClr>
                    </a:solidFill>
                  </a:tcPr>
                </a:tc>
                <a:extLst>
                  <a:ext uri="{0D108BD9-81ED-4DB2-BD59-A6C34878D82A}">
                    <a16:rowId xmlns:a16="http://schemas.microsoft.com/office/drawing/2014/main" xmlns="" val="10002"/>
                  </a:ext>
                </a:extLst>
              </a:tr>
              <a:tr h="335359">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1" i="0" u="none" strike="noStrike" cap="none" normalizeH="0" baseline="0">
                          <a:ln>
                            <a:noFill/>
                          </a:ln>
                          <a:solidFill>
                            <a:schemeClr val="tx1"/>
                          </a:solidFill>
                          <a:effectLst/>
                          <a:latin typeface="+mn-lt"/>
                          <a:ea typeface="楷体" panose="02010609060101010101" pitchFamily="49" charset="-122"/>
                        </a:rPr>
                        <a:t>2</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1" i="0" u="none" strike="noStrike" cap="none" normalizeH="0" baseline="0">
                          <a:ln>
                            <a:noFill/>
                          </a:ln>
                          <a:solidFill>
                            <a:schemeClr val="tx1"/>
                          </a:solidFill>
                          <a:effectLst/>
                          <a:latin typeface="+mn-lt"/>
                          <a:ea typeface="楷体" panose="02010609060101010101" pitchFamily="49" charset="-122"/>
                        </a:rPr>
                        <a:t>254H</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1" i="0" u="none" strike="noStrike" cap="none" normalizeH="0" baseline="0" dirty="0">
                          <a:ln>
                            <a:noFill/>
                          </a:ln>
                          <a:solidFill>
                            <a:schemeClr val="tx1"/>
                          </a:solidFill>
                          <a:effectLst/>
                          <a:latin typeface="+mn-lt"/>
                          <a:ea typeface="楷体" panose="02010609060101010101" pitchFamily="49" charset="-122"/>
                        </a:rPr>
                        <a:t>1</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5">
                        <a:lumMod val="40000"/>
                        <a:lumOff val="60000"/>
                      </a:schemeClr>
                    </a:solidFill>
                  </a:tcPr>
                </a:tc>
                <a:extLst>
                  <a:ext uri="{0D108BD9-81ED-4DB2-BD59-A6C34878D82A}">
                    <a16:rowId xmlns:a16="http://schemas.microsoft.com/office/drawing/2014/main" xmlns="" val="10003"/>
                  </a:ext>
                </a:extLst>
              </a:tr>
            </a:tbl>
          </a:graphicData>
        </a:graphic>
      </p:graphicFrame>
      <p:sp>
        <p:nvSpPr>
          <p:cNvPr id="9" name="Text Box 42"/>
          <p:cNvSpPr txBox="1">
            <a:spLocks noChangeArrowheads="1"/>
          </p:cNvSpPr>
          <p:nvPr/>
        </p:nvSpPr>
        <p:spPr bwMode="auto">
          <a:xfrm>
            <a:off x="539750" y="3429000"/>
            <a:ext cx="8280400" cy="32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10000"/>
              </a:spcBef>
              <a:buFontTx/>
              <a:buNone/>
            </a:pPr>
            <a:r>
              <a:rPr lang="zh-CN" altLang="en-US" sz="2000" b="1" dirty="0">
                <a:latin typeface="+mn-lt"/>
                <a:ea typeface="楷体" panose="02010609060101010101" pitchFamily="49" charset="-122"/>
              </a:rPr>
              <a:t>页面大小为</a:t>
            </a:r>
            <a:r>
              <a:rPr lang="en-US" altLang="zh-CN" sz="2000" b="1" dirty="0">
                <a:latin typeface="+mn-lt"/>
                <a:ea typeface="楷体" panose="02010609060101010101" pitchFamily="49" charset="-122"/>
              </a:rPr>
              <a:t>4KB</a:t>
            </a:r>
            <a:r>
              <a:rPr lang="zh-CN" altLang="en-US" sz="2000" b="1" dirty="0">
                <a:latin typeface="+mn-lt"/>
                <a:ea typeface="楷体" panose="02010609060101010101" pitchFamily="49" charset="-122"/>
              </a:rPr>
              <a:t>，一次内存的访问时间是</a:t>
            </a:r>
            <a:r>
              <a:rPr lang="en-US" altLang="zh-CN" sz="2000" b="1" dirty="0">
                <a:latin typeface="+mn-lt"/>
                <a:ea typeface="楷体" panose="02010609060101010101" pitchFamily="49" charset="-122"/>
              </a:rPr>
              <a:t>100ns</a:t>
            </a:r>
            <a:r>
              <a:rPr lang="zh-CN" altLang="en-US" sz="2000" b="1" dirty="0">
                <a:latin typeface="+mn-lt"/>
                <a:ea typeface="楷体" panose="02010609060101010101" pitchFamily="49" charset="-122"/>
              </a:rPr>
              <a:t>，一次快表（</a:t>
            </a:r>
            <a:r>
              <a:rPr lang="en-US" altLang="zh-CN" sz="2000" b="1" dirty="0">
                <a:latin typeface="+mn-lt"/>
                <a:ea typeface="楷体" panose="02010609060101010101" pitchFamily="49" charset="-122"/>
              </a:rPr>
              <a:t>TLB</a:t>
            </a:r>
            <a:r>
              <a:rPr lang="zh-CN" altLang="en-US" sz="2000" b="1" dirty="0">
                <a:latin typeface="+mn-lt"/>
                <a:ea typeface="楷体" panose="02010609060101010101" pitchFamily="49" charset="-122"/>
              </a:rPr>
              <a:t>）的访问时间是</a:t>
            </a:r>
            <a:r>
              <a:rPr lang="en-US" altLang="zh-CN" sz="2000" b="1" dirty="0">
                <a:latin typeface="+mn-lt"/>
                <a:ea typeface="楷体" panose="02010609060101010101" pitchFamily="49" charset="-122"/>
              </a:rPr>
              <a:t>10ns</a:t>
            </a:r>
            <a:r>
              <a:rPr lang="zh-CN" altLang="en-US" sz="2000" b="1" dirty="0">
                <a:latin typeface="+mn-lt"/>
                <a:ea typeface="楷体" panose="02010609060101010101" pitchFamily="49" charset="-122"/>
              </a:rPr>
              <a:t>，处理一次缺页的平均时间为</a:t>
            </a:r>
            <a:r>
              <a:rPr lang="en-US" altLang="zh-CN" sz="2000" b="1" dirty="0">
                <a:latin typeface="+mn-lt"/>
                <a:ea typeface="楷体" panose="02010609060101010101" pitchFamily="49" charset="-122"/>
              </a:rPr>
              <a:t>10</a:t>
            </a:r>
            <a:r>
              <a:rPr lang="en-US" altLang="zh-CN" sz="2000" b="1" baseline="30000" dirty="0">
                <a:latin typeface="+mn-lt"/>
                <a:ea typeface="楷体" panose="02010609060101010101" pitchFamily="49" charset="-122"/>
              </a:rPr>
              <a:t>8</a:t>
            </a:r>
            <a:r>
              <a:rPr lang="en-US" altLang="zh-CN" sz="2000" b="1" dirty="0">
                <a:latin typeface="+mn-lt"/>
                <a:ea typeface="楷体" panose="02010609060101010101" pitchFamily="49" charset="-122"/>
              </a:rPr>
              <a:t>ns</a:t>
            </a:r>
            <a:r>
              <a:rPr lang="zh-CN" altLang="en-US" sz="2000" b="1" dirty="0">
                <a:latin typeface="+mn-lt"/>
                <a:ea typeface="楷体" panose="02010609060101010101" pitchFamily="49" charset="-122"/>
              </a:rPr>
              <a:t>（已含更新</a:t>
            </a:r>
            <a:r>
              <a:rPr lang="en-US" altLang="zh-CN" sz="2000" b="1" dirty="0">
                <a:latin typeface="+mn-lt"/>
                <a:ea typeface="楷体" panose="02010609060101010101" pitchFamily="49" charset="-122"/>
              </a:rPr>
              <a:t>TLB</a:t>
            </a:r>
            <a:r>
              <a:rPr lang="zh-CN" altLang="en-US" sz="2000" b="1" dirty="0">
                <a:latin typeface="+mn-lt"/>
                <a:ea typeface="楷体" panose="02010609060101010101" pitchFamily="49" charset="-122"/>
              </a:rPr>
              <a:t>和页表的时间），进程的驻留集大小固定为</a:t>
            </a:r>
            <a:r>
              <a:rPr lang="en-US" altLang="zh-CN" sz="2000" b="1" dirty="0">
                <a:latin typeface="+mn-lt"/>
                <a:ea typeface="楷体" panose="02010609060101010101" pitchFamily="49" charset="-122"/>
              </a:rPr>
              <a:t>2</a:t>
            </a:r>
            <a:r>
              <a:rPr lang="zh-CN" altLang="en-US" sz="2000" b="1" dirty="0">
                <a:latin typeface="+mn-lt"/>
                <a:ea typeface="楷体" panose="02010609060101010101" pitchFamily="49" charset="-122"/>
              </a:rPr>
              <a:t>，采用最近最少使用置换算法（</a:t>
            </a:r>
            <a:r>
              <a:rPr lang="en-US" altLang="zh-CN" sz="2000" b="1" dirty="0">
                <a:latin typeface="+mn-lt"/>
                <a:ea typeface="楷体" panose="02010609060101010101" pitchFamily="49" charset="-122"/>
              </a:rPr>
              <a:t>LRU</a:t>
            </a:r>
            <a:r>
              <a:rPr lang="zh-CN" altLang="en-US" sz="2000" b="1" dirty="0">
                <a:latin typeface="+mn-lt"/>
                <a:ea typeface="楷体" panose="02010609060101010101" pitchFamily="49" charset="-122"/>
              </a:rPr>
              <a:t>）和局部淘汰策略。假设，①</a:t>
            </a:r>
            <a:r>
              <a:rPr lang="en-US" altLang="zh-CN" sz="2000" b="1" dirty="0">
                <a:latin typeface="+mn-lt"/>
                <a:ea typeface="楷体" panose="02010609060101010101" pitchFamily="49" charset="-122"/>
              </a:rPr>
              <a:t>TLB</a:t>
            </a:r>
            <a:r>
              <a:rPr lang="zh-CN" altLang="en-US" sz="2000" b="1" dirty="0">
                <a:latin typeface="+mn-lt"/>
                <a:ea typeface="楷体" panose="02010609060101010101" pitchFamily="49" charset="-122"/>
              </a:rPr>
              <a:t>初始为空；②地址转换时先访问</a:t>
            </a:r>
            <a:r>
              <a:rPr lang="en-US" altLang="zh-CN" sz="2000" b="1" dirty="0">
                <a:latin typeface="+mn-lt"/>
                <a:ea typeface="楷体" panose="02010609060101010101" pitchFamily="49" charset="-122"/>
              </a:rPr>
              <a:t>TLB</a:t>
            </a:r>
            <a:r>
              <a:rPr lang="zh-CN" altLang="en-US" sz="2000" b="1" dirty="0">
                <a:latin typeface="+mn-lt"/>
                <a:ea typeface="楷体" panose="02010609060101010101" pitchFamily="49" charset="-122"/>
              </a:rPr>
              <a:t>，若</a:t>
            </a:r>
            <a:r>
              <a:rPr lang="en-US" altLang="zh-CN" sz="2000" b="1" dirty="0">
                <a:latin typeface="+mn-lt"/>
                <a:ea typeface="楷体" panose="02010609060101010101" pitchFamily="49" charset="-122"/>
              </a:rPr>
              <a:t>TLB</a:t>
            </a:r>
            <a:r>
              <a:rPr lang="zh-CN" altLang="en-US" sz="2000" b="1" dirty="0">
                <a:latin typeface="+mn-lt"/>
                <a:ea typeface="楷体" panose="02010609060101010101" pitchFamily="49" charset="-122"/>
              </a:rPr>
              <a:t>未命中，再访问页表（忽略访问页表之后的</a:t>
            </a:r>
            <a:r>
              <a:rPr lang="en-US" altLang="zh-CN" sz="2000" b="1" dirty="0">
                <a:latin typeface="+mn-lt"/>
                <a:ea typeface="楷体" panose="02010609060101010101" pitchFamily="49" charset="-122"/>
              </a:rPr>
              <a:t>TLB</a:t>
            </a:r>
            <a:r>
              <a:rPr lang="zh-CN" altLang="en-US" sz="2000" b="1" dirty="0">
                <a:latin typeface="+mn-lt"/>
                <a:ea typeface="楷体" panose="02010609060101010101" pitchFamily="49" charset="-122"/>
              </a:rPr>
              <a:t>更新时间）；③有效位为</a:t>
            </a:r>
            <a:r>
              <a:rPr lang="en-US" altLang="zh-CN" sz="2000" b="1" dirty="0">
                <a:latin typeface="+mn-lt"/>
                <a:ea typeface="楷体" panose="02010609060101010101" pitchFamily="49" charset="-122"/>
              </a:rPr>
              <a:t>0</a:t>
            </a:r>
            <a:r>
              <a:rPr lang="zh-CN" altLang="en-US" sz="2000" b="1" dirty="0">
                <a:latin typeface="+mn-lt"/>
                <a:ea typeface="楷体" panose="02010609060101010101" pitchFamily="49" charset="-122"/>
              </a:rPr>
              <a:t>表示页表不在内存，产生缺页中断，缺页中断处理后，返回到产生缺页中断的指令处重新执行。设有虚地址访问序列</a:t>
            </a:r>
            <a:r>
              <a:rPr lang="en-US" altLang="zh-CN" sz="2000" b="1" dirty="0">
                <a:latin typeface="+mn-lt"/>
                <a:ea typeface="楷体" panose="02010609060101010101" pitchFamily="49" charset="-122"/>
              </a:rPr>
              <a:t>2362H</a:t>
            </a:r>
            <a:r>
              <a:rPr lang="zh-CN" altLang="en-US" sz="2000" b="1" dirty="0">
                <a:latin typeface="+mn-lt"/>
                <a:ea typeface="楷体" panose="02010609060101010101" pitchFamily="49" charset="-122"/>
              </a:rPr>
              <a:t>、</a:t>
            </a:r>
            <a:r>
              <a:rPr lang="en-US" altLang="zh-CN" sz="2000" b="1" dirty="0">
                <a:latin typeface="+mn-lt"/>
                <a:ea typeface="楷体" panose="02010609060101010101" pitchFamily="49" charset="-122"/>
              </a:rPr>
              <a:t>1565H</a:t>
            </a:r>
            <a:r>
              <a:rPr lang="zh-CN" altLang="en-US" sz="2000" b="1" dirty="0">
                <a:latin typeface="+mn-lt"/>
                <a:ea typeface="楷体" panose="02010609060101010101" pitchFamily="49" charset="-122"/>
              </a:rPr>
              <a:t>、</a:t>
            </a:r>
            <a:r>
              <a:rPr lang="en-US" altLang="zh-CN" sz="2000" b="1" dirty="0">
                <a:latin typeface="+mn-lt"/>
                <a:ea typeface="楷体" panose="02010609060101010101" pitchFamily="49" charset="-122"/>
              </a:rPr>
              <a:t>25A5H</a:t>
            </a:r>
            <a:r>
              <a:rPr lang="zh-CN" altLang="en-US" sz="2000" b="1" dirty="0">
                <a:latin typeface="+mn-lt"/>
                <a:ea typeface="楷体" panose="02010609060101010101" pitchFamily="49" charset="-122"/>
              </a:rPr>
              <a:t>，请问：</a:t>
            </a:r>
          </a:p>
          <a:p>
            <a:pPr eaLnBrk="1" hangingPunct="1">
              <a:spcBef>
                <a:spcPct val="10000"/>
              </a:spcBef>
              <a:buFontTx/>
              <a:buNone/>
            </a:pPr>
            <a:r>
              <a:rPr lang="en-US" altLang="zh-CN" sz="2000" b="1" dirty="0">
                <a:latin typeface="+mn-lt"/>
                <a:ea typeface="楷体" panose="02010609060101010101" pitchFamily="49" charset="-122"/>
              </a:rPr>
              <a:t>(1) </a:t>
            </a:r>
            <a:r>
              <a:rPr lang="zh-CN" altLang="en-US" sz="2000" b="1" dirty="0">
                <a:latin typeface="+mn-lt"/>
                <a:ea typeface="楷体" panose="02010609060101010101" pitchFamily="49" charset="-122"/>
              </a:rPr>
              <a:t>依次访问上述三个虚地址，各需要多少时间，给出计算过程；</a:t>
            </a:r>
          </a:p>
          <a:p>
            <a:pPr eaLnBrk="1" hangingPunct="1">
              <a:spcBef>
                <a:spcPct val="10000"/>
              </a:spcBef>
              <a:buFontTx/>
              <a:buNone/>
            </a:pPr>
            <a:r>
              <a:rPr lang="en-US" altLang="zh-CN" sz="2000" b="1" dirty="0">
                <a:latin typeface="+mn-lt"/>
                <a:ea typeface="楷体" panose="02010609060101010101" pitchFamily="49" charset="-122"/>
              </a:rPr>
              <a:t>(2) </a:t>
            </a:r>
            <a:r>
              <a:rPr lang="zh-CN" altLang="en-US" sz="2000" b="1" dirty="0">
                <a:latin typeface="+mn-lt"/>
                <a:ea typeface="楷体" panose="02010609060101010101" pitchFamily="49" charset="-122"/>
              </a:rPr>
              <a:t>基于上述访问序列，虚地址</a:t>
            </a:r>
            <a:r>
              <a:rPr lang="en-US" altLang="zh-CN" sz="2000" b="1" dirty="0">
                <a:latin typeface="+mn-lt"/>
                <a:ea typeface="楷体" panose="02010609060101010101" pitchFamily="49" charset="-122"/>
              </a:rPr>
              <a:t>1565H</a:t>
            </a:r>
            <a:r>
              <a:rPr lang="zh-CN" altLang="en-US" sz="2000" b="1" dirty="0">
                <a:latin typeface="+mn-lt"/>
                <a:ea typeface="楷体" panose="02010609060101010101" pitchFamily="49" charset="-122"/>
              </a:rPr>
              <a:t>的物理地址是多少？请说明理由。</a:t>
            </a:r>
            <a:endParaRPr lang="zh-CN" altLang="zh-CN" sz="2000" b="1" dirty="0">
              <a:latin typeface="+mn-lt"/>
              <a:ea typeface="楷体" panose="02010609060101010101" pitchFamily="49" charset="-122"/>
            </a:endParaRPr>
          </a:p>
        </p:txBody>
      </p:sp>
    </p:spTree>
    <p:extLst>
      <p:ext uri="{BB962C8B-B14F-4D97-AF65-F5344CB8AC3E}">
        <p14:creationId xmlns:p14="http://schemas.microsoft.com/office/powerpoint/2010/main" val="3195740442"/>
      </p:ext>
    </p:extLst>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回顾</a:t>
            </a:r>
            <a:endParaRPr lang="zh-CN" altLang="en-US" dirty="0"/>
          </a:p>
        </p:txBody>
      </p:sp>
      <p:sp>
        <p:nvSpPr>
          <p:cNvPr id="4" name="Date Placeholder 3"/>
          <p:cNvSpPr>
            <a:spLocks noGrp="1"/>
          </p:cNvSpPr>
          <p:nvPr>
            <p:ph type="dt" sz="half" idx="10"/>
          </p:nvPr>
        </p:nvSpPr>
        <p:spPr/>
        <p:txBody>
          <a:bodyPr/>
          <a:lstStyle/>
          <a:p>
            <a:fld id="{3C753BCA-EB76-40A6-AFD6-892F4DFF6CA9}"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134</a:t>
            </a:fld>
            <a:endParaRPr lang="zh-CN" altLang="en-US" dirty="0"/>
          </a:p>
        </p:txBody>
      </p:sp>
      <p:sp>
        <p:nvSpPr>
          <p:cNvPr id="7" name="Rectangle 3"/>
          <p:cNvSpPr txBox="1">
            <a:spLocks noChangeArrowheads="1"/>
          </p:cNvSpPr>
          <p:nvPr/>
        </p:nvSpPr>
        <p:spPr>
          <a:xfrm>
            <a:off x="467545" y="1269256"/>
            <a:ext cx="8219256" cy="4536008"/>
          </a:xfrm>
          <a:prstGeom prst="rect">
            <a:avLst/>
          </a:prstGeom>
        </p:spPr>
        <p:txBody>
          <a:bodyPr vert="horz" lIns="91440" tIns="45720" rIns="91440" bIns="45720" rtlCol="0">
            <a:normAutofit/>
          </a:bodyPr>
          <a:lstStyle>
            <a:lvl1pPr marL="342900" indent="-342900" algn="l" defTabSz="914400" rtl="0" eaLnBrk="1" latinLnBrk="0" hangingPunct="1">
              <a:spcBef>
                <a:spcPts val="1200"/>
              </a:spcBef>
              <a:buFont typeface="Arial" pitchFamily="34" charset="0"/>
              <a:buChar char="•"/>
              <a:defRPr sz="2400" b="1" kern="1200">
                <a:solidFill>
                  <a:schemeClr val="tx1"/>
                </a:solidFill>
                <a:latin typeface="Times New Roman" pitchFamily="18" charset="0"/>
                <a:ea typeface="楷体" pitchFamily="49" charset="-122"/>
                <a:cs typeface="Times New Roman" pitchFamily="18" charset="0"/>
              </a:defRPr>
            </a:lvl1pPr>
            <a:lvl2pPr marL="742950" indent="-285750" algn="l" defTabSz="914400" rtl="0" eaLnBrk="1" latinLnBrk="0" hangingPunct="1">
              <a:spcBef>
                <a:spcPct val="20000"/>
              </a:spcBef>
              <a:buFont typeface="Arial" pitchFamily="34" charset="0"/>
              <a:buChar char="–"/>
              <a:defRPr sz="2200" kern="1200">
                <a:solidFill>
                  <a:schemeClr val="tx1"/>
                </a:solidFill>
                <a:latin typeface="Times New Roman" pitchFamily="18" charset="0"/>
                <a:ea typeface="楷体" pitchFamily="49" charset="-122"/>
                <a:cs typeface="Times New Roman" pitchFamily="18" charset="0"/>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楷体" pitchFamily="49" charset="-122"/>
                <a:cs typeface="Times New Roman" pitchFamily="18"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楷体" pitchFamily="49" charset="-122"/>
                <a:cs typeface="Times New Roman" pitchFamily="18"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楷体" pitchFamily="49" charset="-122"/>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58775" indent="-358775">
              <a:lnSpc>
                <a:spcPct val="110000"/>
              </a:lnSpc>
              <a:spcBef>
                <a:spcPct val="0"/>
              </a:spcBef>
              <a:buFontTx/>
              <a:buNone/>
            </a:pPr>
            <a:r>
              <a:rPr lang="zh-CN" altLang="en-US" sz="2000" dirty="0">
                <a:solidFill>
                  <a:srgbClr val="0000FF"/>
                </a:solidFill>
              </a:rPr>
              <a:t>解答</a:t>
            </a:r>
          </a:p>
          <a:p>
            <a:pPr marL="358775" indent="-358775">
              <a:lnSpc>
                <a:spcPct val="110000"/>
              </a:lnSpc>
              <a:spcBef>
                <a:spcPct val="0"/>
              </a:spcBef>
              <a:buSzPct val="150000"/>
              <a:buFontTx/>
              <a:buBlip>
                <a:blip r:embed="rId2"/>
              </a:buBlip>
            </a:pPr>
            <a:r>
              <a:rPr lang="zh-CN" altLang="en-US" sz="2000" dirty="0"/>
              <a:t>页面大小为</a:t>
            </a:r>
            <a:r>
              <a:rPr lang="en-US" altLang="zh-CN" sz="2000" dirty="0"/>
              <a:t>4KB</a:t>
            </a:r>
            <a:r>
              <a:rPr lang="zh-CN" altLang="en-US" sz="2000" dirty="0"/>
              <a:t>，所以</a:t>
            </a:r>
            <a:r>
              <a:rPr lang="en-US" altLang="zh-CN" sz="2000" dirty="0"/>
              <a:t>2362H</a:t>
            </a:r>
            <a:r>
              <a:rPr lang="zh-CN" altLang="en-US" sz="2000" dirty="0"/>
              <a:t>、</a:t>
            </a:r>
            <a:r>
              <a:rPr lang="en-US" altLang="zh-CN" sz="2000" dirty="0"/>
              <a:t>1565H</a:t>
            </a:r>
            <a:r>
              <a:rPr lang="zh-CN" altLang="en-US" sz="2000" dirty="0"/>
              <a:t>、</a:t>
            </a:r>
            <a:r>
              <a:rPr lang="en-US" altLang="zh-CN" sz="2000" dirty="0"/>
              <a:t>25A5H</a:t>
            </a:r>
            <a:r>
              <a:rPr lang="zh-CN" altLang="en-US" sz="2000" dirty="0"/>
              <a:t>对应的页号分别为</a:t>
            </a:r>
            <a:r>
              <a:rPr lang="en-US" altLang="zh-CN" sz="2000" dirty="0"/>
              <a:t>2</a:t>
            </a:r>
            <a:r>
              <a:rPr lang="zh-CN" altLang="en-US" sz="2000" dirty="0"/>
              <a:t>、</a:t>
            </a:r>
            <a:r>
              <a:rPr lang="en-US" altLang="zh-CN" sz="2000" dirty="0"/>
              <a:t>1</a:t>
            </a:r>
            <a:r>
              <a:rPr lang="zh-CN" altLang="en-US" sz="2000" dirty="0"/>
              <a:t>、</a:t>
            </a:r>
            <a:r>
              <a:rPr lang="en-US" altLang="zh-CN" sz="2000" dirty="0"/>
              <a:t>2</a:t>
            </a:r>
            <a:r>
              <a:rPr lang="zh-CN" altLang="en-US" sz="2000" dirty="0"/>
              <a:t>， 根据页表内容，</a:t>
            </a:r>
            <a:r>
              <a:rPr lang="en-US" altLang="zh-CN" sz="2000" dirty="0"/>
              <a:t>2362H</a:t>
            </a:r>
            <a:r>
              <a:rPr lang="zh-CN" altLang="en-US" sz="2000" dirty="0"/>
              <a:t>、</a:t>
            </a:r>
            <a:r>
              <a:rPr lang="en-US" altLang="zh-CN" sz="2000" dirty="0"/>
              <a:t>25A5H</a:t>
            </a:r>
            <a:r>
              <a:rPr lang="zh-CN" altLang="en-US" sz="2000" dirty="0"/>
              <a:t>在内存， </a:t>
            </a:r>
            <a:r>
              <a:rPr lang="en-US" altLang="zh-CN" sz="2000" dirty="0"/>
              <a:t>1565H</a:t>
            </a:r>
            <a:r>
              <a:rPr lang="zh-CN" altLang="en-US" sz="2000" dirty="0"/>
              <a:t>不在内存。初始快表为空，故</a:t>
            </a:r>
            <a:r>
              <a:rPr lang="en-US" altLang="zh-CN" sz="2000" dirty="0"/>
              <a:t>2362H</a:t>
            </a:r>
            <a:r>
              <a:rPr lang="zh-CN" altLang="en-US" sz="2000" dirty="0"/>
              <a:t>需装入快表， </a:t>
            </a:r>
            <a:r>
              <a:rPr lang="en-US" altLang="zh-CN" sz="2000" dirty="0"/>
              <a:t>25A5H</a:t>
            </a:r>
            <a:r>
              <a:rPr lang="zh-CN" altLang="en-US" sz="2000" dirty="0"/>
              <a:t>直接访问快表， </a:t>
            </a:r>
            <a:r>
              <a:rPr lang="en-US" altLang="zh-CN" sz="2000" dirty="0"/>
              <a:t>1565H</a:t>
            </a:r>
            <a:r>
              <a:rPr lang="zh-CN" altLang="en-US" sz="2000" dirty="0"/>
              <a:t>需装入内存，再装入快表。据此：</a:t>
            </a:r>
          </a:p>
          <a:p>
            <a:pPr marL="358775" indent="-358775">
              <a:lnSpc>
                <a:spcPct val="110000"/>
              </a:lnSpc>
              <a:spcBef>
                <a:spcPct val="0"/>
              </a:spcBef>
              <a:buFontTx/>
              <a:buNone/>
            </a:pPr>
            <a:r>
              <a:rPr lang="zh-CN" altLang="en-US" sz="2000" dirty="0"/>
              <a:t>    </a:t>
            </a:r>
            <a:r>
              <a:rPr lang="en-US" altLang="zh-CN" sz="2000" dirty="0"/>
              <a:t>2362H</a:t>
            </a:r>
            <a:r>
              <a:rPr lang="zh-CN" altLang="en-US" sz="2000" dirty="0"/>
              <a:t>：</a:t>
            </a:r>
            <a:r>
              <a:rPr lang="en-US" altLang="zh-CN" sz="2000" dirty="0"/>
              <a:t>10(</a:t>
            </a:r>
            <a:r>
              <a:rPr lang="zh-CN" altLang="en-US" sz="2000" dirty="0"/>
              <a:t>访</a:t>
            </a:r>
            <a:r>
              <a:rPr lang="en-US" altLang="zh-CN" sz="2000" dirty="0"/>
              <a:t>TLB)+100(</a:t>
            </a:r>
            <a:r>
              <a:rPr lang="zh-CN" altLang="en-US" sz="2000" dirty="0"/>
              <a:t>访页表</a:t>
            </a:r>
            <a:r>
              <a:rPr lang="en-US" altLang="zh-CN" sz="2000" dirty="0"/>
              <a:t>)+100(</a:t>
            </a:r>
            <a:r>
              <a:rPr lang="zh-CN" altLang="en-US" sz="2000" dirty="0"/>
              <a:t>访主存单元</a:t>
            </a:r>
            <a:r>
              <a:rPr lang="en-US" altLang="zh-CN" sz="2000" dirty="0"/>
              <a:t>)=210ns</a:t>
            </a:r>
          </a:p>
          <a:p>
            <a:pPr marL="358775" indent="-358775">
              <a:lnSpc>
                <a:spcPct val="110000"/>
              </a:lnSpc>
              <a:spcBef>
                <a:spcPct val="0"/>
              </a:spcBef>
              <a:buFontTx/>
              <a:buNone/>
            </a:pPr>
            <a:r>
              <a:rPr lang="en-US" altLang="zh-CN" sz="2000" dirty="0"/>
              <a:t>    1565H</a:t>
            </a:r>
            <a:r>
              <a:rPr lang="zh-CN" altLang="en-US" sz="2000" dirty="0"/>
              <a:t>：</a:t>
            </a:r>
            <a:r>
              <a:rPr lang="en-US" altLang="zh-CN" sz="2000" dirty="0"/>
              <a:t>10 (</a:t>
            </a:r>
            <a:r>
              <a:rPr lang="zh-CN" altLang="en-US" sz="2000" dirty="0"/>
              <a:t>访</a:t>
            </a:r>
            <a:r>
              <a:rPr lang="en-US" altLang="zh-CN" sz="2000" dirty="0"/>
              <a:t>TLB)+100 (</a:t>
            </a:r>
            <a:r>
              <a:rPr lang="zh-CN" altLang="en-US" sz="2000" dirty="0"/>
              <a:t>访页表</a:t>
            </a:r>
            <a:r>
              <a:rPr lang="en-US" altLang="zh-CN" sz="2000" dirty="0"/>
              <a:t>)+10</a:t>
            </a:r>
            <a:r>
              <a:rPr lang="en-US" altLang="zh-CN" sz="2000" baseline="30000" dirty="0"/>
              <a:t>8 </a:t>
            </a:r>
            <a:r>
              <a:rPr lang="en-US" altLang="zh-CN" sz="2000" dirty="0"/>
              <a:t>(</a:t>
            </a:r>
            <a:r>
              <a:rPr lang="zh-CN" altLang="en-US" sz="2000" dirty="0"/>
              <a:t>调页</a:t>
            </a:r>
            <a:r>
              <a:rPr lang="en-US" altLang="zh-CN" sz="2000" dirty="0"/>
              <a:t>)+10 (</a:t>
            </a:r>
            <a:r>
              <a:rPr lang="zh-CN" altLang="en-US" sz="2000" dirty="0"/>
              <a:t>访</a:t>
            </a:r>
            <a:r>
              <a:rPr lang="en-US" altLang="zh-CN" sz="2000" dirty="0"/>
              <a:t>TLB) +100(</a:t>
            </a:r>
            <a:r>
              <a:rPr lang="zh-CN" altLang="en-US" sz="2000" dirty="0"/>
              <a:t>访主存单元</a:t>
            </a:r>
            <a:r>
              <a:rPr lang="en-US" altLang="zh-CN" sz="2000" dirty="0"/>
              <a:t>)=100000220ns</a:t>
            </a:r>
          </a:p>
          <a:p>
            <a:pPr marL="358775" indent="-358775">
              <a:lnSpc>
                <a:spcPct val="110000"/>
              </a:lnSpc>
              <a:spcBef>
                <a:spcPct val="0"/>
              </a:spcBef>
              <a:buFontTx/>
              <a:buNone/>
            </a:pPr>
            <a:r>
              <a:rPr lang="en-US" altLang="zh-CN" sz="2000" dirty="0"/>
              <a:t>    25A5H</a:t>
            </a:r>
            <a:r>
              <a:rPr lang="zh-CN" altLang="en-US" sz="2000" dirty="0"/>
              <a:t>： </a:t>
            </a:r>
            <a:r>
              <a:rPr lang="en-US" altLang="zh-CN" sz="2000" dirty="0"/>
              <a:t>10(</a:t>
            </a:r>
            <a:r>
              <a:rPr lang="zh-CN" altLang="en-US" sz="2000" dirty="0"/>
              <a:t>访</a:t>
            </a:r>
            <a:r>
              <a:rPr lang="en-US" altLang="zh-CN" sz="2000" dirty="0"/>
              <a:t>TLB)+100(</a:t>
            </a:r>
            <a:r>
              <a:rPr lang="zh-CN" altLang="en-US" sz="2000" dirty="0"/>
              <a:t>访主存单元</a:t>
            </a:r>
            <a:r>
              <a:rPr lang="en-US" altLang="zh-CN" sz="2000" dirty="0"/>
              <a:t>)=110ns</a:t>
            </a:r>
          </a:p>
          <a:p>
            <a:pPr marL="358775" indent="-358775">
              <a:lnSpc>
                <a:spcPct val="110000"/>
              </a:lnSpc>
              <a:spcBef>
                <a:spcPct val="0"/>
              </a:spcBef>
              <a:buSzPct val="150000"/>
              <a:buFontTx/>
              <a:buBlip>
                <a:blip r:embed="rId3"/>
              </a:buBlip>
            </a:pPr>
            <a:endParaRPr lang="en-US" altLang="zh-CN" sz="2000" dirty="0"/>
          </a:p>
          <a:p>
            <a:pPr marL="358775" indent="-358775">
              <a:lnSpc>
                <a:spcPct val="110000"/>
              </a:lnSpc>
              <a:spcBef>
                <a:spcPct val="0"/>
              </a:spcBef>
              <a:buSzPct val="150000"/>
              <a:buFontTx/>
              <a:buBlip>
                <a:blip r:embed="rId3"/>
              </a:buBlip>
            </a:pPr>
            <a:r>
              <a:rPr lang="zh-CN" altLang="en-US" sz="2000" dirty="0"/>
              <a:t>根据页表，第</a:t>
            </a:r>
            <a:r>
              <a:rPr lang="en-US" altLang="zh-CN" sz="2000" dirty="0"/>
              <a:t>0</a:t>
            </a:r>
            <a:r>
              <a:rPr lang="zh-CN" altLang="en-US" sz="2000" dirty="0"/>
              <a:t>、</a:t>
            </a:r>
            <a:r>
              <a:rPr lang="en-US" altLang="zh-CN" sz="2000" dirty="0"/>
              <a:t>2</a:t>
            </a:r>
            <a:r>
              <a:rPr lang="zh-CN" altLang="en-US" sz="2000" dirty="0"/>
              <a:t>页在内存中，由于第</a:t>
            </a:r>
            <a:r>
              <a:rPr lang="en-US" altLang="zh-CN" sz="2000" dirty="0"/>
              <a:t>2</a:t>
            </a:r>
            <a:r>
              <a:rPr lang="zh-CN" altLang="en-US" sz="2000" dirty="0"/>
              <a:t>页刚刚被访问（访问</a:t>
            </a:r>
            <a:r>
              <a:rPr lang="en-US" altLang="zh-CN" sz="2000" dirty="0"/>
              <a:t>2362H</a:t>
            </a:r>
            <a:r>
              <a:rPr lang="zh-CN" altLang="en-US" sz="2000" dirty="0"/>
              <a:t>），根据</a:t>
            </a:r>
            <a:r>
              <a:rPr lang="en-US" altLang="zh-CN" sz="2000" dirty="0"/>
              <a:t>LRU</a:t>
            </a:r>
            <a:r>
              <a:rPr lang="zh-CN" altLang="en-US" sz="2000" dirty="0"/>
              <a:t>算法，将第</a:t>
            </a:r>
            <a:r>
              <a:rPr lang="en-US" altLang="zh-CN" sz="2000" dirty="0"/>
              <a:t>0</a:t>
            </a:r>
            <a:r>
              <a:rPr lang="zh-CN" altLang="en-US" sz="2000" dirty="0"/>
              <a:t>页替换，因此对应页框号为</a:t>
            </a:r>
            <a:r>
              <a:rPr lang="en-US" altLang="zh-CN" sz="2000" dirty="0"/>
              <a:t>101H</a:t>
            </a:r>
            <a:r>
              <a:rPr lang="zh-CN" altLang="en-US" sz="2000" dirty="0"/>
              <a:t>，故</a:t>
            </a:r>
            <a:r>
              <a:rPr lang="en-US" altLang="zh-CN" sz="2000" dirty="0"/>
              <a:t>1565H</a:t>
            </a:r>
            <a:r>
              <a:rPr lang="zh-CN" altLang="en-US" sz="2000" dirty="0"/>
              <a:t>的物理地址为</a:t>
            </a:r>
            <a:r>
              <a:rPr lang="en-US" altLang="zh-CN" sz="2000" dirty="0"/>
              <a:t>101565H</a:t>
            </a:r>
            <a:r>
              <a:rPr lang="zh-CN" altLang="en-US" sz="2000" dirty="0"/>
              <a:t>。</a:t>
            </a:r>
          </a:p>
        </p:txBody>
      </p:sp>
    </p:spTree>
    <p:extLst>
      <p:ext uri="{BB962C8B-B14F-4D97-AF65-F5344CB8AC3E}">
        <p14:creationId xmlns:p14="http://schemas.microsoft.com/office/powerpoint/2010/main" val="1755774104"/>
      </p:ext>
    </p:extLst>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作业</a:t>
            </a:r>
            <a:r>
              <a:rPr lang="zh-CN" altLang="en-US" dirty="0" smtClean="0"/>
              <a:t>（</a:t>
            </a:r>
            <a:r>
              <a:rPr lang="en-US" altLang="zh-CN" dirty="0" smtClean="0"/>
              <a:t>1</a:t>
            </a:r>
            <a:r>
              <a:rPr lang="zh-CN" altLang="en-US" dirty="0" smtClean="0"/>
              <a:t>）</a:t>
            </a:r>
            <a:endParaRPr lang="zh-CN" altLang="en-US" dirty="0"/>
          </a:p>
        </p:txBody>
      </p:sp>
      <p:sp>
        <p:nvSpPr>
          <p:cNvPr id="4" name="Date Placeholder 3"/>
          <p:cNvSpPr>
            <a:spLocks noGrp="1"/>
          </p:cNvSpPr>
          <p:nvPr>
            <p:ph type="dt" sz="half" idx="10"/>
          </p:nvPr>
        </p:nvSpPr>
        <p:spPr/>
        <p:txBody>
          <a:bodyPr/>
          <a:lstStyle/>
          <a:p>
            <a:fld id="{76AF0A1D-181B-4DE8-A42B-2DDED08C0589}"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135</a:t>
            </a:fld>
            <a:endParaRPr lang="zh-CN" altLang="en-US" dirty="0"/>
          </a:p>
        </p:txBody>
      </p:sp>
      <p:sp>
        <p:nvSpPr>
          <p:cNvPr id="7" name="Rectangle 6"/>
          <p:cNvSpPr/>
          <p:nvPr/>
        </p:nvSpPr>
        <p:spPr>
          <a:xfrm>
            <a:off x="457200" y="1340768"/>
            <a:ext cx="8075240" cy="1569660"/>
          </a:xfrm>
          <a:prstGeom prst="rect">
            <a:avLst/>
          </a:prstGeom>
        </p:spPr>
        <p:txBody>
          <a:bodyPr wrap="square">
            <a:spAutoFit/>
          </a:bodyPr>
          <a:lstStyle/>
          <a:p>
            <a:pPr>
              <a:lnSpc>
                <a:spcPct val="120000"/>
              </a:lnSpc>
            </a:pPr>
            <a:r>
              <a:rPr lang="zh-CN" altLang="en-US" sz="2000" b="1" dirty="0">
                <a:latin typeface="楷体" panose="02010609060101010101" pitchFamily="49" charset="-122"/>
                <a:ea typeface="楷体" panose="02010609060101010101" pitchFamily="49" charset="-122"/>
              </a:rPr>
              <a:t>在一个请求分页管理存储系统中，一个程序的页面走向为4，3，2，1，4，3，5，4，3，2，1，5，并采用</a:t>
            </a:r>
            <a:r>
              <a:rPr lang="en-US" altLang="zh-CN" sz="2000" b="1" dirty="0">
                <a:latin typeface="楷体" panose="02010609060101010101" pitchFamily="49" charset="-122"/>
                <a:ea typeface="楷体" panose="02010609060101010101" pitchFamily="49" charset="-122"/>
              </a:rPr>
              <a:t>LRU</a:t>
            </a:r>
            <a:r>
              <a:rPr lang="zh-CN" altLang="en-US" sz="2000" b="1" dirty="0">
                <a:latin typeface="楷体" panose="02010609060101010101" pitchFamily="49" charset="-122"/>
                <a:ea typeface="楷体" panose="02010609060101010101" pitchFamily="49" charset="-122"/>
              </a:rPr>
              <a:t>页面置换算法。设分配给该程序的存储块数为</a:t>
            </a:r>
            <a:r>
              <a:rPr lang="en-US" altLang="zh-CN" sz="2000" b="1" dirty="0">
                <a:latin typeface="楷体" panose="02010609060101010101" pitchFamily="49" charset="-122"/>
                <a:ea typeface="楷体" panose="02010609060101010101" pitchFamily="49" charset="-122"/>
              </a:rPr>
              <a:t>M，</a:t>
            </a:r>
            <a:r>
              <a:rPr lang="zh-CN" altLang="en-US" sz="2000" b="1" dirty="0">
                <a:latin typeface="楷体" panose="02010609060101010101" pitchFamily="49" charset="-122"/>
                <a:ea typeface="楷体" panose="02010609060101010101" pitchFamily="49" charset="-122"/>
              </a:rPr>
              <a:t>当</a:t>
            </a:r>
            <a:r>
              <a:rPr lang="en-US" altLang="zh-CN" sz="2000" b="1" dirty="0">
                <a:latin typeface="楷体" panose="02010609060101010101" pitchFamily="49" charset="-122"/>
                <a:ea typeface="楷体" panose="02010609060101010101" pitchFamily="49" charset="-122"/>
              </a:rPr>
              <a:t>M</a:t>
            </a:r>
            <a:r>
              <a:rPr lang="zh-CN" altLang="en-US" sz="2000" b="1" dirty="0">
                <a:latin typeface="楷体" panose="02010609060101010101" pitchFamily="49" charset="-122"/>
                <a:ea typeface="楷体" panose="02010609060101010101" pitchFamily="49" charset="-122"/>
              </a:rPr>
              <a:t>分别为3和4时，试求出在访问过程中缺页中断的次数和缺页率，并比较两种结果，从中可以得到什么启示？</a:t>
            </a:r>
          </a:p>
        </p:txBody>
      </p:sp>
    </p:spTree>
    <p:extLst>
      <p:ext uri="{BB962C8B-B14F-4D97-AF65-F5344CB8AC3E}">
        <p14:creationId xmlns:p14="http://schemas.microsoft.com/office/powerpoint/2010/main" val="3684197427"/>
      </p:ext>
    </p:extLst>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作业</a:t>
            </a:r>
            <a:r>
              <a:rPr lang="zh-CN" altLang="en-US" dirty="0" smtClean="0"/>
              <a:t>（</a:t>
            </a:r>
            <a:r>
              <a:rPr lang="en-US" altLang="zh-CN" dirty="0" smtClean="0"/>
              <a:t>2</a:t>
            </a:r>
            <a:r>
              <a:rPr lang="zh-CN" altLang="en-US" dirty="0" smtClean="0"/>
              <a:t>）</a:t>
            </a:r>
            <a:endParaRPr lang="zh-CN" altLang="en-US" dirty="0"/>
          </a:p>
        </p:txBody>
      </p:sp>
      <p:sp>
        <p:nvSpPr>
          <p:cNvPr id="3" name="Content Placeholder 2"/>
          <p:cNvSpPr>
            <a:spLocks noGrp="1"/>
          </p:cNvSpPr>
          <p:nvPr>
            <p:ph idx="1"/>
          </p:nvPr>
        </p:nvSpPr>
        <p:spPr/>
        <p:txBody>
          <a:bodyPr/>
          <a:lstStyle/>
          <a:p>
            <a:r>
              <a:rPr lang="zh-CN" altLang="en-US" dirty="0"/>
              <a:t>某系统采用动态分区管理内存，内存空间为640</a:t>
            </a:r>
            <a:r>
              <a:rPr lang="en-US" altLang="zh-CN" dirty="0"/>
              <a:t>K，</a:t>
            </a:r>
            <a:r>
              <a:rPr lang="zh-CN" altLang="en-US" dirty="0">
                <a:solidFill>
                  <a:srgbClr val="0000FF"/>
                </a:solidFill>
              </a:rPr>
              <a:t>高端</a:t>
            </a:r>
            <a:r>
              <a:rPr lang="zh-CN" altLang="en-US" dirty="0"/>
              <a:t>40</a:t>
            </a:r>
            <a:r>
              <a:rPr lang="en-US" altLang="zh-CN" dirty="0"/>
              <a:t>K</a:t>
            </a:r>
            <a:r>
              <a:rPr lang="zh-CN" altLang="en-US" dirty="0"/>
              <a:t>存放操作系统。内存分配时，</a:t>
            </a:r>
            <a:r>
              <a:rPr lang="zh-CN" altLang="en-US" dirty="0">
                <a:solidFill>
                  <a:srgbClr val="0000FF"/>
                </a:solidFill>
              </a:rPr>
              <a:t>系统优先使用空闲区低端的空间</a:t>
            </a:r>
            <a:r>
              <a:rPr lang="zh-CN" altLang="en-US" dirty="0"/>
              <a:t>。对下列请求序列：作业1申请130</a:t>
            </a:r>
            <a:r>
              <a:rPr lang="en-US" altLang="zh-CN" dirty="0"/>
              <a:t>K，</a:t>
            </a:r>
            <a:r>
              <a:rPr lang="zh-CN" altLang="en-US" dirty="0"/>
              <a:t>作业2申请60</a:t>
            </a:r>
            <a:r>
              <a:rPr lang="en-US" altLang="zh-CN" dirty="0"/>
              <a:t>K，</a:t>
            </a:r>
            <a:r>
              <a:rPr lang="zh-CN" altLang="en-US" dirty="0"/>
              <a:t>作业3申请100</a:t>
            </a:r>
            <a:r>
              <a:rPr lang="en-US" altLang="zh-CN" dirty="0"/>
              <a:t>K，</a:t>
            </a:r>
            <a:r>
              <a:rPr lang="zh-CN" altLang="en-US" dirty="0"/>
              <a:t>作业2释放60</a:t>
            </a:r>
            <a:r>
              <a:rPr lang="en-US" altLang="zh-CN" dirty="0"/>
              <a:t>K，</a:t>
            </a:r>
            <a:r>
              <a:rPr lang="zh-CN" altLang="en-US" dirty="0"/>
              <a:t>作业4申请2</a:t>
            </a:r>
            <a:r>
              <a:rPr lang="en-US" altLang="zh-CN" dirty="0"/>
              <a:t>00K，</a:t>
            </a:r>
            <a:r>
              <a:rPr lang="zh-CN" altLang="en-US" dirty="0"/>
              <a:t>作业3释放100</a:t>
            </a:r>
            <a:r>
              <a:rPr lang="en-US" altLang="zh-CN" dirty="0"/>
              <a:t>K，</a:t>
            </a:r>
            <a:r>
              <a:rPr lang="zh-CN" altLang="en-US" dirty="0"/>
              <a:t>作业1释放130</a:t>
            </a:r>
            <a:r>
              <a:rPr lang="en-US" altLang="zh-CN" dirty="0"/>
              <a:t>K，</a:t>
            </a:r>
            <a:r>
              <a:rPr lang="zh-CN" altLang="en-US" dirty="0"/>
              <a:t>作业5申请140</a:t>
            </a:r>
            <a:r>
              <a:rPr lang="en-US" altLang="zh-CN" dirty="0"/>
              <a:t>K，</a:t>
            </a:r>
            <a:r>
              <a:rPr lang="zh-CN" altLang="en-US" dirty="0"/>
              <a:t>作业6申请60</a:t>
            </a:r>
            <a:r>
              <a:rPr lang="en-US" altLang="zh-CN" dirty="0"/>
              <a:t>K，</a:t>
            </a:r>
            <a:r>
              <a:rPr lang="zh-CN" altLang="en-US" dirty="0"/>
              <a:t>作业7申请50</a:t>
            </a:r>
            <a:r>
              <a:rPr lang="en-US" altLang="zh-CN" dirty="0"/>
              <a:t>K，</a:t>
            </a:r>
            <a:r>
              <a:rPr lang="zh-CN" altLang="en-US" dirty="0"/>
              <a:t>作业6释放60</a:t>
            </a:r>
            <a:r>
              <a:rPr lang="en-US" altLang="zh-CN" dirty="0"/>
              <a:t>K，</a:t>
            </a:r>
            <a:r>
              <a:rPr lang="zh-CN" altLang="en-US" dirty="0"/>
              <a:t>请分别画出使用首次适应算法和最佳适应算法进行内存分配和回收后内存的实际使用情况。</a:t>
            </a:r>
          </a:p>
        </p:txBody>
      </p:sp>
      <p:sp>
        <p:nvSpPr>
          <p:cNvPr id="4" name="Date Placeholder 3"/>
          <p:cNvSpPr>
            <a:spLocks noGrp="1"/>
          </p:cNvSpPr>
          <p:nvPr>
            <p:ph type="dt" sz="half" idx="10"/>
          </p:nvPr>
        </p:nvSpPr>
        <p:spPr/>
        <p:txBody>
          <a:bodyPr/>
          <a:lstStyle/>
          <a:p>
            <a:fld id="{BA9ECE80-3B85-4840-BEEA-3DAF043C48B4}"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136</a:t>
            </a:fld>
            <a:endParaRPr lang="zh-CN" altLang="en-US" dirty="0"/>
          </a:p>
        </p:txBody>
      </p:sp>
    </p:spTree>
    <p:extLst>
      <p:ext uri="{BB962C8B-B14F-4D97-AF65-F5344CB8AC3E}">
        <p14:creationId xmlns:p14="http://schemas.microsoft.com/office/powerpoint/2010/main" val="2991916588"/>
      </p:ext>
    </p:ext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本章总结</a:t>
            </a:r>
          </a:p>
        </p:txBody>
      </p:sp>
      <p:sp>
        <p:nvSpPr>
          <p:cNvPr id="4" name="Date Placeholder 3"/>
          <p:cNvSpPr>
            <a:spLocks noGrp="1"/>
          </p:cNvSpPr>
          <p:nvPr>
            <p:ph type="dt" sz="half" idx="10"/>
          </p:nvPr>
        </p:nvSpPr>
        <p:spPr/>
        <p:txBody>
          <a:bodyPr/>
          <a:lstStyle/>
          <a:p>
            <a:fld id="{F45C4237-8BCD-4154-B3E9-56913F07A0C9}"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137</a:t>
            </a:fld>
            <a:endParaRPr lang="zh-CN" altLang="en-US" dirty="0"/>
          </a:p>
        </p:txBody>
      </p:sp>
      <p:grpSp>
        <p:nvGrpSpPr>
          <p:cNvPr id="7" name="Group 4"/>
          <p:cNvGrpSpPr>
            <a:grpSpLocks/>
          </p:cNvGrpSpPr>
          <p:nvPr/>
        </p:nvGrpSpPr>
        <p:grpSpPr bwMode="auto">
          <a:xfrm>
            <a:off x="905519" y="731539"/>
            <a:ext cx="7554913" cy="5878513"/>
            <a:chOff x="546" y="73"/>
            <a:chExt cx="4759" cy="3703"/>
          </a:xfrm>
        </p:grpSpPr>
        <p:sp>
          <p:nvSpPr>
            <p:cNvPr id="8" name="Text Box 5"/>
            <p:cNvSpPr txBox="1">
              <a:spLocks noChangeArrowheads="1"/>
            </p:cNvSpPr>
            <p:nvPr/>
          </p:nvSpPr>
          <p:spPr bwMode="auto">
            <a:xfrm>
              <a:off x="567" y="1978"/>
              <a:ext cx="1088" cy="546"/>
            </a:xfrm>
            <a:prstGeom prst="rect">
              <a:avLst/>
            </a:prstGeom>
            <a:solidFill>
              <a:srgbClr val="CCFFCC"/>
            </a:solidFill>
            <a:ln w="28575">
              <a:solidFill>
                <a:srgbClr val="0000CC"/>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zh-CN" altLang="en-US" sz="1600" b="1">
                  <a:latin typeface="楷体" panose="02010609060101010101" pitchFamily="49" charset="-122"/>
                  <a:ea typeface="楷体" panose="02010609060101010101" pitchFamily="49" charset="-122"/>
                </a:rPr>
                <a:t>段式存储管理</a:t>
              </a:r>
            </a:p>
            <a:p>
              <a:pPr algn="ctr" eaLnBrk="1" hangingPunct="1">
                <a:spcBef>
                  <a:spcPct val="0"/>
                </a:spcBef>
                <a:buFontTx/>
                <a:buNone/>
              </a:pPr>
              <a:r>
                <a:rPr kumimoji="0" lang="zh-CN" altLang="en-US" sz="1600" b="1">
                  <a:latin typeface="楷体" panose="02010609060101010101" pitchFamily="49" charset="-122"/>
                  <a:ea typeface="楷体" panose="02010609060101010101" pitchFamily="49" charset="-122"/>
                </a:rPr>
                <a:t>页式存储管理</a:t>
              </a:r>
            </a:p>
            <a:p>
              <a:pPr algn="ctr" eaLnBrk="1" hangingPunct="1">
                <a:spcBef>
                  <a:spcPct val="0"/>
                </a:spcBef>
                <a:buFontTx/>
                <a:buNone/>
              </a:pPr>
              <a:r>
                <a:rPr kumimoji="0" lang="zh-CN" altLang="en-US" sz="1600" b="1">
                  <a:latin typeface="楷体" panose="02010609060101010101" pitchFamily="49" charset="-122"/>
                  <a:ea typeface="楷体" panose="02010609060101010101" pitchFamily="49" charset="-122"/>
                </a:rPr>
                <a:t>段页式存储管理</a:t>
              </a:r>
            </a:p>
          </p:txBody>
        </p:sp>
        <p:sp>
          <p:nvSpPr>
            <p:cNvPr id="9" name="Text Box 6"/>
            <p:cNvSpPr txBox="1">
              <a:spLocks noChangeArrowheads="1"/>
            </p:cNvSpPr>
            <p:nvPr/>
          </p:nvSpPr>
          <p:spPr bwMode="auto">
            <a:xfrm>
              <a:off x="3472" y="2543"/>
              <a:ext cx="1173" cy="1233"/>
            </a:xfrm>
            <a:prstGeom prst="rect">
              <a:avLst/>
            </a:prstGeom>
            <a:solidFill>
              <a:srgbClr val="CCFFCC"/>
            </a:solidFill>
            <a:ln w="28575">
              <a:solidFill>
                <a:srgbClr val="0000CC"/>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zh-CN" altLang="en-US" sz="1600" b="1" dirty="0">
                  <a:latin typeface="楷体" panose="02010609060101010101" pitchFamily="49" charset="-122"/>
                  <a:ea typeface="楷体" panose="02010609060101010101" pitchFamily="49" charset="-122"/>
                </a:rPr>
                <a:t>虚拟存储技术</a:t>
              </a:r>
            </a:p>
            <a:p>
              <a:pPr algn="ctr" eaLnBrk="1" hangingPunct="1">
                <a:spcBef>
                  <a:spcPct val="0"/>
                </a:spcBef>
                <a:buFontTx/>
                <a:buNone/>
              </a:pPr>
              <a:r>
                <a:rPr kumimoji="0" lang="zh-CN" altLang="en-US" sz="1600" b="1" dirty="0">
                  <a:latin typeface="楷体" panose="02010609060101010101" pitchFamily="49" charset="-122"/>
                  <a:ea typeface="楷体" panose="02010609060101010101" pitchFamily="49" charset="-122"/>
                </a:rPr>
                <a:t>程序局部性原理</a:t>
              </a:r>
            </a:p>
            <a:p>
              <a:pPr algn="ctr" eaLnBrk="1" hangingPunct="1">
                <a:spcBef>
                  <a:spcPct val="0"/>
                </a:spcBef>
                <a:buFontTx/>
                <a:buNone/>
              </a:pPr>
              <a:r>
                <a:rPr kumimoji="0" lang="zh-CN" altLang="en-US" sz="1600" b="1" dirty="0">
                  <a:latin typeface="楷体" panose="02010609060101010101" pitchFamily="49" charset="-122"/>
                  <a:ea typeface="楷体" panose="02010609060101010101" pitchFamily="49" charset="-122"/>
                </a:rPr>
                <a:t>虚拟页式管理</a:t>
              </a:r>
            </a:p>
            <a:p>
              <a:pPr algn="ctr" eaLnBrk="1" hangingPunct="1">
                <a:spcBef>
                  <a:spcPct val="0"/>
                </a:spcBef>
                <a:buFontTx/>
                <a:buNone/>
              </a:pPr>
              <a:r>
                <a:rPr kumimoji="0" lang="zh-CN" altLang="en-US" sz="1600" b="1" dirty="0">
                  <a:latin typeface="楷体" panose="02010609060101010101" pitchFamily="49" charset="-122"/>
                  <a:ea typeface="楷体" panose="02010609060101010101" pitchFamily="49" charset="-122"/>
                </a:rPr>
                <a:t>虚拟段式管理</a:t>
              </a:r>
            </a:p>
            <a:p>
              <a:pPr algn="ctr" eaLnBrk="1" hangingPunct="1">
                <a:spcBef>
                  <a:spcPct val="0"/>
                </a:spcBef>
                <a:buFontTx/>
                <a:buNone/>
              </a:pPr>
              <a:r>
                <a:rPr kumimoji="0" lang="zh-CN" altLang="en-US" sz="1600" b="1" dirty="0">
                  <a:latin typeface="楷体" panose="02010609060101010101" pitchFamily="49" charset="-122"/>
                  <a:ea typeface="楷体" panose="02010609060101010101" pitchFamily="49" charset="-122"/>
                </a:rPr>
                <a:t>高速联想寄存器</a:t>
              </a:r>
              <a:endParaRPr kumimoji="0" lang="en-US" altLang="zh-CN" sz="1600" b="1" dirty="0">
                <a:latin typeface="楷体" panose="02010609060101010101" pitchFamily="49" charset="-122"/>
                <a:ea typeface="楷体" panose="02010609060101010101" pitchFamily="49" charset="-122"/>
              </a:endParaRPr>
            </a:p>
            <a:p>
              <a:pPr algn="ctr" eaLnBrk="1" hangingPunct="1">
                <a:spcBef>
                  <a:spcPct val="0"/>
                </a:spcBef>
                <a:buFontTx/>
                <a:buNone/>
              </a:pPr>
              <a:r>
                <a:rPr kumimoji="0" lang="zh-CN" altLang="en-US" sz="1600" b="1" dirty="0">
                  <a:latin typeface="楷体" panose="02010609060101010101" pitchFamily="49" charset="-122"/>
                  <a:ea typeface="楷体" panose="02010609060101010101" pitchFamily="49" charset="-122"/>
                </a:rPr>
                <a:t>页面淘汰算法</a:t>
              </a:r>
            </a:p>
            <a:p>
              <a:pPr algn="ctr" eaLnBrk="1" hangingPunct="1">
                <a:spcBef>
                  <a:spcPct val="0"/>
                </a:spcBef>
                <a:buFontTx/>
                <a:buNone/>
              </a:pPr>
              <a:r>
                <a:rPr kumimoji="0" lang="zh-CN" altLang="en-US" sz="1600" b="1" dirty="0">
                  <a:latin typeface="楷体" panose="02010609060101010101" pitchFamily="49" charset="-122"/>
                  <a:ea typeface="楷体" panose="02010609060101010101" pitchFamily="49" charset="-122"/>
                </a:rPr>
                <a:t>抖动问题</a:t>
              </a:r>
            </a:p>
            <a:p>
              <a:pPr algn="ctr" eaLnBrk="1" hangingPunct="1">
                <a:spcBef>
                  <a:spcPct val="0"/>
                </a:spcBef>
                <a:buFontTx/>
                <a:buNone/>
              </a:pPr>
              <a:r>
                <a:rPr kumimoji="0" lang="zh-CN" altLang="en-US" sz="1600" b="1" dirty="0">
                  <a:latin typeface="楷体" panose="02010609060101010101" pitchFamily="49" charset="-122"/>
                  <a:ea typeface="楷体" panose="02010609060101010101" pitchFamily="49" charset="-122"/>
                </a:rPr>
                <a:t>工作集模型</a:t>
              </a:r>
            </a:p>
          </p:txBody>
        </p:sp>
        <p:sp>
          <p:nvSpPr>
            <p:cNvPr id="10" name="Text Box 7"/>
            <p:cNvSpPr txBox="1">
              <a:spLocks noChangeArrowheads="1"/>
            </p:cNvSpPr>
            <p:nvPr/>
          </p:nvSpPr>
          <p:spPr bwMode="auto">
            <a:xfrm>
              <a:off x="546" y="2696"/>
              <a:ext cx="1270" cy="1072"/>
            </a:xfrm>
            <a:prstGeom prst="rect">
              <a:avLst/>
            </a:prstGeom>
            <a:solidFill>
              <a:srgbClr val="CCFFCC"/>
            </a:solidFill>
            <a:ln w="28575">
              <a:solidFill>
                <a:srgbClr val="0000CC"/>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zh-CN" altLang="en-US" sz="1600" b="1">
                  <a:latin typeface="楷体" panose="02010609060101010101" pitchFamily="49" charset="-122"/>
                  <a:ea typeface="楷体" panose="02010609060101010101" pitchFamily="49" charset="-122"/>
                </a:rPr>
                <a:t>用户程序划分</a:t>
              </a:r>
            </a:p>
            <a:p>
              <a:pPr algn="ctr" eaLnBrk="1" hangingPunct="1">
                <a:spcBef>
                  <a:spcPct val="0"/>
                </a:spcBef>
                <a:buFontTx/>
                <a:buNone/>
              </a:pPr>
              <a:r>
                <a:rPr kumimoji="0" lang="zh-CN" altLang="en-US" sz="1600" b="1">
                  <a:latin typeface="楷体" panose="02010609060101010101" pitchFamily="49" charset="-122"/>
                  <a:ea typeface="楷体" panose="02010609060101010101" pitchFamily="49" charset="-122"/>
                </a:rPr>
                <a:t>逻辑地址</a:t>
              </a:r>
            </a:p>
            <a:p>
              <a:pPr algn="ctr" eaLnBrk="1" hangingPunct="1">
                <a:spcBef>
                  <a:spcPct val="0"/>
                </a:spcBef>
                <a:buFontTx/>
                <a:buNone/>
              </a:pPr>
              <a:r>
                <a:rPr kumimoji="0" lang="zh-CN" altLang="en-US" sz="1600" b="1">
                  <a:latin typeface="楷体" panose="02010609060101010101" pitchFamily="49" charset="-122"/>
                  <a:ea typeface="楷体" panose="02010609060101010101" pitchFamily="49" charset="-122"/>
                </a:rPr>
                <a:t>内存空间划分</a:t>
              </a:r>
            </a:p>
            <a:p>
              <a:pPr algn="ctr" eaLnBrk="1" hangingPunct="1">
                <a:spcBef>
                  <a:spcPct val="0"/>
                </a:spcBef>
                <a:buFontTx/>
                <a:buNone/>
              </a:pPr>
              <a:r>
                <a:rPr kumimoji="0" lang="zh-CN" altLang="en-US" sz="1600" b="1">
                  <a:latin typeface="楷体" panose="02010609060101010101" pitchFamily="49" charset="-122"/>
                  <a:ea typeface="楷体" panose="02010609060101010101" pitchFamily="49" charset="-122"/>
                </a:rPr>
                <a:t>内存分配</a:t>
              </a:r>
            </a:p>
            <a:p>
              <a:pPr algn="ctr" eaLnBrk="1" hangingPunct="1">
                <a:spcBef>
                  <a:spcPct val="0"/>
                </a:spcBef>
                <a:buFontTx/>
                <a:buNone/>
              </a:pPr>
              <a:r>
                <a:rPr kumimoji="0" lang="zh-CN" altLang="en-US" sz="1600" b="1">
                  <a:latin typeface="楷体" panose="02010609060101010101" pitchFamily="49" charset="-122"/>
                  <a:ea typeface="楷体" panose="02010609060101010101" pitchFamily="49" charset="-122"/>
                </a:rPr>
                <a:t>管理考虑</a:t>
              </a:r>
            </a:p>
            <a:p>
              <a:pPr algn="ctr" eaLnBrk="1" hangingPunct="1">
                <a:spcBef>
                  <a:spcPct val="0"/>
                </a:spcBef>
                <a:buFontTx/>
                <a:buNone/>
              </a:pPr>
              <a:r>
                <a:rPr kumimoji="0" lang="zh-CN" altLang="en-US" sz="1600" b="1">
                  <a:latin typeface="楷体" panose="02010609060101010101" pitchFamily="49" charset="-122"/>
                  <a:ea typeface="楷体" panose="02010609060101010101" pitchFamily="49" charset="-122"/>
                </a:rPr>
                <a:t>硬件支持</a:t>
              </a:r>
            </a:p>
            <a:p>
              <a:pPr algn="ctr" eaLnBrk="1" hangingPunct="1">
                <a:spcBef>
                  <a:spcPct val="0"/>
                </a:spcBef>
                <a:buFontTx/>
                <a:buNone/>
              </a:pPr>
              <a:r>
                <a:rPr kumimoji="0" lang="zh-CN" altLang="en-US" sz="1600" b="1">
                  <a:latin typeface="楷体" panose="02010609060101010101" pitchFamily="49" charset="-122"/>
                  <a:ea typeface="楷体" panose="02010609060101010101" pitchFamily="49" charset="-122"/>
                </a:rPr>
                <a:t>地址映射过程</a:t>
              </a:r>
            </a:p>
          </p:txBody>
        </p:sp>
        <p:sp>
          <p:nvSpPr>
            <p:cNvPr id="11" name="Text Box 8"/>
            <p:cNvSpPr txBox="1">
              <a:spLocks noChangeArrowheads="1"/>
            </p:cNvSpPr>
            <p:nvPr/>
          </p:nvSpPr>
          <p:spPr bwMode="auto">
            <a:xfrm>
              <a:off x="4241" y="1490"/>
              <a:ext cx="1064" cy="398"/>
            </a:xfrm>
            <a:prstGeom prst="rect">
              <a:avLst/>
            </a:prstGeom>
            <a:solidFill>
              <a:srgbClr val="FFCCFF"/>
            </a:solidFill>
            <a:ln w="28575">
              <a:solidFill>
                <a:srgbClr val="0000CC"/>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zh-CN" altLang="en-US" sz="1800" b="1" dirty="0">
                  <a:latin typeface="楷体" panose="02010609060101010101" pitchFamily="49" charset="-122"/>
                  <a:ea typeface="楷体" panose="02010609060101010101" pitchFamily="49" charset="-122"/>
                </a:rPr>
                <a:t>交换技术</a:t>
              </a:r>
            </a:p>
            <a:p>
              <a:pPr algn="ctr" eaLnBrk="1" hangingPunct="1">
                <a:spcBef>
                  <a:spcPct val="0"/>
                </a:spcBef>
                <a:buFontTx/>
                <a:buNone/>
              </a:pPr>
              <a:r>
                <a:rPr kumimoji="0" lang="zh-CN" altLang="en-US" sz="1800" b="1" dirty="0">
                  <a:latin typeface="楷体" panose="02010609060101010101" pitchFamily="49" charset="-122"/>
                  <a:ea typeface="楷体" panose="02010609060101010101" pitchFamily="49" charset="-122"/>
                </a:rPr>
                <a:t>覆盖技术</a:t>
              </a:r>
            </a:p>
          </p:txBody>
        </p:sp>
        <p:sp>
          <p:nvSpPr>
            <p:cNvPr id="12" name="Line 9"/>
            <p:cNvSpPr>
              <a:spLocks noChangeShapeType="1"/>
            </p:cNvSpPr>
            <p:nvPr/>
          </p:nvSpPr>
          <p:spPr bwMode="auto">
            <a:xfrm>
              <a:off x="3197" y="2235"/>
              <a:ext cx="883" cy="289"/>
            </a:xfrm>
            <a:prstGeom prst="line">
              <a:avLst/>
            </a:prstGeom>
            <a:noFill/>
            <a:ln w="28575">
              <a:solidFill>
                <a:srgbClr val="0000CC"/>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楷体" panose="02010609060101010101" pitchFamily="49" charset="-122"/>
                <a:ea typeface="楷体" panose="02010609060101010101" pitchFamily="49" charset="-122"/>
              </a:endParaRPr>
            </a:p>
          </p:txBody>
        </p:sp>
        <p:sp>
          <p:nvSpPr>
            <p:cNvPr id="13" name="Line 10"/>
            <p:cNvSpPr>
              <a:spLocks noChangeShapeType="1"/>
            </p:cNvSpPr>
            <p:nvPr/>
          </p:nvSpPr>
          <p:spPr bwMode="auto">
            <a:xfrm>
              <a:off x="1128" y="1803"/>
              <a:ext cx="0" cy="187"/>
            </a:xfrm>
            <a:prstGeom prst="line">
              <a:avLst/>
            </a:prstGeom>
            <a:noFill/>
            <a:ln w="28575">
              <a:solidFill>
                <a:srgbClr val="0000CC"/>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楷体" panose="02010609060101010101" pitchFamily="49" charset="-122"/>
                <a:ea typeface="楷体" panose="02010609060101010101" pitchFamily="49" charset="-122"/>
              </a:endParaRPr>
            </a:p>
          </p:txBody>
        </p:sp>
        <p:sp>
          <p:nvSpPr>
            <p:cNvPr id="14" name="Line 11"/>
            <p:cNvSpPr>
              <a:spLocks noChangeShapeType="1"/>
            </p:cNvSpPr>
            <p:nvPr/>
          </p:nvSpPr>
          <p:spPr bwMode="auto">
            <a:xfrm flipV="1">
              <a:off x="1128" y="2524"/>
              <a:ext cx="6" cy="172"/>
            </a:xfrm>
            <a:prstGeom prst="line">
              <a:avLst/>
            </a:prstGeom>
            <a:noFill/>
            <a:ln w="28575">
              <a:solidFill>
                <a:srgbClr val="0000CC"/>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楷体" panose="02010609060101010101" pitchFamily="49" charset="-122"/>
                <a:ea typeface="楷体" panose="02010609060101010101" pitchFamily="49" charset="-122"/>
              </a:endParaRPr>
            </a:p>
          </p:txBody>
        </p:sp>
        <p:sp>
          <p:nvSpPr>
            <p:cNvPr id="15" name="Text Box 12"/>
            <p:cNvSpPr txBox="1">
              <a:spLocks noChangeArrowheads="1"/>
            </p:cNvSpPr>
            <p:nvPr/>
          </p:nvSpPr>
          <p:spPr bwMode="auto">
            <a:xfrm>
              <a:off x="1247" y="73"/>
              <a:ext cx="997" cy="862"/>
            </a:xfrm>
            <a:prstGeom prst="rect">
              <a:avLst/>
            </a:prstGeom>
            <a:solidFill>
              <a:srgbClr val="CCFFCC"/>
            </a:solidFill>
            <a:ln w="28575">
              <a:solidFill>
                <a:srgbClr val="0000CC"/>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30000"/>
                </a:spcBef>
                <a:buFontTx/>
                <a:buNone/>
              </a:pPr>
              <a:r>
                <a:rPr kumimoji="0" lang="zh-CN" altLang="en-US" sz="1600" b="1" dirty="0">
                  <a:latin typeface="楷体" panose="02010609060101010101" pitchFamily="49" charset="-122"/>
                  <a:ea typeface="楷体" panose="02010609060101010101" pitchFamily="49" charset="-122"/>
                </a:rPr>
                <a:t>高速缓存</a:t>
              </a:r>
            </a:p>
            <a:p>
              <a:pPr algn="ctr" eaLnBrk="1" hangingPunct="1">
                <a:spcBef>
                  <a:spcPct val="0"/>
                </a:spcBef>
                <a:buFontTx/>
                <a:buNone/>
              </a:pPr>
              <a:r>
                <a:rPr kumimoji="0" lang="zh-CN" altLang="en-US" sz="1600" b="1" dirty="0">
                  <a:latin typeface="楷体" panose="02010609060101010101" pitchFamily="49" charset="-122"/>
                  <a:ea typeface="楷体" panose="02010609060101010101" pitchFamily="49" charset="-122"/>
                </a:rPr>
                <a:t>内存</a:t>
              </a:r>
            </a:p>
            <a:p>
              <a:pPr algn="ctr" eaLnBrk="1" hangingPunct="1">
                <a:spcBef>
                  <a:spcPct val="0"/>
                </a:spcBef>
                <a:buFontTx/>
                <a:buNone/>
              </a:pPr>
              <a:r>
                <a:rPr kumimoji="0" lang="zh-CN" altLang="en-US" sz="1600" b="1" dirty="0">
                  <a:latin typeface="楷体" panose="02010609060101010101" pitchFamily="49" charset="-122"/>
                  <a:ea typeface="楷体" panose="02010609060101010101" pitchFamily="49" charset="-122"/>
                </a:rPr>
                <a:t>磁盘</a:t>
              </a:r>
            </a:p>
            <a:p>
              <a:pPr algn="ctr" eaLnBrk="1" hangingPunct="1">
                <a:spcBef>
                  <a:spcPct val="0"/>
                </a:spcBef>
                <a:buFontTx/>
                <a:buNone/>
              </a:pPr>
              <a:r>
                <a:rPr kumimoji="0" lang="zh-CN" altLang="en-US" sz="1600" b="1" dirty="0">
                  <a:latin typeface="楷体" panose="02010609060101010101" pitchFamily="49" charset="-122"/>
                  <a:ea typeface="楷体" panose="02010609060101010101" pitchFamily="49" charset="-122"/>
                </a:rPr>
                <a:t>系统区</a:t>
              </a:r>
            </a:p>
            <a:p>
              <a:pPr algn="ctr" eaLnBrk="1" hangingPunct="1">
                <a:spcBef>
                  <a:spcPct val="0"/>
                </a:spcBef>
                <a:buFontTx/>
                <a:buNone/>
              </a:pPr>
              <a:r>
                <a:rPr kumimoji="0" lang="zh-CN" altLang="en-US" sz="1600" b="1" dirty="0">
                  <a:latin typeface="楷体" panose="02010609060101010101" pitchFamily="49" charset="-122"/>
                  <a:ea typeface="楷体" panose="02010609060101010101" pitchFamily="49" charset="-122"/>
                </a:rPr>
                <a:t>用户区</a:t>
              </a:r>
            </a:p>
          </p:txBody>
        </p:sp>
        <p:sp>
          <p:nvSpPr>
            <p:cNvPr id="16" name="Text Box 13"/>
            <p:cNvSpPr txBox="1">
              <a:spLocks noChangeArrowheads="1"/>
            </p:cNvSpPr>
            <p:nvPr/>
          </p:nvSpPr>
          <p:spPr bwMode="auto">
            <a:xfrm>
              <a:off x="2698" y="73"/>
              <a:ext cx="1148" cy="862"/>
            </a:xfrm>
            <a:prstGeom prst="rect">
              <a:avLst/>
            </a:prstGeom>
            <a:solidFill>
              <a:srgbClr val="CCFFCC"/>
            </a:solidFill>
            <a:ln w="28575">
              <a:solidFill>
                <a:srgbClr val="0000CC"/>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zh-CN" altLang="en-US" sz="1600" b="1" dirty="0">
                  <a:latin typeface="楷体" panose="02010609060101010101" pitchFamily="49" charset="-122"/>
                  <a:ea typeface="楷体" panose="02010609060101010101" pitchFamily="49" charset="-122"/>
                </a:rPr>
                <a:t>内存管理分配回收</a:t>
              </a:r>
            </a:p>
            <a:p>
              <a:pPr algn="ctr" eaLnBrk="1" hangingPunct="1">
                <a:spcBef>
                  <a:spcPct val="0"/>
                </a:spcBef>
                <a:buFontTx/>
                <a:buNone/>
              </a:pPr>
              <a:r>
                <a:rPr kumimoji="0" lang="zh-CN" altLang="en-US" sz="1600" b="1" dirty="0">
                  <a:latin typeface="楷体" panose="02010609060101010101" pitchFamily="49" charset="-122"/>
                  <a:ea typeface="楷体" panose="02010609060101010101" pitchFamily="49" charset="-122"/>
                </a:rPr>
                <a:t>存储共享</a:t>
              </a:r>
            </a:p>
            <a:p>
              <a:pPr algn="ctr" eaLnBrk="1" hangingPunct="1">
                <a:spcBef>
                  <a:spcPct val="0"/>
                </a:spcBef>
                <a:buFontTx/>
                <a:buNone/>
              </a:pPr>
              <a:r>
                <a:rPr kumimoji="0" lang="zh-CN" altLang="en-US" sz="1600" b="1" dirty="0">
                  <a:latin typeface="楷体" panose="02010609060101010101" pitchFamily="49" charset="-122"/>
                  <a:ea typeface="楷体" panose="02010609060101010101" pitchFamily="49" charset="-122"/>
                </a:rPr>
                <a:t>存储保护</a:t>
              </a:r>
            </a:p>
            <a:p>
              <a:pPr algn="ctr" eaLnBrk="1" hangingPunct="1">
                <a:spcBef>
                  <a:spcPct val="0"/>
                </a:spcBef>
                <a:buFontTx/>
                <a:buNone/>
              </a:pPr>
              <a:r>
                <a:rPr kumimoji="0" lang="zh-CN" altLang="en-US" sz="1600" b="1" dirty="0">
                  <a:latin typeface="楷体" panose="02010609060101010101" pitchFamily="49" charset="-122"/>
                  <a:ea typeface="楷体" panose="02010609060101010101" pitchFamily="49" charset="-122"/>
                </a:rPr>
                <a:t>内存扩充</a:t>
              </a:r>
            </a:p>
            <a:p>
              <a:pPr algn="ctr" eaLnBrk="1" hangingPunct="1">
                <a:spcBef>
                  <a:spcPct val="0"/>
                </a:spcBef>
                <a:buFontTx/>
                <a:buNone/>
              </a:pPr>
              <a:r>
                <a:rPr kumimoji="0" lang="zh-CN" altLang="en-US" sz="1600" b="1" dirty="0">
                  <a:latin typeface="楷体" panose="02010609060101010101" pitchFamily="49" charset="-122"/>
                  <a:ea typeface="楷体" panose="02010609060101010101" pitchFamily="49" charset="-122"/>
                </a:rPr>
                <a:t>地址映射</a:t>
              </a:r>
            </a:p>
          </p:txBody>
        </p:sp>
        <p:sp>
          <p:nvSpPr>
            <p:cNvPr id="17" name="Text Box 14"/>
            <p:cNvSpPr txBox="1">
              <a:spLocks noChangeArrowheads="1"/>
            </p:cNvSpPr>
            <p:nvPr/>
          </p:nvSpPr>
          <p:spPr bwMode="auto">
            <a:xfrm>
              <a:off x="1226" y="1101"/>
              <a:ext cx="1037" cy="236"/>
            </a:xfrm>
            <a:prstGeom prst="rect">
              <a:avLst/>
            </a:prstGeom>
            <a:solidFill>
              <a:srgbClr val="FFCCFF"/>
            </a:solidFill>
            <a:ln w="28575">
              <a:solidFill>
                <a:srgbClr val="0000CC"/>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zh-CN" altLang="en-US" sz="1800" b="1" dirty="0">
                  <a:latin typeface="楷体" panose="02010609060101010101" pitchFamily="49" charset="-122"/>
                  <a:ea typeface="楷体" panose="02010609060101010101" pitchFamily="49" charset="-122"/>
                </a:rPr>
                <a:t>存储体系结构</a:t>
              </a:r>
            </a:p>
          </p:txBody>
        </p:sp>
        <p:sp>
          <p:nvSpPr>
            <p:cNvPr id="18" name="Text Box 15"/>
            <p:cNvSpPr txBox="1">
              <a:spLocks noChangeArrowheads="1"/>
            </p:cNvSpPr>
            <p:nvPr/>
          </p:nvSpPr>
          <p:spPr bwMode="auto">
            <a:xfrm>
              <a:off x="2716" y="1101"/>
              <a:ext cx="1043" cy="236"/>
            </a:xfrm>
            <a:prstGeom prst="rect">
              <a:avLst/>
            </a:prstGeom>
            <a:solidFill>
              <a:srgbClr val="FFCCFF"/>
            </a:solidFill>
            <a:ln w="28575">
              <a:solidFill>
                <a:srgbClr val="0000CC"/>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zh-CN" altLang="en-US" sz="1800" b="1">
                  <a:latin typeface="楷体" panose="02010609060101010101" pitchFamily="49" charset="-122"/>
                  <a:ea typeface="楷体" panose="02010609060101010101" pitchFamily="49" charset="-122"/>
                </a:rPr>
                <a:t>存储管理任务</a:t>
              </a:r>
            </a:p>
          </p:txBody>
        </p:sp>
        <p:sp>
          <p:nvSpPr>
            <p:cNvPr id="19" name="Text Box 16"/>
            <p:cNvSpPr txBox="1">
              <a:spLocks noChangeArrowheads="1"/>
            </p:cNvSpPr>
            <p:nvPr/>
          </p:nvSpPr>
          <p:spPr bwMode="auto">
            <a:xfrm>
              <a:off x="585" y="1570"/>
              <a:ext cx="1074" cy="236"/>
            </a:xfrm>
            <a:prstGeom prst="rect">
              <a:avLst/>
            </a:prstGeom>
            <a:solidFill>
              <a:srgbClr val="FFCCFF"/>
            </a:solidFill>
            <a:ln w="28575">
              <a:solidFill>
                <a:srgbClr val="0000CC"/>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zh-CN" altLang="en-US" sz="1800" b="1" dirty="0">
                  <a:latin typeface="楷体" panose="02010609060101010101" pitchFamily="49" charset="-122"/>
                  <a:ea typeface="楷体" panose="02010609060101010101" pitchFamily="49" charset="-122"/>
                </a:rPr>
                <a:t>存储管理机制</a:t>
              </a:r>
            </a:p>
          </p:txBody>
        </p:sp>
        <p:sp>
          <p:nvSpPr>
            <p:cNvPr id="20" name="Text Box 17"/>
            <p:cNvSpPr txBox="1">
              <a:spLocks noChangeArrowheads="1"/>
            </p:cNvSpPr>
            <p:nvPr/>
          </p:nvSpPr>
          <p:spPr bwMode="auto">
            <a:xfrm>
              <a:off x="2698" y="2105"/>
              <a:ext cx="1011" cy="234"/>
            </a:xfrm>
            <a:prstGeom prst="rect">
              <a:avLst/>
            </a:prstGeom>
            <a:solidFill>
              <a:srgbClr val="FFCCFF"/>
            </a:solidFill>
            <a:ln w="28575">
              <a:solidFill>
                <a:srgbClr val="0000CC"/>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zh-CN" altLang="en-US" sz="1800" b="1">
                  <a:latin typeface="楷体" panose="02010609060101010101" pitchFamily="49" charset="-122"/>
                  <a:ea typeface="楷体" panose="02010609060101010101" pitchFamily="49" charset="-122"/>
                </a:rPr>
                <a:t>虚拟存储管理</a:t>
              </a:r>
            </a:p>
          </p:txBody>
        </p:sp>
        <p:sp>
          <p:nvSpPr>
            <p:cNvPr id="21" name="Text Box 18"/>
            <p:cNvSpPr txBox="1">
              <a:spLocks noChangeArrowheads="1"/>
            </p:cNvSpPr>
            <p:nvPr/>
          </p:nvSpPr>
          <p:spPr bwMode="auto">
            <a:xfrm>
              <a:off x="3197" y="1587"/>
              <a:ext cx="759" cy="210"/>
            </a:xfrm>
            <a:prstGeom prst="rect">
              <a:avLst/>
            </a:prstGeom>
            <a:solidFill>
              <a:srgbClr val="FFCCFF"/>
            </a:solidFill>
            <a:ln w="28575">
              <a:solidFill>
                <a:srgbClr val="0000CC"/>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zh-CN" altLang="en-US" sz="1800" b="1">
                  <a:latin typeface="楷体" panose="02010609060101010101" pitchFamily="49" charset="-122"/>
                  <a:ea typeface="楷体" panose="02010609060101010101" pitchFamily="49" charset="-122"/>
                </a:rPr>
                <a:t>其他</a:t>
              </a:r>
            </a:p>
          </p:txBody>
        </p:sp>
        <p:sp>
          <p:nvSpPr>
            <p:cNvPr id="22" name="Line 19"/>
            <p:cNvSpPr>
              <a:spLocks noChangeShapeType="1"/>
            </p:cNvSpPr>
            <p:nvPr/>
          </p:nvSpPr>
          <p:spPr bwMode="auto">
            <a:xfrm>
              <a:off x="1746" y="1328"/>
              <a:ext cx="544" cy="227"/>
            </a:xfrm>
            <a:prstGeom prst="line">
              <a:avLst/>
            </a:prstGeom>
            <a:noFill/>
            <a:ln w="28575">
              <a:solidFill>
                <a:srgbClr val="0000CC"/>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楷体" panose="02010609060101010101" pitchFamily="49" charset="-122"/>
                <a:ea typeface="楷体" panose="02010609060101010101" pitchFamily="49" charset="-122"/>
              </a:endParaRPr>
            </a:p>
          </p:txBody>
        </p:sp>
        <p:sp>
          <p:nvSpPr>
            <p:cNvPr id="23" name="Line 20"/>
            <p:cNvSpPr>
              <a:spLocks noChangeShapeType="1"/>
            </p:cNvSpPr>
            <p:nvPr/>
          </p:nvSpPr>
          <p:spPr bwMode="auto">
            <a:xfrm flipH="1">
              <a:off x="2698" y="1328"/>
              <a:ext cx="454" cy="227"/>
            </a:xfrm>
            <a:prstGeom prst="line">
              <a:avLst/>
            </a:prstGeom>
            <a:noFill/>
            <a:ln w="28575">
              <a:solidFill>
                <a:srgbClr val="0000CC"/>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楷体" panose="02010609060101010101" pitchFamily="49" charset="-122"/>
                <a:ea typeface="楷体" panose="02010609060101010101" pitchFamily="49" charset="-122"/>
              </a:endParaRPr>
            </a:p>
          </p:txBody>
        </p:sp>
        <p:sp>
          <p:nvSpPr>
            <p:cNvPr id="24" name="Line 21"/>
            <p:cNvSpPr>
              <a:spLocks noChangeShapeType="1"/>
            </p:cNvSpPr>
            <p:nvPr/>
          </p:nvSpPr>
          <p:spPr bwMode="auto">
            <a:xfrm>
              <a:off x="1659" y="1691"/>
              <a:ext cx="450" cy="12"/>
            </a:xfrm>
            <a:prstGeom prst="line">
              <a:avLst/>
            </a:prstGeom>
            <a:noFill/>
            <a:ln w="28575">
              <a:solidFill>
                <a:srgbClr val="0000CC"/>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楷体" panose="02010609060101010101" pitchFamily="49" charset="-122"/>
                <a:ea typeface="楷体" panose="02010609060101010101" pitchFamily="49" charset="-122"/>
              </a:endParaRPr>
            </a:p>
          </p:txBody>
        </p:sp>
        <p:sp>
          <p:nvSpPr>
            <p:cNvPr id="25" name="Line 22"/>
            <p:cNvSpPr>
              <a:spLocks noChangeShapeType="1"/>
            </p:cNvSpPr>
            <p:nvPr/>
          </p:nvSpPr>
          <p:spPr bwMode="auto">
            <a:xfrm flipH="1" flipV="1">
              <a:off x="2716" y="1832"/>
              <a:ext cx="482" cy="283"/>
            </a:xfrm>
            <a:prstGeom prst="line">
              <a:avLst/>
            </a:prstGeom>
            <a:noFill/>
            <a:ln w="28575">
              <a:solidFill>
                <a:srgbClr val="0000CC"/>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楷体" panose="02010609060101010101" pitchFamily="49" charset="-122"/>
                <a:ea typeface="楷体" panose="02010609060101010101" pitchFamily="49" charset="-122"/>
              </a:endParaRPr>
            </a:p>
          </p:txBody>
        </p:sp>
        <p:sp>
          <p:nvSpPr>
            <p:cNvPr id="26" name="Line 23"/>
            <p:cNvSpPr>
              <a:spLocks noChangeShapeType="1"/>
            </p:cNvSpPr>
            <p:nvPr/>
          </p:nvSpPr>
          <p:spPr bwMode="auto">
            <a:xfrm>
              <a:off x="2788" y="1691"/>
              <a:ext cx="409" cy="0"/>
            </a:xfrm>
            <a:prstGeom prst="line">
              <a:avLst/>
            </a:prstGeom>
            <a:noFill/>
            <a:ln w="28575">
              <a:solidFill>
                <a:srgbClr val="0000CC"/>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楷体" panose="02010609060101010101" pitchFamily="49" charset="-122"/>
                <a:ea typeface="楷体" panose="02010609060101010101" pitchFamily="49" charset="-122"/>
              </a:endParaRPr>
            </a:p>
          </p:txBody>
        </p:sp>
        <p:sp>
          <p:nvSpPr>
            <p:cNvPr id="27" name="Line 24"/>
            <p:cNvSpPr>
              <a:spLocks noChangeShapeType="1"/>
            </p:cNvSpPr>
            <p:nvPr/>
          </p:nvSpPr>
          <p:spPr bwMode="auto">
            <a:xfrm>
              <a:off x="1746" y="920"/>
              <a:ext cx="0" cy="151"/>
            </a:xfrm>
            <a:prstGeom prst="line">
              <a:avLst/>
            </a:prstGeom>
            <a:noFill/>
            <a:ln w="28575">
              <a:solidFill>
                <a:srgbClr val="0000CC"/>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楷体" panose="02010609060101010101" pitchFamily="49" charset="-122"/>
                <a:ea typeface="楷体" panose="02010609060101010101" pitchFamily="49" charset="-122"/>
              </a:endParaRPr>
            </a:p>
          </p:txBody>
        </p:sp>
        <p:sp>
          <p:nvSpPr>
            <p:cNvPr id="28" name="Line 25"/>
            <p:cNvSpPr>
              <a:spLocks noChangeShapeType="1"/>
            </p:cNvSpPr>
            <p:nvPr/>
          </p:nvSpPr>
          <p:spPr bwMode="auto">
            <a:xfrm>
              <a:off x="3197" y="931"/>
              <a:ext cx="0" cy="170"/>
            </a:xfrm>
            <a:prstGeom prst="line">
              <a:avLst/>
            </a:prstGeom>
            <a:noFill/>
            <a:ln w="28575">
              <a:solidFill>
                <a:srgbClr val="0000CC"/>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楷体" panose="02010609060101010101" pitchFamily="49" charset="-122"/>
                <a:ea typeface="楷体" panose="02010609060101010101" pitchFamily="49" charset="-122"/>
              </a:endParaRPr>
            </a:p>
          </p:txBody>
        </p:sp>
        <p:sp>
          <p:nvSpPr>
            <p:cNvPr id="29" name="Line 26"/>
            <p:cNvSpPr>
              <a:spLocks noChangeShapeType="1"/>
            </p:cNvSpPr>
            <p:nvPr/>
          </p:nvSpPr>
          <p:spPr bwMode="auto">
            <a:xfrm>
              <a:off x="3968" y="1691"/>
              <a:ext cx="272"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latin typeface="楷体" panose="02010609060101010101" pitchFamily="49" charset="-122"/>
                <a:ea typeface="楷体" panose="02010609060101010101" pitchFamily="49" charset="-122"/>
              </a:endParaRPr>
            </a:p>
          </p:txBody>
        </p:sp>
        <p:sp>
          <p:nvSpPr>
            <p:cNvPr id="30" name="AutoShape 27"/>
            <p:cNvSpPr>
              <a:spLocks noChangeArrowheads="1"/>
            </p:cNvSpPr>
            <p:nvPr/>
          </p:nvSpPr>
          <p:spPr bwMode="auto">
            <a:xfrm>
              <a:off x="2109" y="1389"/>
              <a:ext cx="726" cy="635"/>
            </a:xfrm>
            <a:prstGeom prst="hexagon">
              <a:avLst>
                <a:gd name="adj" fmla="val 28583"/>
                <a:gd name="vf" fmla="val 115470"/>
              </a:avLst>
            </a:prstGeom>
            <a:solidFill>
              <a:srgbClr val="FFFF99"/>
            </a:solidFill>
            <a:ln w="28575">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zh-CN" altLang="en-US" sz="1800" b="1">
                  <a:latin typeface="楷体" panose="02010609060101010101" pitchFamily="49" charset="-122"/>
                  <a:ea typeface="楷体" panose="02010609060101010101" pitchFamily="49" charset="-122"/>
                </a:rPr>
                <a:t>存储</a:t>
              </a:r>
            </a:p>
            <a:p>
              <a:pPr algn="ctr" eaLnBrk="1" hangingPunct="1">
                <a:spcBef>
                  <a:spcPct val="0"/>
                </a:spcBef>
                <a:buFontTx/>
                <a:buNone/>
              </a:pPr>
              <a:r>
                <a:rPr kumimoji="0" lang="zh-CN" altLang="en-US" sz="1800" b="1">
                  <a:latin typeface="楷体" panose="02010609060101010101" pitchFamily="49" charset="-122"/>
                  <a:ea typeface="楷体" panose="02010609060101010101" pitchFamily="49" charset="-122"/>
                </a:rPr>
                <a:t>管理</a:t>
              </a:r>
            </a:p>
          </p:txBody>
        </p:sp>
      </p:grpSp>
    </p:spTree>
    <p:extLst>
      <p:ext uri="{BB962C8B-B14F-4D97-AF65-F5344CB8AC3E}">
        <p14:creationId xmlns:p14="http://schemas.microsoft.com/office/powerpoint/2010/main" val="2657567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1"/>
          </p:nvPr>
        </p:nvSpPr>
        <p:spPr/>
        <p:txBody>
          <a:bodyPr>
            <a:normAutofit/>
          </a:bodyPr>
          <a:lstStyle/>
          <a:p>
            <a:pPr>
              <a:defRPr/>
            </a:pPr>
            <a:fld id="{F1D89CC5-1E91-4B07-A49D-F0591162D17E}" type="slidenum">
              <a:rPr lang="zh-CN" altLang="en-US" smtClean="0"/>
              <a:pPr>
                <a:defRPr/>
              </a:pPr>
              <a:t>138</a:t>
            </a:fld>
            <a:endParaRPr lang="en-US" altLang="zh-CN"/>
          </a:p>
        </p:txBody>
      </p:sp>
      <p:sp>
        <p:nvSpPr>
          <p:cNvPr id="293890" name="Text Box 15"/>
          <p:cNvSpPr txBox="1">
            <a:spLocks noChangeArrowheads="1"/>
          </p:cNvSpPr>
          <p:nvPr/>
        </p:nvSpPr>
        <p:spPr bwMode="auto">
          <a:xfrm>
            <a:off x="304800" y="2781300"/>
            <a:ext cx="8839200" cy="1016000"/>
          </a:xfrm>
          <a:prstGeom prst="rect">
            <a:avLst/>
          </a:prstGeom>
          <a:noFill/>
          <a:ln w="9525">
            <a:noFill/>
            <a:miter lim="800000"/>
          </a:ln>
        </p:spPr>
        <p:txBody>
          <a:bodyPr>
            <a:spAutoFit/>
          </a:bodyPr>
          <a:lstStyle/>
          <a:p>
            <a:pPr algn="ctr"/>
            <a:r>
              <a:rPr lang="zh-CN" altLang="en-US" sz="6000">
                <a:solidFill>
                  <a:srgbClr val="3737C3"/>
                </a:solidFill>
                <a:latin typeface="华文新魏" panose="02010800040101010101" charset="-122"/>
                <a:ea typeface="华文新魏" panose="02010800040101010101" charset="-122"/>
                <a:cs typeface="华文新魏" panose="02010800040101010101" charset="-122"/>
              </a:rPr>
              <a:t>谢谢！</a:t>
            </a:r>
            <a:endParaRPr lang="en-US" altLang="zh-CN" sz="6000">
              <a:solidFill>
                <a:srgbClr val="3737C3"/>
              </a:solidFill>
              <a:latin typeface="华文新魏" panose="02010800040101010101" charset="-122"/>
              <a:ea typeface="华文新魏" panose="02010800040101010101" charset="-122"/>
              <a:cs typeface="华文新魏" panose="02010800040101010101" charset="-122"/>
            </a:endParaRPr>
          </a:p>
        </p:txBody>
      </p:sp>
      <p:sp>
        <p:nvSpPr>
          <p:cNvPr id="6" name="Rectangle 5"/>
          <p:cNvSpPr/>
          <p:nvPr/>
        </p:nvSpPr>
        <p:spPr>
          <a:xfrm>
            <a:off x="8172450" y="-26988"/>
            <a:ext cx="958850" cy="89535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pic>
        <p:nvPicPr>
          <p:cNvPr id="293892" name="Picture 6"/>
          <p:cNvPicPr>
            <a:picLocks noChangeAspect="1"/>
          </p:cNvPicPr>
          <p:nvPr/>
        </p:nvPicPr>
        <p:blipFill>
          <a:blip r:embed="rId3" cstate="print"/>
          <a:srcRect/>
          <a:stretch>
            <a:fillRect/>
          </a:stretch>
        </p:blipFill>
        <p:spPr bwMode="auto">
          <a:xfrm>
            <a:off x="6372225" y="188913"/>
            <a:ext cx="2622550" cy="646112"/>
          </a:xfrm>
          <a:prstGeom prst="rect">
            <a:avLst/>
          </a:prstGeom>
          <a:noFill/>
          <a:ln w="9525">
            <a:noFill/>
            <a:miter lim="800000"/>
            <a:headEnd/>
            <a:tailEnd/>
          </a:ln>
        </p:spPr>
      </p:pic>
    </p:spTree>
    <p:extLst>
      <p:ext uri="{BB962C8B-B14F-4D97-AF65-F5344CB8AC3E}">
        <p14:creationId xmlns:p14="http://schemas.microsoft.com/office/powerpoint/2010/main" val="3660872675"/>
      </p:ext>
    </p:extLst>
  </p:cSld>
  <p:clrMapOvr>
    <a:masterClrMapping/>
  </p:clrMapOvr>
  <p:transition advTm="3985"/>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作业</a:t>
            </a:r>
            <a:r>
              <a:rPr lang="zh-CN" altLang="en-US" dirty="0" smtClean="0"/>
              <a:t>（</a:t>
            </a:r>
            <a:r>
              <a:rPr lang="en-US" altLang="zh-CN" dirty="0" smtClean="0"/>
              <a:t>1</a:t>
            </a:r>
            <a:r>
              <a:rPr lang="zh-CN" altLang="en-US" dirty="0" smtClean="0"/>
              <a:t>）</a:t>
            </a:r>
            <a:endParaRPr lang="zh-CN" altLang="en-US" dirty="0"/>
          </a:p>
        </p:txBody>
      </p:sp>
      <p:sp>
        <p:nvSpPr>
          <p:cNvPr id="4" name="Date Placeholder 3"/>
          <p:cNvSpPr>
            <a:spLocks noGrp="1"/>
          </p:cNvSpPr>
          <p:nvPr>
            <p:ph type="dt" sz="half" idx="10"/>
          </p:nvPr>
        </p:nvSpPr>
        <p:spPr/>
        <p:txBody>
          <a:bodyPr/>
          <a:lstStyle/>
          <a:p>
            <a:fld id="{FA7D7962-A19C-4324-A97C-369451B078D2}"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139</a:t>
            </a:fld>
            <a:endParaRPr lang="zh-CN" altLang="en-US" dirty="0"/>
          </a:p>
        </p:txBody>
      </p:sp>
      <p:sp>
        <p:nvSpPr>
          <p:cNvPr id="7" name="Text Box 82"/>
          <p:cNvSpPr txBox="1">
            <a:spLocks noChangeArrowheads="1"/>
          </p:cNvSpPr>
          <p:nvPr/>
        </p:nvSpPr>
        <p:spPr bwMode="auto">
          <a:xfrm>
            <a:off x="683568" y="1412776"/>
            <a:ext cx="7620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dirty="0"/>
              <a:t>    4       3       2       1      4       3       5      4       3      2       1      5</a:t>
            </a:r>
          </a:p>
        </p:txBody>
      </p:sp>
      <p:grpSp>
        <p:nvGrpSpPr>
          <p:cNvPr id="8" name="Group 83"/>
          <p:cNvGrpSpPr>
            <a:grpSpLocks/>
          </p:cNvGrpSpPr>
          <p:nvPr/>
        </p:nvGrpSpPr>
        <p:grpSpPr bwMode="auto">
          <a:xfrm>
            <a:off x="5212706" y="1869976"/>
            <a:ext cx="457200" cy="1295400"/>
            <a:chOff x="1440" y="2784"/>
            <a:chExt cx="288" cy="816"/>
          </a:xfrm>
        </p:grpSpPr>
        <p:sp>
          <p:nvSpPr>
            <p:cNvPr id="9" name="Rectangle 84"/>
            <p:cNvSpPr>
              <a:spLocks noChangeArrowheads="1"/>
            </p:cNvSpPr>
            <p:nvPr/>
          </p:nvSpPr>
          <p:spPr bwMode="auto">
            <a:xfrm>
              <a:off x="1440" y="2784"/>
              <a:ext cx="288" cy="81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b="1"/>
                <a:t>5</a:t>
              </a:r>
            </a:p>
            <a:p>
              <a:pPr algn="ctr"/>
              <a:r>
                <a:rPr lang="zh-CN" altLang="en-US" sz="2400" b="1"/>
                <a:t>4</a:t>
              </a:r>
            </a:p>
            <a:p>
              <a:pPr algn="ctr"/>
              <a:r>
                <a:rPr lang="zh-CN" altLang="en-US" sz="2400" b="1"/>
                <a:t>3</a:t>
              </a:r>
            </a:p>
          </p:txBody>
        </p:sp>
        <p:sp>
          <p:nvSpPr>
            <p:cNvPr id="10" name="Line 85"/>
            <p:cNvSpPr>
              <a:spLocks noChangeShapeType="1"/>
            </p:cNvSpPr>
            <p:nvPr/>
          </p:nvSpPr>
          <p:spPr bwMode="auto">
            <a:xfrm>
              <a:off x="1440" y="3072"/>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11" name="Line 86"/>
            <p:cNvSpPr>
              <a:spLocks noChangeShapeType="1"/>
            </p:cNvSpPr>
            <p:nvPr/>
          </p:nvSpPr>
          <p:spPr bwMode="auto">
            <a:xfrm>
              <a:off x="1440" y="3321"/>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grpSp>
      <p:grpSp>
        <p:nvGrpSpPr>
          <p:cNvPr id="12" name="Group 87"/>
          <p:cNvGrpSpPr>
            <a:grpSpLocks/>
          </p:cNvGrpSpPr>
          <p:nvPr/>
        </p:nvGrpSpPr>
        <p:grpSpPr bwMode="auto">
          <a:xfrm>
            <a:off x="916931" y="1879501"/>
            <a:ext cx="457200" cy="1590675"/>
            <a:chOff x="675" y="2790"/>
            <a:chExt cx="288" cy="1002"/>
          </a:xfrm>
        </p:grpSpPr>
        <p:grpSp>
          <p:nvGrpSpPr>
            <p:cNvPr id="13" name="Group 88"/>
            <p:cNvGrpSpPr>
              <a:grpSpLocks/>
            </p:cNvGrpSpPr>
            <p:nvPr/>
          </p:nvGrpSpPr>
          <p:grpSpPr bwMode="auto">
            <a:xfrm>
              <a:off x="675" y="2790"/>
              <a:ext cx="288" cy="816"/>
              <a:chOff x="1104" y="2790"/>
              <a:chExt cx="288" cy="816"/>
            </a:xfrm>
          </p:grpSpPr>
          <p:sp>
            <p:nvSpPr>
              <p:cNvPr id="15" name="Rectangle 89"/>
              <p:cNvSpPr>
                <a:spLocks noChangeArrowheads="1"/>
              </p:cNvSpPr>
              <p:nvPr/>
            </p:nvSpPr>
            <p:spPr bwMode="auto">
              <a:xfrm>
                <a:off x="1104" y="2790"/>
                <a:ext cx="288" cy="81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b="1"/>
                  <a:t>4</a:t>
                </a:r>
              </a:p>
              <a:p>
                <a:pPr algn="ctr"/>
                <a:endParaRPr lang="zh-CN" altLang="en-US" sz="2400" b="1"/>
              </a:p>
              <a:p>
                <a:pPr algn="ctr"/>
                <a:endParaRPr lang="zh-CN" altLang="en-US" sz="2400" b="1"/>
              </a:p>
            </p:txBody>
          </p:sp>
          <p:sp>
            <p:nvSpPr>
              <p:cNvPr id="16" name="Line 90"/>
              <p:cNvSpPr>
                <a:spLocks noChangeShapeType="1"/>
              </p:cNvSpPr>
              <p:nvPr/>
            </p:nvSpPr>
            <p:spPr bwMode="auto">
              <a:xfrm>
                <a:off x="1104" y="3078"/>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17" name="Line 91"/>
              <p:cNvSpPr>
                <a:spLocks noChangeShapeType="1"/>
              </p:cNvSpPr>
              <p:nvPr/>
            </p:nvSpPr>
            <p:spPr bwMode="auto">
              <a:xfrm>
                <a:off x="1104" y="3327"/>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grpSp>
        <p:sp>
          <p:nvSpPr>
            <p:cNvPr id="14" name="Oval 92"/>
            <p:cNvSpPr>
              <a:spLocks noChangeArrowheads="1"/>
            </p:cNvSpPr>
            <p:nvPr/>
          </p:nvSpPr>
          <p:spPr bwMode="auto">
            <a:xfrm>
              <a:off x="768" y="3696"/>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grpSp>
      <p:grpSp>
        <p:nvGrpSpPr>
          <p:cNvPr id="18" name="Group 93"/>
          <p:cNvGrpSpPr>
            <a:grpSpLocks/>
          </p:cNvGrpSpPr>
          <p:nvPr/>
        </p:nvGrpSpPr>
        <p:grpSpPr bwMode="auto">
          <a:xfrm>
            <a:off x="1521768" y="1869976"/>
            <a:ext cx="457200" cy="1614488"/>
            <a:chOff x="1056" y="2784"/>
            <a:chExt cx="288" cy="1017"/>
          </a:xfrm>
        </p:grpSpPr>
        <p:grpSp>
          <p:nvGrpSpPr>
            <p:cNvPr id="19" name="Group 94"/>
            <p:cNvGrpSpPr>
              <a:grpSpLocks/>
            </p:cNvGrpSpPr>
            <p:nvPr/>
          </p:nvGrpSpPr>
          <p:grpSpPr bwMode="auto">
            <a:xfrm>
              <a:off x="1056" y="2784"/>
              <a:ext cx="288" cy="816"/>
              <a:chOff x="1440" y="2784"/>
              <a:chExt cx="288" cy="816"/>
            </a:xfrm>
          </p:grpSpPr>
          <p:sp>
            <p:nvSpPr>
              <p:cNvPr id="21" name="Rectangle 95"/>
              <p:cNvSpPr>
                <a:spLocks noChangeArrowheads="1"/>
              </p:cNvSpPr>
              <p:nvPr/>
            </p:nvSpPr>
            <p:spPr bwMode="auto">
              <a:xfrm>
                <a:off x="1440" y="2784"/>
                <a:ext cx="288" cy="81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b="1"/>
                  <a:t>4</a:t>
                </a:r>
              </a:p>
              <a:p>
                <a:pPr algn="ctr"/>
                <a:r>
                  <a:rPr lang="zh-CN" altLang="en-US" sz="2400" b="1"/>
                  <a:t>3</a:t>
                </a:r>
              </a:p>
              <a:p>
                <a:pPr algn="ctr"/>
                <a:endParaRPr lang="zh-CN" altLang="en-US" sz="2400" b="1"/>
              </a:p>
            </p:txBody>
          </p:sp>
          <p:sp>
            <p:nvSpPr>
              <p:cNvPr id="22" name="Line 96"/>
              <p:cNvSpPr>
                <a:spLocks noChangeShapeType="1"/>
              </p:cNvSpPr>
              <p:nvPr/>
            </p:nvSpPr>
            <p:spPr bwMode="auto">
              <a:xfrm>
                <a:off x="1440" y="3072"/>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23" name="Line 97"/>
              <p:cNvSpPr>
                <a:spLocks noChangeShapeType="1"/>
              </p:cNvSpPr>
              <p:nvPr/>
            </p:nvSpPr>
            <p:spPr bwMode="auto">
              <a:xfrm>
                <a:off x="1440" y="3321"/>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grpSp>
        <p:sp>
          <p:nvSpPr>
            <p:cNvPr id="20" name="Oval 98"/>
            <p:cNvSpPr>
              <a:spLocks noChangeArrowheads="1"/>
            </p:cNvSpPr>
            <p:nvPr/>
          </p:nvSpPr>
          <p:spPr bwMode="auto">
            <a:xfrm>
              <a:off x="1152" y="3705"/>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grpSp>
      <p:grpSp>
        <p:nvGrpSpPr>
          <p:cNvPr id="24" name="Group 99"/>
          <p:cNvGrpSpPr>
            <a:grpSpLocks/>
          </p:cNvGrpSpPr>
          <p:nvPr/>
        </p:nvGrpSpPr>
        <p:grpSpPr bwMode="auto">
          <a:xfrm>
            <a:off x="2145656" y="1869976"/>
            <a:ext cx="457200" cy="1614488"/>
            <a:chOff x="1449" y="2784"/>
            <a:chExt cx="288" cy="1017"/>
          </a:xfrm>
        </p:grpSpPr>
        <p:grpSp>
          <p:nvGrpSpPr>
            <p:cNvPr id="25" name="Group 100"/>
            <p:cNvGrpSpPr>
              <a:grpSpLocks/>
            </p:cNvGrpSpPr>
            <p:nvPr/>
          </p:nvGrpSpPr>
          <p:grpSpPr bwMode="auto">
            <a:xfrm>
              <a:off x="1449" y="2784"/>
              <a:ext cx="288" cy="816"/>
              <a:chOff x="1440" y="2784"/>
              <a:chExt cx="288" cy="816"/>
            </a:xfrm>
          </p:grpSpPr>
          <p:sp>
            <p:nvSpPr>
              <p:cNvPr id="27" name="Rectangle 101"/>
              <p:cNvSpPr>
                <a:spLocks noChangeArrowheads="1"/>
              </p:cNvSpPr>
              <p:nvPr/>
            </p:nvSpPr>
            <p:spPr bwMode="auto">
              <a:xfrm>
                <a:off x="1440" y="2784"/>
                <a:ext cx="288" cy="81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b="1"/>
                  <a:t>4</a:t>
                </a:r>
              </a:p>
              <a:p>
                <a:pPr algn="ctr"/>
                <a:r>
                  <a:rPr lang="zh-CN" altLang="en-US" sz="2400" b="1"/>
                  <a:t>3</a:t>
                </a:r>
              </a:p>
              <a:p>
                <a:pPr algn="ctr"/>
                <a:r>
                  <a:rPr lang="zh-CN" altLang="en-US" sz="2400" b="1"/>
                  <a:t>2</a:t>
                </a:r>
              </a:p>
            </p:txBody>
          </p:sp>
          <p:sp>
            <p:nvSpPr>
              <p:cNvPr id="28" name="Line 102"/>
              <p:cNvSpPr>
                <a:spLocks noChangeShapeType="1"/>
              </p:cNvSpPr>
              <p:nvPr/>
            </p:nvSpPr>
            <p:spPr bwMode="auto">
              <a:xfrm>
                <a:off x="1440" y="3072"/>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29" name="Line 103"/>
              <p:cNvSpPr>
                <a:spLocks noChangeShapeType="1"/>
              </p:cNvSpPr>
              <p:nvPr/>
            </p:nvSpPr>
            <p:spPr bwMode="auto">
              <a:xfrm>
                <a:off x="1440" y="3321"/>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grpSp>
        <p:sp>
          <p:nvSpPr>
            <p:cNvPr id="26" name="Oval 104"/>
            <p:cNvSpPr>
              <a:spLocks noChangeArrowheads="1"/>
            </p:cNvSpPr>
            <p:nvPr/>
          </p:nvSpPr>
          <p:spPr bwMode="auto">
            <a:xfrm>
              <a:off x="1545" y="3705"/>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grpSp>
      <p:grpSp>
        <p:nvGrpSpPr>
          <p:cNvPr id="30" name="Group 105"/>
          <p:cNvGrpSpPr>
            <a:grpSpLocks/>
          </p:cNvGrpSpPr>
          <p:nvPr/>
        </p:nvGrpSpPr>
        <p:grpSpPr bwMode="auto">
          <a:xfrm>
            <a:off x="2755256" y="1869976"/>
            <a:ext cx="457200" cy="1600200"/>
            <a:chOff x="1833" y="2784"/>
            <a:chExt cx="288" cy="1008"/>
          </a:xfrm>
        </p:grpSpPr>
        <p:grpSp>
          <p:nvGrpSpPr>
            <p:cNvPr id="31" name="Group 106"/>
            <p:cNvGrpSpPr>
              <a:grpSpLocks/>
            </p:cNvGrpSpPr>
            <p:nvPr/>
          </p:nvGrpSpPr>
          <p:grpSpPr bwMode="auto">
            <a:xfrm>
              <a:off x="1833" y="2784"/>
              <a:ext cx="288" cy="816"/>
              <a:chOff x="1440" y="2784"/>
              <a:chExt cx="288" cy="816"/>
            </a:xfrm>
          </p:grpSpPr>
          <p:sp>
            <p:nvSpPr>
              <p:cNvPr id="33" name="Rectangle 107"/>
              <p:cNvSpPr>
                <a:spLocks noChangeArrowheads="1"/>
              </p:cNvSpPr>
              <p:nvPr/>
            </p:nvSpPr>
            <p:spPr bwMode="auto">
              <a:xfrm>
                <a:off x="1440" y="2784"/>
                <a:ext cx="288" cy="81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b="1"/>
                  <a:t>1</a:t>
                </a:r>
              </a:p>
              <a:p>
                <a:pPr algn="ctr"/>
                <a:r>
                  <a:rPr lang="zh-CN" altLang="en-US" sz="2400" b="1"/>
                  <a:t>3</a:t>
                </a:r>
              </a:p>
              <a:p>
                <a:pPr algn="ctr"/>
                <a:r>
                  <a:rPr lang="zh-CN" altLang="en-US" sz="2400" b="1"/>
                  <a:t>2</a:t>
                </a:r>
              </a:p>
            </p:txBody>
          </p:sp>
          <p:sp>
            <p:nvSpPr>
              <p:cNvPr id="34" name="Line 108"/>
              <p:cNvSpPr>
                <a:spLocks noChangeShapeType="1"/>
              </p:cNvSpPr>
              <p:nvPr/>
            </p:nvSpPr>
            <p:spPr bwMode="auto">
              <a:xfrm>
                <a:off x="1440" y="3072"/>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35" name="Line 109"/>
              <p:cNvSpPr>
                <a:spLocks noChangeShapeType="1"/>
              </p:cNvSpPr>
              <p:nvPr/>
            </p:nvSpPr>
            <p:spPr bwMode="auto">
              <a:xfrm>
                <a:off x="1440" y="3321"/>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grpSp>
        <p:sp>
          <p:nvSpPr>
            <p:cNvPr id="32" name="Oval 110"/>
            <p:cNvSpPr>
              <a:spLocks noChangeArrowheads="1"/>
            </p:cNvSpPr>
            <p:nvPr/>
          </p:nvSpPr>
          <p:spPr bwMode="auto">
            <a:xfrm>
              <a:off x="1929" y="3696"/>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grpSp>
      <p:grpSp>
        <p:nvGrpSpPr>
          <p:cNvPr id="36" name="Group 111"/>
          <p:cNvGrpSpPr>
            <a:grpSpLocks/>
          </p:cNvGrpSpPr>
          <p:nvPr/>
        </p:nvGrpSpPr>
        <p:grpSpPr bwMode="auto">
          <a:xfrm>
            <a:off x="3350568" y="1869976"/>
            <a:ext cx="457200" cy="1600200"/>
            <a:chOff x="2208" y="2784"/>
            <a:chExt cx="288" cy="1008"/>
          </a:xfrm>
        </p:grpSpPr>
        <p:grpSp>
          <p:nvGrpSpPr>
            <p:cNvPr id="37" name="Group 112"/>
            <p:cNvGrpSpPr>
              <a:grpSpLocks/>
            </p:cNvGrpSpPr>
            <p:nvPr/>
          </p:nvGrpSpPr>
          <p:grpSpPr bwMode="auto">
            <a:xfrm>
              <a:off x="2208" y="2784"/>
              <a:ext cx="288" cy="816"/>
              <a:chOff x="1440" y="2784"/>
              <a:chExt cx="288" cy="816"/>
            </a:xfrm>
          </p:grpSpPr>
          <p:sp>
            <p:nvSpPr>
              <p:cNvPr id="39" name="Rectangle 113"/>
              <p:cNvSpPr>
                <a:spLocks noChangeArrowheads="1"/>
              </p:cNvSpPr>
              <p:nvPr/>
            </p:nvSpPr>
            <p:spPr bwMode="auto">
              <a:xfrm>
                <a:off x="1440" y="2784"/>
                <a:ext cx="288" cy="81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b="1"/>
                  <a:t>1</a:t>
                </a:r>
              </a:p>
              <a:p>
                <a:pPr algn="ctr"/>
                <a:r>
                  <a:rPr lang="zh-CN" altLang="en-US" sz="2400" b="1"/>
                  <a:t>4</a:t>
                </a:r>
              </a:p>
              <a:p>
                <a:pPr algn="ctr"/>
                <a:r>
                  <a:rPr lang="zh-CN" altLang="en-US" sz="2400" b="1"/>
                  <a:t>2</a:t>
                </a:r>
              </a:p>
            </p:txBody>
          </p:sp>
          <p:sp>
            <p:nvSpPr>
              <p:cNvPr id="40" name="Line 114"/>
              <p:cNvSpPr>
                <a:spLocks noChangeShapeType="1"/>
              </p:cNvSpPr>
              <p:nvPr/>
            </p:nvSpPr>
            <p:spPr bwMode="auto">
              <a:xfrm>
                <a:off x="1440" y="3072"/>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41" name="Line 115"/>
              <p:cNvSpPr>
                <a:spLocks noChangeShapeType="1"/>
              </p:cNvSpPr>
              <p:nvPr/>
            </p:nvSpPr>
            <p:spPr bwMode="auto">
              <a:xfrm>
                <a:off x="1440" y="3321"/>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grpSp>
        <p:sp>
          <p:nvSpPr>
            <p:cNvPr id="38" name="Oval 116"/>
            <p:cNvSpPr>
              <a:spLocks noChangeArrowheads="1"/>
            </p:cNvSpPr>
            <p:nvPr/>
          </p:nvSpPr>
          <p:spPr bwMode="auto">
            <a:xfrm>
              <a:off x="2304" y="3696"/>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grpSp>
      <p:grpSp>
        <p:nvGrpSpPr>
          <p:cNvPr id="42" name="Group 117"/>
          <p:cNvGrpSpPr>
            <a:grpSpLocks/>
          </p:cNvGrpSpPr>
          <p:nvPr/>
        </p:nvGrpSpPr>
        <p:grpSpPr bwMode="auto">
          <a:xfrm>
            <a:off x="3988743" y="1869976"/>
            <a:ext cx="457200" cy="1600200"/>
            <a:chOff x="2610" y="2784"/>
            <a:chExt cx="288" cy="1008"/>
          </a:xfrm>
        </p:grpSpPr>
        <p:grpSp>
          <p:nvGrpSpPr>
            <p:cNvPr id="43" name="Group 118"/>
            <p:cNvGrpSpPr>
              <a:grpSpLocks/>
            </p:cNvGrpSpPr>
            <p:nvPr/>
          </p:nvGrpSpPr>
          <p:grpSpPr bwMode="auto">
            <a:xfrm>
              <a:off x="2610" y="2784"/>
              <a:ext cx="288" cy="816"/>
              <a:chOff x="1440" y="2784"/>
              <a:chExt cx="288" cy="816"/>
            </a:xfrm>
          </p:grpSpPr>
          <p:sp>
            <p:nvSpPr>
              <p:cNvPr id="45" name="Rectangle 119"/>
              <p:cNvSpPr>
                <a:spLocks noChangeArrowheads="1"/>
              </p:cNvSpPr>
              <p:nvPr/>
            </p:nvSpPr>
            <p:spPr bwMode="auto">
              <a:xfrm>
                <a:off x="1440" y="2784"/>
                <a:ext cx="288" cy="81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b="1"/>
                  <a:t>1</a:t>
                </a:r>
              </a:p>
              <a:p>
                <a:pPr algn="ctr"/>
                <a:r>
                  <a:rPr lang="zh-CN" altLang="en-US" sz="2400" b="1"/>
                  <a:t>4</a:t>
                </a:r>
              </a:p>
              <a:p>
                <a:pPr algn="ctr"/>
                <a:r>
                  <a:rPr lang="zh-CN" altLang="en-US" sz="2400" b="1"/>
                  <a:t>3</a:t>
                </a:r>
              </a:p>
            </p:txBody>
          </p:sp>
          <p:sp>
            <p:nvSpPr>
              <p:cNvPr id="46" name="Line 120"/>
              <p:cNvSpPr>
                <a:spLocks noChangeShapeType="1"/>
              </p:cNvSpPr>
              <p:nvPr/>
            </p:nvSpPr>
            <p:spPr bwMode="auto">
              <a:xfrm>
                <a:off x="1440" y="3072"/>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47" name="Line 121"/>
              <p:cNvSpPr>
                <a:spLocks noChangeShapeType="1"/>
              </p:cNvSpPr>
              <p:nvPr/>
            </p:nvSpPr>
            <p:spPr bwMode="auto">
              <a:xfrm>
                <a:off x="1440" y="3321"/>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grpSp>
        <p:sp>
          <p:nvSpPr>
            <p:cNvPr id="44" name="Oval 122"/>
            <p:cNvSpPr>
              <a:spLocks noChangeArrowheads="1"/>
            </p:cNvSpPr>
            <p:nvPr/>
          </p:nvSpPr>
          <p:spPr bwMode="auto">
            <a:xfrm>
              <a:off x="2715" y="3696"/>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grpSp>
      <p:grpSp>
        <p:nvGrpSpPr>
          <p:cNvPr id="48" name="Group 123"/>
          <p:cNvGrpSpPr>
            <a:grpSpLocks/>
          </p:cNvGrpSpPr>
          <p:nvPr/>
        </p:nvGrpSpPr>
        <p:grpSpPr bwMode="auto">
          <a:xfrm>
            <a:off x="4584056" y="1869976"/>
            <a:ext cx="457200" cy="1600200"/>
            <a:chOff x="2985" y="2784"/>
            <a:chExt cx="288" cy="1008"/>
          </a:xfrm>
        </p:grpSpPr>
        <p:grpSp>
          <p:nvGrpSpPr>
            <p:cNvPr id="49" name="Group 124"/>
            <p:cNvGrpSpPr>
              <a:grpSpLocks/>
            </p:cNvGrpSpPr>
            <p:nvPr/>
          </p:nvGrpSpPr>
          <p:grpSpPr bwMode="auto">
            <a:xfrm>
              <a:off x="2985" y="2784"/>
              <a:ext cx="288" cy="816"/>
              <a:chOff x="1440" y="2784"/>
              <a:chExt cx="288" cy="816"/>
            </a:xfrm>
          </p:grpSpPr>
          <p:sp>
            <p:nvSpPr>
              <p:cNvPr id="51" name="Rectangle 125"/>
              <p:cNvSpPr>
                <a:spLocks noChangeArrowheads="1"/>
              </p:cNvSpPr>
              <p:nvPr/>
            </p:nvSpPr>
            <p:spPr bwMode="auto">
              <a:xfrm>
                <a:off x="1440" y="2784"/>
                <a:ext cx="288" cy="81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b="1"/>
                  <a:t>5</a:t>
                </a:r>
              </a:p>
              <a:p>
                <a:pPr algn="ctr"/>
                <a:r>
                  <a:rPr lang="zh-CN" altLang="en-US" sz="2400" b="1"/>
                  <a:t>4</a:t>
                </a:r>
              </a:p>
              <a:p>
                <a:pPr algn="ctr"/>
                <a:r>
                  <a:rPr lang="zh-CN" altLang="en-US" sz="2400" b="1"/>
                  <a:t>3</a:t>
                </a:r>
              </a:p>
            </p:txBody>
          </p:sp>
          <p:sp>
            <p:nvSpPr>
              <p:cNvPr id="52" name="Line 126"/>
              <p:cNvSpPr>
                <a:spLocks noChangeShapeType="1"/>
              </p:cNvSpPr>
              <p:nvPr/>
            </p:nvSpPr>
            <p:spPr bwMode="auto">
              <a:xfrm>
                <a:off x="1440" y="3072"/>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53" name="Line 127"/>
              <p:cNvSpPr>
                <a:spLocks noChangeShapeType="1"/>
              </p:cNvSpPr>
              <p:nvPr/>
            </p:nvSpPr>
            <p:spPr bwMode="auto">
              <a:xfrm>
                <a:off x="1440" y="3321"/>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grpSp>
        <p:sp>
          <p:nvSpPr>
            <p:cNvPr id="50" name="Oval 128"/>
            <p:cNvSpPr>
              <a:spLocks noChangeArrowheads="1"/>
            </p:cNvSpPr>
            <p:nvPr/>
          </p:nvSpPr>
          <p:spPr bwMode="auto">
            <a:xfrm>
              <a:off x="3081" y="3696"/>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grpSp>
      <p:grpSp>
        <p:nvGrpSpPr>
          <p:cNvPr id="54" name="Group 129"/>
          <p:cNvGrpSpPr>
            <a:grpSpLocks/>
          </p:cNvGrpSpPr>
          <p:nvPr/>
        </p:nvGrpSpPr>
        <p:grpSpPr bwMode="auto">
          <a:xfrm>
            <a:off x="5808018" y="1869976"/>
            <a:ext cx="457200" cy="1295400"/>
            <a:chOff x="1440" y="2784"/>
            <a:chExt cx="288" cy="816"/>
          </a:xfrm>
        </p:grpSpPr>
        <p:sp>
          <p:nvSpPr>
            <p:cNvPr id="55" name="Rectangle 130"/>
            <p:cNvSpPr>
              <a:spLocks noChangeArrowheads="1"/>
            </p:cNvSpPr>
            <p:nvPr/>
          </p:nvSpPr>
          <p:spPr bwMode="auto">
            <a:xfrm>
              <a:off x="1440" y="2784"/>
              <a:ext cx="288" cy="81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b="1"/>
                <a:t>5</a:t>
              </a:r>
            </a:p>
            <a:p>
              <a:pPr algn="ctr"/>
              <a:r>
                <a:rPr lang="zh-CN" altLang="en-US" sz="2400" b="1"/>
                <a:t>4</a:t>
              </a:r>
            </a:p>
            <a:p>
              <a:pPr algn="ctr"/>
              <a:r>
                <a:rPr lang="zh-CN" altLang="en-US" sz="2400" b="1"/>
                <a:t>3</a:t>
              </a:r>
            </a:p>
          </p:txBody>
        </p:sp>
        <p:sp>
          <p:nvSpPr>
            <p:cNvPr id="56" name="Line 131"/>
            <p:cNvSpPr>
              <a:spLocks noChangeShapeType="1"/>
            </p:cNvSpPr>
            <p:nvPr/>
          </p:nvSpPr>
          <p:spPr bwMode="auto">
            <a:xfrm>
              <a:off x="1440" y="3072"/>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57" name="Line 132"/>
            <p:cNvSpPr>
              <a:spLocks noChangeShapeType="1"/>
            </p:cNvSpPr>
            <p:nvPr/>
          </p:nvSpPr>
          <p:spPr bwMode="auto">
            <a:xfrm>
              <a:off x="1440" y="3321"/>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grpSp>
      <p:grpSp>
        <p:nvGrpSpPr>
          <p:cNvPr id="58" name="Group 133"/>
          <p:cNvGrpSpPr>
            <a:grpSpLocks/>
          </p:cNvGrpSpPr>
          <p:nvPr/>
        </p:nvGrpSpPr>
        <p:grpSpPr bwMode="auto">
          <a:xfrm>
            <a:off x="6403331" y="1869976"/>
            <a:ext cx="457200" cy="1571625"/>
            <a:chOff x="4131" y="2784"/>
            <a:chExt cx="288" cy="990"/>
          </a:xfrm>
        </p:grpSpPr>
        <p:grpSp>
          <p:nvGrpSpPr>
            <p:cNvPr id="59" name="Group 134"/>
            <p:cNvGrpSpPr>
              <a:grpSpLocks/>
            </p:cNvGrpSpPr>
            <p:nvPr/>
          </p:nvGrpSpPr>
          <p:grpSpPr bwMode="auto">
            <a:xfrm>
              <a:off x="4131" y="2784"/>
              <a:ext cx="288" cy="816"/>
              <a:chOff x="1440" y="2784"/>
              <a:chExt cx="288" cy="816"/>
            </a:xfrm>
          </p:grpSpPr>
          <p:sp>
            <p:nvSpPr>
              <p:cNvPr id="61" name="Rectangle 135"/>
              <p:cNvSpPr>
                <a:spLocks noChangeArrowheads="1"/>
              </p:cNvSpPr>
              <p:nvPr/>
            </p:nvSpPr>
            <p:spPr bwMode="auto">
              <a:xfrm>
                <a:off x="1440" y="2784"/>
                <a:ext cx="288" cy="81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b="1"/>
                  <a:t>2</a:t>
                </a:r>
              </a:p>
              <a:p>
                <a:pPr algn="ctr"/>
                <a:r>
                  <a:rPr lang="zh-CN" altLang="en-US" sz="2400" b="1"/>
                  <a:t>4</a:t>
                </a:r>
              </a:p>
              <a:p>
                <a:pPr algn="ctr"/>
                <a:r>
                  <a:rPr lang="zh-CN" altLang="en-US" sz="2400" b="1"/>
                  <a:t>3</a:t>
                </a:r>
              </a:p>
            </p:txBody>
          </p:sp>
          <p:sp>
            <p:nvSpPr>
              <p:cNvPr id="62" name="Line 136"/>
              <p:cNvSpPr>
                <a:spLocks noChangeShapeType="1"/>
              </p:cNvSpPr>
              <p:nvPr/>
            </p:nvSpPr>
            <p:spPr bwMode="auto">
              <a:xfrm>
                <a:off x="1440" y="3072"/>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63" name="Line 137"/>
              <p:cNvSpPr>
                <a:spLocks noChangeShapeType="1"/>
              </p:cNvSpPr>
              <p:nvPr/>
            </p:nvSpPr>
            <p:spPr bwMode="auto">
              <a:xfrm>
                <a:off x="1440" y="3321"/>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grpSp>
        <p:sp>
          <p:nvSpPr>
            <p:cNvPr id="60" name="Oval 138"/>
            <p:cNvSpPr>
              <a:spLocks noChangeArrowheads="1"/>
            </p:cNvSpPr>
            <p:nvPr/>
          </p:nvSpPr>
          <p:spPr bwMode="auto">
            <a:xfrm>
              <a:off x="4242" y="3678"/>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grpSp>
      <p:grpSp>
        <p:nvGrpSpPr>
          <p:cNvPr id="64" name="Group 139"/>
          <p:cNvGrpSpPr>
            <a:grpSpLocks/>
          </p:cNvGrpSpPr>
          <p:nvPr/>
        </p:nvGrpSpPr>
        <p:grpSpPr bwMode="auto">
          <a:xfrm>
            <a:off x="7036743" y="1869976"/>
            <a:ext cx="457200" cy="1571625"/>
            <a:chOff x="4530" y="2784"/>
            <a:chExt cx="288" cy="990"/>
          </a:xfrm>
        </p:grpSpPr>
        <p:grpSp>
          <p:nvGrpSpPr>
            <p:cNvPr id="65" name="Group 140"/>
            <p:cNvGrpSpPr>
              <a:grpSpLocks/>
            </p:cNvGrpSpPr>
            <p:nvPr/>
          </p:nvGrpSpPr>
          <p:grpSpPr bwMode="auto">
            <a:xfrm>
              <a:off x="4530" y="2784"/>
              <a:ext cx="288" cy="816"/>
              <a:chOff x="1440" y="2784"/>
              <a:chExt cx="288" cy="816"/>
            </a:xfrm>
          </p:grpSpPr>
          <p:sp>
            <p:nvSpPr>
              <p:cNvPr id="67" name="Rectangle 141"/>
              <p:cNvSpPr>
                <a:spLocks noChangeArrowheads="1"/>
              </p:cNvSpPr>
              <p:nvPr/>
            </p:nvSpPr>
            <p:spPr bwMode="auto">
              <a:xfrm>
                <a:off x="1440" y="2784"/>
                <a:ext cx="288" cy="81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b="1"/>
                  <a:t>2</a:t>
                </a:r>
              </a:p>
              <a:p>
                <a:pPr algn="ctr"/>
                <a:r>
                  <a:rPr lang="zh-CN" altLang="en-US" sz="2400" b="1"/>
                  <a:t>1</a:t>
                </a:r>
              </a:p>
              <a:p>
                <a:pPr algn="ctr"/>
                <a:r>
                  <a:rPr lang="zh-CN" altLang="en-US" sz="2400" b="1"/>
                  <a:t>3</a:t>
                </a:r>
              </a:p>
            </p:txBody>
          </p:sp>
          <p:sp>
            <p:nvSpPr>
              <p:cNvPr id="68" name="Line 142"/>
              <p:cNvSpPr>
                <a:spLocks noChangeShapeType="1"/>
              </p:cNvSpPr>
              <p:nvPr/>
            </p:nvSpPr>
            <p:spPr bwMode="auto">
              <a:xfrm>
                <a:off x="1440" y="3072"/>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69" name="Line 143"/>
              <p:cNvSpPr>
                <a:spLocks noChangeShapeType="1"/>
              </p:cNvSpPr>
              <p:nvPr/>
            </p:nvSpPr>
            <p:spPr bwMode="auto">
              <a:xfrm>
                <a:off x="1440" y="3321"/>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grpSp>
        <p:sp>
          <p:nvSpPr>
            <p:cNvPr id="66" name="Oval 144"/>
            <p:cNvSpPr>
              <a:spLocks noChangeArrowheads="1"/>
            </p:cNvSpPr>
            <p:nvPr/>
          </p:nvSpPr>
          <p:spPr bwMode="auto">
            <a:xfrm>
              <a:off x="4644" y="3678"/>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grpSp>
      <p:grpSp>
        <p:nvGrpSpPr>
          <p:cNvPr id="70" name="Group 145"/>
          <p:cNvGrpSpPr>
            <a:grpSpLocks/>
          </p:cNvGrpSpPr>
          <p:nvPr/>
        </p:nvGrpSpPr>
        <p:grpSpPr bwMode="auto">
          <a:xfrm>
            <a:off x="7632056" y="1869976"/>
            <a:ext cx="457200" cy="1585913"/>
            <a:chOff x="4905" y="2784"/>
            <a:chExt cx="288" cy="999"/>
          </a:xfrm>
        </p:grpSpPr>
        <p:grpSp>
          <p:nvGrpSpPr>
            <p:cNvPr id="71" name="Group 146"/>
            <p:cNvGrpSpPr>
              <a:grpSpLocks/>
            </p:cNvGrpSpPr>
            <p:nvPr/>
          </p:nvGrpSpPr>
          <p:grpSpPr bwMode="auto">
            <a:xfrm>
              <a:off x="4905" y="2784"/>
              <a:ext cx="288" cy="816"/>
              <a:chOff x="1440" y="2784"/>
              <a:chExt cx="288" cy="816"/>
            </a:xfrm>
          </p:grpSpPr>
          <p:sp>
            <p:nvSpPr>
              <p:cNvPr id="73" name="Rectangle 147"/>
              <p:cNvSpPr>
                <a:spLocks noChangeArrowheads="1"/>
              </p:cNvSpPr>
              <p:nvPr/>
            </p:nvSpPr>
            <p:spPr bwMode="auto">
              <a:xfrm>
                <a:off x="1440" y="2784"/>
                <a:ext cx="288" cy="81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b="1"/>
                  <a:t>2</a:t>
                </a:r>
              </a:p>
              <a:p>
                <a:pPr algn="ctr"/>
                <a:r>
                  <a:rPr lang="zh-CN" altLang="en-US" sz="2400" b="1"/>
                  <a:t>1</a:t>
                </a:r>
              </a:p>
              <a:p>
                <a:pPr algn="ctr"/>
                <a:r>
                  <a:rPr lang="zh-CN" altLang="en-US" sz="2400" b="1"/>
                  <a:t>5</a:t>
                </a:r>
              </a:p>
            </p:txBody>
          </p:sp>
          <p:sp>
            <p:nvSpPr>
              <p:cNvPr id="74" name="Line 148"/>
              <p:cNvSpPr>
                <a:spLocks noChangeShapeType="1"/>
              </p:cNvSpPr>
              <p:nvPr/>
            </p:nvSpPr>
            <p:spPr bwMode="auto">
              <a:xfrm>
                <a:off x="1440" y="3072"/>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75" name="Line 149"/>
              <p:cNvSpPr>
                <a:spLocks noChangeShapeType="1"/>
              </p:cNvSpPr>
              <p:nvPr/>
            </p:nvSpPr>
            <p:spPr bwMode="auto">
              <a:xfrm>
                <a:off x="1440" y="3321"/>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grpSp>
        <p:sp>
          <p:nvSpPr>
            <p:cNvPr id="72" name="Oval 150"/>
            <p:cNvSpPr>
              <a:spLocks noChangeArrowheads="1"/>
            </p:cNvSpPr>
            <p:nvPr/>
          </p:nvSpPr>
          <p:spPr bwMode="auto">
            <a:xfrm>
              <a:off x="5040" y="3687"/>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grpSp>
      <p:sp>
        <p:nvSpPr>
          <p:cNvPr id="76" name="Text Box 4"/>
          <p:cNvSpPr txBox="1">
            <a:spLocks noChangeArrowheads="1"/>
          </p:cNvSpPr>
          <p:nvPr/>
        </p:nvSpPr>
        <p:spPr bwMode="auto">
          <a:xfrm>
            <a:off x="683568" y="4091136"/>
            <a:ext cx="7620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dirty="0"/>
              <a:t>    4       3       2       1       4      3       5      4       3       2      1       5</a:t>
            </a:r>
          </a:p>
        </p:txBody>
      </p:sp>
      <p:grpSp>
        <p:nvGrpSpPr>
          <p:cNvPr id="77" name="Group 6"/>
          <p:cNvGrpSpPr>
            <a:grpSpLocks/>
          </p:cNvGrpSpPr>
          <p:nvPr/>
        </p:nvGrpSpPr>
        <p:grpSpPr bwMode="auto">
          <a:xfrm>
            <a:off x="3350568" y="4548336"/>
            <a:ext cx="533400" cy="1676400"/>
            <a:chOff x="624" y="2640"/>
            <a:chExt cx="384" cy="1056"/>
          </a:xfrm>
        </p:grpSpPr>
        <p:sp>
          <p:nvSpPr>
            <p:cNvPr id="78" name="Rectangle 7"/>
            <p:cNvSpPr>
              <a:spLocks noChangeArrowheads="1"/>
            </p:cNvSpPr>
            <p:nvPr/>
          </p:nvSpPr>
          <p:spPr bwMode="auto">
            <a:xfrm>
              <a:off x="624" y="2640"/>
              <a:ext cx="384" cy="105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b="1"/>
                <a:t>4</a:t>
              </a:r>
            </a:p>
            <a:p>
              <a:pPr algn="ctr"/>
              <a:r>
                <a:rPr lang="zh-CN" altLang="en-US" sz="2400" b="1"/>
                <a:t>3</a:t>
              </a:r>
            </a:p>
            <a:p>
              <a:pPr algn="ctr"/>
              <a:r>
                <a:rPr lang="zh-CN" altLang="en-US" sz="2400" b="1"/>
                <a:t>2</a:t>
              </a:r>
            </a:p>
            <a:p>
              <a:pPr algn="ctr"/>
              <a:r>
                <a:rPr lang="zh-CN" altLang="en-US" sz="2400" b="1"/>
                <a:t>1</a:t>
              </a:r>
            </a:p>
          </p:txBody>
        </p:sp>
        <p:sp>
          <p:nvSpPr>
            <p:cNvPr id="79" name="Line 8"/>
            <p:cNvSpPr>
              <a:spLocks noChangeShapeType="1"/>
            </p:cNvSpPr>
            <p:nvPr/>
          </p:nvSpPr>
          <p:spPr bwMode="auto">
            <a:xfrm>
              <a:off x="624" y="3177"/>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80" name="Line 9"/>
            <p:cNvSpPr>
              <a:spLocks noChangeShapeType="1"/>
            </p:cNvSpPr>
            <p:nvPr/>
          </p:nvSpPr>
          <p:spPr bwMode="auto">
            <a:xfrm>
              <a:off x="624" y="2928"/>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81" name="Line 10"/>
            <p:cNvSpPr>
              <a:spLocks noChangeShapeType="1"/>
            </p:cNvSpPr>
            <p:nvPr/>
          </p:nvSpPr>
          <p:spPr bwMode="auto">
            <a:xfrm>
              <a:off x="624" y="3426"/>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grpSp>
      <p:grpSp>
        <p:nvGrpSpPr>
          <p:cNvPr id="82" name="Group 11"/>
          <p:cNvGrpSpPr>
            <a:grpSpLocks/>
          </p:cNvGrpSpPr>
          <p:nvPr/>
        </p:nvGrpSpPr>
        <p:grpSpPr bwMode="auto">
          <a:xfrm>
            <a:off x="3945881" y="4548336"/>
            <a:ext cx="533400" cy="1676400"/>
            <a:chOff x="624" y="2640"/>
            <a:chExt cx="384" cy="1056"/>
          </a:xfrm>
        </p:grpSpPr>
        <p:sp>
          <p:nvSpPr>
            <p:cNvPr id="83" name="Rectangle 12"/>
            <p:cNvSpPr>
              <a:spLocks noChangeArrowheads="1"/>
            </p:cNvSpPr>
            <p:nvPr/>
          </p:nvSpPr>
          <p:spPr bwMode="auto">
            <a:xfrm>
              <a:off x="624" y="2640"/>
              <a:ext cx="384" cy="105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b="1"/>
                <a:t>4</a:t>
              </a:r>
            </a:p>
            <a:p>
              <a:pPr algn="ctr"/>
              <a:r>
                <a:rPr lang="zh-CN" altLang="en-US" sz="2400" b="1"/>
                <a:t>3</a:t>
              </a:r>
            </a:p>
            <a:p>
              <a:pPr algn="ctr"/>
              <a:r>
                <a:rPr lang="zh-CN" altLang="en-US" sz="2400" b="1"/>
                <a:t>2</a:t>
              </a:r>
            </a:p>
            <a:p>
              <a:pPr algn="ctr"/>
              <a:r>
                <a:rPr lang="zh-CN" altLang="en-US" sz="2400" b="1"/>
                <a:t>1</a:t>
              </a:r>
            </a:p>
          </p:txBody>
        </p:sp>
        <p:sp>
          <p:nvSpPr>
            <p:cNvPr id="84" name="Line 13"/>
            <p:cNvSpPr>
              <a:spLocks noChangeShapeType="1"/>
            </p:cNvSpPr>
            <p:nvPr/>
          </p:nvSpPr>
          <p:spPr bwMode="auto">
            <a:xfrm>
              <a:off x="624" y="3177"/>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85" name="Line 14"/>
            <p:cNvSpPr>
              <a:spLocks noChangeShapeType="1"/>
            </p:cNvSpPr>
            <p:nvPr/>
          </p:nvSpPr>
          <p:spPr bwMode="auto">
            <a:xfrm>
              <a:off x="624" y="2928"/>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86" name="Line 15"/>
            <p:cNvSpPr>
              <a:spLocks noChangeShapeType="1"/>
            </p:cNvSpPr>
            <p:nvPr/>
          </p:nvSpPr>
          <p:spPr bwMode="auto">
            <a:xfrm>
              <a:off x="624" y="3426"/>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grpSp>
      <p:grpSp>
        <p:nvGrpSpPr>
          <p:cNvPr id="87" name="Group 16"/>
          <p:cNvGrpSpPr>
            <a:grpSpLocks/>
          </p:cNvGrpSpPr>
          <p:nvPr/>
        </p:nvGrpSpPr>
        <p:grpSpPr bwMode="auto">
          <a:xfrm>
            <a:off x="5184131" y="4562624"/>
            <a:ext cx="533400" cy="1676400"/>
            <a:chOff x="624" y="2640"/>
            <a:chExt cx="384" cy="1056"/>
          </a:xfrm>
        </p:grpSpPr>
        <p:sp>
          <p:nvSpPr>
            <p:cNvPr id="88" name="Rectangle 17"/>
            <p:cNvSpPr>
              <a:spLocks noChangeArrowheads="1"/>
            </p:cNvSpPr>
            <p:nvPr/>
          </p:nvSpPr>
          <p:spPr bwMode="auto">
            <a:xfrm>
              <a:off x="624" y="2640"/>
              <a:ext cx="384" cy="105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b="1"/>
                <a:t>4</a:t>
              </a:r>
            </a:p>
            <a:p>
              <a:pPr algn="ctr"/>
              <a:r>
                <a:rPr lang="zh-CN" altLang="en-US" sz="2400" b="1"/>
                <a:t>3</a:t>
              </a:r>
            </a:p>
            <a:p>
              <a:pPr algn="ctr"/>
              <a:r>
                <a:rPr lang="zh-CN" altLang="en-US" sz="2400" b="1"/>
                <a:t>5</a:t>
              </a:r>
            </a:p>
            <a:p>
              <a:pPr algn="ctr"/>
              <a:r>
                <a:rPr lang="zh-CN" altLang="en-US" sz="2400" b="1"/>
                <a:t>1</a:t>
              </a:r>
            </a:p>
          </p:txBody>
        </p:sp>
        <p:sp>
          <p:nvSpPr>
            <p:cNvPr id="89" name="Line 18"/>
            <p:cNvSpPr>
              <a:spLocks noChangeShapeType="1"/>
            </p:cNvSpPr>
            <p:nvPr/>
          </p:nvSpPr>
          <p:spPr bwMode="auto">
            <a:xfrm>
              <a:off x="624" y="3177"/>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90" name="Line 19"/>
            <p:cNvSpPr>
              <a:spLocks noChangeShapeType="1"/>
            </p:cNvSpPr>
            <p:nvPr/>
          </p:nvSpPr>
          <p:spPr bwMode="auto">
            <a:xfrm>
              <a:off x="624" y="2928"/>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91" name="Line 20"/>
            <p:cNvSpPr>
              <a:spLocks noChangeShapeType="1"/>
            </p:cNvSpPr>
            <p:nvPr/>
          </p:nvSpPr>
          <p:spPr bwMode="auto">
            <a:xfrm>
              <a:off x="624" y="3426"/>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grpSp>
      <p:grpSp>
        <p:nvGrpSpPr>
          <p:cNvPr id="92" name="Group 21"/>
          <p:cNvGrpSpPr>
            <a:grpSpLocks/>
          </p:cNvGrpSpPr>
          <p:nvPr/>
        </p:nvGrpSpPr>
        <p:grpSpPr bwMode="auto">
          <a:xfrm>
            <a:off x="5793731" y="4562624"/>
            <a:ext cx="533400" cy="1676400"/>
            <a:chOff x="624" y="2640"/>
            <a:chExt cx="384" cy="1056"/>
          </a:xfrm>
        </p:grpSpPr>
        <p:sp>
          <p:nvSpPr>
            <p:cNvPr id="93" name="Rectangle 22"/>
            <p:cNvSpPr>
              <a:spLocks noChangeArrowheads="1"/>
            </p:cNvSpPr>
            <p:nvPr/>
          </p:nvSpPr>
          <p:spPr bwMode="auto">
            <a:xfrm>
              <a:off x="624" y="2640"/>
              <a:ext cx="384" cy="105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b="1"/>
                <a:t>4</a:t>
              </a:r>
            </a:p>
            <a:p>
              <a:pPr algn="ctr"/>
              <a:r>
                <a:rPr lang="zh-CN" altLang="en-US" sz="2400" b="1"/>
                <a:t>3</a:t>
              </a:r>
            </a:p>
            <a:p>
              <a:pPr algn="ctr"/>
              <a:r>
                <a:rPr lang="zh-CN" altLang="en-US" sz="2400" b="1"/>
                <a:t>5</a:t>
              </a:r>
            </a:p>
            <a:p>
              <a:pPr algn="ctr"/>
              <a:r>
                <a:rPr lang="zh-CN" altLang="en-US" sz="2400" b="1"/>
                <a:t>1</a:t>
              </a:r>
            </a:p>
          </p:txBody>
        </p:sp>
        <p:sp>
          <p:nvSpPr>
            <p:cNvPr id="94" name="Line 23"/>
            <p:cNvSpPr>
              <a:spLocks noChangeShapeType="1"/>
            </p:cNvSpPr>
            <p:nvPr/>
          </p:nvSpPr>
          <p:spPr bwMode="auto">
            <a:xfrm>
              <a:off x="624" y="3177"/>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95" name="Line 24"/>
            <p:cNvSpPr>
              <a:spLocks noChangeShapeType="1"/>
            </p:cNvSpPr>
            <p:nvPr/>
          </p:nvSpPr>
          <p:spPr bwMode="auto">
            <a:xfrm>
              <a:off x="624" y="2928"/>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96" name="Line 25"/>
            <p:cNvSpPr>
              <a:spLocks noChangeShapeType="1"/>
            </p:cNvSpPr>
            <p:nvPr/>
          </p:nvSpPr>
          <p:spPr bwMode="auto">
            <a:xfrm>
              <a:off x="624" y="3426"/>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grpSp>
      <p:grpSp>
        <p:nvGrpSpPr>
          <p:cNvPr id="97" name="Group 26"/>
          <p:cNvGrpSpPr>
            <a:grpSpLocks/>
          </p:cNvGrpSpPr>
          <p:nvPr/>
        </p:nvGrpSpPr>
        <p:grpSpPr bwMode="auto">
          <a:xfrm>
            <a:off x="869306" y="4548336"/>
            <a:ext cx="533400" cy="1905000"/>
            <a:chOff x="645" y="2640"/>
            <a:chExt cx="336" cy="1200"/>
          </a:xfrm>
        </p:grpSpPr>
        <p:grpSp>
          <p:nvGrpSpPr>
            <p:cNvPr id="98" name="Group 27"/>
            <p:cNvGrpSpPr>
              <a:grpSpLocks/>
            </p:cNvGrpSpPr>
            <p:nvPr/>
          </p:nvGrpSpPr>
          <p:grpSpPr bwMode="auto">
            <a:xfrm>
              <a:off x="645" y="2640"/>
              <a:ext cx="336" cy="1056"/>
              <a:chOff x="624" y="2640"/>
              <a:chExt cx="384" cy="1056"/>
            </a:xfrm>
          </p:grpSpPr>
          <p:sp>
            <p:nvSpPr>
              <p:cNvPr id="100" name="Rectangle 28"/>
              <p:cNvSpPr>
                <a:spLocks noChangeArrowheads="1"/>
              </p:cNvSpPr>
              <p:nvPr/>
            </p:nvSpPr>
            <p:spPr bwMode="auto">
              <a:xfrm>
                <a:off x="624" y="2640"/>
                <a:ext cx="384" cy="105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b="1"/>
                  <a:t>4</a:t>
                </a:r>
              </a:p>
              <a:p>
                <a:pPr algn="ctr"/>
                <a:endParaRPr lang="zh-CN" altLang="en-US" sz="2400" b="1"/>
              </a:p>
              <a:p>
                <a:pPr algn="ctr"/>
                <a:endParaRPr lang="zh-CN" altLang="en-US" sz="2400" b="1"/>
              </a:p>
              <a:p>
                <a:pPr algn="ctr"/>
                <a:endParaRPr lang="zh-CN" altLang="en-US" sz="2400" b="1"/>
              </a:p>
            </p:txBody>
          </p:sp>
          <p:sp>
            <p:nvSpPr>
              <p:cNvPr id="101" name="Line 29"/>
              <p:cNvSpPr>
                <a:spLocks noChangeShapeType="1"/>
              </p:cNvSpPr>
              <p:nvPr/>
            </p:nvSpPr>
            <p:spPr bwMode="auto">
              <a:xfrm>
                <a:off x="624" y="3177"/>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102" name="Line 30"/>
              <p:cNvSpPr>
                <a:spLocks noChangeShapeType="1"/>
              </p:cNvSpPr>
              <p:nvPr/>
            </p:nvSpPr>
            <p:spPr bwMode="auto">
              <a:xfrm>
                <a:off x="624" y="2928"/>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103" name="Line 31"/>
              <p:cNvSpPr>
                <a:spLocks noChangeShapeType="1"/>
              </p:cNvSpPr>
              <p:nvPr/>
            </p:nvSpPr>
            <p:spPr bwMode="auto">
              <a:xfrm>
                <a:off x="624" y="3426"/>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grpSp>
        <p:sp>
          <p:nvSpPr>
            <p:cNvPr id="99" name="Oval 32"/>
            <p:cNvSpPr>
              <a:spLocks noChangeArrowheads="1"/>
            </p:cNvSpPr>
            <p:nvPr/>
          </p:nvSpPr>
          <p:spPr bwMode="auto">
            <a:xfrm>
              <a:off x="768" y="3744"/>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grpSp>
      <p:grpSp>
        <p:nvGrpSpPr>
          <p:cNvPr id="104" name="Group 33"/>
          <p:cNvGrpSpPr>
            <a:grpSpLocks/>
          </p:cNvGrpSpPr>
          <p:nvPr/>
        </p:nvGrpSpPr>
        <p:grpSpPr bwMode="auto">
          <a:xfrm>
            <a:off x="1507481" y="4548336"/>
            <a:ext cx="533400" cy="1905000"/>
            <a:chOff x="1047" y="2640"/>
            <a:chExt cx="336" cy="1200"/>
          </a:xfrm>
        </p:grpSpPr>
        <p:grpSp>
          <p:nvGrpSpPr>
            <p:cNvPr id="105" name="Group 34"/>
            <p:cNvGrpSpPr>
              <a:grpSpLocks/>
            </p:cNvGrpSpPr>
            <p:nvPr/>
          </p:nvGrpSpPr>
          <p:grpSpPr bwMode="auto">
            <a:xfrm>
              <a:off x="1047" y="2640"/>
              <a:ext cx="336" cy="1056"/>
              <a:chOff x="624" y="2640"/>
              <a:chExt cx="384" cy="1056"/>
            </a:xfrm>
          </p:grpSpPr>
          <p:sp>
            <p:nvSpPr>
              <p:cNvPr id="107" name="Rectangle 35"/>
              <p:cNvSpPr>
                <a:spLocks noChangeArrowheads="1"/>
              </p:cNvSpPr>
              <p:nvPr/>
            </p:nvSpPr>
            <p:spPr bwMode="auto">
              <a:xfrm>
                <a:off x="624" y="2640"/>
                <a:ext cx="384" cy="105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b="1"/>
                  <a:t>4</a:t>
                </a:r>
              </a:p>
              <a:p>
                <a:pPr algn="ctr"/>
                <a:r>
                  <a:rPr lang="zh-CN" altLang="en-US" sz="2400" b="1"/>
                  <a:t>3</a:t>
                </a:r>
              </a:p>
              <a:p>
                <a:pPr algn="ctr"/>
                <a:endParaRPr lang="zh-CN" altLang="en-US" sz="2400" b="1"/>
              </a:p>
              <a:p>
                <a:pPr algn="ctr"/>
                <a:endParaRPr lang="zh-CN" altLang="en-US" sz="2400" b="1"/>
              </a:p>
            </p:txBody>
          </p:sp>
          <p:sp>
            <p:nvSpPr>
              <p:cNvPr id="108" name="Line 36"/>
              <p:cNvSpPr>
                <a:spLocks noChangeShapeType="1"/>
              </p:cNvSpPr>
              <p:nvPr/>
            </p:nvSpPr>
            <p:spPr bwMode="auto">
              <a:xfrm>
                <a:off x="624" y="3177"/>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109" name="Line 37"/>
              <p:cNvSpPr>
                <a:spLocks noChangeShapeType="1"/>
              </p:cNvSpPr>
              <p:nvPr/>
            </p:nvSpPr>
            <p:spPr bwMode="auto">
              <a:xfrm>
                <a:off x="624" y="2928"/>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110" name="Line 38"/>
              <p:cNvSpPr>
                <a:spLocks noChangeShapeType="1"/>
              </p:cNvSpPr>
              <p:nvPr/>
            </p:nvSpPr>
            <p:spPr bwMode="auto">
              <a:xfrm>
                <a:off x="624" y="3426"/>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grpSp>
        <p:sp>
          <p:nvSpPr>
            <p:cNvPr id="106" name="Oval 39"/>
            <p:cNvSpPr>
              <a:spLocks noChangeArrowheads="1"/>
            </p:cNvSpPr>
            <p:nvPr/>
          </p:nvSpPr>
          <p:spPr bwMode="auto">
            <a:xfrm>
              <a:off x="1170" y="3744"/>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grpSp>
      <p:grpSp>
        <p:nvGrpSpPr>
          <p:cNvPr id="111" name="Group 40"/>
          <p:cNvGrpSpPr>
            <a:grpSpLocks/>
          </p:cNvGrpSpPr>
          <p:nvPr/>
        </p:nvGrpSpPr>
        <p:grpSpPr bwMode="auto">
          <a:xfrm>
            <a:off x="2117081" y="4534049"/>
            <a:ext cx="533400" cy="1919287"/>
            <a:chOff x="1431" y="2631"/>
            <a:chExt cx="336" cy="1209"/>
          </a:xfrm>
        </p:grpSpPr>
        <p:grpSp>
          <p:nvGrpSpPr>
            <p:cNvPr id="112" name="Group 41"/>
            <p:cNvGrpSpPr>
              <a:grpSpLocks/>
            </p:cNvGrpSpPr>
            <p:nvPr/>
          </p:nvGrpSpPr>
          <p:grpSpPr bwMode="auto">
            <a:xfrm>
              <a:off x="1431" y="2631"/>
              <a:ext cx="336" cy="1056"/>
              <a:chOff x="624" y="2640"/>
              <a:chExt cx="384" cy="1056"/>
            </a:xfrm>
          </p:grpSpPr>
          <p:sp>
            <p:nvSpPr>
              <p:cNvPr id="114" name="Rectangle 42"/>
              <p:cNvSpPr>
                <a:spLocks noChangeArrowheads="1"/>
              </p:cNvSpPr>
              <p:nvPr/>
            </p:nvSpPr>
            <p:spPr bwMode="auto">
              <a:xfrm>
                <a:off x="624" y="2640"/>
                <a:ext cx="384" cy="105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b="1"/>
                  <a:t>4</a:t>
                </a:r>
              </a:p>
              <a:p>
                <a:pPr algn="ctr"/>
                <a:r>
                  <a:rPr lang="zh-CN" altLang="en-US" sz="2400" b="1"/>
                  <a:t>3</a:t>
                </a:r>
              </a:p>
              <a:p>
                <a:pPr algn="ctr"/>
                <a:r>
                  <a:rPr lang="zh-CN" altLang="en-US" sz="2400" b="1"/>
                  <a:t>2</a:t>
                </a:r>
              </a:p>
              <a:p>
                <a:pPr algn="ctr"/>
                <a:endParaRPr lang="zh-CN" altLang="en-US" sz="2400" b="1"/>
              </a:p>
            </p:txBody>
          </p:sp>
          <p:sp>
            <p:nvSpPr>
              <p:cNvPr id="115" name="Line 43"/>
              <p:cNvSpPr>
                <a:spLocks noChangeShapeType="1"/>
              </p:cNvSpPr>
              <p:nvPr/>
            </p:nvSpPr>
            <p:spPr bwMode="auto">
              <a:xfrm>
                <a:off x="624" y="3177"/>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116" name="Line 44"/>
              <p:cNvSpPr>
                <a:spLocks noChangeShapeType="1"/>
              </p:cNvSpPr>
              <p:nvPr/>
            </p:nvSpPr>
            <p:spPr bwMode="auto">
              <a:xfrm>
                <a:off x="624" y="2928"/>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117" name="Line 45"/>
              <p:cNvSpPr>
                <a:spLocks noChangeShapeType="1"/>
              </p:cNvSpPr>
              <p:nvPr/>
            </p:nvSpPr>
            <p:spPr bwMode="auto">
              <a:xfrm>
                <a:off x="624" y="3426"/>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grpSp>
        <p:sp>
          <p:nvSpPr>
            <p:cNvPr id="113" name="Oval 46"/>
            <p:cNvSpPr>
              <a:spLocks noChangeArrowheads="1"/>
            </p:cNvSpPr>
            <p:nvPr/>
          </p:nvSpPr>
          <p:spPr bwMode="auto">
            <a:xfrm>
              <a:off x="1545" y="3744"/>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grpSp>
      <p:grpSp>
        <p:nvGrpSpPr>
          <p:cNvPr id="118" name="Group 47"/>
          <p:cNvGrpSpPr>
            <a:grpSpLocks/>
          </p:cNvGrpSpPr>
          <p:nvPr/>
        </p:nvGrpSpPr>
        <p:grpSpPr bwMode="auto">
          <a:xfrm>
            <a:off x="2731443" y="4548336"/>
            <a:ext cx="533400" cy="1905000"/>
            <a:chOff x="1818" y="2640"/>
            <a:chExt cx="336" cy="1200"/>
          </a:xfrm>
        </p:grpSpPr>
        <p:grpSp>
          <p:nvGrpSpPr>
            <p:cNvPr id="119" name="Group 48"/>
            <p:cNvGrpSpPr>
              <a:grpSpLocks/>
            </p:cNvGrpSpPr>
            <p:nvPr/>
          </p:nvGrpSpPr>
          <p:grpSpPr bwMode="auto">
            <a:xfrm>
              <a:off x="1818" y="2640"/>
              <a:ext cx="336" cy="1056"/>
              <a:chOff x="624" y="2640"/>
              <a:chExt cx="384" cy="1056"/>
            </a:xfrm>
          </p:grpSpPr>
          <p:sp>
            <p:nvSpPr>
              <p:cNvPr id="121" name="Rectangle 49"/>
              <p:cNvSpPr>
                <a:spLocks noChangeArrowheads="1"/>
              </p:cNvSpPr>
              <p:nvPr/>
            </p:nvSpPr>
            <p:spPr bwMode="auto">
              <a:xfrm>
                <a:off x="624" y="2640"/>
                <a:ext cx="384" cy="105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b="1"/>
                  <a:t>4</a:t>
                </a:r>
              </a:p>
              <a:p>
                <a:pPr algn="ctr"/>
                <a:r>
                  <a:rPr lang="zh-CN" altLang="en-US" sz="2400" b="1"/>
                  <a:t>3</a:t>
                </a:r>
              </a:p>
              <a:p>
                <a:pPr algn="ctr"/>
                <a:r>
                  <a:rPr lang="zh-CN" altLang="en-US" sz="2400" b="1"/>
                  <a:t>2</a:t>
                </a:r>
              </a:p>
              <a:p>
                <a:pPr algn="ctr"/>
                <a:r>
                  <a:rPr lang="zh-CN" altLang="en-US" sz="2400" b="1"/>
                  <a:t>1</a:t>
                </a:r>
              </a:p>
            </p:txBody>
          </p:sp>
          <p:sp>
            <p:nvSpPr>
              <p:cNvPr id="122" name="Line 50"/>
              <p:cNvSpPr>
                <a:spLocks noChangeShapeType="1"/>
              </p:cNvSpPr>
              <p:nvPr/>
            </p:nvSpPr>
            <p:spPr bwMode="auto">
              <a:xfrm>
                <a:off x="624" y="3177"/>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123" name="Line 51"/>
              <p:cNvSpPr>
                <a:spLocks noChangeShapeType="1"/>
              </p:cNvSpPr>
              <p:nvPr/>
            </p:nvSpPr>
            <p:spPr bwMode="auto">
              <a:xfrm>
                <a:off x="624" y="2928"/>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124" name="Line 52"/>
              <p:cNvSpPr>
                <a:spLocks noChangeShapeType="1"/>
              </p:cNvSpPr>
              <p:nvPr/>
            </p:nvSpPr>
            <p:spPr bwMode="auto">
              <a:xfrm>
                <a:off x="624" y="3426"/>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grpSp>
        <p:sp>
          <p:nvSpPr>
            <p:cNvPr id="120" name="Oval 53"/>
            <p:cNvSpPr>
              <a:spLocks noChangeArrowheads="1"/>
            </p:cNvSpPr>
            <p:nvPr/>
          </p:nvSpPr>
          <p:spPr bwMode="auto">
            <a:xfrm>
              <a:off x="1932" y="3744"/>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grpSp>
      <p:grpSp>
        <p:nvGrpSpPr>
          <p:cNvPr id="125" name="Group 54"/>
          <p:cNvGrpSpPr>
            <a:grpSpLocks/>
          </p:cNvGrpSpPr>
          <p:nvPr/>
        </p:nvGrpSpPr>
        <p:grpSpPr bwMode="auto">
          <a:xfrm>
            <a:off x="4569768" y="4562624"/>
            <a:ext cx="533400" cy="1890712"/>
            <a:chOff x="2976" y="2649"/>
            <a:chExt cx="336" cy="1191"/>
          </a:xfrm>
        </p:grpSpPr>
        <p:grpSp>
          <p:nvGrpSpPr>
            <p:cNvPr id="126" name="Group 55"/>
            <p:cNvGrpSpPr>
              <a:grpSpLocks/>
            </p:cNvGrpSpPr>
            <p:nvPr/>
          </p:nvGrpSpPr>
          <p:grpSpPr bwMode="auto">
            <a:xfrm>
              <a:off x="2976" y="2649"/>
              <a:ext cx="336" cy="1056"/>
              <a:chOff x="624" y="2640"/>
              <a:chExt cx="384" cy="1056"/>
            </a:xfrm>
          </p:grpSpPr>
          <p:sp>
            <p:nvSpPr>
              <p:cNvPr id="128" name="Rectangle 56"/>
              <p:cNvSpPr>
                <a:spLocks noChangeArrowheads="1"/>
              </p:cNvSpPr>
              <p:nvPr/>
            </p:nvSpPr>
            <p:spPr bwMode="auto">
              <a:xfrm>
                <a:off x="624" y="2640"/>
                <a:ext cx="384" cy="105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b="1"/>
                  <a:t>4</a:t>
                </a:r>
              </a:p>
              <a:p>
                <a:pPr algn="ctr"/>
                <a:r>
                  <a:rPr lang="zh-CN" altLang="en-US" sz="2400" b="1"/>
                  <a:t>3</a:t>
                </a:r>
              </a:p>
              <a:p>
                <a:pPr algn="ctr"/>
                <a:r>
                  <a:rPr lang="zh-CN" altLang="en-US" sz="2400" b="1"/>
                  <a:t>5</a:t>
                </a:r>
              </a:p>
              <a:p>
                <a:pPr algn="ctr"/>
                <a:r>
                  <a:rPr lang="zh-CN" altLang="en-US" sz="2400" b="1"/>
                  <a:t>1</a:t>
                </a:r>
              </a:p>
            </p:txBody>
          </p:sp>
          <p:sp>
            <p:nvSpPr>
              <p:cNvPr id="129" name="Line 57"/>
              <p:cNvSpPr>
                <a:spLocks noChangeShapeType="1"/>
              </p:cNvSpPr>
              <p:nvPr/>
            </p:nvSpPr>
            <p:spPr bwMode="auto">
              <a:xfrm>
                <a:off x="624" y="3177"/>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130" name="Line 58"/>
              <p:cNvSpPr>
                <a:spLocks noChangeShapeType="1"/>
              </p:cNvSpPr>
              <p:nvPr/>
            </p:nvSpPr>
            <p:spPr bwMode="auto">
              <a:xfrm>
                <a:off x="624" y="2928"/>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131" name="Line 59"/>
              <p:cNvSpPr>
                <a:spLocks noChangeShapeType="1"/>
              </p:cNvSpPr>
              <p:nvPr/>
            </p:nvSpPr>
            <p:spPr bwMode="auto">
              <a:xfrm>
                <a:off x="624" y="3426"/>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grpSp>
        <p:sp>
          <p:nvSpPr>
            <p:cNvPr id="127" name="Oval 60"/>
            <p:cNvSpPr>
              <a:spLocks noChangeArrowheads="1"/>
            </p:cNvSpPr>
            <p:nvPr/>
          </p:nvSpPr>
          <p:spPr bwMode="auto">
            <a:xfrm>
              <a:off x="3099" y="3744"/>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grpSp>
      <p:grpSp>
        <p:nvGrpSpPr>
          <p:cNvPr id="132" name="Group 61"/>
          <p:cNvGrpSpPr>
            <a:grpSpLocks/>
          </p:cNvGrpSpPr>
          <p:nvPr/>
        </p:nvGrpSpPr>
        <p:grpSpPr bwMode="auto">
          <a:xfrm>
            <a:off x="6398568" y="4562624"/>
            <a:ext cx="533400" cy="1890712"/>
            <a:chOff x="4128" y="2649"/>
            <a:chExt cx="336" cy="1191"/>
          </a:xfrm>
        </p:grpSpPr>
        <p:grpSp>
          <p:nvGrpSpPr>
            <p:cNvPr id="133" name="Group 62"/>
            <p:cNvGrpSpPr>
              <a:grpSpLocks/>
            </p:cNvGrpSpPr>
            <p:nvPr/>
          </p:nvGrpSpPr>
          <p:grpSpPr bwMode="auto">
            <a:xfrm>
              <a:off x="4128" y="2649"/>
              <a:ext cx="336" cy="1056"/>
              <a:chOff x="624" y="2640"/>
              <a:chExt cx="384" cy="1056"/>
            </a:xfrm>
          </p:grpSpPr>
          <p:sp>
            <p:nvSpPr>
              <p:cNvPr id="135" name="Rectangle 63"/>
              <p:cNvSpPr>
                <a:spLocks noChangeArrowheads="1"/>
              </p:cNvSpPr>
              <p:nvPr/>
            </p:nvSpPr>
            <p:spPr bwMode="auto">
              <a:xfrm>
                <a:off x="624" y="2640"/>
                <a:ext cx="384" cy="105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b="1"/>
                  <a:t>4</a:t>
                </a:r>
              </a:p>
              <a:p>
                <a:pPr algn="ctr"/>
                <a:r>
                  <a:rPr lang="zh-CN" altLang="en-US" sz="2400" b="1"/>
                  <a:t>3</a:t>
                </a:r>
              </a:p>
              <a:p>
                <a:pPr algn="ctr"/>
                <a:r>
                  <a:rPr lang="zh-CN" altLang="en-US" sz="2400" b="1"/>
                  <a:t>5</a:t>
                </a:r>
              </a:p>
              <a:p>
                <a:pPr algn="ctr"/>
                <a:r>
                  <a:rPr lang="zh-CN" altLang="en-US" sz="2400" b="1"/>
                  <a:t>2</a:t>
                </a:r>
              </a:p>
            </p:txBody>
          </p:sp>
          <p:sp>
            <p:nvSpPr>
              <p:cNvPr id="136" name="Line 64"/>
              <p:cNvSpPr>
                <a:spLocks noChangeShapeType="1"/>
              </p:cNvSpPr>
              <p:nvPr/>
            </p:nvSpPr>
            <p:spPr bwMode="auto">
              <a:xfrm>
                <a:off x="624" y="3177"/>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137" name="Line 65"/>
              <p:cNvSpPr>
                <a:spLocks noChangeShapeType="1"/>
              </p:cNvSpPr>
              <p:nvPr/>
            </p:nvSpPr>
            <p:spPr bwMode="auto">
              <a:xfrm>
                <a:off x="624" y="2928"/>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138" name="Line 66"/>
              <p:cNvSpPr>
                <a:spLocks noChangeShapeType="1"/>
              </p:cNvSpPr>
              <p:nvPr/>
            </p:nvSpPr>
            <p:spPr bwMode="auto">
              <a:xfrm>
                <a:off x="624" y="3426"/>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grpSp>
        <p:sp>
          <p:nvSpPr>
            <p:cNvPr id="134" name="Oval 67"/>
            <p:cNvSpPr>
              <a:spLocks noChangeArrowheads="1"/>
            </p:cNvSpPr>
            <p:nvPr/>
          </p:nvSpPr>
          <p:spPr bwMode="auto">
            <a:xfrm>
              <a:off x="4245" y="3744"/>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grpSp>
      <p:grpSp>
        <p:nvGrpSpPr>
          <p:cNvPr id="139" name="Group 68"/>
          <p:cNvGrpSpPr>
            <a:grpSpLocks/>
          </p:cNvGrpSpPr>
          <p:nvPr/>
        </p:nvGrpSpPr>
        <p:grpSpPr bwMode="auto">
          <a:xfrm>
            <a:off x="7008168" y="4562624"/>
            <a:ext cx="533400" cy="1890712"/>
            <a:chOff x="4512" y="2649"/>
            <a:chExt cx="336" cy="1191"/>
          </a:xfrm>
        </p:grpSpPr>
        <p:grpSp>
          <p:nvGrpSpPr>
            <p:cNvPr id="140" name="Group 69"/>
            <p:cNvGrpSpPr>
              <a:grpSpLocks/>
            </p:cNvGrpSpPr>
            <p:nvPr/>
          </p:nvGrpSpPr>
          <p:grpSpPr bwMode="auto">
            <a:xfrm>
              <a:off x="4512" y="2649"/>
              <a:ext cx="336" cy="1056"/>
              <a:chOff x="624" y="2640"/>
              <a:chExt cx="384" cy="1056"/>
            </a:xfrm>
          </p:grpSpPr>
          <p:sp>
            <p:nvSpPr>
              <p:cNvPr id="142" name="Rectangle 70"/>
              <p:cNvSpPr>
                <a:spLocks noChangeArrowheads="1"/>
              </p:cNvSpPr>
              <p:nvPr/>
            </p:nvSpPr>
            <p:spPr bwMode="auto">
              <a:xfrm>
                <a:off x="624" y="2640"/>
                <a:ext cx="384" cy="105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b="1"/>
                  <a:t>4</a:t>
                </a:r>
              </a:p>
              <a:p>
                <a:pPr algn="ctr"/>
                <a:r>
                  <a:rPr lang="zh-CN" altLang="en-US" sz="2400" b="1"/>
                  <a:t>3</a:t>
                </a:r>
              </a:p>
              <a:p>
                <a:pPr algn="ctr"/>
                <a:r>
                  <a:rPr lang="zh-CN" altLang="en-US" sz="2400" b="1"/>
                  <a:t>1</a:t>
                </a:r>
              </a:p>
              <a:p>
                <a:pPr algn="ctr"/>
                <a:r>
                  <a:rPr lang="zh-CN" altLang="en-US" sz="2400" b="1"/>
                  <a:t>2</a:t>
                </a:r>
              </a:p>
            </p:txBody>
          </p:sp>
          <p:sp>
            <p:nvSpPr>
              <p:cNvPr id="143" name="Line 71"/>
              <p:cNvSpPr>
                <a:spLocks noChangeShapeType="1"/>
              </p:cNvSpPr>
              <p:nvPr/>
            </p:nvSpPr>
            <p:spPr bwMode="auto">
              <a:xfrm>
                <a:off x="624" y="3177"/>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144" name="Line 72"/>
              <p:cNvSpPr>
                <a:spLocks noChangeShapeType="1"/>
              </p:cNvSpPr>
              <p:nvPr/>
            </p:nvSpPr>
            <p:spPr bwMode="auto">
              <a:xfrm>
                <a:off x="624" y="2928"/>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145" name="Line 73"/>
              <p:cNvSpPr>
                <a:spLocks noChangeShapeType="1"/>
              </p:cNvSpPr>
              <p:nvPr/>
            </p:nvSpPr>
            <p:spPr bwMode="auto">
              <a:xfrm>
                <a:off x="624" y="3426"/>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grpSp>
        <p:sp>
          <p:nvSpPr>
            <p:cNvPr id="141" name="Oval 74"/>
            <p:cNvSpPr>
              <a:spLocks noChangeArrowheads="1"/>
            </p:cNvSpPr>
            <p:nvPr/>
          </p:nvSpPr>
          <p:spPr bwMode="auto">
            <a:xfrm>
              <a:off x="4638" y="3744"/>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grpSp>
      <p:grpSp>
        <p:nvGrpSpPr>
          <p:cNvPr id="146" name="Group 75"/>
          <p:cNvGrpSpPr>
            <a:grpSpLocks/>
          </p:cNvGrpSpPr>
          <p:nvPr/>
        </p:nvGrpSpPr>
        <p:grpSpPr bwMode="auto">
          <a:xfrm>
            <a:off x="7603481" y="4562624"/>
            <a:ext cx="533400" cy="1890712"/>
            <a:chOff x="4887" y="2649"/>
            <a:chExt cx="336" cy="1191"/>
          </a:xfrm>
        </p:grpSpPr>
        <p:grpSp>
          <p:nvGrpSpPr>
            <p:cNvPr id="147" name="Group 76"/>
            <p:cNvGrpSpPr>
              <a:grpSpLocks/>
            </p:cNvGrpSpPr>
            <p:nvPr/>
          </p:nvGrpSpPr>
          <p:grpSpPr bwMode="auto">
            <a:xfrm>
              <a:off x="4887" y="2649"/>
              <a:ext cx="336" cy="1056"/>
              <a:chOff x="624" y="2640"/>
              <a:chExt cx="384" cy="1056"/>
            </a:xfrm>
          </p:grpSpPr>
          <p:sp>
            <p:nvSpPr>
              <p:cNvPr id="149" name="Rectangle 77"/>
              <p:cNvSpPr>
                <a:spLocks noChangeArrowheads="1"/>
              </p:cNvSpPr>
              <p:nvPr/>
            </p:nvSpPr>
            <p:spPr bwMode="auto">
              <a:xfrm>
                <a:off x="624" y="2640"/>
                <a:ext cx="384" cy="105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b="1"/>
                  <a:t>5</a:t>
                </a:r>
              </a:p>
              <a:p>
                <a:pPr algn="ctr"/>
                <a:r>
                  <a:rPr lang="zh-CN" altLang="en-US" sz="2400" b="1"/>
                  <a:t>3</a:t>
                </a:r>
              </a:p>
              <a:p>
                <a:pPr algn="ctr"/>
                <a:r>
                  <a:rPr lang="zh-CN" altLang="en-US" sz="2400" b="1"/>
                  <a:t>1</a:t>
                </a:r>
              </a:p>
              <a:p>
                <a:pPr algn="ctr"/>
                <a:r>
                  <a:rPr lang="zh-CN" altLang="en-US" sz="2400" b="1"/>
                  <a:t>2</a:t>
                </a:r>
              </a:p>
            </p:txBody>
          </p:sp>
          <p:sp>
            <p:nvSpPr>
              <p:cNvPr id="150" name="Line 78"/>
              <p:cNvSpPr>
                <a:spLocks noChangeShapeType="1"/>
              </p:cNvSpPr>
              <p:nvPr/>
            </p:nvSpPr>
            <p:spPr bwMode="auto">
              <a:xfrm>
                <a:off x="624" y="3177"/>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151" name="Line 79"/>
              <p:cNvSpPr>
                <a:spLocks noChangeShapeType="1"/>
              </p:cNvSpPr>
              <p:nvPr/>
            </p:nvSpPr>
            <p:spPr bwMode="auto">
              <a:xfrm>
                <a:off x="624" y="2928"/>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152" name="Line 80"/>
              <p:cNvSpPr>
                <a:spLocks noChangeShapeType="1"/>
              </p:cNvSpPr>
              <p:nvPr/>
            </p:nvSpPr>
            <p:spPr bwMode="auto">
              <a:xfrm>
                <a:off x="624" y="3426"/>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grpSp>
        <p:sp>
          <p:nvSpPr>
            <p:cNvPr id="148" name="Oval 81"/>
            <p:cNvSpPr>
              <a:spLocks noChangeArrowheads="1"/>
            </p:cNvSpPr>
            <p:nvPr/>
          </p:nvSpPr>
          <p:spPr bwMode="auto">
            <a:xfrm>
              <a:off x="5001" y="3744"/>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grpSp>
    </p:spTree>
    <p:extLst>
      <p:ext uri="{BB962C8B-B14F-4D97-AF65-F5344CB8AC3E}">
        <p14:creationId xmlns:p14="http://schemas.microsoft.com/office/powerpoint/2010/main" val="4181799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3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499"/>
                                          </p:stCondLst>
                                        </p:cTn>
                                        <p:tgtEl>
                                          <p:spTgt spid="3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499"/>
                                          </p:stCondLst>
                                        </p:cTn>
                                        <p:tgtEl>
                                          <p:spTgt spid="4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499"/>
                                          </p:stCondLst>
                                        </p:cTn>
                                        <p:tgtEl>
                                          <p:spTgt spid="4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499"/>
                                          </p:stCondLst>
                                        </p:cTn>
                                        <p:tgtEl>
                                          <p:spTgt spid="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499"/>
                                          </p:stCondLst>
                                        </p:cTn>
                                        <p:tgtEl>
                                          <p:spTgt spid="5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499"/>
                                          </p:stCondLst>
                                        </p:cTn>
                                        <p:tgtEl>
                                          <p:spTgt spid="5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499"/>
                                          </p:stCondLst>
                                        </p:cTn>
                                        <p:tgtEl>
                                          <p:spTgt spid="6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499"/>
                                          </p:stCondLst>
                                        </p:cTn>
                                        <p:tgtEl>
                                          <p:spTgt spid="7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499"/>
                                          </p:stCondLst>
                                        </p:cTn>
                                        <p:tgtEl>
                                          <p:spTgt spid="9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499"/>
                                          </p:stCondLst>
                                        </p:cTn>
                                        <p:tgtEl>
                                          <p:spTgt spid="10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499"/>
                                          </p:stCondLst>
                                        </p:cTn>
                                        <p:tgtEl>
                                          <p:spTgt spid="111"/>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499"/>
                                          </p:stCondLst>
                                        </p:cTn>
                                        <p:tgtEl>
                                          <p:spTgt spid="118"/>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499"/>
                                          </p:stCondLst>
                                        </p:cTn>
                                        <p:tgtEl>
                                          <p:spTgt spid="77"/>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499"/>
                                          </p:stCondLst>
                                        </p:cTn>
                                        <p:tgtEl>
                                          <p:spTgt spid="82"/>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499"/>
                                          </p:stCondLst>
                                        </p:cTn>
                                        <p:tgtEl>
                                          <p:spTgt spid="125"/>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499"/>
                                          </p:stCondLst>
                                        </p:cTn>
                                        <p:tgtEl>
                                          <p:spTgt spid="87"/>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499"/>
                                          </p:stCondLst>
                                        </p:cTn>
                                        <p:tgtEl>
                                          <p:spTgt spid="92"/>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499"/>
                                          </p:stCondLst>
                                        </p:cTn>
                                        <p:tgtEl>
                                          <p:spTgt spid="132"/>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499"/>
                                          </p:stCondLst>
                                        </p:cTn>
                                        <p:tgtEl>
                                          <p:spTgt spid="139"/>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499"/>
                                          </p:stCondLst>
                                        </p:cTn>
                                        <p:tgtEl>
                                          <p:spTgt spid="1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作业</a:t>
            </a:r>
            <a:r>
              <a:rPr lang="zh-CN" altLang="en-US" dirty="0" smtClean="0"/>
              <a:t>（</a:t>
            </a:r>
            <a:r>
              <a:rPr lang="en-US" altLang="zh-CN" dirty="0" smtClean="0"/>
              <a:t>2</a:t>
            </a:r>
            <a:r>
              <a:rPr lang="zh-CN" altLang="en-US" dirty="0" smtClean="0"/>
              <a:t>）</a:t>
            </a:r>
            <a:endParaRPr lang="zh-CN" altLang="en-US" dirty="0"/>
          </a:p>
        </p:txBody>
      </p:sp>
      <p:sp>
        <p:nvSpPr>
          <p:cNvPr id="4" name="Date Placeholder 3"/>
          <p:cNvSpPr>
            <a:spLocks noGrp="1"/>
          </p:cNvSpPr>
          <p:nvPr>
            <p:ph type="dt" sz="half" idx="10"/>
          </p:nvPr>
        </p:nvSpPr>
        <p:spPr/>
        <p:txBody>
          <a:bodyPr/>
          <a:lstStyle/>
          <a:p>
            <a:fld id="{DF63084F-92A9-461D-91A9-6A467B5CA6A0}"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CH07 Memory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140</a:t>
            </a:fld>
            <a:endParaRPr lang="zh-CN" altLang="en-US" dirty="0"/>
          </a:p>
        </p:txBody>
      </p:sp>
      <p:sp>
        <p:nvSpPr>
          <p:cNvPr id="7" name="Rectangle 3"/>
          <p:cNvSpPr txBox="1">
            <a:spLocks noChangeArrowheads="1"/>
          </p:cNvSpPr>
          <p:nvPr/>
        </p:nvSpPr>
        <p:spPr>
          <a:xfrm>
            <a:off x="1403052" y="1332061"/>
            <a:ext cx="2679700" cy="609600"/>
          </a:xfrm>
          <a:prstGeom prst="rect">
            <a:avLst/>
          </a:prstGeom>
        </p:spPr>
        <p:txBody>
          <a:bodyPr vert="horz" lIns="91440" tIns="45720" rIns="91440" bIns="45720" rtlCol="0">
            <a:normAutofit/>
          </a:bodyPr>
          <a:lstStyle>
            <a:lvl1pPr marL="342900" indent="-342900" algn="l" defTabSz="914400" rtl="0" eaLnBrk="1" latinLnBrk="0" hangingPunct="1">
              <a:spcBef>
                <a:spcPts val="1200"/>
              </a:spcBef>
              <a:buFont typeface="Arial" pitchFamily="34" charset="0"/>
              <a:buChar char="•"/>
              <a:defRPr sz="2400" b="1" kern="1200">
                <a:solidFill>
                  <a:schemeClr val="tx1"/>
                </a:solidFill>
                <a:latin typeface="Times New Roman" pitchFamily="18" charset="0"/>
                <a:ea typeface="楷体" pitchFamily="49" charset="-122"/>
                <a:cs typeface="Times New Roman" pitchFamily="18" charset="0"/>
              </a:defRPr>
            </a:lvl1pPr>
            <a:lvl2pPr marL="742950" indent="-285750" algn="l" defTabSz="914400" rtl="0" eaLnBrk="1" latinLnBrk="0" hangingPunct="1">
              <a:spcBef>
                <a:spcPct val="20000"/>
              </a:spcBef>
              <a:buFont typeface="Arial" pitchFamily="34" charset="0"/>
              <a:buChar char="–"/>
              <a:defRPr sz="2200" kern="1200">
                <a:solidFill>
                  <a:schemeClr val="tx1"/>
                </a:solidFill>
                <a:latin typeface="Times New Roman" pitchFamily="18" charset="0"/>
                <a:ea typeface="楷体" pitchFamily="49" charset="-122"/>
                <a:cs typeface="Times New Roman" pitchFamily="18" charset="0"/>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楷体" pitchFamily="49" charset="-122"/>
                <a:cs typeface="Times New Roman" pitchFamily="18"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楷体" pitchFamily="49" charset="-122"/>
                <a:cs typeface="Times New Roman" pitchFamily="18"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楷体" pitchFamily="49" charset="-122"/>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20000"/>
              </a:lnSpc>
              <a:buFont typeface="Wingdings" panose="05000000000000000000" pitchFamily="2" charset="2"/>
              <a:buBlip>
                <a:blip r:embed="rId2"/>
              </a:buBlip>
            </a:pPr>
            <a:r>
              <a:rPr lang="zh-CN" altLang="en-US" sz="2000">
                <a:latin typeface="+mn-lt"/>
              </a:rPr>
              <a:t>首次适应算法</a:t>
            </a:r>
            <a:endParaRPr lang="zh-CN" altLang="en-US" sz="2000" dirty="0">
              <a:latin typeface="+mn-lt"/>
            </a:endParaRPr>
          </a:p>
        </p:txBody>
      </p:sp>
      <p:sp>
        <p:nvSpPr>
          <p:cNvPr id="8" name="Rectangle 4"/>
          <p:cNvSpPr>
            <a:spLocks noChangeArrowheads="1"/>
          </p:cNvSpPr>
          <p:nvPr/>
        </p:nvSpPr>
        <p:spPr bwMode="auto">
          <a:xfrm>
            <a:off x="5060652" y="1344761"/>
            <a:ext cx="26797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lnSpc>
                <a:spcPct val="120000"/>
              </a:lnSpc>
              <a:spcBef>
                <a:spcPct val="20000"/>
              </a:spcBef>
              <a:buClr>
                <a:schemeClr val="tx1"/>
              </a:buClr>
              <a:buSzPct val="75000"/>
              <a:buFont typeface="Wingdings" panose="05000000000000000000" pitchFamily="2" charset="2"/>
              <a:buBlip>
                <a:blip r:embed="rId2"/>
              </a:buBlip>
            </a:pPr>
            <a:r>
              <a:rPr lang="zh-CN" altLang="en-US" sz="2000" b="1">
                <a:solidFill>
                  <a:srgbClr val="000000"/>
                </a:solidFill>
                <a:latin typeface="+mn-lt"/>
                <a:ea typeface="楷体" panose="02010609060101010101" pitchFamily="49" charset="-122"/>
              </a:rPr>
              <a:t>最佳适应算法</a:t>
            </a:r>
          </a:p>
        </p:txBody>
      </p:sp>
      <p:grpSp>
        <p:nvGrpSpPr>
          <p:cNvPr id="9" name="Group 77"/>
          <p:cNvGrpSpPr>
            <a:grpSpLocks/>
          </p:cNvGrpSpPr>
          <p:nvPr/>
        </p:nvGrpSpPr>
        <p:grpSpPr bwMode="auto">
          <a:xfrm>
            <a:off x="1279227" y="2081361"/>
            <a:ext cx="2574925" cy="4371975"/>
            <a:chOff x="778" y="1288"/>
            <a:chExt cx="1622" cy="2754"/>
          </a:xfrm>
        </p:grpSpPr>
        <p:sp>
          <p:nvSpPr>
            <p:cNvPr id="10" name="Rectangle 37"/>
            <p:cNvSpPr>
              <a:spLocks noChangeArrowheads="1"/>
            </p:cNvSpPr>
            <p:nvPr/>
          </p:nvSpPr>
          <p:spPr bwMode="auto">
            <a:xfrm>
              <a:off x="1248" y="1392"/>
              <a:ext cx="1152" cy="254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ea typeface="楷体" panose="02010609060101010101" pitchFamily="49" charset="-122"/>
              </a:endParaRPr>
            </a:p>
          </p:txBody>
        </p:sp>
        <p:sp>
          <p:nvSpPr>
            <p:cNvPr id="11" name="Text Box 38"/>
            <p:cNvSpPr txBox="1">
              <a:spLocks noChangeArrowheads="1"/>
            </p:cNvSpPr>
            <p:nvPr/>
          </p:nvSpPr>
          <p:spPr bwMode="auto">
            <a:xfrm>
              <a:off x="778" y="3792"/>
              <a:ext cx="52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b="1">
                  <a:ea typeface="楷体" panose="02010609060101010101" pitchFamily="49" charset="-122"/>
                </a:rPr>
                <a:t>640</a:t>
              </a:r>
              <a:r>
                <a:rPr lang="en-US" altLang="zh-CN" sz="2000" b="1">
                  <a:ea typeface="楷体" panose="02010609060101010101" pitchFamily="49" charset="-122"/>
                </a:rPr>
                <a:t>K</a:t>
              </a:r>
            </a:p>
          </p:txBody>
        </p:sp>
        <p:sp>
          <p:nvSpPr>
            <p:cNvPr id="12" name="Line 39"/>
            <p:cNvSpPr>
              <a:spLocks noChangeShapeType="1"/>
            </p:cNvSpPr>
            <p:nvPr/>
          </p:nvSpPr>
          <p:spPr bwMode="auto">
            <a:xfrm>
              <a:off x="1248" y="3660"/>
              <a:ext cx="1152"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ea typeface="楷体" panose="02010609060101010101" pitchFamily="49" charset="-122"/>
              </a:endParaRPr>
            </a:p>
          </p:txBody>
        </p:sp>
        <p:sp>
          <p:nvSpPr>
            <p:cNvPr id="13" name="Text Box 40"/>
            <p:cNvSpPr txBox="1">
              <a:spLocks noChangeArrowheads="1"/>
            </p:cNvSpPr>
            <p:nvPr/>
          </p:nvSpPr>
          <p:spPr bwMode="auto">
            <a:xfrm>
              <a:off x="1698" y="3678"/>
              <a:ext cx="4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1">
                  <a:ea typeface="楷体" panose="02010609060101010101" pitchFamily="49" charset="-122"/>
                </a:rPr>
                <a:t>OS</a:t>
              </a:r>
            </a:p>
          </p:txBody>
        </p:sp>
        <p:sp>
          <p:nvSpPr>
            <p:cNvPr id="14" name="Text Box 41"/>
            <p:cNvSpPr txBox="1">
              <a:spLocks noChangeArrowheads="1"/>
            </p:cNvSpPr>
            <p:nvPr/>
          </p:nvSpPr>
          <p:spPr bwMode="auto">
            <a:xfrm>
              <a:off x="778" y="3532"/>
              <a:ext cx="52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b="1">
                  <a:ea typeface="楷体" panose="02010609060101010101" pitchFamily="49" charset="-122"/>
                </a:rPr>
                <a:t>600</a:t>
              </a:r>
              <a:r>
                <a:rPr lang="en-US" altLang="zh-CN" sz="2000" b="1">
                  <a:ea typeface="楷体" panose="02010609060101010101" pitchFamily="49" charset="-122"/>
                </a:rPr>
                <a:t>K</a:t>
              </a:r>
            </a:p>
          </p:txBody>
        </p:sp>
        <p:sp>
          <p:nvSpPr>
            <p:cNvPr id="15" name="Line 42"/>
            <p:cNvSpPr>
              <a:spLocks noChangeShapeType="1"/>
            </p:cNvSpPr>
            <p:nvPr/>
          </p:nvSpPr>
          <p:spPr bwMode="auto">
            <a:xfrm>
              <a:off x="1248" y="1738"/>
              <a:ext cx="1152"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ea typeface="楷体" panose="02010609060101010101" pitchFamily="49" charset="-122"/>
              </a:endParaRPr>
            </a:p>
          </p:txBody>
        </p:sp>
        <p:sp>
          <p:nvSpPr>
            <p:cNvPr id="16" name="Text Box 43"/>
            <p:cNvSpPr txBox="1">
              <a:spLocks noChangeArrowheads="1"/>
            </p:cNvSpPr>
            <p:nvPr/>
          </p:nvSpPr>
          <p:spPr bwMode="auto">
            <a:xfrm>
              <a:off x="1488" y="1440"/>
              <a:ext cx="72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2000" b="1">
                  <a:ea typeface="楷体" panose="02010609060101010101" pitchFamily="49" charset="-122"/>
                </a:rPr>
                <a:t>作业5</a:t>
              </a:r>
            </a:p>
          </p:txBody>
        </p:sp>
        <p:sp>
          <p:nvSpPr>
            <p:cNvPr id="17" name="Line 44"/>
            <p:cNvSpPr>
              <a:spLocks noChangeShapeType="1"/>
            </p:cNvSpPr>
            <p:nvPr/>
          </p:nvSpPr>
          <p:spPr bwMode="auto">
            <a:xfrm>
              <a:off x="1248" y="1978"/>
              <a:ext cx="1152"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ea typeface="楷体" panose="02010609060101010101" pitchFamily="49" charset="-122"/>
              </a:endParaRPr>
            </a:p>
          </p:txBody>
        </p:sp>
        <p:sp>
          <p:nvSpPr>
            <p:cNvPr id="18" name="Line 45"/>
            <p:cNvSpPr>
              <a:spLocks noChangeShapeType="1"/>
            </p:cNvSpPr>
            <p:nvPr/>
          </p:nvSpPr>
          <p:spPr bwMode="auto">
            <a:xfrm>
              <a:off x="1248" y="2246"/>
              <a:ext cx="1152"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ea typeface="楷体" panose="02010609060101010101" pitchFamily="49" charset="-122"/>
              </a:endParaRPr>
            </a:p>
          </p:txBody>
        </p:sp>
        <p:sp>
          <p:nvSpPr>
            <p:cNvPr id="19" name="Line 46"/>
            <p:cNvSpPr>
              <a:spLocks noChangeShapeType="1"/>
            </p:cNvSpPr>
            <p:nvPr/>
          </p:nvSpPr>
          <p:spPr bwMode="auto">
            <a:xfrm>
              <a:off x="1248" y="2506"/>
              <a:ext cx="1152"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ea typeface="楷体" panose="02010609060101010101" pitchFamily="49" charset="-122"/>
              </a:endParaRPr>
            </a:p>
          </p:txBody>
        </p:sp>
        <p:sp>
          <p:nvSpPr>
            <p:cNvPr id="20" name="Line 47"/>
            <p:cNvSpPr>
              <a:spLocks noChangeShapeType="1"/>
            </p:cNvSpPr>
            <p:nvPr/>
          </p:nvSpPr>
          <p:spPr bwMode="auto">
            <a:xfrm>
              <a:off x="1248" y="3196"/>
              <a:ext cx="1152"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ea typeface="楷体" panose="02010609060101010101" pitchFamily="49" charset="-122"/>
              </a:endParaRPr>
            </a:p>
          </p:txBody>
        </p:sp>
        <p:sp>
          <p:nvSpPr>
            <p:cNvPr id="21" name="Text Box 48"/>
            <p:cNvSpPr txBox="1">
              <a:spLocks noChangeArrowheads="1"/>
            </p:cNvSpPr>
            <p:nvPr/>
          </p:nvSpPr>
          <p:spPr bwMode="auto">
            <a:xfrm>
              <a:off x="1478" y="2736"/>
              <a:ext cx="72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2000" b="1">
                  <a:ea typeface="楷体" panose="02010609060101010101" pitchFamily="49" charset="-122"/>
                </a:rPr>
                <a:t>作业4</a:t>
              </a:r>
            </a:p>
          </p:txBody>
        </p:sp>
        <p:sp>
          <p:nvSpPr>
            <p:cNvPr id="22" name="Text Box 49"/>
            <p:cNvSpPr txBox="1">
              <a:spLocks noChangeArrowheads="1"/>
            </p:cNvSpPr>
            <p:nvPr/>
          </p:nvSpPr>
          <p:spPr bwMode="auto">
            <a:xfrm>
              <a:off x="796" y="3070"/>
              <a:ext cx="52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b="1">
                  <a:ea typeface="楷体" panose="02010609060101010101" pitchFamily="49" charset="-122"/>
                </a:rPr>
                <a:t>490</a:t>
              </a:r>
              <a:r>
                <a:rPr lang="en-US" altLang="zh-CN" sz="2000" b="1">
                  <a:ea typeface="楷体" panose="02010609060101010101" pitchFamily="49" charset="-122"/>
                </a:rPr>
                <a:t>K</a:t>
              </a:r>
            </a:p>
          </p:txBody>
        </p:sp>
        <p:sp>
          <p:nvSpPr>
            <p:cNvPr id="23" name="Text Box 50"/>
            <p:cNvSpPr txBox="1">
              <a:spLocks noChangeArrowheads="1"/>
            </p:cNvSpPr>
            <p:nvPr/>
          </p:nvSpPr>
          <p:spPr bwMode="auto">
            <a:xfrm>
              <a:off x="806" y="2372"/>
              <a:ext cx="52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b="1">
                  <a:ea typeface="楷体" panose="02010609060101010101" pitchFamily="49" charset="-122"/>
                </a:rPr>
                <a:t>290</a:t>
              </a:r>
              <a:r>
                <a:rPr lang="en-US" altLang="zh-CN" sz="2000" b="1">
                  <a:ea typeface="楷体" panose="02010609060101010101" pitchFamily="49" charset="-122"/>
                </a:rPr>
                <a:t>K</a:t>
              </a:r>
            </a:p>
          </p:txBody>
        </p:sp>
        <p:sp>
          <p:nvSpPr>
            <p:cNvPr id="24" name="Text Box 51"/>
            <p:cNvSpPr txBox="1">
              <a:spLocks noChangeArrowheads="1"/>
            </p:cNvSpPr>
            <p:nvPr/>
          </p:nvSpPr>
          <p:spPr bwMode="auto">
            <a:xfrm>
              <a:off x="816" y="2122"/>
              <a:ext cx="52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b="1">
                  <a:ea typeface="楷体" panose="02010609060101010101" pitchFamily="49" charset="-122"/>
                </a:rPr>
                <a:t>250</a:t>
              </a:r>
              <a:r>
                <a:rPr lang="en-US" altLang="zh-CN" sz="2000" b="1">
                  <a:ea typeface="楷体" panose="02010609060101010101" pitchFamily="49" charset="-122"/>
                </a:rPr>
                <a:t>K</a:t>
              </a:r>
            </a:p>
          </p:txBody>
        </p:sp>
        <p:sp>
          <p:nvSpPr>
            <p:cNvPr id="25" name="Text Box 52"/>
            <p:cNvSpPr txBox="1">
              <a:spLocks noChangeArrowheads="1"/>
            </p:cNvSpPr>
            <p:nvPr/>
          </p:nvSpPr>
          <p:spPr bwMode="auto">
            <a:xfrm>
              <a:off x="806" y="1854"/>
              <a:ext cx="52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b="1">
                  <a:ea typeface="楷体" panose="02010609060101010101" pitchFamily="49" charset="-122"/>
                </a:rPr>
                <a:t>200</a:t>
              </a:r>
              <a:r>
                <a:rPr lang="en-US" altLang="zh-CN" sz="2000" b="1">
                  <a:ea typeface="楷体" panose="02010609060101010101" pitchFamily="49" charset="-122"/>
                </a:rPr>
                <a:t>K</a:t>
              </a:r>
            </a:p>
          </p:txBody>
        </p:sp>
        <p:sp>
          <p:nvSpPr>
            <p:cNvPr id="26" name="Text Box 53"/>
            <p:cNvSpPr txBox="1">
              <a:spLocks noChangeArrowheads="1"/>
            </p:cNvSpPr>
            <p:nvPr/>
          </p:nvSpPr>
          <p:spPr bwMode="auto">
            <a:xfrm>
              <a:off x="796" y="1614"/>
              <a:ext cx="52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b="1">
                  <a:ea typeface="楷体" panose="02010609060101010101" pitchFamily="49" charset="-122"/>
                </a:rPr>
                <a:t>140</a:t>
              </a:r>
              <a:r>
                <a:rPr lang="en-US" altLang="zh-CN" sz="2000" b="1">
                  <a:ea typeface="楷体" panose="02010609060101010101" pitchFamily="49" charset="-122"/>
                </a:rPr>
                <a:t>K</a:t>
              </a:r>
            </a:p>
          </p:txBody>
        </p:sp>
        <p:sp>
          <p:nvSpPr>
            <p:cNvPr id="27" name="Text Box 54"/>
            <p:cNvSpPr txBox="1">
              <a:spLocks noChangeArrowheads="1"/>
            </p:cNvSpPr>
            <p:nvPr/>
          </p:nvSpPr>
          <p:spPr bwMode="auto">
            <a:xfrm>
              <a:off x="950" y="1288"/>
              <a:ext cx="35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b="1">
                  <a:ea typeface="楷体" panose="02010609060101010101" pitchFamily="49" charset="-122"/>
                </a:rPr>
                <a:t>0</a:t>
              </a:r>
              <a:r>
                <a:rPr lang="en-US" altLang="zh-CN" sz="2000" b="1">
                  <a:ea typeface="楷体" panose="02010609060101010101" pitchFamily="49" charset="-122"/>
                </a:rPr>
                <a:t>K</a:t>
              </a:r>
            </a:p>
          </p:txBody>
        </p:sp>
        <p:sp>
          <p:nvSpPr>
            <p:cNvPr id="28" name="Text Box 55"/>
            <p:cNvSpPr txBox="1">
              <a:spLocks noChangeArrowheads="1"/>
            </p:cNvSpPr>
            <p:nvPr/>
          </p:nvSpPr>
          <p:spPr bwMode="auto">
            <a:xfrm>
              <a:off x="1500" y="1996"/>
              <a:ext cx="72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2000" b="1">
                  <a:ea typeface="楷体" panose="02010609060101010101" pitchFamily="49" charset="-122"/>
                </a:rPr>
                <a:t>作业7</a:t>
              </a:r>
            </a:p>
          </p:txBody>
        </p:sp>
      </p:grpSp>
      <p:grpSp>
        <p:nvGrpSpPr>
          <p:cNvPr id="29" name="Group 78"/>
          <p:cNvGrpSpPr>
            <a:grpSpLocks/>
          </p:cNvGrpSpPr>
          <p:nvPr/>
        </p:nvGrpSpPr>
        <p:grpSpPr bwMode="auto">
          <a:xfrm>
            <a:off x="4905077" y="2062311"/>
            <a:ext cx="2574925" cy="4371975"/>
            <a:chOff x="3062" y="1276"/>
            <a:chExt cx="1622" cy="2754"/>
          </a:xfrm>
        </p:grpSpPr>
        <p:sp>
          <p:nvSpPr>
            <p:cNvPr id="30" name="Rectangle 56"/>
            <p:cNvSpPr>
              <a:spLocks noChangeArrowheads="1"/>
            </p:cNvSpPr>
            <p:nvPr/>
          </p:nvSpPr>
          <p:spPr bwMode="auto">
            <a:xfrm>
              <a:off x="3532" y="1380"/>
              <a:ext cx="1152" cy="254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ea typeface="楷体" panose="02010609060101010101" pitchFamily="49" charset="-122"/>
              </a:endParaRPr>
            </a:p>
          </p:txBody>
        </p:sp>
        <p:sp>
          <p:nvSpPr>
            <p:cNvPr id="31" name="Text Box 57"/>
            <p:cNvSpPr txBox="1">
              <a:spLocks noChangeArrowheads="1"/>
            </p:cNvSpPr>
            <p:nvPr/>
          </p:nvSpPr>
          <p:spPr bwMode="auto">
            <a:xfrm>
              <a:off x="3062" y="3780"/>
              <a:ext cx="52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b="1">
                  <a:ea typeface="楷体" panose="02010609060101010101" pitchFamily="49" charset="-122"/>
                </a:rPr>
                <a:t>640</a:t>
              </a:r>
              <a:r>
                <a:rPr lang="en-US" altLang="zh-CN" sz="2000" b="1">
                  <a:ea typeface="楷体" panose="02010609060101010101" pitchFamily="49" charset="-122"/>
                </a:rPr>
                <a:t>K</a:t>
              </a:r>
            </a:p>
          </p:txBody>
        </p:sp>
        <p:sp>
          <p:nvSpPr>
            <p:cNvPr id="32" name="Line 58"/>
            <p:cNvSpPr>
              <a:spLocks noChangeShapeType="1"/>
            </p:cNvSpPr>
            <p:nvPr/>
          </p:nvSpPr>
          <p:spPr bwMode="auto">
            <a:xfrm>
              <a:off x="3532" y="3648"/>
              <a:ext cx="1152"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ea typeface="楷体" panose="02010609060101010101" pitchFamily="49" charset="-122"/>
              </a:endParaRPr>
            </a:p>
          </p:txBody>
        </p:sp>
        <p:sp>
          <p:nvSpPr>
            <p:cNvPr id="33" name="Text Box 59"/>
            <p:cNvSpPr txBox="1">
              <a:spLocks noChangeArrowheads="1"/>
            </p:cNvSpPr>
            <p:nvPr/>
          </p:nvSpPr>
          <p:spPr bwMode="auto">
            <a:xfrm>
              <a:off x="3982" y="3666"/>
              <a:ext cx="4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1">
                  <a:ea typeface="楷体" panose="02010609060101010101" pitchFamily="49" charset="-122"/>
                </a:rPr>
                <a:t>OS</a:t>
              </a:r>
            </a:p>
          </p:txBody>
        </p:sp>
        <p:sp>
          <p:nvSpPr>
            <p:cNvPr id="34" name="Text Box 60"/>
            <p:cNvSpPr txBox="1">
              <a:spLocks noChangeArrowheads="1"/>
            </p:cNvSpPr>
            <p:nvPr/>
          </p:nvSpPr>
          <p:spPr bwMode="auto">
            <a:xfrm>
              <a:off x="3062" y="3520"/>
              <a:ext cx="52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b="1">
                  <a:ea typeface="楷体" panose="02010609060101010101" pitchFamily="49" charset="-122"/>
                </a:rPr>
                <a:t>600</a:t>
              </a:r>
              <a:r>
                <a:rPr lang="en-US" altLang="zh-CN" sz="2000" b="1">
                  <a:ea typeface="楷体" panose="02010609060101010101" pitchFamily="49" charset="-122"/>
                </a:rPr>
                <a:t>K</a:t>
              </a:r>
            </a:p>
          </p:txBody>
        </p:sp>
        <p:sp>
          <p:nvSpPr>
            <p:cNvPr id="35" name="Line 61"/>
            <p:cNvSpPr>
              <a:spLocks noChangeShapeType="1"/>
            </p:cNvSpPr>
            <p:nvPr/>
          </p:nvSpPr>
          <p:spPr bwMode="auto">
            <a:xfrm>
              <a:off x="3532" y="1726"/>
              <a:ext cx="1152"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ea typeface="楷体" panose="02010609060101010101" pitchFamily="49" charset="-122"/>
              </a:endParaRPr>
            </a:p>
          </p:txBody>
        </p:sp>
        <p:sp>
          <p:nvSpPr>
            <p:cNvPr id="36" name="Text Box 62"/>
            <p:cNvSpPr txBox="1">
              <a:spLocks noChangeArrowheads="1"/>
            </p:cNvSpPr>
            <p:nvPr/>
          </p:nvSpPr>
          <p:spPr bwMode="auto">
            <a:xfrm>
              <a:off x="3772" y="1428"/>
              <a:ext cx="72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2000" b="1">
                  <a:ea typeface="楷体" panose="02010609060101010101" pitchFamily="49" charset="-122"/>
                </a:rPr>
                <a:t>作业5</a:t>
              </a:r>
            </a:p>
          </p:txBody>
        </p:sp>
        <p:sp>
          <p:nvSpPr>
            <p:cNvPr id="37" name="Line 65"/>
            <p:cNvSpPr>
              <a:spLocks noChangeShapeType="1"/>
            </p:cNvSpPr>
            <p:nvPr/>
          </p:nvSpPr>
          <p:spPr bwMode="auto">
            <a:xfrm>
              <a:off x="3532" y="2438"/>
              <a:ext cx="1152"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ea typeface="楷体" panose="02010609060101010101" pitchFamily="49" charset="-122"/>
              </a:endParaRPr>
            </a:p>
          </p:txBody>
        </p:sp>
        <p:sp>
          <p:nvSpPr>
            <p:cNvPr id="38" name="Line 66"/>
            <p:cNvSpPr>
              <a:spLocks noChangeShapeType="1"/>
            </p:cNvSpPr>
            <p:nvPr/>
          </p:nvSpPr>
          <p:spPr bwMode="auto">
            <a:xfrm>
              <a:off x="3532" y="3144"/>
              <a:ext cx="1152"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ea typeface="楷体" panose="02010609060101010101" pitchFamily="49" charset="-122"/>
              </a:endParaRPr>
            </a:p>
          </p:txBody>
        </p:sp>
        <p:sp>
          <p:nvSpPr>
            <p:cNvPr id="39" name="Text Box 67"/>
            <p:cNvSpPr txBox="1">
              <a:spLocks noChangeArrowheads="1"/>
            </p:cNvSpPr>
            <p:nvPr/>
          </p:nvSpPr>
          <p:spPr bwMode="auto">
            <a:xfrm>
              <a:off x="3762" y="2658"/>
              <a:ext cx="72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2000" b="1">
                  <a:ea typeface="楷体" panose="02010609060101010101" pitchFamily="49" charset="-122"/>
                </a:rPr>
                <a:t>作业4</a:t>
              </a:r>
            </a:p>
          </p:txBody>
        </p:sp>
        <p:sp>
          <p:nvSpPr>
            <p:cNvPr id="40" name="Text Box 68"/>
            <p:cNvSpPr txBox="1">
              <a:spLocks noChangeArrowheads="1"/>
            </p:cNvSpPr>
            <p:nvPr/>
          </p:nvSpPr>
          <p:spPr bwMode="auto">
            <a:xfrm>
              <a:off x="3080" y="3018"/>
              <a:ext cx="52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b="1">
                  <a:ea typeface="楷体" panose="02010609060101010101" pitchFamily="49" charset="-122"/>
                </a:rPr>
                <a:t>490</a:t>
              </a:r>
              <a:r>
                <a:rPr lang="en-US" altLang="zh-CN" sz="2000" b="1">
                  <a:ea typeface="楷体" panose="02010609060101010101" pitchFamily="49" charset="-122"/>
                </a:rPr>
                <a:t>K</a:t>
              </a:r>
            </a:p>
          </p:txBody>
        </p:sp>
        <p:sp>
          <p:nvSpPr>
            <p:cNvPr id="41" name="Text Box 69"/>
            <p:cNvSpPr txBox="1">
              <a:spLocks noChangeArrowheads="1"/>
            </p:cNvSpPr>
            <p:nvPr/>
          </p:nvSpPr>
          <p:spPr bwMode="auto">
            <a:xfrm>
              <a:off x="3090" y="2304"/>
              <a:ext cx="52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b="1">
                  <a:ea typeface="楷体" panose="02010609060101010101" pitchFamily="49" charset="-122"/>
                </a:rPr>
                <a:t>290</a:t>
              </a:r>
              <a:r>
                <a:rPr lang="en-US" altLang="zh-CN" sz="2000" b="1">
                  <a:ea typeface="楷体" panose="02010609060101010101" pitchFamily="49" charset="-122"/>
                </a:rPr>
                <a:t>K</a:t>
              </a:r>
            </a:p>
          </p:txBody>
        </p:sp>
        <p:sp>
          <p:nvSpPr>
            <p:cNvPr id="42" name="Text Box 70"/>
            <p:cNvSpPr txBox="1">
              <a:spLocks noChangeArrowheads="1"/>
            </p:cNvSpPr>
            <p:nvPr/>
          </p:nvSpPr>
          <p:spPr bwMode="auto">
            <a:xfrm>
              <a:off x="3072" y="3312"/>
              <a:ext cx="52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b="1">
                  <a:ea typeface="楷体" panose="02010609060101010101" pitchFamily="49" charset="-122"/>
                </a:rPr>
                <a:t>550</a:t>
              </a:r>
              <a:r>
                <a:rPr lang="en-US" altLang="zh-CN" sz="2000" b="1">
                  <a:ea typeface="楷体" panose="02010609060101010101" pitchFamily="49" charset="-122"/>
                </a:rPr>
                <a:t>K</a:t>
              </a:r>
            </a:p>
          </p:txBody>
        </p:sp>
        <p:sp>
          <p:nvSpPr>
            <p:cNvPr id="43" name="Text Box 72"/>
            <p:cNvSpPr txBox="1">
              <a:spLocks noChangeArrowheads="1"/>
            </p:cNvSpPr>
            <p:nvPr/>
          </p:nvSpPr>
          <p:spPr bwMode="auto">
            <a:xfrm>
              <a:off x="3080" y="1602"/>
              <a:ext cx="52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b="1">
                  <a:ea typeface="楷体" panose="02010609060101010101" pitchFamily="49" charset="-122"/>
                </a:rPr>
                <a:t>140</a:t>
              </a:r>
              <a:r>
                <a:rPr lang="en-US" altLang="zh-CN" sz="2000" b="1">
                  <a:ea typeface="楷体" panose="02010609060101010101" pitchFamily="49" charset="-122"/>
                </a:rPr>
                <a:t>K</a:t>
              </a:r>
            </a:p>
          </p:txBody>
        </p:sp>
        <p:sp>
          <p:nvSpPr>
            <p:cNvPr id="44" name="Text Box 73"/>
            <p:cNvSpPr txBox="1">
              <a:spLocks noChangeArrowheads="1"/>
            </p:cNvSpPr>
            <p:nvPr/>
          </p:nvSpPr>
          <p:spPr bwMode="auto">
            <a:xfrm>
              <a:off x="3234" y="1276"/>
              <a:ext cx="35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b="1">
                  <a:ea typeface="楷体" panose="02010609060101010101" pitchFamily="49" charset="-122"/>
                </a:rPr>
                <a:t>0</a:t>
              </a:r>
              <a:r>
                <a:rPr lang="en-US" altLang="zh-CN" sz="2000" b="1">
                  <a:ea typeface="楷体" panose="02010609060101010101" pitchFamily="49" charset="-122"/>
                </a:rPr>
                <a:t>K</a:t>
              </a:r>
            </a:p>
          </p:txBody>
        </p:sp>
        <p:sp>
          <p:nvSpPr>
            <p:cNvPr id="45" name="Text Box 74"/>
            <p:cNvSpPr txBox="1">
              <a:spLocks noChangeArrowheads="1"/>
            </p:cNvSpPr>
            <p:nvPr/>
          </p:nvSpPr>
          <p:spPr bwMode="auto">
            <a:xfrm>
              <a:off x="3792" y="3408"/>
              <a:ext cx="72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2000" b="1">
                  <a:ea typeface="楷体" panose="02010609060101010101" pitchFamily="49" charset="-122"/>
                </a:rPr>
                <a:t>作业7</a:t>
              </a:r>
            </a:p>
          </p:txBody>
        </p:sp>
        <p:sp>
          <p:nvSpPr>
            <p:cNvPr id="46" name="Line 75"/>
            <p:cNvSpPr>
              <a:spLocks noChangeShapeType="1"/>
            </p:cNvSpPr>
            <p:nvPr/>
          </p:nvSpPr>
          <p:spPr bwMode="auto">
            <a:xfrm>
              <a:off x="3532" y="3408"/>
              <a:ext cx="1152"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ea typeface="楷体" panose="02010609060101010101" pitchFamily="49" charset="-122"/>
              </a:endParaRPr>
            </a:p>
          </p:txBody>
        </p:sp>
      </p:grpSp>
    </p:spTree>
    <p:extLst>
      <p:ext uri="{BB962C8B-B14F-4D97-AF65-F5344CB8AC3E}">
        <p14:creationId xmlns:p14="http://schemas.microsoft.com/office/powerpoint/2010/main" val="4223995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1626</TotalTime>
  <Words>10030</Words>
  <Application>Microsoft Office PowerPoint</Application>
  <PresentationFormat>全屏显示(4:3)</PresentationFormat>
  <Paragraphs>2691</Paragraphs>
  <Slides>140</Slides>
  <Notes>30</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2</vt:i4>
      </vt:variant>
      <vt:variant>
        <vt:lpstr>幻灯片标题</vt:lpstr>
      </vt:variant>
      <vt:variant>
        <vt:i4>140</vt:i4>
      </vt:variant>
    </vt:vector>
  </HeadingPairs>
  <TitlesOfParts>
    <vt:vector size="156" baseType="lpstr">
      <vt:lpstr>PMingLiU</vt:lpstr>
      <vt:lpstr>黑体</vt:lpstr>
      <vt:lpstr>华文仿宋</vt:lpstr>
      <vt:lpstr>华文新魏</vt:lpstr>
      <vt:lpstr>楷体</vt:lpstr>
      <vt:lpstr>宋体</vt:lpstr>
      <vt:lpstr>微软雅黑</vt:lpstr>
      <vt:lpstr>Arial</vt:lpstr>
      <vt:lpstr>Calibri</vt:lpstr>
      <vt:lpstr>Segoe UI Symbol</vt:lpstr>
      <vt:lpstr>Symbol</vt:lpstr>
      <vt:lpstr>Times New Roman</vt:lpstr>
      <vt:lpstr>Wingdings</vt:lpstr>
      <vt:lpstr>Office Theme</vt:lpstr>
      <vt:lpstr>VISIO</vt:lpstr>
      <vt:lpstr>公式</vt:lpstr>
      <vt:lpstr>第7章  存储管理</vt:lpstr>
      <vt:lpstr>主要内容</vt:lpstr>
      <vt:lpstr>主要内容</vt:lpstr>
      <vt:lpstr>存储管理</vt:lpstr>
      <vt:lpstr>存储体系结构</vt:lpstr>
      <vt:lpstr>存储体系结构</vt:lpstr>
      <vt:lpstr>存储体系结构</vt:lpstr>
      <vt:lpstr>存储体系结构</vt:lpstr>
      <vt:lpstr>存储管理的功能</vt:lpstr>
      <vt:lpstr>存储管理的功能</vt:lpstr>
      <vt:lpstr>二进制学习</vt:lpstr>
      <vt:lpstr>存储管理的功能</vt:lpstr>
      <vt:lpstr>存储管理的功能</vt:lpstr>
      <vt:lpstr>存储管理的功能</vt:lpstr>
      <vt:lpstr>存储管理的功能</vt:lpstr>
      <vt:lpstr>存储管理的功能</vt:lpstr>
      <vt:lpstr>存储管理的功能</vt:lpstr>
      <vt:lpstr>存储管理的功能</vt:lpstr>
      <vt:lpstr>存储管理的功能</vt:lpstr>
      <vt:lpstr>存储管理的功能</vt:lpstr>
      <vt:lpstr>存储管理的功能</vt:lpstr>
      <vt:lpstr>存储管理的功能</vt:lpstr>
      <vt:lpstr>存储管理的功能</vt:lpstr>
      <vt:lpstr>内存信息的共享与保护</vt:lpstr>
      <vt:lpstr>内存信息的共享与保护</vt:lpstr>
      <vt:lpstr>内存信息的共享与保护</vt:lpstr>
      <vt:lpstr>主要内容</vt:lpstr>
      <vt:lpstr>分区管理的基本原理</vt:lpstr>
      <vt:lpstr>分区管理的基本原理</vt:lpstr>
      <vt:lpstr>固定分区</vt:lpstr>
      <vt:lpstr>固定分区</vt:lpstr>
      <vt:lpstr>固定分区</vt:lpstr>
      <vt:lpstr>动态分区</vt:lpstr>
      <vt:lpstr>动态分区分配算法</vt:lpstr>
      <vt:lpstr>动态分区分配算法</vt:lpstr>
      <vt:lpstr>动态分区分配算法</vt:lpstr>
      <vt:lpstr>动态分区分配算法</vt:lpstr>
      <vt:lpstr>动态分区分配算法</vt:lpstr>
      <vt:lpstr>动态分区分配算法</vt:lpstr>
      <vt:lpstr>动态分区分配算法</vt:lpstr>
      <vt:lpstr>动态分区分配算法</vt:lpstr>
      <vt:lpstr>动态分区分配算法</vt:lpstr>
      <vt:lpstr>动态分区的问题</vt:lpstr>
      <vt:lpstr>动态分区的问题</vt:lpstr>
      <vt:lpstr>分区管理的基本原理</vt:lpstr>
      <vt:lpstr>分区管理的优缺点</vt:lpstr>
      <vt:lpstr>Linux中的Buddy System</vt:lpstr>
      <vt:lpstr>Linux中的Buddy System</vt:lpstr>
      <vt:lpstr>主要内容</vt:lpstr>
      <vt:lpstr>覆盖技术（Overlay）</vt:lpstr>
      <vt:lpstr>覆盖技术（Overlay）</vt:lpstr>
      <vt:lpstr>覆盖技术（Overlay）</vt:lpstr>
      <vt:lpstr>交换技术（Swapping）</vt:lpstr>
      <vt:lpstr>交换技术（Swapping）</vt:lpstr>
      <vt:lpstr>主要内容</vt:lpstr>
      <vt:lpstr>简单页式管理</vt:lpstr>
      <vt:lpstr>简单页式管理</vt:lpstr>
      <vt:lpstr>简单页式管理</vt:lpstr>
      <vt:lpstr>简单页式管理中的地址转换</vt:lpstr>
      <vt:lpstr>简单页式管理</vt:lpstr>
      <vt:lpstr>第五章  存储管理</vt:lpstr>
      <vt:lpstr>简单页式管理</vt:lpstr>
      <vt:lpstr>简单页式管理中的地址转换</vt:lpstr>
      <vt:lpstr>第五章  存储管理</vt:lpstr>
      <vt:lpstr>多级页表</vt:lpstr>
      <vt:lpstr>多级页表</vt:lpstr>
      <vt:lpstr>多级页表</vt:lpstr>
      <vt:lpstr>多级页表</vt:lpstr>
      <vt:lpstr>简单页式管理的优缺点</vt:lpstr>
      <vt:lpstr>主要内容</vt:lpstr>
      <vt:lpstr>简单段式管理</vt:lpstr>
      <vt:lpstr>简单段式管理</vt:lpstr>
      <vt:lpstr>简单段式管理</vt:lpstr>
      <vt:lpstr>简单段式管理</vt:lpstr>
      <vt:lpstr>段式管理举例</vt:lpstr>
      <vt:lpstr>页式管理与段式管理的比较</vt:lpstr>
      <vt:lpstr>主要内容</vt:lpstr>
      <vt:lpstr>虚拟存储器基本原理</vt:lpstr>
      <vt:lpstr>虚拟存储器基本原理</vt:lpstr>
      <vt:lpstr>虚拟存储器基本原理</vt:lpstr>
      <vt:lpstr>虚拟页式机制</vt:lpstr>
      <vt:lpstr>虚拟页式机制</vt:lpstr>
      <vt:lpstr>虚拟页式机制</vt:lpstr>
      <vt:lpstr>虚拟页式机制</vt:lpstr>
      <vt:lpstr>虚拟页式机制</vt:lpstr>
      <vt:lpstr>抖  动</vt:lpstr>
      <vt:lpstr>抖  动</vt:lpstr>
      <vt:lpstr>虚拟段式机制</vt:lpstr>
      <vt:lpstr>虚拟段式机制</vt:lpstr>
      <vt:lpstr>虚拟段式机制</vt:lpstr>
      <vt:lpstr>段页式机制</vt:lpstr>
      <vt:lpstr>段页式机制</vt:lpstr>
      <vt:lpstr>段页式机制</vt:lpstr>
      <vt:lpstr>高速联想寄存器（TLB）</vt:lpstr>
      <vt:lpstr>存储管理技术的发展</vt:lpstr>
      <vt:lpstr>（段）页式管理中的分配与置换</vt:lpstr>
      <vt:lpstr>（段）页式管理中的分配与置换</vt:lpstr>
      <vt:lpstr>页面置换算法</vt:lpstr>
      <vt:lpstr>最佳置换算法</vt:lpstr>
      <vt:lpstr>最佳置换算法</vt:lpstr>
      <vt:lpstr>最佳置换算法</vt:lpstr>
      <vt:lpstr>最佳置换算法</vt:lpstr>
      <vt:lpstr>最佳置换算法</vt:lpstr>
      <vt:lpstr>最佳置换算法</vt:lpstr>
      <vt:lpstr>最佳置换算法</vt:lpstr>
      <vt:lpstr>最佳置换算法</vt:lpstr>
      <vt:lpstr>最佳置换算法</vt:lpstr>
      <vt:lpstr>最佳置换算法</vt:lpstr>
      <vt:lpstr>最佳置换算法</vt:lpstr>
      <vt:lpstr>最佳置换算法</vt:lpstr>
      <vt:lpstr>最佳置换算法</vt:lpstr>
      <vt:lpstr>最近最久未使用算法</vt:lpstr>
      <vt:lpstr>最近最久未使用算法</vt:lpstr>
      <vt:lpstr>最近最久未使用算法</vt:lpstr>
      <vt:lpstr>先进先出算法（FIFO）</vt:lpstr>
      <vt:lpstr>先进先出算法（FIFO）</vt:lpstr>
      <vt:lpstr>先进先出算法（FIFO）</vt:lpstr>
      <vt:lpstr>时钟置换算法</vt:lpstr>
      <vt:lpstr>时钟置换算法</vt:lpstr>
      <vt:lpstr>时钟置换算法</vt:lpstr>
      <vt:lpstr>时钟置换算法</vt:lpstr>
      <vt:lpstr>时钟置换算法</vt:lpstr>
      <vt:lpstr>时钟置换算法</vt:lpstr>
      <vt:lpstr>时钟置换算法</vt:lpstr>
      <vt:lpstr>时钟置换算法</vt:lpstr>
      <vt:lpstr>时钟置换算法</vt:lpstr>
      <vt:lpstr>时钟置换算法</vt:lpstr>
      <vt:lpstr>时钟置换算法</vt:lpstr>
      <vt:lpstr>时钟置换算法</vt:lpstr>
      <vt:lpstr>时钟置换算法</vt:lpstr>
      <vt:lpstr>时钟置换算法与LRU代价对比</vt:lpstr>
      <vt:lpstr>最不常用算法</vt:lpstr>
      <vt:lpstr>回顾</vt:lpstr>
      <vt:lpstr>回顾</vt:lpstr>
      <vt:lpstr>作业（1）</vt:lpstr>
      <vt:lpstr>作业（2）</vt:lpstr>
      <vt:lpstr>本章总结</vt:lpstr>
      <vt:lpstr>PowerPoint 演示文稿</vt:lpstr>
      <vt:lpstr>作业（1）</vt:lpstr>
      <vt:lpstr>作业（2）</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第0章  课程简介</dc:title>
  <dc:creator>Mingsong Lu</dc:creator>
  <cp:lastModifiedBy>zhuzongwei1988@outlook.com</cp:lastModifiedBy>
  <cp:revision>411</cp:revision>
  <dcterms:created xsi:type="dcterms:W3CDTF">2015-03-10T09:46:44Z</dcterms:created>
  <dcterms:modified xsi:type="dcterms:W3CDTF">2018-08-03T07:42:56Z</dcterms:modified>
</cp:coreProperties>
</file>