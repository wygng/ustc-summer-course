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6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9" r:id="rId32"/>
    <p:sldId id="290" r:id="rId33"/>
    <p:sldId id="291" r:id="rId34"/>
    <p:sldId id="292" r:id="rId3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43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E82BA1-E2D1-46E6-8340-747B43510923}" type="datetimeFigureOut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3F40E8-B080-4069-9916-BB6BA31401C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257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F40E8-B080-4069-9916-BB6BA31401C1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598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F40E8-B080-4069-9916-BB6BA31401C1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369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9491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29491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AAA4A30-F643-404A-80F4-58BF81F7EE2C}" type="slidenum">
              <a:rPr lang="zh-CN" altLang="en-US">
                <a:cs typeface="华文仿宋" panose="02010600040101010101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n-US" altLang="zh-CN">
              <a:cs typeface="华文仿宋" panose="0201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0627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微软雅黑" pitchFamily="34" charset="-122"/>
                <a:ea typeface="微软雅黑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333C-49F9-46ED-98B4-F8B7BD19256D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041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98867"/>
            <a:ext cx="7886700" cy="693274"/>
          </a:xfrm>
        </p:spPr>
        <p:txBody>
          <a:bodyPr/>
          <a:lstStyle>
            <a:lvl1pPr>
              <a:defRPr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9FE76-DE8F-4E55-96EB-004C4C0E908D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203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2933B-4EBD-4496-A2C7-7CAB81684A88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900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0676"/>
            <a:ext cx="7886700" cy="693274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F1C0-DA2C-411A-AB5F-E5252D0B6E4C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087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154" y="49878"/>
            <a:ext cx="7886700" cy="789709"/>
          </a:xfrm>
        </p:spPr>
        <p:txBody>
          <a:bodyPr/>
          <a:lstStyle/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5213B-CC23-4E37-9DF1-6B04EFEB4034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913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07424"/>
            <a:ext cx="7886700" cy="693274"/>
          </a:xfrm>
        </p:spPr>
        <p:txBody>
          <a:bodyPr/>
          <a:lstStyle>
            <a:lvl1pPr>
              <a:defRPr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4D2-7CED-483E-9B67-D0630BBC4BAC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435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6D84E-2B85-4D13-AED6-76EF06447E77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815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C64D9-8592-4E37-97BC-AC698E798CDA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897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C37EA-8627-431F-BDE4-2A74D9D80E5D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76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07180"/>
            <a:ext cx="7886700" cy="693274"/>
          </a:xfrm>
        </p:spPr>
        <p:txBody>
          <a:bodyPr/>
          <a:lstStyle>
            <a:lvl1pPr>
              <a:defRPr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C64F5-AC40-4E66-9375-0E06561E8A37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777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B0F00-5027-4923-914F-7B47A0AC4B59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854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32363"/>
            <a:ext cx="7886700" cy="693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17600"/>
            <a:ext cx="7886700" cy="491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Segoe UI Symbol" panose="020B0502040204020203" pitchFamily="34" charset="0"/>
              </a:defRPr>
            </a:lvl1pPr>
          </a:lstStyle>
          <a:p>
            <a:fld id="{29362791-DA17-4E39-A6EE-290670BDA9CC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Segoe UI Symbol" panose="020B0502040204020203" pitchFamily="34" charset="0"/>
              </a:defRPr>
            </a:lvl1pPr>
          </a:lstStyle>
          <a:p>
            <a:r>
              <a:rPr lang="en-US" altLang="zh-CN">
                <a:ea typeface="Segoe UI Symbol" panose="020B0502040204020203" pitchFamily="34" charset="0"/>
              </a:rPr>
              <a:t>CH04  Inter-Process Communication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Segoe UI Symbol" panose="020B0502040204020203" pitchFamily="34" charset="0"/>
              </a:defRPr>
            </a:lvl1pPr>
          </a:lstStyle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290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Segoe UI Symbol" panose="020B0502040204020203" pitchFamily="34" charset="0"/>
          <a:ea typeface="华文黑体" panose="02010600040101010101" pitchFamily="2" charset="-122"/>
          <a:cs typeface="华文黑体" panose="02010600040101010101" pitchFamily="2" charset="-122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微软雅黑" pitchFamily="34" charset="-122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微软雅黑" pitchFamily="34" charset="-122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微软雅黑" pitchFamily="34" charset="-122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微软雅黑" pitchFamily="34" charset="-122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微软雅黑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024697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第</a:t>
            </a:r>
            <a:r>
              <a:rPr lang="en-US" altLang="zh-CN" sz="4800" dirty="0"/>
              <a:t>4</a:t>
            </a:r>
            <a:r>
              <a:rPr lang="zh-CN" altLang="en-US" sz="4800" dirty="0"/>
              <a:t>章  进程间通信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815398"/>
            <a:ext cx="6858000" cy="1655762"/>
          </a:xfrm>
        </p:spPr>
        <p:txBody>
          <a:bodyPr>
            <a:normAutofit/>
          </a:bodyPr>
          <a:lstStyle/>
          <a:p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朱宗卫</a:t>
            </a:r>
            <a:endParaRPr lang="en-US" altLang="zh-CN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中国科学技术大学  软件学院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2053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进程间的关系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按相互的感知程度区分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E6E44-8258-40C8-985F-C12B8ED499A6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395009"/>
              </p:ext>
            </p:extLst>
          </p:nvPr>
        </p:nvGraphicFramePr>
        <p:xfrm>
          <a:off x="611560" y="2132268"/>
          <a:ext cx="7920880" cy="374500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802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802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+mn-lt"/>
                          <a:ea typeface="楷体" panose="02010609060101010101" pitchFamily="49" charset="-122"/>
                        </a:rPr>
                        <a:t>感知程度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+mn-lt"/>
                          <a:ea typeface="楷体" panose="02010609060101010101" pitchFamily="49" charset="-122"/>
                        </a:rPr>
                        <a:t>关系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+mn-lt"/>
                          <a:ea typeface="楷体" panose="02010609060101010101" pitchFamily="49" charset="-122"/>
                        </a:rPr>
                        <a:t>造成的影响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+mn-lt"/>
                          <a:ea typeface="楷体" panose="02010609060101010101" pitchFamily="49" charset="-122"/>
                        </a:rPr>
                        <a:t>OS</a:t>
                      </a:r>
                      <a:r>
                        <a:rPr lang="zh-CN" altLang="en-US" b="1" dirty="0">
                          <a:latin typeface="+mn-lt"/>
                          <a:ea typeface="楷体" panose="02010609060101010101" pitchFamily="49" charset="-122"/>
                        </a:rPr>
                        <a:t>控制问题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62118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+mn-lt"/>
                          <a:ea typeface="楷体" panose="02010609060101010101" pitchFamily="49" charset="-122"/>
                        </a:rPr>
                        <a:t>彼此感知不到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+mn-lt"/>
                          <a:ea typeface="楷体" panose="02010609060101010101" pitchFamily="49" charset="-122"/>
                        </a:rPr>
                        <a:t>竞争</a:t>
                      </a:r>
                      <a:endParaRPr lang="en-US" altLang="zh-CN" b="1" dirty="0">
                        <a:latin typeface="+mn-lt"/>
                        <a:ea typeface="楷体" panose="02010609060101010101" pitchFamily="49" charset="-122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楷体" panose="02010609060101010101" pitchFamily="49" charset="-122"/>
                          <a:cs typeface="+mn-cs"/>
                        </a:rPr>
                        <a:t>（间接制约）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b="1" dirty="0">
                          <a:latin typeface="+mn-lt"/>
                          <a:ea typeface="楷体" panose="02010609060101010101" pitchFamily="49" charset="-122"/>
                        </a:rPr>
                        <a:t>计算结果不受竞争者影响</a:t>
                      </a:r>
                      <a:endParaRPr lang="en-US" altLang="zh-CN" sz="1600" b="1" dirty="0">
                        <a:latin typeface="+mn-lt"/>
                        <a:ea typeface="楷体" panose="02010609060101010101" pitchFamily="49" charset="-122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b="1" dirty="0">
                          <a:latin typeface="+mn-lt"/>
                          <a:ea typeface="楷体" panose="02010609060101010101" pitchFamily="49" charset="-122"/>
                        </a:rPr>
                        <a:t>执行时间可能不同</a:t>
                      </a:r>
                      <a:endParaRPr lang="zh-CN" altLang="en-US" b="1" dirty="0">
                        <a:latin typeface="+mn-lt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+mn-lt"/>
                          <a:ea typeface="楷体" panose="02010609060101010101" pitchFamily="49" charset="-122"/>
                        </a:rPr>
                        <a:t>互斥</a:t>
                      </a:r>
                      <a:endParaRPr lang="en-US" altLang="zh-CN" b="1" dirty="0">
                        <a:latin typeface="+mn-lt"/>
                        <a:ea typeface="楷体" panose="02010609060101010101" pitchFamily="49" charset="-122"/>
                      </a:endParaRPr>
                    </a:p>
                    <a:p>
                      <a:pPr algn="ctr"/>
                      <a:r>
                        <a:rPr lang="zh-CN" altLang="en-US" b="1" dirty="0">
                          <a:latin typeface="+mn-lt"/>
                          <a:ea typeface="楷体" panose="02010609060101010101" pitchFamily="49" charset="-122"/>
                        </a:rPr>
                        <a:t>死锁</a:t>
                      </a:r>
                      <a:endParaRPr lang="en-US" altLang="zh-CN" b="1" dirty="0">
                        <a:latin typeface="+mn-lt"/>
                        <a:ea typeface="楷体" panose="02010609060101010101" pitchFamily="49" charset="-122"/>
                      </a:endParaRPr>
                    </a:p>
                    <a:p>
                      <a:pPr algn="ctr"/>
                      <a:r>
                        <a:rPr lang="zh-CN" altLang="en-US" b="1" dirty="0">
                          <a:latin typeface="+mn-lt"/>
                          <a:ea typeface="楷体" panose="02010609060101010101" pitchFamily="49" charset="-122"/>
                        </a:rPr>
                        <a:t>饥饿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062118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+mn-lt"/>
                          <a:ea typeface="楷体" panose="02010609060101010101" pitchFamily="49" charset="-122"/>
                        </a:rPr>
                        <a:t>彼此间接的感知到存在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+mn-lt"/>
                          <a:ea typeface="楷体" panose="02010609060101010101" pitchFamily="49" charset="-122"/>
                        </a:rPr>
                        <a:t>基于共享的协作</a:t>
                      </a:r>
                      <a:endParaRPr lang="en-US" altLang="zh-CN" b="1" dirty="0">
                        <a:latin typeface="+mn-lt"/>
                        <a:ea typeface="楷体" panose="02010609060101010101" pitchFamily="49" charset="-122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楷体" panose="02010609060101010101" pitchFamily="49" charset="-122"/>
                          <a:cs typeface="+mn-cs"/>
                        </a:rPr>
                        <a:t>（直接制约）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楷体" panose="02010609060101010101" pitchFamily="49" charset="-122"/>
                          <a:cs typeface="+mn-cs"/>
                        </a:rPr>
                        <a:t>计算结果可能依赖其它进程</a:t>
                      </a:r>
                      <a:endParaRPr lang="en-US" altLang="zh-CN" sz="1600" b="1" kern="1200" dirty="0">
                        <a:solidFill>
                          <a:schemeClr val="dk1"/>
                        </a:solidFill>
                        <a:latin typeface="+mn-lt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楷体" panose="02010609060101010101" pitchFamily="49" charset="-122"/>
                          <a:cs typeface="+mn-cs"/>
                        </a:rPr>
                        <a:t>执行时间可能不同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+mn-lt"/>
                          <a:ea typeface="楷体" panose="02010609060101010101" pitchFamily="49" charset="-122"/>
                        </a:rPr>
                        <a:t>互斥</a:t>
                      </a:r>
                      <a:endParaRPr lang="en-US" altLang="zh-CN" b="1" dirty="0">
                        <a:latin typeface="+mn-lt"/>
                        <a:ea typeface="楷体" panose="02010609060101010101" pitchFamily="49" charset="-122"/>
                      </a:endParaRPr>
                    </a:p>
                    <a:p>
                      <a:pPr algn="ctr"/>
                      <a:r>
                        <a:rPr lang="zh-CN" altLang="en-US" b="1" dirty="0">
                          <a:latin typeface="+mn-lt"/>
                          <a:ea typeface="楷体" panose="02010609060101010101" pitchFamily="49" charset="-122"/>
                        </a:rPr>
                        <a:t>死锁</a:t>
                      </a:r>
                      <a:endParaRPr lang="en-US" altLang="zh-CN" b="1" dirty="0">
                        <a:latin typeface="+mn-lt"/>
                        <a:ea typeface="楷体" panose="02010609060101010101" pitchFamily="49" charset="-122"/>
                      </a:endParaRPr>
                    </a:p>
                    <a:p>
                      <a:pPr algn="ctr"/>
                      <a:r>
                        <a:rPr lang="zh-CN" altLang="en-US" b="1" dirty="0">
                          <a:latin typeface="+mn-lt"/>
                          <a:ea typeface="楷体" panose="02010609060101010101" pitchFamily="49" charset="-122"/>
                        </a:rPr>
                        <a:t>饥饿</a:t>
                      </a:r>
                      <a:endParaRPr lang="en-US" altLang="zh-CN" b="1" dirty="0">
                        <a:latin typeface="+mn-lt"/>
                        <a:ea typeface="楷体" panose="02010609060101010101" pitchFamily="49" charset="-122"/>
                      </a:endParaRPr>
                    </a:p>
                    <a:p>
                      <a:pPr algn="ctr"/>
                      <a:r>
                        <a:rPr lang="zh-CN" altLang="en-US" b="1" dirty="0">
                          <a:latin typeface="+mn-lt"/>
                          <a:ea typeface="楷体" panose="02010609060101010101" pitchFamily="49" charset="-122"/>
                        </a:rPr>
                        <a:t>数据一致性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062118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FF0000"/>
                          </a:solidFill>
                          <a:latin typeface="+mn-lt"/>
                          <a:ea typeface="楷体" panose="02010609060101010101" pitchFamily="49" charset="-122"/>
                        </a:rPr>
                        <a:t>彼此直接的感知到存在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FF0000"/>
                          </a:solidFill>
                          <a:latin typeface="+mn-lt"/>
                          <a:ea typeface="楷体" panose="02010609060101010101" pitchFamily="49" charset="-122"/>
                        </a:rPr>
                        <a:t>基于通信的协作</a:t>
                      </a:r>
                      <a:endParaRPr lang="en-US" altLang="zh-CN" b="1" dirty="0">
                        <a:solidFill>
                          <a:srgbClr val="FF0000"/>
                        </a:solidFill>
                        <a:latin typeface="+mn-lt"/>
                        <a:ea typeface="楷体" panose="02010609060101010101" pitchFamily="49" charset="-122"/>
                      </a:endParaRPr>
                    </a:p>
                    <a:p>
                      <a:pPr algn="ctr"/>
                      <a:r>
                        <a:rPr lang="zh-CN" altLang="en-US" sz="1600" b="1" dirty="0">
                          <a:solidFill>
                            <a:srgbClr val="FF0000"/>
                          </a:solidFill>
                          <a:latin typeface="+mn-lt"/>
                          <a:ea typeface="楷体" panose="02010609060101010101" pitchFamily="49" charset="-122"/>
                        </a:rPr>
                        <a:t>（直接制约）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楷体" panose="02010609060101010101" pitchFamily="49" charset="-122"/>
                          <a:cs typeface="+mn-cs"/>
                        </a:rPr>
                        <a:t>计算结果可能依赖其它进程</a:t>
                      </a:r>
                      <a:endParaRPr lang="en-US" altLang="zh-CN" sz="1600" b="1" kern="1200" dirty="0">
                        <a:solidFill>
                          <a:schemeClr val="dk1"/>
                        </a:solidFill>
                        <a:latin typeface="+mn-lt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楷体" panose="02010609060101010101" pitchFamily="49" charset="-122"/>
                          <a:cs typeface="+mn-cs"/>
                        </a:rPr>
                        <a:t>执行时间可能不同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+mn-lt"/>
                          <a:ea typeface="楷体" panose="02010609060101010101" pitchFamily="49" charset="-122"/>
                        </a:rPr>
                        <a:t>死锁</a:t>
                      </a:r>
                      <a:endParaRPr lang="en-US" altLang="zh-CN" b="1" dirty="0">
                        <a:latin typeface="+mn-lt"/>
                        <a:ea typeface="楷体" panose="02010609060101010101" pitchFamily="49" charset="-122"/>
                      </a:endParaRPr>
                    </a:p>
                    <a:p>
                      <a:pPr algn="ctr"/>
                      <a:r>
                        <a:rPr lang="zh-CN" altLang="en-US" b="1" dirty="0">
                          <a:latin typeface="+mn-lt"/>
                          <a:ea typeface="楷体" panose="02010609060101010101" pitchFamily="49" charset="-122"/>
                        </a:rPr>
                        <a:t>饥饿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6369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为什么存在进程间合作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信息共享</a:t>
            </a:r>
            <a:r>
              <a:rPr lang="zh-CN" altLang="en-US" dirty="0"/>
              <a:t>：多个用户或进程共享数据（如共享文件）</a:t>
            </a:r>
            <a:endParaRPr lang="en-US" altLang="zh-CN" dirty="0"/>
          </a:p>
          <a:p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en-US" dirty="0">
                <a:solidFill>
                  <a:srgbClr val="0000FF"/>
                </a:solidFill>
              </a:rPr>
              <a:t>计算加速</a:t>
            </a:r>
            <a:r>
              <a:rPr lang="zh-CN" altLang="en-US" dirty="0"/>
              <a:t>：为加速一个任务的执行速度，需要将其切分成多个子任务，并让这些子任务并行执行（并行器件）</a:t>
            </a:r>
            <a:r>
              <a:rPr lang="en-US" altLang="zh-CN" dirty="0"/>
              <a:t>——</a:t>
            </a:r>
            <a:r>
              <a:rPr lang="zh-CN" altLang="en-US" dirty="0"/>
              <a:t>子任务之间需要合作</a:t>
            </a:r>
            <a:endParaRPr lang="en-US" altLang="zh-CN" dirty="0"/>
          </a:p>
          <a:p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en-US" dirty="0">
                <a:solidFill>
                  <a:srgbClr val="0000FF"/>
                </a:solidFill>
              </a:rPr>
              <a:t>模块化设计</a:t>
            </a:r>
            <a:r>
              <a:rPr lang="zh-CN" altLang="en-US" dirty="0"/>
              <a:t>：系统采用模块化设计思想，每个模块是一个进程或线程，模块之间需要合作</a:t>
            </a:r>
            <a:endParaRPr lang="en-US" altLang="zh-CN" dirty="0"/>
          </a:p>
          <a:p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en-US" dirty="0">
                <a:solidFill>
                  <a:srgbClr val="0000FF"/>
                </a:solidFill>
              </a:rPr>
              <a:t>方便性</a:t>
            </a:r>
            <a:r>
              <a:rPr lang="zh-CN" altLang="en-US" dirty="0"/>
              <a:t>：一个用户可能同时运行多个任务，如编辑文件、听音乐、编译程序等。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69CDE-3EA7-4617-8DB2-D53EB06679A1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5019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进程间通信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进程合作要求提供进程间通信（</a:t>
            </a:r>
            <a:r>
              <a:rPr lang="en-US" altLang="zh-CN" dirty="0"/>
              <a:t>Inter-Process Communication</a:t>
            </a:r>
            <a:r>
              <a:rPr lang="zh-CN" altLang="en-US" dirty="0"/>
              <a:t>）机制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共享存储器（</a:t>
            </a:r>
            <a:r>
              <a:rPr lang="en-US" altLang="zh-CN" dirty="0"/>
              <a:t>Shared Memory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消息传递（</a:t>
            </a:r>
            <a:r>
              <a:rPr lang="en-US" altLang="zh-CN" dirty="0"/>
              <a:t>Message Passing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管道（</a:t>
            </a:r>
            <a:r>
              <a:rPr lang="en-US" altLang="zh-CN" dirty="0"/>
              <a:t>Pipe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套接字（</a:t>
            </a:r>
            <a:r>
              <a:rPr lang="en-US" altLang="zh-CN" dirty="0"/>
              <a:t>Sockets</a:t>
            </a:r>
            <a:r>
              <a:rPr lang="zh-CN" altLang="en-US" dirty="0"/>
              <a:t>）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3349-C42D-46BF-9180-FA9AFE239494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2443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共享存储器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系统在存储中划出一块共享存储区，各进程间可通过对共享存储区中的数据进行读或写来实现通信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进程在通信之前应向系统申请共享存储区中的一个分区，并指定该分区的关键字，若系统已经给进程分配了这样的分区，则将该分区的描述符返回给申请者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接着，申请者把获得的共享存储区连接到本进程上，此后就像读写普通存储器一样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主要用于</a:t>
            </a:r>
            <a:r>
              <a:rPr lang="en-US" altLang="zh-CN" dirty="0"/>
              <a:t>UNIX System V</a:t>
            </a:r>
            <a:r>
              <a:rPr lang="zh-CN" altLang="en-US" dirty="0"/>
              <a:t>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4B9C6-969A-4BED-8513-12FCF84043C6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1844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共享存储器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共享空间放在什么地方？</a:t>
            </a:r>
            <a:endParaRPr lang="en-US" altLang="zh-CN" dirty="0"/>
          </a:p>
          <a:p>
            <a:pPr lvl="1"/>
            <a:r>
              <a:rPr lang="zh-CN" altLang="en-US" dirty="0"/>
              <a:t>一般是在创建共享存储区的进程内部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操作系统的基本功能之一，就是保护进程之间对地址空间的访问互不干涉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共享存储器机制是这样的一种约定或机制，它使得进程之间可以打破这个边界，从而实现通信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25118-E879-4322-9869-BC4D0C02172D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6550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POSIX </a:t>
            </a:r>
            <a:r>
              <a:rPr lang="zh-CN" altLang="en-US" dirty="0"/>
              <a:t>共享存储器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D241D-6D0F-4874-8E15-38036D9884D1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97815"/>
            <a:ext cx="4540746" cy="5193625"/>
          </a:xfrm>
          <a:prstGeom prst="rect">
            <a:avLst/>
          </a:prstGeom>
        </p:spPr>
      </p:pic>
      <p:sp>
        <p:nvSpPr>
          <p:cNvPr id="8" name="Rounded Rectangular Callout 7"/>
          <p:cNvSpPr/>
          <p:nvPr/>
        </p:nvSpPr>
        <p:spPr>
          <a:xfrm>
            <a:off x="5364088" y="3240068"/>
            <a:ext cx="2520280" cy="432048"/>
          </a:xfrm>
          <a:prstGeom prst="wedgeRoundRectCallout">
            <a:avLst>
              <a:gd name="adj1" fmla="val -77804"/>
              <a:gd name="adj2" fmla="val 111475"/>
              <a:gd name="adj3" fmla="val 16667"/>
            </a:avLst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创建一个共享存储区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5796136" y="3861048"/>
            <a:ext cx="2520280" cy="432048"/>
          </a:xfrm>
          <a:prstGeom prst="wedgeRoundRectCallout">
            <a:avLst>
              <a:gd name="adj1" fmla="val -100293"/>
              <a:gd name="adj2" fmla="val 85238"/>
              <a:gd name="adj3" fmla="val 16667"/>
            </a:avLst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设置共享存储区大小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5724128" y="4509120"/>
            <a:ext cx="2520280" cy="432048"/>
          </a:xfrm>
          <a:prstGeom prst="wedgeRoundRectCallout">
            <a:avLst>
              <a:gd name="adj1" fmla="val -85000"/>
              <a:gd name="adj2" fmla="val 27518"/>
              <a:gd name="adj3" fmla="val 16667"/>
            </a:avLst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开辟空间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5724128" y="5232164"/>
            <a:ext cx="2520280" cy="432048"/>
          </a:xfrm>
          <a:prstGeom prst="wedgeRoundRectCallout">
            <a:avLst>
              <a:gd name="adj1" fmla="val -144370"/>
              <a:gd name="adj2" fmla="val 83489"/>
              <a:gd name="adj3" fmla="val 16667"/>
            </a:avLst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写入数据</a:t>
            </a:r>
          </a:p>
        </p:txBody>
      </p:sp>
    </p:spTree>
    <p:extLst>
      <p:ext uri="{BB962C8B-B14F-4D97-AF65-F5344CB8AC3E}">
        <p14:creationId xmlns:p14="http://schemas.microsoft.com/office/powerpoint/2010/main" val="3064546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POSIX </a:t>
            </a:r>
            <a:r>
              <a:rPr lang="zh-CN" altLang="en-US" dirty="0"/>
              <a:t>共享存储器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12CD8-A693-48EB-9B64-A033E3EA837A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6792"/>
            <a:ext cx="5194920" cy="4726359"/>
          </a:xfrm>
          <a:prstGeom prst="rect">
            <a:avLst/>
          </a:prstGeom>
        </p:spPr>
      </p:pic>
      <p:sp>
        <p:nvSpPr>
          <p:cNvPr id="8" name="Rounded Rectangular Callout 7"/>
          <p:cNvSpPr/>
          <p:nvPr/>
        </p:nvSpPr>
        <p:spPr>
          <a:xfrm>
            <a:off x="5220072" y="3140968"/>
            <a:ext cx="2520280" cy="432048"/>
          </a:xfrm>
          <a:prstGeom prst="wedgeRoundRectCallout">
            <a:avLst>
              <a:gd name="adj1" fmla="val -77804"/>
              <a:gd name="adj2" fmla="val 111475"/>
              <a:gd name="adj3" fmla="val 16667"/>
            </a:avLst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打开一个共享存储区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6058732" y="3703947"/>
            <a:ext cx="2520280" cy="432048"/>
          </a:xfrm>
          <a:prstGeom prst="wedgeRoundRectCallout">
            <a:avLst>
              <a:gd name="adj1" fmla="val -77804"/>
              <a:gd name="adj2" fmla="val 111475"/>
              <a:gd name="adj3" fmla="val 16667"/>
            </a:avLst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返回文件指针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5662603" y="4506498"/>
            <a:ext cx="2520280" cy="432048"/>
          </a:xfrm>
          <a:prstGeom prst="wedgeRoundRectCallout">
            <a:avLst>
              <a:gd name="adj1" fmla="val -104491"/>
              <a:gd name="adj2" fmla="val 48507"/>
              <a:gd name="adj3" fmla="val 16667"/>
            </a:avLst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读取文件并打印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5436096" y="5157192"/>
            <a:ext cx="2520280" cy="432048"/>
          </a:xfrm>
          <a:prstGeom prst="wedgeRoundRectCallout">
            <a:avLst>
              <a:gd name="adj1" fmla="val -156064"/>
              <a:gd name="adj2" fmla="val 52005"/>
              <a:gd name="adj3" fmla="val 16667"/>
            </a:avLst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删除共享存储区对象</a:t>
            </a:r>
          </a:p>
        </p:txBody>
      </p:sp>
    </p:spTree>
    <p:extLst>
      <p:ext uri="{BB962C8B-B14F-4D97-AF65-F5344CB8AC3E}">
        <p14:creationId xmlns:p14="http://schemas.microsoft.com/office/powerpoint/2010/main" val="1924889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共享存储器的特点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B050"/>
                </a:solidFill>
              </a:rPr>
              <a:t>访问速度快</a:t>
            </a:r>
            <a:r>
              <a:rPr lang="zh-CN" altLang="en-US" dirty="0"/>
              <a:t>：没有不必要的数据拷贝</a:t>
            </a:r>
            <a:endParaRPr lang="en-US" altLang="zh-CN" dirty="0"/>
          </a:p>
          <a:p>
            <a:r>
              <a:rPr lang="zh-CN" altLang="en-US" dirty="0">
                <a:solidFill>
                  <a:srgbClr val="00B050"/>
                </a:solidFill>
              </a:rPr>
              <a:t>降低访问复杂性</a:t>
            </a:r>
            <a:r>
              <a:rPr lang="zh-CN" altLang="en-US" dirty="0"/>
              <a:t>：直接操作内存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一般多用于单机系统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ECE8-73F8-4626-8BDF-6D33657F9DF0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2154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消息系统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消息系统是这样一种机制，它以消息或报文为单位在进程之间传递信息，在不需要共享地址空间的情况下实现进程间的通信与同步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多用于分布式系统，在分布式系统中，多个进程通常位于不同的计算机中，这些计算机通过网络相连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8024-4F83-4336-AC86-0C81C54E1785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4977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通信方式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直接通信</a:t>
            </a:r>
            <a:endParaRPr lang="en-US" altLang="zh-CN" dirty="0"/>
          </a:p>
          <a:p>
            <a:pPr lvl="1"/>
            <a:r>
              <a:rPr lang="zh-CN" altLang="en-US" dirty="0"/>
              <a:t>发送进程发消息时要指定接收进程的名字，反过来，接收时要指明发送进程的名字</a:t>
            </a:r>
            <a:endParaRPr lang="en-US" altLang="zh-CN" dirty="0"/>
          </a:p>
          <a:p>
            <a:pPr lvl="1"/>
            <a:r>
              <a:rPr lang="zh-CN" altLang="en-US" dirty="0"/>
              <a:t>通常，每个通信链路上只连接两个进程，每两个进程之间只有一条通信链路</a:t>
            </a:r>
            <a:endParaRPr lang="en-US" altLang="zh-CN" dirty="0"/>
          </a:p>
          <a:p>
            <a:pPr lvl="1"/>
            <a:r>
              <a:rPr lang="zh-CN" altLang="en-US" dirty="0"/>
              <a:t>系统提供两条原语用于消息通信</a:t>
            </a:r>
            <a:endParaRPr lang="en-US" altLang="zh-CN" dirty="0"/>
          </a:p>
          <a:p>
            <a:pPr lvl="2"/>
            <a:r>
              <a:rPr lang="en-US" altLang="zh-CN" dirty="0"/>
              <a:t>Send (</a:t>
            </a:r>
            <a:r>
              <a:rPr lang="en-US" altLang="zh-CN" dirty="0" err="1">
                <a:solidFill>
                  <a:srgbClr val="FF0000"/>
                </a:solidFill>
              </a:rPr>
              <a:t>reciever</a:t>
            </a:r>
            <a:r>
              <a:rPr lang="en-US" altLang="zh-CN" dirty="0"/>
              <a:t>, </a:t>
            </a:r>
            <a:r>
              <a:rPr lang="en-US" altLang="zh-CN" dirty="0" err="1"/>
              <a:t>msg</a:t>
            </a:r>
            <a:r>
              <a:rPr lang="en-US" altLang="zh-CN" dirty="0"/>
              <a:t>)</a:t>
            </a:r>
          </a:p>
          <a:p>
            <a:pPr lvl="2"/>
            <a:r>
              <a:rPr lang="en-US" altLang="zh-CN" dirty="0"/>
              <a:t>Receive (</a:t>
            </a:r>
            <a:r>
              <a:rPr lang="en-US" altLang="zh-CN" dirty="0">
                <a:solidFill>
                  <a:srgbClr val="FF0000"/>
                </a:solidFill>
              </a:rPr>
              <a:t>sender</a:t>
            </a:r>
            <a:r>
              <a:rPr lang="en-US" altLang="zh-CN" dirty="0"/>
              <a:t>, </a:t>
            </a:r>
            <a:r>
              <a:rPr lang="en-US" altLang="zh-CN" dirty="0" err="1"/>
              <a:t>msg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87B09-1C44-415F-A86A-AC73953B1E81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3840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通信方式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间接通信方式</a:t>
            </a:r>
            <a:endParaRPr lang="en-US" altLang="zh-CN" dirty="0"/>
          </a:p>
          <a:p>
            <a:pPr lvl="1"/>
            <a:r>
              <a:rPr lang="zh-CN" altLang="en-US" dirty="0"/>
              <a:t>收发双方进程通过某种中间实体，作为通信进程间的媒介，即信箱（</a:t>
            </a:r>
            <a:r>
              <a:rPr lang="en-US" altLang="zh-CN" dirty="0" err="1"/>
              <a:t>MailBox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发送或接收消息时不指定对方进程的名字，而是指定信箱</a:t>
            </a:r>
            <a:endParaRPr lang="en-US" altLang="zh-CN" dirty="0"/>
          </a:p>
          <a:p>
            <a:pPr lvl="2"/>
            <a:r>
              <a:rPr lang="zh-CN" altLang="en-US" dirty="0"/>
              <a:t>发送原语：</a:t>
            </a:r>
            <a:r>
              <a:rPr lang="en-US" altLang="zh-CN" dirty="0"/>
              <a:t>Send (Mailbox, </a:t>
            </a:r>
            <a:r>
              <a:rPr lang="en-US" altLang="zh-CN" dirty="0" err="1"/>
              <a:t>msg</a:t>
            </a:r>
            <a:r>
              <a:rPr lang="en-US" altLang="zh-CN" dirty="0"/>
              <a:t>)</a:t>
            </a:r>
          </a:p>
          <a:p>
            <a:pPr lvl="2"/>
            <a:r>
              <a:rPr lang="zh-CN" altLang="en-US" dirty="0"/>
              <a:t>接收原语：</a:t>
            </a:r>
            <a:r>
              <a:rPr lang="en-US" altLang="zh-CN" dirty="0"/>
              <a:t>Receive (Mailbox, </a:t>
            </a:r>
            <a:r>
              <a:rPr lang="en-US" altLang="zh-CN" dirty="0" err="1"/>
              <a:t>msg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通常不对发送方和接收方的个数进行限制，广泛应用于计算机网络中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C15D6-2E0B-4AAD-BE25-D20FA1CE467E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grpSp>
        <p:nvGrpSpPr>
          <p:cNvPr id="7" name="Group 20"/>
          <p:cNvGrpSpPr>
            <a:grpSpLocks/>
          </p:cNvGrpSpPr>
          <p:nvPr/>
        </p:nvGrpSpPr>
        <p:grpSpPr bwMode="auto">
          <a:xfrm>
            <a:off x="1169658" y="2645296"/>
            <a:ext cx="7116763" cy="1447800"/>
            <a:chOff x="710" y="2928"/>
            <a:chExt cx="4483" cy="912"/>
          </a:xfrm>
        </p:grpSpPr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2352" y="3120"/>
              <a:ext cx="816" cy="72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10800" anchor="ctr">
              <a:flatTx/>
            </a:bodyPr>
            <a:lstStyle/>
            <a:p>
              <a:pPr algn="ctr">
                <a:spcBef>
                  <a:spcPct val="40000"/>
                </a:spcBef>
              </a:pPr>
              <a:r>
                <a:rPr lang="zh-CN" altLang="en-US" b="1">
                  <a:latin typeface="楷体" pitchFamily="49" charset="-122"/>
                  <a:ea typeface="楷体" pitchFamily="49" charset="-122"/>
                </a:rPr>
                <a:t>信箱头</a:t>
              </a:r>
            </a:p>
            <a:p>
              <a:pPr algn="ctr">
                <a:spcBef>
                  <a:spcPct val="40000"/>
                </a:spcBef>
              </a:pPr>
              <a:r>
                <a:rPr lang="zh-CN" altLang="en-US" b="1">
                  <a:latin typeface="楷体" pitchFamily="49" charset="-122"/>
                  <a:ea typeface="楷体" pitchFamily="49" charset="-122"/>
                </a:rPr>
                <a:t>信箱体</a:t>
              </a:r>
            </a:p>
          </p:txBody>
        </p:sp>
        <p:sp>
          <p:nvSpPr>
            <p:cNvPr id="9" name="Line 11"/>
            <p:cNvSpPr>
              <a:spLocks noChangeShapeType="1"/>
            </p:cNvSpPr>
            <p:nvPr/>
          </p:nvSpPr>
          <p:spPr bwMode="auto">
            <a:xfrm>
              <a:off x="2352" y="34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楷体" pitchFamily="49" charset="-122"/>
                <a:ea typeface="楷体" pitchFamily="49" charset="-122"/>
              </a:endParaRPr>
            </a:p>
          </p:txBody>
        </p:sp>
        <p:sp>
          <p:nvSpPr>
            <p:cNvPr id="10" name="Oval 12"/>
            <p:cNvSpPr>
              <a:spLocks noChangeArrowheads="1"/>
            </p:cNvSpPr>
            <p:nvPr/>
          </p:nvSpPr>
          <p:spPr bwMode="auto">
            <a:xfrm>
              <a:off x="864" y="3072"/>
              <a:ext cx="480" cy="43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楷体" pitchFamily="49" charset="-122"/>
                <a:ea typeface="楷体" pitchFamily="49" charset="-122"/>
              </a:endParaRPr>
            </a:p>
          </p:txBody>
        </p:sp>
        <p:sp>
          <p:nvSpPr>
            <p:cNvPr id="11" name="Line 13"/>
            <p:cNvSpPr>
              <a:spLocks noChangeShapeType="1"/>
            </p:cNvSpPr>
            <p:nvPr/>
          </p:nvSpPr>
          <p:spPr bwMode="auto">
            <a:xfrm>
              <a:off x="1344" y="3408"/>
              <a:ext cx="1008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楷体" pitchFamily="49" charset="-122"/>
                <a:ea typeface="楷体" pitchFamily="49" charset="-122"/>
              </a:endParaRPr>
            </a:p>
          </p:txBody>
        </p:sp>
        <p:sp>
          <p:nvSpPr>
            <p:cNvPr id="12" name="Text Box 14"/>
            <p:cNvSpPr txBox="1">
              <a:spLocks noChangeArrowheads="1"/>
            </p:cNvSpPr>
            <p:nvPr/>
          </p:nvSpPr>
          <p:spPr bwMode="auto">
            <a:xfrm>
              <a:off x="710" y="3552"/>
              <a:ext cx="7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latin typeface="楷体" pitchFamily="49" charset="-122"/>
                  <a:ea typeface="楷体" pitchFamily="49" charset="-122"/>
                </a:rPr>
                <a:t>发送进程</a:t>
              </a:r>
            </a:p>
          </p:txBody>
        </p:sp>
        <p:sp>
          <p:nvSpPr>
            <p:cNvPr id="13" name="Oval 15"/>
            <p:cNvSpPr>
              <a:spLocks noChangeArrowheads="1"/>
            </p:cNvSpPr>
            <p:nvPr/>
          </p:nvSpPr>
          <p:spPr bwMode="auto">
            <a:xfrm>
              <a:off x="4512" y="2928"/>
              <a:ext cx="480" cy="43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楷体" pitchFamily="49" charset="-122"/>
                <a:ea typeface="楷体" pitchFamily="49" charset="-122"/>
              </a:endParaRPr>
            </a:p>
          </p:txBody>
        </p:sp>
        <p:sp>
          <p:nvSpPr>
            <p:cNvPr id="14" name="Text Box 16"/>
            <p:cNvSpPr txBox="1">
              <a:spLocks noChangeArrowheads="1"/>
            </p:cNvSpPr>
            <p:nvPr/>
          </p:nvSpPr>
          <p:spPr bwMode="auto">
            <a:xfrm>
              <a:off x="4402" y="3408"/>
              <a:ext cx="79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latin typeface="楷体" pitchFamily="49" charset="-122"/>
                  <a:ea typeface="楷体" pitchFamily="49" charset="-122"/>
                </a:rPr>
                <a:t>接收进程</a:t>
              </a:r>
            </a:p>
          </p:txBody>
        </p:sp>
        <p:sp>
          <p:nvSpPr>
            <p:cNvPr id="15" name="Line 17"/>
            <p:cNvSpPr>
              <a:spLocks noChangeShapeType="1"/>
            </p:cNvSpPr>
            <p:nvPr/>
          </p:nvSpPr>
          <p:spPr bwMode="auto">
            <a:xfrm flipV="1">
              <a:off x="3264" y="3264"/>
              <a:ext cx="1248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楷体" pitchFamily="49" charset="-122"/>
                <a:ea typeface="楷体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033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通信方式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接收者与发送者之间的关系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E27A-1E74-4656-9BA0-432608F59853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996173"/>
            <a:ext cx="6480720" cy="4241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9488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通信方式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信箱的拥有关系</a:t>
            </a:r>
            <a:endParaRPr lang="en-US" altLang="zh-CN" dirty="0"/>
          </a:p>
          <a:p>
            <a:pPr lvl="1"/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私用信箱</a:t>
            </a:r>
            <a:r>
              <a:rPr lang="zh-CN" altLang="en-US" dirty="0"/>
              <a:t>：用户进程自己创建、自己拥有。拥有者有权读取，其他用户只能发送消息到信箱中。拥有进程结束，信箱消失</a:t>
            </a:r>
            <a:endParaRPr lang="en-US" altLang="zh-CN" dirty="0"/>
          </a:p>
          <a:p>
            <a:pPr lvl="1"/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公用信箱</a:t>
            </a:r>
            <a:r>
              <a:rPr lang="zh-CN" altLang="en-US" dirty="0"/>
              <a:t>：</a:t>
            </a:r>
            <a:r>
              <a:rPr lang="en-US" altLang="zh-CN" dirty="0"/>
              <a:t>OS</a:t>
            </a:r>
            <a:r>
              <a:rPr lang="zh-CN" altLang="en-US" dirty="0"/>
              <a:t>创建，</a:t>
            </a:r>
            <a:r>
              <a:rPr lang="en-US" altLang="zh-CN" dirty="0"/>
              <a:t>OS</a:t>
            </a:r>
            <a:r>
              <a:rPr lang="zh-CN" altLang="en-US" dirty="0"/>
              <a:t>核准的进程可使用。核准的进程可读可写。系统运行过程中始终存在</a:t>
            </a:r>
            <a:endParaRPr lang="en-US" altLang="zh-CN" dirty="0"/>
          </a:p>
          <a:p>
            <a:pPr lvl="1"/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共享信箱</a:t>
            </a:r>
            <a:r>
              <a:rPr lang="zh-CN" altLang="en-US" dirty="0"/>
              <a:t>：某进程创建，创建进程指定哪些进程可以访问该信箱。拥有者和共享者都有权从信箱中取消息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32B62-B7D5-4514-A13B-36C4384FFCFB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5643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消息格式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3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zh-CN" altLang="en-US" sz="2400" b="1" dirty="0"/>
              <a:t>消息格式的确定取决于消息机制的设计目标，以及用于单机系统还是多机系统，关键是</a:t>
            </a:r>
            <a:r>
              <a:rPr lang="zh-CN" altLang="en-US" sz="2400" b="1" dirty="0">
                <a:solidFill>
                  <a:srgbClr val="FF0000"/>
                </a:solidFill>
              </a:rPr>
              <a:t>定长</a:t>
            </a:r>
            <a:r>
              <a:rPr lang="zh-CN" altLang="en-US" sz="2400" b="1" dirty="0"/>
              <a:t>或</a:t>
            </a:r>
            <a:r>
              <a:rPr lang="zh-CN" altLang="en-US" sz="2400" b="1" dirty="0">
                <a:solidFill>
                  <a:srgbClr val="FF0000"/>
                </a:solidFill>
              </a:rPr>
              <a:t>变长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7E035-49AB-4993-8F7F-5F5CC9F8BFD8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564904"/>
            <a:ext cx="3441700" cy="3443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1979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通信双方同步方式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50BC5-0272-4DDB-B098-A6BF04A52277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2051720" y="2636912"/>
          <a:ext cx="6096000" cy="2879726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56760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10850"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楷体" pitchFamily="49" charset="-122"/>
                          <a:ea typeface="楷体" pitchFamily="49" charset="-122"/>
                        </a:rPr>
                        <a:t>阻塞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楷体" pitchFamily="49" charset="-122"/>
                          <a:ea typeface="楷体" pitchFamily="49" charset="-122"/>
                        </a:rPr>
                        <a:t>非阻塞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3443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楷体" pitchFamily="49" charset="-122"/>
                          <a:ea typeface="楷体" pitchFamily="49" charset="-122"/>
                        </a:rPr>
                        <a:t>阻塞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楷体" pitchFamily="49" charset="-122"/>
                          <a:ea typeface="楷体" pitchFamily="49" charset="-122"/>
                        </a:rPr>
                        <a:t>称为“汇合”</a:t>
                      </a:r>
                      <a:endParaRPr lang="en-US" altLang="zh-CN" sz="2400" b="1" dirty="0">
                        <a:latin typeface="楷体" pitchFamily="49" charset="-122"/>
                        <a:ea typeface="楷体" pitchFamily="49" charset="-122"/>
                      </a:endParaRPr>
                    </a:p>
                    <a:p>
                      <a:pPr algn="ctr"/>
                      <a:r>
                        <a:rPr lang="zh-CN" altLang="en-US" sz="2400" b="1" dirty="0">
                          <a:latin typeface="楷体" pitchFamily="49" charset="-122"/>
                          <a:ea typeface="楷体" pitchFamily="49" charset="-122"/>
                        </a:rPr>
                        <a:t>紧密同步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楷体" pitchFamily="49" charset="-122"/>
                          <a:ea typeface="楷体" pitchFamily="49" charset="-122"/>
                        </a:rPr>
                        <a:t>最广泛的方式</a:t>
                      </a:r>
                      <a:endParaRPr lang="en-US" altLang="zh-CN" sz="2400" b="1" dirty="0">
                        <a:latin typeface="楷体" pitchFamily="49" charset="-122"/>
                        <a:ea typeface="楷体" pitchFamily="49" charset="-122"/>
                      </a:endParaRPr>
                    </a:p>
                    <a:p>
                      <a:pPr algn="ctr"/>
                      <a:r>
                        <a:rPr lang="zh-CN" altLang="en-US" sz="2400" b="1" dirty="0">
                          <a:latin typeface="楷体" pitchFamily="49" charset="-122"/>
                          <a:ea typeface="楷体" pitchFamily="49" charset="-122"/>
                        </a:rPr>
                        <a:t>例如服务器进程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3443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楷体" pitchFamily="49" charset="-122"/>
                          <a:ea typeface="楷体" pitchFamily="49" charset="-122"/>
                        </a:rPr>
                        <a:t>非阻塞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楷体" pitchFamily="49" charset="-122"/>
                          <a:ea typeface="楷体" pitchFamily="49" charset="-122"/>
                        </a:rPr>
                        <a:t>X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楷体" pitchFamily="49" charset="-122"/>
                          <a:ea typeface="楷体" pitchFamily="49" charset="-122"/>
                        </a:rPr>
                        <a:t>双方都无须等待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923928" y="1844824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B050"/>
                </a:solidFill>
                <a:latin typeface="楷体" pitchFamily="49" charset="-122"/>
                <a:ea typeface="楷体" pitchFamily="49" charset="-122"/>
              </a:rPr>
              <a:t>发送进程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600" y="3202669"/>
            <a:ext cx="6480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B050"/>
                </a:solidFill>
                <a:latin typeface="楷体" pitchFamily="49" charset="-122"/>
                <a:ea typeface="楷体" pitchFamily="49" charset="-122"/>
              </a:rPr>
              <a:t>接</a:t>
            </a:r>
            <a:endParaRPr lang="en-US" altLang="zh-CN" sz="2400" b="1" dirty="0">
              <a:solidFill>
                <a:srgbClr val="00B050"/>
              </a:solidFill>
              <a:latin typeface="楷体" pitchFamily="49" charset="-122"/>
              <a:ea typeface="楷体" pitchFamily="49" charset="-122"/>
            </a:endParaRPr>
          </a:p>
          <a:p>
            <a:pPr algn="ctr"/>
            <a:r>
              <a:rPr lang="zh-CN" altLang="en-US" sz="2400" b="1" dirty="0">
                <a:solidFill>
                  <a:srgbClr val="00B050"/>
                </a:solidFill>
                <a:latin typeface="楷体" pitchFamily="49" charset="-122"/>
                <a:ea typeface="楷体" pitchFamily="49" charset="-122"/>
              </a:rPr>
              <a:t>收</a:t>
            </a:r>
            <a:endParaRPr lang="en-US" altLang="zh-CN" sz="2400" b="1" dirty="0">
              <a:solidFill>
                <a:srgbClr val="00B050"/>
              </a:solidFill>
              <a:latin typeface="楷体" pitchFamily="49" charset="-122"/>
              <a:ea typeface="楷体" pitchFamily="49" charset="-122"/>
            </a:endParaRPr>
          </a:p>
          <a:p>
            <a:pPr algn="ctr"/>
            <a:r>
              <a:rPr lang="zh-CN" altLang="en-US" sz="2400" b="1" dirty="0">
                <a:solidFill>
                  <a:srgbClr val="00B050"/>
                </a:solidFill>
                <a:latin typeface="楷体" pitchFamily="49" charset="-122"/>
                <a:ea typeface="楷体" pitchFamily="49" charset="-122"/>
              </a:rPr>
              <a:t>进</a:t>
            </a:r>
            <a:endParaRPr lang="en-US" altLang="zh-CN" sz="2400" b="1" dirty="0">
              <a:solidFill>
                <a:srgbClr val="00B050"/>
              </a:solidFill>
              <a:latin typeface="楷体" pitchFamily="49" charset="-122"/>
              <a:ea typeface="楷体" pitchFamily="49" charset="-122"/>
            </a:endParaRPr>
          </a:p>
          <a:p>
            <a:pPr algn="ctr"/>
            <a:r>
              <a:rPr lang="zh-CN" altLang="en-US" sz="2400" b="1" dirty="0">
                <a:solidFill>
                  <a:srgbClr val="00B050"/>
                </a:solidFill>
                <a:latin typeface="楷体" pitchFamily="49" charset="-122"/>
                <a:ea typeface="楷体" pitchFamily="49" charset="-122"/>
              </a:rPr>
              <a:t>程</a:t>
            </a:r>
          </a:p>
        </p:txBody>
      </p:sp>
    </p:spTree>
    <p:extLst>
      <p:ext uri="{BB962C8B-B14F-4D97-AF65-F5344CB8AC3E}">
        <p14:creationId xmlns:p14="http://schemas.microsoft.com/office/powerpoint/2010/main" val="3048913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通信双方同步方式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发送方</a:t>
            </a:r>
            <a:endParaRPr lang="en-US" altLang="zh-CN" dirty="0"/>
          </a:p>
          <a:p>
            <a:pPr lvl="1"/>
            <a:r>
              <a:rPr lang="zh-CN" altLang="en-US" dirty="0"/>
              <a:t>通常使用“非阻塞”发送。好处是效率高；但是问题是，可能不加控制的不停发送，耗尽系统资源。程序员负担重，必须手工检测消息是否被收到；或者消息接受者发送回执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接收方</a:t>
            </a:r>
            <a:endParaRPr lang="en-US" altLang="zh-CN" dirty="0"/>
          </a:p>
          <a:p>
            <a:pPr lvl="1"/>
            <a:r>
              <a:rPr lang="zh-CN" altLang="en-US" dirty="0"/>
              <a:t>通常使用“阻塞”接收。问题是，一旦消息丢失，接收方会永远阻塞下去；若采用非阻塞接收，可能造成消息丢失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EF90F-AF94-474A-A656-40A2801C4D0E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5317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消息缓冲机制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P. B. Hansen, 1973</a:t>
            </a:r>
            <a:r>
              <a:rPr lang="zh-CN" altLang="en-US" dirty="0">
                <a:solidFill>
                  <a:srgbClr val="FF0000"/>
                </a:solidFill>
              </a:rPr>
              <a:t>年在设计</a:t>
            </a:r>
            <a:r>
              <a:rPr lang="en-US" altLang="zh-CN" dirty="0">
                <a:solidFill>
                  <a:srgbClr val="FF0000"/>
                </a:solidFill>
              </a:rPr>
              <a:t>RC4000</a:t>
            </a:r>
            <a:r>
              <a:rPr lang="zh-CN" altLang="en-US" dirty="0">
                <a:solidFill>
                  <a:srgbClr val="FF0000"/>
                </a:solidFill>
              </a:rPr>
              <a:t>时提出的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系统在操作系统空间设置</a:t>
            </a:r>
            <a:r>
              <a:rPr lang="zh-CN" altLang="en-US" dirty="0">
                <a:solidFill>
                  <a:srgbClr val="0033CC"/>
                </a:solidFill>
              </a:rPr>
              <a:t>一组缓冲区</a:t>
            </a:r>
            <a:r>
              <a:rPr lang="zh-CN" altLang="en-US" dirty="0"/>
              <a:t>，其中每个</a:t>
            </a:r>
            <a:r>
              <a:rPr lang="en-US" altLang="zh-CN" dirty="0"/>
              <a:t>BUFFER</a:t>
            </a:r>
            <a:r>
              <a:rPr lang="zh-CN" altLang="en-US" dirty="0"/>
              <a:t>可以存放一个消息</a:t>
            </a:r>
            <a:endParaRPr lang="en-US" altLang="zh-CN" dirty="0"/>
          </a:p>
          <a:p>
            <a:r>
              <a:rPr lang="zh-CN" altLang="en-US" dirty="0"/>
              <a:t>当发送进程需要发送消息时，执行</a:t>
            </a:r>
            <a:r>
              <a:rPr lang="en-US" altLang="zh-CN" dirty="0"/>
              <a:t>send</a:t>
            </a:r>
            <a:r>
              <a:rPr lang="zh-CN" altLang="en-US" dirty="0"/>
              <a:t>系统调用，操作系统为发送进程分配一个空缓冲区，并将所发送的消息从发送进程</a:t>
            </a:r>
            <a:r>
              <a:rPr lang="en-US" altLang="zh-CN" dirty="0"/>
              <a:t>copy</a:t>
            </a:r>
            <a:r>
              <a:rPr lang="zh-CN" altLang="en-US" dirty="0"/>
              <a:t>到缓冲区中，然后将该载有消息的缓冲区连接到接收进程的消息链链尾，如此就完成了发送过程</a:t>
            </a:r>
            <a:endParaRPr lang="en-US" altLang="zh-CN" dirty="0"/>
          </a:p>
          <a:p>
            <a:r>
              <a:rPr lang="zh-CN" altLang="en-US" dirty="0"/>
              <a:t>在以后某个时刻，当接收进程执行到</a:t>
            </a:r>
            <a:r>
              <a:rPr lang="en-US" altLang="zh-CN" dirty="0"/>
              <a:t>receive</a:t>
            </a:r>
            <a:r>
              <a:rPr lang="zh-CN" altLang="en-US" dirty="0"/>
              <a:t>接收原语时，由操作系统将载有消息的缓冲区从消息链中取出，并把消息内容</a:t>
            </a:r>
            <a:r>
              <a:rPr lang="en-US" altLang="zh-CN" dirty="0"/>
              <a:t>copy</a:t>
            </a:r>
            <a:r>
              <a:rPr lang="zh-CN" altLang="en-US" dirty="0"/>
              <a:t>到接收进程空间，之后收回缓冲区，如此就完成了消息的接收</a:t>
            </a:r>
          </a:p>
          <a:p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D837D-7FD4-47C6-A181-397F7F2CB395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013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消息缓冲机制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1F8A2-93FB-4449-BB35-EFB0C6B618E6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19</a:t>
            </a:fld>
            <a:endParaRPr lang="zh-CN" altLang="en-US" dirty="0"/>
          </a:p>
        </p:txBody>
      </p:sp>
      <p:sp>
        <p:nvSpPr>
          <p:cNvPr id="7" name="Rectangle 6" descr="紫色网格"/>
          <p:cNvSpPr>
            <a:spLocks noChangeArrowheads="1"/>
          </p:cNvSpPr>
          <p:nvPr/>
        </p:nvSpPr>
        <p:spPr bwMode="auto">
          <a:xfrm>
            <a:off x="539552" y="2284438"/>
            <a:ext cx="1230313" cy="1114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en-US" altLang="zh-CN" sz="2000" b="1">
                <a:solidFill>
                  <a:srgbClr val="FFFF00"/>
                </a:solidFill>
                <a:ea typeface="楷体" pitchFamily="49" charset="-122"/>
              </a:rPr>
              <a:t>PCB</a:t>
            </a:r>
          </a:p>
        </p:txBody>
      </p:sp>
      <p:sp>
        <p:nvSpPr>
          <p:cNvPr id="8" name="Rectangle 7" descr="紫色网格"/>
          <p:cNvSpPr>
            <a:spLocks noChangeArrowheads="1"/>
          </p:cNvSpPr>
          <p:nvPr/>
        </p:nvSpPr>
        <p:spPr bwMode="auto">
          <a:xfrm>
            <a:off x="1242815" y="3529038"/>
            <a:ext cx="1930400" cy="249078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en-US" altLang="zh-CN" sz="2000" b="1">
                <a:solidFill>
                  <a:srgbClr val="FFFF00"/>
                </a:solidFill>
                <a:ea typeface="楷体" pitchFamily="49" charset="-122"/>
              </a:rPr>
              <a:t>......</a:t>
            </a:r>
          </a:p>
          <a:p>
            <a:pPr algn="ctr"/>
            <a:r>
              <a:rPr lang="en-US" altLang="zh-CN" sz="2000" b="1">
                <a:solidFill>
                  <a:srgbClr val="FFFF00"/>
                </a:solidFill>
                <a:ea typeface="楷体" pitchFamily="49" charset="-122"/>
              </a:rPr>
              <a:t>Send(R,  M)</a:t>
            </a:r>
          </a:p>
          <a:p>
            <a:pPr algn="ctr"/>
            <a:r>
              <a:rPr lang="en-US" altLang="zh-CN" sz="2000" b="1">
                <a:solidFill>
                  <a:srgbClr val="FFFF00"/>
                </a:solidFill>
                <a:ea typeface="楷体" pitchFamily="49" charset="-122"/>
              </a:rPr>
              <a:t>......</a:t>
            </a:r>
          </a:p>
          <a:p>
            <a:pPr algn="ctr"/>
            <a:r>
              <a:rPr lang="en-US" altLang="zh-CN" sz="2000" b="1">
                <a:solidFill>
                  <a:srgbClr val="FFFF00"/>
                </a:solidFill>
                <a:ea typeface="楷体" pitchFamily="49" charset="-122"/>
              </a:rPr>
              <a:t>SIZE:</a:t>
            </a:r>
            <a:r>
              <a:rPr lang="zh-CN" altLang="zh-CN" sz="2000" b="1">
                <a:solidFill>
                  <a:srgbClr val="FFFF00"/>
                </a:solidFill>
                <a:ea typeface="楷体" pitchFamily="49" charset="-122"/>
              </a:rPr>
              <a:t>消息长度</a:t>
            </a:r>
          </a:p>
          <a:p>
            <a:pPr algn="ctr"/>
            <a:r>
              <a:rPr lang="en-US" altLang="zh-CN" sz="2000" b="1">
                <a:solidFill>
                  <a:srgbClr val="FFFF00"/>
                </a:solidFill>
                <a:ea typeface="楷体" pitchFamily="49" charset="-122"/>
              </a:rPr>
              <a:t>TEXT:</a:t>
            </a:r>
            <a:r>
              <a:rPr lang="zh-CN" altLang="zh-CN" sz="2000" b="1">
                <a:solidFill>
                  <a:srgbClr val="FFFF00"/>
                </a:solidFill>
                <a:ea typeface="楷体" pitchFamily="49" charset="-122"/>
              </a:rPr>
              <a:t>消息正文</a:t>
            </a:r>
            <a:endParaRPr lang="zh-CN" altLang="en-US" sz="2000" b="1">
              <a:solidFill>
                <a:srgbClr val="FFFF00"/>
              </a:solidFill>
              <a:ea typeface="楷体" pitchFamily="49" charset="-122"/>
            </a:endParaRPr>
          </a:p>
        </p:txBody>
      </p:sp>
      <p:sp>
        <p:nvSpPr>
          <p:cNvPr id="9" name="Rectangle 8" descr="紫色网格"/>
          <p:cNvSpPr>
            <a:spLocks noChangeArrowheads="1"/>
          </p:cNvSpPr>
          <p:nvPr/>
        </p:nvSpPr>
        <p:spPr bwMode="auto">
          <a:xfrm>
            <a:off x="5673527" y="2219350"/>
            <a:ext cx="1285875" cy="11128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en-US" altLang="zh-CN" sz="2000" b="1">
                <a:solidFill>
                  <a:srgbClr val="FFFF00"/>
                </a:solidFill>
                <a:ea typeface="楷体" pitchFamily="49" charset="-122"/>
              </a:rPr>
              <a:t>......</a:t>
            </a:r>
          </a:p>
          <a:p>
            <a:pPr algn="ctr"/>
            <a:r>
              <a:rPr lang="zh-CN" altLang="en-US" sz="2000" b="1">
                <a:solidFill>
                  <a:srgbClr val="FFFF00"/>
                </a:solidFill>
                <a:ea typeface="楷体" pitchFamily="49" charset="-122"/>
              </a:rPr>
              <a:t>消息链指针</a:t>
            </a:r>
          </a:p>
          <a:p>
            <a:pPr algn="ctr"/>
            <a:r>
              <a:rPr lang="en-US" altLang="zh-CN" sz="2000" b="1">
                <a:solidFill>
                  <a:srgbClr val="FFFF00"/>
                </a:solidFill>
                <a:ea typeface="楷体" pitchFamily="49" charset="-122"/>
              </a:rPr>
              <a:t>......</a:t>
            </a:r>
          </a:p>
        </p:txBody>
      </p:sp>
      <p:sp>
        <p:nvSpPr>
          <p:cNvPr id="10" name="Rectangle 9" descr="紫色网格"/>
          <p:cNvSpPr>
            <a:spLocks noChangeArrowheads="1"/>
          </p:cNvSpPr>
          <p:nvPr/>
        </p:nvSpPr>
        <p:spPr bwMode="auto">
          <a:xfrm>
            <a:off x="6459340" y="3529038"/>
            <a:ext cx="2000250" cy="23590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en-US" altLang="zh-CN" sz="2000" b="1">
                <a:solidFill>
                  <a:srgbClr val="FFFF00"/>
                </a:solidFill>
                <a:ea typeface="楷体" pitchFamily="49" charset="-122"/>
              </a:rPr>
              <a:t>......</a:t>
            </a:r>
          </a:p>
          <a:p>
            <a:pPr algn="ctr"/>
            <a:r>
              <a:rPr lang="en-US" altLang="zh-CN" sz="2000" b="1">
                <a:solidFill>
                  <a:srgbClr val="FFFF00"/>
                </a:solidFill>
                <a:ea typeface="楷体" pitchFamily="49" charset="-122"/>
              </a:rPr>
              <a:t>Receive(pid, N)</a:t>
            </a:r>
          </a:p>
          <a:p>
            <a:pPr algn="ctr"/>
            <a:r>
              <a:rPr lang="en-US" altLang="zh-CN" sz="2000" b="1">
                <a:solidFill>
                  <a:srgbClr val="FFFF00"/>
                </a:solidFill>
                <a:ea typeface="楷体" pitchFamily="49" charset="-122"/>
              </a:rPr>
              <a:t>......</a:t>
            </a:r>
          </a:p>
          <a:p>
            <a:pPr algn="ctr"/>
            <a:r>
              <a:rPr lang="en-US" altLang="zh-CN" sz="2000" b="1">
                <a:solidFill>
                  <a:srgbClr val="FFFF00"/>
                </a:solidFill>
                <a:ea typeface="楷体" pitchFamily="49" charset="-122"/>
              </a:rPr>
              <a:t>SIZE:</a:t>
            </a:r>
            <a:r>
              <a:rPr lang="zh-CN" altLang="en-US" sz="2000" b="1">
                <a:solidFill>
                  <a:srgbClr val="FFFF00"/>
                </a:solidFill>
                <a:ea typeface="楷体" pitchFamily="49" charset="-122"/>
              </a:rPr>
              <a:t>消息长度</a:t>
            </a:r>
          </a:p>
          <a:p>
            <a:pPr algn="ctr"/>
            <a:r>
              <a:rPr lang="en-US" altLang="zh-CN" sz="2000" b="1">
                <a:solidFill>
                  <a:srgbClr val="FFFF00"/>
                </a:solidFill>
                <a:ea typeface="楷体" pitchFamily="49" charset="-122"/>
              </a:rPr>
              <a:t>TEXT:</a:t>
            </a:r>
            <a:r>
              <a:rPr lang="zh-CN" altLang="zh-CN" sz="2000" b="1">
                <a:solidFill>
                  <a:srgbClr val="FFFF00"/>
                </a:solidFill>
                <a:ea typeface="楷体" pitchFamily="49" charset="-122"/>
              </a:rPr>
              <a:t>消息正文</a:t>
            </a:r>
            <a:endParaRPr lang="zh-CN" altLang="en-US" sz="2000" b="1">
              <a:solidFill>
                <a:srgbClr val="FFFF00"/>
              </a:solidFill>
              <a:ea typeface="楷体" pitchFamily="49" charset="-122"/>
            </a:endParaRPr>
          </a:p>
          <a:p>
            <a:pPr algn="ctr"/>
            <a:r>
              <a:rPr lang="en-US" altLang="zh-CN" sz="2000" b="1">
                <a:solidFill>
                  <a:srgbClr val="FFFF00"/>
                </a:solidFill>
                <a:ea typeface="楷体" pitchFamily="49" charset="-122"/>
              </a:rPr>
              <a:t>......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71315" y="4821263"/>
            <a:ext cx="47961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9900"/>
                </a:solidFill>
                <a:ea typeface="楷体" pitchFamily="49" charset="-122"/>
              </a:rPr>
              <a:t>M: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959277" y="4756175"/>
            <a:ext cx="42351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9900"/>
                </a:solidFill>
                <a:ea typeface="楷体" pitchFamily="49" charset="-122"/>
              </a:rPr>
              <a:t>N: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5673527" y="1674838"/>
            <a:ext cx="141897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rgbClr val="009900"/>
                </a:solidFill>
                <a:ea typeface="楷体" pitchFamily="49" charset="-122"/>
              </a:rPr>
              <a:t>接受进程 </a:t>
            </a:r>
            <a:r>
              <a:rPr lang="en-US" altLang="zh-CN" sz="2000" b="1">
                <a:solidFill>
                  <a:srgbClr val="009900"/>
                </a:solidFill>
                <a:ea typeface="楷体" pitchFamily="49" charset="-122"/>
              </a:rPr>
              <a:t>R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814190" y="1674838"/>
            <a:ext cx="139653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rgbClr val="009900"/>
                </a:solidFill>
                <a:ea typeface="楷体" pitchFamily="49" charset="-122"/>
              </a:rPr>
              <a:t>发送进程 </a:t>
            </a:r>
            <a:r>
              <a:rPr lang="en-US" altLang="zh-CN" sz="2000" b="1">
                <a:solidFill>
                  <a:srgbClr val="009900"/>
                </a:solidFill>
                <a:ea typeface="楷体" pitchFamily="49" charset="-122"/>
              </a:rPr>
              <a:t>S</a:t>
            </a:r>
          </a:p>
        </p:txBody>
      </p:sp>
      <p:sp>
        <p:nvSpPr>
          <p:cNvPr id="15" name="Rectangle 15" descr="紫色网格"/>
          <p:cNvSpPr>
            <a:spLocks noChangeArrowheads="1"/>
          </p:cNvSpPr>
          <p:nvPr/>
        </p:nvSpPr>
        <p:spPr bwMode="auto">
          <a:xfrm>
            <a:off x="4173340" y="2152675"/>
            <a:ext cx="714375" cy="45878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zh-CN" altLang="en-US" sz="2000" b="1">
                <a:solidFill>
                  <a:srgbClr val="FFFF00"/>
                </a:solidFill>
                <a:ea typeface="楷体" pitchFamily="49" charset="-122"/>
              </a:rPr>
              <a:t>消息</a:t>
            </a:r>
          </a:p>
        </p:txBody>
      </p:sp>
      <p:sp>
        <p:nvSpPr>
          <p:cNvPr id="16" name="Rectangle 16" descr="紫色网格"/>
          <p:cNvSpPr>
            <a:spLocks noChangeArrowheads="1"/>
          </p:cNvSpPr>
          <p:nvPr/>
        </p:nvSpPr>
        <p:spPr bwMode="auto">
          <a:xfrm>
            <a:off x="4168577" y="4610125"/>
            <a:ext cx="714375" cy="45878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zh-CN" altLang="en-US" sz="2000" b="1">
                <a:solidFill>
                  <a:srgbClr val="FFFF00"/>
                </a:solidFill>
                <a:ea typeface="楷体" pitchFamily="49" charset="-122"/>
              </a:rPr>
              <a:t>消息</a:t>
            </a:r>
          </a:p>
        </p:txBody>
      </p:sp>
      <p:sp>
        <p:nvSpPr>
          <p:cNvPr id="17" name="Rectangle 17" descr="紫色网格"/>
          <p:cNvSpPr>
            <a:spLocks noChangeArrowheads="1"/>
          </p:cNvSpPr>
          <p:nvPr/>
        </p:nvSpPr>
        <p:spPr bwMode="auto">
          <a:xfrm>
            <a:off x="4173340" y="3463950"/>
            <a:ext cx="714375" cy="45878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zh-CN" altLang="en-US" sz="2000" b="1">
                <a:solidFill>
                  <a:srgbClr val="FFFF00"/>
                </a:solidFill>
                <a:ea typeface="楷体" pitchFamily="49" charset="-122"/>
              </a:rPr>
              <a:t>消息</a:t>
            </a:r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4284465" y="4059263"/>
            <a:ext cx="59824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8000"/>
                </a:solidFill>
                <a:ea typeface="楷体" pitchFamily="49" charset="-122"/>
              </a:rPr>
              <a:t>......</a:t>
            </a:r>
          </a:p>
        </p:txBody>
      </p:sp>
      <p:sp>
        <p:nvSpPr>
          <p:cNvPr id="19" name="Line 19"/>
          <p:cNvSpPr>
            <a:spLocks noChangeShapeType="1"/>
          </p:cNvSpPr>
          <p:nvPr/>
        </p:nvSpPr>
        <p:spPr bwMode="auto">
          <a:xfrm>
            <a:off x="7030840" y="2678138"/>
            <a:ext cx="785812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20" name="Line 20"/>
          <p:cNvSpPr>
            <a:spLocks noChangeShapeType="1"/>
          </p:cNvSpPr>
          <p:nvPr/>
        </p:nvSpPr>
        <p:spPr bwMode="auto">
          <a:xfrm flipV="1">
            <a:off x="7816652" y="1628800"/>
            <a:ext cx="0" cy="1049338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21" name="Line 21"/>
          <p:cNvSpPr>
            <a:spLocks noChangeShapeType="1"/>
          </p:cNvSpPr>
          <p:nvPr/>
        </p:nvSpPr>
        <p:spPr bwMode="auto">
          <a:xfrm flipH="1">
            <a:off x="3673277" y="1628800"/>
            <a:ext cx="4143375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22" name="Line 22"/>
          <p:cNvSpPr>
            <a:spLocks noChangeShapeType="1"/>
          </p:cNvSpPr>
          <p:nvPr/>
        </p:nvSpPr>
        <p:spPr bwMode="auto">
          <a:xfrm>
            <a:off x="3673277" y="1628800"/>
            <a:ext cx="0" cy="523875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23" name="Line 23"/>
          <p:cNvSpPr>
            <a:spLocks noChangeShapeType="1"/>
          </p:cNvSpPr>
          <p:nvPr/>
        </p:nvSpPr>
        <p:spPr bwMode="auto">
          <a:xfrm>
            <a:off x="3673277" y="2152675"/>
            <a:ext cx="50006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grpSp>
        <p:nvGrpSpPr>
          <p:cNvPr id="24" name="Group 24"/>
          <p:cNvGrpSpPr>
            <a:grpSpLocks/>
          </p:cNvGrpSpPr>
          <p:nvPr/>
        </p:nvGrpSpPr>
        <p:grpSpPr bwMode="auto">
          <a:xfrm>
            <a:off x="3673277" y="2546375"/>
            <a:ext cx="1643063" cy="917575"/>
            <a:chOff x="2208" y="912"/>
            <a:chExt cx="1104" cy="672"/>
          </a:xfrm>
        </p:grpSpPr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3024" y="912"/>
              <a:ext cx="288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itchFamily="49" charset="-122"/>
              </a:endParaRPr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3312" y="912"/>
              <a:ext cx="0" cy="28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itchFamily="49" charset="-122"/>
              </a:endParaRPr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H="1">
              <a:off x="2208" y="1200"/>
              <a:ext cx="1104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itchFamily="49" charset="-122"/>
              </a:endParaRPr>
            </a:p>
          </p:txBody>
        </p: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>
              <a:off x="2208" y="1200"/>
              <a:ext cx="0" cy="384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itchFamily="49" charset="-122"/>
              </a:endParaRPr>
            </a:p>
          </p:txBody>
        </p:sp>
        <p:sp>
          <p:nvSpPr>
            <p:cNvPr id="29" name="Line 29"/>
            <p:cNvSpPr>
              <a:spLocks noChangeShapeType="1"/>
            </p:cNvSpPr>
            <p:nvPr/>
          </p:nvSpPr>
          <p:spPr bwMode="auto">
            <a:xfrm>
              <a:off x="2208" y="1584"/>
              <a:ext cx="336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itchFamily="49" charset="-122"/>
              </a:endParaRPr>
            </a:p>
          </p:txBody>
        </p:sp>
      </p:grpSp>
      <p:sp>
        <p:nvSpPr>
          <p:cNvPr id="30" name="Line 31"/>
          <p:cNvSpPr>
            <a:spLocks noChangeShapeType="1"/>
          </p:cNvSpPr>
          <p:nvPr/>
        </p:nvSpPr>
        <p:spPr bwMode="auto">
          <a:xfrm>
            <a:off x="4887715" y="3922738"/>
            <a:ext cx="428625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31" name="Line 32"/>
          <p:cNvSpPr>
            <a:spLocks noChangeShapeType="1"/>
          </p:cNvSpPr>
          <p:nvPr/>
        </p:nvSpPr>
        <p:spPr bwMode="auto">
          <a:xfrm>
            <a:off x="5316340" y="3922738"/>
            <a:ext cx="0" cy="3937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32" name="Line 34"/>
          <p:cNvSpPr>
            <a:spLocks noChangeShapeType="1"/>
          </p:cNvSpPr>
          <p:nvPr/>
        </p:nvSpPr>
        <p:spPr bwMode="auto">
          <a:xfrm>
            <a:off x="3673277" y="4316438"/>
            <a:ext cx="0" cy="523875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33" name="Line 35"/>
          <p:cNvSpPr>
            <a:spLocks noChangeShapeType="1"/>
          </p:cNvSpPr>
          <p:nvPr/>
        </p:nvSpPr>
        <p:spPr bwMode="auto">
          <a:xfrm>
            <a:off x="3679627" y="4308500"/>
            <a:ext cx="50006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34" name="Line 37"/>
          <p:cNvSpPr>
            <a:spLocks noChangeShapeType="1"/>
          </p:cNvSpPr>
          <p:nvPr/>
        </p:nvSpPr>
        <p:spPr bwMode="auto">
          <a:xfrm>
            <a:off x="4887715" y="4905400"/>
            <a:ext cx="428625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35" name="Line 38"/>
          <p:cNvSpPr>
            <a:spLocks noChangeShapeType="1"/>
          </p:cNvSpPr>
          <p:nvPr/>
        </p:nvSpPr>
        <p:spPr bwMode="auto">
          <a:xfrm>
            <a:off x="5316340" y="4905400"/>
            <a:ext cx="0" cy="3937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36" name="Line 39"/>
          <p:cNvSpPr>
            <a:spLocks noChangeShapeType="1"/>
          </p:cNvSpPr>
          <p:nvPr/>
        </p:nvSpPr>
        <p:spPr bwMode="auto">
          <a:xfrm flipH="1">
            <a:off x="3673277" y="5299100"/>
            <a:ext cx="164306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673277" y="5299100"/>
            <a:ext cx="0" cy="523875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38" name="Line 41"/>
          <p:cNvSpPr>
            <a:spLocks noChangeShapeType="1"/>
          </p:cNvSpPr>
          <p:nvPr/>
        </p:nvSpPr>
        <p:spPr bwMode="auto">
          <a:xfrm>
            <a:off x="3673277" y="5822975"/>
            <a:ext cx="50006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3708202" y="4840313"/>
            <a:ext cx="50006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40" name="Line 44"/>
          <p:cNvSpPr>
            <a:spLocks noChangeShapeType="1"/>
          </p:cNvSpPr>
          <p:nvPr/>
        </p:nvSpPr>
        <p:spPr bwMode="auto">
          <a:xfrm>
            <a:off x="4922640" y="4330725"/>
            <a:ext cx="428625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7628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消息缓冲机制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123D4-307C-46B4-86CB-4EAFC4F4E88C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sp>
        <p:nvSpPr>
          <p:cNvPr id="7" name="Rectangle 2" descr="紫色网格"/>
          <p:cNvSpPr>
            <a:spLocks noChangeArrowheads="1"/>
          </p:cNvSpPr>
          <p:nvPr/>
        </p:nvSpPr>
        <p:spPr bwMode="auto">
          <a:xfrm>
            <a:off x="539552" y="2284438"/>
            <a:ext cx="1230313" cy="1114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en-US" altLang="zh-CN" sz="2000" b="1">
                <a:solidFill>
                  <a:srgbClr val="FFFF00"/>
                </a:solidFill>
                <a:ea typeface="楷体" pitchFamily="49" charset="-122"/>
              </a:rPr>
              <a:t>PCB</a:t>
            </a:r>
          </a:p>
        </p:txBody>
      </p:sp>
      <p:sp>
        <p:nvSpPr>
          <p:cNvPr id="8" name="Rectangle 3" descr="绿色大理石"/>
          <p:cNvSpPr>
            <a:spLocks noChangeArrowheads="1"/>
          </p:cNvSpPr>
          <p:nvPr/>
        </p:nvSpPr>
        <p:spPr bwMode="auto">
          <a:xfrm>
            <a:off x="1242815" y="3529038"/>
            <a:ext cx="1930400" cy="2490787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en-US" altLang="zh-CN" sz="2000" b="1">
                <a:solidFill>
                  <a:srgbClr val="FFFF00"/>
                </a:solidFill>
                <a:ea typeface="楷体" pitchFamily="49" charset="-122"/>
              </a:rPr>
              <a:t>......</a:t>
            </a:r>
          </a:p>
          <a:p>
            <a:pPr algn="ctr"/>
            <a:r>
              <a:rPr lang="en-US" altLang="zh-CN" sz="2000" b="1">
                <a:solidFill>
                  <a:srgbClr val="FFFF00"/>
                </a:solidFill>
                <a:ea typeface="楷体" pitchFamily="49" charset="-122"/>
              </a:rPr>
              <a:t>Send(R,  M)</a:t>
            </a:r>
          </a:p>
          <a:p>
            <a:pPr algn="ctr"/>
            <a:r>
              <a:rPr lang="en-US" altLang="zh-CN" sz="2000" b="1">
                <a:solidFill>
                  <a:srgbClr val="FFFF00"/>
                </a:solidFill>
                <a:ea typeface="楷体" pitchFamily="49" charset="-122"/>
              </a:rPr>
              <a:t>......</a:t>
            </a:r>
          </a:p>
          <a:p>
            <a:pPr algn="ctr"/>
            <a:r>
              <a:rPr lang="en-US" altLang="zh-CN" sz="2000" b="1">
                <a:solidFill>
                  <a:srgbClr val="FFFF00"/>
                </a:solidFill>
                <a:ea typeface="楷体" pitchFamily="49" charset="-122"/>
              </a:rPr>
              <a:t>SIZE:</a:t>
            </a:r>
            <a:r>
              <a:rPr lang="zh-CN" altLang="zh-CN" sz="2000" b="1">
                <a:solidFill>
                  <a:srgbClr val="FFFF00"/>
                </a:solidFill>
                <a:ea typeface="楷体" pitchFamily="49" charset="-122"/>
              </a:rPr>
              <a:t>消息长度</a:t>
            </a:r>
          </a:p>
          <a:p>
            <a:pPr algn="ctr"/>
            <a:r>
              <a:rPr lang="en-US" altLang="zh-CN" sz="2000" b="1">
                <a:solidFill>
                  <a:srgbClr val="FFFF00"/>
                </a:solidFill>
                <a:ea typeface="楷体" pitchFamily="49" charset="-122"/>
              </a:rPr>
              <a:t>TEXT:</a:t>
            </a:r>
            <a:r>
              <a:rPr lang="zh-CN" altLang="zh-CN" sz="2000" b="1">
                <a:solidFill>
                  <a:srgbClr val="FFFF00"/>
                </a:solidFill>
                <a:ea typeface="楷体" pitchFamily="49" charset="-122"/>
              </a:rPr>
              <a:t>消息正文</a:t>
            </a:r>
            <a:endParaRPr lang="zh-CN" altLang="en-US" sz="2000" b="1">
              <a:solidFill>
                <a:srgbClr val="FFFF00"/>
              </a:solidFill>
              <a:ea typeface="楷体" pitchFamily="49" charset="-122"/>
            </a:endParaRPr>
          </a:p>
        </p:txBody>
      </p:sp>
      <p:sp>
        <p:nvSpPr>
          <p:cNvPr id="9" name="Rectangle 4" descr="紫色网格"/>
          <p:cNvSpPr>
            <a:spLocks noChangeArrowheads="1"/>
          </p:cNvSpPr>
          <p:nvPr/>
        </p:nvSpPr>
        <p:spPr bwMode="auto">
          <a:xfrm>
            <a:off x="5673527" y="2219350"/>
            <a:ext cx="1285875" cy="11128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en-US" altLang="zh-CN" sz="2000" b="1">
                <a:solidFill>
                  <a:srgbClr val="FFFF00"/>
                </a:solidFill>
                <a:ea typeface="楷体" pitchFamily="49" charset="-122"/>
              </a:rPr>
              <a:t>......</a:t>
            </a:r>
          </a:p>
          <a:p>
            <a:pPr algn="ctr"/>
            <a:r>
              <a:rPr lang="zh-CN" altLang="en-US" sz="2000" b="1">
                <a:solidFill>
                  <a:srgbClr val="FFFF00"/>
                </a:solidFill>
                <a:ea typeface="楷体" pitchFamily="49" charset="-122"/>
              </a:rPr>
              <a:t>消息链指针</a:t>
            </a:r>
          </a:p>
          <a:p>
            <a:pPr algn="ctr"/>
            <a:r>
              <a:rPr lang="en-US" altLang="zh-CN" sz="2000" b="1">
                <a:solidFill>
                  <a:srgbClr val="FFFF00"/>
                </a:solidFill>
                <a:ea typeface="楷体" pitchFamily="49" charset="-122"/>
              </a:rPr>
              <a:t>......</a:t>
            </a:r>
          </a:p>
        </p:txBody>
      </p:sp>
      <p:sp>
        <p:nvSpPr>
          <p:cNvPr id="10" name="Rectangle 5" descr="紫色网格"/>
          <p:cNvSpPr>
            <a:spLocks noChangeArrowheads="1"/>
          </p:cNvSpPr>
          <p:nvPr/>
        </p:nvSpPr>
        <p:spPr bwMode="auto">
          <a:xfrm>
            <a:off x="6459340" y="3529038"/>
            <a:ext cx="2000250" cy="23590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en-US" altLang="zh-CN" sz="2000" b="1">
                <a:solidFill>
                  <a:srgbClr val="FFFF00"/>
                </a:solidFill>
                <a:ea typeface="楷体" pitchFamily="49" charset="-122"/>
              </a:rPr>
              <a:t>......</a:t>
            </a:r>
          </a:p>
          <a:p>
            <a:pPr algn="ctr"/>
            <a:r>
              <a:rPr lang="en-US" altLang="zh-CN" sz="2000" b="1">
                <a:solidFill>
                  <a:srgbClr val="FFFF00"/>
                </a:solidFill>
                <a:ea typeface="楷体" pitchFamily="49" charset="-122"/>
              </a:rPr>
              <a:t>Receive(pid, N)</a:t>
            </a:r>
          </a:p>
          <a:p>
            <a:pPr algn="ctr"/>
            <a:r>
              <a:rPr lang="en-US" altLang="zh-CN" sz="2000" b="1">
                <a:solidFill>
                  <a:srgbClr val="FFFF00"/>
                </a:solidFill>
                <a:ea typeface="楷体" pitchFamily="49" charset="-122"/>
              </a:rPr>
              <a:t>......</a:t>
            </a:r>
          </a:p>
          <a:p>
            <a:pPr algn="ctr"/>
            <a:r>
              <a:rPr lang="en-US" altLang="zh-CN" sz="2000" b="1">
                <a:solidFill>
                  <a:srgbClr val="FFFF00"/>
                </a:solidFill>
                <a:ea typeface="楷体" pitchFamily="49" charset="-122"/>
              </a:rPr>
              <a:t>SIZE:</a:t>
            </a:r>
            <a:r>
              <a:rPr lang="zh-CN" altLang="en-US" sz="2000" b="1">
                <a:solidFill>
                  <a:srgbClr val="FFFF00"/>
                </a:solidFill>
                <a:ea typeface="楷体" pitchFamily="49" charset="-122"/>
              </a:rPr>
              <a:t>消息长度</a:t>
            </a:r>
          </a:p>
          <a:p>
            <a:pPr algn="ctr"/>
            <a:r>
              <a:rPr lang="en-US" altLang="zh-CN" sz="2000" b="1">
                <a:solidFill>
                  <a:srgbClr val="FFFF00"/>
                </a:solidFill>
                <a:ea typeface="楷体" pitchFamily="49" charset="-122"/>
              </a:rPr>
              <a:t>TEXT:</a:t>
            </a:r>
            <a:r>
              <a:rPr lang="zh-CN" altLang="zh-CN" sz="2000" b="1">
                <a:solidFill>
                  <a:srgbClr val="FFFF00"/>
                </a:solidFill>
                <a:ea typeface="楷体" pitchFamily="49" charset="-122"/>
              </a:rPr>
              <a:t>消息正文</a:t>
            </a:r>
            <a:endParaRPr lang="zh-CN" altLang="en-US" sz="2000" b="1">
              <a:solidFill>
                <a:srgbClr val="FFFF00"/>
              </a:solidFill>
              <a:ea typeface="楷体" pitchFamily="49" charset="-122"/>
            </a:endParaRPr>
          </a:p>
          <a:p>
            <a:pPr algn="ctr"/>
            <a:r>
              <a:rPr lang="en-US" altLang="zh-CN" sz="2000" b="1">
                <a:solidFill>
                  <a:srgbClr val="FFFF00"/>
                </a:solidFill>
                <a:ea typeface="楷体" pitchFamily="49" charset="-122"/>
              </a:rPr>
              <a:t>......</a:t>
            </a: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671315" y="4821263"/>
            <a:ext cx="47961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9900"/>
                </a:solidFill>
                <a:ea typeface="楷体" pitchFamily="49" charset="-122"/>
              </a:rPr>
              <a:t>M: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5959277" y="4756175"/>
            <a:ext cx="42351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9900"/>
                </a:solidFill>
                <a:ea typeface="楷体" pitchFamily="49" charset="-122"/>
              </a:rPr>
              <a:t>N: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5673527" y="1674838"/>
            <a:ext cx="141897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rgbClr val="009900"/>
                </a:solidFill>
                <a:ea typeface="楷体" pitchFamily="49" charset="-122"/>
              </a:rPr>
              <a:t>接受进程 </a:t>
            </a:r>
            <a:r>
              <a:rPr lang="en-US" altLang="zh-CN" sz="2000" b="1">
                <a:solidFill>
                  <a:srgbClr val="009900"/>
                </a:solidFill>
                <a:ea typeface="楷体" pitchFamily="49" charset="-122"/>
              </a:rPr>
              <a:t>R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814190" y="1674838"/>
            <a:ext cx="139653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rgbClr val="009900"/>
                </a:solidFill>
                <a:ea typeface="楷体" pitchFamily="49" charset="-122"/>
              </a:rPr>
              <a:t>发送进程 </a:t>
            </a:r>
            <a:r>
              <a:rPr lang="en-US" altLang="zh-CN" sz="2000" b="1">
                <a:solidFill>
                  <a:srgbClr val="009900"/>
                </a:solidFill>
                <a:ea typeface="楷体" pitchFamily="49" charset="-122"/>
              </a:rPr>
              <a:t>S</a:t>
            </a:r>
          </a:p>
        </p:txBody>
      </p:sp>
      <p:sp>
        <p:nvSpPr>
          <p:cNvPr id="15" name="Rectangle 10" descr="紫色网格"/>
          <p:cNvSpPr>
            <a:spLocks noChangeArrowheads="1"/>
          </p:cNvSpPr>
          <p:nvPr/>
        </p:nvSpPr>
        <p:spPr bwMode="auto">
          <a:xfrm>
            <a:off x="4173340" y="2152675"/>
            <a:ext cx="714375" cy="45878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zh-CN" altLang="en-US" sz="2000" b="1">
                <a:solidFill>
                  <a:srgbClr val="FFFF00"/>
                </a:solidFill>
                <a:ea typeface="楷体" pitchFamily="49" charset="-122"/>
              </a:rPr>
              <a:t>消息</a:t>
            </a:r>
          </a:p>
        </p:txBody>
      </p:sp>
      <p:sp>
        <p:nvSpPr>
          <p:cNvPr id="16" name="Rectangle 11" descr="紫色网格"/>
          <p:cNvSpPr>
            <a:spLocks noChangeArrowheads="1"/>
          </p:cNvSpPr>
          <p:nvPr/>
        </p:nvSpPr>
        <p:spPr bwMode="auto">
          <a:xfrm>
            <a:off x="4168577" y="4610125"/>
            <a:ext cx="714375" cy="45878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zh-CN" altLang="en-US" sz="2000" b="1">
                <a:solidFill>
                  <a:srgbClr val="FFFF00"/>
                </a:solidFill>
                <a:ea typeface="楷体" pitchFamily="49" charset="-122"/>
              </a:rPr>
              <a:t>消息</a:t>
            </a:r>
          </a:p>
        </p:txBody>
      </p:sp>
      <p:sp>
        <p:nvSpPr>
          <p:cNvPr id="17" name="Rectangle 12" descr="紫色网格"/>
          <p:cNvSpPr>
            <a:spLocks noChangeArrowheads="1"/>
          </p:cNvSpPr>
          <p:nvPr/>
        </p:nvSpPr>
        <p:spPr bwMode="auto">
          <a:xfrm>
            <a:off x="4173340" y="3463950"/>
            <a:ext cx="714375" cy="45878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zh-CN" altLang="en-US" sz="2000" b="1">
                <a:solidFill>
                  <a:srgbClr val="FFFF00"/>
                </a:solidFill>
                <a:ea typeface="楷体" pitchFamily="49" charset="-122"/>
              </a:rPr>
              <a:t>消息</a:t>
            </a:r>
          </a:p>
        </p:txBody>
      </p: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4284465" y="4059263"/>
            <a:ext cx="59824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8000"/>
                </a:solidFill>
                <a:ea typeface="楷体" pitchFamily="49" charset="-122"/>
              </a:rPr>
              <a:t>......</a:t>
            </a:r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>
            <a:off x="7030840" y="2678138"/>
            <a:ext cx="785812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20" name="Line 15"/>
          <p:cNvSpPr>
            <a:spLocks noChangeShapeType="1"/>
          </p:cNvSpPr>
          <p:nvPr/>
        </p:nvSpPr>
        <p:spPr bwMode="auto">
          <a:xfrm flipV="1">
            <a:off x="7816652" y="1628800"/>
            <a:ext cx="0" cy="1049338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21" name="Line 16"/>
          <p:cNvSpPr>
            <a:spLocks noChangeShapeType="1"/>
          </p:cNvSpPr>
          <p:nvPr/>
        </p:nvSpPr>
        <p:spPr bwMode="auto">
          <a:xfrm flipH="1">
            <a:off x="3673277" y="1628800"/>
            <a:ext cx="4143375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22" name="Line 17"/>
          <p:cNvSpPr>
            <a:spLocks noChangeShapeType="1"/>
          </p:cNvSpPr>
          <p:nvPr/>
        </p:nvSpPr>
        <p:spPr bwMode="auto">
          <a:xfrm>
            <a:off x="3673277" y="1628800"/>
            <a:ext cx="0" cy="523875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23" name="Line 18"/>
          <p:cNvSpPr>
            <a:spLocks noChangeShapeType="1"/>
          </p:cNvSpPr>
          <p:nvPr/>
        </p:nvSpPr>
        <p:spPr bwMode="auto">
          <a:xfrm>
            <a:off x="3673277" y="2152675"/>
            <a:ext cx="50006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grpSp>
        <p:nvGrpSpPr>
          <p:cNvPr id="24" name="Group 19"/>
          <p:cNvGrpSpPr>
            <a:grpSpLocks/>
          </p:cNvGrpSpPr>
          <p:nvPr/>
        </p:nvGrpSpPr>
        <p:grpSpPr bwMode="auto">
          <a:xfrm>
            <a:off x="3673277" y="2546375"/>
            <a:ext cx="1643063" cy="917575"/>
            <a:chOff x="2208" y="912"/>
            <a:chExt cx="1104" cy="672"/>
          </a:xfrm>
        </p:grpSpPr>
        <p:sp>
          <p:nvSpPr>
            <p:cNvPr id="25" name="Line 20"/>
            <p:cNvSpPr>
              <a:spLocks noChangeShapeType="1"/>
            </p:cNvSpPr>
            <p:nvPr/>
          </p:nvSpPr>
          <p:spPr bwMode="auto">
            <a:xfrm>
              <a:off x="3024" y="912"/>
              <a:ext cx="288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itchFamily="49" charset="-122"/>
              </a:endParaRPr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>
              <a:off x="3312" y="912"/>
              <a:ext cx="0" cy="28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itchFamily="49" charset="-122"/>
              </a:endParaRPr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 flipH="1">
              <a:off x="2208" y="1200"/>
              <a:ext cx="1104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itchFamily="49" charset="-122"/>
              </a:endParaRPr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2208" y="1200"/>
              <a:ext cx="0" cy="384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itchFamily="49" charset="-122"/>
              </a:endParaRPr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>
              <a:off x="2208" y="1584"/>
              <a:ext cx="336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itchFamily="49" charset="-122"/>
              </a:endParaRPr>
            </a:p>
          </p:txBody>
        </p:sp>
      </p:grpSp>
      <p:sp>
        <p:nvSpPr>
          <p:cNvPr id="30" name="Line 25"/>
          <p:cNvSpPr>
            <a:spLocks noChangeShapeType="1"/>
          </p:cNvSpPr>
          <p:nvPr/>
        </p:nvSpPr>
        <p:spPr bwMode="auto">
          <a:xfrm>
            <a:off x="4887715" y="3922738"/>
            <a:ext cx="428625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31" name="Line 26"/>
          <p:cNvSpPr>
            <a:spLocks noChangeShapeType="1"/>
          </p:cNvSpPr>
          <p:nvPr/>
        </p:nvSpPr>
        <p:spPr bwMode="auto">
          <a:xfrm>
            <a:off x="5316340" y="3922738"/>
            <a:ext cx="0" cy="3937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32" name="Line 27"/>
          <p:cNvSpPr>
            <a:spLocks noChangeShapeType="1"/>
          </p:cNvSpPr>
          <p:nvPr/>
        </p:nvSpPr>
        <p:spPr bwMode="auto">
          <a:xfrm>
            <a:off x="3673277" y="4316438"/>
            <a:ext cx="0" cy="523875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33" name="Line 28"/>
          <p:cNvSpPr>
            <a:spLocks noChangeShapeType="1"/>
          </p:cNvSpPr>
          <p:nvPr/>
        </p:nvSpPr>
        <p:spPr bwMode="auto">
          <a:xfrm>
            <a:off x="3679627" y="4308500"/>
            <a:ext cx="50006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34" name="Line 29"/>
          <p:cNvSpPr>
            <a:spLocks noChangeShapeType="1"/>
          </p:cNvSpPr>
          <p:nvPr/>
        </p:nvSpPr>
        <p:spPr bwMode="auto">
          <a:xfrm>
            <a:off x="4887715" y="4905400"/>
            <a:ext cx="428625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35" name="Line 30"/>
          <p:cNvSpPr>
            <a:spLocks noChangeShapeType="1"/>
          </p:cNvSpPr>
          <p:nvPr/>
        </p:nvSpPr>
        <p:spPr bwMode="auto">
          <a:xfrm>
            <a:off x="5316340" y="4905400"/>
            <a:ext cx="0" cy="3937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36" name="Line 31"/>
          <p:cNvSpPr>
            <a:spLocks noChangeShapeType="1"/>
          </p:cNvSpPr>
          <p:nvPr/>
        </p:nvSpPr>
        <p:spPr bwMode="auto">
          <a:xfrm flipH="1">
            <a:off x="3673277" y="5299100"/>
            <a:ext cx="164306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37" name="Line 32"/>
          <p:cNvSpPr>
            <a:spLocks noChangeShapeType="1"/>
          </p:cNvSpPr>
          <p:nvPr/>
        </p:nvSpPr>
        <p:spPr bwMode="auto">
          <a:xfrm>
            <a:off x="3673277" y="5299100"/>
            <a:ext cx="0" cy="523875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38" name="Line 33"/>
          <p:cNvSpPr>
            <a:spLocks noChangeShapeType="1"/>
          </p:cNvSpPr>
          <p:nvPr/>
        </p:nvSpPr>
        <p:spPr bwMode="auto">
          <a:xfrm>
            <a:off x="3673277" y="5822975"/>
            <a:ext cx="50006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39" name="Line 35"/>
          <p:cNvSpPr>
            <a:spLocks noChangeShapeType="1"/>
          </p:cNvSpPr>
          <p:nvPr/>
        </p:nvSpPr>
        <p:spPr bwMode="auto">
          <a:xfrm>
            <a:off x="3708202" y="4840313"/>
            <a:ext cx="50006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40" name="Line 36"/>
          <p:cNvSpPr>
            <a:spLocks noChangeShapeType="1"/>
          </p:cNvSpPr>
          <p:nvPr/>
        </p:nvSpPr>
        <p:spPr bwMode="auto">
          <a:xfrm>
            <a:off x="4922640" y="4330725"/>
            <a:ext cx="428625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itchFamily="49" charset="-122"/>
            </a:endParaRPr>
          </a:p>
        </p:txBody>
      </p:sp>
      <p:sp>
        <p:nvSpPr>
          <p:cNvPr id="41" name="Rectangle 37" descr="紫色网格"/>
          <p:cNvSpPr>
            <a:spLocks noChangeArrowheads="1"/>
          </p:cNvSpPr>
          <p:nvPr/>
        </p:nvSpPr>
        <p:spPr bwMode="auto">
          <a:xfrm>
            <a:off x="1907977" y="4840313"/>
            <a:ext cx="714375" cy="45878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zh-CN" altLang="en-US" sz="2000" b="1">
                <a:solidFill>
                  <a:srgbClr val="FFFF00"/>
                </a:solidFill>
                <a:ea typeface="楷体" pitchFamily="49" charset="-122"/>
              </a:rPr>
              <a:t>消息</a:t>
            </a:r>
          </a:p>
        </p:txBody>
      </p:sp>
    </p:spTree>
    <p:extLst>
      <p:ext uri="{BB962C8B-B14F-4D97-AF65-F5344CB8AC3E}">
        <p14:creationId xmlns:p14="http://schemas.microsoft.com/office/powerpoint/2010/main" val="3134797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57 0.01919 L 0.25243 0.1135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43" y="47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1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消息缓冲机制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B2191-E8C9-4333-9EF0-4A1A3C3A3C30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21</a:t>
            </a:fld>
            <a:endParaRPr lang="zh-CN" altLang="en-US" dirty="0"/>
          </a:p>
        </p:txBody>
      </p:sp>
      <p:sp>
        <p:nvSpPr>
          <p:cNvPr id="7" name="Rectangle 2" descr="紫色网格"/>
          <p:cNvSpPr>
            <a:spLocks noChangeArrowheads="1"/>
          </p:cNvSpPr>
          <p:nvPr/>
        </p:nvSpPr>
        <p:spPr bwMode="auto">
          <a:xfrm>
            <a:off x="539552" y="2284438"/>
            <a:ext cx="1230313" cy="1114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en-US" altLang="zh-CN" sz="2000" b="1">
                <a:solidFill>
                  <a:srgbClr val="FFFF00"/>
                </a:solidFill>
              </a:rPr>
              <a:t>PCB</a:t>
            </a:r>
          </a:p>
        </p:txBody>
      </p:sp>
      <p:sp>
        <p:nvSpPr>
          <p:cNvPr id="8" name="Rectangle 3" descr="绿色大理石"/>
          <p:cNvSpPr>
            <a:spLocks noChangeArrowheads="1"/>
          </p:cNvSpPr>
          <p:nvPr/>
        </p:nvSpPr>
        <p:spPr bwMode="auto">
          <a:xfrm>
            <a:off x="1242815" y="3529038"/>
            <a:ext cx="1930400" cy="2490787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en-US" altLang="zh-CN" sz="2000" b="1">
                <a:solidFill>
                  <a:srgbClr val="FFFF00"/>
                </a:solidFill>
              </a:rPr>
              <a:t>......</a:t>
            </a:r>
          </a:p>
          <a:p>
            <a:pPr algn="ctr"/>
            <a:r>
              <a:rPr lang="en-US" altLang="zh-CN" sz="2000" b="1">
                <a:solidFill>
                  <a:srgbClr val="FFFF00"/>
                </a:solidFill>
              </a:rPr>
              <a:t>Send(R,  M)</a:t>
            </a:r>
          </a:p>
          <a:p>
            <a:pPr algn="ctr"/>
            <a:r>
              <a:rPr lang="en-US" altLang="zh-CN" sz="2000" b="1">
                <a:solidFill>
                  <a:srgbClr val="FFFF00"/>
                </a:solidFill>
              </a:rPr>
              <a:t>......</a:t>
            </a:r>
          </a:p>
          <a:p>
            <a:pPr algn="ctr"/>
            <a:r>
              <a:rPr lang="en-US" altLang="zh-CN" sz="2000" b="1">
                <a:solidFill>
                  <a:srgbClr val="FFFF00"/>
                </a:solidFill>
              </a:rPr>
              <a:t>SIZE:</a:t>
            </a:r>
            <a:r>
              <a:rPr lang="zh-CN" altLang="zh-CN" sz="2000" b="1">
                <a:solidFill>
                  <a:srgbClr val="FFFF00"/>
                </a:solidFill>
              </a:rPr>
              <a:t>消息长度</a:t>
            </a:r>
          </a:p>
          <a:p>
            <a:pPr algn="ctr"/>
            <a:r>
              <a:rPr lang="en-US" altLang="zh-CN" sz="2000" b="1">
                <a:solidFill>
                  <a:srgbClr val="FFFF00"/>
                </a:solidFill>
              </a:rPr>
              <a:t>TEXT:</a:t>
            </a:r>
            <a:r>
              <a:rPr lang="zh-CN" altLang="zh-CN" sz="2000" b="1">
                <a:solidFill>
                  <a:srgbClr val="FFFF00"/>
                </a:solidFill>
              </a:rPr>
              <a:t>消息正文</a:t>
            </a:r>
            <a:endParaRPr lang="zh-CN" altLang="en-US" sz="2000" b="1">
              <a:solidFill>
                <a:srgbClr val="FFFF00"/>
              </a:solidFill>
            </a:endParaRPr>
          </a:p>
        </p:txBody>
      </p:sp>
      <p:sp>
        <p:nvSpPr>
          <p:cNvPr id="9" name="Rectangle 4" descr="紫色网格"/>
          <p:cNvSpPr>
            <a:spLocks noChangeArrowheads="1"/>
          </p:cNvSpPr>
          <p:nvPr/>
        </p:nvSpPr>
        <p:spPr bwMode="auto">
          <a:xfrm>
            <a:off x="5673527" y="2219350"/>
            <a:ext cx="1285875" cy="11128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en-US" altLang="zh-CN" sz="2000" b="1">
                <a:solidFill>
                  <a:srgbClr val="FFFF00"/>
                </a:solidFill>
              </a:rPr>
              <a:t>......</a:t>
            </a:r>
          </a:p>
          <a:p>
            <a:pPr algn="ctr"/>
            <a:r>
              <a:rPr lang="zh-CN" altLang="en-US" sz="2000" b="1">
                <a:solidFill>
                  <a:srgbClr val="FFFF00"/>
                </a:solidFill>
              </a:rPr>
              <a:t>消息链指针</a:t>
            </a:r>
          </a:p>
          <a:p>
            <a:pPr algn="ctr"/>
            <a:r>
              <a:rPr lang="en-US" altLang="zh-CN" sz="2000" b="1">
                <a:solidFill>
                  <a:srgbClr val="FFFF00"/>
                </a:solidFill>
              </a:rPr>
              <a:t>......</a:t>
            </a:r>
          </a:p>
        </p:txBody>
      </p:sp>
      <p:sp>
        <p:nvSpPr>
          <p:cNvPr id="10" name="Rectangle 5" descr="绿色大理石"/>
          <p:cNvSpPr>
            <a:spLocks noChangeArrowheads="1"/>
          </p:cNvSpPr>
          <p:nvPr/>
        </p:nvSpPr>
        <p:spPr bwMode="auto">
          <a:xfrm>
            <a:off x="6459340" y="3529038"/>
            <a:ext cx="2000250" cy="2359025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en-US" altLang="zh-CN" sz="2000" b="1">
                <a:solidFill>
                  <a:srgbClr val="FFFF00"/>
                </a:solidFill>
              </a:rPr>
              <a:t>......</a:t>
            </a:r>
          </a:p>
          <a:p>
            <a:pPr algn="ctr"/>
            <a:r>
              <a:rPr lang="en-US" altLang="zh-CN" sz="2000" b="1">
                <a:solidFill>
                  <a:srgbClr val="FFFF00"/>
                </a:solidFill>
              </a:rPr>
              <a:t>Receive(pid, N)</a:t>
            </a:r>
          </a:p>
          <a:p>
            <a:pPr algn="ctr"/>
            <a:r>
              <a:rPr lang="en-US" altLang="zh-CN" sz="2000" b="1">
                <a:solidFill>
                  <a:srgbClr val="FFFF00"/>
                </a:solidFill>
              </a:rPr>
              <a:t>......</a:t>
            </a:r>
          </a:p>
          <a:p>
            <a:pPr algn="ctr"/>
            <a:r>
              <a:rPr lang="en-US" altLang="zh-CN" sz="2000" b="1">
                <a:solidFill>
                  <a:srgbClr val="FFFF00"/>
                </a:solidFill>
              </a:rPr>
              <a:t>SIZE:</a:t>
            </a:r>
            <a:r>
              <a:rPr lang="zh-CN" altLang="en-US" sz="2000" b="1">
                <a:solidFill>
                  <a:srgbClr val="FFFF00"/>
                </a:solidFill>
              </a:rPr>
              <a:t>消息长度</a:t>
            </a:r>
          </a:p>
          <a:p>
            <a:pPr algn="ctr"/>
            <a:r>
              <a:rPr lang="en-US" altLang="zh-CN" sz="2000" b="1">
                <a:solidFill>
                  <a:srgbClr val="FFFF00"/>
                </a:solidFill>
              </a:rPr>
              <a:t>TEXT:</a:t>
            </a:r>
            <a:r>
              <a:rPr lang="zh-CN" altLang="zh-CN" sz="2000" b="1">
                <a:solidFill>
                  <a:srgbClr val="FFFF00"/>
                </a:solidFill>
              </a:rPr>
              <a:t>消息正文</a:t>
            </a:r>
            <a:endParaRPr lang="zh-CN" altLang="en-US" sz="2000" b="1">
              <a:solidFill>
                <a:srgbClr val="FFFF00"/>
              </a:solidFill>
            </a:endParaRPr>
          </a:p>
          <a:p>
            <a:pPr algn="ctr"/>
            <a:r>
              <a:rPr lang="en-US" altLang="zh-CN" sz="2000" b="1">
                <a:solidFill>
                  <a:srgbClr val="FFFF00"/>
                </a:solidFill>
              </a:rPr>
              <a:t>......</a:t>
            </a: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671315" y="4821263"/>
            <a:ext cx="508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9900"/>
                </a:solidFill>
              </a:rPr>
              <a:t>M: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5959277" y="4756175"/>
            <a:ext cx="452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9900"/>
                </a:solidFill>
              </a:rPr>
              <a:t>N: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5673527" y="1674838"/>
            <a:ext cx="145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rgbClr val="009900"/>
                </a:solidFill>
              </a:rPr>
              <a:t>接受进程 </a:t>
            </a:r>
            <a:r>
              <a:rPr lang="en-US" altLang="zh-CN" sz="2000" b="1">
                <a:solidFill>
                  <a:srgbClr val="009900"/>
                </a:solidFill>
              </a:rPr>
              <a:t>R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814190" y="1674838"/>
            <a:ext cx="14112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rgbClr val="009900"/>
                </a:solidFill>
              </a:rPr>
              <a:t>发送进程 </a:t>
            </a:r>
            <a:r>
              <a:rPr lang="en-US" altLang="zh-CN" sz="2000" b="1">
                <a:solidFill>
                  <a:srgbClr val="009900"/>
                </a:solidFill>
              </a:rPr>
              <a:t>S</a:t>
            </a:r>
          </a:p>
        </p:txBody>
      </p:sp>
      <p:sp>
        <p:nvSpPr>
          <p:cNvPr id="15" name="Rectangle 10" descr="紫色网格"/>
          <p:cNvSpPr>
            <a:spLocks noChangeArrowheads="1"/>
          </p:cNvSpPr>
          <p:nvPr/>
        </p:nvSpPr>
        <p:spPr bwMode="auto">
          <a:xfrm>
            <a:off x="4173340" y="2152675"/>
            <a:ext cx="714375" cy="45878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zh-CN" altLang="en-US" sz="2000" b="1">
                <a:solidFill>
                  <a:srgbClr val="FFFF00"/>
                </a:solidFill>
              </a:rPr>
              <a:t>消息</a:t>
            </a:r>
          </a:p>
        </p:txBody>
      </p:sp>
      <p:sp>
        <p:nvSpPr>
          <p:cNvPr id="16" name="Rectangle 11" descr="紫色网格"/>
          <p:cNvSpPr>
            <a:spLocks noChangeArrowheads="1"/>
          </p:cNvSpPr>
          <p:nvPr/>
        </p:nvSpPr>
        <p:spPr bwMode="auto">
          <a:xfrm>
            <a:off x="4168577" y="4610125"/>
            <a:ext cx="714375" cy="45878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zh-CN" altLang="en-US" sz="2000" b="1">
                <a:solidFill>
                  <a:srgbClr val="FFFF00"/>
                </a:solidFill>
              </a:rPr>
              <a:t>消息</a:t>
            </a:r>
          </a:p>
        </p:txBody>
      </p:sp>
      <p:sp>
        <p:nvSpPr>
          <p:cNvPr id="17" name="Rectangle 12" descr="紫色网格"/>
          <p:cNvSpPr>
            <a:spLocks noChangeArrowheads="1"/>
          </p:cNvSpPr>
          <p:nvPr/>
        </p:nvSpPr>
        <p:spPr bwMode="auto">
          <a:xfrm>
            <a:off x="4173340" y="3463950"/>
            <a:ext cx="714375" cy="45878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zh-CN" altLang="en-US" sz="2000" b="1">
                <a:solidFill>
                  <a:srgbClr val="FFFF00"/>
                </a:solidFill>
              </a:rPr>
              <a:t>消息</a:t>
            </a:r>
          </a:p>
        </p:txBody>
      </p: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4284465" y="4059263"/>
            <a:ext cx="565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8000"/>
                </a:solidFill>
              </a:rPr>
              <a:t>......</a:t>
            </a:r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>
            <a:off x="7030840" y="2678138"/>
            <a:ext cx="785812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Line 15"/>
          <p:cNvSpPr>
            <a:spLocks noChangeShapeType="1"/>
          </p:cNvSpPr>
          <p:nvPr/>
        </p:nvSpPr>
        <p:spPr bwMode="auto">
          <a:xfrm flipV="1">
            <a:off x="7816652" y="1628800"/>
            <a:ext cx="0" cy="1049338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16"/>
          <p:cNvSpPr>
            <a:spLocks noChangeShapeType="1"/>
          </p:cNvSpPr>
          <p:nvPr/>
        </p:nvSpPr>
        <p:spPr bwMode="auto">
          <a:xfrm flipH="1">
            <a:off x="3673277" y="1628800"/>
            <a:ext cx="4143375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Line 17"/>
          <p:cNvSpPr>
            <a:spLocks noChangeShapeType="1"/>
          </p:cNvSpPr>
          <p:nvPr/>
        </p:nvSpPr>
        <p:spPr bwMode="auto">
          <a:xfrm>
            <a:off x="3673277" y="1628800"/>
            <a:ext cx="0" cy="523875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Line 18"/>
          <p:cNvSpPr>
            <a:spLocks noChangeShapeType="1"/>
          </p:cNvSpPr>
          <p:nvPr/>
        </p:nvSpPr>
        <p:spPr bwMode="auto">
          <a:xfrm>
            <a:off x="3673277" y="2152675"/>
            <a:ext cx="50006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4" name="Group 19"/>
          <p:cNvGrpSpPr>
            <a:grpSpLocks/>
          </p:cNvGrpSpPr>
          <p:nvPr/>
        </p:nvGrpSpPr>
        <p:grpSpPr bwMode="auto">
          <a:xfrm>
            <a:off x="3673277" y="2546375"/>
            <a:ext cx="1643063" cy="917575"/>
            <a:chOff x="2208" y="912"/>
            <a:chExt cx="1104" cy="672"/>
          </a:xfrm>
        </p:grpSpPr>
        <p:sp>
          <p:nvSpPr>
            <p:cNvPr id="25" name="Line 20"/>
            <p:cNvSpPr>
              <a:spLocks noChangeShapeType="1"/>
            </p:cNvSpPr>
            <p:nvPr/>
          </p:nvSpPr>
          <p:spPr bwMode="auto">
            <a:xfrm>
              <a:off x="3024" y="912"/>
              <a:ext cx="288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>
              <a:off x="3312" y="912"/>
              <a:ext cx="0" cy="28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 flipH="1">
              <a:off x="2208" y="1200"/>
              <a:ext cx="1104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2208" y="1200"/>
              <a:ext cx="0" cy="384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>
              <a:off x="2208" y="1584"/>
              <a:ext cx="336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" name="Line 25"/>
          <p:cNvSpPr>
            <a:spLocks noChangeShapeType="1"/>
          </p:cNvSpPr>
          <p:nvPr/>
        </p:nvSpPr>
        <p:spPr bwMode="auto">
          <a:xfrm>
            <a:off x="4887715" y="3922738"/>
            <a:ext cx="428625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26"/>
          <p:cNvSpPr>
            <a:spLocks noChangeShapeType="1"/>
          </p:cNvSpPr>
          <p:nvPr/>
        </p:nvSpPr>
        <p:spPr bwMode="auto">
          <a:xfrm>
            <a:off x="5316340" y="3922738"/>
            <a:ext cx="0" cy="3937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27"/>
          <p:cNvSpPr>
            <a:spLocks noChangeShapeType="1"/>
          </p:cNvSpPr>
          <p:nvPr/>
        </p:nvSpPr>
        <p:spPr bwMode="auto">
          <a:xfrm>
            <a:off x="3673277" y="4316438"/>
            <a:ext cx="0" cy="523875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Line 28"/>
          <p:cNvSpPr>
            <a:spLocks noChangeShapeType="1"/>
          </p:cNvSpPr>
          <p:nvPr/>
        </p:nvSpPr>
        <p:spPr bwMode="auto">
          <a:xfrm>
            <a:off x="3679627" y="4308500"/>
            <a:ext cx="50006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Line 29"/>
          <p:cNvSpPr>
            <a:spLocks noChangeShapeType="1"/>
          </p:cNvSpPr>
          <p:nvPr/>
        </p:nvSpPr>
        <p:spPr bwMode="auto">
          <a:xfrm>
            <a:off x="4887715" y="4905400"/>
            <a:ext cx="428625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Line 30"/>
          <p:cNvSpPr>
            <a:spLocks noChangeShapeType="1"/>
          </p:cNvSpPr>
          <p:nvPr/>
        </p:nvSpPr>
        <p:spPr bwMode="auto">
          <a:xfrm>
            <a:off x="5316340" y="4905400"/>
            <a:ext cx="0" cy="3937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Line 31"/>
          <p:cNvSpPr>
            <a:spLocks noChangeShapeType="1"/>
          </p:cNvSpPr>
          <p:nvPr/>
        </p:nvSpPr>
        <p:spPr bwMode="auto">
          <a:xfrm flipH="1">
            <a:off x="3673277" y="5299100"/>
            <a:ext cx="164306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Line 32"/>
          <p:cNvSpPr>
            <a:spLocks noChangeShapeType="1"/>
          </p:cNvSpPr>
          <p:nvPr/>
        </p:nvSpPr>
        <p:spPr bwMode="auto">
          <a:xfrm>
            <a:off x="3673277" y="5299100"/>
            <a:ext cx="0" cy="523875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Line 33"/>
          <p:cNvSpPr>
            <a:spLocks noChangeShapeType="1"/>
          </p:cNvSpPr>
          <p:nvPr/>
        </p:nvSpPr>
        <p:spPr bwMode="auto">
          <a:xfrm>
            <a:off x="3673277" y="5822975"/>
            <a:ext cx="50006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Line 35"/>
          <p:cNvSpPr>
            <a:spLocks noChangeShapeType="1"/>
          </p:cNvSpPr>
          <p:nvPr/>
        </p:nvSpPr>
        <p:spPr bwMode="auto">
          <a:xfrm>
            <a:off x="3708202" y="4840313"/>
            <a:ext cx="50006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Line 36"/>
          <p:cNvSpPr>
            <a:spLocks noChangeShapeType="1"/>
          </p:cNvSpPr>
          <p:nvPr/>
        </p:nvSpPr>
        <p:spPr bwMode="auto">
          <a:xfrm>
            <a:off x="4922640" y="4330725"/>
            <a:ext cx="428625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Rectangle 38" descr="紫色网格"/>
          <p:cNvSpPr>
            <a:spLocks noChangeArrowheads="1"/>
          </p:cNvSpPr>
          <p:nvPr/>
        </p:nvSpPr>
        <p:spPr bwMode="auto">
          <a:xfrm>
            <a:off x="4197152" y="5591200"/>
            <a:ext cx="714375" cy="45878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zh-CN" altLang="en-US" sz="2000" b="1">
                <a:solidFill>
                  <a:srgbClr val="FFFF00"/>
                </a:solidFill>
              </a:rPr>
              <a:t>消息</a:t>
            </a:r>
          </a:p>
        </p:txBody>
      </p:sp>
      <p:sp>
        <p:nvSpPr>
          <p:cNvPr id="42" name="Line 39"/>
          <p:cNvSpPr>
            <a:spLocks noChangeShapeType="1"/>
          </p:cNvSpPr>
          <p:nvPr/>
        </p:nvSpPr>
        <p:spPr bwMode="auto">
          <a:xfrm flipH="1" flipV="1">
            <a:off x="4140002" y="2176488"/>
            <a:ext cx="792163" cy="360362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778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50289E-6 L 0.32292 0.4511 " pathEditMode="relative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4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消息缓冲机制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消息缓冲区结构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8803-7A35-416C-981A-434AD5D9392E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22</a:t>
            </a:fld>
            <a:endParaRPr lang="zh-CN" altLang="en-US" dirty="0"/>
          </a:p>
        </p:txBody>
      </p:sp>
      <p:sp>
        <p:nvSpPr>
          <p:cNvPr id="7" name="Rectangle 5"/>
          <p:cNvSpPr txBox="1">
            <a:spLocks noChangeArrowheads="1"/>
          </p:cNvSpPr>
          <p:nvPr/>
        </p:nvSpPr>
        <p:spPr>
          <a:xfrm>
            <a:off x="1907704" y="2276872"/>
            <a:ext cx="5058965" cy="383698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1200"/>
              </a:spcBef>
              <a:buFont typeface="Arial" pitchFamily="34" charset="0"/>
              <a:buChar char="•"/>
              <a:defRPr sz="2400" b="1" kern="120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200" kern="120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b="0">
                <a:solidFill>
                  <a:srgbClr val="FFFF00"/>
                </a:solidFill>
                <a:latin typeface="+mn-lt"/>
              </a:rPr>
              <a:t>  </a:t>
            </a:r>
            <a:r>
              <a:rPr lang="en-US" altLang="zh-CN">
                <a:latin typeface="+mn-lt"/>
              </a:rPr>
              <a:t>typedef struct message_buffer {</a:t>
            </a:r>
          </a:p>
          <a:p>
            <a:pPr>
              <a:buFontTx/>
              <a:buNone/>
            </a:pPr>
            <a:r>
              <a:rPr lang="en-US" altLang="zh-CN">
                <a:latin typeface="+mn-lt"/>
              </a:rPr>
              <a:t>     int size;     //</a:t>
            </a:r>
            <a:r>
              <a:rPr lang="zh-CN" altLang="en-US">
                <a:latin typeface="+mn-lt"/>
              </a:rPr>
              <a:t>消息长度</a:t>
            </a:r>
          </a:p>
          <a:p>
            <a:pPr>
              <a:buFontTx/>
              <a:buNone/>
            </a:pPr>
            <a:r>
              <a:rPr lang="zh-CN" altLang="en-US">
                <a:latin typeface="+mn-lt"/>
              </a:rPr>
              <a:t>     </a:t>
            </a:r>
            <a:r>
              <a:rPr lang="en-US" altLang="zh-CN">
                <a:latin typeface="+mn-lt"/>
              </a:rPr>
              <a:t>char *text;   //</a:t>
            </a:r>
            <a:r>
              <a:rPr lang="zh-CN" altLang="en-US">
                <a:latin typeface="+mn-lt"/>
              </a:rPr>
              <a:t>消息正文</a:t>
            </a:r>
          </a:p>
          <a:p>
            <a:pPr>
              <a:buFontTx/>
              <a:buNone/>
            </a:pPr>
            <a:r>
              <a:rPr lang="zh-CN" altLang="en-US">
                <a:latin typeface="+mn-lt"/>
              </a:rPr>
              <a:t>     </a:t>
            </a:r>
            <a:r>
              <a:rPr lang="en-US" altLang="zh-CN">
                <a:latin typeface="+mn-lt"/>
              </a:rPr>
              <a:t>int  sendername; //</a:t>
            </a:r>
            <a:r>
              <a:rPr lang="zh-CN" altLang="en-US">
                <a:latin typeface="+mn-lt"/>
              </a:rPr>
              <a:t>发送者名字</a:t>
            </a:r>
          </a:p>
          <a:p>
            <a:pPr>
              <a:buFontTx/>
              <a:buNone/>
            </a:pPr>
            <a:r>
              <a:rPr lang="zh-CN" altLang="en-US">
                <a:latin typeface="+mn-lt"/>
              </a:rPr>
              <a:t>     </a:t>
            </a:r>
            <a:r>
              <a:rPr lang="en-US" altLang="zh-CN">
                <a:latin typeface="+mn-lt"/>
              </a:rPr>
              <a:t>ptrQueue next;  //</a:t>
            </a:r>
            <a:r>
              <a:rPr lang="zh-CN" altLang="en-US">
                <a:latin typeface="+mn-lt"/>
              </a:rPr>
              <a:t>消息队列指针</a:t>
            </a:r>
          </a:p>
          <a:p>
            <a:pPr>
              <a:buFontTx/>
              <a:buNone/>
            </a:pPr>
            <a:r>
              <a:rPr lang="zh-CN" altLang="en-US">
                <a:latin typeface="+mn-lt"/>
              </a:rPr>
              <a:t>    </a:t>
            </a:r>
            <a:r>
              <a:rPr lang="en-US" altLang="zh-CN">
                <a:latin typeface="+mn-lt"/>
              </a:rPr>
              <a:t>}</a:t>
            </a:r>
            <a:endParaRPr lang="en-US" altLang="zh-CN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413812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消息缓冲机制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对进程</a:t>
            </a:r>
            <a:r>
              <a:rPr lang="en-US" altLang="zh-CN" dirty="0"/>
              <a:t>PCB</a:t>
            </a:r>
            <a:r>
              <a:rPr lang="zh-CN" altLang="en-US" dirty="0"/>
              <a:t>的扩充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 err="1"/>
              <a:t>Mutex</a:t>
            </a:r>
            <a:r>
              <a:rPr lang="zh-CN" altLang="en-US" dirty="0"/>
              <a:t>：消息队列互斥操作信号量</a:t>
            </a:r>
            <a:endParaRPr lang="en-US" altLang="zh-CN" dirty="0"/>
          </a:p>
          <a:p>
            <a:pPr lvl="1"/>
            <a:endParaRPr lang="en-US" altLang="zh-CN" sz="2200" dirty="0"/>
          </a:p>
          <a:p>
            <a:pPr lvl="1"/>
            <a:r>
              <a:rPr lang="en-US" altLang="zh-CN" sz="2200" dirty="0" err="1"/>
              <a:t>Sm</a:t>
            </a:r>
            <a:r>
              <a:rPr lang="zh-CN" altLang="en-US" sz="2200" dirty="0"/>
              <a:t>：表示接收消息记数和同步信号量，表示消息队列中的消息数目</a:t>
            </a:r>
            <a:endParaRPr lang="en-US" altLang="zh-CN" sz="2200" dirty="0"/>
          </a:p>
          <a:p>
            <a:pPr lvl="1"/>
            <a:endParaRPr lang="en-US" altLang="zh-CN" dirty="0"/>
          </a:p>
          <a:p>
            <a:pPr lvl="1"/>
            <a:r>
              <a:rPr lang="en-US" altLang="zh-CN" sz="2200" dirty="0"/>
              <a:t>Pm</a:t>
            </a:r>
            <a:r>
              <a:rPr lang="zh-CN" altLang="en-US" sz="2200" dirty="0"/>
              <a:t>：消息队列首指针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F806F-E3AA-4FA1-AD24-3EF6E788F69C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970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消息缓冲机制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发送原语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F53D8-6F80-408F-AE05-DD07137F9FF3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sp>
        <p:nvSpPr>
          <p:cNvPr id="7" name="Rectangle 5"/>
          <p:cNvSpPr txBox="1">
            <a:spLocks noChangeArrowheads="1"/>
          </p:cNvSpPr>
          <p:nvPr/>
        </p:nvSpPr>
        <p:spPr>
          <a:xfrm>
            <a:off x="755328" y="2060848"/>
            <a:ext cx="7633096" cy="38164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1200"/>
              </a:spcBef>
              <a:buFont typeface="Arial" pitchFamily="34" charset="0"/>
              <a:buChar char="•"/>
              <a:defRPr sz="2400" b="1" kern="120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200" kern="120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lnSpc>
                <a:spcPct val="90000"/>
              </a:lnSpc>
              <a:spcBef>
                <a:spcPct val="0"/>
              </a:spcBef>
              <a:buFontTx/>
              <a:buAutoNum type="arabicPeriod"/>
            </a:pPr>
            <a:r>
              <a:rPr lang="en-US" altLang="zh-CN" dirty="0" err="1">
                <a:latin typeface="+mn-lt"/>
              </a:rPr>
              <a:t>Procedue</a:t>
            </a:r>
            <a:r>
              <a:rPr lang="en-US" altLang="zh-CN" dirty="0">
                <a:latin typeface="+mn-lt"/>
              </a:rPr>
              <a:t> </a:t>
            </a:r>
            <a:r>
              <a:rPr lang="en-US" altLang="zh-CN" dirty="0">
                <a:solidFill>
                  <a:srgbClr val="0033CC"/>
                </a:solidFill>
                <a:latin typeface="+mn-lt"/>
              </a:rPr>
              <a:t>send</a:t>
            </a:r>
            <a:r>
              <a:rPr lang="en-US" altLang="zh-CN" dirty="0">
                <a:latin typeface="+mn-lt"/>
              </a:rPr>
              <a:t>(receiver, a)</a:t>
            </a:r>
          </a:p>
          <a:p>
            <a:pPr marL="609600" indent="-609600">
              <a:lnSpc>
                <a:spcPct val="90000"/>
              </a:lnSpc>
              <a:spcBef>
                <a:spcPct val="0"/>
              </a:spcBef>
              <a:buFontTx/>
              <a:buAutoNum type="arabicPeriod"/>
            </a:pPr>
            <a:r>
              <a:rPr lang="en-US" altLang="zh-CN" dirty="0">
                <a:latin typeface="+mn-lt"/>
              </a:rPr>
              <a:t>begin </a:t>
            </a:r>
          </a:p>
          <a:p>
            <a:pPr marL="609600" indent="-609600">
              <a:lnSpc>
                <a:spcPct val="90000"/>
              </a:lnSpc>
              <a:spcBef>
                <a:spcPct val="0"/>
              </a:spcBef>
              <a:buFontTx/>
              <a:buAutoNum type="arabicPeriod"/>
            </a:pPr>
            <a:r>
              <a:rPr lang="en-US" altLang="zh-CN" dirty="0">
                <a:latin typeface="+mn-lt"/>
              </a:rPr>
              <a:t>  </a:t>
            </a:r>
            <a:r>
              <a:rPr lang="en-US" altLang="zh-CN" dirty="0" err="1">
                <a:latin typeface="+mn-lt"/>
              </a:rPr>
              <a:t>getbuf</a:t>
            </a:r>
            <a:r>
              <a:rPr lang="en-US" altLang="zh-CN" dirty="0">
                <a:latin typeface="+mn-lt"/>
              </a:rPr>
              <a:t>(</a:t>
            </a:r>
            <a:r>
              <a:rPr lang="en-US" altLang="zh-CN" dirty="0" err="1">
                <a:latin typeface="+mn-lt"/>
              </a:rPr>
              <a:t>a.size</a:t>
            </a:r>
            <a:r>
              <a:rPr lang="en-US" altLang="zh-CN" dirty="0">
                <a:latin typeface="+mn-lt"/>
              </a:rPr>
              <a:t>, </a:t>
            </a:r>
            <a:r>
              <a:rPr lang="en-US" altLang="zh-CN" dirty="0" err="1">
                <a:latin typeface="+mn-lt"/>
              </a:rPr>
              <a:t>i</a:t>
            </a:r>
            <a:r>
              <a:rPr lang="en-US" altLang="zh-CN" dirty="0">
                <a:latin typeface="+mn-lt"/>
              </a:rPr>
              <a:t>);         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//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申请缓冲区，</a:t>
            </a:r>
            <a:r>
              <a:rPr lang="en-US" altLang="zh-CN" sz="2000" dirty="0" err="1">
                <a:solidFill>
                  <a:srgbClr val="FF0000"/>
                </a:solidFill>
                <a:latin typeface="+mn-lt"/>
              </a:rPr>
              <a:t>i</a:t>
            </a:r>
            <a:endParaRPr lang="en-US" altLang="zh-CN" sz="2000" dirty="0">
              <a:solidFill>
                <a:srgbClr val="FF0000"/>
              </a:solidFill>
              <a:latin typeface="+mn-lt"/>
            </a:endParaRPr>
          </a:p>
          <a:p>
            <a:pPr marL="609600" indent="-609600">
              <a:lnSpc>
                <a:spcPct val="90000"/>
              </a:lnSpc>
              <a:spcBef>
                <a:spcPct val="0"/>
              </a:spcBef>
              <a:buFontTx/>
              <a:buAutoNum type="arabicPeriod"/>
            </a:pPr>
            <a:r>
              <a:rPr lang="en-US" altLang="zh-CN" dirty="0">
                <a:latin typeface="+mn-lt"/>
              </a:rPr>
              <a:t>  </a:t>
            </a:r>
            <a:r>
              <a:rPr lang="en-US" altLang="zh-CN" dirty="0" err="1">
                <a:latin typeface="+mn-lt"/>
              </a:rPr>
              <a:t>i.sender</a:t>
            </a:r>
            <a:r>
              <a:rPr lang="en-US" altLang="zh-CN" dirty="0">
                <a:latin typeface="+mn-lt"/>
              </a:rPr>
              <a:t> := </a:t>
            </a:r>
            <a:r>
              <a:rPr lang="en-US" altLang="zh-CN" dirty="0" err="1">
                <a:latin typeface="+mn-lt"/>
              </a:rPr>
              <a:t>a.sender</a:t>
            </a:r>
            <a:r>
              <a:rPr lang="en-US" altLang="zh-CN" dirty="0">
                <a:latin typeface="+mn-lt"/>
              </a:rPr>
              <a:t>; 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// 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将发送区中的信息</a:t>
            </a:r>
          </a:p>
          <a:p>
            <a:pPr marL="609600" indent="-609600">
              <a:lnSpc>
                <a:spcPct val="9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dirty="0">
                <a:latin typeface="+mn-lt"/>
              </a:rPr>
              <a:t>  </a:t>
            </a:r>
            <a:r>
              <a:rPr lang="en-US" altLang="zh-CN" dirty="0" err="1">
                <a:latin typeface="+mn-lt"/>
              </a:rPr>
              <a:t>i.size</a:t>
            </a:r>
            <a:r>
              <a:rPr lang="en-US" altLang="zh-CN" dirty="0">
                <a:latin typeface="+mn-lt"/>
              </a:rPr>
              <a:t> := </a:t>
            </a:r>
            <a:r>
              <a:rPr lang="en-US" altLang="zh-CN" dirty="0" err="1">
                <a:latin typeface="+mn-lt"/>
              </a:rPr>
              <a:t>a.size</a:t>
            </a:r>
            <a:r>
              <a:rPr lang="en-US" altLang="zh-CN" dirty="0">
                <a:latin typeface="+mn-lt"/>
              </a:rPr>
              <a:t>;           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// 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复制到消息缓冲区</a:t>
            </a:r>
            <a:r>
              <a:rPr lang="en-US" altLang="zh-CN" sz="2000" dirty="0" err="1">
                <a:solidFill>
                  <a:srgbClr val="FF0000"/>
                </a:solidFill>
                <a:latin typeface="+mn-lt"/>
              </a:rPr>
              <a:t>i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中</a:t>
            </a:r>
          </a:p>
          <a:p>
            <a:pPr marL="609600" indent="-609600">
              <a:lnSpc>
                <a:spcPct val="9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dirty="0">
                <a:latin typeface="+mn-lt"/>
              </a:rPr>
              <a:t>  </a:t>
            </a:r>
            <a:r>
              <a:rPr lang="en-US" altLang="zh-CN" dirty="0" err="1">
                <a:latin typeface="+mn-lt"/>
              </a:rPr>
              <a:t>i.text</a:t>
            </a:r>
            <a:r>
              <a:rPr lang="en-US" altLang="zh-CN" dirty="0">
                <a:latin typeface="+mn-lt"/>
              </a:rPr>
              <a:t> := </a:t>
            </a:r>
            <a:r>
              <a:rPr lang="en-US" altLang="zh-CN" dirty="0" err="1">
                <a:latin typeface="+mn-lt"/>
              </a:rPr>
              <a:t>a.text</a:t>
            </a:r>
            <a:r>
              <a:rPr lang="en-US" altLang="zh-CN" dirty="0">
                <a:latin typeface="+mn-lt"/>
              </a:rPr>
              <a:t>;     </a:t>
            </a:r>
            <a:r>
              <a:rPr lang="en-US" altLang="zh-CN" dirty="0" err="1">
                <a:latin typeface="+mn-lt"/>
              </a:rPr>
              <a:t>i.next</a:t>
            </a:r>
            <a:r>
              <a:rPr lang="en-US" altLang="zh-CN" dirty="0">
                <a:latin typeface="+mn-lt"/>
              </a:rPr>
              <a:t> := 0;</a:t>
            </a:r>
          </a:p>
          <a:p>
            <a:pPr marL="609600" indent="-609600">
              <a:lnSpc>
                <a:spcPct val="90000"/>
              </a:lnSpc>
              <a:spcBef>
                <a:spcPct val="0"/>
              </a:spcBef>
              <a:buFontTx/>
              <a:buAutoNum type="arabicPeriod"/>
            </a:pPr>
            <a:r>
              <a:rPr lang="en-US" altLang="zh-CN" dirty="0">
                <a:latin typeface="+mn-lt"/>
              </a:rPr>
              <a:t>  </a:t>
            </a:r>
            <a:r>
              <a:rPr lang="en-US" altLang="zh-CN" dirty="0" err="1">
                <a:latin typeface="+mn-lt"/>
              </a:rPr>
              <a:t>getid</a:t>
            </a:r>
            <a:r>
              <a:rPr lang="en-US" altLang="zh-CN" dirty="0">
                <a:latin typeface="+mn-lt"/>
              </a:rPr>
              <a:t>(</a:t>
            </a:r>
            <a:r>
              <a:rPr lang="en-US" altLang="zh-CN" dirty="0" err="1">
                <a:latin typeface="+mn-lt"/>
              </a:rPr>
              <a:t>PCBSet</a:t>
            </a:r>
            <a:r>
              <a:rPr lang="en-US" altLang="zh-CN" dirty="0">
                <a:latin typeface="+mn-lt"/>
              </a:rPr>
              <a:t>, receiver, j); 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//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获得接收进程的内部标识符</a:t>
            </a:r>
          </a:p>
          <a:p>
            <a:pPr marL="609600" indent="-609600">
              <a:lnSpc>
                <a:spcPct val="9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dirty="0">
                <a:latin typeface="+mn-lt"/>
              </a:rPr>
              <a:t>  </a:t>
            </a:r>
            <a:r>
              <a:rPr lang="en-US" altLang="zh-CN" dirty="0">
                <a:latin typeface="+mn-lt"/>
              </a:rPr>
              <a:t>P(</a:t>
            </a:r>
            <a:r>
              <a:rPr lang="en-US" altLang="zh-CN" dirty="0" err="1">
                <a:latin typeface="+mn-lt"/>
              </a:rPr>
              <a:t>j.mutex</a:t>
            </a:r>
            <a:r>
              <a:rPr lang="en-US" altLang="zh-CN" dirty="0">
                <a:latin typeface="+mn-lt"/>
              </a:rPr>
              <a:t>);          </a:t>
            </a:r>
          </a:p>
          <a:p>
            <a:pPr marL="609600" indent="-609600">
              <a:lnSpc>
                <a:spcPct val="90000"/>
              </a:lnSpc>
              <a:spcBef>
                <a:spcPct val="0"/>
              </a:spcBef>
              <a:buFontTx/>
              <a:buAutoNum type="arabicPeriod"/>
            </a:pPr>
            <a:r>
              <a:rPr lang="en-US" altLang="zh-CN" dirty="0">
                <a:latin typeface="+mn-lt"/>
              </a:rPr>
              <a:t>  insert(</a:t>
            </a:r>
            <a:r>
              <a:rPr lang="en-US" altLang="zh-CN" dirty="0" err="1">
                <a:latin typeface="+mn-lt"/>
              </a:rPr>
              <a:t>j.Pm</a:t>
            </a:r>
            <a:r>
              <a:rPr lang="en-US" altLang="zh-CN" dirty="0">
                <a:latin typeface="+mn-lt"/>
              </a:rPr>
              <a:t>, </a:t>
            </a:r>
            <a:r>
              <a:rPr lang="en-US" altLang="zh-CN" dirty="0" err="1">
                <a:latin typeface="+mn-lt"/>
              </a:rPr>
              <a:t>i</a:t>
            </a:r>
            <a:r>
              <a:rPr lang="en-US" altLang="zh-CN" dirty="0">
                <a:latin typeface="+mn-lt"/>
              </a:rPr>
              <a:t>);     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//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将消息插入到接收者的消息队列</a:t>
            </a:r>
            <a:r>
              <a:rPr lang="zh-CN" altLang="en-US" dirty="0">
                <a:latin typeface="+mn-lt"/>
              </a:rPr>
              <a:t> </a:t>
            </a:r>
          </a:p>
          <a:p>
            <a:pPr marL="609600" indent="-609600">
              <a:lnSpc>
                <a:spcPct val="9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dirty="0">
                <a:latin typeface="+mn-lt"/>
              </a:rPr>
              <a:t>  </a:t>
            </a:r>
            <a:r>
              <a:rPr lang="en-US" altLang="zh-CN" dirty="0">
                <a:latin typeface="+mn-lt"/>
              </a:rPr>
              <a:t>V(</a:t>
            </a:r>
            <a:r>
              <a:rPr lang="en-US" altLang="zh-CN" dirty="0" err="1">
                <a:latin typeface="+mn-lt"/>
              </a:rPr>
              <a:t>j.mutex</a:t>
            </a:r>
            <a:r>
              <a:rPr lang="en-US" altLang="zh-CN" dirty="0">
                <a:latin typeface="+mn-lt"/>
              </a:rPr>
              <a:t>);      V(</a:t>
            </a:r>
            <a:r>
              <a:rPr lang="en-US" altLang="zh-CN" dirty="0" err="1">
                <a:latin typeface="+mn-lt"/>
              </a:rPr>
              <a:t>j.Sm</a:t>
            </a:r>
            <a:r>
              <a:rPr lang="en-US" altLang="zh-CN" dirty="0">
                <a:latin typeface="+mn-lt"/>
              </a:rPr>
              <a:t>);</a:t>
            </a:r>
          </a:p>
          <a:p>
            <a:pPr marL="609600" indent="-609600">
              <a:lnSpc>
                <a:spcPct val="90000"/>
              </a:lnSpc>
              <a:spcBef>
                <a:spcPct val="0"/>
              </a:spcBef>
              <a:buFontTx/>
              <a:buAutoNum type="arabicPeriod"/>
            </a:pPr>
            <a:r>
              <a:rPr lang="en-US" altLang="zh-CN" dirty="0">
                <a:latin typeface="+mn-lt"/>
              </a:rPr>
              <a:t> End;</a:t>
            </a:r>
          </a:p>
        </p:txBody>
      </p:sp>
    </p:spTree>
    <p:extLst>
      <p:ext uri="{BB962C8B-B14F-4D97-AF65-F5344CB8AC3E}">
        <p14:creationId xmlns:p14="http://schemas.microsoft.com/office/powerpoint/2010/main" val="40964557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消息缓冲机制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接收原语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B222-CEFA-477B-A4B8-2B855CE397F5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25</a:t>
            </a:fld>
            <a:endParaRPr lang="zh-CN" altLang="en-US" dirty="0"/>
          </a:p>
        </p:txBody>
      </p:sp>
      <p:sp>
        <p:nvSpPr>
          <p:cNvPr id="7" name="Rectangle 5"/>
          <p:cNvSpPr txBox="1">
            <a:spLocks noChangeArrowheads="1"/>
          </p:cNvSpPr>
          <p:nvPr/>
        </p:nvSpPr>
        <p:spPr>
          <a:xfrm>
            <a:off x="971600" y="2132856"/>
            <a:ext cx="7083697" cy="376373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1200"/>
              </a:spcBef>
              <a:buFont typeface="Arial" pitchFamily="34" charset="0"/>
              <a:buChar char="•"/>
              <a:defRPr sz="2400" b="1" kern="120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200" kern="120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-533400">
              <a:lnSpc>
                <a:spcPct val="90000"/>
              </a:lnSpc>
              <a:spcBef>
                <a:spcPct val="0"/>
              </a:spcBef>
              <a:buFontTx/>
              <a:buAutoNum type="arabicPeriod"/>
            </a:pPr>
            <a:r>
              <a:rPr lang="en-US" altLang="zh-CN" dirty="0">
                <a:latin typeface="+mn-lt"/>
              </a:rPr>
              <a:t>Procedure </a:t>
            </a:r>
            <a:r>
              <a:rPr lang="en-US" altLang="zh-CN" dirty="0">
                <a:solidFill>
                  <a:srgbClr val="0033CC"/>
                </a:solidFill>
                <a:latin typeface="+mn-lt"/>
              </a:rPr>
              <a:t>receive</a:t>
            </a:r>
            <a:r>
              <a:rPr lang="en-US" altLang="zh-CN" dirty="0">
                <a:latin typeface="+mn-lt"/>
              </a:rPr>
              <a:t>(b)</a:t>
            </a:r>
          </a:p>
          <a:p>
            <a:pPr marL="533400" indent="-533400">
              <a:lnSpc>
                <a:spcPct val="90000"/>
              </a:lnSpc>
              <a:spcBef>
                <a:spcPct val="0"/>
              </a:spcBef>
              <a:buFontTx/>
              <a:buAutoNum type="arabicPeriod"/>
            </a:pPr>
            <a:r>
              <a:rPr lang="en-US" altLang="zh-CN" dirty="0">
                <a:latin typeface="+mn-lt"/>
              </a:rPr>
              <a:t>Begin</a:t>
            </a:r>
          </a:p>
          <a:p>
            <a:pPr marL="533400" indent="-533400">
              <a:lnSpc>
                <a:spcPct val="90000"/>
              </a:lnSpc>
              <a:spcBef>
                <a:spcPct val="0"/>
              </a:spcBef>
              <a:buFontTx/>
              <a:buAutoNum type="arabicPeriod"/>
            </a:pPr>
            <a:r>
              <a:rPr lang="en-US" altLang="zh-CN" dirty="0">
                <a:latin typeface="+mn-lt"/>
              </a:rPr>
              <a:t>  j := internal name;  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// 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为接收者进程的内部标识</a:t>
            </a:r>
          </a:p>
          <a:p>
            <a:pPr marL="533400" indent="-533400">
              <a:lnSpc>
                <a:spcPct val="9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dirty="0">
                <a:latin typeface="+mn-lt"/>
              </a:rPr>
              <a:t>  </a:t>
            </a:r>
            <a:r>
              <a:rPr lang="en-US" altLang="zh-CN" dirty="0">
                <a:latin typeface="+mn-lt"/>
              </a:rPr>
              <a:t>P(</a:t>
            </a:r>
            <a:r>
              <a:rPr lang="en-US" altLang="zh-CN" dirty="0" err="1">
                <a:latin typeface="+mn-lt"/>
              </a:rPr>
              <a:t>j.Sm</a:t>
            </a:r>
            <a:r>
              <a:rPr lang="en-US" altLang="zh-CN" dirty="0">
                <a:latin typeface="+mn-lt"/>
              </a:rPr>
              <a:t>);</a:t>
            </a:r>
          </a:p>
          <a:p>
            <a:pPr marL="533400" indent="-533400">
              <a:lnSpc>
                <a:spcPct val="90000"/>
              </a:lnSpc>
              <a:spcBef>
                <a:spcPct val="0"/>
              </a:spcBef>
              <a:buFontTx/>
              <a:buAutoNum type="arabicPeriod"/>
            </a:pPr>
            <a:r>
              <a:rPr lang="en-US" altLang="zh-CN" dirty="0">
                <a:latin typeface="+mn-lt"/>
              </a:rPr>
              <a:t>  P(</a:t>
            </a:r>
            <a:r>
              <a:rPr lang="en-US" altLang="zh-CN" dirty="0" err="1">
                <a:latin typeface="+mn-lt"/>
              </a:rPr>
              <a:t>j.mutex</a:t>
            </a:r>
            <a:r>
              <a:rPr lang="en-US" altLang="zh-CN" dirty="0">
                <a:latin typeface="+mn-lt"/>
              </a:rPr>
              <a:t>);</a:t>
            </a:r>
          </a:p>
          <a:p>
            <a:pPr marL="533400" indent="-533400">
              <a:lnSpc>
                <a:spcPct val="90000"/>
              </a:lnSpc>
              <a:spcBef>
                <a:spcPct val="0"/>
              </a:spcBef>
              <a:buFontTx/>
              <a:buAutoNum type="arabicPeriod"/>
            </a:pPr>
            <a:r>
              <a:rPr lang="en-US" altLang="zh-CN" dirty="0">
                <a:latin typeface="+mn-lt"/>
              </a:rPr>
              <a:t>  remove(</a:t>
            </a:r>
            <a:r>
              <a:rPr lang="en-US" altLang="zh-CN" dirty="0" err="1">
                <a:latin typeface="+mn-lt"/>
              </a:rPr>
              <a:t>j.Pm</a:t>
            </a:r>
            <a:r>
              <a:rPr lang="en-US" altLang="zh-CN" dirty="0">
                <a:latin typeface="+mn-lt"/>
              </a:rPr>
              <a:t>, </a:t>
            </a:r>
            <a:r>
              <a:rPr lang="en-US" altLang="zh-CN" dirty="0" err="1">
                <a:latin typeface="+mn-lt"/>
              </a:rPr>
              <a:t>i</a:t>
            </a:r>
            <a:r>
              <a:rPr lang="en-US" altLang="zh-CN" dirty="0">
                <a:latin typeface="+mn-lt"/>
              </a:rPr>
              <a:t>); 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// 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将消息队列中的第一个消息移出</a:t>
            </a:r>
          </a:p>
          <a:p>
            <a:pPr marL="533400" indent="-533400">
              <a:lnSpc>
                <a:spcPct val="9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dirty="0">
                <a:latin typeface="+mn-lt"/>
              </a:rPr>
              <a:t>  </a:t>
            </a:r>
            <a:r>
              <a:rPr lang="en-US" altLang="zh-CN" dirty="0">
                <a:latin typeface="+mn-lt"/>
              </a:rPr>
              <a:t>V(</a:t>
            </a:r>
            <a:r>
              <a:rPr lang="en-US" altLang="zh-CN" dirty="0" err="1">
                <a:latin typeface="+mn-lt"/>
              </a:rPr>
              <a:t>j.mutex</a:t>
            </a:r>
            <a:r>
              <a:rPr lang="en-US" altLang="zh-CN" dirty="0">
                <a:latin typeface="+mn-lt"/>
              </a:rPr>
              <a:t>);</a:t>
            </a:r>
          </a:p>
          <a:p>
            <a:pPr marL="533400" indent="-533400">
              <a:lnSpc>
                <a:spcPct val="90000"/>
              </a:lnSpc>
              <a:spcBef>
                <a:spcPct val="0"/>
              </a:spcBef>
              <a:buFontTx/>
              <a:buAutoNum type="arabicPeriod"/>
            </a:pPr>
            <a:r>
              <a:rPr lang="en-US" altLang="zh-CN" dirty="0">
                <a:latin typeface="+mn-lt"/>
              </a:rPr>
              <a:t>  </a:t>
            </a:r>
            <a:r>
              <a:rPr lang="en-US" altLang="zh-CN" dirty="0" err="1">
                <a:latin typeface="+mn-lt"/>
              </a:rPr>
              <a:t>b.sender</a:t>
            </a:r>
            <a:r>
              <a:rPr lang="en-US" altLang="zh-CN" dirty="0">
                <a:latin typeface="+mn-lt"/>
              </a:rPr>
              <a:t> : = </a:t>
            </a:r>
            <a:r>
              <a:rPr lang="en-US" altLang="zh-CN" dirty="0" err="1">
                <a:latin typeface="+mn-lt"/>
              </a:rPr>
              <a:t>i.sender</a:t>
            </a:r>
            <a:r>
              <a:rPr lang="en-US" altLang="zh-CN" dirty="0">
                <a:latin typeface="+mn-lt"/>
              </a:rPr>
              <a:t>;  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//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将消息缓冲区 </a:t>
            </a:r>
            <a:r>
              <a:rPr lang="en-US" altLang="zh-CN" sz="2000" dirty="0" err="1">
                <a:solidFill>
                  <a:srgbClr val="FF0000"/>
                </a:solidFill>
                <a:latin typeface="+mn-lt"/>
              </a:rPr>
              <a:t>i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 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中的信息</a:t>
            </a:r>
            <a:r>
              <a:rPr lang="zh-CN" altLang="en-US" dirty="0">
                <a:latin typeface="+mn-lt"/>
              </a:rPr>
              <a:t> </a:t>
            </a:r>
          </a:p>
          <a:p>
            <a:pPr marL="533400" indent="-533400">
              <a:lnSpc>
                <a:spcPct val="9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dirty="0">
                <a:latin typeface="+mn-lt"/>
              </a:rPr>
              <a:t>  </a:t>
            </a:r>
            <a:r>
              <a:rPr lang="en-US" altLang="zh-CN" dirty="0" err="1">
                <a:latin typeface="+mn-lt"/>
              </a:rPr>
              <a:t>b.size</a:t>
            </a:r>
            <a:r>
              <a:rPr lang="en-US" altLang="zh-CN" dirty="0">
                <a:latin typeface="+mn-lt"/>
              </a:rPr>
              <a:t> := </a:t>
            </a:r>
            <a:r>
              <a:rPr lang="en-US" altLang="zh-CN" dirty="0" err="1">
                <a:latin typeface="+mn-lt"/>
              </a:rPr>
              <a:t>i.size</a:t>
            </a:r>
            <a:r>
              <a:rPr lang="en-US" altLang="zh-CN" dirty="0">
                <a:latin typeface="+mn-lt"/>
              </a:rPr>
              <a:t>;             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//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复制到接收区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b</a:t>
            </a:r>
          </a:p>
          <a:p>
            <a:pPr marL="533400" indent="-533400">
              <a:lnSpc>
                <a:spcPct val="90000"/>
              </a:lnSpc>
              <a:spcBef>
                <a:spcPct val="0"/>
              </a:spcBef>
              <a:buFontTx/>
              <a:buAutoNum type="arabicPeriod"/>
            </a:pPr>
            <a:r>
              <a:rPr lang="en-US" altLang="zh-CN" dirty="0">
                <a:latin typeface="+mn-lt"/>
              </a:rPr>
              <a:t>  </a:t>
            </a:r>
            <a:r>
              <a:rPr lang="en-US" altLang="zh-CN" dirty="0" err="1">
                <a:latin typeface="+mn-lt"/>
              </a:rPr>
              <a:t>b.text</a:t>
            </a:r>
            <a:r>
              <a:rPr lang="en-US" altLang="zh-CN" dirty="0">
                <a:latin typeface="+mn-lt"/>
              </a:rPr>
              <a:t> := </a:t>
            </a:r>
            <a:r>
              <a:rPr lang="en-US" altLang="zh-CN" dirty="0" err="1">
                <a:latin typeface="+mn-lt"/>
              </a:rPr>
              <a:t>i.text</a:t>
            </a:r>
            <a:r>
              <a:rPr lang="en-US" altLang="zh-CN" dirty="0">
                <a:latin typeface="+mn-lt"/>
              </a:rPr>
              <a:t>;</a:t>
            </a:r>
          </a:p>
          <a:p>
            <a:pPr marL="533400" indent="-533400">
              <a:lnSpc>
                <a:spcPct val="90000"/>
              </a:lnSpc>
              <a:spcBef>
                <a:spcPct val="0"/>
              </a:spcBef>
              <a:buFontTx/>
              <a:buAutoNum type="arabicPeriod"/>
            </a:pPr>
            <a:r>
              <a:rPr lang="en-US" altLang="zh-CN" dirty="0">
                <a:latin typeface="+mn-lt"/>
              </a:rPr>
              <a:t>End;</a:t>
            </a:r>
          </a:p>
        </p:txBody>
      </p:sp>
    </p:spTree>
    <p:extLst>
      <p:ext uri="{BB962C8B-B14F-4D97-AF65-F5344CB8AC3E}">
        <p14:creationId xmlns:p14="http://schemas.microsoft.com/office/powerpoint/2010/main" val="17288077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UNIX</a:t>
            </a:r>
            <a:r>
              <a:rPr lang="zh-CN" altLang="en-US" dirty="0"/>
              <a:t>消息系统举例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消息队列</a:t>
            </a:r>
            <a:r>
              <a:rPr lang="en-US" altLang="zh-CN" dirty="0"/>
              <a:t>(message queue)</a:t>
            </a:r>
            <a:r>
              <a:rPr lang="zh-CN" altLang="en-US" dirty="0"/>
              <a:t>：每个</a:t>
            </a:r>
            <a:r>
              <a:rPr lang="en-US" altLang="zh-CN" dirty="0"/>
              <a:t>message</a:t>
            </a:r>
            <a:r>
              <a:rPr lang="zh-CN" altLang="en-US" dirty="0">
                <a:solidFill>
                  <a:srgbClr val="0000FF"/>
                </a:solidFill>
              </a:rPr>
              <a:t>不定长</a:t>
            </a:r>
            <a:r>
              <a:rPr lang="zh-CN" altLang="en-US" dirty="0"/>
              <a:t>，由</a:t>
            </a:r>
            <a:r>
              <a:rPr lang="zh-CN" altLang="en-US" dirty="0">
                <a:solidFill>
                  <a:srgbClr val="0000FF"/>
                </a:solidFill>
              </a:rPr>
              <a:t>类型</a:t>
            </a:r>
            <a:r>
              <a:rPr lang="en-US" altLang="zh-CN" dirty="0"/>
              <a:t>(type)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正文</a:t>
            </a:r>
            <a:r>
              <a:rPr lang="en-US" altLang="zh-CN" dirty="0"/>
              <a:t>(text)</a:t>
            </a:r>
            <a:r>
              <a:rPr lang="zh-CN" altLang="en-US" dirty="0"/>
              <a:t>组成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UNIX</a:t>
            </a:r>
            <a:r>
              <a:rPr lang="zh-CN" altLang="en-US" dirty="0"/>
              <a:t>消息队列</a:t>
            </a:r>
            <a:r>
              <a:rPr lang="en-US" altLang="zh-CN" dirty="0"/>
              <a:t>API</a:t>
            </a:r>
          </a:p>
          <a:p>
            <a:pPr lvl="1"/>
            <a:r>
              <a:rPr lang="en-US" altLang="zh-CN" dirty="0" err="1"/>
              <a:t>msgget</a:t>
            </a:r>
            <a:r>
              <a:rPr lang="zh-CN" altLang="en-US" dirty="0"/>
              <a:t>依据用户给出的整数值</a:t>
            </a:r>
            <a:r>
              <a:rPr lang="en-US" altLang="zh-CN" dirty="0"/>
              <a:t>key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00FF"/>
                </a:solidFill>
              </a:rPr>
              <a:t>创建</a:t>
            </a:r>
            <a:r>
              <a:rPr lang="zh-CN" altLang="en-US" dirty="0"/>
              <a:t>新消息队列或</a:t>
            </a:r>
            <a:r>
              <a:rPr lang="zh-CN" altLang="en-US" dirty="0">
                <a:solidFill>
                  <a:srgbClr val="0000FF"/>
                </a:solidFill>
              </a:rPr>
              <a:t>打开</a:t>
            </a:r>
            <a:r>
              <a:rPr lang="zh-CN" altLang="en-US" dirty="0"/>
              <a:t>现有消息队列，返回一个消息队列</a:t>
            </a:r>
            <a:r>
              <a:rPr lang="en-US" altLang="zh-CN" dirty="0"/>
              <a:t>ID</a:t>
            </a:r>
          </a:p>
          <a:p>
            <a:pPr lvl="1"/>
            <a:r>
              <a:rPr lang="en-US" altLang="zh-CN" dirty="0" err="1"/>
              <a:t>msgsnd</a:t>
            </a:r>
            <a:r>
              <a:rPr lang="zh-CN" altLang="en-US" dirty="0">
                <a:solidFill>
                  <a:srgbClr val="0000FF"/>
                </a:solidFill>
              </a:rPr>
              <a:t>发送</a:t>
            </a:r>
            <a:r>
              <a:rPr lang="zh-CN" altLang="en-US" dirty="0"/>
              <a:t>消息</a:t>
            </a:r>
            <a:endParaRPr lang="en-US" altLang="zh-CN" dirty="0"/>
          </a:p>
          <a:p>
            <a:pPr lvl="1"/>
            <a:r>
              <a:rPr lang="en-US" altLang="zh-CN" dirty="0" err="1"/>
              <a:t>msgrcv</a:t>
            </a:r>
            <a:r>
              <a:rPr lang="zh-CN" altLang="en-US" dirty="0">
                <a:solidFill>
                  <a:srgbClr val="0000FF"/>
                </a:solidFill>
              </a:rPr>
              <a:t>接收</a:t>
            </a:r>
            <a:r>
              <a:rPr lang="zh-CN" altLang="en-US" dirty="0"/>
              <a:t>消息，可以指定消息类型；没有消息时，返回</a:t>
            </a:r>
            <a:r>
              <a:rPr lang="en-US" altLang="zh-CN" dirty="0"/>
              <a:t>-1</a:t>
            </a:r>
          </a:p>
          <a:p>
            <a:pPr lvl="1"/>
            <a:r>
              <a:rPr lang="en-US" altLang="zh-CN" dirty="0" err="1"/>
              <a:t>msgctl</a:t>
            </a:r>
            <a:r>
              <a:rPr lang="zh-CN" altLang="en-US" dirty="0"/>
              <a:t>对消息队列进行</a:t>
            </a:r>
            <a:r>
              <a:rPr lang="zh-CN" altLang="en-US" dirty="0">
                <a:solidFill>
                  <a:srgbClr val="0000FF"/>
                </a:solidFill>
              </a:rPr>
              <a:t>控制</a:t>
            </a:r>
            <a:r>
              <a:rPr lang="zh-CN" altLang="en-US" dirty="0"/>
              <a:t>，如删除消息队列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8367E-D6B0-4F55-96F0-520782EF7E57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03529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UNIX</a:t>
            </a:r>
            <a:r>
              <a:rPr lang="zh-CN" altLang="en-US" dirty="0"/>
              <a:t>消息系统举例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通过指定多种消息类型，可以在一个消息队列中建立多个</a:t>
            </a:r>
            <a:r>
              <a:rPr lang="zh-CN" altLang="en-US" dirty="0">
                <a:solidFill>
                  <a:srgbClr val="0000FF"/>
                </a:solidFill>
              </a:rPr>
              <a:t>虚拟信道</a:t>
            </a:r>
          </a:p>
          <a:p>
            <a:endParaRPr lang="en-US" altLang="zh-CN" dirty="0"/>
          </a:p>
          <a:p>
            <a:r>
              <a:rPr lang="zh-CN" altLang="en-US" dirty="0"/>
              <a:t>注意：</a:t>
            </a:r>
            <a:endParaRPr lang="en-US" altLang="zh-CN" dirty="0"/>
          </a:p>
          <a:p>
            <a:pPr lvl="1"/>
            <a:r>
              <a:rPr lang="zh-CN" altLang="en-US" dirty="0"/>
              <a:t>消息队列</a:t>
            </a:r>
            <a:r>
              <a:rPr lang="zh-CN" altLang="en-US" dirty="0">
                <a:solidFill>
                  <a:srgbClr val="0000FF"/>
                </a:solidFill>
              </a:rPr>
              <a:t>不随创建它的进程的终止而自动撤销</a:t>
            </a:r>
            <a:r>
              <a:rPr lang="zh-CN" altLang="en-US" dirty="0"/>
              <a:t>，必须用</a:t>
            </a:r>
            <a:r>
              <a:rPr lang="en-US" altLang="zh-CN" dirty="0" err="1"/>
              <a:t>msgctl</a:t>
            </a:r>
            <a:r>
              <a:rPr lang="en-US" altLang="zh-CN" dirty="0"/>
              <a:t>(</a:t>
            </a:r>
            <a:r>
              <a:rPr lang="en-US" altLang="zh-CN" dirty="0" err="1"/>
              <a:t>msgqid</a:t>
            </a:r>
            <a:r>
              <a:rPr lang="en-US" altLang="zh-CN" dirty="0"/>
              <a:t>, IPC_RMID, 0)</a:t>
            </a:r>
          </a:p>
          <a:p>
            <a:pPr lvl="1"/>
            <a:r>
              <a:rPr lang="en-US" altLang="zh-CN" dirty="0" err="1"/>
              <a:t>msgget</a:t>
            </a:r>
            <a:r>
              <a:rPr lang="zh-CN" altLang="en-US" dirty="0"/>
              <a:t>获得消息队列</a:t>
            </a:r>
            <a:r>
              <a:rPr lang="en-US" altLang="zh-CN" dirty="0"/>
              <a:t>ID</a:t>
            </a:r>
            <a:r>
              <a:rPr lang="zh-CN" altLang="en-US" dirty="0"/>
              <a:t>之后，</a:t>
            </a:r>
            <a:r>
              <a:rPr lang="en-US" altLang="zh-CN" dirty="0"/>
              <a:t>fork</a:t>
            </a:r>
            <a:r>
              <a:rPr lang="zh-CN" altLang="en-US" dirty="0"/>
              <a:t>创建子进程，在子进程中</a:t>
            </a:r>
            <a:r>
              <a:rPr lang="zh-CN" altLang="en-US" dirty="0">
                <a:solidFill>
                  <a:srgbClr val="FF0000"/>
                </a:solidFill>
              </a:rPr>
              <a:t>能</a:t>
            </a:r>
            <a:r>
              <a:rPr lang="zh-CN" altLang="en-US" dirty="0"/>
              <a:t>继承该消息队列</a:t>
            </a:r>
            <a:r>
              <a:rPr lang="en-US" altLang="zh-CN" dirty="0"/>
              <a:t>ID</a:t>
            </a:r>
            <a:r>
              <a:rPr lang="zh-CN" altLang="en-US" dirty="0"/>
              <a:t>而不必再一次调用</a:t>
            </a:r>
            <a:r>
              <a:rPr lang="en-US" altLang="zh-CN" dirty="0" err="1"/>
              <a:t>msgget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EDEE5-195B-45E8-A9F7-2CC88A07CA50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32435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管  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基于原有的文件系统形成的一种通信方式，即利用共享文件实现进程间通信。如</a:t>
            </a:r>
            <a:r>
              <a:rPr lang="en-US" altLang="zh-CN" dirty="0"/>
              <a:t>UNIX</a:t>
            </a:r>
            <a:r>
              <a:rPr lang="zh-CN" altLang="en-US" dirty="0"/>
              <a:t>中的管道（</a:t>
            </a:r>
            <a:r>
              <a:rPr lang="en-US" altLang="zh-CN" dirty="0"/>
              <a:t>PIPE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管道是一条在进程间以</a:t>
            </a:r>
            <a:r>
              <a:rPr lang="zh-CN" altLang="en-US" dirty="0">
                <a:solidFill>
                  <a:srgbClr val="FF0000"/>
                </a:solidFill>
              </a:rPr>
              <a:t>字节流</a:t>
            </a:r>
            <a:r>
              <a:rPr lang="zh-CN" altLang="en-US" dirty="0"/>
              <a:t>方式传送的通信通道</a:t>
            </a:r>
            <a:endParaRPr lang="en-US" altLang="zh-CN" dirty="0"/>
          </a:p>
          <a:p>
            <a:r>
              <a:rPr lang="zh-CN" altLang="en-US" dirty="0"/>
              <a:t>它由</a:t>
            </a:r>
            <a:r>
              <a:rPr lang="en-US" altLang="zh-CN" dirty="0"/>
              <a:t>OS</a:t>
            </a:r>
            <a:r>
              <a:rPr lang="zh-CN" altLang="en-US" dirty="0"/>
              <a:t>核心的缓冲区（通常几十</a:t>
            </a:r>
            <a:r>
              <a:rPr lang="en-US" altLang="zh-CN" dirty="0"/>
              <a:t>KB</a:t>
            </a:r>
            <a:r>
              <a:rPr lang="zh-CN" altLang="en-US" dirty="0"/>
              <a:t>）来实现，是</a:t>
            </a:r>
            <a:r>
              <a:rPr lang="zh-CN" altLang="en-US" dirty="0">
                <a:solidFill>
                  <a:srgbClr val="FF0000"/>
                </a:solidFill>
              </a:rPr>
              <a:t>单向</a:t>
            </a:r>
            <a:r>
              <a:rPr lang="zh-CN" altLang="en-US" dirty="0"/>
              <a:t>的；常用于命令行所指定的输入输出重定向和管道命令。（先进先出的，一个进程写，一个进程读）</a:t>
            </a:r>
            <a:endParaRPr lang="en-US" altLang="zh-CN" dirty="0"/>
          </a:p>
          <a:p>
            <a:r>
              <a:rPr lang="zh-CN" altLang="en-US" dirty="0"/>
              <a:t>使用管道前要建立相应的管道，然后才可使用</a:t>
            </a:r>
          </a:p>
          <a:p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C9B52-C55D-47F8-BACE-B37A5989F3E4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28</a:t>
            </a:fld>
            <a:endParaRPr lang="zh-CN" altLang="en-US" dirty="0"/>
          </a:p>
        </p:txBody>
      </p:sp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900113" y="4718050"/>
            <a:ext cx="7704137" cy="1303338"/>
            <a:chOff x="576" y="2064"/>
            <a:chExt cx="5040" cy="768"/>
          </a:xfrm>
        </p:grpSpPr>
        <p:sp>
          <p:nvSpPr>
            <p:cNvPr id="8" name="AutoShape 8"/>
            <p:cNvSpPr>
              <a:spLocks noChangeArrowheads="1"/>
            </p:cNvSpPr>
            <p:nvPr/>
          </p:nvSpPr>
          <p:spPr bwMode="auto">
            <a:xfrm rot="5377959">
              <a:off x="2828" y="1540"/>
              <a:ext cx="391" cy="2111"/>
            </a:xfrm>
            <a:prstGeom prst="can">
              <a:avLst>
                <a:gd name="adj" fmla="val 43842"/>
              </a:avLst>
            </a:prstGeom>
            <a:solidFill>
              <a:schemeClr val="bg2">
                <a:lumMod val="5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itchFamily="49" charset="-122"/>
              </a:endParaRPr>
            </a:p>
          </p:txBody>
        </p:sp>
        <p:sp>
          <p:nvSpPr>
            <p:cNvPr id="9" name="Oval 9"/>
            <p:cNvSpPr>
              <a:spLocks noChangeArrowheads="1"/>
            </p:cNvSpPr>
            <p:nvPr/>
          </p:nvSpPr>
          <p:spPr bwMode="auto">
            <a:xfrm>
              <a:off x="672" y="2448"/>
              <a:ext cx="432" cy="38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itchFamily="49" charset="-122"/>
              </a:endParaRPr>
            </a:p>
          </p:txBody>
        </p:sp>
        <p:sp>
          <p:nvSpPr>
            <p:cNvPr id="10" name="Oval 10"/>
            <p:cNvSpPr>
              <a:spLocks noChangeArrowheads="1"/>
            </p:cNvSpPr>
            <p:nvPr/>
          </p:nvSpPr>
          <p:spPr bwMode="auto">
            <a:xfrm>
              <a:off x="4896" y="2400"/>
              <a:ext cx="432" cy="38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itchFamily="49" charset="-122"/>
              </a:endParaRPr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576" y="2112"/>
              <a:ext cx="864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latin typeface="+mn-lt"/>
                  <a:ea typeface="楷体" pitchFamily="49" charset="-122"/>
                </a:rPr>
                <a:t>写进程</a:t>
              </a: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4752" y="2064"/>
              <a:ext cx="864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latin typeface="+mn-lt"/>
                  <a:ea typeface="楷体" pitchFamily="49" charset="-122"/>
                </a:rPr>
                <a:t>读进程</a:t>
              </a:r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1104" y="2640"/>
              <a:ext cx="864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itchFamily="49" charset="-122"/>
              </a:endParaRPr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4032" y="2592"/>
              <a:ext cx="81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itchFamily="49" charset="-122"/>
              </a:endParaRPr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2592" y="2112"/>
              <a:ext cx="864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>
                  <a:latin typeface="+mn-lt"/>
                  <a:ea typeface="楷体" pitchFamily="49" charset="-122"/>
                </a:rPr>
                <a:t>PIPE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28795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管  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管道机制必须提供几方面的协调努力</a:t>
            </a:r>
            <a:endParaRPr lang="en-US" altLang="zh-CN" dirty="0"/>
          </a:p>
          <a:p>
            <a:pPr lvl="1"/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对方是否存在</a:t>
            </a:r>
            <a:r>
              <a:rPr lang="zh-CN" altLang="en-US" dirty="0"/>
              <a:t>：只有已确定对方存在时，方能进行通信</a:t>
            </a:r>
            <a:endParaRPr lang="en-US" altLang="zh-CN" dirty="0"/>
          </a:p>
          <a:p>
            <a:pPr lvl="1"/>
            <a:endParaRPr lang="en-US" altLang="zh-CN" dirty="0">
              <a:solidFill>
                <a:schemeClr val="accent2"/>
              </a:solidFill>
            </a:endParaRPr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PIPE</a:t>
            </a:r>
            <a:r>
              <a:rPr lang="zh-CN" altLang="en-US" dirty="0">
                <a:solidFill>
                  <a:srgbClr val="0000FF"/>
                </a:solidFill>
              </a:rPr>
              <a:t>文件大小限制</a:t>
            </a:r>
            <a:r>
              <a:rPr lang="zh-CN" altLang="en-US" dirty="0"/>
              <a:t>：每个块</a:t>
            </a:r>
            <a:r>
              <a:rPr lang="en-US" altLang="zh-CN" dirty="0"/>
              <a:t>4KB</a:t>
            </a:r>
            <a:r>
              <a:rPr lang="zh-CN" altLang="en-US" dirty="0"/>
              <a:t>，</a:t>
            </a:r>
            <a:r>
              <a:rPr lang="en-US" altLang="zh-CN" dirty="0"/>
              <a:t>10</a:t>
            </a:r>
            <a:r>
              <a:rPr lang="zh-CN" altLang="en-US" dirty="0"/>
              <a:t>块，最大长度</a:t>
            </a:r>
            <a:r>
              <a:rPr lang="en-US" altLang="zh-CN" dirty="0"/>
              <a:t>40KB</a:t>
            </a:r>
          </a:p>
          <a:p>
            <a:pPr lvl="1"/>
            <a:endParaRPr lang="en-US" altLang="zh-CN" dirty="0">
              <a:solidFill>
                <a:schemeClr val="accent2"/>
              </a:solidFill>
            </a:endParaRP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互斥</a:t>
            </a:r>
            <a:r>
              <a:rPr lang="zh-CN" altLang="en-US" dirty="0"/>
              <a:t>：当一个进程正在对</a:t>
            </a:r>
            <a:r>
              <a:rPr lang="en-US" altLang="zh-CN" dirty="0"/>
              <a:t>PIPE</a:t>
            </a:r>
            <a:r>
              <a:rPr lang="zh-CN" altLang="en-US" dirty="0"/>
              <a:t>进行读写时，另一个必须等待（一次只有一个进程可以访问）</a:t>
            </a:r>
            <a:endParaRPr lang="en-US" altLang="zh-CN" dirty="0"/>
          </a:p>
          <a:p>
            <a:pPr lvl="1"/>
            <a:endParaRPr lang="en-US" altLang="zh-CN" dirty="0">
              <a:solidFill>
                <a:schemeClr val="accent2"/>
              </a:solidFill>
            </a:endParaRP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同步</a:t>
            </a:r>
            <a:r>
              <a:rPr lang="zh-CN" altLang="en-US" dirty="0"/>
              <a:t>：当写进程把一定量的数据（如</a:t>
            </a:r>
            <a:r>
              <a:rPr lang="en-US" altLang="zh-CN" dirty="0"/>
              <a:t>4KB</a:t>
            </a:r>
            <a:r>
              <a:rPr lang="zh-CN" altLang="en-US" dirty="0"/>
              <a:t>）写入</a:t>
            </a:r>
            <a:r>
              <a:rPr lang="en-US" altLang="zh-CN" dirty="0"/>
              <a:t>PIPE</a:t>
            </a:r>
            <a:r>
              <a:rPr lang="zh-CN" altLang="en-US" dirty="0"/>
              <a:t>后（创建后，大小是固定字节的），便睡眠等待，直到读进程取走数据后再唤醒它；当读进程读一个空</a:t>
            </a:r>
            <a:r>
              <a:rPr lang="en-US" altLang="zh-CN" dirty="0"/>
              <a:t>PIPE</a:t>
            </a:r>
            <a:r>
              <a:rPr lang="zh-CN" altLang="en-US" dirty="0"/>
              <a:t>时，也应睡眠等待，直到写进程将消息写入管道为止，才将它唤醒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189FE-30B2-4F66-83E1-C5249DF8A77A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2553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无名管道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以</a:t>
            </a:r>
            <a:r>
              <a:rPr lang="en-US" altLang="zh-CN" dirty="0"/>
              <a:t>UNIX</a:t>
            </a:r>
            <a:r>
              <a:rPr lang="zh-CN" altLang="en-US" dirty="0"/>
              <a:t>操作系统为例</a:t>
            </a:r>
            <a:endParaRPr lang="en-US" altLang="zh-CN" dirty="0"/>
          </a:p>
          <a:p>
            <a:r>
              <a:rPr lang="zh-CN" altLang="en-US" dirty="0"/>
              <a:t>管道创建：</a:t>
            </a:r>
            <a:r>
              <a:rPr lang="en-US" altLang="zh-CN" dirty="0"/>
              <a:t> pipe(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fildes</a:t>
            </a:r>
            <a:r>
              <a:rPr lang="en-US" altLang="zh-CN" dirty="0"/>
              <a:t>[2])</a:t>
            </a:r>
          </a:p>
          <a:p>
            <a:r>
              <a:rPr lang="zh-CN" altLang="en-US" dirty="0"/>
              <a:t>文件描述符</a:t>
            </a:r>
            <a:r>
              <a:rPr lang="en-US" altLang="zh-CN" dirty="0" err="1"/>
              <a:t>fildes</a:t>
            </a:r>
            <a:r>
              <a:rPr lang="en-US" altLang="zh-CN" dirty="0"/>
              <a:t>[0]</a:t>
            </a:r>
            <a:r>
              <a:rPr lang="zh-CN" altLang="en-US" dirty="0"/>
              <a:t>为读端，</a:t>
            </a:r>
            <a:r>
              <a:rPr lang="en-US" altLang="zh-CN" dirty="0" err="1"/>
              <a:t>fildes</a:t>
            </a:r>
            <a:r>
              <a:rPr lang="en-US" altLang="zh-CN" dirty="0"/>
              <a:t>[1]</a:t>
            </a:r>
            <a:r>
              <a:rPr lang="zh-CN" altLang="en-US" dirty="0"/>
              <a:t>为写端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通过系统调用</a:t>
            </a:r>
            <a:r>
              <a:rPr lang="en-US" altLang="zh-CN" dirty="0"/>
              <a:t>write</a:t>
            </a:r>
            <a:r>
              <a:rPr lang="zh-CN" altLang="en-US" dirty="0"/>
              <a:t>和</a:t>
            </a:r>
            <a:r>
              <a:rPr lang="en-US" altLang="zh-CN" dirty="0"/>
              <a:t>read</a:t>
            </a:r>
            <a:r>
              <a:rPr lang="zh-CN" altLang="en-US" dirty="0"/>
              <a:t>进行管道的写和读</a:t>
            </a:r>
            <a:endParaRPr lang="en-US" altLang="zh-CN" dirty="0"/>
          </a:p>
          <a:p>
            <a:r>
              <a:rPr lang="zh-CN" altLang="en-US" dirty="0"/>
              <a:t>进程间双向通信，通常需要两个管道</a:t>
            </a:r>
            <a:endParaRPr lang="en-US" altLang="zh-CN" dirty="0"/>
          </a:p>
          <a:p>
            <a:r>
              <a:rPr lang="zh-CN" altLang="en-US" dirty="0"/>
              <a:t>只适用于父子进程之间或父进程安排的各个子进程之间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F4FB8-E214-40E5-94E4-D92336383AB5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30</a:t>
            </a:fld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996952"/>
            <a:ext cx="5762228" cy="1619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63167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命名管道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以</a:t>
            </a:r>
            <a:r>
              <a:rPr lang="en-US" altLang="zh-CN" dirty="0"/>
              <a:t>Windows NT</a:t>
            </a:r>
            <a:r>
              <a:rPr lang="zh-CN" altLang="en-US" dirty="0"/>
              <a:t>的命名管道为例</a:t>
            </a:r>
            <a:endParaRPr lang="en-US" altLang="zh-CN" dirty="0"/>
          </a:p>
          <a:p>
            <a:r>
              <a:rPr lang="zh-CN" altLang="en-US" dirty="0"/>
              <a:t>是一种更强大的管道</a:t>
            </a:r>
            <a:endParaRPr lang="en-US" altLang="zh-CN" dirty="0"/>
          </a:p>
          <a:p>
            <a:pPr lvl="1"/>
            <a:r>
              <a:rPr lang="zh-CN" altLang="en-US" dirty="0"/>
              <a:t>不要求通信双方必须是父子进程，而且读端和写端可以有多个进程</a:t>
            </a:r>
            <a:endParaRPr lang="en-US" altLang="zh-CN" dirty="0"/>
          </a:p>
          <a:p>
            <a:pPr lvl="1"/>
            <a:r>
              <a:rPr lang="zh-CN" altLang="en-US" dirty="0"/>
              <a:t>传递数据的类型：字节流数据、报文数据</a:t>
            </a:r>
            <a:endParaRPr lang="en-US" altLang="zh-CN" dirty="0"/>
          </a:p>
          <a:p>
            <a:pPr lvl="1"/>
            <a:r>
              <a:rPr lang="zh-CN" altLang="en-US" dirty="0"/>
              <a:t>访问分为：单向读、单向写、双向</a:t>
            </a:r>
            <a:endParaRPr lang="en-US" altLang="zh-CN" dirty="0"/>
          </a:p>
          <a:p>
            <a:pPr lvl="1"/>
            <a:r>
              <a:rPr lang="zh-CN" altLang="en-US" sz="2400" dirty="0"/>
              <a:t>通常采用</a:t>
            </a:r>
            <a:r>
              <a:rPr lang="en-US" altLang="zh-CN" sz="2400" dirty="0"/>
              <a:t>client-server</a:t>
            </a:r>
            <a:r>
              <a:rPr lang="zh-CN" altLang="en-US" sz="2400" dirty="0"/>
              <a:t>模式，连接本机或网络中的两个进程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0E209-39EC-4CFC-A785-7EED27F56AA7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31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04861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命名管道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en-US" dirty="0"/>
              <a:t>管道名字</a:t>
            </a:r>
            <a:endParaRPr lang="en-US" altLang="zh-CN" dirty="0"/>
          </a:p>
          <a:p>
            <a:pPr lvl="1"/>
            <a:r>
              <a:rPr lang="zh-CN" altLang="en-US" sz="2400" dirty="0"/>
              <a:t>作为客户方（连接到一个命名管道实例的一方）时，可以是</a:t>
            </a:r>
            <a:r>
              <a:rPr lang="en-US" altLang="zh-CN" sz="2400" dirty="0"/>
              <a:t>"\\serverName\pipe\pipename"</a:t>
            </a:r>
          </a:p>
          <a:p>
            <a:pPr lvl="1"/>
            <a:r>
              <a:rPr lang="zh-CN" altLang="en-US" sz="2400" dirty="0"/>
              <a:t>作为服务器方</a:t>
            </a:r>
            <a:r>
              <a:rPr lang="en-US" altLang="zh-CN" sz="2400" dirty="0"/>
              <a:t>(</a:t>
            </a:r>
            <a:r>
              <a:rPr lang="zh-CN" altLang="en-US" sz="2400" dirty="0"/>
              <a:t>创建命名管道的一方</a:t>
            </a:r>
            <a:r>
              <a:rPr lang="en-US" altLang="zh-CN" sz="2400" dirty="0"/>
              <a:t>)</a:t>
            </a:r>
            <a:r>
              <a:rPr lang="zh-CN" altLang="en-US" sz="2400" dirty="0"/>
              <a:t>时，只能取名为</a:t>
            </a:r>
            <a:r>
              <a:rPr lang="en-US" altLang="zh-CN" sz="2400" dirty="0"/>
              <a:t>\\.\pipe\PipeName</a:t>
            </a:r>
            <a:r>
              <a:rPr lang="zh-CN" altLang="en-US" sz="2400" dirty="0"/>
              <a:t>，不能在其它机器上创建管道</a:t>
            </a:r>
            <a:endParaRPr lang="en-US" altLang="zh-CN" sz="2400" dirty="0"/>
          </a:p>
          <a:p>
            <a:r>
              <a:rPr lang="zh-CN" altLang="en-US" dirty="0"/>
              <a:t>管道操作</a:t>
            </a:r>
            <a:endParaRPr lang="en-US" altLang="zh-CN" dirty="0"/>
          </a:p>
          <a:p>
            <a:pPr lvl="1"/>
            <a:r>
              <a:rPr lang="en-US" altLang="zh-CN" sz="2400" dirty="0" err="1"/>
              <a:t>CreateNamedPipe</a:t>
            </a:r>
            <a:r>
              <a:rPr lang="zh-CN" altLang="en-US" sz="2400" dirty="0"/>
              <a:t>在服务器端创建并返回一个命名管道句柄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ConnectNamedPipe</a:t>
            </a:r>
            <a:r>
              <a:rPr lang="zh-CN" altLang="en-US" sz="2400" dirty="0"/>
              <a:t>在服务器端等待客户进程的请求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CallNamedPipe</a:t>
            </a:r>
            <a:r>
              <a:rPr lang="zh-CN" altLang="en-US" sz="2400" dirty="0"/>
              <a:t>从管道客户进程建立与服务器的管道连接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ReadFile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WriteFile</a:t>
            </a:r>
            <a:r>
              <a:rPr lang="zh-CN" altLang="en-US" sz="2400" dirty="0"/>
              <a:t>（用于阻塞方式）、</a:t>
            </a:r>
            <a:r>
              <a:rPr lang="en-US" altLang="zh-CN" sz="2400" dirty="0" err="1"/>
              <a:t>ReadFileEx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WriteFileEx</a:t>
            </a:r>
            <a:r>
              <a:rPr lang="zh-CN" altLang="en-US" sz="2400" dirty="0"/>
              <a:t>（用于非阻塞方式）用于命名管道的读写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5ED7-E527-495A-84E8-620F5C7CA5CB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32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21706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套接字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套接字</a:t>
            </a:r>
            <a:endParaRPr lang="en-US" altLang="zh-CN" sz="2000" dirty="0"/>
          </a:p>
          <a:p>
            <a:pPr lvl="1"/>
            <a:r>
              <a:rPr lang="zh-CN" altLang="en-US" sz="2000" dirty="0"/>
              <a:t>是在网络环境下，标志一个进程的机制</a:t>
            </a:r>
            <a:endParaRPr lang="en-US" altLang="zh-CN" sz="2000" dirty="0"/>
          </a:p>
          <a:p>
            <a:pPr lvl="1"/>
            <a:r>
              <a:rPr lang="en-US" altLang="zh-CN" sz="2000" dirty="0"/>
              <a:t>Socket = IP Address + Port Number, e.g., 202.118.1.82:80</a:t>
            </a:r>
          </a:p>
          <a:p>
            <a:r>
              <a:rPr lang="zh-CN" altLang="en-US" sz="2000" dirty="0"/>
              <a:t>主要用于网络中的两个进程间通信</a:t>
            </a:r>
            <a:endParaRPr lang="en-US" altLang="zh-CN" sz="2000" dirty="0"/>
          </a:p>
          <a:p>
            <a:pPr lvl="1"/>
            <a:r>
              <a:rPr lang="en-US" altLang="zh-CN" sz="2000" dirty="0"/>
              <a:t>Server</a:t>
            </a:r>
            <a:r>
              <a:rPr lang="zh-CN" altLang="en-US" sz="2000" dirty="0"/>
              <a:t>：创建套接字（</a:t>
            </a:r>
            <a:r>
              <a:rPr lang="en-US" altLang="zh-CN" sz="2000" dirty="0"/>
              <a:t>Socket</a:t>
            </a:r>
            <a:r>
              <a:rPr lang="zh-CN" altLang="en-US" sz="2000" dirty="0"/>
              <a:t>），等待客户端发送通信请求</a:t>
            </a:r>
            <a:endParaRPr lang="en-US" altLang="zh-CN" sz="2000" dirty="0"/>
          </a:p>
          <a:p>
            <a:pPr lvl="1"/>
            <a:r>
              <a:rPr lang="en-US" altLang="zh-CN" sz="2000" dirty="0"/>
              <a:t>Client</a:t>
            </a:r>
            <a:r>
              <a:rPr lang="zh-CN" altLang="en-US" sz="2000" dirty="0"/>
              <a:t>：按照套接字，向服务器端进程发起通信请求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C786F-1F56-4C3A-AFB1-FFA8107B9D39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CH04  Inter-Process Communication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33</a:t>
            </a:fld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4077072"/>
            <a:ext cx="3631282" cy="2442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71257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F1D89CC5-1E91-4B07-A49D-F0591162D17E}" type="slidenum">
              <a:rPr lang="zh-CN" altLang="en-US" smtClean="0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293890" name="Text Box 15"/>
          <p:cNvSpPr txBox="1">
            <a:spLocks noChangeArrowheads="1"/>
          </p:cNvSpPr>
          <p:nvPr/>
        </p:nvSpPr>
        <p:spPr bwMode="auto">
          <a:xfrm>
            <a:off x="304800" y="2781300"/>
            <a:ext cx="8839200" cy="1016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zh-CN" altLang="en-US" sz="6000">
                <a:solidFill>
                  <a:srgbClr val="3737C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谢谢！</a:t>
            </a:r>
            <a:endParaRPr lang="en-US" altLang="zh-CN" sz="6000">
              <a:solidFill>
                <a:srgbClr val="3737C3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72450" y="-26988"/>
            <a:ext cx="958850" cy="8953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293892" name="Picture 6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2225" y="188913"/>
            <a:ext cx="26225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79955265"/>
      </p:ext>
    </p:extLst>
  </p:cSld>
  <p:clrMapOvr>
    <a:masterClrMapping/>
  </p:clrMapOvr>
  <p:transition advTm="3985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5276</TotalTime>
  <Words>2333</Words>
  <Application>Microsoft Office PowerPoint</Application>
  <PresentationFormat>全屏显示(4:3)</PresentationFormat>
  <Paragraphs>429</Paragraphs>
  <Slides>34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5" baseType="lpstr">
      <vt:lpstr>华文仿宋</vt:lpstr>
      <vt:lpstr>华文黑体</vt:lpstr>
      <vt:lpstr>华文新魏</vt:lpstr>
      <vt:lpstr>楷体</vt:lpstr>
      <vt:lpstr>宋体</vt:lpstr>
      <vt:lpstr>微软雅黑</vt:lpstr>
      <vt:lpstr>Arial</vt:lpstr>
      <vt:lpstr>Calibri</vt:lpstr>
      <vt:lpstr>Segoe UI Symbol</vt:lpstr>
      <vt:lpstr>Times New Roman</vt:lpstr>
      <vt:lpstr>Office Theme</vt:lpstr>
      <vt:lpstr>第4章  进程间通信</vt:lpstr>
      <vt:lpstr>进程间的关系</vt:lpstr>
      <vt:lpstr>为什么存在进程间合作</vt:lpstr>
      <vt:lpstr>进程间通信</vt:lpstr>
      <vt:lpstr>共享存储器</vt:lpstr>
      <vt:lpstr>共享存储器</vt:lpstr>
      <vt:lpstr>POSIX 共享存储器</vt:lpstr>
      <vt:lpstr>POSIX 共享存储器</vt:lpstr>
      <vt:lpstr>共享存储器的特点</vt:lpstr>
      <vt:lpstr>消息系统</vt:lpstr>
      <vt:lpstr>通信方式</vt:lpstr>
      <vt:lpstr>通信方式</vt:lpstr>
      <vt:lpstr>通信方式</vt:lpstr>
      <vt:lpstr>通信方式</vt:lpstr>
      <vt:lpstr>消息格式</vt:lpstr>
      <vt:lpstr>通信双方同步方式</vt:lpstr>
      <vt:lpstr>通信双方同步方式</vt:lpstr>
      <vt:lpstr>消息缓冲机制</vt:lpstr>
      <vt:lpstr>消息缓冲机制</vt:lpstr>
      <vt:lpstr>消息缓冲机制</vt:lpstr>
      <vt:lpstr>消息缓冲机制</vt:lpstr>
      <vt:lpstr>消息缓冲机制</vt:lpstr>
      <vt:lpstr>消息缓冲机制</vt:lpstr>
      <vt:lpstr>消息缓冲机制</vt:lpstr>
      <vt:lpstr>消息缓冲机制</vt:lpstr>
      <vt:lpstr>UNIX消息系统举例</vt:lpstr>
      <vt:lpstr>UNIX消息系统举例</vt:lpstr>
      <vt:lpstr>管  道</vt:lpstr>
      <vt:lpstr>管  道</vt:lpstr>
      <vt:lpstr>无名管道</vt:lpstr>
      <vt:lpstr>命名管道</vt:lpstr>
      <vt:lpstr>命名管道</vt:lpstr>
      <vt:lpstr>套接字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第0章  课程简介</dc:title>
  <dc:creator>Mingsong Lu</dc:creator>
  <cp:lastModifiedBy>zhuzongwei1988@outlook.com</cp:lastModifiedBy>
  <cp:revision>319</cp:revision>
  <dcterms:created xsi:type="dcterms:W3CDTF">2015-03-10T09:46:44Z</dcterms:created>
  <dcterms:modified xsi:type="dcterms:W3CDTF">2018-08-03T04:41:57Z</dcterms:modified>
</cp:coreProperties>
</file>